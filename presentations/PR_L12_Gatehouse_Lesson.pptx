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12: Gatehouse.
Open the experience at revise360.co.uk and hand out PR_L12_Gatehouse_Worksheet.docx.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Share the objectives, then go straight into the starter. Devices stay away for the first five minutes.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Silent start. Take two or three answers before moving on: this is where misconceptions surface.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Insist on writing before tapping. That single rule is the difference between revision and a quiz game.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Station 1: Checking the input. Students read this wall in the experience, write the key fact and the challenge answer, then answer the questions at the badge.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Station 2: Range checks. Students read this wall in the experience, write the key fact and the challenge answer, then answer the questions at the badge.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Station 3: Length and format checks. Students read this wall in the experience, write the key fact and the challenge answer, then answer the questions at the badge.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Station 4: Keeping asking. Students read this wall in the experience, write the key fact and the challenge answer, then answer the questions at the badge.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Station 5: Authentication. Students read this wall in the experience, write the key fact and the challenge answer, then answer the questions at the badge.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Station 6: Putting it together. Students read this wall in the experience, write the key fact and the challenge answer, then answer the questions at the badge.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Make them commit to an answer on paper before they tap the star. Guessing first costs them the learning.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these as a settler, or as something for early finishers to read in the experience.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Timed and silent. Mark against the answer sheet, then ask students to record their weakest area.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Students copy their score-screen breakdown onto the worksheet, then rate themselves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01828"/>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822960" y="1417320"/>
            <a:ext cx="10515600" cy="411480"/>
          </a:xfrm>
          <a:prstGeom prst="rect">
            <a:avLst/>
          </a:prstGeom>
          <a:noFill/>
          <a:ln/>
        </p:spPr>
        <p:txBody>
          <a:bodyPr wrap="square" lIns="0" tIns="0" rIns="0" bIns="0" rtlCol="0" anchor="ctr"/>
          <a:lstStyle/>
          <a:p>
            <a:pPr indent="0" marL="0">
              <a:buNone/>
            </a:pPr>
            <a:r>
              <a:rPr lang="en-US" sz="1500" dirty="0">
                <a:solidFill>
                  <a:srgbClr val="F4B942"/>
                </a:solidFill>
                <a:latin typeface="IBM Plex Mono" pitchFamily="34" charset="0"/>
                <a:ea typeface="IBM Plex Mono" pitchFamily="34" charset="-122"/>
                <a:cs typeface="IBM Plex Mono" pitchFamily="34" charset="-120"/>
              </a:rPr>
              <a:t>Python programming  |  Lesson 12</a:t>
            </a:r>
            <a:endParaRPr lang="en-US" sz="1500" dirty="0"/>
          </a:p>
        </p:txBody>
      </p:sp>
      <p:sp>
        <p:nvSpPr>
          <p:cNvPr id="4" name="Text 2"/>
          <p:cNvSpPr txBox="1"/>
          <p:nvPr/>
        </p:nvSpPr>
        <p:spPr>
          <a:xfrm>
            <a:off x="822960" y="1920240"/>
            <a:ext cx="10515600" cy="1280160"/>
          </a:xfrm>
          <a:prstGeom prst="rect">
            <a:avLst/>
          </a:prstGeom>
          <a:noFill/>
          <a:ln/>
        </p:spPr>
        <p:txBody>
          <a:bodyPr wrap="square" lIns="0" tIns="0" rIns="0" bIns="0" rtlCol="0" anchor="ctr"/>
          <a:lstStyle/>
          <a:p>
            <a:pPr indent="0" marL="0">
              <a:buNone/>
            </a:pPr>
            <a:r>
              <a:rPr lang="en-US" sz="6000" b="1" dirty="0">
                <a:solidFill>
                  <a:srgbClr val="FFFFFF"/>
                </a:solidFill>
                <a:latin typeface="IBM Plex Sans" pitchFamily="34" charset="0"/>
                <a:ea typeface="IBM Plex Sans" pitchFamily="34" charset="-122"/>
                <a:cs typeface="IBM Plex Sans" pitchFamily="34" charset="-120"/>
              </a:rPr>
              <a:t>Gatehouse</a:t>
            </a:r>
            <a:endParaRPr lang="en-US" sz="6000" dirty="0"/>
          </a:p>
        </p:txBody>
      </p:sp>
      <p:sp>
        <p:nvSpPr>
          <p:cNvPr id="5" name="Text 3"/>
          <p:cNvSpPr txBox="1"/>
          <p:nvPr/>
        </p:nvSpPr>
        <p:spPr>
          <a:xfrm>
            <a:off x="822960" y="3291840"/>
            <a:ext cx="9509760" cy="1371600"/>
          </a:xfrm>
          <a:prstGeom prst="rect">
            <a:avLst/>
          </a:prstGeom>
          <a:noFill/>
          <a:ln/>
        </p:spPr>
        <p:txBody>
          <a:bodyPr wrap="square" lIns="0" tIns="0" rIns="0" bIns="0" rtlCol="0" anchor="ctr"/>
          <a:lstStyle/>
          <a:p>
            <a:pPr indent="0" marL="0">
              <a:lnSpc>
                <a:spcPct val="125000"/>
              </a:lnSpc>
              <a:buNone/>
            </a:pPr>
            <a:r>
              <a:rPr lang="en-US" sz="1800" dirty="0">
                <a:solidFill>
                  <a:srgbClr val="C7CDD9"/>
                </a:solidFill>
                <a:latin typeface="IBM Plex Sans" pitchFamily="34" charset="0"/>
                <a:ea typeface="IBM Plex Sans" pitchFamily="34" charset="-122"/>
                <a:cs typeface="IBM Plex Sans" pitchFamily="34" charset="-120"/>
              </a:rPr>
              <a:t>Users mistype, and some of them try it on. At the gatehouse you will write the checks that keep bad data out and the loops that keep asking until the data is right.</a:t>
            </a:r>
            <a:endParaRPr lang="en-US" sz="1800" dirty="0"/>
          </a:p>
        </p:txBody>
      </p:sp>
      <p:sp>
        <p:nvSpPr>
          <p:cNvPr id="6" name="Shape 4"/>
          <p:cNvSpPr/>
          <p:nvPr/>
        </p:nvSpPr>
        <p:spPr>
          <a:xfrm>
            <a:off x="822960" y="4846320"/>
            <a:ext cx="2926080" cy="0"/>
          </a:xfrm>
          <a:prstGeom prst="line">
            <a:avLst/>
          </a:prstGeom>
          <a:noFill/>
          <a:ln w="31750">
            <a:solidFill>
              <a:srgbClr val="2D63FF"/>
            </a:solidFill>
            <a:prstDash val="solid"/>
          </a:ln>
        </p:spPr>
      </p:sp>
      <p:sp>
        <p:nvSpPr>
          <p:cNvPr id="7" name="Text 5"/>
          <p:cNvSpPr txBox="1"/>
          <p:nvPr/>
        </p:nvSpPr>
        <p:spPr>
          <a:xfrm>
            <a:off x="822960" y="5029200"/>
            <a:ext cx="10515600" cy="365760"/>
          </a:xfrm>
          <a:prstGeom prst="rect">
            <a:avLst/>
          </a:prstGeom>
          <a:noFill/>
          <a:ln/>
        </p:spPr>
        <p:txBody>
          <a:bodyPr wrap="square" lIns="0" tIns="0" rIns="0" bIns="0" rtlCol="0" anchor="ctr"/>
          <a:lstStyle/>
          <a:p>
            <a:pPr indent="0" marL="0">
              <a:buNone/>
            </a:pPr>
            <a:r>
              <a:rPr lang="en-US" sz="1300" dirty="0">
                <a:solidFill>
                  <a:srgbClr val="667085"/>
                </a:solidFill>
                <a:latin typeface="IBM Plex Mono" pitchFamily="34" charset="0"/>
                <a:ea typeface="IBM Plex Mono" pitchFamily="34" charset="-122"/>
                <a:cs typeface="IBM Plex Mono" pitchFamily="34" charset="-120"/>
              </a:rPr>
              <a:t>Revise 360 Python course  |  Beyond the OCR J277 specification</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Python programming  |  Lesson 12</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502920" y="411480"/>
            <a:ext cx="11155680" cy="777240"/>
          </a:xfrm>
          <a:prstGeom prst="rect">
            <a:avLst/>
          </a:prstGeom>
          <a:noFill/>
          <a:ln/>
        </p:spPr>
        <p:txBody>
          <a:bodyPr wrap="square" lIns="0" tIns="0" rIns="0" bIns="0" rtlCol="0" anchor="ctr"/>
          <a:lstStyle/>
          <a:p>
            <a:pPr indent="0" marL="0">
              <a:buNone/>
            </a:pPr>
            <a:r>
              <a:rPr lang="en-US" sz="3200" b="1" dirty="0">
                <a:solidFill>
                  <a:srgbClr val="101828"/>
                </a:solidFill>
                <a:latin typeface="IBM Plex Sans" pitchFamily="34" charset="0"/>
                <a:ea typeface="IBM Plex Sans" pitchFamily="34" charset="-122"/>
                <a:cs typeface="IBM Plex Sans" pitchFamily="34" charset="-120"/>
              </a:rPr>
              <a:t>By the end of this lesson</a:t>
            </a:r>
            <a:endParaRPr lang="en-US" sz="3200" dirty="0"/>
          </a:p>
        </p:txBody>
      </p:sp>
      <p:sp>
        <p:nvSpPr>
          <p:cNvPr id="6" name="Text 4"/>
          <p:cNvSpPr txBox="1"/>
          <p:nvPr/>
        </p:nvSpPr>
        <p:spPr>
          <a:xfrm>
            <a:off x="502920" y="1170432"/>
            <a:ext cx="11155680" cy="411480"/>
          </a:xfrm>
          <a:prstGeom prst="rect">
            <a:avLst/>
          </a:prstGeom>
          <a:noFill/>
          <a:ln/>
        </p:spPr>
        <p:txBody>
          <a:bodyPr wrap="square" lIns="0" tIns="0" rIns="0" bIns="0" rtlCol="0" anchor="ctr"/>
          <a:lstStyle/>
          <a:p>
            <a:pPr indent="0" marL="0">
              <a:buNone/>
            </a:pPr>
            <a:r>
              <a:rPr lang="en-US" sz="1500" dirty="0">
                <a:solidFill>
                  <a:srgbClr val="667085"/>
                </a:solidFill>
                <a:latin typeface="IBM Plex Sans" pitchFamily="34" charset="0"/>
                <a:ea typeface="IBM Plex Sans" pitchFamily="34" charset="-122"/>
                <a:cs typeface="IBM Plex Sans" pitchFamily="34" charset="-120"/>
              </a:rPr>
              <a:t>Why is refusing bad data better than letting a program stop with an error?</a:t>
            </a:r>
            <a:endParaRPr lang="en-US" sz="1500" dirty="0"/>
          </a:p>
        </p:txBody>
      </p:sp>
      <p:sp>
        <p:nvSpPr>
          <p:cNvPr id="7" name="Shape 5"/>
          <p:cNvSpPr/>
          <p:nvPr/>
        </p:nvSpPr>
        <p:spPr>
          <a:xfrm>
            <a:off x="548640" y="1965960"/>
            <a:ext cx="566928" cy="566928"/>
          </a:xfrm>
          <a:prstGeom prst="ellipse">
            <a:avLst/>
          </a:prstGeom>
          <a:solidFill>
            <a:srgbClr val="2D63FF"/>
          </a:solidFill>
          <a:ln/>
        </p:spPr>
      </p:sp>
      <p:sp>
        <p:nvSpPr>
          <p:cNvPr id="8" name="Text 6"/>
          <p:cNvSpPr txBox="1"/>
          <p:nvPr/>
        </p:nvSpPr>
        <p:spPr>
          <a:xfrm>
            <a:off x="548640" y="1965960"/>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1</a:t>
            </a:r>
            <a:endParaRPr lang="en-US" sz="2000" dirty="0"/>
          </a:p>
        </p:txBody>
      </p:sp>
      <p:sp>
        <p:nvSpPr>
          <p:cNvPr id="9" name="Text 7"/>
          <p:cNvSpPr txBox="1"/>
          <p:nvPr/>
        </p:nvSpPr>
        <p:spPr>
          <a:xfrm>
            <a:off x="1325880" y="1965960"/>
            <a:ext cx="10332720" cy="566928"/>
          </a:xfrm>
          <a:prstGeom prst="rect">
            <a:avLst/>
          </a:prstGeom>
          <a:noFill/>
          <a:ln/>
        </p:spPr>
        <p:txBody>
          <a:bodyPr wrap="square" lIns="0" tIns="0" rIns="0" bIns="0" rtlCol="0" anchor="ctr"/>
          <a:lstStyle/>
          <a:p>
            <a:pPr indent="0" marL="0">
              <a:buNone/>
            </a:pPr>
            <a:r>
              <a:rPr lang="en-US" sz="1900" dirty="0">
                <a:solidFill>
                  <a:srgbClr val="101828"/>
                </a:solidFill>
                <a:latin typeface="IBM Plex Sans" pitchFamily="34" charset="0"/>
                <a:ea typeface="IBM Plex Sans" pitchFamily="34" charset="-122"/>
                <a:cs typeface="IBM Plex Sans" pitchFamily="34" charset="-120"/>
              </a:rPr>
              <a:t>Know how to code a presence, type, range, length and format check</a:t>
            </a:r>
            <a:endParaRPr lang="en-US" sz="1900" dirty="0"/>
          </a:p>
        </p:txBody>
      </p:sp>
      <p:sp>
        <p:nvSpPr>
          <p:cNvPr id="10" name="Shape 8"/>
          <p:cNvSpPr/>
          <p:nvPr/>
        </p:nvSpPr>
        <p:spPr>
          <a:xfrm>
            <a:off x="548640" y="2898648"/>
            <a:ext cx="566928" cy="566928"/>
          </a:xfrm>
          <a:prstGeom prst="ellipse">
            <a:avLst/>
          </a:prstGeom>
          <a:solidFill>
            <a:srgbClr val="2D63FF"/>
          </a:solidFill>
          <a:ln/>
        </p:spPr>
      </p:sp>
      <p:sp>
        <p:nvSpPr>
          <p:cNvPr id="11" name="Text 9"/>
          <p:cNvSpPr txBox="1"/>
          <p:nvPr/>
        </p:nvSpPr>
        <p:spPr>
          <a:xfrm>
            <a:off x="548640" y="2898648"/>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2</a:t>
            </a:r>
            <a:endParaRPr lang="en-US" sz="2000" dirty="0"/>
          </a:p>
        </p:txBody>
      </p:sp>
      <p:sp>
        <p:nvSpPr>
          <p:cNvPr id="12" name="Text 10"/>
          <p:cNvSpPr txBox="1"/>
          <p:nvPr/>
        </p:nvSpPr>
        <p:spPr>
          <a:xfrm>
            <a:off x="1325880" y="2898648"/>
            <a:ext cx="10332720" cy="566928"/>
          </a:xfrm>
          <a:prstGeom prst="rect">
            <a:avLst/>
          </a:prstGeom>
          <a:noFill/>
          <a:ln/>
        </p:spPr>
        <p:txBody>
          <a:bodyPr wrap="square" lIns="0" tIns="0" rIns="0" bIns="0" rtlCol="0" anchor="ctr"/>
          <a:lstStyle/>
          <a:p>
            <a:pPr indent="0" marL="0">
              <a:buNone/>
            </a:pPr>
            <a:r>
              <a:rPr lang="en-US" sz="1900" dirty="0">
                <a:solidFill>
                  <a:srgbClr val="101828"/>
                </a:solidFill>
                <a:latin typeface="IBM Plex Sans" pitchFamily="34" charset="0"/>
                <a:ea typeface="IBM Plex Sans" pitchFamily="34" charset="-122"/>
                <a:cs typeface="IBM Plex Sans" pitchFamily="34" charset="-120"/>
              </a:rPr>
              <a:t>Understand how a validation loop keeps asking until the value typed in passes every check</a:t>
            </a:r>
            <a:endParaRPr lang="en-US" sz="1900" dirty="0"/>
          </a:p>
        </p:txBody>
      </p:sp>
      <p:sp>
        <p:nvSpPr>
          <p:cNvPr id="13" name="Shape 11"/>
          <p:cNvSpPr/>
          <p:nvPr/>
        </p:nvSpPr>
        <p:spPr>
          <a:xfrm>
            <a:off x="548640" y="3831336"/>
            <a:ext cx="566928" cy="566928"/>
          </a:xfrm>
          <a:prstGeom prst="ellipse">
            <a:avLst/>
          </a:prstGeom>
          <a:solidFill>
            <a:srgbClr val="2D63FF"/>
          </a:solidFill>
          <a:ln/>
        </p:spPr>
      </p:sp>
      <p:sp>
        <p:nvSpPr>
          <p:cNvPr id="14" name="Text 12"/>
          <p:cNvSpPr txBox="1"/>
          <p:nvPr/>
        </p:nvSpPr>
        <p:spPr>
          <a:xfrm>
            <a:off x="548640" y="3831336"/>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3</a:t>
            </a:r>
            <a:endParaRPr lang="en-US" sz="2000" dirty="0"/>
          </a:p>
        </p:txBody>
      </p:sp>
      <p:sp>
        <p:nvSpPr>
          <p:cNvPr id="15" name="Text 13"/>
          <p:cNvSpPr txBox="1"/>
          <p:nvPr/>
        </p:nvSpPr>
        <p:spPr>
          <a:xfrm>
            <a:off x="1325880" y="3831336"/>
            <a:ext cx="10332720" cy="566928"/>
          </a:xfrm>
          <a:prstGeom prst="rect">
            <a:avLst/>
          </a:prstGeom>
          <a:noFill/>
          <a:ln/>
        </p:spPr>
        <p:txBody>
          <a:bodyPr wrap="square" lIns="0" tIns="0" rIns="0" bIns="0" rtlCol="0" anchor="ctr"/>
          <a:lstStyle/>
          <a:p>
            <a:pPr indent="0" marL="0">
              <a:buNone/>
            </a:pPr>
            <a:r>
              <a:rPr lang="en-US" sz="1900" dirty="0">
                <a:solidFill>
                  <a:srgbClr val="101828"/>
                </a:solidFill>
                <a:latin typeface="IBM Plex Sans" pitchFamily="34" charset="0"/>
                <a:ea typeface="IBM Plex Sans" pitchFamily="34" charset="-122"/>
                <a:cs typeface="IBM Plex Sans" pitchFamily="34" charset="-120"/>
              </a:rPr>
              <a:t>Know how to code an authentication check that allows only a set number of attempts</a:t>
            </a:r>
            <a:endParaRPr lang="en-US" sz="1900" dirty="0"/>
          </a:p>
        </p:txBody>
      </p:sp>
      <p:sp>
        <p:nvSpPr>
          <p:cNvPr id="16" name="Text 14"/>
          <p:cNvSpPr txBox="1"/>
          <p:nvPr/>
        </p:nvSpPr>
        <p:spPr>
          <a:xfrm>
            <a:off x="548640" y="5084064"/>
            <a:ext cx="2743200" cy="320040"/>
          </a:xfrm>
          <a:prstGeom prst="rect">
            <a:avLst/>
          </a:prstGeom>
          <a:noFill/>
          <a:ln/>
        </p:spPr>
        <p:txBody>
          <a:bodyPr wrap="square" lIns="0" tIns="0" rIns="0" bIns="0" rtlCol="0" anchor="ctr"/>
          <a:lstStyle/>
          <a:p>
            <a:pPr indent="0" marL="0">
              <a:buNone/>
            </a:pPr>
            <a:r>
              <a:rPr lang="en-US" sz="1200" dirty="0">
                <a:solidFill>
                  <a:srgbClr val="667085"/>
                </a:solidFill>
                <a:latin typeface="IBM Plex Mono" pitchFamily="34" charset="0"/>
                <a:ea typeface="IBM Plex Mono" pitchFamily="34" charset="-122"/>
                <a:cs typeface="IBM Plex Mono" pitchFamily="34" charset="-120"/>
              </a:rPr>
              <a:t>Key words</a:t>
            </a:r>
            <a:endParaRPr lang="en-US" sz="1200" dirty="0"/>
          </a:p>
        </p:txBody>
      </p:sp>
      <p:sp>
        <p:nvSpPr>
          <p:cNvPr id="17" name="Shape 15"/>
          <p:cNvSpPr/>
          <p:nvPr/>
        </p:nvSpPr>
        <p:spPr>
          <a:xfrm>
            <a:off x="548640" y="5468112"/>
            <a:ext cx="1920240" cy="402336"/>
          </a:xfrm>
          <a:prstGeom prst="roundRect">
            <a:avLst>
              <a:gd name="adj" fmla="val 50000"/>
            </a:avLst>
          </a:prstGeom>
          <a:solidFill>
            <a:srgbClr val="FFFFFF"/>
          </a:solidFill>
          <a:ln w="12700">
            <a:solidFill>
              <a:srgbClr val="2D63FF"/>
            </a:solidFill>
            <a:prstDash val="solid"/>
          </a:ln>
        </p:spPr>
      </p:sp>
      <p:sp>
        <p:nvSpPr>
          <p:cNvPr id="18" name="Text 16"/>
          <p:cNvSpPr txBox="1"/>
          <p:nvPr/>
        </p:nvSpPr>
        <p:spPr>
          <a:xfrm>
            <a:off x="548640" y="5468112"/>
            <a:ext cx="1920240" cy="402336"/>
          </a:xfrm>
          <a:prstGeom prst="rect">
            <a:avLst/>
          </a:prstGeom>
          <a:noFill/>
          <a:ln/>
        </p:spPr>
        <p:txBody>
          <a:bodyPr wrap="square" lIns="0" tIns="0" rIns="0" bIns="0" rtlCol="0" anchor="ctr"/>
          <a:lstStyle/>
          <a:p>
            <a:pPr algn="ctr" indent="0" marL="0">
              <a:buNone/>
            </a:pPr>
            <a:r>
              <a:rPr lang="en-US" sz="1200" dirty="0">
                <a:solidFill>
                  <a:srgbClr val="2D63FF"/>
                </a:solidFill>
                <a:latin typeface="IBM Plex Sans" pitchFamily="34" charset="0"/>
                <a:ea typeface="IBM Plex Sans" pitchFamily="34" charset="-122"/>
                <a:cs typeface="IBM Plex Sans" pitchFamily="34" charset="-120"/>
              </a:rPr>
              <a:t>Validation</a:t>
            </a:r>
            <a:endParaRPr lang="en-US" sz="1200" dirty="0"/>
          </a:p>
        </p:txBody>
      </p:sp>
      <p:sp>
        <p:nvSpPr>
          <p:cNvPr id="19" name="Shape 17"/>
          <p:cNvSpPr/>
          <p:nvPr/>
        </p:nvSpPr>
        <p:spPr>
          <a:xfrm>
            <a:off x="2596896" y="5468112"/>
            <a:ext cx="2505456" cy="402336"/>
          </a:xfrm>
          <a:prstGeom prst="roundRect">
            <a:avLst>
              <a:gd name="adj" fmla="val 50000"/>
            </a:avLst>
          </a:prstGeom>
          <a:solidFill>
            <a:srgbClr val="FFFFFF"/>
          </a:solidFill>
          <a:ln w="12700">
            <a:solidFill>
              <a:srgbClr val="2D63FF"/>
            </a:solidFill>
            <a:prstDash val="solid"/>
          </a:ln>
        </p:spPr>
      </p:sp>
      <p:sp>
        <p:nvSpPr>
          <p:cNvPr id="20" name="Text 18"/>
          <p:cNvSpPr txBox="1"/>
          <p:nvPr/>
        </p:nvSpPr>
        <p:spPr>
          <a:xfrm>
            <a:off x="2596896" y="5468112"/>
            <a:ext cx="2505456" cy="402336"/>
          </a:xfrm>
          <a:prstGeom prst="rect">
            <a:avLst/>
          </a:prstGeom>
          <a:noFill/>
          <a:ln/>
        </p:spPr>
        <p:txBody>
          <a:bodyPr wrap="square" lIns="0" tIns="0" rIns="0" bIns="0" rtlCol="0" anchor="ctr"/>
          <a:lstStyle/>
          <a:p>
            <a:pPr algn="ctr" indent="0" marL="0">
              <a:buNone/>
            </a:pPr>
            <a:r>
              <a:rPr lang="en-US" sz="1200" dirty="0">
                <a:solidFill>
                  <a:srgbClr val="2D63FF"/>
                </a:solidFill>
                <a:latin typeface="IBM Plex Sans" pitchFamily="34" charset="0"/>
                <a:ea typeface="IBM Plex Sans" pitchFamily="34" charset="-122"/>
                <a:cs typeface="IBM Plex Sans" pitchFamily="34" charset="-120"/>
              </a:rPr>
              <a:t>Presence check</a:t>
            </a:r>
            <a:endParaRPr lang="en-US" sz="1200" dirty="0"/>
          </a:p>
        </p:txBody>
      </p:sp>
      <p:sp>
        <p:nvSpPr>
          <p:cNvPr id="21" name="Shape 19"/>
          <p:cNvSpPr/>
          <p:nvPr/>
        </p:nvSpPr>
        <p:spPr>
          <a:xfrm>
            <a:off x="5230368" y="5468112"/>
            <a:ext cx="1920240" cy="402336"/>
          </a:xfrm>
          <a:prstGeom prst="roundRect">
            <a:avLst>
              <a:gd name="adj" fmla="val 50000"/>
            </a:avLst>
          </a:prstGeom>
          <a:solidFill>
            <a:srgbClr val="FFFFFF"/>
          </a:solidFill>
          <a:ln w="12700">
            <a:solidFill>
              <a:srgbClr val="2D63FF"/>
            </a:solidFill>
            <a:prstDash val="solid"/>
          </a:ln>
        </p:spPr>
      </p:sp>
      <p:sp>
        <p:nvSpPr>
          <p:cNvPr id="22" name="Text 20"/>
          <p:cNvSpPr txBox="1"/>
          <p:nvPr/>
        </p:nvSpPr>
        <p:spPr>
          <a:xfrm>
            <a:off x="5230368" y="5468112"/>
            <a:ext cx="1920240" cy="402336"/>
          </a:xfrm>
          <a:prstGeom prst="rect">
            <a:avLst/>
          </a:prstGeom>
          <a:noFill/>
          <a:ln/>
        </p:spPr>
        <p:txBody>
          <a:bodyPr wrap="square" lIns="0" tIns="0" rIns="0" bIns="0" rtlCol="0" anchor="ctr"/>
          <a:lstStyle/>
          <a:p>
            <a:pPr algn="ctr" indent="0" marL="0">
              <a:buNone/>
            </a:pPr>
            <a:r>
              <a:rPr lang="en-US" sz="1200" dirty="0">
                <a:solidFill>
                  <a:srgbClr val="2D63FF"/>
                </a:solidFill>
                <a:latin typeface="IBM Plex Sans" pitchFamily="34" charset="0"/>
                <a:ea typeface="IBM Plex Sans" pitchFamily="34" charset="-122"/>
                <a:cs typeface="IBM Plex Sans" pitchFamily="34" charset="-120"/>
              </a:rPr>
              <a:t>Type check</a:t>
            </a:r>
            <a:endParaRPr lang="en-US" sz="1200" dirty="0"/>
          </a:p>
        </p:txBody>
      </p:sp>
      <p:sp>
        <p:nvSpPr>
          <p:cNvPr id="23" name="Shape 21"/>
          <p:cNvSpPr/>
          <p:nvPr/>
        </p:nvSpPr>
        <p:spPr>
          <a:xfrm>
            <a:off x="7278624" y="5468112"/>
            <a:ext cx="2066544" cy="402336"/>
          </a:xfrm>
          <a:prstGeom prst="roundRect">
            <a:avLst>
              <a:gd name="adj" fmla="val 50000"/>
            </a:avLst>
          </a:prstGeom>
          <a:solidFill>
            <a:srgbClr val="FFFFFF"/>
          </a:solidFill>
          <a:ln w="12700">
            <a:solidFill>
              <a:srgbClr val="2D63FF"/>
            </a:solidFill>
            <a:prstDash val="solid"/>
          </a:ln>
        </p:spPr>
      </p:sp>
      <p:sp>
        <p:nvSpPr>
          <p:cNvPr id="24" name="Text 22"/>
          <p:cNvSpPr txBox="1"/>
          <p:nvPr/>
        </p:nvSpPr>
        <p:spPr>
          <a:xfrm>
            <a:off x="7278624" y="5468112"/>
            <a:ext cx="2066544" cy="402336"/>
          </a:xfrm>
          <a:prstGeom prst="rect">
            <a:avLst/>
          </a:prstGeom>
          <a:noFill/>
          <a:ln/>
        </p:spPr>
        <p:txBody>
          <a:bodyPr wrap="square" lIns="0" tIns="0" rIns="0" bIns="0" rtlCol="0" anchor="ctr"/>
          <a:lstStyle/>
          <a:p>
            <a:pPr algn="ctr" indent="0" marL="0">
              <a:buNone/>
            </a:pPr>
            <a:r>
              <a:rPr lang="en-US" sz="1200" dirty="0">
                <a:solidFill>
                  <a:srgbClr val="2D63FF"/>
                </a:solidFill>
                <a:latin typeface="IBM Plex Sans" pitchFamily="34" charset="0"/>
                <a:ea typeface="IBM Plex Sans" pitchFamily="34" charset="-122"/>
                <a:cs typeface="IBM Plex Sans" pitchFamily="34" charset="-120"/>
              </a:rPr>
              <a:t>Range check</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Python programming  |  Lesson 12</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Shape 3"/>
          <p:cNvSpPr/>
          <p:nvPr/>
        </p:nvSpPr>
        <p:spPr>
          <a:xfrm>
            <a:off x="502920" y="457200"/>
            <a:ext cx="2103120" cy="457200"/>
          </a:xfrm>
          <a:prstGeom prst="roundRect">
            <a:avLst>
              <a:gd name="adj" fmla="val 20000"/>
            </a:avLst>
          </a:prstGeom>
          <a:solidFill>
            <a:srgbClr val="F4B942"/>
          </a:solidFill>
          <a:ln/>
        </p:spPr>
      </p:sp>
      <p:sp>
        <p:nvSpPr>
          <p:cNvPr id="6" name="Text 4"/>
          <p:cNvSpPr txBox="1"/>
          <p:nvPr/>
        </p:nvSpPr>
        <p:spPr>
          <a:xfrm>
            <a:off x="502920" y="457200"/>
            <a:ext cx="2103120" cy="457200"/>
          </a:xfrm>
          <a:prstGeom prst="rect">
            <a:avLst/>
          </a:prstGeom>
          <a:noFill/>
          <a:ln/>
        </p:spPr>
        <p:txBody>
          <a:bodyPr wrap="square" lIns="0" tIns="0" rIns="0" bIns="0" rtlCol="0" anchor="ctr"/>
          <a:lstStyle/>
          <a:p>
            <a:pPr algn="ctr" indent="0" marL="0">
              <a:buNone/>
            </a:pPr>
            <a:r>
              <a:rPr lang="en-US" sz="1300" b="1" dirty="0">
                <a:solidFill>
                  <a:srgbClr val="101828"/>
                </a:solidFill>
                <a:latin typeface="IBM Plex Mono" pitchFamily="34" charset="0"/>
                <a:ea typeface="IBM Plex Mono" pitchFamily="34" charset="-122"/>
                <a:cs typeface="IBM Plex Mono" pitchFamily="34" charset="-120"/>
              </a:rPr>
              <a:t>STARTER</a:t>
            </a:r>
            <a:endParaRPr lang="en-US" sz="1300" dirty="0"/>
          </a:p>
        </p:txBody>
      </p:sp>
      <p:sp>
        <p:nvSpPr>
          <p:cNvPr id="7" name="Text 5"/>
          <p:cNvSpPr txBox="1"/>
          <p:nvPr/>
        </p:nvSpPr>
        <p:spPr>
          <a:xfrm>
            <a:off x="2788920" y="457200"/>
            <a:ext cx="5486400" cy="457200"/>
          </a:xfrm>
          <a:prstGeom prst="rect">
            <a:avLst/>
          </a:prstGeom>
          <a:noFill/>
          <a:ln/>
        </p:spPr>
        <p:txBody>
          <a:bodyPr wrap="square" lIns="0" tIns="0" rIns="0" bIns="0" rtlCol="0" anchor="ctr"/>
          <a:lstStyle/>
          <a:p>
            <a:pPr indent="0" marL="0">
              <a:buNone/>
            </a:pPr>
            <a:r>
              <a:rPr lang="en-US" sz="1400" dirty="0">
                <a:solidFill>
                  <a:srgbClr val="667085"/>
                </a:solidFill>
                <a:latin typeface="IBM Plex Sans" pitchFamily="34" charset="0"/>
                <a:ea typeface="IBM Plex Sans" pitchFamily="34" charset="-122"/>
                <a:cs typeface="IBM Plex Sans" pitchFamily="34" charset="-120"/>
              </a:rPr>
              <a:t>Five minutes, on paper</a:t>
            </a:r>
            <a:endParaRPr lang="en-US" sz="1400" dirty="0"/>
          </a:p>
        </p:txBody>
      </p:sp>
      <p:sp>
        <p:nvSpPr>
          <p:cNvPr id="8" name="Shape 6"/>
          <p:cNvSpPr/>
          <p:nvPr/>
        </p:nvSpPr>
        <p:spPr>
          <a:xfrm>
            <a:off x="502920" y="1234440"/>
            <a:ext cx="11155680" cy="3200400"/>
          </a:xfrm>
          <a:prstGeom prst="roundRect">
            <a:avLst>
              <a:gd name="adj" fmla="val 3429"/>
            </a:avLst>
          </a:prstGeom>
          <a:solidFill>
            <a:srgbClr val="FFFFFF"/>
          </a:solidFill>
          <a:ln w="15875">
            <a:solidFill>
              <a:srgbClr val="2D63FF"/>
            </a:solidFill>
            <a:prstDash val="solid"/>
          </a:ln>
        </p:spPr>
      </p:sp>
      <p:sp>
        <p:nvSpPr>
          <p:cNvPr id="9" name="Text 7"/>
          <p:cNvSpPr txBox="1"/>
          <p:nvPr/>
        </p:nvSpPr>
        <p:spPr>
          <a:xfrm>
            <a:off x="1005840" y="1645920"/>
            <a:ext cx="10149840" cy="2377440"/>
          </a:xfrm>
          <a:prstGeom prst="rect">
            <a:avLst/>
          </a:prstGeom>
          <a:noFill/>
          <a:ln/>
        </p:spPr>
        <p:txBody>
          <a:bodyPr wrap="square" lIns="0" tIns="0" rIns="0" bIns="0" rtlCol="0" anchor="ctr"/>
          <a:lstStyle/>
          <a:p>
            <a:pPr indent="0" marL="0">
              <a:lnSpc>
                <a:spcPct val="130000"/>
              </a:lnSpc>
              <a:buNone/>
            </a:pPr>
            <a:r>
              <a:rPr lang="en-US" sz="2600" dirty="0">
                <a:solidFill>
                  <a:srgbClr val="101828"/>
                </a:solidFill>
                <a:latin typeface="IBM Plex Sans" pitchFamily="34" charset="0"/>
                <a:ea typeface="IBM Plex Sans" pitchFamily="34" charset="-122"/>
                <a:cs typeface="IBM Plex Sans" pitchFamily="34" charset="-120"/>
              </a:rPr>
              <a:t>A program reads an age with age = int(input()) and the user types the word twelve. Write down what happens to the program, and the check that should have come before the cast.</a:t>
            </a:r>
            <a:endParaRPr lang="en-US" sz="2600" dirty="0"/>
          </a:p>
        </p:txBody>
      </p:sp>
      <p:sp>
        <p:nvSpPr>
          <p:cNvPr id="10" name="Text 8"/>
          <p:cNvSpPr txBox="1"/>
          <p:nvPr/>
        </p:nvSpPr>
        <p:spPr>
          <a:xfrm>
            <a:off x="502920" y="4709160"/>
            <a:ext cx="11155680" cy="457200"/>
          </a:xfrm>
          <a:prstGeom prst="rect">
            <a:avLst/>
          </a:prstGeom>
          <a:noFill/>
          <a:ln/>
        </p:spPr>
        <p:txBody>
          <a:bodyPr wrap="square" lIns="0" tIns="0" rIns="0" bIns="0" rtlCol="0" anchor="ctr"/>
          <a:lstStyle/>
          <a:p>
            <a:pPr indent="0" marL="0">
              <a:buNone/>
            </a:pPr>
            <a:r>
              <a:rPr lang="en-US" sz="1500" dirty="0">
                <a:solidFill>
                  <a:srgbClr val="667085"/>
                </a:solidFill>
                <a:latin typeface="IBM Plex Sans" pitchFamily="34" charset="0"/>
                <a:ea typeface="IBM Plex Sans" pitchFamily="34" charset="-122"/>
                <a:cs typeface="IBM Plex Sans" pitchFamily="34" charset="-120"/>
              </a:rPr>
              <a:t>No devices yet. Write your answer on the worksheet before anyone talks.</a:t>
            </a:r>
            <a:endParaRPr lang="en-US" sz="15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Python programming  |  Lesson 12</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502920" y="411480"/>
            <a:ext cx="11155680" cy="777240"/>
          </a:xfrm>
          <a:prstGeom prst="rect">
            <a:avLst/>
          </a:prstGeom>
          <a:noFill/>
          <a:ln/>
        </p:spPr>
        <p:txBody>
          <a:bodyPr wrap="square" lIns="0" tIns="0" rIns="0" bIns="0" rtlCol="0" anchor="ctr"/>
          <a:lstStyle/>
          <a:p>
            <a:pPr indent="0" marL="0">
              <a:buNone/>
            </a:pPr>
            <a:r>
              <a:rPr lang="en-US" sz="3200" b="1" dirty="0">
                <a:solidFill>
                  <a:srgbClr val="101828"/>
                </a:solidFill>
                <a:latin typeface="IBM Plex Sans" pitchFamily="34" charset="0"/>
                <a:ea typeface="IBM Plex Sans" pitchFamily="34" charset="-122"/>
                <a:cs typeface="IBM Plex Sans" pitchFamily="34" charset="-120"/>
              </a:rPr>
              <a:t>Into the experience</a:t>
            </a:r>
            <a:endParaRPr lang="en-US" sz="3200" dirty="0"/>
          </a:p>
        </p:txBody>
      </p:sp>
      <p:sp>
        <p:nvSpPr>
          <p:cNvPr id="6" name="Text 4"/>
          <p:cNvSpPr txBox="1"/>
          <p:nvPr/>
        </p:nvSpPr>
        <p:spPr>
          <a:xfrm>
            <a:off x="502920" y="1170432"/>
            <a:ext cx="11155680" cy="411480"/>
          </a:xfrm>
          <a:prstGeom prst="rect">
            <a:avLst/>
          </a:prstGeom>
          <a:noFill/>
          <a:ln/>
        </p:spPr>
        <p:txBody>
          <a:bodyPr wrap="square" lIns="0" tIns="0" rIns="0" bIns="0" rtlCol="0" anchor="ctr"/>
          <a:lstStyle/>
          <a:p>
            <a:pPr indent="0" marL="0">
              <a:buNone/>
            </a:pPr>
            <a:r>
              <a:rPr lang="en-US" sz="1500" dirty="0">
                <a:solidFill>
                  <a:srgbClr val="667085"/>
                </a:solidFill>
                <a:latin typeface="IBM Plex Sans" pitchFamily="34" charset="0"/>
                <a:ea typeface="IBM Plex Sans" pitchFamily="34" charset="-122"/>
                <a:cs typeface="IBM Plex Sans" pitchFamily="34" charset="-120"/>
              </a:rPr>
              <a:t>Open Gatehouse on revise360.co.uk</a:t>
            </a:r>
            <a:endParaRPr lang="en-US" sz="1500" dirty="0"/>
          </a:p>
        </p:txBody>
      </p:sp>
      <p:sp>
        <p:nvSpPr>
          <p:cNvPr id="7" name="Shape 5"/>
          <p:cNvSpPr/>
          <p:nvPr/>
        </p:nvSpPr>
        <p:spPr>
          <a:xfrm>
            <a:off x="548640" y="1874520"/>
            <a:ext cx="566928" cy="566928"/>
          </a:xfrm>
          <a:prstGeom prst="ellipse">
            <a:avLst/>
          </a:prstGeom>
          <a:solidFill>
            <a:srgbClr val="08A6A6"/>
          </a:solidFill>
          <a:ln/>
        </p:spPr>
      </p:sp>
      <p:sp>
        <p:nvSpPr>
          <p:cNvPr id="8" name="Text 6"/>
          <p:cNvSpPr txBox="1"/>
          <p:nvPr/>
        </p:nvSpPr>
        <p:spPr>
          <a:xfrm>
            <a:off x="548640" y="1874520"/>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1</a:t>
            </a:r>
            <a:endParaRPr lang="en-US" sz="2000" dirty="0"/>
          </a:p>
        </p:txBody>
      </p:sp>
      <p:sp>
        <p:nvSpPr>
          <p:cNvPr id="9" name="Text 7"/>
          <p:cNvSpPr txBox="1"/>
          <p:nvPr/>
        </p:nvSpPr>
        <p:spPr>
          <a:xfrm>
            <a:off x="1325880" y="1856232"/>
            <a:ext cx="3017520" cy="320040"/>
          </a:xfrm>
          <a:prstGeom prst="rect">
            <a:avLst/>
          </a:prstGeom>
          <a:noFill/>
          <a:ln/>
        </p:spPr>
        <p:txBody>
          <a:bodyPr wrap="square" lIns="0" tIns="0" rIns="0" bIns="0" rtlCol="0" anchor="ctr"/>
          <a:lstStyle/>
          <a:p>
            <a:pPr indent="0" marL="0">
              <a:buNone/>
            </a:pPr>
            <a:r>
              <a:rPr lang="en-US" sz="1700" b="1" dirty="0">
                <a:solidFill>
                  <a:srgbClr val="101828"/>
                </a:solidFill>
                <a:latin typeface="IBM Plex Sans" pitchFamily="34" charset="0"/>
                <a:ea typeface="IBM Plex Sans" pitchFamily="34" charset="-122"/>
                <a:cs typeface="IBM Plex Sans" pitchFamily="34" charset="-120"/>
              </a:rPr>
              <a:t>Look around</a:t>
            </a:r>
            <a:endParaRPr lang="en-US" sz="1700" dirty="0"/>
          </a:p>
        </p:txBody>
      </p:sp>
      <p:sp>
        <p:nvSpPr>
          <p:cNvPr id="10" name="Text 8"/>
          <p:cNvSpPr txBox="1"/>
          <p:nvPr/>
        </p:nvSpPr>
        <p:spPr>
          <a:xfrm>
            <a:off x="1325880" y="2148840"/>
            <a:ext cx="10241280" cy="457200"/>
          </a:xfrm>
          <a:prstGeom prst="rect">
            <a:avLst/>
          </a:prstGeom>
          <a:noFill/>
          <a:ln/>
        </p:spPr>
        <p:txBody>
          <a:bodyPr wrap="square" lIns="0" tIns="0" rIns="0" bIns="0" rtlCol="0" anchor="t"/>
          <a:lstStyle/>
          <a:p>
            <a:pPr indent="0" marL="0">
              <a:buNone/>
            </a:pPr>
            <a:r>
              <a:rPr lang="en-US" sz="1400" dirty="0">
                <a:solidFill>
                  <a:srgbClr val="667085"/>
                </a:solidFill>
                <a:latin typeface="IBM Plex Sans" pitchFamily="34" charset="0"/>
                <a:ea typeface="IBM Plex Sans" pitchFamily="34" charset="-122"/>
                <a:cs typeface="IBM Plex Sans" pitchFamily="34" charset="-120"/>
              </a:rPr>
              <a:t>Six numbered stations are arranged around you. Turn right for 1 and 2, around for 3 and 4, left for 5 and 6.</a:t>
            </a:r>
            <a:endParaRPr lang="en-US" sz="1400" dirty="0"/>
          </a:p>
        </p:txBody>
      </p:sp>
      <p:sp>
        <p:nvSpPr>
          <p:cNvPr id="11" name="Shape 9"/>
          <p:cNvSpPr/>
          <p:nvPr/>
        </p:nvSpPr>
        <p:spPr>
          <a:xfrm>
            <a:off x="548640" y="2898648"/>
            <a:ext cx="566928" cy="566928"/>
          </a:xfrm>
          <a:prstGeom prst="ellipse">
            <a:avLst/>
          </a:prstGeom>
          <a:solidFill>
            <a:srgbClr val="08A6A6"/>
          </a:solidFill>
          <a:ln/>
        </p:spPr>
      </p:sp>
      <p:sp>
        <p:nvSpPr>
          <p:cNvPr id="12" name="Text 10"/>
          <p:cNvSpPr txBox="1"/>
          <p:nvPr/>
        </p:nvSpPr>
        <p:spPr>
          <a:xfrm>
            <a:off x="548640" y="2898648"/>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2</a:t>
            </a:r>
            <a:endParaRPr lang="en-US" sz="2000" dirty="0"/>
          </a:p>
        </p:txBody>
      </p:sp>
      <p:sp>
        <p:nvSpPr>
          <p:cNvPr id="13" name="Text 11"/>
          <p:cNvSpPr txBox="1"/>
          <p:nvPr/>
        </p:nvSpPr>
        <p:spPr>
          <a:xfrm>
            <a:off x="1325880" y="2880360"/>
            <a:ext cx="3017520" cy="320040"/>
          </a:xfrm>
          <a:prstGeom prst="rect">
            <a:avLst/>
          </a:prstGeom>
          <a:noFill/>
          <a:ln/>
        </p:spPr>
        <p:txBody>
          <a:bodyPr wrap="square" lIns="0" tIns="0" rIns="0" bIns="0" rtlCol="0" anchor="ctr"/>
          <a:lstStyle/>
          <a:p>
            <a:pPr indent="0" marL="0">
              <a:buNone/>
            </a:pPr>
            <a:r>
              <a:rPr lang="en-US" sz="1700" b="1" dirty="0">
                <a:solidFill>
                  <a:srgbClr val="101828"/>
                </a:solidFill>
                <a:latin typeface="IBM Plex Sans" pitchFamily="34" charset="0"/>
                <a:ea typeface="IBM Plex Sans" pitchFamily="34" charset="-122"/>
                <a:cs typeface="IBM Plex Sans" pitchFamily="34" charset="-120"/>
              </a:rPr>
              <a:t>Plan before you type</a:t>
            </a:r>
            <a:endParaRPr lang="en-US" sz="1700" dirty="0"/>
          </a:p>
        </p:txBody>
      </p:sp>
      <p:sp>
        <p:nvSpPr>
          <p:cNvPr id="14" name="Text 12"/>
          <p:cNvSpPr txBox="1"/>
          <p:nvPr/>
        </p:nvSpPr>
        <p:spPr>
          <a:xfrm>
            <a:off x="1325880" y="3172968"/>
            <a:ext cx="10241280" cy="457200"/>
          </a:xfrm>
          <a:prstGeom prst="rect">
            <a:avLst/>
          </a:prstGeom>
          <a:noFill/>
          <a:ln/>
        </p:spPr>
        <p:txBody>
          <a:bodyPr wrap="square" lIns="0" tIns="0" rIns="0" bIns="0" rtlCol="0" anchor="t"/>
          <a:lstStyle/>
          <a:p>
            <a:pPr indent="0" marL="0">
              <a:buNone/>
            </a:pPr>
            <a:r>
              <a:rPr lang="en-US" sz="1400" dirty="0">
                <a:solidFill>
                  <a:srgbClr val="667085"/>
                </a:solidFill>
                <a:latin typeface="IBM Plex Sans" pitchFamily="34" charset="0"/>
                <a:ea typeface="IBM Plex Sans" pitchFamily="34" charset="-122"/>
                <a:cs typeface="IBM Plex Sans" pitchFamily="34" charset="-120"/>
              </a:rPr>
              <a:t>Read the task and its brief. Work out the inputs, what happens to them, and exactly what is printed.</a:t>
            </a:r>
            <a:endParaRPr lang="en-US" sz="1400" dirty="0"/>
          </a:p>
        </p:txBody>
      </p:sp>
      <p:sp>
        <p:nvSpPr>
          <p:cNvPr id="15" name="Shape 13"/>
          <p:cNvSpPr/>
          <p:nvPr/>
        </p:nvSpPr>
        <p:spPr>
          <a:xfrm>
            <a:off x="548640" y="3922776"/>
            <a:ext cx="566928" cy="566928"/>
          </a:xfrm>
          <a:prstGeom prst="ellipse">
            <a:avLst/>
          </a:prstGeom>
          <a:solidFill>
            <a:srgbClr val="08A6A6"/>
          </a:solidFill>
          <a:ln/>
        </p:spPr>
      </p:sp>
      <p:sp>
        <p:nvSpPr>
          <p:cNvPr id="16" name="Text 14"/>
          <p:cNvSpPr txBox="1"/>
          <p:nvPr/>
        </p:nvSpPr>
        <p:spPr>
          <a:xfrm>
            <a:off x="548640" y="3922776"/>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3</a:t>
            </a:r>
            <a:endParaRPr lang="en-US" sz="2000" dirty="0"/>
          </a:p>
        </p:txBody>
      </p:sp>
      <p:sp>
        <p:nvSpPr>
          <p:cNvPr id="17" name="Text 15"/>
          <p:cNvSpPr txBox="1"/>
          <p:nvPr/>
        </p:nvSpPr>
        <p:spPr>
          <a:xfrm>
            <a:off x="1325880" y="3904488"/>
            <a:ext cx="3017520" cy="320040"/>
          </a:xfrm>
          <a:prstGeom prst="rect">
            <a:avLst/>
          </a:prstGeom>
          <a:noFill/>
          <a:ln/>
        </p:spPr>
        <p:txBody>
          <a:bodyPr wrap="square" lIns="0" tIns="0" rIns="0" bIns="0" rtlCol="0" anchor="ctr"/>
          <a:lstStyle/>
          <a:p>
            <a:pPr indent="0" marL="0">
              <a:buNone/>
            </a:pPr>
            <a:r>
              <a:rPr lang="en-US" sz="1700" b="1" dirty="0">
                <a:solidFill>
                  <a:srgbClr val="101828"/>
                </a:solidFill>
                <a:latin typeface="IBM Plex Sans" pitchFamily="34" charset="0"/>
                <a:ea typeface="IBM Plex Sans" pitchFamily="34" charset="-122"/>
                <a:cs typeface="IBM Plex Sans" pitchFamily="34" charset="-120"/>
              </a:rPr>
              <a:t>Write it and run it</a:t>
            </a:r>
            <a:endParaRPr lang="en-US" sz="1700" dirty="0"/>
          </a:p>
        </p:txBody>
      </p:sp>
      <p:sp>
        <p:nvSpPr>
          <p:cNvPr id="18" name="Text 16"/>
          <p:cNvSpPr txBox="1"/>
          <p:nvPr/>
        </p:nvSpPr>
        <p:spPr>
          <a:xfrm>
            <a:off x="1325880" y="4197096"/>
            <a:ext cx="10241280" cy="457200"/>
          </a:xfrm>
          <a:prstGeom prst="rect">
            <a:avLst/>
          </a:prstGeom>
          <a:noFill/>
          <a:ln/>
        </p:spPr>
        <p:txBody>
          <a:bodyPr wrap="square" lIns="0" tIns="0" rIns="0" bIns="0" rtlCol="0" anchor="t"/>
          <a:lstStyle/>
          <a:p>
            <a:pPr indent="0" marL="0">
              <a:buNone/>
            </a:pPr>
            <a:r>
              <a:rPr lang="en-US" sz="1400" dirty="0">
                <a:solidFill>
                  <a:srgbClr val="667085"/>
                </a:solidFill>
                <a:latin typeface="IBM Plex Sans" pitchFamily="34" charset="0"/>
                <a:ea typeface="IBM Plex Sans" pitchFamily="34" charset="-122"/>
                <a:cs typeface="IBM Plex Sans" pitchFamily="34" charset="-120"/>
              </a:rPr>
              <a:t>Type the program in the editor and press Run to see what it does. Then press Check to mark it against the tests.</a:t>
            </a:r>
            <a:endParaRPr lang="en-US" sz="1400" dirty="0"/>
          </a:p>
        </p:txBody>
      </p:sp>
      <p:sp>
        <p:nvSpPr>
          <p:cNvPr id="19" name="Shape 17"/>
          <p:cNvSpPr/>
          <p:nvPr/>
        </p:nvSpPr>
        <p:spPr>
          <a:xfrm>
            <a:off x="548640" y="4946904"/>
            <a:ext cx="566928" cy="566928"/>
          </a:xfrm>
          <a:prstGeom prst="ellipse">
            <a:avLst/>
          </a:prstGeom>
          <a:solidFill>
            <a:srgbClr val="F4B942"/>
          </a:solidFill>
          <a:ln/>
        </p:spPr>
      </p:sp>
      <p:sp>
        <p:nvSpPr>
          <p:cNvPr id="20" name="Text 18"/>
          <p:cNvSpPr txBox="1"/>
          <p:nvPr/>
        </p:nvSpPr>
        <p:spPr>
          <a:xfrm>
            <a:off x="548640" y="4946904"/>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4</a:t>
            </a:r>
            <a:endParaRPr lang="en-US" sz="2000" dirty="0"/>
          </a:p>
        </p:txBody>
      </p:sp>
      <p:sp>
        <p:nvSpPr>
          <p:cNvPr id="21" name="Text 19"/>
          <p:cNvSpPr txBox="1"/>
          <p:nvPr/>
        </p:nvSpPr>
        <p:spPr>
          <a:xfrm>
            <a:off x="1325880" y="4928616"/>
            <a:ext cx="3017520" cy="320040"/>
          </a:xfrm>
          <a:prstGeom prst="rect">
            <a:avLst/>
          </a:prstGeom>
          <a:noFill/>
          <a:ln/>
        </p:spPr>
        <p:txBody>
          <a:bodyPr wrap="square" lIns="0" tIns="0" rIns="0" bIns="0" rtlCol="0" anchor="ctr"/>
          <a:lstStyle/>
          <a:p>
            <a:pPr indent="0" marL="0">
              <a:buNone/>
            </a:pPr>
            <a:r>
              <a:rPr lang="en-US" sz="1700" b="1" dirty="0">
                <a:solidFill>
                  <a:srgbClr val="101828"/>
                </a:solidFill>
                <a:latin typeface="IBM Plex Sans" pitchFamily="34" charset="0"/>
                <a:ea typeface="IBM Plex Sans" pitchFamily="34" charset="-122"/>
                <a:cs typeface="IBM Plex Sans" pitchFamily="34" charset="-120"/>
              </a:rPr>
              <a:t>Read the failures</a:t>
            </a:r>
            <a:endParaRPr lang="en-US" sz="1700" dirty="0"/>
          </a:p>
        </p:txBody>
      </p:sp>
      <p:sp>
        <p:nvSpPr>
          <p:cNvPr id="22" name="Text 20"/>
          <p:cNvSpPr txBox="1"/>
          <p:nvPr/>
        </p:nvSpPr>
        <p:spPr>
          <a:xfrm>
            <a:off x="1325880" y="5221224"/>
            <a:ext cx="10241280" cy="457200"/>
          </a:xfrm>
          <a:prstGeom prst="rect">
            <a:avLst/>
          </a:prstGeom>
          <a:noFill/>
          <a:ln/>
        </p:spPr>
        <p:txBody>
          <a:bodyPr wrap="square" lIns="0" tIns="0" rIns="0" bIns="0" rtlCol="0" anchor="t"/>
          <a:lstStyle/>
          <a:p>
            <a:pPr indent="0" marL="0">
              <a:buNone/>
            </a:pPr>
            <a:r>
              <a:rPr lang="en-US" sz="1400" dirty="0">
                <a:solidFill>
                  <a:srgbClr val="667085"/>
                </a:solidFill>
                <a:latin typeface="IBM Plex Sans" pitchFamily="34" charset="0"/>
                <a:ea typeface="IBM Plex Sans" pitchFamily="34" charset="-122"/>
                <a:cs typeface="IBM Plex Sans" pitchFamily="34" charset="-120"/>
              </a:rPr>
              <a:t>A test that fails tells you what was expected and what came out. Fix and run it again - that is what programmers do.</a:t>
            </a:r>
            <a:endParaRPr lang="en-US" sz="1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Python programming  |  Lesson 12</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8321040" y="6236208"/>
            <a:ext cx="914400" cy="365760"/>
          </a:xfrm>
          <a:prstGeom prst="rect">
            <a:avLst/>
          </a:prstGeom>
          <a:noFill/>
          <a:ln/>
        </p:spPr>
        <p:txBody>
          <a:bodyPr wrap="square" lIns="0" tIns="0" rIns="0" bIns="0" rtlCol="0" anchor="ctr"/>
          <a:lstStyle/>
          <a:p>
            <a:pPr algn="r" indent="0" marL="0">
              <a:buNone/>
            </a:pPr>
            <a:r>
              <a:rPr lang="en-US" sz="1100" dirty="0">
                <a:solidFill>
                  <a:srgbClr val="D9DEE7"/>
                </a:solidFill>
                <a:latin typeface="IBM Plex Mono" pitchFamily="34" charset="0"/>
                <a:ea typeface="IBM Plex Mono" pitchFamily="34" charset="-122"/>
                <a:cs typeface="IBM Plex Mono" pitchFamily="34" charset="-120"/>
              </a:rPr>
              <a:t>Station 1</a:t>
            </a:r>
            <a:endParaRPr lang="en-US" sz="1100" dirty="0"/>
          </a:p>
        </p:txBody>
      </p:sp>
      <p:sp>
        <p:nvSpPr>
          <p:cNvPr id="6" name="Shape 4"/>
          <p:cNvSpPr/>
          <p:nvPr/>
        </p:nvSpPr>
        <p:spPr>
          <a:xfrm>
            <a:off x="502920" y="438912"/>
            <a:ext cx="566928" cy="566928"/>
          </a:xfrm>
          <a:prstGeom prst="ellipse">
            <a:avLst/>
          </a:prstGeom>
          <a:solidFill>
            <a:srgbClr val="2D63FF"/>
          </a:solidFill>
          <a:ln/>
        </p:spPr>
      </p:sp>
      <p:sp>
        <p:nvSpPr>
          <p:cNvPr id="7" name="Text 5"/>
          <p:cNvSpPr txBox="1"/>
          <p:nvPr/>
        </p:nvSpPr>
        <p:spPr>
          <a:xfrm>
            <a:off x="502920" y="43891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1</a:t>
            </a:r>
            <a:endParaRPr lang="en-US" sz="2000" dirty="0"/>
          </a:p>
        </p:txBody>
      </p:sp>
      <p:sp>
        <p:nvSpPr>
          <p:cNvPr id="8" name="Text 6"/>
          <p:cNvSpPr txBox="1"/>
          <p:nvPr/>
        </p:nvSpPr>
        <p:spPr>
          <a:xfrm>
            <a:off x="1234440" y="411480"/>
            <a:ext cx="10424160" cy="621792"/>
          </a:xfrm>
          <a:prstGeom prst="rect">
            <a:avLst/>
          </a:prstGeom>
          <a:noFill/>
          <a:ln/>
        </p:spPr>
        <p:txBody>
          <a:bodyPr wrap="square" lIns="0" tIns="0" rIns="0" bIns="0" rtlCol="0" anchor="ctr"/>
          <a:lstStyle/>
          <a:p>
            <a:pPr indent="0" marL="0">
              <a:buNone/>
            </a:pPr>
            <a:r>
              <a:rPr lang="en-US" sz="3000" b="1" dirty="0">
                <a:solidFill>
                  <a:srgbClr val="101828"/>
                </a:solidFill>
                <a:latin typeface="IBM Plex Sans" pitchFamily="34" charset="0"/>
                <a:ea typeface="IBM Plex Sans" pitchFamily="34" charset="-122"/>
                <a:cs typeface="IBM Plex Sans" pitchFamily="34" charset="-120"/>
              </a:rPr>
              <a:t>Checking the input</a:t>
            </a:r>
            <a:endParaRPr lang="en-US" sz="3000" dirty="0"/>
          </a:p>
        </p:txBody>
      </p:sp>
      <p:sp>
        <p:nvSpPr>
          <p:cNvPr id="9" name="Shape 7"/>
          <p:cNvSpPr/>
          <p:nvPr/>
        </p:nvSpPr>
        <p:spPr>
          <a:xfrm>
            <a:off x="502920" y="1280160"/>
            <a:ext cx="7040880" cy="3246120"/>
          </a:xfrm>
          <a:prstGeom prst="roundRect">
            <a:avLst>
              <a:gd name="adj" fmla="val 3380"/>
            </a:avLst>
          </a:prstGeom>
          <a:solidFill>
            <a:srgbClr val="FFFFFF"/>
          </a:solidFill>
          <a:ln w="15875">
            <a:solidFill>
              <a:srgbClr val="D9DEE7"/>
            </a:solidFill>
            <a:prstDash val="solid"/>
          </a:ln>
        </p:spPr>
      </p:sp>
      <p:sp>
        <p:nvSpPr>
          <p:cNvPr id="10" name="Text 8"/>
          <p:cNvSpPr txBox="1"/>
          <p:nvPr/>
        </p:nvSpPr>
        <p:spPr>
          <a:xfrm>
            <a:off x="914400" y="1600200"/>
            <a:ext cx="6309360" cy="2651760"/>
          </a:xfrm>
          <a:prstGeom prst="rect">
            <a:avLst/>
          </a:prstGeom>
          <a:noFill/>
          <a:ln/>
        </p:spPr>
        <p:txBody>
          <a:bodyPr wrap="square" lIns="0" tIns="0" rIns="0" bIns="0" rtlCol="0" anchor="t"/>
          <a:lstStyle/>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A presence check refuses input that is empty once any stray spaces are stripped off.</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A type check uses isdigit(), so text typed where a number was wanted cannot crash the program.</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Mistake: casting with int() before checking, which stops the program instead of rejecting the value.</a:t>
            </a:r>
            <a:endParaRPr lang="en-US" sz="1700" dirty="0"/>
          </a:p>
        </p:txBody>
      </p:sp>
      <p:sp>
        <p:nvSpPr>
          <p:cNvPr id="11" name="Shape 9"/>
          <p:cNvSpPr/>
          <p:nvPr/>
        </p:nvSpPr>
        <p:spPr>
          <a:xfrm>
            <a:off x="7818120" y="1280160"/>
            <a:ext cx="3840480" cy="3246120"/>
          </a:xfrm>
          <a:prstGeom prst="roundRect">
            <a:avLst>
              <a:gd name="adj" fmla="val 3380"/>
            </a:avLst>
          </a:prstGeom>
          <a:solidFill>
            <a:srgbClr val="FFFFFF"/>
          </a:solidFill>
          <a:ln w="15875">
            <a:solidFill>
              <a:srgbClr val="F4B942"/>
            </a:solidFill>
            <a:prstDash val="solid"/>
          </a:ln>
        </p:spPr>
      </p:sp>
      <p:sp>
        <p:nvSpPr>
          <p:cNvPr id="12" name="Text 10"/>
          <p:cNvSpPr txBox="1"/>
          <p:nvPr/>
        </p:nvSpPr>
        <p:spPr>
          <a:xfrm>
            <a:off x="8183880" y="1508760"/>
            <a:ext cx="3200400" cy="320040"/>
          </a:xfrm>
          <a:prstGeom prst="rect">
            <a:avLst/>
          </a:prstGeom>
          <a:noFill/>
          <a:ln/>
        </p:spPr>
        <p:txBody>
          <a:bodyPr wrap="square" lIns="0" tIns="0" rIns="0" bIns="0" rtlCol="0" anchor="ctr"/>
          <a:lstStyle/>
          <a:p>
            <a:pPr indent="0" marL="0">
              <a:buNone/>
            </a:pPr>
            <a:r>
              <a:rPr lang="en-US" sz="1200" b="1" dirty="0">
                <a:solidFill>
                  <a:srgbClr val="667085"/>
                </a:solidFill>
                <a:latin typeface="IBM Plex Mono" pitchFamily="34" charset="0"/>
                <a:ea typeface="IBM Plex Mono" pitchFamily="34" charset="-122"/>
                <a:cs typeface="IBM Plex Mono" pitchFamily="34" charset="-120"/>
              </a:rPr>
              <a:t>CHALLENGE</a:t>
            </a:r>
            <a:endParaRPr lang="en-US" sz="1200" dirty="0"/>
          </a:p>
        </p:txBody>
      </p:sp>
      <p:sp>
        <p:nvSpPr>
          <p:cNvPr id="13" name="Text 11"/>
          <p:cNvSpPr txBox="1"/>
          <p:nvPr/>
        </p:nvSpPr>
        <p:spPr>
          <a:xfrm>
            <a:off x="8183880" y="1874520"/>
            <a:ext cx="3154680" cy="2377440"/>
          </a:xfrm>
          <a:prstGeom prst="rect">
            <a:avLst/>
          </a:prstGeom>
          <a:noFill/>
          <a:ln/>
        </p:spPr>
        <p:txBody>
          <a:bodyPr wrap="square" lIns="0" tIns="0" rIns="0" bIns="0" rtlCol="0" anchor="t"/>
          <a:lstStyle/>
          <a:p>
            <a:pPr indent="0" marL="0">
              <a:lnSpc>
                <a:spcPct val="125000"/>
              </a:lnSpc>
              <a:buNone/>
            </a:pPr>
            <a:r>
              <a:rPr lang="en-US" sz="1600" dirty="0">
                <a:solidFill>
                  <a:srgbClr val="101828"/>
                </a:solidFill>
                <a:latin typeface="IBM Plex Sans" pitchFamily="34" charset="0"/>
                <a:ea typeface="IBM Plex Sans" pitchFamily="34" charset="-122"/>
                <a:cs typeface="IBM Plex Sans" pitchFamily="34" charset="-120"/>
              </a:rPr>
              <a:t>Why must a type check happen before the value is cast?</a:t>
            </a:r>
            <a:endParaRPr lang="en-US" sz="1600" dirty="0"/>
          </a:p>
        </p:txBody>
      </p:sp>
      <p:sp>
        <p:nvSpPr>
          <p:cNvPr id="14" name="Shape 12"/>
          <p:cNvSpPr/>
          <p:nvPr/>
        </p:nvSpPr>
        <p:spPr>
          <a:xfrm>
            <a:off x="502920" y="4754880"/>
            <a:ext cx="11155680" cy="777240"/>
          </a:xfrm>
          <a:prstGeom prst="roundRect">
            <a:avLst>
              <a:gd name="adj" fmla="val 11765"/>
            </a:avLst>
          </a:prstGeom>
          <a:solidFill>
            <a:srgbClr val="EEF2FB"/>
          </a:solidFill>
          <a:ln w="12700">
            <a:solidFill>
              <a:srgbClr val="2D63FF"/>
            </a:solidFill>
            <a:prstDash val="solid"/>
          </a:ln>
        </p:spPr>
      </p:sp>
      <p:sp>
        <p:nvSpPr>
          <p:cNvPr id="15" name="Text 13"/>
          <p:cNvSpPr txBox="1"/>
          <p:nvPr/>
        </p:nvSpPr>
        <p:spPr>
          <a:xfrm>
            <a:off x="914400" y="4754880"/>
            <a:ext cx="10332720" cy="777240"/>
          </a:xfrm>
          <a:prstGeom prst="rect">
            <a:avLst/>
          </a:prstGeom>
          <a:noFill/>
          <a:ln/>
        </p:spPr>
        <p:txBody>
          <a:bodyPr wrap="square" lIns="0" tIns="0" rIns="0" bIns="0" rtlCol="0" anchor="ctr"/>
          <a:lstStyle/>
          <a:p>
            <a:pPr indent="0" marL="0">
              <a:buNone/>
            </a:pPr>
            <a:r>
              <a:rPr lang="en-US" sz="1600" b="1" dirty="0">
                <a:solidFill>
                  <a:srgbClr val="2D63FF"/>
                </a:solidFill>
                <a:latin typeface="IBM Plex Sans" pitchFamily="34" charset="0"/>
                <a:ea typeface="IBM Plex Sans" pitchFamily="34" charset="-122"/>
                <a:cs typeface="IBM Plex Sans" pitchFamily="34" charset="-120"/>
              </a:rPr>
              <a:t>On your worksheet:  </a:t>
            </a:r>
            <a:pPr indent="0" marL="0">
              <a:buNone/>
            </a:pPr>
            <a:r>
              <a:rPr lang="en-US" sz="1600" dirty="0">
                <a:solidFill>
                  <a:srgbClr val="101828"/>
                </a:solidFill>
                <a:latin typeface="IBM Plex Sans" pitchFamily="34" charset="0"/>
                <a:ea typeface="IBM Plex Sans" pitchFamily="34" charset="-122"/>
                <a:cs typeface="IBM Plex Sans" pitchFamily="34" charset="-120"/>
              </a:rPr>
              <a:t>Validation checks data is sensible, not that it is true: a wrong but sensible date passes every check.</a:t>
            </a:r>
            <a:endParaRPr lang="en-US" sz="16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Python programming  |  Lesson 12</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8321040" y="6236208"/>
            <a:ext cx="914400" cy="365760"/>
          </a:xfrm>
          <a:prstGeom prst="rect">
            <a:avLst/>
          </a:prstGeom>
          <a:noFill/>
          <a:ln/>
        </p:spPr>
        <p:txBody>
          <a:bodyPr wrap="square" lIns="0" tIns="0" rIns="0" bIns="0" rtlCol="0" anchor="ctr"/>
          <a:lstStyle/>
          <a:p>
            <a:pPr algn="r" indent="0" marL="0">
              <a:buNone/>
            </a:pPr>
            <a:r>
              <a:rPr lang="en-US" sz="1100" dirty="0">
                <a:solidFill>
                  <a:srgbClr val="D9DEE7"/>
                </a:solidFill>
                <a:latin typeface="IBM Plex Mono" pitchFamily="34" charset="0"/>
                <a:ea typeface="IBM Plex Mono" pitchFamily="34" charset="-122"/>
                <a:cs typeface="IBM Plex Mono" pitchFamily="34" charset="-120"/>
              </a:rPr>
              <a:t>Station 2</a:t>
            </a:r>
            <a:endParaRPr lang="en-US" sz="1100" dirty="0"/>
          </a:p>
        </p:txBody>
      </p:sp>
      <p:sp>
        <p:nvSpPr>
          <p:cNvPr id="6" name="Shape 4"/>
          <p:cNvSpPr/>
          <p:nvPr/>
        </p:nvSpPr>
        <p:spPr>
          <a:xfrm>
            <a:off x="502920" y="438912"/>
            <a:ext cx="566928" cy="566928"/>
          </a:xfrm>
          <a:prstGeom prst="ellipse">
            <a:avLst/>
          </a:prstGeom>
          <a:solidFill>
            <a:srgbClr val="2D63FF"/>
          </a:solidFill>
          <a:ln/>
        </p:spPr>
      </p:sp>
      <p:sp>
        <p:nvSpPr>
          <p:cNvPr id="7" name="Text 5"/>
          <p:cNvSpPr txBox="1"/>
          <p:nvPr/>
        </p:nvSpPr>
        <p:spPr>
          <a:xfrm>
            <a:off x="502920" y="43891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2</a:t>
            </a:r>
            <a:endParaRPr lang="en-US" sz="2000" dirty="0"/>
          </a:p>
        </p:txBody>
      </p:sp>
      <p:sp>
        <p:nvSpPr>
          <p:cNvPr id="8" name="Text 6"/>
          <p:cNvSpPr txBox="1"/>
          <p:nvPr/>
        </p:nvSpPr>
        <p:spPr>
          <a:xfrm>
            <a:off x="1234440" y="411480"/>
            <a:ext cx="10424160" cy="621792"/>
          </a:xfrm>
          <a:prstGeom prst="rect">
            <a:avLst/>
          </a:prstGeom>
          <a:noFill/>
          <a:ln/>
        </p:spPr>
        <p:txBody>
          <a:bodyPr wrap="square" lIns="0" tIns="0" rIns="0" bIns="0" rtlCol="0" anchor="ctr"/>
          <a:lstStyle/>
          <a:p>
            <a:pPr indent="0" marL="0">
              <a:buNone/>
            </a:pPr>
            <a:r>
              <a:rPr lang="en-US" sz="3000" b="1" dirty="0">
                <a:solidFill>
                  <a:srgbClr val="101828"/>
                </a:solidFill>
                <a:latin typeface="IBM Plex Sans" pitchFamily="34" charset="0"/>
                <a:ea typeface="IBM Plex Sans" pitchFamily="34" charset="-122"/>
                <a:cs typeface="IBM Plex Sans" pitchFamily="34" charset="-120"/>
              </a:rPr>
              <a:t>Range checks</a:t>
            </a:r>
            <a:endParaRPr lang="en-US" sz="3000" dirty="0"/>
          </a:p>
        </p:txBody>
      </p:sp>
      <p:sp>
        <p:nvSpPr>
          <p:cNvPr id="9" name="Shape 7"/>
          <p:cNvSpPr/>
          <p:nvPr/>
        </p:nvSpPr>
        <p:spPr>
          <a:xfrm>
            <a:off x="502920" y="1280160"/>
            <a:ext cx="7040880" cy="3246120"/>
          </a:xfrm>
          <a:prstGeom prst="roundRect">
            <a:avLst>
              <a:gd name="adj" fmla="val 3380"/>
            </a:avLst>
          </a:prstGeom>
          <a:solidFill>
            <a:srgbClr val="FFFFFF"/>
          </a:solidFill>
          <a:ln w="15875">
            <a:solidFill>
              <a:srgbClr val="D9DEE7"/>
            </a:solidFill>
            <a:prstDash val="solid"/>
          </a:ln>
        </p:spPr>
      </p:sp>
      <p:sp>
        <p:nvSpPr>
          <p:cNvPr id="10" name="Text 8"/>
          <p:cNvSpPr txBox="1"/>
          <p:nvPr/>
        </p:nvSpPr>
        <p:spPr>
          <a:xfrm>
            <a:off x="914400" y="1600200"/>
            <a:ext cx="6309360" cy="2651760"/>
          </a:xfrm>
          <a:prstGeom prst="rect">
            <a:avLst/>
          </a:prstGeom>
          <a:noFill/>
          <a:ln/>
        </p:spPr>
        <p:txBody>
          <a:bodyPr wrap="square" lIns="0" tIns="0" rIns="0" bIns="0" rtlCol="0" anchor="t"/>
          <a:lstStyle/>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A range check refuses anything that falls outside the allowed limits.</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Inclusive limits need &gt;= and &lt;=, so the boundary values themselves are accepted.</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Mistake: using &gt; where the rule says 'or more', which rejects a perfectly valid boundary.</a:t>
            </a:r>
            <a:endParaRPr lang="en-US" sz="1700" dirty="0"/>
          </a:p>
        </p:txBody>
      </p:sp>
      <p:sp>
        <p:nvSpPr>
          <p:cNvPr id="11" name="Shape 9"/>
          <p:cNvSpPr/>
          <p:nvPr/>
        </p:nvSpPr>
        <p:spPr>
          <a:xfrm>
            <a:off x="7818120" y="1280160"/>
            <a:ext cx="3840480" cy="3246120"/>
          </a:xfrm>
          <a:prstGeom prst="roundRect">
            <a:avLst>
              <a:gd name="adj" fmla="val 3380"/>
            </a:avLst>
          </a:prstGeom>
          <a:solidFill>
            <a:srgbClr val="FFFFFF"/>
          </a:solidFill>
          <a:ln w="15875">
            <a:solidFill>
              <a:srgbClr val="F4B942"/>
            </a:solidFill>
            <a:prstDash val="solid"/>
          </a:ln>
        </p:spPr>
      </p:sp>
      <p:sp>
        <p:nvSpPr>
          <p:cNvPr id="12" name="Text 10"/>
          <p:cNvSpPr txBox="1"/>
          <p:nvPr/>
        </p:nvSpPr>
        <p:spPr>
          <a:xfrm>
            <a:off x="8183880" y="1508760"/>
            <a:ext cx="3200400" cy="320040"/>
          </a:xfrm>
          <a:prstGeom prst="rect">
            <a:avLst/>
          </a:prstGeom>
          <a:noFill/>
          <a:ln/>
        </p:spPr>
        <p:txBody>
          <a:bodyPr wrap="square" lIns="0" tIns="0" rIns="0" bIns="0" rtlCol="0" anchor="ctr"/>
          <a:lstStyle/>
          <a:p>
            <a:pPr indent="0" marL="0">
              <a:buNone/>
            </a:pPr>
            <a:r>
              <a:rPr lang="en-US" sz="1200" b="1" dirty="0">
                <a:solidFill>
                  <a:srgbClr val="667085"/>
                </a:solidFill>
                <a:latin typeface="IBM Plex Mono" pitchFamily="34" charset="0"/>
                <a:ea typeface="IBM Plex Mono" pitchFamily="34" charset="-122"/>
                <a:cs typeface="IBM Plex Mono" pitchFamily="34" charset="-120"/>
              </a:rPr>
              <a:t>CHALLENGE</a:t>
            </a:r>
            <a:endParaRPr lang="en-US" sz="1200" dirty="0"/>
          </a:p>
        </p:txBody>
      </p:sp>
      <p:sp>
        <p:nvSpPr>
          <p:cNvPr id="13" name="Text 11"/>
          <p:cNvSpPr txBox="1"/>
          <p:nvPr/>
        </p:nvSpPr>
        <p:spPr>
          <a:xfrm>
            <a:off x="8183880" y="1874520"/>
            <a:ext cx="3154680" cy="2377440"/>
          </a:xfrm>
          <a:prstGeom prst="rect">
            <a:avLst/>
          </a:prstGeom>
          <a:noFill/>
          <a:ln/>
        </p:spPr>
        <p:txBody>
          <a:bodyPr wrap="square" lIns="0" tIns="0" rIns="0" bIns="0" rtlCol="0" anchor="t"/>
          <a:lstStyle/>
          <a:p>
            <a:pPr indent="0" marL="0">
              <a:lnSpc>
                <a:spcPct val="125000"/>
              </a:lnSpc>
              <a:buNone/>
            </a:pPr>
            <a:r>
              <a:rPr lang="en-US" sz="1600" dirty="0">
                <a:solidFill>
                  <a:srgbClr val="101828"/>
                </a:solidFill>
                <a:latin typeface="IBM Plex Sans" pitchFamily="34" charset="0"/>
                <a:ea typeface="IBM Plex Sans" pitchFamily="34" charset="-122"/>
                <a:cs typeface="IBM Plex Sans" pitchFamily="34" charset="-120"/>
              </a:rPr>
              <a:t>Which two values would you test on a score that must be 1 to 10?</a:t>
            </a:r>
            <a:endParaRPr lang="en-US" sz="1600" dirty="0"/>
          </a:p>
        </p:txBody>
      </p:sp>
      <p:sp>
        <p:nvSpPr>
          <p:cNvPr id="14" name="Shape 12"/>
          <p:cNvSpPr/>
          <p:nvPr/>
        </p:nvSpPr>
        <p:spPr>
          <a:xfrm>
            <a:off x="502920" y="4754880"/>
            <a:ext cx="11155680" cy="777240"/>
          </a:xfrm>
          <a:prstGeom prst="roundRect">
            <a:avLst>
              <a:gd name="adj" fmla="val 11765"/>
            </a:avLst>
          </a:prstGeom>
          <a:solidFill>
            <a:srgbClr val="EEF2FB"/>
          </a:solidFill>
          <a:ln w="12700">
            <a:solidFill>
              <a:srgbClr val="2D63FF"/>
            </a:solidFill>
            <a:prstDash val="solid"/>
          </a:ln>
        </p:spPr>
      </p:sp>
      <p:sp>
        <p:nvSpPr>
          <p:cNvPr id="15" name="Text 13"/>
          <p:cNvSpPr txBox="1"/>
          <p:nvPr/>
        </p:nvSpPr>
        <p:spPr>
          <a:xfrm>
            <a:off x="914400" y="4754880"/>
            <a:ext cx="10332720" cy="777240"/>
          </a:xfrm>
          <a:prstGeom prst="rect">
            <a:avLst/>
          </a:prstGeom>
          <a:noFill/>
          <a:ln/>
        </p:spPr>
        <p:txBody>
          <a:bodyPr wrap="square" lIns="0" tIns="0" rIns="0" bIns="0" rtlCol="0" anchor="ctr"/>
          <a:lstStyle/>
          <a:p>
            <a:pPr indent="0" marL="0">
              <a:buNone/>
            </a:pPr>
            <a:r>
              <a:rPr lang="en-US" sz="1600" b="1" dirty="0">
                <a:solidFill>
                  <a:srgbClr val="2D63FF"/>
                </a:solidFill>
                <a:latin typeface="IBM Plex Sans" pitchFamily="34" charset="0"/>
                <a:ea typeface="IBM Plex Sans" pitchFamily="34" charset="-122"/>
                <a:cs typeface="IBM Plex Sans" pitchFamily="34" charset="-120"/>
              </a:rPr>
              <a:t>On your worksheet:  </a:t>
            </a:r>
            <a:pPr indent="0" marL="0">
              <a:buNone/>
            </a:pPr>
            <a:r>
              <a:rPr lang="en-US" sz="1600" dirty="0">
                <a:solidFill>
                  <a:srgbClr val="101828"/>
                </a:solidFill>
                <a:latin typeface="IBM Plex Sans" pitchFamily="34" charset="0"/>
                <a:ea typeface="IBM Plex Sans" pitchFamily="34" charset="-122"/>
                <a:cs typeface="IBM Plex Sans" pitchFamily="34" charset="-120"/>
              </a:rPr>
              <a:t>Negative values are fine for a temperature but never for an age, so a range check must suit its data.</a:t>
            </a:r>
            <a:endParaRPr lang="en-US" sz="16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Python programming  |  Lesson 12</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8321040" y="6236208"/>
            <a:ext cx="914400" cy="365760"/>
          </a:xfrm>
          <a:prstGeom prst="rect">
            <a:avLst/>
          </a:prstGeom>
          <a:noFill/>
          <a:ln/>
        </p:spPr>
        <p:txBody>
          <a:bodyPr wrap="square" lIns="0" tIns="0" rIns="0" bIns="0" rtlCol="0" anchor="ctr"/>
          <a:lstStyle/>
          <a:p>
            <a:pPr algn="r" indent="0" marL="0">
              <a:buNone/>
            </a:pPr>
            <a:r>
              <a:rPr lang="en-US" sz="1100" dirty="0">
                <a:solidFill>
                  <a:srgbClr val="D9DEE7"/>
                </a:solidFill>
                <a:latin typeface="IBM Plex Mono" pitchFamily="34" charset="0"/>
                <a:ea typeface="IBM Plex Mono" pitchFamily="34" charset="-122"/>
                <a:cs typeface="IBM Plex Mono" pitchFamily="34" charset="-120"/>
              </a:rPr>
              <a:t>Station 3</a:t>
            </a:r>
            <a:endParaRPr lang="en-US" sz="1100" dirty="0"/>
          </a:p>
        </p:txBody>
      </p:sp>
      <p:sp>
        <p:nvSpPr>
          <p:cNvPr id="6" name="Shape 4"/>
          <p:cNvSpPr/>
          <p:nvPr/>
        </p:nvSpPr>
        <p:spPr>
          <a:xfrm>
            <a:off x="502920" y="438912"/>
            <a:ext cx="566928" cy="566928"/>
          </a:xfrm>
          <a:prstGeom prst="ellipse">
            <a:avLst/>
          </a:prstGeom>
          <a:solidFill>
            <a:srgbClr val="2D63FF"/>
          </a:solidFill>
          <a:ln/>
        </p:spPr>
      </p:sp>
      <p:sp>
        <p:nvSpPr>
          <p:cNvPr id="7" name="Text 5"/>
          <p:cNvSpPr txBox="1"/>
          <p:nvPr/>
        </p:nvSpPr>
        <p:spPr>
          <a:xfrm>
            <a:off x="502920" y="43891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3</a:t>
            </a:r>
            <a:endParaRPr lang="en-US" sz="2000" dirty="0"/>
          </a:p>
        </p:txBody>
      </p:sp>
      <p:sp>
        <p:nvSpPr>
          <p:cNvPr id="8" name="Text 6"/>
          <p:cNvSpPr txBox="1"/>
          <p:nvPr/>
        </p:nvSpPr>
        <p:spPr>
          <a:xfrm>
            <a:off x="1234440" y="411480"/>
            <a:ext cx="10424160" cy="621792"/>
          </a:xfrm>
          <a:prstGeom prst="rect">
            <a:avLst/>
          </a:prstGeom>
          <a:noFill/>
          <a:ln/>
        </p:spPr>
        <p:txBody>
          <a:bodyPr wrap="square" lIns="0" tIns="0" rIns="0" bIns="0" rtlCol="0" anchor="ctr"/>
          <a:lstStyle/>
          <a:p>
            <a:pPr indent="0" marL="0">
              <a:buNone/>
            </a:pPr>
            <a:r>
              <a:rPr lang="en-US" sz="3000" b="1" dirty="0">
                <a:solidFill>
                  <a:srgbClr val="101828"/>
                </a:solidFill>
                <a:latin typeface="IBM Plex Sans" pitchFamily="34" charset="0"/>
                <a:ea typeface="IBM Plex Sans" pitchFamily="34" charset="-122"/>
                <a:cs typeface="IBM Plex Sans" pitchFamily="34" charset="-120"/>
              </a:rPr>
              <a:t>Length and format checks</a:t>
            </a:r>
            <a:endParaRPr lang="en-US" sz="3000" dirty="0"/>
          </a:p>
        </p:txBody>
      </p:sp>
      <p:sp>
        <p:nvSpPr>
          <p:cNvPr id="9" name="Shape 7"/>
          <p:cNvSpPr/>
          <p:nvPr/>
        </p:nvSpPr>
        <p:spPr>
          <a:xfrm>
            <a:off x="502920" y="1280160"/>
            <a:ext cx="7040880" cy="3246120"/>
          </a:xfrm>
          <a:prstGeom prst="roundRect">
            <a:avLst>
              <a:gd name="adj" fmla="val 3380"/>
            </a:avLst>
          </a:prstGeom>
          <a:solidFill>
            <a:srgbClr val="FFFFFF"/>
          </a:solidFill>
          <a:ln w="15875">
            <a:solidFill>
              <a:srgbClr val="D9DEE7"/>
            </a:solidFill>
            <a:prstDash val="solid"/>
          </a:ln>
        </p:spPr>
      </p:sp>
      <p:sp>
        <p:nvSpPr>
          <p:cNvPr id="10" name="Text 8"/>
          <p:cNvSpPr txBox="1"/>
          <p:nvPr/>
        </p:nvSpPr>
        <p:spPr>
          <a:xfrm>
            <a:off x="914400" y="1600200"/>
            <a:ext cx="6309360" cy="2651760"/>
          </a:xfrm>
          <a:prstGeom prst="rect">
            <a:avLst/>
          </a:prstGeom>
          <a:noFill/>
          <a:ln/>
        </p:spPr>
        <p:txBody>
          <a:bodyPr wrap="square" lIns="0" tIns="0" rIns="0" bIns="0" rtlCol="0" anchor="t"/>
          <a:lstStyle/>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A length check counts the characters with len(), against a minimum and a maximum.</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A format check tests the pattern: which positions must be letters and which must be digits.</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Mistake: checking the pattern before the length, which can read past the end of the string.</a:t>
            </a:r>
            <a:endParaRPr lang="en-US" sz="1700" dirty="0"/>
          </a:p>
        </p:txBody>
      </p:sp>
      <p:sp>
        <p:nvSpPr>
          <p:cNvPr id="11" name="Shape 9"/>
          <p:cNvSpPr/>
          <p:nvPr/>
        </p:nvSpPr>
        <p:spPr>
          <a:xfrm>
            <a:off x="7818120" y="1280160"/>
            <a:ext cx="3840480" cy="3246120"/>
          </a:xfrm>
          <a:prstGeom prst="roundRect">
            <a:avLst>
              <a:gd name="adj" fmla="val 3380"/>
            </a:avLst>
          </a:prstGeom>
          <a:solidFill>
            <a:srgbClr val="FFFFFF"/>
          </a:solidFill>
          <a:ln w="15875">
            <a:solidFill>
              <a:srgbClr val="F4B942"/>
            </a:solidFill>
            <a:prstDash val="solid"/>
          </a:ln>
        </p:spPr>
      </p:sp>
      <p:sp>
        <p:nvSpPr>
          <p:cNvPr id="12" name="Text 10"/>
          <p:cNvSpPr txBox="1"/>
          <p:nvPr/>
        </p:nvSpPr>
        <p:spPr>
          <a:xfrm>
            <a:off x="8183880" y="1508760"/>
            <a:ext cx="3200400" cy="320040"/>
          </a:xfrm>
          <a:prstGeom prst="rect">
            <a:avLst/>
          </a:prstGeom>
          <a:noFill/>
          <a:ln/>
        </p:spPr>
        <p:txBody>
          <a:bodyPr wrap="square" lIns="0" tIns="0" rIns="0" bIns="0" rtlCol="0" anchor="ctr"/>
          <a:lstStyle/>
          <a:p>
            <a:pPr indent="0" marL="0">
              <a:buNone/>
            </a:pPr>
            <a:r>
              <a:rPr lang="en-US" sz="1200" b="1" dirty="0">
                <a:solidFill>
                  <a:srgbClr val="667085"/>
                </a:solidFill>
                <a:latin typeface="IBM Plex Mono" pitchFamily="34" charset="0"/>
                <a:ea typeface="IBM Plex Mono" pitchFamily="34" charset="-122"/>
                <a:cs typeface="IBM Plex Mono" pitchFamily="34" charset="-120"/>
              </a:rPr>
              <a:t>CHALLENGE</a:t>
            </a:r>
            <a:endParaRPr lang="en-US" sz="1200" dirty="0"/>
          </a:p>
        </p:txBody>
      </p:sp>
      <p:sp>
        <p:nvSpPr>
          <p:cNvPr id="13" name="Text 11"/>
          <p:cNvSpPr txBox="1"/>
          <p:nvPr/>
        </p:nvSpPr>
        <p:spPr>
          <a:xfrm>
            <a:off x="8183880" y="1874520"/>
            <a:ext cx="3154680" cy="2377440"/>
          </a:xfrm>
          <a:prstGeom prst="rect">
            <a:avLst/>
          </a:prstGeom>
          <a:noFill/>
          <a:ln/>
        </p:spPr>
        <p:txBody>
          <a:bodyPr wrap="square" lIns="0" tIns="0" rIns="0" bIns="0" rtlCol="0" anchor="t"/>
          <a:lstStyle/>
          <a:p>
            <a:pPr indent="0" marL="0">
              <a:lnSpc>
                <a:spcPct val="125000"/>
              </a:lnSpc>
              <a:buNone/>
            </a:pPr>
            <a:r>
              <a:rPr lang="en-US" sz="1600" dirty="0">
                <a:solidFill>
                  <a:srgbClr val="101828"/>
                </a:solidFill>
                <a:latin typeface="IBM Plex Sans" pitchFamily="34" charset="0"/>
                <a:ea typeface="IBM Plex Sans" pitchFamily="34" charset="-122"/>
                <a:cs typeface="IBM Plex Sans" pitchFamily="34" charset="-120"/>
              </a:rPr>
              <a:t>Describe the checks a reference of two letters then four digits needs.</a:t>
            </a:r>
            <a:endParaRPr lang="en-US" sz="1600" dirty="0"/>
          </a:p>
        </p:txBody>
      </p:sp>
      <p:sp>
        <p:nvSpPr>
          <p:cNvPr id="14" name="Shape 12"/>
          <p:cNvSpPr/>
          <p:nvPr/>
        </p:nvSpPr>
        <p:spPr>
          <a:xfrm>
            <a:off x="502920" y="4754880"/>
            <a:ext cx="11155680" cy="777240"/>
          </a:xfrm>
          <a:prstGeom prst="roundRect">
            <a:avLst>
              <a:gd name="adj" fmla="val 11765"/>
            </a:avLst>
          </a:prstGeom>
          <a:solidFill>
            <a:srgbClr val="EEF2FB"/>
          </a:solidFill>
          <a:ln w="12700">
            <a:solidFill>
              <a:srgbClr val="2D63FF"/>
            </a:solidFill>
            <a:prstDash val="solid"/>
          </a:ln>
        </p:spPr>
      </p:sp>
      <p:sp>
        <p:nvSpPr>
          <p:cNvPr id="15" name="Text 13"/>
          <p:cNvSpPr txBox="1"/>
          <p:nvPr/>
        </p:nvSpPr>
        <p:spPr>
          <a:xfrm>
            <a:off x="914400" y="4754880"/>
            <a:ext cx="10332720" cy="777240"/>
          </a:xfrm>
          <a:prstGeom prst="rect">
            <a:avLst/>
          </a:prstGeom>
          <a:noFill/>
          <a:ln/>
        </p:spPr>
        <p:txBody>
          <a:bodyPr wrap="square" lIns="0" tIns="0" rIns="0" bIns="0" rtlCol="0" anchor="ctr"/>
          <a:lstStyle/>
          <a:p>
            <a:pPr indent="0" marL="0">
              <a:buNone/>
            </a:pPr>
            <a:r>
              <a:rPr lang="en-US" sz="1600" b="1" dirty="0">
                <a:solidFill>
                  <a:srgbClr val="2D63FF"/>
                </a:solidFill>
                <a:latin typeface="IBM Plex Sans" pitchFamily="34" charset="0"/>
                <a:ea typeface="IBM Plex Sans" pitchFamily="34" charset="-122"/>
                <a:cs typeface="IBM Plex Sans" pitchFamily="34" charset="-120"/>
              </a:rPr>
              <a:t>On your worksheet:  </a:t>
            </a:r>
            <a:pPr indent="0" marL="0">
              <a:buNone/>
            </a:pPr>
            <a:r>
              <a:rPr lang="en-US" sz="1600" dirty="0">
                <a:solidFill>
                  <a:srgbClr val="101828"/>
                </a:solidFill>
                <a:latin typeface="IBM Plex Sans" pitchFamily="34" charset="0"/>
                <a:ea typeface="IBM Plex Sans" pitchFamily="34" charset="-122"/>
                <a:cs typeface="IBM Plex Sans" pitchFamily="34" charset="-120"/>
              </a:rPr>
              <a:t>isalpha(), isdigit() and isnumeric() each answer one format question about a whole string at once.</a:t>
            </a:r>
            <a:endParaRPr lang="en-US" sz="16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Python programming  |  Lesson 12</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8321040" y="6236208"/>
            <a:ext cx="914400" cy="365760"/>
          </a:xfrm>
          <a:prstGeom prst="rect">
            <a:avLst/>
          </a:prstGeom>
          <a:noFill/>
          <a:ln/>
        </p:spPr>
        <p:txBody>
          <a:bodyPr wrap="square" lIns="0" tIns="0" rIns="0" bIns="0" rtlCol="0" anchor="ctr"/>
          <a:lstStyle/>
          <a:p>
            <a:pPr algn="r" indent="0" marL="0">
              <a:buNone/>
            </a:pPr>
            <a:r>
              <a:rPr lang="en-US" sz="1100" dirty="0">
                <a:solidFill>
                  <a:srgbClr val="D9DEE7"/>
                </a:solidFill>
                <a:latin typeface="IBM Plex Mono" pitchFamily="34" charset="0"/>
                <a:ea typeface="IBM Plex Mono" pitchFamily="34" charset="-122"/>
                <a:cs typeface="IBM Plex Mono" pitchFamily="34" charset="-120"/>
              </a:rPr>
              <a:t>Station 4</a:t>
            </a:r>
            <a:endParaRPr lang="en-US" sz="1100" dirty="0"/>
          </a:p>
        </p:txBody>
      </p:sp>
      <p:sp>
        <p:nvSpPr>
          <p:cNvPr id="6" name="Shape 4"/>
          <p:cNvSpPr/>
          <p:nvPr/>
        </p:nvSpPr>
        <p:spPr>
          <a:xfrm>
            <a:off x="502920" y="438912"/>
            <a:ext cx="566928" cy="566928"/>
          </a:xfrm>
          <a:prstGeom prst="ellipse">
            <a:avLst/>
          </a:prstGeom>
          <a:solidFill>
            <a:srgbClr val="2D63FF"/>
          </a:solidFill>
          <a:ln/>
        </p:spPr>
      </p:sp>
      <p:sp>
        <p:nvSpPr>
          <p:cNvPr id="7" name="Text 5"/>
          <p:cNvSpPr txBox="1"/>
          <p:nvPr/>
        </p:nvSpPr>
        <p:spPr>
          <a:xfrm>
            <a:off x="502920" y="43891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4</a:t>
            </a:r>
            <a:endParaRPr lang="en-US" sz="2000" dirty="0"/>
          </a:p>
        </p:txBody>
      </p:sp>
      <p:sp>
        <p:nvSpPr>
          <p:cNvPr id="8" name="Text 6"/>
          <p:cNvSpPr txBox="1"/>
          <p:nvPr/>
        </p:nvSpPr>
        <p:spPr>
          <a:xfrm>
            <a:off x="1234440" y="411480"/>
            <a:ext cx="10424160" cy="621792"/>
          </a:xfrm>
          <a:prstGeom prst="rect">
            <a:avLst/>
          </a:prstGeom>
          <a:noFill/>
          <a:ln/>
        </p:spPr>
        <p:txBody>
          <a:bodyPr wrap="square" lIns="0" tIns="0" rIns="0" bIns="0" rtlCol="0" anchor="ctr"/>
          <a:lstStyle/>
          <a:p>
            <a:pPr indent="0" marL="0">
              <a:buNone/>
            </a:pPr>
            <a:r>
              <a:rPr lang="en-US" sz="3000" b="1" dirty="0">
                <a:solidFill>
                  <a:srgbClr val="101828"/>
                </a:solidFill>
                <a:latin typeface="IBM Plex Sans" pitchFamily="34" charset="0"/>
                <a:ea typeface="IBM Plex Sans" pitchFamily="34" charset="-122"/>
                <a:cs typeface="IBM Plex Sans" pitchFamily="34" charset="-120"/>
              </a:rPr>
              <a:t>Keeping asking</a:t>
            </a:r>
            <a:endParaRPr lang="en-US" sz="3000" dirty="0"/>
          </a:p>
        </p:txBody>
      </p:sp>
      <p:sp>
        <p:nvSpPr>
          <p:cNvPr id="9" name="Shape 7"/>
          <p:cNvSpPr/>
          <p:nvPr/>
        </p:nvSpPr>
        <p:spPr>
          <a:xfrm>
            <a:off x="502920" y="1280160"/>
            <a:ext cx="7040880" cy="3246120"/>
          </a:xfrm>
          <a:prstGeom prst="roundRect">
            <a:avLst>
              <a:gd name="adj" fmla="val 3380"/>
            </a:avLst>
          </a:prstGeom>
          <a:solidFill>
            <a:srgbClr val="FFFFFF"/>
          </a:solidFill>
          <a:ln w="15875">
            <a:solidFill>
              <a:srgbClr val="D9DEE7"/>
            </a:solidFill>
            <a:prstDash val="solid"/>
          </a:ln>
        </p:spPr>
      </p:sp>
      <p:sp>
        <p:nvSpPr>
          <p:cNvPr id="10" name="Text 8"/>
          <p:cNvSpPr txBox="1"/>
          <p:nvPr/>
        </p:nvSpPr>
        <p:spPr>
          <a:xfrm>
            <a:off x="914400" y="1600200"/>
            <a:ext cx="6309360" cy="2651760"/>
          </a:xfrm>
          <a:prstGeom prst="rect">
            <a:avLst/>
          </a:prstGeom>
          <a:noFill/>
          <a:ln/>
        </p:spPr>
        <p:txBody>
          <a:bodyPr wrap="square" lIns="0" tIns="0" rIns="0" bIns="0" rtlCol="0" anchor="t"/>
          <a:lstStyle/>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A validation loop reads once, then repeats for as long as the value breaks a rule.</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Saying which rule was broken makes the program far easier to use.</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Mistake: leaving the second input() out, so the loop tests the same bad value forever.</a:t>
            </a:r>
            <a:endParaRPr lang="en-US" sz="1700" dirty="0"/>
          </a:p>
        </p:txBody>
      </p:sp>
      <p:sp>
        <p:nvSpPr>
          <p:cNvPr id="11" name="Shape 9"/>
          <p:cNvSpPr/>
          <p:nvPr/>
        </p:nvSpPr>
        <p:spPr>
          <a:xfrm>
            <a:off x="7818120" y="1280160"/>
            <a:ext cx="3840480" cy="3246120"/>
          </a:xfrm>
          <a:prstGeom prst="roundRect">
            <a:avLst>
              <a:gd name="adj" fmla="val 3380"/>
            </a:avLst>
          </a:prstGeom>
          <a:solidFill>
            <a:srgbClr val="FFFFFF"/>
          </a:solidFill>
          <a:ln w="15875">
            <a:solidFill>
              <a:srgbClr val="F4B942"/>
            </a:solidFill>
            <a:prstDash val="solid"/>
          </a:ln>
        </p:spPr>
      </p:sp>
      <p:sp>
        <p:nvSpPr>
          <p:cNvPr id="12" name="Text 10"/>
          <p:cNvSpPr txBox="1"/>
          <p:nvPr/>
        </p:nvSpPr>
        <p:spPr>
          <a:xfrm>
            <a:off x="8183880" y="1508760"/>
            <a:ext cx="3200400" cy="320040"/>
          </a:xfrm>
          <a:prstGeom prst="rect">
            <a:avLst/>
          </a:prstGeom>
          <a:noFill/>
          <a:ln/>
        </p:spPr>
        <p:txBody>
          <a:bodyPr wrap="square" lIns="0" tIns="0" rIns="0" bIns="0" rtlCol="0" anchor="ctr"/>
          <a:lstStyle/>
          <a:p>
            <a:pPr indent="0" marL="0">
              <a:buNone/>
            </a:pPr>
            <a:r>
              <a:rPr lang="en-US" sz="1200" b="1" dirty="0">
                <a:solidFill>
                  <a:srgbClr val="667085"/>
                </a:solidFill>
                <a:latin typeface="IBM Plex Mono" pitchFamily="34" charset="0"/>
                <a:ea typeface="IBM Plex Mono" pitchFamily="34" charset="-122"/>
                <a:cs typeface="IBM Plex Mono" pitchFamily="34" charset="-120"/>
              </a:rPr>
              <a:t>CHALLENGE</a:t>
            </a:r>
            <a:endParaRPr lang="en-US" sz="1200" dirty="0"/>
          </a:p>
        </p:txBody>
      </p:sp>
      <p:sp>
        <p:nvSpPr>
          <p:cNvPr id="13" name="Text 11"/>
          <p:cNvSpPr txBox="1"/>
          <p:nvPr/>
        </p:nvSpPr>
        <p:spPr>
          <a:xfrm>
            <a:off x="8183880" y="1874520"/>
            <a:ext cx="3154680" cy="2377440"/>
          </a:xfrm>
          <a:prstGeom prst="rect">
            <a:avLst/>
          </a:prstGeom>
          <a:noFill/>
          <a:ln/>
        </p:spPr>
        <p:txBody>
          <a:bodyPr wrap="square" lIns="0" tIns="0" rIns="0" bIns="0" rtlCol="0" anchor="t"/>
          <a:lstStyle/>
          <a:p>
            <a:pPr indent="0" marL="0">
              <a:lnSpc>
                <a:spcPct val="125000"/>
              </a:lnSpc>
              <a:buNone/>
            </a:pPr>
            <a:r>
              <a:rPr lang="en-US" sz="1600" dirty="0">
                <a:solidFill>
                  <a:srgbClr val="101828"/>
                </a:solidFill>
                <a:latin typeface="IBM Plex Sans" pitchFamily="34" charset="0"/>
                <a:ea typeface="IBM Plex Sans" pitchFamily="34" charset="-122"/>
                <a:cs typeface="IBM Plex Sans" pitchFamily="34" charset="-120"/>
              </a:rPr>
              <a:t>Why should a program say what was wrong rather than just 'invalid'?</a:t>
            </a:r>
            <a:endParaRPr lang="en-US" sz="1600" dirty="0"/>
          </a:p>
        </p:txBody>
      </p:sp>
      <p:sp>
        <p:nvSpPr>
          <p:cNvPr id="14" name="Shape 12"/>
          <p:cNvSpPr/>
          <p:nvPr/>
        </p:nvSpPr>
        <p:spPr>
          <a:xfrm>
            <a:off x="502920" y="4754880"/>
            <a:ext cx="11155680" cy="777240"/>
          </a:xfrm>
          <a:prstGeom prst="roundRect">
            <a:avLst>
              <a:gd name="adj" fmla="val 11765"/>
            </a:avLst>
          </a:prstGeom>
          <a:solidFill>
            <a:srgbClr val="EEF2FB"/>
          </a:solidFill>
          <a:ln w="12700">
            <a:solidFill>
              <a:srgbClr val="2D63FF"/>
            </a:solidFill>
            <a:prstDash val="solid"/>
          </a:ln>
        </p:spPr>
      </p:sp>
      <p:sp>
        <p:nvSpPr>
          <p:cNvPr id="15" name="Text 13"/>
          <p:cNvSpPr txBox="1"/>
          <p:nvPr/>
        </p:nvSpPr>
        <p:spPr>
          <a:xfrm>
            <a:off x="914400" y="4754880"/>
            <a:ext cx="10332720" cy="777240"/>
          </a:xfrm>
          <a:prstGeom prst="rect">
            <a:avLst/>
          </a:prstGeom>
          <a:noFill/>
          <a:ln/>
        </p:spPr>
        <p:txBody>
          <a:bodyPr wrap="square" lIns="0" tIns="0" rIns="0" bIns="0" rtlCol="0" anchor="ctr"/>
          <a:lstStyle/>
          <a:p>
            <a:pPr indent="0" marL="0">
              <a:buNone/>
            </a:pPr>
            <a:r>
              <a:rPr lang="en-US" sz="1600" b="1" dirty="0">
                <a:solidFill>
                  <a:srgbClr val="2D63FF"/>
                </a:solidFill>
                <a:latin typeface="IBM Plex Sans" pitchFamily="34" charset="0"/>
                <a:ea typeface="IBM Plex Sans" pitchFamily="34" charset="-122"/>
                <a:cs typeface="IBM Plex Sans" pitchFamily="34" charset="-120"/>
              </a:rPr>
              <a:t>On your worksheet:  </a:t>
            </a:r>
            <a:pPr indent="0" marL="0">
              <a:buNone/>
            </a:pPr>
            <a:r>
              <a:rPr lang="en-US" sz="1600" dirty="0">
                <a:solidFill>
                  <a:srgbClr val="101828"/>
                </a:solidFill>
                <a:latin typeface="IBM Plex Sans" pitchFamily="34" charset="0"/>
                <a:ea typeface="IBM Plex Sans" pitchFamily="34" charset="-122"/>
                <a:cs typeface="IBM Plex Sans" pitchFamily="34" charset="-120"/>
              </a:rPr>
              <a:t>A loop that keeps asking until the data is right is the simplest defensive design there is.</a:t>
            </a:r>
            <a:endParaRPr lang="en-US" sz="16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Python programming  |  Lesson 12</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8321040" y="6236208"/>
            <a:ext cx="914400" cy="365760"/>
          </a:xfrm>
          <a:prstGeom prst="rect">
            <a:avLst/>
          </a:prstGeom>
          <a:noFill/>
          <a:ln/>
        </p:spPr>
        <p:txBody>
          <a:bodyPr wrap="square" lIns="0" tIns="0" rIns="0" bIns="0" rtlCol="0" anchor="ctr"/>
          <a:lstStyle/>
          <a:p>
            <a:pPr algn="r" indent="0" marL="0">
              <a:buNone/>
            </a:pPr>
            <a:r>
              <a:rPr lang="en-US" sz="1100" dirty="0">
                <a:solidFill>
                  <a:srgbClr val="D9DEE7"/>
                </a:solidFill>
                <a:latin typeface="IBM Plex Mono" pitchFamily="34" charset="0"/>
                <a:ea typeface="IBM Plex Mono" pitchFamily="34" charset="-122"/>
                <a:cs typeface="IBM Plex Mono" pitchFamily="34" charset="-120"/>
              </a:rPr>
              <a:t>Station 5</a:t>
            </a:r>
            <a:endParaRPr lang="en-US" sz="1100" dirty="0"/>
          </a:p>
        </p:txBody>
      </p:sp>
      <p:sp>
        <p:nvSpPr>
          <p:cNvPr id="6" name="Shape 4"/>
          <p:cNvSpPr/>
          <p:nvPr/>
        </p:nvSpPr>
        <p:spPr>
          <a:xfrm>
            <a:off x="502920" y="438912"/>
            <a:ext cx="566928" cy="566928"/>
          </a:xfrm>
          <a:prstGeom prst="ellipse">
            <a:avLst/>
          </a:prstGeom>
          <a:solidFill>
            <a:srgbClr val="2D63FF"/>
          </a:solidFill>
          <a:ln/>
        </p:spPr>
      </p:sp>
      <p:sp>
        <p:nvSpPr>
          <p:cNvPr id="7" name="Text 5"/>
          <p:cNvSpPr txBox="1"/>
          <p:nvPr/>
        </p:nvSpPr>
        <p:spPr>
          <a:xfrm>
            <a:off x="502920" y="43891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5</a:t>
            </a:r>
            <a:endParaRPr lang="en-US" sz="2000" dirty="0"/>
          </a:p>
        </p:txBody>
      </p:sp>
      <p:sp>
        <p:nvSpPr>
          <p:cNvPr id="8" name="Text 6"/>
          <p:cNvSpPr txBox="1"/>
          <p:nvPr/>
        </p:nvSpPr>
        <p:spPr>
          <a:xfrm>
            <a:off x="1234440" y="411480"/>
            <a:ext cx="10424160" cy="621792"/>
          </a:xfrm>
          <a:prstGeom prst="rect">
            <a:avLst/>
          </a:prstGeom>
          <a:noFill/>
          <a:ln/>
        </p:spPr>
        <p:txBody>
          <a:bodyPr wrap="square" lIns="0" tIns="0" rIns="0" bIns="0" rtlCol="0" anchor="ctr"/>
          <a:lstStyle/>
          <a:p>
            <a:pPr indent="0" marL="0">
              <a:buNone/>
            </a:pPr>
            <a:r>
              <a:rPr lang="en-US" sz="3000" b="1" dirty="0">
                <a:solidFill>
                  <a:srgbClr val="101828"/>
                </a:solidFill>
                <a:latin typeface="IBM Plex Sans" pitchFamily="34" charset="0"/>
                <a:ea typeface="IBM Plex Sans" pitchFamily="34" charset="-122"/>
                <a:cs typeface="IBM Plex Sans" pitchFamily="34" charset="-120"/>
              </a:rPr>
              <a:t>Authentication</a:t>
            </a:r>
            <a:endParaRPr lang="en-US" sz="3000" dirty="0"/>
          </a:p>
        </p:txBody>
      </p:sp>
      <p:sp>
        <p:nvSpPr>
          <p:cNvPr id="9" name="Shape 7"/>
          <p:cNvSpPr/>
          <p:nvPr/>
        </p:nvSpPr>
        <p:spPr>
          <a:xfrm>
            <a:off x="502920" y="1280160"/>
            <a:ext cx="7040880" cy="3246120"/>
          </a:xfrm>
          <a:prstGeom prst="roundRect">
            <a:avLst>
              <a:gd name="adj" fmla="val 3380"/>
            </a:avLst>
          </a:prstGeom>
          <a:solidFill>
            <a:srgbClr val="FFFFFF"/>
          </a:solidFill>
          <a:ln w="15875">
            <a:solidFill>
              <a:srgbClr val="D9DEE7"/>
            </a:solidFill>
            <a:prstDash val="solid"/>
          </a:ln>
        </p:spPr>
      </p:sp>
      <p:sp>
        <p:nvSpPr>
          <p:cNvPr id="10" name="Text 8"/>
          <p:cNvSpPr txBox="1"/>
          <p:nvPr/>
        </p:nvSpPr>
        <p:spPr>
          <a:xfrm>
            <a:off x="914400" y="1600200"/>
            <a:ext cx="6309360" cy="2651760"/>
          </a:xfrm>
          <a:prstGeom prst="rect">
            <a:avLst/>
          </a:prstGeom>
          <a:noFill/>
          <a:ln/>
        </p:spPr>
        <p:txBody>
          <a:bodyPr wrap="square" lIns="0" tIns="0" rIns="0" bIns="0" rtlCol="0" anchor="t"/>
          <a:lstStyle/>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Authentication checks who the user is, usually with a username and a password.</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An attempt counter lets a program lock the account after a set number of tries.</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Mistake: counting the attempts but never stopping, so guessing can carry on forever.</a:t>
            </a:r>
            <a:endParaRPr lang="en-US" sz="1700" dirty="0"/>
          </a:p>
        </p:txBody>
      </p:sp>
      <p:sp>
        <p:nvSpPr>
          <p:cNvPr id="11" name="Shape 9"/>
          <p:cNvSpPr/>
          <p:nvPr/>
        </p:nvSpPr>
        <p:spPr>
          <a:xfrm>
            <a:off x="7818120" y="1280160"/>
            <a:ext cx="3840480" cy="3246120"/>
          </a:xfrm>
          <a:prstGeom prst="roundRect">
            <a:avLst>
              <a:gd name="adj" fmla="val 3380"/>
            </a:avLst>
          </a:prstGeom>
          <a:solidFill>
            <a:srgbClr val="FFFFFF"/>
          </a:solidFill>
          <a:ln w="15875">
            <a:solidFill>
              <a:srgbClr val="F4B942"/>
            </a:solidFill>
            <a:prstDash val="solid"/>
          </a:ln>
        </p:spPr>
      </p:sp>
      <p:sp>
        <p:nvSpPr>
          <p:cNvPr id="12" name="Text 10"/>
          <p:cNvSpPr txBox="1"/>
          <p:nvPr/>
        </p:nvSpPr>
        <p:spPr>
          <a:xfrm>
            <a:off x="8183880" y="1508760"/>
            <a:ext cx="3200400" cy="320040"/>
          </a:xfrm>
          <a:prstGeom prst="rect">
            <a:avLst/>
          </a:prstGeom>
          <a:noFill/>
          <a:ln/>
        </p:spPr>
        <p:txBody>
          <a:bodyPr wrap="square" lIns="0" tIns="0" rIns="0" bIns="0" rtlCol="0" anchor="ctr"/>
          <a:lstStyle/>
          <a:p>
            <a:pPr indent="0" marL="0">
              <a:buNone/>
            </a:pPr>
            <a:r>
              <a:rPr lang="en-US" sz="1200" b="1" dirty="0">
                <a:solidFill>
                  <a:srgbClr val="667085"/>
                </a:solidFill>
                <a:latin typeface="IBM Plex Mono" pitchFamily="34" charset="0"/>
                <a:ea typeface="IBM Plex Mono" pitchFamily="34" charset="-122"/>
                <a:cs typeface="IBM Plex Mono" pitchFamily="34" charset="-120"/>
              </a:rPr>
              <a:t>CHALLENGE</a:t>
            </a:r>
            <a:endParaRPr lang="en-US" sz="1200" dirty="0"/>
          </a:p>
        </p:txBody>
      </p:sp>
      <p:sp>
        <p:nvSpPr>
          <p:cNvPr id="13" name="Text 11"/>
          <p:cNvSpPr txBox="1"/>
          <p:nvPr/>
        </p:nvSpPr>
        <p:spPr>
          <a:xfrm>
            <a:off x="8183880" y="1874520"/>
            <a:ext cx="3154680" cy="2377440"/>
          </a:xfrm>
          <a:prstGeom prst="rect">
            <a:avLst/>
          </a:prstGeom>
          <a:noFill/>
          <a:ln/>
        </p:spPr>
        <p:txBody>
          <a:bodyPr wrap="square" lIns="0" tIns="0" rIns="0" bIns="0" rtlCol="0" anchor="t"/>
          <a:lstStyle/>
          <a:p>
            <a:pPr indent="0" marL="0">
              <a:lnSpc>
                <a:spcPct val="125000"/>
              </a:lnSpc>
              <a:buNone/>
            </a:pPr>
            <a:r>
              <a:rPr lang="en-US" sz="1600" dirty="0">
                <a:solidFill>
                  <a:srgbClr val="101828"/>
                </a:solidFill>
                <a:latin typeface="IBM Plex Sans" pitchFamily="34" charset="0"/>
                <a:ea typeface="IBM Plex Sans" pitchFamily="34" charset="-122"/>
                <a:cs typeface="IBM Plex Sans" pitchFamily="34" charset="-120"/>
              </a:rPr>
              <a:t>What is the difference between validation and authentication?</a:t>
            </a:r>
            <a:endParaRPr lang="en-US" sz="1600" dirty="0"/>
          </a:p>
        </p:txBody>
      </p:sp>
      <p:sp>
        <p:nvSpPr>
          <p:cNvPr id="14" name="Shape 12"/>
          <p:cNvSpPr/>
          <p:nvPr/>
        </p:nvSpPr>
        <p:spPr>
          <a:xfrm>
            <a:off x="502920" y="4754880"/>
            <a:ext cx="11155680" cy="777240"/>
          </a:xfrm>
          <a:prstGeom prst="roundRect">
            <a:avLst>
              <a:gd name="adj" fmla="val 11765"/>
            </a:avLst>
          </a:prstGeom>
          <a:solidFill>
            <a:srgbClr val="EEF2FB"/>
          </a:solidFill>
          <a:ln w="12700">
            <a:solidFill>
              <a:srgbClr val="2D63FF"/>
            </a:solidFill>
            <a:prstDash val="solid"/>
          </a:ln>
        </p:spPr>
      </p:sp>
      <p:sp>
        <p:nvSpPr>
          <p:cNvPr id="15" name="Text 13"/>
          <p:cNvSpPr txBox="1"/>
          <p:nvPr/>
        </p:nvSpPr>
        <p:spPr>
          <a:xfrm>
            <a:off x="914400" y="4754880"/>
            <a:ext cx="10332720" cy="777240"/>
          </a:xfrm>
          <a:prstGeom prst="rect">
            <a:avLst/>
          </a:prstGeom>
          <a:noFill/>
          <a:ln/>
        </p:spPr>
        <p:txBody>
          <a:bodyPr wrap="square" lIns="0" tIns="0" rIns="0" bIns="0" rtlCol="0" anchor="ctr"/>
          <a:lstStyle/>
          <a:p>
            <a:pPr indent="0" marL="0">
              <a:buNone/>
            </a:pPr>
            <a:r>
              <a:rPr lang="en-US" sz="1600" b="1" dirty="0">
                <a:solidFill>
                  <a:srgbClr val="2D63FF"/>
                </a:solidFill>
                <a:latin typeface="IBM Plex Sans" pitchFamily="34" charset="0"/>
                <a:ea typeface="IBM Plex Sans" pitchFamily="34" charset="-122"/>
                <a:cs typeface="IBM Plex Sans" pitchFamily="34" charset="-120"/>
              </a:rPr>
              <a:t>On your worksheet:  </a:t>
            </a:r>
            <a:pPr indent="0" marL="0">
              <a:buNone/>
            </a:pPr>
            <a:r>
              <a:rPr lang="en-US" sz="1600" dirty="0">
                <a:solidFill>
                  <a:srgbClr val="101828"/>
                </a:solidFill>
                <a:latin typeface="IBM Plex Sans" pitchFamily="34" charset="0"/>
                <a:ea typeface="IBM Plex Sans" pitchFamily="34" charset="-122"/>
                <a:cs typeface="IBM Plex Sans" pitchFamily="34" charset="-120"/>
              </a:rPr>
              <a:t>Validation checks data and authentication checks people, and the exam asks for that difference often.</a:t>
            </a:r>
            <a:endParaRPr lang="en-US" sz="16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Python programming  |  Lesson 12</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8321040" y="6236208"/>
            <a:ext cx="914400" cy="365760"/>
          </a:xfrm>
          <a:prstGeom prst="rect">
            <a:avLst/>
          </a:prstGeom>
          <a:noFill/>
          <a:ln/>
        </p:spPr>
        <p:txBody>
          <a:bodyPr wrap="square" lIns="0" tIns="0" rIns="0" bIns="0" rtlCol="0" anchor="ctr"/>
          <a:lstStyle/>
          <a:p>
            <a:pPr algn="r" indent="0" marL="0">
              <a:buNone/>
            </a:pPr>
            <a:r>
              <a:rPr lang="en-US" sz="1100" dirty="0">
                <a:solidFill>
                  <a:srgbClr val="D9DEE7"/>
                </a:solidFill>
                <a:latin typeface="IBM Plex Mono" pitchFamily="34" charset="0"/>
                <a:ea typeface="IBM Plex Mono" pitchFamily="34" charset="-122"/>
                <a:cs typeface="IBM Plex Mono" pitchFamily="34" charset="-120"/>
              </a:rPr>
              <a:t>Station 6</a:t>
            </a:r>
            <a:endParaRPr lang="en-US" sz="1100" dirty="0"/>
          </a:p>
        </p:txBody>
      </p:sp>
      <p:sp>
        <p:nvSpPr>
          <p:cNvPr id="6" name="Shape 4"/>
          <p:cNvSpPr/>
          <p:nvPr/>
        </p:nvSpPr>
        <p:spPr>
          <a:xfrm>
            <a:off x="502920" y="438912"/>
            <a:ext cx="566928" cy="566928"/>
          </a:xfrm>
          <a:prstGeom prst="ellipse">
            <a:avLst/>
          </a:prstGeom>
          <a:solidFill>
            <a:srgbClr val="2D63FF"/>
          </a:solidFill>
          <a:ln/>
        </p:spPr>
      </p:sp>
      <p:sp>
        <p:nvSpPr>
          <p:cNvPr id="7" name="Text 5"/>
          <p:cNvSpPr txBox="1"/>
          <p:nvPr/>
        </p:nvSpPr>
        <p:spPr>
          <a:xfrm>
            <a:off x="502920" y="43891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6</a:t>
            </a:r>
            <a:endParaRPr lang="en-US" sz="2000" dirty="0"/>
          </a:p>
        </p:txBody>
      </p:sp>
      <p:sp>
        <p:nvSpPr>
          <p:cNvPr id="8" name="Text 6"/>
          <p:cNvSpPr txBox="1"/>
          <p:nvPr/>
        </p:nvSpPr>
        <p:spPr>
          <a:xfrm>
            <a:off x="1234440" y="411480"/>
            <a:ext cx="10424160" cy="621792"/>
          </a:xfrm>
          <a:prstGeom prst="rect">
            <a:avLst/>
          </a:prstGeom>
          <a:noFill/>
          <a:ln/>
        </p:spPr>
        <p:txBody>
          <a:bodyPr wrap="square" lIns="0" tIns="0" rIns="0" bIns="0" rtlCol="0" anchor="ctr"/>
          <a:lstStyle/>
          <a:p>
            <a:pPr indent="0" marL="0">
              <a:buNone/>
            </a:pPr>
            <a:r>
              <a:rPr lang="en-US" sz="3000" b="1" dirty="0">
                <a:solidFill>
                  <a:srgbClr val="101828"/>
                </a:solidFill>
                <a:latin typeface="IBM Plex Sans" pitchFamily="34" charset="0"/>
                <a:ea typeface="IBM Plex Sans" pitchFamily="34" charset="-122"/>
                <a:cs typeface="IBM Plex Sans" pitchFamily="34" charset="-120"/>
              </a:rPr>
              <a:t>Putting it together</a:t>
            </a:r>
            <a:endParaRPr lang="en-US" sz="3000" dirty="0"/>
          </a:p>
        </p:txBody>
      </p:sp>
      <p:sp>
        <p:nvSpPr>
          <p:cNvPr id="9" name="Shape 7"/>
          <p:cNvSpPr/>
          <p:nvPr/>
        </p:nvSpPr>
        <p:spPr>
          <a:xfrm>
            <a:off x="502920" y="1280160"/>
            <a:ext cx="7040880" cy="3246120"/>
          </a:xfrm>
          <a:prstGeom prst="roundRect">
            <a:avLst>
              <a:gd name="adj" fmla="val 3380"/>
            </a:avLst>
          </a:prstGeom>
          <a:solidFill>
            <a:srgbClr val="FFFFFF"/>
          </a:solidFill>
          <a:ln w="15875">
            <a:solidFill>
              <a:srgbClr val="D9DEE7"/>
            </a:solidFill>
            <a:prstDash val="solid"/>
          </a:ln>
        </p:spPr>
      </p:sp>
      <p:sp>
        <p:nvSpPr>
          <p:cNvPr id="10" name="Text 8"/>
          <p:cNvSpPr txBox="1"/>
          <p:nvPr/>
        </p:nvSpPr>
        <p:spPr>
          <a:xfrm>
            <a:off x="914400" y="1600200"/>
            <a:ext cx="6309360" cy="2651760"/>
          </a:xfrm>
          <a:prstGeom prst="rect">
            <a:avLst/>
          </a:prstGeom>
          <a:noFill/>
          <a:ln/>
        </p:spPr>
        <p:txBody>
          <a:bodyPr wrap="square" lIns="0" tIns="0" rIns="0" bIns="0" rtlCol="0" anchor="t"/>
          <a:lstStyle/>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Validate each value in its own loop before the program moves on to the next one.</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A program that keeps going when one line of data is wrong is more useful than one that stops.</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Mistake: validating at the end, when the first bad value has already been used.</a:t>
            </a:r>
            <a:endParaRPr lang="en-US" sz="1700" dirty="0"/>
          </a:p>
        </p:txBody>
      </p:sp>
      <p:sp>
        <p:nvSpPr>
          <p:cNvPr id="11" name="Shape 9"/>
          <p:cNvSpPr/>
          <p:nvPr/>
        </p:nvSpPr>
        <p:spPr>
          <a:xfrm>
            <a:off x="7818120" y="1280160"/>
            <a:ext cx="3840480" cy="3246120"/>
          </a:xfrm>
          <a:prstGeom prst="roundRect">
            <a:avLst>
              <a:gd name="adj" fmla="val 3380"/>
            </a:avLst>
          </a:prstGeom>
          <a:solidFill>
            <a:srgbClr val="FFFFFF"/>
          </a:solidFill>
          <a:ln w="15875">
            <a:solidFill>
              <a:srgbClr val="F4B942"/>
            </a:solidFill>
            <a:prstDash val="solid"/>
          </a:ln>
        </p:spPr>
      </p:sp>
      <p:sp>
        <p:nvSpPr>
          <p:cNvPr id="12" name="Text 10"/>
          <p:cNvSpPr txBox="1"/>
          <p:nvPr/>
        </p:nvSpPr>
        <p:spPr>
          <a:xfrm>
            <a:off x="8183880" y="1508760"/>
            <a:ext cx="3200400" cy="320040"/>
          </a:xfrm>
          <a:prstGeom prst="rect">
            <a:avLst/>
          </a:prstGeom>
          <a:noFill/>
          <a:ln/>
        </p:spPr>
        <p:txBody>
          <a:bodyPr wrap="square" lIns="0" tIns="0" rIns="0" bIns="0" rtlCol="0" anchor="ctr"/>
          <a:lstStyle/>
          <a:p>
            <a:pPr indent="0" marL="0">
              <a:buNone/>
            </a:pPr>
            <a:r>
              <a:rPr lang="en-US" sz="1200" b="1" dirty="0">
                <a:solidFill>
                  <a:srgbClr val="667085"/>
                </a:solidFill>
                <a:latin typeface="IBM Plex Mono" pitchFamily="34" charset="0"/>
                <a:ea typeface="IBM Plex Mono" pitchFamily="34" charset="-122"/>
                <a:cs typeface="IBM Plex Mono" pitchFamily="34" charset="-120"/>
              </a:rPr>
              <a:t>CHALLENGE</a:t>
            </a:r>
            <a:endParaRPr lang="en-US" sz="1200" dirty="0"/>
          </a:p>
        </p:txBody>
      </p:sp>
      <p:sp>
        <p:nvSpPr>
          <p:cNvPr id="13" name="Text 11"/>
          <p:cNvSpPr txBox="1"/>
          <p:nvPr/>
        </p:nvSpPr>
        <p:spPr>
          <a:xfrm>
            <a:off x="8183880" y="1874520"/>
            <a:ext cx="3154680" cy="2377440"/>
          </a:xfrm>
          <a:prstGeom prst="rect">
            <a:avLst/>
          </a:prstGeom>
          <a:noFill/>
          <a:ln/>
        </p:spPr>
        <p:txBody>
          <a:bodyPr wrap="square" lIns="0" tIns="0" rIns="0" bIns="0" rtlCol="0" anchor="t"/>
          <a:lstStyle/>
          <a:p>
            <a:pPr indent="0" marL="0">
              <a:lnSpc>
                <a:spcPct val="125000"/>
              </a:lnSpc>
              <a:buNone/>
            </a:pPr>
            <a:r>
              <a:rPr lang="en-US" sz="1600" dirty="0">
                <a:solidFill>
                  <a:srgbClr val="101828"/>
                </a:solidFill>
                <a:latin typeface="IBM Plex Sans" pitchFamily="34" charset="0"/>
                <a:ea typeface="IBM Plex Sans" pitchFamily="34" charset="-122"/>
                <a:cs typeface="IBM Plex Sans" pitchFamily="34" charset="-120"/>
              </a:rPr>
              <a:t>Plan the checks a club sign-up needs for a username and an age.</a:t>
            </a:r>
            <a:endParaRPr lang="en-US" sz="1600" dirty="0"/>
          </a:p>
        </p:txBody>
      </p:sp>
      <p:sp>
        <p:nvSpPr>
          <p:cNvPr id="14" name="Shape 12"/>
          <p:cNvSpPr/>
          <p:nvPr/>
        </p:nvSpPr>
        <p:spPr>
          <a:xfrm>
            <a:off x="502920" y="4754880"/>
            <a:ext cx="11155680" cy="777240"/>
          </a:xfrm>
          <a:prstGeom prst="roundRect">
            <a:avLst>
              <a:gd name="adj" fmla="val 11765"/>
            </a:avLst>
          </a:prstGeom>
          <a:solidFill>
            <a:srgbClr val="EEF2FB"/>
          </a:solidFill>
          <a:ln w="12700">
            <a:solidFill>
              <a:srgbClr val="2D63FF"/>
            </a:solidFill>
            <a:prstDash val="solid"/>
          </a:ln>
        </p:spPr>
      </p:sp>
      <p:sp>
        <p:nvSpPr>
          <p:cNvPr id="15" name="Text 13"/>
          <p:cNvSpPr txBox="1"/>
          <p:nvPr/>
        </p:nvSpPr>
        <p:spPr>
          <a:xfrm>
            <a:off x="914400" y="4754880"/>
            <a:ext cx="10332720" cy="777240"/>
          </a:xfrm>
          <a:prstGeom prst="rect">
            <a:avLst/>
          </a:prstGeom>
          <a:noFill/>
          <a:ln/>
        </p:spPr>
        <p:txBody>
          <a:bodyPr wrap="square" lIns="0" tIns="0" rIns="0" bIns="0" rtlCol="0" anchor="ctr"/>
          <a:lstStyle/>
          <a:p>
            <a:pPr indent="0" marL="0">
              <a:buNone/>
            </a:pPr>
            <a:r>
              <a:rPr lang="en-US" sz="1600" b="1" dirty="0">
                <a:solidFill>
                  <a:srgbClr val="2D63FF"/>
                </a:solidFill>
                <a:latin typeface="IBM Plex Sans" pitchFamily="34" charset="0"/>
                <a:ea typeface="IBM Plex Sans" pitchFamily="34" charset="-122"/>
                <a:cs typeface="IBM Plex Sans" pitchFamily="34" charset="-120"/>
              </a:rPr>
              <a:t>On your worksheet:  </a:t>
            </a:r>
            <a:pPr indent="0" marL="0">
              <a:buNone/>
            </a:pPr>
            <a:r>
              <a:rPr lang="en-US" sz="1600" dirty="0">
                <a:solidFill>
                  <a:srgbClr val="101828"/>
                </a:solidFill>
                <a:latin typeface="IBM Plex Sans" pitchFamily="34" charset="0"/>
                <a:ea typeface="IBM Plex Sans" pitchFamily="34" charset="-122"/>
                <a:cs typeface="IBM Plex Sans" pitchFamily="34" charset="-120"/>
              </a:rPr>
              <a:t>Skipping a bad line and counting it is often better than stopping: the report still comes out.</a:t>
            </a:r>
            <a:endParaRPr lang="en-US" sz="16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Python programming  |  Lesson 12</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Shape 3"/>
          <p:cNvSpPr/>
          <p:nvPr/>
        </p:nvSpPr>
        <p:spPr>
          <a:xfrm>
            <a:off x="502920" y="438912"/>
            <a:ext cx="3108960" cy="502920"/>
          </a:xfrm>
          <a:prstGeom prst="roundRect">
            <a:avLst>
              <a:gd name="adj" fmla="val 18182"/>
            </a:avLst>
          </a:prstGeom>
          <a:solidFill>
            <a:srgbClr val="F4B942"/>
          </a:solidFill>
          <a:ln/>
        </p:spPr>
      </p:sp>
      <p:sp>
        <p:nvSpPr>
          <p:cNvPr id="6" name="Text 4"/>
          <p:cNvSpPr txBox="1"/>
          <p:nvPr/>
        </p:nvSpPr>
        <p:spPr>
          <a:xfrm>
            <a:off x="502920" y="438912"/>
            <a:ext cx="3108960" cy="502920"/>
          </a:xfrm>
          <a:prstGeom prst="rect">
            <a:avLst/>
          </a:prstGeom>
          <a:noFill/>
          <a:ln/>
        </p:spPr>
        <p:txBody>
          <a:bodyPr wrap="square" lIns="0" tIns="0" rIns="0" bIns="0" rtlCol="0" anchor="ctr"/>
          <a:lstStyle/>
          <a:p>
            <a:pPr algn="ctr" indent="0" marL="0">
              <a:buNone/>
            </a:pPr>
            <a:r>
              <a:rPr lang="en-US" sz="1300" b="1" dirty="0">
                <a:solidFill>
                  <a:srgbClr val="101828"/>
                </a:solidFill>
                <a:latin typeface="IBM Plex Mono" pitchFamily="34" charset="0"/>
                <a:ea typeface="IBM Plex Mono" pitchFamily="34" charset="-122"/>
                <a:cs typeface="IBM Plex Mono" pitchFamily="34" charset="-120"/>
              </a:rPr>
              <a:t>★  FINAL CHALLENGE</a:t>
            </a:r>
            <a:endParaRPr lang="en-US" sz="1300" dirty="0"/>
          </a:p>
        </p:txBody>
      </p:sp>
      <p:sp>
        <p:nvSpPr>
          <p:cNvPr id="7" name="Text 5"/>
          <p:cNvSpPr txBox="1"/>
          <p:nvPr/>
        </p:nvSpPr>
        <p:spPr>
          <a:xfrm>
            <a:off x="502920" y="1097280"/>
            <a:ext cx="11155680" cy="731520"/>
          </a:xfrm>
          <a:prstGeom prst="rect">
            <a:avLst/>
          </a:prstGeom>
          <a:noFill/>
          <a:ln/>
        </p:spPr>
        <p:txBody>
          <a:bodyPr wrap="square" lIns="0" tIns="0" rIns="0" bIns="0" rtlCol="0" anchor="ctr"/>
          <a:lstStyle/>
          <a:p>
            <a:pPr indent="0" marL="0">
              <a:buNone/>
            </a:pPr>
            <a:r>
              <a:rPr lang="en-US" sz="3400" b="1" dirty="0">
                <a:solidFill>
                  <a:srgbClr val="101828"/>
                </a:solidFill>
                <a:latin typeface="IBM Plex Sans" pitchFamily="34" charset="0"/>
                <a:ea typeface="IBM Plex Sans" pitchFamily="34" charset="-122"/>
                <a:cs typeface="IBM Plex Sans" pitchFamily="34" charset="-120"/>
              </a:rPr>
              <a:t>Which check?</a:t>
            </a:r>
            <a:endParaRPr lang="en-US" sz="3400" dirty="0"/>
          </a:p>
        </p:txBody>
      </p:sp>
      <p:sp>
        <p:nvSpPr>
          <p:cNvPr id="8" name="Shape 6"/>
          <p:cNvSpPr/>
          <p:nvPr/>
        </p:nvSpPr>
        <p:spPr>
          <a:xfrm>
            <a:off x="502920" y="2011680"/>
            <a:ext cx="11155680" cy="2194560"/>
          </a:xfrm>
          <a:prstGeom prst="roundRect">
            <a:avLst>
              <a:gd name="adj" fmla="val 5000"/>
            </a:avLst>
          </a:prstGeom>
          <a:solidFill>
            <a:srgbClr val="FFFFFF"/>
          </a:solidFill>
          <a:ln w="15875">
            <a:solidFill>
              <a:srgbClr val="2D63FF"/>
            </a:solidFill>
            <a:prstDash val="solid"/>
          </a:ln>
        </p:spPr>
      </p:sp>
      <p:sp>
        <p:nvSpPr>
          <p:cNvPr id="9" name="Text 7"/>
          <p:cNvSpPr txBox="1"/>
          <p:nvPr/>
        </p:nvSpPr>
        <p:spPr>
          <a:xfrm>
            <a:off x="1005840" y="2331720"/>
            <a:ext cx="10149840" cy="1554480"/>
          </a:xfrm>
          <a:prstGeom prst="rect">
            <a:avLst/>
          </a:prstGeom>
          <a:noFill/>
          <a:ln/>
        </p:spPr>
        <p:txBody>
          <a:bodyPr wrap="square" lIns="0" tIns="0" rIns="0" bIns="0" rtlCol="0" anchor="ctr"/>
          <a:lstStyle/>
          <a:p>
            <a:pPr indent="0" marL="0">
              <a:lnSpc>
                <a:spcPct val="130000"/>
              </a:lnSpc>
              <a:buNone/>
            </a:pPr>
            <a:r>
              <a:rPr lang="en-US" sz="2200" dirty="0">
                <a:solidFill>
                  <a:srgbClr val="101828"/>
                </a:solidFill>
                <a:latin typeface="IBM Plex Sans" pitchFamily="34" charset="0"/>
                <a:ea typeface="IBM Plex Sans" pitchFamily="34" charset="-122"/>
                <a:cs typeface="IBM Plex Sans" pitchFamily="34" charset="-120"/>
              </a:rPr>
              <a:t>Eight rules are pinned up in the gatehouse. Tap the star and sort each one into the kind of check it is.</a:t>
            </a:r>
            <a:endParaRPr lang="en-US" sz="2200" dirty="0"/>
          </a:p>
        </p:txBody>
      </p:sp>
      <p:sp>
        <p:nvSpPr>
          <p:cNvPr id="10" name="Text 8"/>
          <p:cNvSpPr txBox="1"/>
          <p:nvPr/>
        </p:nvSpPr>
        <p:spPr>
          <a:xfrm>
            <a:off x="502920" y="4526280"/>
            <a:ext cx="11155680" cy="457200"/>
          </a:xfrm>
          <a:prstGeom prst="rect">
            <a:avLst/>
          </a:prstGeom>
          <a:noFill/>
          <a:ln/>
        </p:spPr>
        <p:txBody>
          <a:bodyPr wrap="square" lIns="0" tIns="0" rIns="0" bIns="0" rtlCol="0" anchor="ctr"/>
          <a:lstStyle/>
          <a:p>
            <a:pPr indent="0" marL="0">
              <a:buNone/>
            </a:pPr>
            <a:r>
              <a:rPr lang="en-US" sz="1600" dirty="0">
                <a:solidFill>
                  <a:srgbClr val="667085"/>
                </a:solidFill>
                <a:latin typeface="IBM Plex Sans" pitchFamily="34" charset="0"/>
                <a:ea typeface="IBM Plex Sans" pitchFamily="34" charset="-122"/>
                <a:cs typeface="IBM Plex Sans" pitchFamily="34" charset="-120"/>
              </a:rPr>
              <a:t>Predict on paper first, then look down and test it.</a:t>
            </a:r>
            <a:endParaRPr lang="en-US" sz="16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Python programming  |  Lesson 12</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502920" y="411480"/>
            <a:ext cx="11155680" cy="777240"/>
          </a:xfrm>
          <a:prstGeom prst="rect">
            <a:avLst/>
          </a:prstGeom>
          <a:noFill/>
          <a:ln/>
        </p:spPr>
        <p:txBody>
          <a:bodyPr wrap="square" lIns="0" tIns="0" rIns="0" bIns="0" rtlCol="0" anchor="ctr"/>
          <a:lstStyle/>
          <a:p>
            <a:pPr indent="0" marL="0">
              <a:buNone/>
            </a:pPr>
            <a:r>
              <a:rPr lang="en-US" sz="3200" b="1" dirty="0">
                <a:solidFill>
                  <a:srgbClr val="101828"/>
                </a:solidFill>
                <a:latin typeface="IBM Plex Sans" pitchFamily="34" charset="0"/>
                <a:ea typeface="IBM Plex Sans" pitchFamily="34" charset="-122"/>
                <a:cs typeface="IBM Plex Sans" pitchFamily="34" charset="-120"/>
              </a:rPr>
              <a:t>Worth knowing</a:t>
            </a:r>
            <a:endParaRPr lang="en-US" sz="3200" dirty="0"/>
          </a:p>
        </p:txBody>
      </p:sp>
      <p:sp>
        <p:nvSpPr>
          <p:cNvPr id="6" name="Text 4"/>
          <p:cNvSpPr txBox="1"/>
          <p:nvPr/>
        </p:nvSpPr>
        <p:spPr>
          <a:xfrm>
            <a:off x="502920" y="1170432"/>
            <a:ext cx="11155680" cy="411480"/>
          </a:xfrm>
          <a:prstGeom prst="rect">
            <a:avLst/>
          </a:prstGeom>
          <a:noFill/>
          <a:ln/>
        </p:spPr>
        <p:txBody>
          <a:bodyPr wrap="square" lIns="0" tIns="0" rIns="0" bIns="0" rtlCol="0" anchor="ctr"/>
          <a:lstStyle/>
          <a:p>
            <a:pPr indent="0" marL="0">
              <a:buNone/>
            </a:pPr>
            <a:r>
              <a:rPr lang="en-US" sz="1500" dirty="0">
                <a:solidFill>
                  <a:srgbClr val="667085"/>
                </a:solidFill>
                <a:latin typeface="IBM Plex Sans" pitchFamily="34" charset="0"/>
                <a:ea typeface="IBM Plex Sans" pitchFamily="34" charset="-122"/>
                <a:cs typeface="IBM Plex Sans" pitchFamily="34" charset="-120"/>
              </a:rPr>
              <a:t>The information markers dotted around the room</a:t>
            </a:r>
            <a:endParaRPr lang="en-US" sz="1500" dirty="0"/>
          </a:p>
        </p:txBody>
      </p:sp>
      <p:sp>
        <p:nvSpPr>
          <p:cNvPr id="7" name="Shape 5"/>
          <p:cNvSpPr/>
          <p:nvPr/>
        </p:nvSpPr>
        <p:spPr>
          <a:xfrm>
            <a:off x="502920" y="1828800"/>
            <a:ext cx="5394960" cy="1737360"/>
          </a:xfrm>
          <a:prstGeom prst="roundRect">
            <a:avLst>
              <a:gd name="adj" fmla="val 6316"/>
            </a:avLst>
          </a:prstGeom>
          <a:solidFill>
            <a:srgbClr val="FFFFFF"/>
          </a:solidFill>
          <a:ln w="15875">
            <a:solidFill>
              <a:srgbClr val="2D63FF"/>
            </a:solidFill>
            <a:prstDash val="solid"/>
          </a:ln>
        </p:spPr>
      </p:sp>
      <p:sp>
        <p:nvSpPr>
          <p:cNvPr id="8" name="Text 6"/>
          <p:cNvSpPr txBox="1"/>
          <p:nvPr/>
        </p:nvSpPr>
        <p:spPr>
          <a:xfrm>
            <a:off x="822960" y="2011680"/>
            <a:ext cx="4754880" cy="365760"/>
          </a:xfrm>
          <a:prstGeom prst="rect">
            <a:avLst/>
          </a:prstGeom>
          <a:noFill/>
          <a:ln/>
        </p:spPr>
        <p:txBody>
          <a:bodyPr wrap="square" lIns="0" tIns="0" rIns="0" bIns="0" rtlCol="0" anchor="ctr"/>
          <a:lstStyle/>
          <a:p>
            <a:pPr indent="0" marL="0">
              <a:buNone/>
            </a:pPr>
            <a:r>
              <a:rPr lang="en-US" sz="1600" b="1" dirty="0">
                <a:solidFill>
                  <a:srgbClr val="2D63FF"/>
                </a:solidFill>
                <a:latin typeface="IBM Plex Sans" pitchFamily="34" charset="0"/>
                <a:ea typeface="IBM Plex Sans" pitchFamily="34" charset="-122"/>
                <a:cs typeface="IBM Plex Sans" pitchFamily="34" charset="-120"/>
              </a:rPr>
              <a:t>Strip it first</a:t>
            </a:r>
            <a:endParaRPr lang="en-US" sz="1600" dirty="0"/>
          </a:p>
        </p:txBody>
      </p:sp>
      <p:sp>
        <p:nvSpPr>
          <p:cNvPr id="9" name="Text 7"/>
          <p:cNvSpPr txBox="1"/>
          <p:nvPr/>
        </p:nvSpPr>
        <p:spPr>
          <a:xfrm>
            <a:off x="822960" y="2395728"/>
            <a:ext cx="4754880" cy="1005840"/>
          </a:xfrm>
          <a:prstGeom prst="rect">
            <a:avLst/>
          </a:prstGeom>
          <a:noFill/>
          <a:ln/>
        </p:spPr>
        <p:txBody>
          <a:bodyPr wrap="square" lIns="0" tIns="0" rIns="0" bIns="0" rtlCol="0" anchor="t"/>
          <a:lstStyle/>
          <a:p>
            <a:pPr indent="0" marL="0">
              <a:lnSpc>
                <a:spcPct val="120000"/>
              </a:lnSpc>
              <a:buNone/>
            </a:pPr>
            <a:r>
              <a:rPr lang="en-US" sz="1300" dirty="0">
                <a:solidFill>
                  <a:srgbClr val="667085"/>
                </a:solidFill>
                <a:latin typeface="IBM Plex Sans" pitchFamily="34" charset="0"/>
                <a:ea typeface="IBM Plex Sans" pitchFamily="34" charset="-122"/>
                <a:cs typeface="IBM Plex Sans" pitchFamily="34" charset="-120"/>
              </a:rPr>
              <a:t>A stray space is still a character, so a presence check should strip the input before testing it for empty.</a:t>
            </a:r>
            <a:endParaRPr lang="en-US" sz="1300" dirty="0"/>
          </a:p>
        </p:txBody>
      </p:sp>
      <p:sp>
        <p:nvSpPr>
          <p:cNvPr id="10" name="Shape 8"/>
          <p:cNvSpPr/>
          <p:nvPr/>
        </p:nvSpPr>
        <p:spPr>
          <a:xfrm>
            <a:off x="6217920" y="1828800"/>
            <a:ext cx="5394960" cy="1737360"/>
          </a:xfrm>
          <a:prstGeom prst="roundRect">
            <a:avLst>
              <a:gd name="adj" fmla="val 6316"/>
            </a:avLst>
          </a:prstGeom>
          <a:solidFill>
            <a:srgbClr val="FFFFFF"/>
          </a:solidFill>
          <a:ln w="15875">
            <a:solidFill>
              <a:srgbClr val="08A6A6"/>
            </a:solidFill>
            <a:prstDash val="solid"/>
          </a:ln>
        </p:spPr>
      </p:sp>
      <p:sp>
        <p:nvSpPr>
          <p:cNvPr id="11" name="Text 9"/>
          <p:cNvSpPr txBox="1"/>
          <p:nvPr/>
        </p:nvSpPr>
        <p:spPr>
          <a:xfrm>
            <a:off x="6537960" y="2011680"/>
            <a:ext cx="4754880" cy="365760"/>
          </a:xfrm>
          <a:prstGeom prst="rect">
            <a:avLst/>
          </a:prstGeom>
          <a:noFill/>
          <a:ln/>
        </p:spPr>
        <p:txBody>
          <a:bodyPr wrap="square" lIns="0" tIns="0" rIns="0" bIns="0" rtlCol="0" anchor="ctr"/>
          <a:lstStyle/>
          <a:p>
            <a:pPr indent="0" marL="0">
              <a:buNone/>
            </a:pPr>
            <a:r>
              <a:rPr lang="en-US" sz="1600" b="1" dirty="0">
                <a:solidFill>
                  <a:srgbClr val="08A6A6"/>
                </a:solidFill>
                <a:latin typeface="IBM Plex Sans" pitchFamily="34" charset="0"/>
                <a:ea typeface="IBM Plex Sans" pitchFamily="34" charset="-122"/>
                <a:cs typeface="IBM Plex Sans" pitchFamily="34" charset="-120"/>
              </a:rPr>
              <a:t>Inclusive means both</a:t>
            </a:r>
            <a:endParaRPr lang="en-US" sz="1600" dirty="0"/>
          </a:p>
        </p:txBody>
      </p:sp>
      <p:sp>
        <p:nvSpPr>
          <p:cNvPr id="12" name="Text 10"/>
          <p:cNvSpPr txBox="1"/>
          <p:nvPr/>
        </p:nvSpPr>
        <p:spPr>
          <a:xfrm>
            <a:off x="6537960" y="2395728"/>
            <a:ext cx="4754880" cy="1005840"/>
          </a:xfrm>
          <a:prstGeom prst="rect">
            <a:avLst/>
          </a:prstGeom>
          <a:noFill/>
          <a:ln/>
        </p:spPr>
        <p:txBody>
          <a:bodyPr wrap="square" lIns="0" tIns="0" rIns="0" bIns="0" rtlCol="0" anchor="t"/>
          <a:lstStyle/>
          <a:p>
            <a:pPr indent="0" marL="0">
              <a:lnSpc>
                <a:spcPct val="120000"/>
              </a:lnSpc>
              <a:buNone/>
            </a:pPr>
            <a:r>
              <a:rPr lang="en-US" sz="1300" dirty="0">
                <a:solidFill>
                  <a:srgbClr val="667085"/>
                </a:solidFill>
                <a:latin typeface="IBM Plex Sans" pitchFamily="34" charset="0"/>
                <a:ea typeface="IBM Plex Sans" pitchFamily="34" charset="-122"/>
                <a:cs typeface="IBM Plex Sans" pitchFamily="34" charset="-120"/>
              </a:rPr>
              <a:t>'From 1 to 10 inclusive' means 1 and 10 both pass. Test them: that is exactly what boundary data is for.</a:t>
            </a:r>
            <a:endParaRPr lang="en-US" sz="1300" dirty="0"/>
          </a:p>
        </p:txBody>
      </p:sp>
      <p:sp>
        <p:nvSpPr>
          <p:cNvPr id="13" name="Shape 11"/>
          <p:cNvSpPr/>
          <p:nvPr/>
        </p:nvSpPr>
        <p:spPr>
          <a:xfrm>
            <a:off x="502920" y="3794760"/>
            <a:ext cx="5394960" cy="1737360"/>
          </a:xfrm>
          <a:prstGeom prst="roundRect">
            <a:avLst>
              <a:gd name="adj" fmla="val 6316"/>
            </a:avLst>
          </a:prstGeom>
          <a:solidFill>
            <a:srgbClr val="FFFFFF"/>
          </a:solidFill>
          <a:ln w="15875">
            <a:solidFill>
              <a:srgbClr val="2D63FF"/>
            </a:solidFill>
            <a:prstDash val="solid"/>
          </a:ln>
        </p:spPr>
      </p:sp>
      <p:sp>
        <p:nvSpPr>
          <p:cNvPr id="14" name="Text 12"/>
          <p:cNvSpPr txBox="1"/>
          <p:nvPr/>
        </p:nvSpPr>
        <p:spPr>
          <a:xfrm>
            <a:off x="822960" y="3977640"/>
            <a:ext cx="4754880" cy="365760"/>
          </a:xfrm>
          <a:prstGeom prst="rect">
            <a:avLst/>
          </a:prstGeom>
          <a:noFill/>
          <a:ln/>
        </p:spPr>
        <p:txBody>
          <a:bodyPr wrap="square" lIns="0" tIns="0" rIns="0" bIns="0" rtlCol="0" anchor="ctr"/>
          <a:lstStyle/>
          <a:p>
            <a:pPr indent="0" marL="0">
              <a:buNone/>
            </a:pPr>
            <a:r>
              <a:rPr lang="en-US" sz="1600" b="1" dirty="0">
                <a:solidFill>
                  <a:srgbClr val="2D63FF"/>
                </a:solidFill>
                <a:latin typeface="IBM Plex Sans" pitchFamily="34" charset="0"/>
                <a:ea typeface="IBM Plex Sans" pitchFamily="34" charset="-122"/>
                <a:cs typeface="IBM Plex Sans" pitchFamily="34" charset="-120"/>
              </a:rPr>
              <a:t>Length, then format</a:t>
            </a:r>
            <a:endParaRPr lang="en-US" sz="1600" dirty="0"/>
          </a:p>
        </p:txBody>
      </p:sp>
      <p:sp>
        <p:nvSpPr>
          <p:cNvPr id="15" name="Text 13"/>
          <p:cNvSpPr txBox="1"/>
          <p:nvPr/>
        </p:nvSpPr>
        <p:spPr>
          <a:xfrm>
            <a:off x="822960" y="4361688"/>
            <a:ext cx="4754880" cy="1005840"/>
          </a:xfrm>
          <a:prstGeom prst="rect">
            <a:avLst/>
          </a:prstGeom>
          <a:noFill/>
          <a:ln/>
        </p:spPr>
        <p:txBody>
          <a:bodyPr wrap="square" lIns="0" tIns="0" rIns="0" bIns="0" rtlCol="0" anchor="t"/>
          <a:lstStyle/>
          <a:p>
            <a:pPr indent="0" marL="0">
              <a:lnSpc>
                <a:spcPct val="120000"/>
              </a:lnSpc>
              <a:buNone/>
            </a:pPr>
            <a:r>
              <a:rPr lang="en-US" sz="1300" dirty="0">
                <a:solidFill>
                  <a:srgbClr val="667085"/>
                </a:solidFill>
                <a:latin typeface="IBM Plex Sans" pitchFamily="34" charset="0"/>
                <a:ea typeface="IBM Plex Sans" pitchFamily="34" charset="-122"/>
                <a:cs typeface="IBM Plex Sans" pitchFamily="34" charset="-120"/>
              </a:rPr>
              <a:t>Checking the length first means a format check can safely look at a particular position in the string.</a:t>
            </a:r>
            <a:endParaRPr lang="en-US" sz="1300" dirty="0"/>
          </a:p>
        </p:txBody>
      </p:sp>
      <p:sp>
        <p:nvSpPr>
          <p:cNvPr id="16" name="Shape 14"/>
          <p:cNvSpPr/>
          <p:nvPr/>
        </p:nvSpPr>
        <p:spPr>
          <a:xfrm>
            <a:off x="6217920" y="3794760"/>
            <a:ext cx="5394960" cy="1737360"/>
          </a:xfrm>
          <a:prstGeom prst="roundRect">
            <a:avLst>
              <a:gd name="adj" fmla="val 6316"/>
            </a:avLst>
          </a:prstGeom>
          <a:solidFill>
            <a:srgbClr val="FFFFFF"/>
          </a:solidFill>
          <a:ln w="15875">
            <a:solidFill>
              <a:srgbClr val="08A6A6"/>
            </a:solidFill>
            <a:prstDash val="solid"/>
          </a:ln>
        </p:spPr>
      </p:sp>
      <p:sp>
        <p:nvSpPr>
          <p:cNvPr id="17" name="Text 15"/>
          <p:cNvSpPr txBox="1"/>
          <p:nvPr/>
        </p:nvSpPr>
        <p:spPr>
          <a:xfrm>
            <a:off x="6537960" y="3977640"/>
            <a:ext cx="4754880" cy="365760"/>
          </a:xfrm>
          <a:prstGeom prst="rect">
            <a:avLst/>
          </a:prstGeom>
          <a:noFill/>
          <a:ln/>
        </p:spPr>
        <p:txBody>
          <a:bodyPr wrap="square" lIns="0" tIns="0" rIns="0" bIns="0" rtlCol="0" anchor="ctr"/>
          <a:lstStyle/>
          <a:p>
            <a:pPr indent="0" marL="0">
              <a:buNone/>
            </a:pPr>
            <a:r>
              <a:rPr lang="en-US" sz="1600" b="1" dirty="0">
                <a:solidFill>
                  <a:srgbClr val="08A6A6"/>
                </a:solidFill>
                <a:latin typeface="IBM Plex Sans" pitchFamily="34" charset="0"/>
                <a:ea typeface="IBM Plex Sans" pitchFamily="34" charset="-122"/>
                <a:cs typeface="IBM Plex Sans" pitchFamily="34" charset="-120"/>
              </a:rPr>
              <a:t>Three tries</a:t>
            </a:r>
            <a:endParaRPr lang="en-US" sz="1600" dirty="0"/>
          </a:p>
        </p:txBody>
      </p:sp>
      <p:sp>
        <p:nvSpPr>
          <p:cNvPr id="18" name="Text 16"/>
          <p:cNvSpPr txBox="1"/>
          <p:nvPr/>
        </p:nvSpPr>
        <p:spPr>
          <a:xfrm>
            <a:off x="6537960" y="4361688"/>
            <a:ext cx="4754880" cy="1005840"/>
          </a:xfrm>
          <a:prstGeom prst="rect">
            <a:avLst/>
          </a:prstGeom>
          <a:noFill/>
          <a:ln/>
        </p:spPr>
        <p:txBody>
          <a:bodyPr wrap="square" lIns="0" tIns="0" rIns="0" bIns="0" rtlCol="0" anchor="t"/>
          <a:lstStyle/>
          <a:p>
            <a:pPr indent="0" marL="0">
              <a:lnSpc>
                <a:spcPct val="120000"/>
              </a:lnSpc>
              <a:buNone/>
            </a:pPr>
            <a:r>
              <a:rPr lang="en-US" sz="1300" dirty="0">
                <a:solidFill>
                  <a:srgbClr val="667085"/>
                </a:solidFill>
                <a:latin typeface="IBM Plex Sans" pitchFamily="34" charset="0"/>
                <a:ea typeface="IBM Plex Sans" pitchFamily="34" charset="-122"/>
                <a:cs typeface="IBM Plex Sans" pitchFamily="34" charset="-120"/>
              </a:rPr>
              <a:t>Locking an account after three wrong passwords stops a program being guessed at one attempt at a time.</a:t>
            </a:r>
            <a:endParaRPr lang="en-US" sz="13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Python programming  |  Lesson 12</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502920" y="411480"/>
            <a:ext cx="11155680" cy="777240"/>
          </a:xfrm>
          <a:prstGeom prst="rect">
            <a:avLst/>
          </a:prstGeom>
          <a:noFill/>
          <a:ln/>
        </p:spPr>
        <p:txBody>
          <a:bodyPr wrap="square" lIns="0" tIns="0" rIns="0" bIns="0" rtlCol="0" anchor="ctr"/>
          <a:lstStyle/>
          <a:p>
            <a:pPr indent="0" marL="0">
              <a:buNone/>
            </a:pPr>
            <a:r>
              <a:rPr lang="en-US" sz="3200" b="1" dirty="0">
                <a:solidFill>
                  <a:srgbClr val="101828"/>
                </a:solidFill>
                <a:latin typeface="IBM Plex Sans" pitchFamily="34" charset="0"/>
                <a:ea typeface="IBM Plex Sans" pitchFamily="34" charset="-122"/>
                <a:cs typeface="IBM Plex Sans" pitchFamily="34" charset="-120"/>
              </a:rPr>
              <a:t>Exam practice</a:t>
            </a:r>
            <a:endParaRPr lang="en-US" sz="3200" dirty="0"/>
          </a:p>
        </p:txBody>
      </p:sp>
      <p:sp>
        <p:nvSpPr>
          <p:cNvPr id="6" name="Text 4"/>
          <p:cNvSpPr txBox="1"/>
          <p:nvPr/>
        </p:nvSpPr>
        <p:spPr>
          <a:xfrm>
            <a:off x="502920" y="1170432"/>
            <a:ext cx="11155680" cy="411480"/>
          </a:xfrm>
          <a:prstGeom prst="rect">
            <a:avLst/>
          </a:prstGeom>
          <a:noFill/>
          <a:ln/>
        </p:spPr>
        <p:txBody>
          <a:bodyPr wrap="square" lIns="0" tIns="0" rIns="0" bIns="0" rtlCol="0" anchor="ctr"/>
          <a:lstStyle/>
          <a:p>
            <a:pPr indent="0" marL="0">
              <a:buNone/>
            </a:pPr>
            <a:r>
              <a:rPr lang="en-US" sz="1500" dirty="0">
                <a:solidFill>
                  <a:srgbClr val="667085"/>
                </a:solidFill>
                <a:latin typeface="IBM Plex Sans" pitchFamily="34" charset="0"/>
                <a:ea typeface="IBM Plex Sans" pitchFamily="34" charset="-122"/>
                <a:cs typeface="IBM Plex Sans" pitchFamily="34" charset="-120"/>
              </a:rPr>
              <a:t>Devices away. Answer from memory on the worksheet.</a:t>
            </a:r>
            <a:endParaRPr lang="en-US" sz="1500" dirty="0"/>
          </a:p>
        </p:txBody>
      </p:sp>
      <p:sp>
        <p:nvSpPr>
          <p:cNvPr id="7" name="Shape 5"/>
          <p:cNvSpPr/>
          <p:nvPr/>
        </p:nvSpPr>
        <p:spPr>
          <a:xfrm>
            <a:off x="502920" y="1828800"/>
            <a:ext cx="11155680" cy="1097280"/>
          </a:xfrm>
          <a:prstGeom prst="roundRect">
            <a:avLst>
              <a:gd name="adj" fmla="val 10000"/>
            </a:avLst>
          </a:prstGeom>
          <a:solidFill>
            <a:srgbClr val="FFFFFF"/>
          </a:solidFill>
          <a:ln w="15875">
            <a:solidFill>
              <a:srgbClr val="D9DEE7"/>
            </a:solidFill>
            <a:prstDash val="solid"/>
          </a:ln>
        </p:spPr>
      </p:sp>
      <p:sp>
        <p:nvSpPr>
          <p:cNvPr id="8" name="Text 6"/>
          <p:cNvSpPr txBox="1"/>
          <p:nvPr/>
        </p:nvSpPr>
        <p:spPr>
          <a:xfrm>
            <a:off x="914400" y="1938528"/>
            <a:ext cx="9418320" cy="877824"/>
          </a:xfrm>
          <a:prstGeom prst="rect">
            <a:avLst/>
          </a:prstGeom>
          <a:noFill/>
          <a:ln/>
        </p:spPr>
        <p:txBody>
          <a:bodyPr wrap="square" lIns="0" tIns="0" rIns="0" bIns="0" rtlCol="0" anchor="ctr"/>
          <a:lstStyle/>
          <a:p>
            <a:pPr indent="0" marL="0">
              <a:lnSpc>
                <a:spcPct val="118000"/>
              </a:lnSpc>
              <a:buNone/>
            </a:pPr>
            <a:r>
              <a:rPr lang="en-US" sz="1700" dirty="0">
                <a:solidFill>
                  <a:srgbClr val="101828"/>
                </a:solidFill>
                <a:latin typeface="IBM Plex Sans" pitchFamily="34" charset="0"/>
                <a:ea typeface="IBM Plex Sans" pitchFamily="34" charset="-122"/>
                <a:cs typeface="IBM Plex Sans" pitchFamily="34" charset="-120"/>
              </a:rPr>
              <a:t>A range check for a satisfaction score that must be from 1 to 10 inclusive is written if score &gt; 1 and score &lt; 10. State the two scores this wrongly refuses, and write the condition corrected.</a:t>
            </a:r>
            <a:endParaRPr lang="en-US" sz="1700" dirty="0"/>
          </a:p>
        </p:txBody>
      </p:sp>
      <p:sp>
        <p:nvSpPr>
          <p:cNvPr id="9" name="Shape 7"/>
          <p:cNvSpPr/>
          <p:nvPr/>
        </p:nvSpPr>
        <p:spPr>
          <a:xfrm>
            <a:off x="10515600" y="2130552"/>
            <a:ext cx="868680" cy="493776"/>
          </a:xfrm>
          <a:prstGeom prst="roundRect">
            <a:avLst>
              <a:gd name="adj" fmla="val 18519"/>
            </a:avLst>
          </a:prstGeom>
          <a:solidFill>
            <a:srgbClr val="EEF2FB"/>
          </a:solidFill>
          <a:ln/>
        </p:spPr>
      </p:sp>
      <p:sp>
        <p:nvSpPr>
          <p:cNvPr id="10" name="Text 8"/>
          <p:cNvSpPr txBox="1"/>
          <p:nvPr/>
        </p:nvSpPr>
        <p:spPr>
          <a:xfrm>
            <a:off x="10515600" y="2130552"/>
            <a:ext cx="868680" cy="493776"/>
          </a:xfrm>
          <a:prstGeom prst="rect">
            <a:avLst/>
          </a:prstGeom>
          <a:noFill/>
          <a:ln/>
        </p:spPr>
        <p:txBody>
          <a:bodyPr wrap="square" lIns="0" tIns="0" rIns="0" bIns="0" rtlCol="0" anchor="ctr"/>
          <a:lstStyle/>
          <a:p>
            <a:pPr algn="ctr" indent="0" marL="0">
              <a:buNone/>
            </a:pPr>
            <a:r>
              <a:rPr lang="en-US" sz="1500" b="1" dirty="0">
                <a:solidFill>
                  <a:srgbClr val="2D63FF"/>
                </a:solidFill>
                <a:latin typeface="IBM Plex Mono" pitchFamily="34" charset="0"/>
                <a:ea typeface="IBM Plex Mono" pitchFamily="34" charset="-122"/>
                <a:cs typeface="IBM Plex Mono" pitchFamily="34" charset="-120"/>
              </a:rPr>
              <a:t>[3]</a:t>
            </a:r>
            <a:endParaRPr lang="en-US" sz="1500" dirty="0"/>
          </a:p>
        </p:txBody>
      </p:sp>
      <p:sp>
        <p:nvSpPr>
          <p:cNvPr id="11" name="Shape 9"/>
          <p:cNvSpPr/>
          <p:nvPr/>
        </p:nvSpPr>
        <p:spPr>
          <a:xfrm>
            <a:off x="502920" y="3127248"/>
            <a:ext cx="11155680" cy="1097280"/>
          </a:xfrm>
          <a:prstGeom prst="roundRect">
            <a:avLst>
              <a:gd name="adj" fmla="val 10000"/>
            </a:avLst>
          </a:prstGeom>
          <a:solidFill>
            <a:srgbClr val="FFFFFF"/>
          </a:solidFill>
          <a:ln w="15875">
            <a:solidFill>
              <a:srgbClr val="D9DEE7"/>
            </a:solidFill>
            <a:prstDash val="solid"/>
          </a:ln>
        </p:spPr>
      </p:sp>
      <p:sp>
        <p:nvSpPr>
          <p:cNvPr id="12" name="Text 10"/>
          <p:cNvSpPr txBox="1"/>
          <p:nvPr/>
        </p:nvSpPr>
        <p:spPr>
          <a:xfrm>
            <a:off x="914400" y="3236976"/>
            <a:ext cx="9418320" cy="877824"/>
          </a:xfrm>
          <a:prstGeom prst="rect">
            <a:avLst/>
          </a:prstGeom>
          <a:noFill/>
          <a:ln/>
        </p:spPr>
        <p:txBody>
          <a:bodyPr wrap="square" lIns="0" tIns="0" rIns="0" bIns="0" rtlCol="0" anchor="ctr"/>
          <a:lstStyle/>
          <a:p>
            <a:pPr indent="0" marL="0">
              <a:lnSpc>
                <a:spcPct val="118000"/>
              </a:lnSpc>
              <a:buNone/>
            </a:pPr>
            <a:r>
              <a:rPr lang="en-US" sz="1700" dirty="0">
                <a:solidFill>
                  <a:srgbClr val="101828"/>
                </a:solidFill>
                <a:latin typeface="IBM Plex Sans" pitchFamily="34" charset="0"/>
                <a:ea typeface="IBM Plex Sans" pitchFamily="34" charset="-122"/>
                <a:cs typeface="IBM Plex Sans" pitchFamily="34" charset="-120"/>
              </a:rPr>
              <a:t>Write a program that keeps asking for a tutor group code of exactly one letter followed by two digits until a valid one is typed.</a:t>
            </a:r>
            <a:endParaRPr lang="en-US" sz="1700" dirty="0"/>
          </a:p>
        </p:txBody>
      </p:sp>
      <p:sp>
        <p:nvSpPr>
          <p:cNvPr id="13" name="Shape 11"/>
          <p:cNvSpPr/>
          <p:nvPr/>
        </p:nvSpPr>
        <p:spPr>
          <a:xfrm>
            <a:off x="10515600" y="3429000"/>
            <a:ext cx="868680" cy="493776"/>
          </a:xfrm>
          <a:prstGeom prst="roundRect">
            <a:avLst>
              <a:gd name="adj" fmla="val 18519"/>
            </a:avLst>
          </a:prstGeom>
          <a:solidFill>
            <a:srgbClr val="EEF2FB"/>
          </a:solidFill>
          <a:ln/>
        </p:spPr>
      </p:sp>
      <p:sp>
        <p:nvSpPr>
          <p:cNvPr id="14" name="Text 12"/>
          <p:cNvSpPr txBox="1"/>
          <p:nvPr/>
        </p:nvSpPr>
        <p:spPr>
          <a:xfrm>
            <a:off x="10515600" y="3429000"/>
            <a:ext cx="868680" cy="493776"/>
          </a:xfrm>
          <a:prstGeom prst="rect">
            <a:avLst/>
          </a:prstGeom>
          <a:noFill/>
          <a:ln/>
        </p:spPr>
        <p:txBody>
          <a:bodyPr wrap="square" lIns="0" tIns="0" rIns="0" bIns="0" rtlCol="0" anchor="ctr"/>
          <a:lstStyle/>
          <a:p>
            <a:pPr algn="ctr" indent="0" marL="0">
              <a:buNone/>
            </a:pPr>
            <a:r>
              <a:rPr lang="en-US" sz="1500" b="1" dirty="0">
                <a:solidFill>
                  <a:srgbClr val="2D63FF"/>
                </a:solidFill>
                <a:latin typeface="IBM Plex Mono" pitchFamily="34" charset="0"/>
                <a:ea typeface="IBM Plex Mono" pitchFamily="34" charset="-122"/>
                <a:cs typeface="IBM Plex Mono" pitchFamily="34" charset="-120"/>
              </a:rPr>
              <a:t>[6]</a:t>
            </a:r>
            <a:endParaRPr lang="en-US" sz="1500" dirty="0"/>
          </a:p>
        </p:txBody>
      </p:sp>
      <p:sp>
        <p:nvSpPr>
          <p:cNvPr id="15" name="Shape 13"/>
          <p:cNvSpPr/>
          <p:nvPr/>
        </p:nvSpPr>
        <p:spPr>
          <a:xfrm>
            <a:off x="502920" y="4425696"/>
            <a:ext cx="11155680" cy="1097280"/>
          </a:xfrm>
          <a:prstGeom prst="roundRect">
            <a:avLst>
              <a:gd name="adj" fmla="val 10000"/>
            </a:avLst>
          </a:prstGeom>
          <a:solidFill>
            <a:srgbClr val="FFFFFF"/>
          </a:solidFill>
          <a:ln w="15875">
            <a:solidFill>
              <a:srgbClr val="D9DEE7"/>
            </a:solidFill>
            <a:prstDash val="solid"/>
          </a:ln>
        </p:spPr>
      </p:sp>
      <p:sp>
        <p:nvSpPr>
          <p:cNvPr id="16" name="Text 14"/>
          <p:cNvSpPr txBox="1"/>
          <p:nvPr/>
        </p:nvSpPr>
        <p:spPr>
          <a:xfrm>
            <a:off x="914400" y="4535424"/>
            <a:ext cx="9418320" cy="877824"/>
          </a:xfrm>
          <a:prstGeom prst="rect">
            <a:avLst/>
          </a:prstGeom>
          <a:noFill/>
          <a:ln/>
        </p:spPr>
        <p:txBody>
          <a:bodyPr wrap="square" lIns="0" tIns="0" rIns="0" bIns="0" rtlCol="0" anchor="ctr"/>
          <a:lstStyle/>
          <a:p>
            <a:pPr indent="0" marL="0">
              <a:lnSpc>
                <a:spcPct val="118000"/>
              </a:lnSpc>
              <a:buNone/>
            </a:pPr>
            <a:r>
              <a:rPr lang="en-US" sz="1700" dirty="0">
                <a:solidFill>
                  <a:srgbClr val="101828"/>
                </a:solidFill>
                <a:latin typeface="IBM Plex Sans" pitchFamily="34" charset="0"/>
                <a:ea typeface="IBM Plex Sans" pitchFamily="34" charset="-122"/>
                <a:cs typeface="IBM Plex Sans" pitchFamily="34" charset="-120"/>
              </a:rPr>
              <a:t>Write a program that allows three attempts at the four-digit passcode 2471, and prints Locked if all three attempts are wrong.</a:t>
            </a:r>
            <a:endParaRPr lang="en-US" sz="1700" dirty="0"/>
          </a:p>
        </p:txBody>
      </p:sp>
      <p:sp>
        <p:nvSpPr>
          <p:cNvPr id="17" name="Shape 15"/>
          <p:cNvSpPr/>
          <p:nvPr/>
        </p:nvSpPr>
        <p:spPr>
          <a:xfrm>
            <a:off x="10515600" y="4727448"/>
            <a:ext cx="868680" cy="493776"/>
          </a:xfrm>
          <a:prstGeom prst="roundRect">
            <a:avLst>
              <a:gd name="adj" fmla="val 18519"/>
            </a:avLst>
          </a:prstGeom>
          <a:solidFill>
            <a:srgbClr val="EEF2FB"/>
          </a:solidFill>
          <a:ln/>
        </p:spPr>
      </p:sp>
      <p:sp>
        <p:nvSpPr>
          <p:cNvPr id="18" name="Text 16"/>
          <p:cNvSpPr txBox="1"/>
          <p:nvPr/>
        </p:nvSpPr>
        <p:spPr>
          <a:xfrm>
            <a:off x="10515600" y="4727448"/>
            <a:ext cx="868680" cy="493776"/>
          </a:xfrm>
          <a:prstGeom prst="rect">
            <a:avLst/>
          </a:prstGeom>
          <a:noFill/>
          <a:ln/>
        </p:spPr>
        <p:txBody>
          <a:bodyPr wrap="square" lIns="0" tIns="0" rIns="0" bIns="0" rtlCol="0" anchor="ctr"/>
          <a:lstStyle/>
          <a:p>
            <a:pPr algn="ctr" indent="0" marL="0">
              <a:buNone/>
            </a:pPr>
            <a:r>
              <a:rPr lang="en-US" sz="1500" b="1" dirty="0">
                <a:solidFill>
                  <a:srgbClr val="2D63FF"/>
                </a:solidFill>
                <a:latin typeface="IBM Plex Mono" pitchFamily="34" charset="0"/>
                <a:ea typeface="IBM Plex Mono" pitchFamily="34" charset="-122"/>
                <a:cs typeface="IBM Plex Mono" pitchFamily="34" charset="-120"/>
              </a:rPr>
              <a:t>[5]</a:t>
            </a:r>
            <a:endParaRPr lang="en-US" sz="15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Python programming  |  Lesson 12</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502920" y="411480"/>
            <a:ext cx="11155680" cy="777240"/>
          </a:xfrm>
          <a:prstGeom prst="rect">
            <a:avLst/>
          </a:prstGeom>
          <a:noFill/>
          <a:ln/>
        </p:spPr>
        <p:txBody>
          <a:bodyPr wrap="square" lIns="0" tIns="0" rIns="0" bIns="0" rtlCol="0" anchor="ctr"/>
          <a:lstStyle/>
          <a:p>
            <a:pPr indent="0" marL="0">
              <a:buNone/>
            </a:pPr>
            <a:r>
              <a:rPr lang="en-US" sz="3200" b="1" dirty="0">
                <a:solidFill>
                  <a:srgbClr val="101828"/>
                </a:solidFill>
                <a:latin typeface="IBM Plex Sans" pitchFamily="34" charset="0"/>
                <a:ea typeface="IBM Plex Sans" pitchFamily="34" charset="-122"/>
                <a:cs typeface="IBM Plex Sans" pitchFamily="34" charset="-120"/>
              </a:rPr>
              <a:t>Before you go</a:t>
            </a:r>
            <a:endParaRPr lang="en-US" sz="3200" dirty="0"/>
          </a:p>
        </p:txBody>
      </p:sp>
      <p:sp>
        <p:nvSpPr>
          <p:cNvPr id="6" name="Text 4"/>
          <p:cNvSpPr txBox="1"/>
          <p:nvPr/>
        </p:nvSpPr>
        <p:spPr>
          <a:xfrm>
            <a:off x="502920" y="1170432"/>
            <a:ext cx="11155680" cy="411480"/>
          </a:xfrm>
          <a:prstGeom prst="rect">
            <a:avLst/>
          </a:prstGeom>
          <a:noFill/>
          <a:ln/>
        </p:spPr>
        <p:txBody>
          <a:bodyPr wrap="square" lIns="0" tIns="0" rIns="0" bIns="0" rtlCol="0" anchor="ctr"/>
          <a:lstStyle/>
          <a:p>
            <a:pPr indent="0" marL="0">
              <a:buNone/>
            </a:pPr>
            <a:r>
              <a:rPr lang="en-US" sz="1500" dirty="0">
                <a:solidFill>
                  <a:srgbClr val="667085"/>
                </a:solidFill>
                <a:latin typeface="IBM Plex Sans" pitchFamily="34" charset="0"/>
                <a:ea typeface="IBM Plex Sans" pitchFamily="34" charset="-122"/>
                <a:cs typeface="IBM Plex Sans" pitchFamily="34" charset="-120"/>
              </a:rPr>
              <a:t>Rate yourself on each of these</a:t>
            </a:r>
            <a:endParaRPr lang="en-US" sz="1500" dirty="0"/>
          </a:p>
        </p:txBody>
      </p:sp>
      <p:sp>
        <p:nvSpPr>
          <p:cNvPr id="7" name="Shape 5"/>
          <p:cNvSpPr/>
          <p:nvPr/>
        </p:nvSpPr>
        <p:spPr>
          <a:xfrm>
            <a:off x="502920" y="1920240"/>
            <a:ext cx="7863840" cy="777240"/>
          </a:xfrm>
          <a:prstGeom prst="roundRect">
            <a:avLst>
              <a:gd name="adj" fmla="val 14118"/>
            </a:avLst>
          </a:prstGeom>
          <a:solidFill>
            <a:srgbClr val="FFFFFF"/>
          </a:solidFill>
          <a:ln w="15875">
            <a:solidFill>
              <a:srgbClr val="D9DEE7"/>
            </a:solidFill>
            <a:prstDash val="solid"/>
          </a:ln>
        </p:spPr>
      </p:sp>
      <p:sp>
        <p:nvSpPr>
          <p:cNvPr id="8" name="Text 6"/>
          <p:cNvSpPr txBox="1"/>
          <p:nvPr/>
        </p:nvSpPr>
        <p:spPr>
          <a:xfrm>
            <a:off x="914400" y="1920240"/>
            <a:ext cx="7132320" cy="777240"/>
          </a:xfrm>
          <a:prstGeom prst="rect">
            <a:avLst/>
          </a:prstGeom>
          <a:noFill/>
          <a:ln/>
        </p:spPr>
        <p:txBody>
          <a:bodyPr wrap="square" lIns="0" tIns="0" rIns="0" bIns="0" rtlCol="0" anchor="ctr"/>
          <a:lstStyle/>
          <a:p>
            <a:pPr indent="0" marL="0">
              <a:buNone/>
            </a:pPr>
            <a:r>
              <a:rPr lang="en-US" sz="1800" dirty="0">
                <a:solidFill>
                  <a:srgbClr val="101828"/>
                </a:solidFill>
                <a:latin typeface="IBM Plex Sans" pitchFamily="34" charset="0"/>
                <a:ea typeface="IBM Plex Sans" pitchFamily="34" charset="-122"/>
                <a:cs typeface="IBM Plex Sans" pitchFamily="34" charset="-120"/>
              </a:rPr>
              <a:t>Coding a presence, type and range check</a:t>
            </a:r>
            <a:endParaRPr lang="en-US" sz="1800" dirty="0"/>
          </a:p>
        </p:txBody>
      </p:sp>
      <p:sp>
        <p:nvSpPr>
          <p:cNvPr id="9" name="Shape 7"/>
          <p:cNvSpPr/>
          <p:nvPr/>
        </p:nvSpPr>
        <p:spPr>
          <a:xfrm>
            <a:off x="8595360" y="2066544"/>
            <a:ext cx="987552" cy="484632"/>
          </a:xfrm>
          <a:prstGeom prst="roundRect">
            <a:avLst>
              <a:gd name="adj" fmla="val 18868"/>
            </a:avLst>
          </a:prstGeom>
          <a:solidFill>
            <a:srgbClr val="FFFFFF"/>
          </a:solidFill>
          <a:ln w="15875">
            <a:solidFill>
              <a:srgbClr val="08A6A6"/>
            </a:solidFill>
            <a:prstDash val="solid"/>
          </a:ln>
        </p:spPr>
      </p:sp>
      <p:sp>
        <p:nvSpPr>
          <p:cNvPr id="10" name="Text 8"/>
          <p:cNvSpPr txBox="1"/>
          <p:nvPr/>
        </p:nvSpPr>
        <p:spPr>
          <a:xfrm>
            <a:off x="8595360" y="2066544"/>
            <a:ext cx="987552" cy="484632"/>
          </a:xfrm>
          <a:prstGeom prst="rect">
            <a:avLst/>
          </a:prstGeom>
          <a:noFill/>
          <a:ln/>
        </p:spPr>
        <p:txBody>
          <a:bodyPr wrap="square" lIns="0" tIns="0" rIns="0" bIns="0" rtlCol="0" anchor="ctr"/>
          <a:lstStyle/>
          <a:p>
            <a:pPr algn="ctr" indent="0" marL="0">
              <a:buNone/>
            </a:pPr>
            <a:r>
              <a:rPr lang="en-US" sz="1000" dirty="0">
                <a:solidFill>
                  <a:srgbClr val="08A6A6"/>
                </a:solidFill>
                <a:latin typeface="IBM Plex Sans" pitchFamily="34" charset="0"/>
                <a:ea typeface="IBM Plex Sans" pitchFamily="34" charset="-122"/>
                <a:cs typeface="IBM Plex Sans" pitchFamily="34" charset="-120"/>
              </a:rPr>
              <a:t>Secure</a:t>
            </a:r>
            <a:endParaRPr lang="en-US" sz="1000" dirty="0"/>
          </a:p>
        </p:txBody>
      </p:sp>
      <p:sp>
        <p:nvSpPr>
          <p:cNvPr id="11" name="Shape 9"/>
          <p:cNvSpPr/>
          <p:nvPr/>
        </p:nvSpPr>
        <p:spPr>
          <a:xfrm>
            <a:off x="9674352" y="2066544"/>
            <a:ext cx="987552" cy="484632"/>
          </a:xfrm>
          <a:prstGeom prst="roundRect">
            <a:avLst>
              <a:gd name="adj" fmla="val 18868"/>
            </a:avLst>
          </a:prstGeom>
          <a:solidFill>
            <a:srgbClr val="FFFFFF"/>
          </a:solidFill>
          <a:ln w="15875">
            <a:solidFill>
              <a:srgbClr val="F4B942"/>
            </a:solidFill>
            <a:prstDash val="solid"/>
          </a:ln>
        </p:spPr>
      </p:sp>
      <p:sp>
        <p:nvSpPr>
          <p:cNvPr id="12" name="Text 10"/>
          <p:cNvSpPr txBox="1"/>
          <p:nvPr/>
        </p:nvSpPr>
        <p:spPr>
          <a:xfrm>
            <a:off x="9674352" y="2066544"/>
            <a:ext cx="987552" cy="484632"/>
          </a:xfrm>
          <a:prstGeom prst="rect">
            <a:avLst/>
          </a:prstGeom>
          <a:noFill/>
          <a:ln/>
        </p:spPr>
        <p:txBody>
          <a:bodyPr wrap="square" lIns="0" tIns="0" rIns="0" bIns="0" rtlCol="0" anchor="ctr"/>
          <a:lstStyle/>
          <a:p>
            <a:pPr algn="ctr" indent="0" marL="0">
              <a:buNone/>
            </a:pPr>
            <a:r>
              <a:rPr lang="en-US" sz="1000" dirty="0">
                <a:solidFill>
                  <a:srgbClr val="F4B942"/>
                </a:solidFill>
                <a:latin typeface="IBM Plex Sans" pitchFamily="34" charset="0"/>
                <a:ea typeface="IBM Plex Sans" pitchFamily="34" charset="-122"/>
                <a:cs typeface="IBM Plex Sans" pitchFamily="34" charset="-120"/>
              </a:rPr>
              <a:t>Revise</a:t>
            </a:r>
            <a:endParaRPr lang="en-US" sz="1000" dirty="0"/>
          </a:p>
        </p:txBody>
      </p:sp>
      <p:sp>
        <p:nvSpPr>
          <p:cNvPr id="13" name="Shape 11"/>
          <p:cNvSpPr/>
          <p:nvPr/>
        </p:nvSpPr>
        <p:spPr>
          <a:xfrm>
            <a:off x="10753344" y="2066544"/>
            <a:ext cx="987552" cy="484632"/>
          </a:xfrm>
          <a:prstGeom prst="roundRect">
            <a:avLst>
              <a:gd name="adj" fmla="val 18868"/>
            </a:avLst>
          </a:prstGeom>
          <a:solidFill>
            <a:srgbClr val="FFFFFF"/>
          </a:solidFill>
          <a:ln w="15875">
            <a:solidFill>
              <a:srgbClr val="E2574C"/>
            </a:solidFill>
            <a:prstDash val="solid"/>
          </a:ln>
        </p:spPr>
      </p:sp>
      <p:sp>
        <p:nvSpPr>
          <p:cNvPr id="14" name="Text 12"/>
          <p:cNvSpPr txBox="1"/>
          <p:nvPr/>
        </p:nvSpPr>
        <p:spPr>
          <a:xfrm>
            <a:off x="10753344" y="2066544"/>
            <a:ext cx="987552" cy="484632"/>
          </a:xfrm>
          <a:prstGeom prst="rect">
            <a:avLst/>
          </a:prstGeom>
          <a:noFill/>
          <a:ln/>
        </p:spPr>
        <p:txBody>
          <a:bodyPr wrap="square" lIns="0" tIns="0" rIns="0" bIns="0" rtlCol="0" anchor="ctr"/>
          <a:lstStyle/>
          <a:p>
            <a:pPr algn="ctr" indent="0" marL="0">
              <a:buNone/>
            </a:pPr>
            <a:r>
              <a:rPr lang="en-US" sz="1000" dirty="0">
                <a:solidFill>
                  <a:srgbClr val="E2574C"/>
                </a:solidFill>
                <a:latin typeface="IBM Plex Sans" pitchFamily="34" charset="0"/>
                <a:ea typeface="IBM Plex Sans" pitchFamily="34" charset="-122"/>
                <a:cs typeface="IBM Plex Sans" pitchFamily="34" charset="-120"/>
              </a:rPr>
              <a:t>Focus here</a:t>
            </a:r>
            <a:endParaRPr lang="en-US" sz="1000" dirty="0"/>
          </a:p>
        </p:txBody>
      </p:sp>
      <p:sp>
        <p:nvSpPr>
          <p:cNvPr id="15" name="Shape 13"/>
          <p:cNvSpPr/>
          <p:nvPr/>
        </p:nvSpPr>
        <p:spPr>
          <a:xfrm>
            <a:off x="502920" y="2880360"/>
            <a:ext cx="7863840" cy="777240"/>
          </a:xfrm>
          <a:prstGeom prst="roundRect">
            <a:avLst>
              <a:gd name="adj" fmla="val 14118"/>
            </a:avLst>
          </a:prstGeom>
          <a:solidFill>
            <a:srgbClr val="FFFFFF"/>
          </a:solidFill>
          <a:ln w="15875">
            <a:solidFill>
              <a:srgbClr val="D9DEE7"/>
            </a:solidFill>
            <a:prstDash val="solid"/>
          </a:ln>
        </p:spPr>
      </p:sp>
      <p:sp>
        <p:nvSpPr>
          <p:cNvPr id="16" name="Text 14"/>
          <p:cNvSpPr txBox="1"/>
          <p:nvPr/>
        </p:nvSpPr>
        <p:spPr>
          <a:xfrm>
            <a:off x="914400" y="2880360"/>
            <a:ext cx="7132320" cy="777240"/>
          </a:xfrm>
          <a:prstGeom prst="rect">
            <a:avLst/>
          </a:prstGeom>
          <a:noFill/>
          <a:ln/>
        </p:spPr>
        <p:txBody>
          <a:bodyPr wrap="square" lIns="0" tIns="0" rIns="0" bIns="0" rtlCol="0" anchor="ctr"/>
          <a:lstStyle/>
          <a:p>
            <a:pPr indent="0" marL="0">
              <a:buNone/>
            </a:pPr>
            <a:r>
              <a:rPr lang="en-US" sz="1800" dirty="0">
                <a:solidFill>
                  <a:srgbClr val="101828"/>
                </a:solidFill>
                <a:latin typeface="IBM Plex Sans" pitchFamily="34" charset="0"/>
                <a:ea typeface="IBM Plex Sans" pitchFamily="34" charset="-122"/>
                <a:cs typeface="IBM Plex Sans" pitchFamily="34" charset="-120"/>
              </a:rPr>
              <a:t>Coding a length check and a format check</a:t>
            </a:r>
            <a:endParaRPr lang="en-US" sz="1800" dirty="0"/>
          </a:p>
        </p:txBody>
      </p:sp>
      <p:sp>
        <p:nvSpPr>
          <p:cNvPr id="17" name="Shape 15"/>
          <p:cNvSpPr/>
          <p:nvPr/>
        </p:nvSpPr>
        <p:spPr>
          <a:xfrm>
            <a:off x="8595360" y="3026664"/>
            <a:ext cx="987552" cy="484632"/>
          </a:xfrm>
          <a:prstGeom prst="roundRect">
            <a:avLst>
              <a:gd name="adj" fmla="val 18868"/>
            </a:avLst>
          </a:prstGeom>
          <a:solidFill>
            <a:srgbClr val="FFFFFF"/>
          </a:solidFill>
          <a:ln w="15875">
            <a:solidFill>
              <a:srgbClr val="08A6A6"/>
            </a:solidFill>
            <a:prstDash val="solid"/>
          </a:ln>
        </p:spPr>
      </p:sp>
      <p:sp>
        <p:nvSpPr>
          <p:cNvPr id="18" name="Text 16"/>
          <p:cNvSpPr txBox="1"/>
          <p:nvPr/>
        </p:nvSpPr>
        <p:spPr>
          <a:xfrm>
            <a:off x="8595360" y="3026664"/>
            <a:ext cx="987552" cy="484632"/>
          </a:xfrm>
          <a:prstGeom prst="rect">
            <a:avLst/>
          </a:prstGeom>
          <a:noFill/>
          <a:ln/>
        </p:spPr>
        <p:txBody>
          <a:bodyPr wrap="square" lIns="0" tIns="0" rIns="0" bIns="0" rtlCol="0" anchor="ctr"/>
          <a:lstStyle/>
          <a:p>
            <a:pPr algn="ctr" indent="0" marL="0">
              <a:buNone/>
            </a:pPr>
            <a:r>
              <a:rPr lang="en-US" sz="1000" dirty="0">
                <a:solidFill>
                  <a:srgbClr val="08A6A6"/>
                </a:solidFill>
                <a:latin typeface="IBM Plex Sans" pitchFamily="34" charset="0"/>
                <a:ea typeface="IBM Plex Sans" pitchFamily="34" charset="-122"/>
                <a:cs typeface="IBM Plex Sans" pitchFamily="34" charset="-120"/>
              </a:rPr>
              <a:t>Secure</a:t>
            </a:r>
            <a:endParaRPr lang="en-US" sz="1000" dirty="0"/>
          </a:p>
        </p:txBody>
      </p:sp>
      <p:sp>
        <p:nvSpPr>
          <p:cNvPr id="19" name="Shape 17"/>
          <p:cNvSpPr/>
          <p:nvPr/>
        </p:nvSpPr>
        <p:spPr>
          <a:xfrm>
            <a:off x="9674352" y="3026664"/>
            <a:ext cx="987552" cy="484632"/>
          </a:xfrm>
          <a:prstGeom prst="roundRect">
            <a:avLst>
              <a:gd name="adj" fmla="val 18868"/>
            </a:avLst>
          </a:prstGeom>
          <a:solidFill>
            <a:srgbClr val="FFFFFF"/>
          </a:solidFill>
          <a:ln w="15875">
            <a:solidFill>
              <a:srgbClr val="F4B942"/>
            </a:solidFill>
            <a:prstDash val="solid"/>
          </a:ln>
        </p:spPr>
      </p:sp>
      <p:sp>
        <p:nvSpPr>
          <p:cNvPr id="20" name="Text 18"/>
          <p:cNvSpPr txBox="1"/>
          <p:nvPr/>
        </p:nvSpPr>
        <p:spPr>
          <a:xfrm>
            <a:off x="9674352" y="3026664"/>
            <a:ext cx="987552" cy="484632"/>
          </a:xfrm>
          <a:prstGeom prst="rect">
            <a:avLst/>
          </a:prstGeom>
          <a:noFill/>
          <a:ln/>
        </p:spPr>
        <p:txBody>
          <a:bodyPr wrap="square" lIns="0" tIns="0" rIns="0" bIns="0" rtlCol="0" anchor="ctr"/>
          <a:lstStyle/>
          <a:p>
            <a:pPr algn="ctr" indent="0" marL="0">
              <a:buNone/>
            </a:pPr>
            <a:r>
              <a:rPr lang="en-US" sz="1000" dirty="0">
                <a:solidFill>
                  <a:srgbClr val="F4B942"/>
                </a:solidFill>
                <a:latin typeface="IBM Plex Sans" pitchFamily="34" charset="0"/>
                <a:ea typeface="IBM Plex Sans" pitchFamily="34" charset="-122"/>
                <a:cs typeface="IBM Plex Sans" pitchFamily="34" charset="-120"/>
              </a:rPr>
              <a:t>Revise</a:t>
            </a:r>
            <a:endParaRPr lang="en-US" sz="1000" dirty="0"/>
          </a:p>
        </p:txBody>
      </p:sp>
      <p:sp>
        <p:nvSpPr>
          <p:cNvPr id="21" name="Shape 19"/>
          <p:cNvSpPr/>
          <p:nvPr/>
        </p:nvSpPr>
        <p:spPr>
          <a:xfrm>
            <a:off x="10753344" y="3026664"/>
            <a:ext cx="987552" cy="484632"/>
          </a:xfrm>
          <a:prstGeom prst="roundRect">
            <a:avLst>
              <a:gd name="adj" fmla="val 18868"/>
            </a:avLst>
          </a:prstGeom>
          <a:solidFill>
            <a:srgbClr val="FFFFFF"/>
          </a:solidFill>
          <a:ln w="15875">
            <a:solidFill>
              <a:srgbClr val="E2574C"/>
            </a:solidFill>
            <a:prstDash val="solid"/>
          </a:ln>
        </p:spPr>
      </p:sp>
      <p:sp>
        <p:nvSpPr>
          <p:cNvPr id="22" name="Text 20"/>
          <p:cNvSpPr txBox="1"/>
          <p:nvPr/>
        </p:nvSpPr>
        <p:spPr>
          <a:xfrm>
            <a:off x="10753344" y="3026664"/>
            <a:ext cx="987552" cy="484632"/>
          </a:xfrm>
          <a:prstGeom prst="rect">
            <a:avLst/>
          </a:prstGeom>
          <a:noFill/>
          <a:ln/>
        </p:spPr>
        <p:txBody>
          <a:bodyPr wrap="square" lIns="0" tIns="0" rIns="0" bIns="0" rtlCol="0" anchor="ctr"/>
          <a:lstStyle/>
          <a:p>
            <a:pPr algn="ctr" indent="0" marL="0">
              <a:buNone/>
            </a:pPr>
            <a:r>
              <a:rPr lang="en-US" sz="1000" dirty="0">
                <a:solidFill>
                  <a:srgbClr val="E2574C"/>
                </a:solidFill>
                <a:latin typeface="IBM Plex Sans" pitchFamily="34" charset="0"/>
                <a:ea typeface="IBM Plex Sans" pitchFamily="34" charset="-122"/>
                <a:cs typeface="IBM Plex Sans" pitchFamily="34" charset="-120"/>
              </a:rPr>
              <a:t>Focus here</a:t>
            </a:r>
            <a:endParaRPr lang="en-US" sz="1000" dirty="0"/>
          </a:p>
        </p:txBody>
      </p:sp>
      <p:sp>
        <p:nvSpPr>
          <p:cNvPr id="23" name="Shape 21"/>
          <p:cNvSpPr/>
          <p:nvPr/>
        </p:nvSpPr>
        <p:spPr>
          <a:xfrm>
            <a:off x="502920" y="3840480"/>
            <a:ext cx="7863840" cy="777240"/>
          </a:xfrm>
          <a:prstGeom prst="roundRect">
            <a:avLst>
              <a:gd name="adj" fmla="val 14118"/>
            </a:avLst>
          </a:prstGeom>
          <a:solidFill>
            <a:srgbClr val="FFFFFF"/>
          </a:solidFill>
          <a:ln w="15875">
            <a:solidFill>
              <a:srgbClr val="D9DEE7"/>
            </a:solidFill>
            <a:prstDash val="solid"/>
          </a:ln>
        </p:spPr>
      </p:sp>
      <p:sp>
        <p:nvSpPr>
          <p:cNvPr id="24" name="Text 22"/>
          <p:cNvSpPr txBox="1"/>
          <p:nvPr/>
        </p:nvSpPr>
        <p:spPr>
          <a:xfrm>
            <a:off x="914400" y="3840480"/>
            <a:ext cx="7132320" cy="777240"/>
          </a:xfrm>
          <a:prstGeom prst="rect">
            <a:avLst/>
          </a:prstGeom>
          <a:noFill/>
          <a:ln/>
        </p:spPr>
        <p:txBody>
          <a:bodyPr wrap="square" lIns="0" tIns="0" rIns="0" bIns="0" rtlCol="0" anchor="ctr"/>
          <a:lstStyle/>
          <a:p>
            <a:pPr indent="0" marL="0">
              <a:buNone/>
            </a:pPr>
            <a:r>
              <a:rPr lang="en-US" sz="1800" dirty="0">
                <a:solidFill>
                  <a:srgbClr val="101828"/>
                </a:solidFill>
                <a:latin typeface="IBM Plex Sans" pitchFamily="34" charset="0"/>
                <a:ea typeface="IBM Plex Sans" pitchFamily="34" charset="-122"/>
                <a:cs typeface="IBM Plex Sans" pitchFamily="34" charset="-120"/>
              </a:rPr>
              <a:t>Writing a validation loop and an authentication check</a:t>
            </a:r>
            <a:endParaRPr lang="en-US" sz="1800" dirty="0"/>
          </a:p>
        </p:txBody>
      </p:sp>
      <p:sp>
        <p:nvSpPr>
          <p:cNvPr id="25" name="Shape 23"/>
          <p:cNvSpPr/>
          <p:nvPr/>
        </p:nvSpPr>
        <p:spPr>
          <a:xfrm>
            <a:off x="8595360" y="3986784"/>
            <a:ext cx="987552" cy="484632"/>
          </a:xfrm>
          <a:prstGeom prst="roundRect">
            <a:avLst>
              <a:gd name="adj" fmla="val 18868"/>
            </a:avLst>
          </a:prstGeom>
          <a:solidFill>
            <a:srgbClr val="FFFFFF"/>
          </a:solidFill>
          <a:ln w="15875">
            <a:solidFill>
              <a:srgbClr val="08A6A6"/>
            </a:solidFill>
            <a:prstDash val="solid"/>
          </a:ln>
        </p:spPr>
      </p:sp>
      <p:sp>
        <p:nvSpPr>
          <p:cNvPr id="26" name="Text 24"/>
          <p:cNvSpPr txBox="1"/>
          <p:nvPr/>
        </p:nvSpPr>
        <p:spPr>
          <a:xfrm>
            <a:off x="8595360" y="3986784"/>
            <a:ext cx="987552" cy="484632"/>
          </a:xfrm>
          <a:prstGeom prst="rect">
            <a:avLst/>
          </a:prstGeom>
          <a:noFill/>
          <a:ln/>
        </p:spPr>
        <p:txBody>
          <a:bodyPr wrap="square" lIns="0" tIns="0" rIns="0" bIns="0" rtlCol="0" anchor="ctr"/>
          <a:lstStyle/>
          <a:p>
            <a:pPr algn="ctr" indent="0" marL="0">
              <a:buNone/>
            </a:pPr>
            <a:r>
              <a:rPr lang="en-US" sz="1000" dirty="0">
                <a:solidFill>
                  <a:srgbClr val="08A6A6"/>
                </a:solidFill>
                <a:latin typeface="IBM Plex Sans" pitchFamily="34" charset="0"/>
                <a:ea typeface="IBM Plex Sans" pitchFamily="34" charset="-122"/>
                <a:cs typeface="IBM Plex Sans" pitchFamily="34" charset="-120"/>
              </a:rPr>
              <a:t>Secure</a:t>
            </a:r>
            <a:endParaRPr lang="en-US" sz="1000" dirty="0"/>
          </a:p>
        </p:txBody>
      </p:sp>
      <p:sp>
        <p:nvSpPr>
          <p:cNvPr id="27" name="Shape 25"/>
          <p:cNvSpPr/>
          <p:nvPr/>
        </p:nvSpPr>
        <p:spPr>
          <a:xfrm>
            <a:off x="9674352" y="3986784"/>
            <a:ext cx="987552" cy="484632"/>
          </a:xfrm>
          <a:prstGeom prst="roundRect">
            <a:avLst>
              <a:gd name="adj" fmla="val 18868"/>
            </a:avLst>
          </a:prstGeom>
          <a:solidFill>
            <a:srgbClr val="FFFFFF"/>
          </a:solidFill>
          <a:ln w="15875">
            <a:solidFill>
              <a:srgbClr val="F4B942"/>
            </a:solidFill>
            <a:prstDash val="solid"/>
          </a:ln>
        </p:spPr>
      </p:sp>
      <p:sp>
        <p:nvSpPr>
          <p:cNvPr id="28" name="Text 26"/>
          <p:cNvSpPr txBox="1"/>
          <p:nvPr/>
        </p:nvSpPr>
        <p:spPr>
          <a:xfrm>
            <a:off x="9674352" y="3986784"/>
            <a:ext cx="987552" cy="484632"/>
          </a:xfrm>
          <a:prstGeom prst="rect">
            <a:avLst/>
          </a:prstGeom>
          <a:noFill/>
          <a:ln/>
        </p:spPr>
        <p:txBody>
          <a:bodyPr wrap="square" lIns="0" tIns="0" rIns="0" bIns="0" rtlCol="0" anchor="ctr"/>
          <a:lstStyle/>
          <a:p>
            <a:pPr algn="ctr" indent="0" marL="0">
              <a:buNone/>
            </a:pPr>
            <a:r>
              <a:rPr lang="en-US" sz="1000" dirty="0">
                <a:solidFill>
                  <a:srgbClr val="F4B942"/>
                </a:solidFill>
                <a:latin typeface="IBM Plex Sans" pitchFamily="34" charset="0"/>
                <a:ea typeface="IBM Plex Sans" pitchFamily="34" charset="-122"/>
                <a:cs typeface="IBM Plex Sans" pitchFamily="34" charset="-120"/>
              </a:rPr>
              <a:t>Revise</a:t>
            </a:r>
            <a:endParaRPr lang="en-US" sz="1000" dirty="0"/>
          </a:p>
        </p:txBody>
      </p:sp>
      <p:sp>
        <p:nvSpPr>
          <p:cNvPr id="29" name="Shape 27"/>
          <p:cNvSpPr/>
          <p:nvPr/>
        </p:nvSpPr>
        <p:spPr>
          <a:xfrm>
            <a:off x="10753344" y="3986784"/>
            <a:ext cx="987552" cy="484632"/>
          </a:xfrm>
          <a:prstGeom prst="roundRect">
            <a:avLst>
              <a:gd name="adj" fmla="val 18868"/>
            </a:avLst>
          </a:prstGeom>
          <a:solidFill>
            <a:srgbClr val="FFFFFF"/>
          </a:solidFill>
          <a:ln w="15875">
            <a:solidFill>
              <a:srgbClr val="E2574C"/>
            </a:solidFill>
            <a:prstDash val="solid"/>
          </a:ln>
        </p:spPr>
      </p:sp>
      <p:sp>
        <p:nvSpPr>
          <p:cNvPr id="30" name="Text 28"/>
          <p:cNvSpPr txBox="1"/>
          <p:nvPr/>
        </p:nvSpPr>
        <p:spPr>
          <a:xfrm>
            <a:off x="10753344" y="3986784"/>
            <a:ext cx="987552" cy="484632"/>
          </a:xfrm>
          <a:prstGeom prst="rect">
            <a:avLst/>
          </a:prstGeom>
          <a:noFill/>
          <a:ln/>
        </p:spPr>
        <p:txBody>
          <a:bodyPr wrap="square" lIns="0" tIns="0" rIns="0" bIns="0" rtlCol="0" anchor="ctr"/>
          <a:lstStyle/>
          <a:p>
            <a:pPr algn="ctr" indent="0" marL="0">
              <a:buNone/>
            </a:pPr>
            <a:r>
              <a:rPr lang="en-US" sz="1000" dirty="0">
                <a:solidFill>
                  <a:srgbClr val="E2574C"/>
                </a:solidFill>
                <a:latin typeface="IBM Plex Sans" pitchFamily="34" charset="0"/>
                <a:ea typeface="IBM Plex Sans" pitchFamily="34" charset="-122"/>
                <a:cs typeface="IBM Plex Sans" pitchFamily="34" charset="-120"/>
              </a:rPr>
              <a:t>Focus here</a:t>
            </a:r>
            <a:endParaRPr lang="en-US" sz="1000" dirty="0"/>
          </a:p>
        </p:txBody>
      </p:sp>
      <p:sp>
        <p:nvSpPr>
          <p:cNvPr id="31" name="Text 29"/>
          <p:cNvSpPr txBox="1"/>
          <p:nvPr/>
        </p:nvSpPr>
        <p:spPr>
          <a:xfrm>
            <a:off x="502920" y="5074920"/>
            <a:ext cx="11155680" cy="548640"/>
          </a:xfrm>
          <a:prstGeom prst="rect">
            <a:avLst/>
          </a:prstGeom>
          <a:noFill/>
          <a:ln/>
        </p:spPr>
        <p:txBody>
          <a:bodyPr wrap="square" lIns="0" tIns="0" rIns="0" bIns="0" rtlCol="0" anchor="ctr"/>
          <a:lstStyle/>
          <a:p>
            <a:pPr indent="0" marL="0">
              <a:buNone/>
            </a:pPr>
            <a:r>
              <a:rPr lang="en-US" sz="1500" dirty="0">
                <a:solidFill>
                  <a:srgbClr val="667085"/>
                </a:solidFill>
                <a:latin typeface="IBM Plex Sans" pitchFamily="34" charset="0"/>
                <a:ea typeface="IBM Plex Sans" pitchFamily="34" charset="-122"/>
                <a:cs typeface="IBM Plex Sans" pitchFamily="34" charset="-120"/>
              </a:rPr>
              <a:t>Anything marked Focus here: reopen Gatehouse and use review mode on the questions you got wrong.</a:t>
            </a:r>
            <a:endParaRPr lang="en-US" sz="15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Revise 360 Ltd</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Python programming  |  Lesson 12 — Gatehouse</dc:title>
  <dc:subject>OCR J277 GCSE Computer Science</dc:subject>
  <dc:creator>Revise 360 Ltd</dc:creator>
  <cp:lastModifiedBy>Revise 360 Ltd</cp:lastModifiedBy>
  <cp:revision>1</cp:revision>
  <dcterms:created xsi:type="dcterms:W3CDTF">2026-10-02T07:59:13Z</dcterms:created>
  <dcterms:modified xsi:type="dcterms:W3CDTF">2026-10-02T07:59:13Z</dcterms:modified>
</cp:coreProperties>
</file>