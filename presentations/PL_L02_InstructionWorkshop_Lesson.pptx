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48578dd1ff4651" /><Relationship Type="http://schemas.openxmlformats.org/officeDocument/2006/relationships/extended-properties" Target="/docProps/app.xml" Id="R9b7460f6683d46e7" /><Relationship Type="http://schemas.openxmlformats.org/officeDocument/2006/relationships/officeDocument" Target="/ppt/presentation.xml" Id="R0047b669c8734d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f97ec5fcad4c28"/>
  </p:sldMasterIdLst>
  <p:notesMasterIdLst>
    <p:notesMasterId xmlns:r="http://schemas.openxmlformats.org/officeDocument/2006/relationships" r:id="R28088cd258c24056"/>
  </p:notesMasterIdLst>
  <p:sldIdLst>
    <p:sldId xmlns:r="http://schemas.openxmlformats.org/officeDocument/2006/relationships" id="256" r:id="R37bc61c7e5c74f23"/>
    <p:sldId xmlns:r="http://schemas.openxmlformats.org/officeDocument/2006/relationships" id="257" r:id="R07dcaca22fbf4adf"/>
    <p:sldId xmlns:r="http://schemas.openxmlformats.org/officeDocument/2006/relationships" id="258" r:id="R38dae5a33b9247c4"/>
    <p:sldId xmlns:r="http://schemas.openxmlformats.org/officeDocument/2006/relationships" id="259" r:id="R03bd35c032bf4911"/>
    <p:sldId xmlns:r="http://schemas.openxmlformats.org/officeDocument/2006/relationships" id="260" r:id="R702f2ad669444aa6"/>
    <p:sldId xmlns:r="http://schemas.openxmlformats.org/officeDocument/2006/relationships" id="261" r:id="R4a87516b945f469f"/>
    <p:sldId xmlns:r="http://schemas.openxmlformats.org/officeDocument/2006/relationships" id="262" r:id="Rb33ef6cf09a14c66"/>
    <p:sldId xmlns:r="http://schemas.openxmlformats.org/officeDocument/2006/relationships" id="263" r:id="Rdcdb7393c64b4ce0"/>
    <p:sldId xmlns:r="http://schemas.openxmlformats.org/officeDocument/2006/relationships" id="264" r:id="R1ea551553f164fa6"/>
    <p:sldId xmlns:r="http://schemas.openxmlformats.org/officeDocument/2006/relationships" id="265" r:id="R509653570e3b44da"/>
    <p:sldId xmlns:r="http://schemas.openxmlformats.org/officeDocument/2006/relationships" id="266" r:id="Rb3a1fcc595864632"/>
    <p:sldId xmlns:r="http://schemas.openxmlformats.org/officeDocument/2006/relationships" id="267" r:id="R64dbbb1a793d4320"/>
    <p:sldId xmlns:r="http://schemas.openxmlformats.org/officeDocument/2006/relationships" id="268" r:id="R7b9b2eb8f2b547ea"/>
    <p:sldId xmlns:r="http://schemas.openxmlformats.org/officeDocument/2006/relationships" id="269" r:id="R1c5594b44d9f44f1"/>
    <p:sldId xmlns:r="http://schemas.openxmlformats.org/officeDocument/2006/relationships" id="270" r:id="R19a25882ccbd4032"/>
    <p:sldId xmlns:r="http://schemas.openxmlformats.org/officeDocument/2006/relationships" id="271" r:id="R6a66a934dc814603"/>
    <p:sldId xmlns:r="http://schemas.openxmlformats.org/officeDocument/2006/relationships" id="272" r:id="Rd0d7f99c4e024842"/>
    <p:sldId xmlns:r="http://schemas.openxmlformats.org/officeDocument/2006/relationships" id="273" r:id="R527a1fc9acab4a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8141e299404dee" /><Relationship Type="http://schemas.openxmlformats.org/officeDocument/2006/relationships/slideMaster" Target="/ppt/slideMasters/slideMaster1.xml" Id="R6df97ec5fcad4c28" /><Relationship Type="http://schemas.openxmlformats.org/officeDocument/2006/relationships/notesMaster" Target="/ppt/notesMasters/notesMaster1.xml" Id="R28088cd258c24056" /><Relationship Type="http://schemas.openxmlformats.org/officeDocument/2006/relationships/presProps" Target="/ppt/presProps.xml" Id="R9061a1d0bec44a33" /><Relationship Type="http://schemas.openxmlformats.org/officeDocument/2006/relationships/tableStyles" Target="/ppt/tableStyles.xml" Id="Rd22087e28f2c4f51" /><Relationship Type="http://schemas.openxmlformats.org/officeDocument/2006/relationships/slide" Target="/ppt/slides/slide1.xml" Id="R37bc61c7e5c74f23" /><Relationship Type="http://schemas.openxmlformats.org/officeDocument/2006/relationships/slide" Target="/ppt/slides/slide2.xml" Id="R07dcaca22fbf4adf" /><Relationship Type="http://schemas.openxmlformats.org/officeDocument/2006/relationships/slide" Target="/ppt/slides/slide3.xml" Id="R38dae5a33b9247c4" /><Relationship Type="http://schemas.openxmlformats.org/officeDocument/2006/relationships/slide" Target="/ppt/slides/slide4.xml" Id="R03bd35c032bf4911" /><Relationship Type="http://schemas.openxmlformats.org/officeDocument/2006/relationships/slide" Target="/ppt/slides/slide5.xml" Id="R702f2ad669444aa6" /><Relationship Type="http://schemas.openxmlformats.org/officeDocument/2006/relationships/slide" Target="/ppt/slides/slide6.xml" Id="R4a87516b945f469f" /><Relationship Type="http://schemas.openxmlformats.org/officeDocument/2006/relationships/slide" Target="/ppt/slides/slide7.xml" Id="Rb33ef6cf09a14c66" /><Relationship Type="http://schemas.openxmlformats.org/officeDocument/2006/relationships/slide" Target="/ppt/slides/slide8.xml" Id="Rdcdb7393c64b4ce0" /><Relationship Type="http://schemas.openxmlformats.org/officeDocument/2006/relationships/slide" Target="/ppt/slides/slide9.xml" Id="R1ea551553f164fa6" /><Relationship Type="http://schemas.openxmlformats.org/officeDocument/2006/relationships/slide" Target="/ppt/slides/slide10.xml" Id="R509653570e3b44da" /><Relationship Type="http://schemas.openxmlformats.org/officeDocument/2006/relationships/slide" Target="/ppt/slides/slide11.xml" Id="Rb3a1fcc595864632" /><Relationship Type="http://schemas.openxmlformats.org/officeDocument/2006/relationships/slide" Target="/ppt/slides/slide12.xml" Id="R64dbbb1a793d4320" /><Relationship Type="http://schemas.openxmlformats.org/officeDocument/2006/relationships/slide" Target="/ppt/slides/slide13.xml" Id="R7b9b2eb8f2b547ea" /><Relationship Type="http://schemas.openxmlformats.org/officeDocument/2006/relationships/slide" Target="/ppt/slides/slide14.xml" Id="R1c5594b44d9f44f1" /><Relationship Type="http://schemas.openxmlformats.org/officeDocument/2006/relationships/slide" Target="/ppt/slides/slide15.xml" Id="R19a25882ccbd4032" /><Relationship Type="http://schemas.openxmlformats.org/officeDocument/2006/relationships/slide" Target="/ppt/slides/slide16.xml" Id="R6a66a934dc814603" /><Relationship Type="http://schemas.openxmlformats.org/officeDocument/2006/relationships/slide" Target="/ppt/slides/slide17.xml" Id="Rd0d7f99c4e024842" /><Relationship Type="http://schemas.openxmlformats.org/officeDocument/2006/relationships/slide" Target="/ppt/slides/slide18.xml" Id="R527a1fc9acab4a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43ca1786564f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76be4a3ff64a3f" /><Relationship Type="http://schemas.openxmlformats.org/officeDocument/2006/relationships/notesMaster" Target="/ppt/notesMasters/notesMaster1.xml" Id="R7ddd19a1b45d48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5c3c1b55df47ca" /><Relationship Type="http://schemas.openxmlformats.org/officeDocument/2006/relationships/notesMaster" Target="/ppt/notesMasters/notesMaster1.xml" Id="Rc29905bb7a3848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086659ee8f4bef" /><Relationship Type="http://schemas.openxmlformats.org/officeDocument/2006/relationships/notesMaster" Target="/ppt/notesMasters/notesMaster1.xml" Id="Rcdf5fc9d5b8047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81689bbbde47a6" /><Relationship Type="http://schemas.openxmlformats.org/officeDocument/2006/relationships/notesMaster" Target="/ppt/notesMasters/notesMaster1.xml" Id="R7cb3b123dcac48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bf590f2b6e44bf" /><Relationship Type="http://schemas.openxmlformats.org/officeDocument/2006/relationships/notesMaster" Target="/ppt/notesMasters/notesMaster1.xml" Id="R91ec75329c1241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acd107a3534ced" /><Relationship Type="http://schemas.openxmlformats.org/officeDocument/2006/relationships/notesMaster" Target="/ppt/notesMasters/notesMaster1.xml" Id="R62ca7341013145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cfb4eedf8e4cde" /><Relationship Type="http://schemas.openxmlformats.org/officeDocument/2006/relationships/notesMaster" Target="/ppt/notesMasters/notesMaster1.xml" Id="R778f5fc5ea8b43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8756ee12aa4b46" /><Relationship Type="http://schemas.openxmlformats.org/officeDocument/2006/relationships/notesMaster" Target="/ppt/notesMasters/notesMaster1.xml" Id="R5e06294e043a49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d87a05847f34f53" /><Relationship Type="http://schemas.openxmlformats.org/officeDocument/2006/relationships/notesMaster" Target="/ppt/notesMasters/notesMaster1.xml" Id="Rbca6c88c697c41f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9980c5a9544dcd" /><Relationship Type="http://schemas.openxmlformats.org/officeDocument/2006/relationships/notesMaster" Target="/ppt/notesMasters/notesMaster1.xml" Id="R251521d04c574d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b56584aaf84368" /><Relationship Type="http://schemas.openxmlformats.org/officeDocument/2006/relationships/notesMaster" Target="/ppt/notesMasters/notesMaster1.xml" Id="R525daee86b0643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85c4305a514d06" /><Relationship Type="http://schemas.openxmlformats.org/officeDocument/2006/relationships/notesMaster" Target="/ppt/notesMasters/notesMaster1.xml" Id="R4d20936aad80435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6fde13e00147f8" /><Relationship Type="http://schemas.openxmlformats.org/officeDocument/2006/relationships/notesMaster" Target="/ppt/notesMasters/notesMaster1.xml" Id="Re8b66bb9cba144a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62d3dad6b064c35" /><Relationship Type="http://schemas.openxmlformats.org/officeDocument/2006/relationships/notesMaster" Target="/ppt/notesMasters/notesMaster1.xml" Id="R4b6c320938c24c1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681ff30d5634eac" /><Relationship Type="http://schemas.openxmlformats.org/officeDocument/2006/relationships/notesMaster" Target="/ppt/notesMasters/notesMaster1.xml" Id="R61a67705d93541f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9849870f4b40de" /><Relationship Type="http://schemas.openxmlformats.org/officeDocument/2006/relationships/notesMaster" Target="/ppt/notesMasters/notesMaster1.xml" Id="R8100594f9f894e7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9201c99aa9f4608" /><Relationship Type="http://schemas.openxmlformats.org/officeDocument/2006/relationships/notesMaster" Target="/ppt/notesMasters/notesMaster1.xml" Id="R1e74601245764c7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cca17e91c85471c" /><Relationship Type="http://schemas.openxmlformats.org/officeDocument/2006/relationships/notesMaster" Target="/ppt/notesMasters/notesMaster1.xml" Id="Rf203702a09c745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66fb9286454f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cfdb74a0974f30" /><Relationship Type="http://schemas.openxmlformats.org/officeDocument/2006/relationships/slideLayout" Target="/ppt/slideLayouts/slideLayout1.xml" Id="R502d7bf389e845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2d7bf389e845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497822ea1468f" /><Relationship Type="http://schemas.openxmlformats.org/officeDocument/2006/relationships/image" Target="/ppt/media/image.png" Id="R1caae7ce9cb04ed6" /><Relationship Type="http://schemas.openxmlformats.org/officeDocument/2006/relationships/image" Target="/ppt/media/image2.png" Id="R9400bf773d80467f" /><Relationship Type="http://schemas.openxmlformats.org/officeDocument/2006/relationships/notesSlide" Target="/ppt/notesSlides/notesSlide1.xml" Id="R24405364be464b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e523d1bc7491f" /><Relationship Type="http://schemas.openxmlformats.org/officeDocument/2006/relationships/image" Target="/ppt/media/image3.png" Id="Rc5aeebd0a6764d03" /><Relationship Type="http://schemas.openxmlformats.org/officeDocument/2006/relationships/notesSlide" Target="/ppt/notesSlides/notesSlide2.xml" Id="R5cc7eda4e3774a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5d92c4bfdf4c66" /><Relationship Type="http://schemas.openxmlformats.org/officeDocument/2006/relationships/image" Target="/ppt/media/image4.png" Id="R33c92dded5b94804" /><Relationship Type="http://schemas.openxmlformats.org/officeDocument/2006/relationships/notesSlide" Target="/ppt/notesSlides/notesSlide3.xml" Id="R87b1f6a69ca044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77702cabd4a59" /><Relationship Type="http://schemas.openxmlformats.org/officeDocument/2006/relationships/image" Target="/ppt/media/image5.png" Id="R0741b8237cdf48fa" /><Relationship Type="http://schemas.openxmlformats.org/officeDocument/2006/relationships/notesSlide" Target="/ppt/notesSlides/notesSlide4.xml" Id="R220e409e47a347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1153531b94065" /><Relationship Type="http://schemas.openxmlformats.org/officeDocument/2006/relationships/image" Target="/ppt/media/image6.png" Id="Rd4efb9cf41384a68" /><Relationship Type="http://schemas.openxmlformats.org/officeDocument/2006/relationships/notesSlide" Target="/ppt/notesSlides/notesSlide5.xml" Id="Rdbda435a0f2840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12fe7b4b64379" /><Relationship Type="http://schemas.openxmlformats.org/officeDocument/2006/relationships/image" Target="/ppt/media/image7.png" Id="Rbbbf3b955fd14a69" /><Relationship Type="http://schemas.openxmlformats.org/officeDocument/2006/relationships/notesSlide" Target="/ppt/notesSlides/notesSlide6.xml" Id="R13ee1eb54c5748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ff4f4f54d4849" /><Relationship Type="http://schemas.openxmlformats.org/officeDocument/2006/relationships/image" Target="/ppt/media/image8.png" Id="R5e66e4b2edfa4d0a" /><Relationship Type="http://schemas.openxmlformats.org/officeDocument/2006/relationships/notesSlide" Target="/ppt/notesSlides/notesSlide7.xml" Id="R1c9ecd0a90774d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b1f23c2504287" /><Relationship Type="http://schemas.openxmlformats.org/officeDocument/2006/relationships/image" Target="/ppt/media/image9.png" Id="R4b488c2df81145fe" /><Relationship Type="http://schemas.openxmlformats.org/officeDocument/2006/relationships/notesSlide" Target="/ppt/notesSlides/notesSlide8.xml" Id="Rff86d6b122fe41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0b9f4d3a34cee" /><Relationship Type="http://schemas.openxmlformats.org/officeDocument/2006/relationships/image" Target="/ppt/media/image10.png" Id="R89c6284ccd6c4ff7" /><Relationship Type="http://schemas.openxmlformats.org/officeDocument/2006/relationships/notesSlide" Target="/ppt/notesSlides/notesSlide9.xml" Id="Rd208f0f10ba34b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2eb6ae078e4169" /><Relationship Type="http://schemas.openxmlformats.org/officeDocument/2006/relationships/image" Target="/ppt/media/image11.png" Id="R3d1354c33b6c44b5" /><Relationship Type="http://schemas.openxmlformats.org/officeDocument/2006/relationships/notesSlide" Target="/ppt/notesSlides/notesSlide10.xml" Id="R80cc527f5d534b6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e9e3d04e44dfa" /><Relationship Type="http://schemas.openxmlformats.org/officeDocument/2006/relationships/image" Target="/ppt/media/image12.png" Id="R8e29af7a19ac4c13" /><Relationship Type="http://schemas.openxmlformats.org/officeDocument/2006/relationships/notesSlide" Target="/ppt/notesSlides/notesSlide11.xml" Id="R4b8dbe520d6045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742b2177846f7" /><Relationship Type="http://schemas.openxmlformats.org/officeDocument/2006/relationships/image" Target="/ppt/media/image13.png" Id="Rce1d67edf31b4935" /><Relationship Type="http://schemas.openxmlformats.org/officeDocument/2006/relationships/notesSlide" Target="/ppt/notesSlides/notesSlide12.xml" Id="R4ea1ecb038ee47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ddcad3eeb4adb" /><Relationship Type="http://schemas.openxmlformats.org/officeDocument/2006/relationships/image" Target="/ppt/media/image14.png" Id="Rdcf9a4c1a7774069" /><Relationship Type="http://schemas.openxmlformats.org/officeDocument/2006/relationships/notesSlide" Target="/ppt/notesSlides/notesSlide13.xml" Id="R720087cdc6424b0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a6a8503e14a77" /><Relationship Type="http://schemas.openxmlformats.org/officeDocument/2006/relationships/image" Target="/ppt/media/image15.png" Id="R63e131222b3d4f57" /><Relationship Type="http://schemas.openxmlformats.org/officeDocument/2006/relationships/notesSlide" Target="/ppt/notesSlides/notesSlide14.xml" Id="R4270a3df685e41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c58f6c33a4442" /><Relationship Type="http://schemas.openxmlformats.org/officeDocument/2006/relationships/image" Target="/ppt/media/image16.png" Id="R3cbfd52481074610" /><Relationship Type="http://schemas.openxmlformats.org/officeDocument/2006/relationships/notesSlide" Target="/ppt/notesSlides/notesSlide15.xml" Id="R96acb021215248a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1ec3f12014de3" /><Relationship Type="http://schemas.openxmlformats.org/officeDocument/2006/relationships/image" Target="/ppt/media/image17.png" Id="R517ed05c63f7498f" /><Relationship Type="http://schemas.openxmlformats.org/officeDocument/2006/relationships/notesSlide" Target="/ppt/notesSlides/notesSlide16.xml" Id="R17d77a3b024b496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66701f0e642a9" /><Relationship Type="http://schemas.openxmlformats.org/officeDocument/2006/relationships/image" Target="/ppt/media/image18.png" Id="Re21cf4fc8b0a4303" /><Relationship Type="http://schemas.openxmlformats.org/officeDocument/2006/relationships/notesSlide" Target="/ppt/notesSlides/notesSlide17.xml" Id="R2fbbdbab28cd42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6ca25811343aa" /><Relationship Type="http://schemas.openxmlformats.org/officeDocument/2006/relationships/image" Target="/ppt/media/image19.png" Id="R28406151e2e64e12" /><Relationship Type="http://schemas.openxmlformats.org/officeDocument/2006/relationships/notesSlide" Target="/ppt/notesSlides/notesSlide18.xml" Id="R827f396d90fd4d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A49B242-0A93-4CAA-A976-B7B85414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7C87B069-4AE3-41FB-8E32-622FAD07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2.5   /   LESSON 02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3815F20-9933-4640-9E82-67A009EF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LANGUAGE CHOICE WORKSHOP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ae7ce9cb04ed6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48E3C81-C842-45B0-92BB-277816F0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18</a:t>
            </a:r>
          </a:p>
        </p:txBody>
      </p:sp>
      <p:sp>
        <p:nvSpPr>
          <p:cNvPr id="6" name="subject">
            <a:extLst xmlns:a="http://schemas.openxmlformats.org/drawingml/2006/main">
              <a:ext uri="{FF2B5EF4-FFF2-40B4-BE49-F238E27FC236}">
                <a16:creationId xmlns:a16="http://schemas.microsoft.com/office/drawing/2014/main" id="{1D1867E6-9160-4B7B-B718-C2045EBD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Language choices</a:t>
            </a:r>
          </a:p>
        </p:txBody>
      </p:sp>
      <p:sp>
        <p:nvSpPr>
          <p:cNvPr id="7" name="cover-key-label">
            <a:extLst xmlns:a="http://schemas.openxmlformats.org/drawingml/2006/main">
              <a:ext uri="{FF2B5EF4-FFF2-40B4-BE49-F238E27FC236}">
                <a16:creationId xmlns:a16="http://schemas.microsoft.com/office/drawing/2014/main" id="{DB6C6EAB-F00F-49E7-BB96-0088CAEA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DO NOW: RESEARCH AND DISCUSS</a:t>
            </a:r>
          </a:p>
        </p:txBody>
      </p:sp>
      <p:sp>
        <p:nvSpPr>
          <p:cNvPr id="8" name="cover-key-question">
            <a:extLst xmlns:a="http://schemas.openxmlformats.org/drawingml/2006/main">
              <a:ext uri="{FF2B5EF4-FFF2-40B4-BE49-F238E27FC236}">
                <a16:creationId xmlns:a16="http://schemas.microsoft.com/office/drawing/2014/main" id="{00081038-3E7F-400E-8756-EE3640E7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7625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Why might a school app and a small hardware routine need different language choices?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00bf773d80467f"/>
          <a:stretch xmlns:a="http://schemas.openxmlformats.org/drawingml/2006/main"/>
        </p:blipFill>
        <p:spPr>
          <a:xfrm xmlns:a="http://schemas.openxmlformats.org/drawingml/2006/main">
            <a:off x="6076950" y="1931789"/>
            <a:ext cx="5400675" cy="337542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0518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29D0D74-D405-4298-8504-19625DD8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C94BCC8-515D-47EA-B6E2-2B7D4AC1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WORKSHEET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B715B87-24C3-4EB0-A531-09F29276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By the end of this lesson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eebd0a6764d03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946EE4D-4656-4BC2-8F50-308BDCE2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4F21E87F-93E4-451F-AB4E-8822ED3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46CD32E7-7220-4C45-83BD-1A75D522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4310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Compare development effort at different language levels.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27D15F66-C79A-48FB-A458-5FCABD71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6D66A0FC-FF53-4CDB-B571-D4D170C6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051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portability and hardware control.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214AB879-F5E1-46A1-B3B7-732C3DA0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47E0FF81-472A-4959-B572-95A0EA47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Justify language choices using project requirements.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43B6C4DF-53E7-4684-A2E0-0FBDE1EF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B7588F05-DB7C-4321-91CF-115D3867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2917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950932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389AE9BD-4456-44D0-A496-4A715994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3D7E3F66-12BD-4737-B732-CF062507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WORKSHEET STARTER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2E71EDE-630B-477B-8324-3C6B882C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before the experience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92dded5b94804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D4CED2EF-8770-4B94-8FF7-8186209C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18</a:t>
            </a:r>
          </a:p>
        </p:txBody>
      </p:sp>
      <p:sp>
        <p:nvSpPr>
          <p:cNvPr id="6" name="worksheet-starter">
            <a:extLst xmlns:a="http://schemas.openxmlformats.org/drawingml/2006/main">
              <a:ext uri="{FF2B5EF4-FFF2-40B4-BE49-F238E27FC236}">
                <a16:creationId xmlns:a16="http://schemas.microsoft.com/office/drawing/2014/main" id="{4CABB616-5B19-458F-ADE4-F0436868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10572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Which is usually easier for a person to understand: high-level source or binary machine code? Give a reason.</a:t>
            </a:r>
          </a:p>
        </p:txBody>
      </p:sp>
    </p:spTree>
    <p:extLst>
      <p:ext uri="{BB962C8B-B14F-4D97-AF65-F5344CB8AC3E}">
        <p14:creationId xmlns:p14="http://schemas.microsoft.com/office/powerpoint/2010/main" val="2061250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CE6C1A7-1190-46F6-B558-07CF48F6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1A9E94E-2324-4A21-8E1F-53F06181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42F7C639-9A4F-4B2E-A66B-E7FC7229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sample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1b8237cdf48fa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810CE3C-06F6-401D-921D-2679EFD1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04B18CF0-64CE-463F-A9B8-6A6A21ED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D57E31F4-31D7-4905-A796-BE34CBF2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86000"/>
            <a:ext cx="99250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High-level source uses readable words and familiar operations. Binary machine code is harder for people to interpret.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F9E7E19B-3986-45FC-B0B8-7910C783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AA142279-1763-4095-BB35-E7C2790B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92561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8B0042C-2776-4B77-8450-5D698DB3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53158093-4E51-4193-8466-193E324E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WORKSHEET KEY TERMS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8721011-60E3-4A46-ACE7-07BEAB79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 quiz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efb9cf41384a68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FC27DE5-76DC-4F16-881C-303A1916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18</a:t>
            </a:r>
          </a:p>
        </p:txBody>
      </p:sp>
      <p:sp>
        <p:nvSpPr>
          <p:cNvPr id="6" name="term-number-0">
            <a:extLst xmlns:a="http://schemas.openxmlformats.org/drawingml/2006/main">
              <a:ext uri="{FF2B5EF4-FFF2-40B4-BE49-F238E27FC236}">
                <a16:creationId xmlns:a16="http://schemas.microsoft.com/office/drawing/2014/main" id="{B76E08EA-1329-4F7D-B904-1FFEF4D2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term-0">
            <a:extLst xmlns:a="http://schemas.openxmlformats.org/drawingml/2006/main">
              <a:ext uri="{FF2B5EF4-FFF2-40B4-BE49-F238E27FC236}">
                <a16:creationId xmlns:a16="http://schemas.microsoft.com/office/drawing/2014/main" id="{072ACAD3-9670-4434-9EBA-05DBFA23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7647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Portability</a:t>
            </a:r>
          </a:p>
        </p:txBody>
      </p:sp>
      <p:sp>
        <p:nvSpPr>
          <p:cNvPr id="8" name="term-number-1">
            <a:extLst xmlns:a="http://schemas.openxmlformats.org/drawingml/2006/main">
              <a:ext uri="{FF2B5EF4-FFF2-40B4-BE49-F238E27FC236}">
                <a16:creationId xmlns:a16="http://schemas.microsoft.com/office/drawing/2014/main" id="{A8F18C87-2E1F-4B72-8996-4CD90B50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term-1">
            <a:extLst xmlns:a="http://schemas.openxmlformats.org/drawingml/2006/main">
              <a:ext uri="{FF2B5EF4-FFF2-40B4-BE49-F238E27FC236}">
                <a16:creationId xmlns:a16="http://schemas.microsoft.com/office/drawing/2014/main" id="{1C1C0B9C-20D9-4654-9F28-D51D1DA9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8622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Maintainability</a:t>
            </a:r>
          </a:p>
        </p:txBody>
      </p:sp>
    </p:spTree>
    <p:extLst>
      <p:ext uri="{BB962C8B-B14F-4D97-AF65-F5344CB8AC3E}">
        <p14:creationId xmlns:p14="http://schemas.microsoft.com/office/powerpoint/2010/main" val="9420321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207CAA27-6A33-4D26-8EEC-DDD6F195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C8C088F-E4C7-463F-A500-13D69523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AF3A2E8-08E7-4B52-8CB0-E9EDFA86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terminology: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bf3b955fd14a69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71FD2F40-F2E4-4894-A4B9-2F16BF1E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18</a:t>
            </a:r>
          </a:p>
        </p:txBody>
      </p:sp>
      <p:sp>
        <p:nvSpPr>
          <p:cNvPr id="6" name="answer-term-0">
            <a:extLst xmlns:a="http://schemas.openxmlformats.org/drawingml/2006/main">
              <a:ext uri="{FF2B5EF4-FFF2-40B4-BE49-F238E27FC236}">
                <a16:creationId xmlns:a16="http://schemas.microsoft.com/office/drawing/2014/main" id="{C05575DA-F440-47EE-AADE-AE15CCD1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Portability</a:t>
            </a:r>
          </a:p>
        </p:txBody>
      </p:sp>
      <p:sp>
        <p:nvSpPr>
          <p:cNvPr id="7" name="answer-definition-0">
            <a:extLst xmlns:a="http://schemas.openxmlformats.org/drawingml/2006/main">
              <a:ext uri="{FF2B5EF4-FFF2-40B4-BE49-F238E27FC236}">
                <a16:creationId xmlns:a16="http://schemas.microsoft.com/office/drawing/2014/main" id="{C6F926E0-3B0C-455B-B77A-C8974AE3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readily a program can be used on another computer system.</a:t>
            </a:r>
          </a:p>
        </p:txBody>
      </p:sp>
      <p:sp>
        <p:nvSpPr>
          <p:cNvPr id="8" name="answer-term-1">
            <a:extLst xmlns:a="http://schemas.openxmlformats.org/drawingml/2006/main">
              <a:ext uri="{FF2B5EF4-FFF2-40B4-BE49-F238E27FC236}">
                <a16:creationId xmlns:a16="http://schemas.microsoft.com/office/drawing/2014/main" id="{C9190DB0-181E-4A8A-9E5E-95B19960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Maintainability</a:t>
            </a:r>
          </a:p>
        </p:txBody>
      </p:sp>
      <p:sp>
        <p:nvSpPr>
          <p:cNvPr id="9" name="answer-definition-1">
            <a:extLst xmlns:a="http://schemas.openxmlformats.org/drawingml/2006/main">
              <a:ext uri="{FF2B5EF4-FFF2-40B4-BE49-F238E27FC236}">
                <a16:creationId xmlns:a16="http://schemas.microsoft.com/office/drawing/2014/main" id="{B865E412-4386-4ED0-B8E9-05D05365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easily programmers can understand and change a program.</a:t>
            </a:r>
          </a:p>
        </p:txBody>
      </p:sp>
    </p:spTree>
    <p:extLst>
      <p:ext uri="{BB962C8B-B14F-4D97-AF65-F5344CB8AC3E}">
        <p14:creationId xmlns:p14="http://schemas.microsoft.com/office/powerpoint/2010/main" val="5443408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BA66B78-BFDC-4298-A4DA-5CB5A770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EDA0D920-036D-4124-8F12-38EB1186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2.5   /   LESSON 02   /   EXPERIENCE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F5191E8A-E142-4BC2-8435-1D8EA13B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Worksheet + experience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66e4b2edfa4d0a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0A45757-2C05-40D6-9E75-84F5AEC8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18</a:t>
            </a:r>
          </a:p>
        </p:txBody>
      </p:sp>
      <p:sp>
        <p:nvSpPr>
          <p:cNvPr id="6" name="open-label">
            <a:extLst xmlns:a="http://schemas.openxmlformats.org/drawingml/2006/main">
              <a:ext uri="{FF2B5EF4-FFF2-40B4-BE49-F238E27FC236}">
                <a16:creationId xmlns:a16="http://schemas.microsoft.com/office/drawing/2014/main" id="{3B14933E-F008-4A1E-B920-32134F7F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01   OPEN THE EXPERIENCE NOW</a:t>
            </a:r>
          </a:p>
        </p:txBody>
      </p:sp>
      <p:sp>
        <p:nvSpPr>
          <p:cNvPr id="7" name="open-body">
            <a:extLst xmlns:a="http://schemas.openxmlformats.org/drawingml/2006/main">
              <a:ext uri="{FF2B5EF4-FFF2-40B4-BE49-F238E27FC236}">
                <a16:creationId xmlns:a16="http://schemas.microsoft.com/office/drawing/2014/main" id="{7A71894B-6674-45BD-B430-F339D03A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Open Language choice workshop in Topic 2.5. Keep the worksheet beside you.</a:t>
            </a:r>
          </a:p>
        </p:txBody>
      </p:sp>
      <p:sp>
        <p:nvSpPr>
          <p:cNvPr id="8" name="station-label">
            <a:extLst xmlns:a="http://schemas.openxmlformats.org/drawingml/2006/main">
              <a:ext uri="{FF2B5EF4-FFF2-40B4-BE49-F238E27FC236}">
                <a16:creationId xmlns:a16="http://schemas.microsoft.com/office/drawing/2014/main" id="{B90E3C20-8F8E-412D-B38A-D521747F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02   SIX STATIONS</a:t>
            </a:r>
          </a:p>
        </p:txBody>
      </p:sp>
      <p:sp>
        <p:nvSpPr>
          <p:cNvPr id="9" name="station-body">
            <a:extLst xmlns:a="http://schemas.openxmlformats.org/drawingml/2006/main">
              <a:ext uri="{FF2B5EF4-FFF2-40B4-BE49-F238E27FC236}">
                <a16:creationId xmlns:a16="http://schemas.microsoft.com/office/drawing/2014/main" id="{B45B51EE-5945-44D5-9C7B-668BC232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 each station, write key facts IN YOUR OWN WORDS. Answer its worksheet challenge before tapping the badge.</a:t>
            </a:r>
          </a:p>
        </p:txBody>
      </p:sp>
      <p:sp>
        <p:nvSpPr>
          <p:cNvPr id="10" name="finish-label">
            <a:extLst xmlns:a="http://schemas.openxmlformats.org/drawingml/2006/main">
              <a:ext uri="{FF2B5EF4-FFF2-40B4-BE49-F238E27FC236}">
                <a16:creationId xmlns:a16="http://schemas.microsoft.com/office/drawing/2014/main" id="{0B3F37C6-3223-43C3-B5C5-0734100D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03   FINAL CHALLENGE</a:t>
            </a:r>
          </a:p>
        </p:txBody>
      </p:sp>
      <p:sp>
        <p:nvSpPr>
          <p:cNvPr id="11" name="finish-body">
            <a:extLst xmlns:a="http://schemas.openxmlformats.org/drawingml/2006/main">
              <a:ext uri="{FF2B5EF4-FFF2-40B4-BE49-F238E27FC236}">
                <a16:creationId xmlns:a16="http://schemas.microsoft.com/office/drawing/2014/main" id="{23A69AAC-E055-45B3-BEBA-D02CB812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Attempt the worksheet final challenge before tapping the star. Record your score, then use review mode to correct mistakes.</a:t>
            </a:r>
          </a:p>
        </p:txBody>
      </p:sp>
      <p:sp>
        <p:nvSpPr>
          <p:cNvPr id="12" name="plenary-label">
            <a:extLst xmlns:a="http://schemas.openxmlformats.org/drawingml/2006/main">
              <a:ext uri="{FF2B5EF4-FFF2-40B4-BE49-F238E27FC236}">
                <a16:creationId xmlns:a16="http://schemas.microsoft.com/office/drawing/2014/main" id="{97D05B46-012B-43E3-B865-D49BCF33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04   PLENARY</a:t>
            </a:r>
          </a:p>
        </p:txBody>
      </p:sp>
      <p:sp>
        <p:nvSpPr>
          <p:cNvPr id="13" name="plenary-body">
            <a:extLst xmlns:a="http://schemas.openxmlformats.org/drawingml/2006/main">
              <a:ext uri="{FF2B5EF4-FFF2-40B4-BE49-F238E27FC236}">
                <a16:creationId xmlns:a16="http://schemas.microsoft.com/office/drawing/2014/main" id="{93D16BC3-41C8-47E2-B0D7-08EC3C3C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Finish the experience in this lesson. Near the end, close it for the plenary knowledge checks.</a:t>
            </a:r>
          </a:p>
        </p:txBody>
      </p:sp>
    </p:spTree>
    <p:extLst>
      <p:ext uri="{BB962C8B-B14F-4D97-AF65-F5344CB8AC3E}">
        <p14:creationId xmlns:p14="http://schemas.microsoft.com/office/powerpoint/2010/main" val="87235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8C536E9-5669-4451-9AAB-579BAC1A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9AAF36-B8DE-4251-8DE6-E6BCCD54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722D1D8-2EB7-4550-BC01-C8F4AA1B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488c2df81145fe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48D3831D-CA2C-4D2B-8512-1C6B95BF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18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3D632867-A970-4622-9F75-EC7929A6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Return to the Do Now question. Use two things you learned in the room to improve your original answer.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0C21F904-CB27-4E5D-A9F7-D13B95D2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Check that each reason links a specific characteristic or tool to the task.</a:t>
            </a:r>
          </a:p>
        </p:txBody>
      </p:sp>
    </p:spTree>
    <p:extLst>
      <p:ext uri="{BB962C8B-B14F-4D97-AF65-F5344CB8AC3E}">
        <p14:creationId xmlns:p14="http://schemas.microsoft.com/office/powerpoint/2010/main" val="740997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9B263055-5EA4-4302-98FD-2C08B0E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A5B0DE7-189B-4E0D-AC5D-CF426592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41086F9-DF63-4768-BF4E-D1F572BC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Check and improve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c6284ccd6c4ff7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14C2577-C6E7-49B9-B106-D65BE85A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18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29844E22-D648-40A0-BC22-276A81AE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 review mode to correct any mistakes. Write one correction and explain why the right answer fits. Then move on to the plenary knowledge checks.</a:t>
            </a:r>
          </a:p>
        </p:txBody>
      </p:sp>
    </p:spTree>
    <p:extLst>
      <p:ext uri="{BB962C8B-B14F-4D97-AF65-F5344CB8AC3E}">
        <p14:creationId xmlns:p14="http://schemas.microsoft.com/office/powerpoint/2010/main" val="16106681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78803E9-413E-4B42-B661-1890FAB9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FF0305E1-8E4B-4FE7-9B7B-B01E262E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71FFA7C-71E3-407E-A084-8AAA8734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stronger explanation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354c33b6c44b5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5BD4D03-162B-45A5-AA28-72FD38F4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18</a:t>
            </a:r>
          </a:p>
        </p:txBody>
      </p:sp>
      <p:sp>
        <p:nvSpPr>
          <p:cNvPr id="6" name="extension-check">
            <a:extLst xmlns:a="http://schemas.openxmlformats.org/drawingml/2006/main">
              <a:ext uri="{FF2B5EF4-FFF2-40B4-BE49-F238E27FC236}">
                <a16:creationId xmlns:a16="http://schemas.microsoft.com/office/drawing/2014/main" id="{06547FB7-89E1-430C-BA4E-A0059FB7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reasoning, then improve one sentence on your worksheet.</a:t>
            </a:r>
          </a:p>
        </p:txBody>
      </p:sp>
      <p:sp>
        <p:nvSpPr>
          <p:cNvPr id="7" name="answer-application">
            <a:extLst xmlns:a="http://schemas.openxmlformats.org/drawingml/2006/main">
              <a:ext uri="{FF2B5EF4-FFF2-40B4-BE49-F238E27FC236}">
                <a16:creationId xmlns:a16="http://schemas.microsoft.com/office/drawing/2014/main" id="{7F1A9A78-A783-4735-9B4E-2787A5EE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 justified recommendation</a:t>
            </a:r>
          </a:p>
        </p:txBody>
      </p:sp>
      <p:sp>
        <p:nvSpPr>
          <p:cNvPr id="8" name="answer-application-body">
            <a:extLst xmlns:a="http://schemas.openxmlformats.org/drawingml/2006/main">
              <a:ext uri="{FF2B5EF4-FFF2-40B4-BE49-F238E27FC236}">
                <a16:creationId xmlns:a16="http://schemas.microsoft.com/office/drawing/2014/main" id="{28087EFB-17A1-4A2B-B86E-2733BD05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47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High-level code is easier to maintain and usually more portable. Each system still needs suitable translation support.</a:t>
            </a:r>
          </a:p>
        </p:txBody>
      </p:sp>
      <p:sp>
        <p:nvSpPr>
          <p:cNvPr id="9" name="answer-stretch">
            <a:extLst xmlns:a="http://schemas.openxmlformats.org/drawingml/2006/main">
              <a:ext uri="{FF2B5EF4-FFF2-40B4-BE49-F238E27FC236}">
                <a16:creationId xmlns:a16="http://schemas.microsoft.com/office/drawing/2014/main" id="{5A018C42-6685-447F-818E-7126648E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Review and explain</a:t>
            </a:r>
          </a:p>
        </p:txBody>
      </p:sp>
      <p:sp>
        <p:nvSpPr>
          <p:cNvPr id="10" name="answer-stretch-body">
            <a:extLst xmlns:a="http://schemas.openxmlformats.org/drawingml/2006/main">
              <a:ext uri="{FF2B5EF4-FFF2-40B4-BE49-F238E27FC236}">
                <a16:creationId xmlns:a16="http://schemas.microsoft.com/office/drawing/2014/main" id="{0C0236B0-96D2-4CB9-BE2E-068D8FF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47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Your correction should name the correct idea and explain why it fits the question. Use the experience feedback to check it.</a:t>
            </a:r>
          </a:p>
        </p:txBody>
      </p:sp>
    </p:spTree>
    <p:extLst>
      <p:ext uri="{BB962C8B-B14F-4D97-AF65-F5344CB8AC3E}">
        <p14:creationId xmlns:p14="http://schemas.microsoft.com/office/powerpoint/2010/main" val="10771968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EF7E645-4366-476F-A5B1-90C7C70A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159341AF-F465-4757-AC09-3A0C4AF7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EBF8C94-893F-4F9B-8993-606E888E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1–3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29af7a19ac4c13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93BEC9-DC57-4892-87B7-6699B7FB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11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51C9C7E2-F4F1-420D-88E1-62F2A7BC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0">
            <a:extLst xmlns:a="http://schemas.openxmlformats.org/drawingml/2006/main">
              <a:ext uri="{FF2B5EF4-FFF2-40B4-BE49-F238E27FC236}">
                <a16:creationId xmlns:a16="http://schemas.microsoft.com/office/drawing/2014/main" id="{D616DF12-F12D-4F89-BE2A-F5A3C233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  Reading and changing code</a:t>
            </a:r>
          </a:p>
        </p:txBody>
      </p:sp>
      <p:sp>
        <p:nvSpPr>
          <p:cNvPr id="8" name="station-answer-0">
            <a:extLst xmlns:a="http://schemas.openxmlformats.org/drawingml/2006/main">
              <a:ext uri="{FF2B5EF4-FFF2-40B4-BE49-F238E27FC236}">
                <a16:creationId xmlns:a16="http://schemas.microsoft.com/office/drawing/2014/main" id="{F6BEAF51-6593-4158-B949-6DCAF3DF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Readable source is easier to understand, so staff can find and change the relevant parts.</a:t>
            </a:r>
          </a:p>
        </p:txBody>
      </p:sp>
      <p:sp>
        <p:nvSpPr>
          <p:cNvPr id="9" name="station-name-1">
            <a:extLst xmlns:a="http://schemas.openxmlformats.org/drawingml/2006/main">
              <a:ext uri="{FF2B5EF4-FFF2-40B4-BE49-F238E27FC236}">
                <a16:creationId xmlns:a16="http://schemas.microsoft.com/office/drawing/2014/main" id="{1C2437BA-61EC-4CC1-A291-672A28BC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  Development time</a:t>
            </a:r>
          </a:p>
        </p:txBody>
      </p:sp>
      <p:sp>
        <p:nvSpPr>
          <p:cNvPr id="10" name="station-answer-1">
            <a:extLst xmlns:a="http://schemas.openxmlformats.org/drawingml/2006/main">
              <a:ext uri="{FF2B5EF4-FFF2-40B4-BE49-F238E27FC236}">
                <a16:creationId xmlns:a16="http://schemas.microsoft.com/office/drawing/2014/main" id="{2AD176F9-D05F-473B-8386-F181E623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One high-level operation can express work that needs several low-level instructions, reducing the code to write.</a:t>
            </a:r>
          </a:p>
        </p:txBody>
      </p:sp>
      <p:sp>
        <p:nvSpPr>
          <p:cNvPr id="11" name="station-name-2">
            <a:extLst xmlns:a="http://schemas.openxmlformats.org/drawingml/2006/main">
              <a:ext uri="{FF2B5EF4-FFF2-40B4-BE49-F238E27FC236}">
                <a16:creationId xmlns:a16="http://schemas.microsoft.com/office/drawing/2014/main" id="{D795BB1C-F6B4-4C53-AB97-8133E250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  Moving to another system</a:t>
            </a:r>
          </a:p>
        </p:txBody>
      </p:sp>
      <p:sp>
        <p:nvSpPr>
          <p:cNvPr id="12" name="station-answer-2">
            <a:extLst xmlns:a="http://schemas.openxmlformats.org/drawingml/2006/main">
              <a:ext uri="{FF2B5EF4-FFF2-40B4-BE49-F238E27FC236}">
                <a16:creationId xmlns:a16="http://schemas.microsoft.com/office/drawing/2014/main" id="{36B68946-29BE-4832-BBD8-102C229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Its instructions are closely tied to one processor. Another processor may use a different instruction set.</a:t>
            </a:r>
          </a:p>
        </p:txBody>
      </p:sp>
    </p:spTree>
    <p:extLst>
      <p:ext uri="{BB962C8B-B14F-4D97-AF65-F5344CB8AC3E}">
        <p14:creationId xmlns:p14="http://schemas.microsoft.com/office/powerpoint/2010/main" val="8535944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51900B3-0610-4E01-90E0-77DC6FF3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0525AC8-4A6A-4190-909D-B5EB30CD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7AFF9494-BEC4-4AEA-BD48-105C969A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4–6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1d67edf31b4935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8FF5AE6-5314-4952-A1CD-C9E9FC07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12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478BE9EE-4B04-4078-A860-876FCD86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3">
            <a:extLst xmlns:a="http://schemas.openxmlformats.org/drawingml/2006/main">
              <a:ext uri="{FF2B5EF4-FFF2-40B4-BE49-F238E27FC236}">
                <a16:creationId xmlns:a16="http://schemas.microsoft.com/office/drawing/2014/main" id="{0F0EBA09-E83B-415E-AD99-3550F935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  Control of hardware</a:t>
            </a:r>
          </a:p>
        </p:txBody>
      </p:sp>
      <p:sp>
        <p:nvSpPr>
          <p:cNvPr id="8" name="station-answer-3">
            <a:extLst xmlns:a="http://schemas.openxmlformats.org/drawingml/2006/main">
              <a:ext uri="{FF2B5EF4-FFF2-40B4-BE49-F238E27FC236}">
                <a16:creationId xmlns:a16="http://schemas.microsoft.com/office/drawing/2014/main" id="{8D150509-4F43-452B-BA18-B4451906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Its instructions closely match processor operations, allowing the programmer to control hardware in detail.</a:t>
            </a:r>
          </a:p>
        </p:txBody>
      </p:sp>
      <p:sp>
        <p:nvSpPr>
          <p:cNvPr id="9" name="station-name-4">
            <a:extLst xmlns:a="http://schemas.openxmlformats.org/drawingml/2006/main">
              <a:ext uri="{FF2B5EF4-FFF2-40B4-BE49-F238E27FC236}">
                <a16:creationId xmlns:a16="http://schemas.microsoft.com/office/drawing/2014/main" id="{F40CAFDA-7B28-4DDD-97A6-7FEB15E5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  Speed and memory</a:t>
            </a:r>
          </a:p>
        </p:txBody>
      </p:sp>
      <p:sp>
        <p:nvSpPr>
          <p:cNvPr id="10" name="station-answer-4">
            <a:extLst xmlns:a="http://schemas.openxmlformats.org/drawingml/2006/main">
              <a:ext uri="{FF2B5EF4-FFF2-40B4-BE49-F238E27FC236}">
                <a16:creationId xmlns:a16="http://schemas.microsoft.com/office/drawing/2014/main" id="{DF6939EB-FAE7-4750-B799-6DB46BA8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 allows detailed control of memory use, but can take longer to write and maintain.</a:t>
            </a:r>
          </a:p>
        </p:txBody>
      </p:sp>
      <p:sp>
        <p:nvSpPr>
          <p:cNvPr id="11" name="station-name-5">
            <a:extLst xmlns:a="http://schemas.openxmlformats.org/drawingml/2006/main">
              <a:ext uri="{FF2B5EF4-FFF2-40B4-BE49-F238E27FC236}">
                <a16:creationId xmlns:a16="http://schemas.microsoft.com/office/drawing/2014/main" id="{1F7890C8-2979-416E-AA29-BEE1AB3B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  A justified recommendation</a:t>
            </a:r>
          </a:p>
        </p:txBody>
      </p:sp>
      <p:sp>
        <p:nvSpPr>
          <p:cNvPr id="12" name="station-answer-5">
            <a:extLst xmlns:a="http://schemas.openxmlformats.org/drawingml/2006/main">
              <a:ext uri="{FF2B5EF4-FFF2-40B4-BE49-F238E27FC236}">
                <a16:creationId xmlns:a16="http://schemas.microsoft.com/office/drawing/2014/main" id="{07216969-988D-4AF8-B64A-611D4169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High-level code is easier to maintain and usually more portable. Each system still needs suitable translation support.</a:t>
            </a:r>
          </a:p>
        </p:txBody>
      </p:sp>
    </p:spTree>
    <p:extLst>
      <p:ext uri="{BB962C8B-B14F-4D97-AF65-F5344CB8AC3E}">
        <p14:creationId xmlns:p14="http://schemas.microsoft.com/office/powerpoint/2010/main" val="8069776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782CCF1-F8AC-4963-BE7C-39F589EC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A98E84-19B5-4128-9F22-3EF63F2A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3D092674-2E5F-4365-B13E-1BCD7239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challenge: answers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f9a4c1a7774069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371B726-81B4-4823-AF8C-B2AEE4C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13 / 18</a:t>
            </a:r>
          </a:p>
        </p:txBody>
      </p:sp>
      <p:sp>
        <p:nvSpPr>
          <p:cNvPr id="6" name="star-key">
            <a:extLst xmlns:a="http://schemas.openxmlformats.org/drawingml/2006/main">
              <a:ext uri="{FF2B5EF4-FFF2-40B4-BE49-F238E27FC236}">
                <a16:creationId xmlns:a16="http://schemas.microsoft.com/office/drawing/2014/main" id="{4E2C5E58-B348-4B06-A627-247270C0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choices and the reasons you gave.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D13603A8-78DC-40B6-A8F6-04D146FD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05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DA3F8A68-07AA-4136-A4C5-7B3C68E6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43125"/>
            <a:ext cx="99250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Easy weekly updates to a quiz: High-level. Precise processor control: Low-level. Quick development of a school app: High-level. Careful control of a tiny routine’s memory use: Low-level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High-level source on a new system: Needs a suitable translator. Low-level source for one processor: May need rewriting for another processor. Detailed low-level routine: Usually takes more effort to maintain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D63D0CFC-FB29-4A55-9634-1938AE0C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1AF0E8F5-58C1-4699-8D32-68538ACE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432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64A6377B-270D-4D04-B61F-A116A4C0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B2168BAC-D34D-4D09-BD22-C3074326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813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DAD3008D-DBDD-4EB1-B9E0-42941BDA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072DFA35-D5B3-464A-85A9-266225B7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5" name="number-5">
            <a:extLst xmlns:a="http://schemas.openxmlformats.org/drawingml/2006/main">
              <a:ext uri="{FF2B5EF4-FFF2-40B4-BE49-F238E27FC236}">
                <a16:creationId xmlns:a16="http://schemas.microsoft.com/office/drawing/2014/main" id="{03F791EC-5D9B-433E-96F6-EF44C17A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577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6" name="item-5">
            <a:extLst xmlns:a="http://schemas.openxmlformats.org/drawingml/2006/main">
              <a:ext uri="{FF2B5EF4-FFF2-40B4-BE49-F238E27FC236}">
                <a16:creationId xmlns:a16="http://schemas.microsoft.com/office/drawing/2014/main" id="{11146F44-2CCE-4536-BF13-60F44AE2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577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7" name="number-6">
            <a:extLst xmlns:a="http://schemas.openxmlformats.org/drawingml/2006/main">
              <a:ext uri="{FF2B5EF4-FFF2-40B4-BE49-F238E27FC236}">
                <a16:creationId xmlns:a16="http://schemas.microsoft.com/office/drawing/2014/main" id="{738F10DC-3C3F-4622-9638-0CD9ADB1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8" name="item-6">
            <a:extLst xmlns:a="http://schemas.openxmlformats.org/drawingml/2006/main">
              <a:ext uri="{FF2B5EF4-FFF2-40B4-BE49-F238E27FC236}">
                <a16:creationId xmlns:a16="http://schemas.microsoft.com/office/drawing/2014/main" id="{B4AC7286-B492-4B59-A29F-AA4F10A9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959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291782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0BB8106-766C-4D11-B62C-A315B1DC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E93FE83-8B7D-4ED0-A507-D6DF7BF8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FAFAE26-D488-4C37-A08D-D8E5A9D0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questions (a–b)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e131222b3d4f57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3F7FA607-A51E-4EFD-8772-BFCA4D0A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14 / 18</a:t>
            </a:r>
          </a:p>
        </p:txBody>
      </p:sp>
      <p:sp>
        <p:nvSpPr>
          <p:cNvPr id="6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4DD4F8FC-DBBD-4F52-8BC4-1F8B4C27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Take the headset off or close the page. Answer from memory on the worksheet.</a:t>
            </a:r>
          </a:p>
        </p:txBody>
      </p:sp>
      <p:sp>
        <p:nvSpPr>
          <p:cNvPr id="7" name="a">
            <a:extLst xmlns:a="http://schemas.openxmlformats.org/drawingml/2006/main">
              <a:ext uri="{FF2B5EF4-FFF2-40B4-BE49-F238E27FC236}">
                <a16:creationId xmlns:a16="http://schemas.microsoft.com/office/drawing/2014/main" id="{9C6FAEDB-072B-436C-AA9C-D5832563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81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8" name="question-a">
            <a:extLst xmlns:a="http://schemas.openxmlformats.org/drawingml/2006/main">
              <a:ext uri="{FF2B5EF4-FFF2-40B4-BE49-F238E27FC236}">
                <a16:creationId xmlns:a16="http://schemas.microsoft.com/office/drawing/2014/main" id="{6B2BF4EA-272A-415D-B46E-43EF0DF1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58127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two benefits of a high-level language for an app that needs regular updates on different systems. [4]</a:t>
            </a:r>
          </a:p>
        </p:txBody>
      </p:sp>
      <p:sp>
        <p:nvSpPr>
          <p:cNvPr id="9" name="b">
            <a:extLst xmlns:a="http://schemas.openxmlformats.org/drawingml/2006/main">
              <a:ext uri="{FF2B5EF4-FFF2-40B4-BE49-F238E27FC236}">
                <a16:creationId xmlns:a16="http://schemas.microsoft.com/office/drawing/2014/main" id="{9509E02A-7E28-413B-8372-24604E28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43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10" name="question-b">
            <a:extLst xmlns:a="http://schemas.openxmlformats.org/drawingml/2006/main">
              <a:ext uri="{FF2B5EF4-FFF2-40B4-BE49-F238E27FC236}">
                <a16:creationId xmlns:a16="http://schemas.microsoft.com/office/drawing/2014/main" id="{EA1267F7-E672-4AB5-8CC0-CE07B620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43375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small routine needs precise hardware control. Explain one benefit and one drawback of low-level code. [4]</a:t>
            </a:r>
          </a:p>
        </p:txBody>
      </p:sp>
    </p:spTree>
    <p:extLst>
      <p:ext uri="{BB962C8B-B14F-4D97-AF65-F5344CB8AC3E}">
        <p14:creationId xmlns:p14="http://schemas.microsoft.com/office/powerpoint/2010/main" val="1679400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F1F2C14-4C50-48A4-9B67-A997A262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DDB8B4A9-62FC-49C3-9E8B-2D918615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C7269B5-94FA-4086-8755-DE73995D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 (c)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bfd52481074610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9C331FB-3C6F-4EEC-BBEB-57203449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15 / 18</a:t>
            </a:r>
          </a:p>
        </p:txBody>
      </p:sp>
      <p:sp>
        <p:nvSpPr>
          <p:cNvPr id="6" name="from-memory">
            <a:extLst xmlns:a="http://schemas.openxmlformats.org/drawingml/2006/main">
              <a:ext uri="{FF2B5EF4-FFF2-40B4-BE49-F238E27FC236}">
                <a16:creationId xmlns:a16="http://schemas.microsoft.com/office/drawing/2014/main" id="{BDF8659F-4B53-45A1-96E8-35452E8F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7" name="c">
            <a:extLst xmlns:a="http://schemas.openxmlformats.org/drawingml/2006/main">
              <a:ext uri="{FF2B5EF4-FFF2-40B4-BE49-F238E27FC236}">
                <a16:creationId xmlns:a16="http://schemas.microsoft.com/office/drawing/2014/main" id="{629CF0F4-E195-43D7-9CCA-D8090133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8" name="question-c">
            <a:extLst xmlns:a="http://schemas.openxmlformats.org/drawingml/2006/main">
              <a:ext uri="{FF2B5EF4-FFF2-40B4-BE49-F238E27FC236}">
                <a16:creationId xmlns:a16="http://schemas.microsoft.com/office/drawing/2014/main" id="{2397C953-3257-449B-B101-570ACDF6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why portable high-level source still needs translation. [2]</a:t>
            </a:r>
          </a:p>
        </p:txBody>
      </p:sp>
      <p:sp>
        <p:nvSpPr>
          <p:cNvPr id="9" name="marks">
            <a:extLst xmlns:a="http://schemas.openxmlformats.org/drawingml/2006/main">
              <a:ext uri="{FF2B5EF4-FFF2-40B4-BE49-F238E27FC236}">
                <a16:creationId xmlns:a16="http://schemas.microsoft.com/office/drawing/2014/main" id="{B5E43C45-0F63-4BF1-AFCD-45A804E5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7475317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69886798-8F0F-4B54-BAEC-A0540120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6D98F3-B670-4101-B9A9-2184D5A6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6C64587-B8D3-44DA-8AA8-1AB5AE6D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answers (a–b)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7ed05c63f7498f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EFA3B3-6527-4E2D-9FE8-B1783E9B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16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910FB56C-D13F-443C-831C-7EB54AF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7" name="scheme-a">
            <a:extLst xmlns:a="http://schemas.openxmlformats.org/drawingml/2006/main">
              <a:ext uri="{FF2B5EF4-FFF2-40B4-BE49-F238E27FC236}">
                <a16:creationId xmlns:a16="http://schemas.microsoft.com/office/drawing/2014/main" id="{41502BD5-C47A-4406-827D-A550F44A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572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Readable source is easier to understand. This makes regular changes easier. High-level source is usually more portable. It can be used on different systems with suitable translators.</a:t>
            </a:r>
          </a:p>
        </p:txBody>
      </p:sp>
      <p:sp>
        <p:nvSpPr>
          <p:cNvPr id="8" name="scheme-b">
            <a:extLst xmlns:a="http://schemas.openxmlformats.org/drawingml/2006/main">
              <a:ext uri="{FF2B5EF4-FFF2-40B4-BE49-F238E27FC236}">
                <a16:creationId xmlns:a16="http://schemas.microsoft.com/office/drawing/2014/main" id="{4030A590-8409-4747-8A49-22010C81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1057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Its instructions closely match processor operations. This allows detailed hardware control. It requires more knowledge of the processor. This can increase development effort.</a:t>
            </a:r>
          </a:p>
        </p:txBody>
      </p:sp>
    </p:spTree>
    <p:extLst>
      <p:ext uri="{BB962C8B-B14F-4D97-AF65-F5344CB8AC3E}">
        <p14:creationId xmlns:p14="http://schemas.microsoft.com/office/powerpoint/2010/main" val="14462437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0081A4B-6AC1-4816-AF79-691B19F4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60FA52-8505-4663-AF29-746E3C6A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723C30E-7C0B-4663-9CFD-AEBB0B68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 (c)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cf4fc8b0a4303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FCDE95E-15E9-4DFC-BCC0-8290133C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17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367C08AF-7243-4EE2-AFA0-1DBD0A7C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C971BC91-2C30-4670-9E94-EB7BAD54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38BA7518-F976-4AA8-9FBD-9CA4E93E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CPU cannot execute high-level source directly.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4CE5C16C-95D9-4554-BC9D-0CB5CA0D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C4346348-B81F-437B-A07E-C9085E2A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suitable translator enables its instructions to be executed.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DBDD63D3-A34B-4614-BC00-7470B22F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AAD983A1-375A-4785-BE52-216AFD70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5896523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A368A0EC-80FD-4672-B2B2-DBDF6094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94A4DF14-4035-4380-8761-948455E2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02   /   SELF-CHECK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6131C61-4DE8-4ADA-AA38-AF5838A8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confident am I?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06151e2e64e12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D9F0318-AD5A-451A-9E2A-0B42908D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18 / 18</a:t>
            </a:r>
          </a:p>
        </p:txBody>
      </p:sp>
      <p:sp>
        <p:nvSpPr>
          <p:cNvPr id="6" name="confidence-instruction">
            <a:extLst xmlns:a="http://schemas.openxmlformats.org/drawingml/2006/main">
              <a:ext uri="{FF2B5EF4-FFF2-40B4-BE49-F238E27FC236}">
                <a16:creationId xmlns:a16="http://schemas.microsoft.com/office/drawing/2014/main" id="{21CCFCB5-9EEF-4D0C-ACC8-C2D3D4C2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477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On the worksheet, select Not yet, Getting there or Confident for each objective.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1445CA78-BAE2-4623-A518-59C7169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B9CB63FA-CF41-41AC-AAF6-A489CFF3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Compare development effort at different language levels.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BF24F2CF-D0BF-433B-A4BD-27BA2030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43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2EBB092A-60CB-4087-9DD4-5443676B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4327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portability and hardware control.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43B035FB-801C-4E05-87F1-800820CE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02E48C22-31AC-4A31-87AE-D3A00B3F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Justify language choices using project requirements.</a:t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CE4EAE46-F751-4F69-9E68-CFF078A9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006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F71661C6-7DB3-4EC1-B1E5-D88C7A61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0062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799295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2026-09-26T09:25:00.6780000Z</dcterms:created>
  <dcterms:modified xsi:type="dcterms:W3CDTF">2026-09-26T09:25:00.6780000Z</dcterms:modified>
</coreProperties>
</file>