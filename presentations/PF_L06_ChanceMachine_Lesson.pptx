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notesMasterIdLst>
    <p:notesMasterId r:id="rId1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notesMaster" Target="notesMasters/notesMaster1.xml"/><Relationship Id="rId18" Type="http://schemas.openxmlformats.org/officeDocument/2006/relationships/presProps" Target="presProps.xml"/><Relationship Id="rId19" Type="http://schemas.openxmlformats.org/officeDocument/2006/relationships/viewProps" Target="viewProps.xml"/><Relationship Id="rId20" Type="http://schemas.openxmlformats.org/officeDocument/2006/relationships/theme" Target="theme/theme1.xml"/><Relationship Id="rId2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Lesson 6: Chance machine.
Open the experience at revise360.co.uk and hand out PF_L06_ChanceMachine_Worksheet.docx.</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Share the objectives, then go straight into the starter. Devices stay away for the first five minutes.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Silent start. Take two or three answers before moving on: this is where misconceptions surface.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Insist on writing before tapping. That single rule is the difference between revision and a quiz game.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Station 1: Why random numbers. Students read this wall in the experience, write the key fact and the challenge answer, then answer the questions at the badge.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Station 2: Generating a random number. Students read this wall in the experience, write the key fact and the challenge answer, then answer the questions at the badge.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Station 3: Choosing the range. Students read this wall in the experience, write the key fact and the challenge answer, then answer the questions at the badge.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Station 4: Pseudo-random. Students read this wall in the experience, write the key fact and the challenge answer, then answer the questions at the badge.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Station 5: Random in a loop. Students read this wall in the experience, write the key fact and the challenge answer, then answer the questions at the badge.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Station 6: Using randomness well. Students read this wall in the experience, write the key fact and the challenge answer, then answer the questions at the badge.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answer is B: They are worked out by an algorithm, so they are not truly unpredictable.
Do not say it yet. Every pupil commits first - fingers, whiteboards or a show of hands on each letter in turn - and you count the split before anyone can change their mind.
IF MOST OF THE CLASS IS RIGHT: say why it is right in one sentence and go straight on to the independent work.
IF A SIGNIFICANT GROUP IS ON ONE WRONG LETTER: that option is the misconception to teach against before anyone goes on. Go back to station 4, Pseudo-random, and work through its example again, aloud, with the class watching, then re-ask this question.
The course's own response to a wrong answer here: An algorithm follows fixed steps, so it can only imitate randomness, however convincing the imitation looks.
A limitation, stated rather than papered over: one response covers every wrong option; it does not say what to revisit for each one. The course does not record what each separate wrong option means, and this slide does not invent it. Decide your own reteach for each option before the lesson; the options above are the start of it.
This is a real activity from the experience (pf-l06-s4-c1), so the wording here is the wording a pupil will see.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Make them commit to an answer on paper before they tap the star. Guessing first costs them the learning.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these as a settler, or as something for early finishers to read in the experience.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Timed and silent. Mark against the answer sheet, then ask students to record their weakest area.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Students copy their score-screen breakdown onto the worksheet, then rate themselves here.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01828"/>
        </a:solidFill>
      </p:bgPr>
    </p:bg>
    <p:spTree>
      <p:nvGrpSpPr>
        <p:cNvPr id="1" name=""/>
        <p:cNvGrpSpPr/>
        <p:nvPr/>
      </p:nvGrpSpPr>
      <p:grpSpPr>
        <a:xfrm>
          <a:off x="0" y="0"/>
          <a:ext cx="0" cy="0"/>
          <a:chOff x="0" y="0"/>
          <a:chExt cx="0" cy="0"/>
        </a:xfrm>
      </p:grpSpPr>
      <p:sp>
        <p:nvSpPr>
          <p:cNvPr id="2" name="Shape 0"/>
          <p:cNvSpPr/>
          <p:nvPr/>
        </p:nvSpPr>
        <p:spPr>
          <a:xfrm>
            <a:off x="0" y="0"/>
            <a:ext cx="12188952" cy="82296"/>
          </a:xfrm>
          <a:prstGeom prst="rect">
            <a:avLst/>
          </a:prstGeom>
          <a:solidFill>
            <a:srgbClr val="2D63FF"/>
          </a:solidFill>
          <a:ln/>
        </p:spPr>
      </p:sp>
      <p:sp>
        <p:nvSpPr>
          <p:cNvPr id="3" name="Text 1"/>
          <p:cNvSpPr txBox="1"/>
          <p:nvPr/>
        </p:nvSpPr>
        <p:spPr>
          <a:xfrm>
            <a:off x="822960" y="1417320"/>
            <a:ext cx="10515600" cy="411480"/>
          </a:xfrm>
          <a:prstGeom prst="rect">
            <a:avLst/>
          </a:prstGeom>
          <a:noFill/>
          <a:ln/>
        </p:spPr>
        <p:txBody>
          <a:bodyPr wrap="square" lIns="0" tIns="0" rIns="0" bIns="0" rtlCol="0" anchor="ctr"/>
          <a:lstStyle/>
          <a:p>
            <a:pPr indent="0" marL="0">
              <a:buNone/>
            </a:pPr>
            <a:r>
              <a:rPr lang="en-US" sz="1500" dirty="0">
                <a:solidFill>
                  <a:srgbClr val="F4B942"/>
                </a:solidFill>
                <a:latin typeface="IBM Plex Mono" pitchFamily="34" charset="0"/>
                <a:ea typeface="IBM Plex Mono" pitchFamily="34" charset="-122"/>
                <a:cs typeface="IBM Plex Mono" pitchFamily="34" charset="-120"/>
              </a:rPr>
              <a:t>2.2 Programming fundamentals  |  Lesson 6</a:t>
            </a:r>
            <a:endParaRPr lang="en-US" sz="1500" dirty="0"/>
          </a:p>
        </p:txBody>
      </p:sp>
      <p:sp>
        <p:nvSpPr>
          <p:cNvPr id="4" name="Text 2"/>
          <p:cNvSpPr txBox="1"/>
          <p:nvPr/>
        </p:nvSpPr>
        <p:spPr>
          <a:xfrm>
            <a:off x="822960" y="1920240"/>
            <a:ext cx="10515600" cy="1280160"/>
          </a:xfrm>
          <a:prstGeom prst="rect">
            <a:avLst/>
          </a:prstGeom>
          <a:noFill/>
          <a:ln/>
        </p:spPr>
        <p:txBody>
          <a:bodyPr wrap="square" lIns="0" tIns="0" rIns="0" bIns="0" rtlCol="0" anchor="ctr"/>
          <a:lstStyle/>
          <a:p>
            <a:pPr indent="0" marL="0">
              <a:buNone/>
            </a:pPr>
            <a:r>
              <a:rPr lang="en-US" sz="6000" b="1" dirty="0">
                <a:solidFill>
                  <a:srgbClr val="FFFFFF"/>
                </a:solidFill>
                <a:latin typeface="IBM Plex Sans" pitchFamily="34" charset="0"/>
                <a:ea typeface="IBM Plex Sans" pitchFamily="34" charset="-122"/>
                <a:cs typeface="IBM Plex Sans" pitchFamily="34" charset="-120"/>
              </a:rPr>
              <a:t>Chance machine</a:t>
            </a:r>
            <a:endParaRPr lang="en-US" sz="6000" dirty="0"/>
          </a:p>
        </p:txBody>
      </p:sp>
      <p:sp>
        <p:nvSpPr>
          <p:cNvPr id="5" name="Text 3"/>
          <p:cNvSpPr txBox="1"/>
          <p:nvPr/>
        </p:nvSpPr>
        <p:spPr>
          <a:xfrm>
            <a:off x="822960" y="3291840"/>
            <a:ext cx="9509760" cy="1371600"/>
          </a:xfrm>
          <a:prstGeom prst="rect">
            <a:avLst/>
          </a:prstGeom>
          <a:noFill/>
          <a:ln/>
        </p:spPr>
        <p:txBody>
          <a:bodyPr wrap="square" lIns="0" tIns="0" rIns="0" bIns="0" rtlCol="0" anchor="ctr"/>
          <a:lstStyle/>
          <a:p>
            <a:pPr indent="0" marL="0">
              <a:lnSpc>
                <a:spcPct val="125000"/>
              </a:lnSpc>
              <a:buNone/>
            </a:pPr>
            <a:r>
              <a:rPr lang="en-US" sz="1800" dirty="0">
                <a:solidFill>
                  <a:srgbClr val="C7CDD9"/>
                </a:solidFill>
                <a:latin typeface="IBM Plex Sans" pitchFamily="34" charset="0"/>
                <a:ea typeface="IBM Plex Sans" pitchFamily="34" charset="-122"/>
                <a:cs typeface="IBM Plex Sans" pitchFamily="34" charset="-120"/>
              </a:rPr>
              <a:t>Pull the lever on this machine and out comes a number nobody in the room can predict, not even the programmer who built it. Learn how a program generates one inside a range you choose, and why the computer is only pretending to be unpredictable.</a:t>
            </a:r>
            <a:endParaRPr lang="en-US" sz="1800" dirty="0"/>
          </a:p>
        </p:txBody>
      </p:sp>
      <p:sp>
        <p:nvSpPr>
          <p:cNvPr id="6" name="Shape 4"/>
          <p:cNvSpPr/>
          <p:nvPr/>
        </p:nvSpPr>
        <p:spPr>
          <a:xfrm>
            <a:off x="822960" y="4846320"/>
            <a:ext cx="2926080" cy="0"/>
          </a:xfrm>
          <a:prstGeom prst="line">
            <a:avLst/>
          </a:prstGeom>
          <a:noFill/>
          <a:ln w="31750">
            <a:solidFill>
              <a:srgbClr val="2D63FF"/>
            </a:solidFill>
            <a:prstDash val="solid"/>
          </a:ln>
        </p:spPr>
      </p:sp>
      <p:sp>
        <p:nvSpPr>
          <p:cNvPr id="7" name="Text 5"/>
          <p:cNvSpPr txBox="1"/>
          <p:nvPr/>
        </p:nvSpPr>
        <p:spPr>
          <a:xfrm>
            <a:off x="822960" y="5029200"/>
            <a:ext cx="10515600" cy="365760"/>
          </a:xfrm>
          <a:prstGeom prst="rect">
            <a:avLst/>
          </a:prstGeom>
          <a:noFill/>
          <a:ln/>
        </p:spPr>
        <p:txBody>
          <a:bodyPr wrap="square" lIns="0" tIns="0" rIns="0" bIns="0" rtlCol="0" anchor="ctr"/>
          <a:lstStyle/>
          <a:p>
            <a:pPr indent="0" marL="0">
              <a:buNone/>
            </a:pPr>
            <a:r>
              <a:rPr lang="en-US" sz="1300" dirty="0">
                <a:solidFill>
                  <a:srgbClr val="667085"/>
                </a:solidFill>
                <a:latin typeface="IBM Plex Mono" pitchFamily="34" charset="0"/>
                <a:ea typeface="IBM Plex Mono" pitchFamily="34" charset="-122"/>
                <a:cs typeface="IBM Plex Mono" pitchFamily="34" charset="-120"/>
              </a:rPr>
              <a:t>OCR J277 Paper 2  |  Computational thinking, algorithms and programming</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7F7F4"/>
        </a:solidFill>
      </p:bgPr>
    </p:bg>
    <p:spTree>
      <p:nvGrpSpPr>
        <p:cNvPr id="1" name=""/>
        <p:cNvGrpSpPr/>
        <p:nvPr/>
      </p:nvGrpSpPr>
      <p:grpSpPr>
        <a:xfrm>
          <a:off x="0" y="0"/>
          <a:ext cx="0" cy="0"/>
          <a:chOff x="0" y="0"/>
          <a:chExt cx="0" cy="0"/>
        </a:xfrm>
      </p:grpSpPr>
      <p:sp>
        <p:nvSpPr>
          <p:cNvPr id="2" name="Shape 0"/>
          <p:cNvSpPr/>
          <p:nvPr/>
        </p:nvSpPr>
        <p:spPr>
          <a:xfrm>
            <a:off x="0" y="0"/>
            <a:ext cx="12188952" cy="82296"/>
          </a:xfrm>
          <a:prstGeom prst="rect">
            <a:avLst/>
          </a:prstGeom>
          <a:solidFill>
            <a:srgbClr val="2D63FF"/>
          </a:solidFill>
          <a:ln/>
        </p:spPr>
      </p:sp>
      <p:sp>
        <p:nvSpPr>
          <p:cNvPr id="3" name="Text 1"/>
          <p:cNvSpPr txBox="1"/>
          <p:nvPr/>
        </p:nvSpPr>
        <p:spPr>
          <a:xfrm>
            <a:off x="502920" y="6236208"/>
            <a:ext cx="7772400" cy="365760"/>
          </a:xfrm>
          <a:prstGeom prst="rect">
            <a:avLst/>
          </a:prstGeom>
          <a:noFill/>
          <a:ln/>
        </p:spPr>
        <p:txBody>
          <a:bodyPr wrap="square" lIns="0" tIns="0" rIns="0" bIns="0" rtlCol="0" anchor="ctr"/>
          <a:lstStyle/>
          <a:p>
            <a:pPr indent="0" marL="0">
              <a:buNone/>
            </a:pPr>
            <a:r>
              <a:rPr lang="en-US" sz="1100" dirty="0">
                <a:solidFill>
                  <a:srgbClr val="667085"/>
                </a:solidFill>
                <a:latin typeface="IBM Plex Mono" pitchFamily="34" charset="0"/>
                <a:ea typeface="IBM Plex Mono" pitchFamily="34" charset="-122"/>
                <a:cs typeface="IBM Plex Mono" pitchFamily="34" charset="-120"/>
              </a:rPr>
              <a:t>2.2 Programming fundamentals  |  Lesson 6</a:t>
            </a:r>
            <a:endParaRPr lang="en-US" sz="1100" dirty="0"/>
          </a:p>
        </p:txBody>
      </p:sp>
      <p:sp>
        <p:nvSpPr>
          <p:cNvPr id="4" name="Text 2"/>
          <p:cNvSpPr txBox="1"/>
          <p:nvPr/>
        </p:nvSpPr>
        <p:spPr>
          <a:xfrm>
            <a:off x="9326880" y="6236208"/>
            <a:ext cx="2377440" cy="365760"/>
          </a:xfrm>
          <a:prstGeom prst="rect">
            <a:avLst/>
          </a:prstGeom>
          <a:noFill/>
          <a:ln/>
        </p:spPr>
        <p:txBody>
          <a:bodyPr wrap="square" lIns="0" tIns="0" rIns="0" bIns="0" rtlCol="0" anchor="ctr"/>
          <a:lstStyle/>
          <a:p>
            <a:pPr algn="r" indent="0" marL="0">
              <a:buNone/>
            </a:pPr>
            <a:r>
              <a:rPr lang="en-US" sz="1100" dirty="0">
                <a:solidFill>
                  <a:srgbClr val="667085"/>
                </a:solidFill>
                <a:latin typeface="IBM Plex Mono" pitchFamily="34" charset="0"/>
                <a:ea typeface="IBM Plex Mono" pitchFamily="34" charset="-122"/>
                <a:cs typeface="IBM Plex Mono" pitchFamily="34" charset="-120"/>
              </a:rPr>
              <a:t>Revise 360</a:t>
            </a:r>
            <a:endParaRPr lang="en-US" sz="1100" dirty="0"/>
          </a:p>
        </p:txBody>
      </p:sp>
      <p:sp>
        <p:nvSpPr>
          <p:cNvPr id="5" name="Text 3"/>
          <p:cNvSpPr txBox="1"/>
          <p:nvPr/>
        </p:nvSpPr>
        <p:spPr>
          <a:xfrm>
            <a:off x="502920" y="411480"/>
            <a:ext cx="11155680" cy="777240"/>
          </a:xfrm>
          <a:prstGeom prst="rect">
            <a:avLst/>
          </a:prstGeom>
          <a:noFill/>
          <a:ln/>
        </p:spPr>
        <p:txBody>
          <a:bodyPr wrap="square" lIns="0" tIns="0" rIns="0" bIns="0" rtlCol="0" anchor="ctr"/>
          <a:lstStyle/>
          <a:p>
            <a:pPr indent="0" marL="0">
              <a:buNone/>
            </a:pPr>
            <a:r>
              <a:rPr lang="en-US" sz="3200" b="1" dirty="0">
                <a:solidFill>
                  <a:srgbClr val="101828"/>
                </a:solidFill>
                <a:latin typeface="IBM Plex Sans" pitchFamily="34" charset="0"/>
                <a:ea typeface="IBM Plex Sans" pitchFamily="34" charset="-122"/>
                <a:cs typeface="IBM Plex Sans" pitchFamily="34" charset="-120"/>
              </a:rPr>
              <a:t>By the end of this lesson</a:t>
            </a:r>
            <a:endParaRPr lang="en-US" sz="3200" dirty="0"/>
          </a:p>
        </p:txBody>
      </p:sp>
      <p:sp>
        <p:nvSpPr>
          <p:cNvPr id="6" name="Text 4"/>
          <p:cNvSpPr txBox="1"/>
          <p:nvPr/>
        </p:nvSpPr>
        <p:spPr>
          <a:xfrm>
            <a:off x="502920" y="1170432"/>
            <a:ext cx="11155680" cy="411480"/>
          </a:xfrm>
          <a:prstGeom prst="rect">
            <a:avLst/>
          </a:prstGeom>
          <a:noFill/>
          <a:ln/>
        </p:spPr>
        <p:txBody>
          <a:bodyPr wrap="square" lIns="0" tIns="0" rIns="0" bIns="0" rtlCol="0" anchor="ctr"/>
          <a:lstStyle/>
          <a:p>
            <a:pPr indent="0" marL="0">
              <a:buNone/>
            </a:pPr>
            <a:r>
              <a:rPr lang="en-US" sz="1500" dirty="0">
                <a:solidFill>
                  <a:srgbClr val="667085"/>
                </a:solidFill>
                <a:latin typeface="IBM Plex Sans" pitchFamily="34" charset="0"/>
                <a:ea typeface="IBM Plex Sans" pitchFamily="34" charset="-122"/>
                <a:cs typeface="IBM Plex Sans" pitchFamily="34" charset="-120"/>
              </a:rPr>
              <a:t>How does a program produce a number that nobody can predict?</a:t>
            </a:r>
            <a:endParaRPr lang="en-US" sz="1500" dirty="0"/>
          </a:p>
        </p:txBody>
      </p:sp>
      <p:sp>
        <p:nvSpPr>
          <p:cNvPr id="7" name="Shape 5"/>
          <p:cNvSpPr/>
          <p:nvPr/>
        </p:nvSpPr>
        <p:spPr>
          <a:xfrm>
            <a:off x="548640" y="1965960"/>
            <a:ext cx="566928" cy="566928"/>
          </a:xfrm>
          <a:prstGeom prst="ellipse">
            <a:avLst/>
          </a:prstGeom>
          <a:solidFill>
            <a:srgbClr val="2D63FF"/>
          </a:solidFill>
          <a:ln/>
        </p:spPr>
      </p:sp>
      <p:sp>
        <p:nvSpPr>
          <p:cNvPr id="8" name="Text 6"/>
          <p:cNvSpPr txBox="1"/>
          <p:nvPr/>
        </p:nvSpPr>
        <p:spPr>
          <a:xfrm>
            <a:off x="548640" y="1965960"/>
            <a:ext cx="566928" cy="566928"/>
          </a:xfrm>
          <a:prstGeom prst="rect">
            <a:avLst/>
          </a:prstGeom>
          <a:noFill/>
          <a:ln/>
        </p:spPr>
        <p:txBody>
          <a:bodyPr wrap="square" lIns="0" tIns="0" rIns="0" bIns="0" rtlCol="0" anchor="ctr"/>
          <a:lstStyle/>
          <a:p>
            <a:pPr algn="ctr" indent="0" marL="0">
              <a:buNone/>
            </a:pPr>
            <a:r>
              <a:rPr lang="en-US" sz="2000" b="1" dirty="0">
                <a:solidFill>
                  <a:srgbClr val="FFFFFF"/>
                </a:solidFill>
                <a:latin typeface="IBM Plex Mono" pitchFamily="34" charset="0"/>
                <a:ea typeface="IBM Plex Mono" pitchFamily="34" charset="-122"/>
                <a:cs typeface="IBM Plex Mono" pitchFamily="34" charset="-120"/>
              </a:rPr>
              <a:t>1</a:t>
            </a:r>
            <a:endParaRPr lang="en-US" sz="2000" dirty="0"/>
          </a:p>
        </p:txBody>
      </p:sp>
      <p:sp>
        <p:nvSpPr>
          <p:cNvPr id="9" name="Text 7"/>
          <p:cNvSpPr txBox="1"/>
          <p:nvPr/>
        </p:nvSpPr>
        <p:spPr>
          <a:xfrm>
            <a:off x="1325880" y="1965960"/>
            <a:ext cx="10332720" cy="566928"/>
          </a:xfrm>
          <a:prstGeom prst="rect">
            <a:avLst/>
          </a:prstGeom>
          <a:noFill/>
          <a:ln/>
        </p:spPr>
        <p:txBody>
          <a:bodyPr wrap="square" lIns="0" tIns="0" rIns="0" bIns="0" rtlCol="0" anchor="ctr"/>
          <a:lstStyle/>
          <a:p>
            <a:pPr indent="0" marL="0">
              <a:buNone/>
            </a:pPr>
            <a:r>
              <a:rPr lang="en-US" sz="1900" dirty="0">
                <a:solidFill>
                  <a:srgbClr val="101828"/>
                </a:solidFill>
                <a:latin typeface="IBM Plex Sans" pitchFamily="34" charset="0"/>
                <a:ea typeface="IBM Plex Sans" pitchFamily="34" charset="-122"/>
                <a:cs typeface="IBM Plex Sans" pitchFamily="34" charset="-120"/>
              </a:rPr>
              <a:t>Know what random numbers are used for in a program</a:t>
            </a:r>
            <a:endParaRPr lang="en-US" sz="1900" dirty="0"/>
          </a:p>
        </p:txBody>
      </p:sp>
      <p:sp>
        <p:nvSpPr>
          <p:cNvPr id="10" name="Shape 8"/>
          <p:cNvSpPr/>
          <p:nvPr/>
        </p:nvSpPr>
        <p:spPr>
          <a:xfrm>
            <a:off x="548640" y="2898648"/>
            <a:ext cx="566928" cy="566928"/>
          </a:xfrm>
          <a:prstGeom prst="ellipse">
            <a:avLst/>
          </a:prstGeom>
          <a:solidFill>
            <a:srgbClr val="2D63FF"/>
          </a:solidFill>
          <a:ln/>
        </p:spPr>
      </p:sp>
      <p:sp>
        <p:nvSpPr>
          <p:cNvPr id="11" name="Text 9"/>
          <p:cNvSpPr txBox="1"/>
          <p:nvPr/>
        </p:nvSpPr>
        <p:spPr>
          <a:xfrm>
            <a:off x="548640" y="2898648"/>
            <a:ext cx="566928" cy="566928"/>
          </a:xfrm>
          <a:prstGeom prst="rect">
            <a:avLst/>
          </a:prstGeom>
          <a:noFill/>
          <a:ln/>
        </p:spPr>
        <p:txBody>
          <a:bodyPr wrap="square" lIns="0" tIns="0" rIns="0" bIns="0" rtlCol="0" anchor="ctr"/>
          <a:lstStyle/>
          <a:p>
            <a:pPr algn="ctr" indent="0" marL="0">
              <a:buNone/>
            </a:pPr>
            <a:r>
              <a:rPr lang="en-US" sz="2000" b="1" dirty="0">
                <a:solidFill>
                  <a:srgbClr val="FFFFFF"/>
                </a:solidFill>
                <a:latin typeface="IBM Plex Mono" pitchFamily="34" charset="0"/>
                <a:ea typeface="IBM Plex Mono" pitchFamily="34" charset="-122"/>
                <a:cs typeface="IBM Plex Mono" pitchFamily="34" charset="-120"/>
              </a:rPr>
              <a:t>2</a:t>
            </a:r>
            <a:endParaRPr lang="en-US" sz="2000" dirty="0"/>
          </a:p>
        </p:txBody>
      </p:sp>
      <p:sp>
        <p:nvSpPr>
          <p:cNvPr id="12" name="Text 10"/>
          <p:cNvSpPr txBox="1"/>
          <p:nvPr/>
        </p:nvSpPr>
        <p:spPr>
          <a:xfrm>
            <a:off x="1325880" y="2898648"/>
            <a:ext cx="10332720" cy="566928"/>
          </a:xfrm>
          <a:prstGeom prst="rect">
            <a:avLst/>
          </a:prstGeom>
          <a:noFill/>
          <a:ln/>
        </p:spPr>
        <p:txBody>
          <a:bodyPr wrap="square" lIns="0" tIns="0" rIns="0" bIns="0" rtlCol="0" anchor="ctr"/>
          <a:lstStyle/>
          <a:p>
            <a:pPr indent="0" marL="0">
              <a:buNone/>
            </a:pPr>
            <a:r>
              <a:rPr lang="en-US" sz="1900" dirty="0">
                <a:solidFill>
                  <a:srgbClr val="101828"/>
                </a:solidFill>
                <a:latin typeface="IBM Plex Sans" pitchFamily="34" charset="0"/>
                <a:ea typeface="IBM Plex Sans" pitchFamily="34" charset="-122"/>
                <a:cs typeface="IBM Plex Sans" pitchFamily="34" charset="-120"/>
              </a:rPr>
              <a:t>Understand how a random whole number is generated within a given range</a:t>
            </a:r>
            <a:endParaRPr lang="en-US" sz="1900" dirty="0"/>
          </a:p>
        </p:txBody>
      </p:sp>
      <p:sp>
        <p:nvSpPr>
          <p:cNvPr id="13" name="Shape 11"/>
          <p:cNvSpPr/>
          <p:nvPr/>
        </p:nvSpPr>
        <p:spPr>
          <a:xfrm>
            <a:off x="548640" y="3831336"/>
            <a:ext cx="566928" cy="566928"/>
          </a:xfrm>
          <a:prstGeom prst="ellipse">
            <a:avLst/>
          </a:prstGeom>
          <a:solidFill>
            <a:srgbClr val="2D63FF"/>
          </a:solidFill>
          <a:ln/>
        </p:spPr>
      </p:sp>
      <p:sp>
        <p:nvSpPr>
          <p:cNvPr id="14" name="Text 12"/>
          <p:cNvSpPr txBox="1"/>
          <p:nvPr/>
        </p:nvSpPr>
        <p:spPr>
          <a:xfrm>
            <a:off x="548640" y="3831336"/>
            <a:ext cx="566928" cy="566928"/>
          </a:xfrm>
          <a:prstGeom prst="rect">
            <a:avLst/>
          </a:prstGeom>
          <a:noFill/>
          <a:ln/>
        </p:spPr>
        <p:txBody>
          <a:bodyPr wrap="square" lIns="0" tIns="0" rIns="0" bIns="0" rtlCol="0" anchor="ctr"/>
          <a:lstStyle/>
          <a:p>
            <a:pPr algn="ctr" indent="0" marL="0">
              <a:buNone/>
            </a:pPr>
            <a:r>
              <a:rPr lang="en-US" sz="2000" b="1" dirty="0">
                <a:solidFill>
                  <a:srgbClr val="FFFFFF"/>
                </a:solidFill>
                <a:latin typeface="IBM Plex Mono" pitchFamily="34" charset="0"/>
                <a:ea typeface="IBM Plex Mono" pitchFamily="34" charset="-122"/>
                <a:cs typeface="IBM Plex Mono" pitchFamily="34" charset="-120"/>
              </a:rPr>
              <a:t>3</a:t>
            </a:r>
            <a:endParaRPr lang="en-US" sz="2000" dirty="0"/>
          </a:p>
        </p:txBody>
      </p:sp>
      <p:sp>
        <p:nvSpPr>
          <p:cNvPr id="15" name="Text 13"/>
          <p:cNvSpPr txBox="1"/>
          <p:nvPr/>
        </p:nvSpPr>
        <p:spPr>
          <a:xfrm>
            <a:off x="1325880" y="3831336"/>
            <a:ext cx="10332720" cy="566928"/>
          </a:xfrm>
          <a:prstGeom prst="rect">
            <a:avLst/>
          </a:prstGeom>
          <a:noFill/>
          <a:ln/>
        </p:spPr>
        <p:txBody>
          <a:bodyPr wrap="square" lIns="0" tIns="0" rIns="0" bIns="0" rtlCol="0" anchor="ctr"/>
          <a:lstStyle/>
          <a:p>
            <a:pPr indent="0" marL="0">
              <a:buNone/>
            </a:pPr>
            <a:r>
              <a:rPr lang="en-US" sz="1900" dirty="0">
                <a:solidFill>
                  <a:srgbClr val="101828"/>
                </a:solidFill>
                <a:latin typeface="IBM Plex Sans" pitchFamily="34" charset="0"/>
                <a:ea typeface="IBM Plex Sans" pitchFamily="34" charset="-122"/>
                <a:cs typeface="IBM Plex Sans" pitchFamily="34" charset="-120"/>
              </a:rPr>
              <a:t>Know that a computer produces pseudo-random numbers from an algorithm and a seed</a:t>
            </a:r>
            <a:endParaRPr lang="en-US" sz="1900" dirty="0"/>
          </a:p>
        </p:txBody>
      </p:sp>
      <p:sp>
        <p:nvSpPr>
          <p:cNvPr id="16" name="Text 14"/>
          <p:cNvSpPr txBox="1"/>
          <p:nvPr/>
        </p:nvSpPr>
        <p:spPr>
          <a:xfrm>
            <a:off x="548640" y="5084064"/>
            <a:ext cx="2743200" cy="320040"/>
          </a:xfrm>
          <a:prstGeom prst="rect">
            <a:avLst/>
          </a:prstGeom>
          <a:noFill/>
          <a:ln/>
        </p:spPr>
        <p:txBody>
          <a:bodyPr wrap="square" lIns="0" tIns="0" rIns="0" bIns="0" rtlCol="0" anchor="ctr"/>
          <a:lstStyle/>
          <a:p>
            <a:pPr indent="0" marL="0">
              <a:buNone/>
            </a:pPr>
            <a:r>
              <a:rPr lang="en-US" sz="1200" dirty="0">
                <a:solidFill>
                  <a:srgbClr val="667085"/>
                </a:solidFill>
                <a:latin typeface="IBM Plex Mono" pitchFamily="34" charset="0"/>
                <a:ea typeface="IBM Plex Mono" pitchFamily="34" charset="-122"/>
                <a:cs typeface="IBM Plex Mono" pitchFamily="34" charset="-120"/>
              </a:rPr>
              <a:t>Key words</a:t>
            </a:r>
            <a:endParaRPr lang="en-US" sz="1200" dirty="0"/>
          </a:p>
        </p:txBody>
      </p:sp>
      <p:sp>
        <p:nvSpPr>
          <p:cNvPr id="17" name="Shape 15"/>
          <p:cNvSpPr/>
          <p:nvPr/>
        </p:nvSpPr>
        <p:spPr>
          <a:xfrm>
            <a:off x="548640" y="5468112"/>
            <a:ext cx="2359152" cy="402336"/>
          </a:xfrm>
          <a:prstGeom prst="roundRect">
            <a:avLst>
              <a:gd name="adj" fmla="val 50000"/>
            </a:avLst>
          </a:prstGeom>
          <a:solidFill>
            <a:srgbClr val="FFFFFF"/>
          </a:solidFill>
          <a:ln w="12700">
            <a:solidFill>
              <a:srgbClr val="2D63FF"/>
            </a:solidFill>
            <a:prstDash val="solid"/>
          </a:ln>
        </p:spPr>
      </p:sp>
      <p:sp>
        <p:nvSpPr>
          <p:cNvPr id="18" name="Text 16"/>
          <p:cNvSpPr txBox="1"/>
          <p:nvPr/>
        </p:nvSpPr>
        <p:spPr>
          <a:xfrm>
            <a:off x="548640" y="5468112"/>
            <a:ext cx="2359152" cy="402336"/>
          </a:xfrm>
          <a:prstGeom prst="rect">
            <a:avLst/>
          </a:prstGeom>
          <a:noFill/>
          <a:ln/>
        </p:spPr>
        <p:txBody>
          <a:bodyPr wrap="square" lIns="0" tIns="0" rIns="0" bIns="0" rtlCol="0" anchor="ctr"/>
          <a:lstStyle/>
          <a:p>
            <a:pPr algn="ctr" indent="0" marL="0">
              <a:buNone/>
            </a:pPr>
            <a:r>
              <a:rPr lang="en-US" sz="1200" dirty="0">
                <a:solidFill>
                  <a:srgbClr val="2D63FF"/>
                </a:solidFill>
                <a:latin typeface="IBM Plex Sans" pitchFamily="34" charset="0"/>
                <a:ea typeface="IBM Plex Sans" pitchFamily="34" charset="-122"/>
                <a:cs typeface="IBM Plex Sans" pitchFamily="34" charset="-120"/>
              </a:rPr>
              <a:t>Random number</a:t>
            </a:r>
            <a:endParaRPr lang="en-US" sz="1200" dirty="0"/>
          </a:p>
        </p:txBody>
      </p:sp>
      <p:sp>
        <p:nvSpPr>
          <p:cNvPr id="19" name="Shape 17"/>
          <p:cNvSpPr/>
          <p:nvPr/>
        </p:nvSpPr>
        <p:spPr>
          <a:xfrm>
            <a:off x="3035808" y="5468112"/>
            <a:ext cx="1188720" cy="402336"/>
          </a:xfrm>
          <a:prstGeom prst="roundRect">
            <a:avLst>
              <a:gd name="adj" fmla="val 50000"/>
            </a:avLst>
          </a:prstGeom>
          <a:solidFill>
            <a:srgbClr val="FFFFFF"/>
          </a:solidFill>
          <a:ln w="12700">
            <a:solidFill>
              <a:srgbClr val="2D63FF"/>
            </a:solidFill>
            <a:prstDash val="solid"/>
          </a:ln>
        </p:spPr>
      </p:sp>
      <p:sp>
        <p:nvSpPr>
          <p:cNvPr id="20" name="Text 18"/>
          <p:cNvSpPr txBox="1"/>
          <p:nvPr/>
        </p:nvSpPr>
        <p:spPr>
          <a:xfrm>
            <a:off x="3035808" y="5468112"/>
            <a:ext cx="1188720" cy="402336"/>
          </a:xfrm>
          <a:prstGeom prst="rect">
            <a:avLst/>
          </a:prstGeom>
          <a:noFill/>
          <a:ln/>
        </p:spPr>
        <p:txBody>
          <a:bodyPr wrap="square" lIns="0" tIns="0" rIns="0" bIns="0" rtlCol="0" anchor="ctr"/>
          <a:lstStyle/>
          <a:p>
            <a:pPr algn="ctr" indent="0" marL="0">
              <a:buNone/>
            </a:pPr>
            <a:r>
              <a:rPr lang="en-US" sz="1200" dirty="0">
                <a:solidFill>
                  <a:srgbClr val="2D63FF"/>
                </a:solidFill>
                <a:latin typeface="IBM Plex Sans" pitchFamily="34" charset="0"/>
                <a:ea typeface="IBM Plex Sans" pitchFamily="34" charset="-122"/>
                <a:cs typeface="IBM Plex Sans" pitchFamily="34" charset="-120"/>
              </a:rPr>
              <a:t>Range</a:t>
            </a:r>
            <a:endParaRPr lang="en-US" sz="1200" dirty="0"/>
          </a:p>
        </p:txBody>
      </p:sp>
      <p:sp>
        <p:nvSpPr>
          <p:cNvPr id="21" name="Shape 19"/>
          <p:cNvSpPr/>
          <p:nvPr/>
        </p:nvSpPr>
        <p:spPr>
          <a:xfrm>
            <a:off x="4352544" y="5468112"/>
            <a:ext cx="2359152" cy="402336"/>
          </a:xfrm>
          <a:prstGeom prst="roundRect">
            <a:avLst>
              <a:gd name="adj" fmla="val 50000"/>
            </a:avLst>
          </a:prstGeom>
          <a:solidFill>
            <a:srgbClr val="FFFFFF"/>
          </a:solidFill>
          <a:ln w="12700">
            <a:solidFill>
              <a:srgbClr val="2D63FF"/>
            </a:solidFill>
            <a:prstDash val="solid"/>
          </a:ln>
        </p:spPr>
      </p:sp>
      <p:sp>
        <p:nvSpPr>
          <p:cNvPr id="22" name="Text 20"/>
          <p:cNvSpPr txBox="1"/>
          <p:nvPr/>
        </p:nvSpPr>
        <p:spPr>
          <a:xfrm>
            <a:off x="4352544" y="5468112"/>
            <a:ext cx="2359152" cy="402336"/>
          </a:xfrm>
          <a:prstGeom prst="rect">
            <a:avLst/>
          </a:prstGeom>
          <a:noFill/>
          <a:ln/>
        </p:spPr>
        <p:txBody>
          <a:bodyPr wrap="square" lIns="0" tIns="0" rIns="0" bIns="0" rtlCol="0" anchor="ctr"/>
          <a:lstStyle/>
          <a:p>
            <a:pPr algn="ctr" indent="0" marL="0">
              <a:buNone/>
            </a:pPr>
            <a:r>
              <a:rPr lang="en-US" sz="1200" dirty="0">
                <a:solidFill>
                  <a:srgbClr val="2D63FF"/>
                </a:solidFill>
                <a:latin typeface="IBM Plex Sans" pitchFamily="34" charset="0"/>
                <a:ea typeface="IBM Plex Sans" pitchFamily="34" charset="-122"/>
                <a:cs typeface="IBM Plex Sans" pitchFamily="34" charset="-120"/>
              </a:rPr>
              <a:t>Pseudo-random</a:t>
            </a:r>
            <a:endParaRPr lang="en-US" sz="1200" dirty="0"/>
          </a:p>
        </p:txBody>
      </p:sp>
      <p:sp>
        <p:nvSpPr>
          <p:cNvPr id="23" name="Shape 21"/>
          <p:cNvSpPr/>
          <p:nvPr/>
        </p:nvSpPr>
        <p:spPr>
          <a:xfrm>
            <a:off x="6839712" y="5468112"/>
            <a:ext cx="1042416" cy="402336"/>
          </a:xfrm>
          <a:prstGeom prst="roundRect">
            <a:avLst>
              <a:gd name="adj" fmla="val 50000"/>
            </a:avLst>
          </a:prstGeom>
          <a:solidFill>
            <a:srgbClr val="FFFFFF"/>
          </a:solidFill>
          <a:ln w="12700">
            <a:solidFill>
              <a:srgbClr val="2D63FF"/>
            </a:solidFill>
            <a:prstDash val="solid"/>
          </a:ln>
        </p:spPr>
      </p:sp>
      <p:sp>
        <p:nvSpPr>
          <p:cNvPr id="24" name="Text 22"/>
          <p:cNvSpPr txBox="1"/>
          <p:nvPr/>
        </p:nvSpPr>
        <p:spPr>
          <a:xfrm>
            <a:off x="6839712" y="5468112"/>
            <a:ext cx="1042416" cy="402336"/>
          </a:xfrm>
          <a:prstGeom prst="rect">
            <a:avLst/>
          </a:prstGeom>
          <a:noFill/>
          <a:ln/>
        </p:spPr>
        <p:txBody>
          <a:bodyPr wrap="square" lIns="0" tIns="0" rIns="0" bIns="0" rtlCol="0" anchor="ctr"/>
          <a:lstStyle/>
          <a:p>
            <a:pPr algn="ctr" indent="0" marL="0">
              <a:buNone/>
            </a:pPr>
            <a:r>
              <a:rPr lang="en-US" sz="1200" dirty="0">
                <a:solidFill>
                  <a:srgbClr val="2D63FF"/>
                </a:solidFill>
                <a:latin typeface="IBM Plex Sans" pitchFamily="34" charset="0"/>
                <a:ea typeface="IBM Plex Sans" pitchFamily="34" charset="-122"/>
                <a:cs typeface="IBM Plex Sans" pitchFamily="34" charset="-120"/>
              </a:rPr>
              <a:t>Seed</a:t>
            </a:r>
            <a:endParaRPr lang="en-US" sz="1200" dirty="0"/>
          </a:p>
        </p:txBody>
      </p:sp>
      <p:sp>
        <p:nvSpPr>
          <p:cNvPr id="25" name="Shape 23"/>
          <p:cNvSpPr/>
          <p:nvPr/>
        </p:nvSpPr>
        <p:spPr>
          <a:xfrm>
            <a:off x="8010144" y="5468112"/>
            <a:ext cx="1773936" cy="402336"/>
          </a:xfrm>
          <a:prstGeom prst="roundRect">
            <a:avLst>
              <a:gd name="adj" fmla="val 50000"/>
            </a:avLst>
          </a:prstGeom>
          <a:solidFill>
            <a:srgbClr val="FFFFFF"/>
          </a:solidFill>
          <a:ln w="12700">
            <a:solidFill>
              <a:srgbClr val="2D63FF"/>
            </a:solidFill>
            <a:prstDash val="solid"/>
          </a:ln>
        </p:spPr>
      </p:sp>
      <p:sp>
        <p:nvSpPr>
          <p:cNvPr id="26" name="Text 24"/>
          <p:cNvSpPr txBox="1"/>
          <p:nvPr/>
        </p:nvSpPr>
        <p:spPr>
          <a:xfrm>
            <a:off x="8010144" y="5468112"/>
            <a:ext cx="1773936" cy="402336"/>
          </a:xfrm>
          <a:prstGeom prst="rect">
            <a:avLst/>
          </a:prstGeom>
          <a:noFill/>
          <a:ln/>
        </p:spPr>
        <p:txBody>
          <a:bodyPr wrap="square" lIns="0" tIns="0" rIns="0" bIns="0" rtlCol="0" anchor="ctr"/>
          <a:lstStyle/>
          <a:p>
            <a:pPr algn="ctr" indent="0" marL="0">
              <a:buNone/>
            </a:pPr>
            <a:r>
              <a:rPr lang="en-US" sz="1200" dirty="0">
                <a:solidFill>
                  <a:srgbClr val="2D63FF"/>
                </a:solidFill>
                <a:latin typeface="IBM Plex Sans" pitchFamily="34" charset="0"/>
                <a:ea typeface="IBM Plex Sans" pitchFamily="34" charset="-122"/>
                <a:cs typeface="IBM Plex Sans" pitchFamily="34" charset="-120"/>
              </a:rPr>
              <a:t>Algorithm</a:t>
            </a:r>
            <a:endParaRPr lang="en-US" sz="1200" dirty="0"/>
          </a:p>
        </p:txBody>
      </p:sp>
      <p:sp>
        <p:nvSpPr>
          <p:cNvPr id="27" name="Shape 25"/>
          <p:cNvSpPr/>
          <p:nvPr/>
        </p:nvSpPr>
        <p:spPr>
          <a:xfrm>
            <a:off x="9912096" y="5468112"/>
            <a:ext cx="1481328" cy="402336"/>
          </a:xfrm>
          <a:prstGeom prst="roundRect">
            <a:avLst>
              <a:gd name="adj" fmla="val 50000"/>
            </a:avLst>
          </a:prstGeom>
          <a:solidFill>
            <a:srgbClr val="FFFFFF"/>
          </a:solidFill>
          <a:ln w="12700">
            <a:solidFill>
              <a:srgbClr val="2D63FF"/>
            </a:solidFill>
            <a:prstDash val="solid"/>
          </a:ln>
        </p:spPr>
      </p:sp>
      <p:sp>
        <p:nvSpPr>
          <p:cNvPr id="28" name="Text 26"/>
          <p:cNvSpPr txBox="1"/>
          <p:nvPr/>
        </p:nvSpPr>
        <p:spPr>
          <a:xfrm>
            <a:off x="9912096" y="5468112"/>
            <a:ext cx="1481328" cy="402336"/>
          </a:xfrm>
          <a:prstGeom prst="rect">
            <a:avLst/>
          </a:prstGeom>
          <a:noFill/>
          <a:ln/>
        </p:spPr>
        <p:txBody>
          <a:bodyPr wrap="square" lIns="0" tIns="0" rIns="0" bIns="0" rtlCol="0" anchor="ctr"/>
          <a:lstStyle/>
          <a:p>
            <a:pPr algn="ctr" indent="0" marL="0">
              <a:buNone/>
            </a:pPr>
            <a:r>
              <a:rPr lang="en-US" sz="1200" dirty="0">
                <a:solidFill>
                  <a:srgbClr val="2D63FF"/>
                </a:solidFill>
                <a:latin typeface="IBM Plex Sans" pitchFamily="34" charset="0"/>
                <a:ea typeface="IBM Plex Sans" pitchFamily="34" charset="-122"/>
                <a:cs typeface="IBM Plex Sans" pitchFamily="34" charset="-120"/>
              </a:rPr>
              <a:t>Shuffle</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7F7F4"/>
        </a:solidFill>
      </p:bgPr>
    </p:bg>
    <p:spTree>
      <p:nvGrpSpPr>
        <p:cNvPr id="1" name=""/>
        <p:cNvGrpSpPr/>
        <p:nvPr/>
      </p:nvGrpSpPr>
      <p:grpSpPr>
        <a:xfrm>
          <a:off x="0" y="0"/>
          <a:ext cx="0" cy="0"/>
          <a:chOff x="0" y="0"/>
          <a:chExt cx="0" cy="0"/>
        </a:xfrm>
      </p:grpSpPr>
      <p:sp>
        <p:nvSpPr>
          <p:cNvPr id="2" name="Shape 0"/>
          <p:cNvSpPr/>
          <p:nvPr/>
        </p:nvSpPr>
        <p:spPr>
          <a:xfrm>
            <a:off x="0" y="0"/>
            <a:ext cx="12188952" cy="82296"/>
          </a:xfrm>
          <a:prstGeom prst="rect">
            <a:avLst/>
          </a:prstGeom>
          <a:solidFill>
            <a:srgbClr val="2D63FF"/>
          </a:solidFill>
          <a:ln/>
        </p:spPr>
      </p:sp>
      <p:sp>
        <p:nvSpPr>
          <p:cNvPr id="3" name="Text 1"/>
          <p:cNvSpPr txBox="1"/>
          <p:nvPr/>
        </p:nvSpPr>
        <p:spPr>
          <a:xfrm>
            <a:off x="502920" y="6236208"/>
            <a:ext cx="7772400" cy="365760"/>
          </a:xfrm>
          <a:prstGeom prst="rect">
            <a:avLst/>
          </a:prstGeom>
          <a:noFill/>
          <a:ln/>
        </p:spPr>
        <p:txBody>
          <a:bodyPr wrap="square" lIns="0" tIns="0" rIns="0" bIns="0" rtlCol="0" anchor="ctr"/>
          <a:lstStyle/>
          <a:p>
            <a:pPr indent="0" marL="0">
              <a:buNone/>
            </a:pPr>
            <a:r>
              <a:rPr lang="en-US" sz="1100" dirty="0">
                <a:solidFill>
                  <a:srgbClr val="667085"/>
                </a:solidFill>
                <a:latin typeface="IBM Plex Mono" pitchFamily="34" charset="0"/>
                <a:ea typeface="IBM Plex Mono" pitchFamily="34" charset="-122"/>
                <a:cs typeface="IBM Plex Mono" pitchFamily="34" charset="-120"/>
              </a:rPr>
              <a:t>2.2 Programming fundamentals  |  Lesson 6</a:t>
            </a:r>
            <a:endParaRPr lang="en-US" sz="1100" dirty="0"/>
          </a:p>
        </p:txBody>
      </p:sp>
      <p:sp>
        <p:nvSpPr>
          <p:cNvPr id="4" name="Text 2"/>
          <p:cNvSpPr txBox="1"/>
          <p:nvPr/>
        </p:nvSpPr>
        <p:spPr>
          <a:xfrm>
            <a:off x="9326880" y="6236208"/>
            <a:ext cx="2377440" cy="365760"/>
          </a:xfrm>
          <a:prstGeom prst="rect">
            <a:avLst/>
          </a:prstGeom>
          <a:noFill/>
          <a:ln/>
        </p:spPr>
        <p:txBody>
          <a:bodyPr wrap="square" lIns="0" tIns="0" rIns="0" bIns="0" rtlCol="0" anchor="ctr"/>
          <a:lstStyle/>
          <a:p>
            <a:pPr algn="r" indent="0" marL="0">
              <a:buNone/>
            </a:pPr>
            <a:r>
              <a:rPr lang="en-US" sz="1100" dirty="0">
                <a:solidFill>
                  <a:srgbClr val="667085"/>
                </a:solidFill>
                <a:latin typeface="IBM Plex Mono" pitchFamily="34" charset="0"/>
                <a:ea typeface="IBM Plex Mono" pitchFamily="34" charset="-122"/>
                <a:cs typeface="IBM Plex Mono" pitchFamily="34" charset="-120"/>
              </a:rPr>
              <a:t>Revise 360</a:t>
            </a:r>
            <a:endParaRPr lang="en-US" sz="1100" dirty="0"/>
          </a:p>
        </p:txBody>
      </p:sp>
      <p:sp>
        <p:nvSpPr>
          <p:cNvPr id="5" name="Shape 3"/>
          <p:cNvSpPr/>
          <p:nvPr/>
        </p:nvSpPr>
        <p:spPr>
          <a:xfrm>
            <a:off x="502920" y="457200"/>
            <a:ext cx="2103120" cy="457200"/>
          </a:xfrm>
          <a:prstGeom prst="roundRect">
            <a:avLst>
              <a:gd name="adj" fmla="val 20000"/>
            </a:avLst>
          </a:prstGeom>
          <a:solidFill>
            <a:srgbClr val="F4B942"/>
          </a:solidFill>
          <a:ln/>
        </p:spPr>
      </p:sp>
      <p:sp>
        <p:nvSpPr>
          <p:cNvPr id="6" name="Text 4"/>
          <p:cNvSpPr txBox="1"/>
          <p:nvPr/>
        </p:nvSpPr>
        <p:spPr>
          <a:xfrm>
            <a:off x="502920" y="457200"/>
            <a:ext cx="2103120" cy="457200"/>
          </a:xfrm>
          <a:prstGeom prst="rect">
            <a:avLst/>
          </a:prstGeom>
          <a:noFill/>
          <a:ln/>
        </p:spPr>
        <p:txBody>
          <a:bodyPr wrap="square" lIns="0" tIns="0" rIns="0" bIns="0" rtlCol="0" anchor="ctr"/>
          <a:lstStyle/>
          <a:p>
            <a:pPr algn="ctr" indent="0" marL="0">
              <a:buNone/>
            </a:pPr>
            <a:r>
              <a:rPr lang="en-US" sz="1300" b="1" dirty="0">
                <a:solidFill>
                  <a:srgbClr val="101828"/>
                </a:solidFill>
                <a:latin typeface="IBM Plex Mono" pitchFamily="34" charset="0"/>
                <a:ea typeface="IBM Plex Mono" pitchFamily="34" charset="-122"/>
                <a:cs typeface="IBM Plex Mono" pitchFamily="34" charset="-120"/>
              </a:rPr>
              <a:t>STARTER</a:t>
            </a:r>
            <a:endParaRPr lang="en-US" sz="1300" dirty="0"/>
          </a:p>
        </p:txBody>
      </p:sp>
      <p:sp>
        <p:nvSpPr>
          <p:cNvPr id="7" name="Text 5"/>
          <p:cNvSpPr txBox="1"/>
          <p:nvPr/>
        </p:nvSpPr>
        <p:spPr>
          <a:xfrm>
            <a:off x="2788920" y="457200"/>
            <a:ext cx="5486400" cy="457200"/>
          </a:xfrm>
          <a:prstGeom prst="rect">
            <a:avLst/>
          </a:prstGeom>
          <a:noFill/>
          <a:ln/>
        </p:spPr>
        <p:txBody>
          <a:bodyPr wrap="square" lIns="0" tIns="0" rIns="0" bIns="0" rtlCol="0" anchor="ctr"/>
          <a:lstStyle/>
          <a:p>
            <a:pPr indent="0" marL="0">
              <a:buNone/>
            </a:pPr>
            <a:r>
              <a:rPr lang="en-US" sz="1400" dirty="0">
                <a:solidFill>
                  <a:srgbClr val="667085"/>
                </a:solidFill>
                <a:latin typeface="IBM Plex Sans" pitchFamily="34" charset="0"/>
                <a:ea typeface="IBM Plex Sans" pitchFamily="34" charset="-122"/>
                <a:cs typeface="IBM Plex Sans" pitchFamily="34" charset="-120"/>
              </a:rPr>
              <a:t>Five minutes, on paper</a:t>
            </a:r>
            <a:endParaRPr lang="en-US" sz="1400" dirty="0"/>
          </a:p>
        </p:txBody>
      </p:sp>
      <p:sp>
        <p:nvSpPr>
          <p:cNvPr id="8" name="Shape 6"/>
          <p:cNvSpPr/>
          <p:nvPr/>
        </p:nvSpPr>
        <p:spPr>
          <a:xfrm>
            <a:off x="502920" y="1234440"/>
            <a:ext cx="11155680" cy="3200400"/>
          </a:xfrm>
          <a:prstGeom prst="roundRect">
            <a:avLst>
              <a:gd name="adj" fmla="val 3429"/>
            </a:avLst>
          </a:prstGeom>
          <a:solidFill>
            <a:srgbClr val="FFFFFF"/>
          </a:solidFill>
          <a:ln w="15875">
            <a:solidFill>
              <a:srgbClr val="2D63FF"/>
            </a:solidFill>
            <a:prstDash val="solid"/>
          </a:ln>
        </p:spPr>
      </p:sp>
      <p:sp>
        <p:nvSpPr>
          <p:cNvPr id="9" name="Text 7"/>
          <p:cNvSpPr txBox="1"/>
          <p:nvPr/>
        </p:nvSpPr>
        <p:spPr>
          <a:xfrm>
            <a:off x="1005840" y="1645920"/>
            <a:ext cx="10149840" cy="2377440"/>
          </a:xfrm>
          <a:prstGeom prst="rect">
            <a:avLst/>
          </a:prstGeom>
          <a:noFill/>
          <a:ln/>
        </p:spPr>
        <p:txBody>
          <a:bodyPr wrap="square" lIns="0" tIns="0" rIns="0" bIns="0" rtlCol="0" anchor="ctr"/>
          <a:lstStyle/>
          <a:p>
            <a:pPr indent="0" marL="0">
              <a:lnSpc>
                <a:spcPct val="130000"/>
              </a:lnSpc>
              <a:buNone/>
            </a:pPr>
            <a:r>
              <a:rPr lang="en-US" sz="2600" dirty="0">
                <a:solidFill>
                  <a:srgbClr val="101828"/>
                </a:solidFill>
                <a:latin typeface="IBM Plex Sans" pitchFamily="34" charset="0"/>
                <a:ea typeface="IBM Plex Sans" pitchFamily="34" charset="-122"/>
                <a:cs typeface="IBM Plex Sans" pitchFamily="34" charset="-120"/>
              </a:rPr>
              <a:t>A quiz program picks one of twenty questions to ask first. Write down what the program must do to choose a different question each time it runs, and the lowest and highest number it needs.</a:t>
            </a:r>
            <a:endParaRPr lang="en-US" sz="2600" dirty="0"/>
          </a:p>
        </p:txBody>
      </p:sp>
      <p:sp>
        <p:nvSpPr>
          <p:cNvPr id="10" name="Text 8"/>
          <p:cNvSpPr txBox="1"/>
          <p:nvPr/>
        </p:nvSpPr>
        <p:spPr>
          <a:xfrm>
            <a:off x="502920" y="4709160"/>
            <a:ext cx="11155680" cy="457200"/>
          </a:xfrm>
          <a:prstGeom prst="rect">
            <a:avLst/>
          </a:prstGeom>
          <a:noFill/>
          <a:ln/>
        </p:spPr>
        <p:txBody>
          <a:bodyPr wrap="square" lIns="0" tIns="0" rIns="0" bIns="0" rtlCol="0" anchor="ctr"/>
          <a:lstStyle/>
          <a:p>
            <a:pPr indent="0" marL="0">
              <a:buNone/>
            </a:pPr>
            <a:r>
              <a:rPr lang="en-US" sz="1500" dirty="0">
                <a:solidFill>
                  <a:srgbClr val="667085"/>
                </a:solidFill>
                <a:latin typeface="IBM Plex Sans" pitchFamily="34" charset="0"/>
                <a:ea typeface="IBM Plex Sans" pitchFamily="34" charset="-122"/>
                <a:cs typeface="IBM Plex Sans" pitchFamily="34" charset="-120"/>
              </a:rPr>
              <a:t>No devices yet. Write your answer on the worksheet before anyone talks.</a:t>
            </a:r>
            <a:endParaRPr lang="en-US" sz="15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7F7F4"/>
        </a:solidFill>
      </p:bgPr>
    </p:bg>
    <p:spTree>
      <p:nvGrpSpPr>
        <p:cNvPr id="1" name=""/>
        <p:cNvGrpSpPr/>
        <p:nvPr/>
      </p:nvGrpSpPr>
      <p:grpSpPr>
        <a:xfrm>
          <a:off x="0" y="0"/>
          <a:ext cx="0" cy="0"/>
          <a:chOff x="0" y="0"/>
          <a:chExt cx="0" cy="0"/>
        </a:xfrm>
      </p:grpSpPr>
      <p:sp>
        <p:nvSpPr>
          <p:cNvPr id="2" name="Shape 0"/>
          <p:cNvSpPr/>
          <p:nvPr/>
        </p:nvSpPr>
        <p:spPr>
          <a:xfrm>
            <a:off x="0" y="0"/>
            <a:ext cx="12188952" cy="82296"/>
          </a:xfrm>
          <a:prstGeom prst="rect">
            <a:avLst/>
          </a:prstGeom>
          <a:solidFill>
            <a:srgbClr val="2D63FF"/>
          </a:solidFill>
          <a:ln/>
        </p:spPr>
      </p:sp>
      <p:sp>
        <p:nvSpPr>
          <p:cNvPr id="3" name="Text 1"/>
          <p:cNvSpPr txBox="1"/>
          <p:nvPr/>
        </p:nvSpPr>
        <p:spPr>
          <a:xfrm>
            <a:off x="502920" y="6236208"/>
            <a:ext cx="7772400" cy="365760"/>
          </a:xfrm>
          <a:prstGeom prst="rect">
            <a:avLst/>
          </a:prstGeom>
          <a:noFill/>
          <a:ln/>
        </p:spPr>
        <p:txBody>
          <a:bodyPr wrap="square" lIns="0" tIns="0" rIns="0" bIns="0" rtlCol="0" anchor="ctr"/>
          <a:lstStyle/>
          <a:p>
            <a:pPr indent="0" marL="0">
              <a:buNone/>
            </a:pPr>
            <a:r>
              <a:rPr lang="en-US" sz="1100" dirty="0">
                <a:solidFill>
                  <a:srgbClr val="667085"/>
                </a:solidFill>
                <a:latin typeface="IBM Plex Mono" pitchFamily="34" charset="0"/>
                <a:ea typeface="IBM Plex Mono" pitchFamily="34" charset="-122"/>
                <a:cs typeface="IBM Plex Mono" pitchFamily="34" charset="-120"/>
              </a:rPr>
              <a:t>2.2 Programming fundamentals  |  Lesson 6</a:t>
            </a:r>
            <a:endParaRPr lang="en-US" sz="1100" dirty="0"/>
          </a:p>
        </p:txBody>
      </p:sp>
      <p:sp>
        <p:nvSpPr>
          <p:cNvPr id="4" name="Text 2"/>
          <p:cNvSpPr txBox="1"/>
          <p:nvPr/>
        </p:nvSpPr>
        <p:spPr>
          <a:xfrm>
            <a:off x="9326880" y="6236208"/>
            <a:ext cx="2377440" cy="365760"/>
          </a:xfrm>
          <a:prstGeom prst="rect">
            <a:avLst/>
          </a:prstGeom>
          <a:noFill/>
          <a:ln/>
        </p:spPr>
        <p:txBody>
          <a:bodyPr wrap="square" lIns="0" tIns="0" rIns="0" bIns="0" rtlCol="0" anchor="ctr"/>
          <a:lstStyle/>
          <a:p>
            <a:pPr algn="r" indent="0" marL="0">
              <a:buNone/>
            </a:pPr>
            <a:r>
              <a:rPr lang="en-US" sz="1100" dirty="0">
                <a:solidFill>
                  <a:srgbClr val="667085"/>
                </a:solidFill>
                <a:latin typeface="IBM Plex Mono" pitchFamily="34" charset="0"/>
                <a:ea typeface="IBM Plex Mono" pitchFamily="34" charset="-122"/>
                <a:cs typeface="IBM Plex Mono" pitchFamily="34" charset="-120"/>
              </a:rPr>
              <a:t>Revise 360</a:t>
            </a:r>
            <a:endParaRPr lang="en-US" sz="1100" dirty="0"/>
          </a:p>
        </p:txBody>
      </p:sp>
      <p:sp>
        <p:nvSpPr>
          <p:cNvPr id="5" name="Text 3"/>
          <p:cNvSpPr txBox="1"/>
          <p:nvPr/>
        </p:nvSpPr>
        <p:spPr>
          <a:xfrm>
            <a:off x="502920" y="411480"/>
            <a:ext cx="11155680" cy="777240"/>
          </a:xfrm>
          <a:prstGeom prst="rect">
            <a:avLst/>
          </a:prstGeom>
          <a:noFill/>
          <a:ln/>
        </p:spPr>
        <p:txBody>
          <a:bodyPr wrap="square" lIns="0" tIns="0" rIns="0" bIns="0" rtlCol="0" anchor="ctr"/>
          <a:lstStyle/>
          <a:p>
            <a:pPr indent="0" marL="0">
              <a:buNone/>
            </a:pPr>
            <a:r>
              <a:rPr lang="en-US" sz="3200" b="1" dirty="0">
                <a:solidFill>
                  <a:srgbClr val="101828"/>
                </a:solidFill>
                <a:latin typeface="IBM Plex Sans" pitchFamily="34" charset="0"/>
                <a:ea typeface="IBM Plex Sans" pitchFamily="34" charset="-122"/>
                <a:cs typeface="IBM Plex Sans" pitchFamily="34" charset="-120"/>
              </a:rPr>
              <a:t>Into the experience</a:t>
            </a:r>
            <a:endParaRPr lang="en-US" sz="3200" dirty="0"/>
          </a:p>
        </p:txBody>
      </p:sp>
      <p:sp>
        <p:nvSpPr>
          <p:cNvPr id="6" name="Text 4"/>
          <p:cNvSpPr txBox="1"/>
          <p:nvPr/>
        </p:nvSpPr>
        <p:spPr>
          <a:xfrm>
            <a:off x="502920" y="1170432"/>
            <a:ext cx="11155680" cy="411480"/>
          </a:xfrm>
          <a:prstGeom prst="rect">
            <a:avLst/>
          </a:prstGeom>
          <a:noFill/>
          <a:ln/>
        </p:spPr>
        <p:txBody>
          <a:bodyPr wrap="square" lIns="0" tIns="0" rIns="0" bIns="0" rtlCol="0" anchor="ctr"/>
          <a:lstStyle/>
          <a:p>
            <a:pPr indent="0" marL="0">
              <a:buNone/>
            </a:pPr>
            <a:r>
              <a:rPr lang="en-US" sz="1500" dirty="0">
                <a:solidFill>
                  <a:srgbClr val="667085"/>
                </a:solidFill>
                <a:latin typeface="IBM Plex Sans" pitchFamily="34" charset="0"/>
                <a:ea typeface="IBM Plex Sans" pitchFamily="34" charset="-122"/>
                <a:cs typeface="IBM Plex Sans" pitchFamily="34" charset="-120"/>
              </a:rPr>
              <a:t>Open Chance machine on revise360.co.uk</a:t>
            </a:r>
            <a:endParaRPr lang="en-US" sz="1500" dirty="0"/>
          </a:p>
        </p:txBody>
      </p:sp>
      <p:sp>
        <p:nvSpPr>
          <p:cNvPr id="7" name="Shape 5"/>
          <p:cNvSpPr/>
          <p:nvPr/>
        </p:nvSpPr>
        <p:spPr>
          <a:xfrm>
            <a:off x="548640" y="1874520"/>
            <a:ext cx="566928" cy="566928"/>
          </a:xfrm>
          <a:prstGeom prst="ellipse">
            <a:avLst/>
          </a:prstGeom>
          <a:solidFill>
            <a:srgbClr val="08A6A6"/>
          </a:solidFill>
          <a:ln/>
        </p:spPr>
      </p:sp>
      <p:sp>
        <p:nvSpPr>
          <p:cNvPr id="8" name="Text 6"/>
          <p:cNvSpPr txBox="1"/>
          <p:nvPr/>
        </p:nvSpPr>
        <p:spPr>
          <a:xfrm>
            <a:off x="548640" y="1874520"/>
            <a:ext cx="566928" cy="566928"/>
          </a:xfrm>
          <a:prstGeom prst="rect">
            <a:avLst/>
          </a:prstGeom>
          <a:noFill/>
          <a:ln/>
        </p:spPr>
        <p:txBody>
          <a:bodyPr wrap="square" lIns="0" tIns="0" rIns="0" bIns="0" rtlCol="0" anchor="ctr"/>
          <a:lstStyle/>
          <a:p>
            <a:pPr algn="ctr" indent="0" marL="0">
              <a:buNone/>
            </a:pPr>
            <a:r>
              <a:rPr lang="en-US" sz="2000" b="1" dirty="0">
                <a:solidFill>
                  <a:srgbClr val="FFFFFF"/>
                </a:solidFill>
                <a:latin typeface="IBM Plex Mono" pitchFamily="34" charset="0"/>
                <a:ea typeface="IBM Plex Mono" pitchFamily="34" charset="-122"/>
                <a:cs typeface="IBM Plex Mono" pitchFamily="34" charset="-120"/>
              </a:rPr>
              <a:t>1</a:t>
            </a:r>
            <a:endParaRPr lang="en-US" sz="2000" dirty="0"/>
          </a:p>
        </p:txBody>
      </p:sp>
      <p:sp>
        <p:nvSpPr>
          <p:cNvPr id="9" name="Text 7"/>
          <p:cNvSpPr txBox="1"/>
          <p:nvPr/>
        </p:nvSpPr>
        <p:spPr>
          <a:xfrm>
            <a:off x="1325880" y="1856232"/>
            <a:ext cx="3017520" cy="320040"/>
          </a:xfrm>
          <a:prstGeom prst="rect">
            <a:avLst/>
          </a:prstGeom>
          <a:noFill/>
          <a:ln/>
        </p:spPr>
        <p:txBody>
          <a:bodyPr wrap="square" lIns="0" tIns="0" rIns="0" bIns="0" rtlCol="0" anchor="ctr"/>
          <a:lstStyle/>
          <a:p>
            <a:pPr indent="0" marL="0">
              <a:buNone/>
            </a:pPr>
            <a:r>
              <a:rPr lang="en-US" sz="1700" b="1" dirty="0">
                <a:solidFill>
                  <a:srgbClr val="101828"/>
                </a:solidFill>
                <a:latin typeface="IBM Plex Sans" pitchFamily="34" charset="0"/>
                <a:ea typeface="IBM Plex Sans" pitchFamily="34" charset="-122"/>
                <a:cs typeface="IBM Plex Sans" pitchFamily="34" charset="-120"/>
              </a:rPr>
              <a:t>Look around</a:t>
            </a:r>
            <a:endParaRPr lang="en-US" sz="1700" dirty="0"/>
          </a:p>
        </p:txBody>
      </p:sp>
      <p:sp>
        <p:nvSpPr>
          <p:cNvPr id="10" name="Text 8"/>
          <p:cNvSpPr txBox="1"/>
          <p:nvPr/>
        </p:nvSpPr>
        <p:spPr>
          <a:xfrm>
            <a:off x="1325880" y="2148840"/>
            <a:ext cx="10241280" cy="457200"/>
          </a:xfrm>
          <a:prstGeom prst="rect">
            <a:avLst/>
          </a:prstGeom>
          <a:noFill/>
          <a:ln/>
        </p:spPr>
        <p:txBody>
          <a:bodyPr wrap="square" lIns="0" tIns="0" rIns="0" bIns="0" rtlCol="0" anchor="t"/>
          <a:lstStyle/>
          <a:p>
            <a:pPr indent="0" marL="0">
              <a:buNone/>
            </a:pPr>
            <a:r>
              <a:rPr lang="en-US" sz="1400" dirty="0">
                <a:solidFill>
                  <a:srgbClr val="667085"/>
                </a:solidFill>
                <a:latin typeface="IBM Plex Sans" pitchFamily="34" charset="0"/>
                <a:ea typeface="IBM Plex Sans" pitchFamily="34" charset="-122"/>
                <a:cs typeface="IBM Plex Sans" pitchFamily="34" charset="-120"/>
              </a:rPr>
              <a:t>Six numbered stations are arranged around you. Turn right for 1 and 2, around for 3 and 4, left for 5 and 6.</a:t>
            </a:r>
            <a:endParaRPr lang="en-US" sz="1400" dirty="0"/>
          </a:p>
        </p:txBody>
      </p:sp>
      <p:sp>
        <p:nvSpPr>
          <p:cNvPr id="11" name="Shape 9"/>
          <p:cNvSpPr/>
          <p:nvPr/>
        </p:nvSpPr>
        <p:spPr>
          <a:xfrm>
            <a:off x="548640" y="2898648"/>
            <a:ext cx="566928" cy="566928"/>
          </a:xfrm>
          <a:prstGeom prst="ellipse">
            <a:avLst/>
          </a:prstGeom>
          <a:solidFill>
            <a:srgbClr val="08A6A6"/>
          </a:solidFill>
          <a:ln/>
        </p:spPr>
      </p:sp>
      <p:sp>
        <p:nvSpPr>
          <p:cNvPr id="12" name="Text 10"/>
          <p:cNvSpPr txBox="1"/>
          <p:nvPr/>
        </p:nvSpPr>
        <p:spPr>
          <a:xfrm>
            <a:off x="548640" y="2898648"/>
            <a:ext cx="566928" cy="566928"/>
          </a:xfrm>
          <a:prstGeom prst="rect">
            <a:avLst/>
          </a:prstGeom>
          <a:noFill/>
          <a:ln/>
        </p:spPr>
        <p:txBody>
          <a:bodyPr wrap="square" lIns="0" tIns="0" rIns="0" bIns="0" rtlCol="0" anchor="ctr"/>
          <a:lstStyle/>
          <a:p>
            <a:pPr algn="ctr" indent="0" marL="0">
              <a:buNone/>
            </a:pPr>
            <a:r>
              <a:rPr lang="en-US" sz="2000" b="1" dirty="0">
                <a:solidFill>
                  <a:srgbClr val="FFFFFF"/>
                </a:solidFill>
                <a:latin typeface="IBM Plex Mono" pitchFamily="34" charset="0"/>
                <a:ea typeface="IBM Plex Mono" pitchFamily="34" charset="-122"/>
                <a:cs typeface="IBM Plex Mono" pitchFamily="34" charset="-120"/>
              </a:rPr>
              <a:t>2</a:t>
            </a:r>
            <a:endParaRPr lang="en-US" sz="2000" dirty="0"/>
          </a:p>
        </p:txBody>
      </p:sp>
      <p:sp>
        <p:nvSpPr>
          <p:cNvPr id="13" name="Text 11"/>
          <p:cNvSpPr txBox="1"/>
          <p:nvPr/>
        </p:nvSpPr>
        <p:spPr>
          <a:xfrm>
            <a:off x="1325880" y="2880360"/>
            <a:ext cx="3017520" cy="320040"/>
          </a:xfrm>
          <a:prstGeom prst="rect">
            <a:avLst/>
          </a:prstGeom>
          <a:noFill/>
          <a:ln/>
        </p:spPr>
        <p:txBody>
          <a:bodyPr wrap="square" lIns="0" tIns="0" rIns="0" bIns="0" rtlCol="0" anchor="ctr"/>
          <a:lstStyle/>
          <a:p>
            <a:pPr indent="0" marL="0">
              <a:buNone/>
            </a:pPr>
            <a:r>
              <a:rPr lang="en-US" sz="1700" b="1" dirty="0">
                <a:solidFill>
                  <a:srgbClr val="101828"/>
                </a:solidFill>
                <a:latin typeface="IBM Plex Sans" pitchFamily="34" charset="0"/>
                <a:ea typeface="IBM Plex Sans" pitchFamily="34" charset="-122"/>
                <a:cs typeface="IBM Plex Sans" pitchFamily="34" charset="-120"/>
              </a:rPr>
              <a:t>Read, then write</a:t>
            </a:r>
            <a:endParaRPr lang="en-US" sz="1700" dirty="0"/>
          </a:p>
        </p:txBody>
      </p:sp>
      <p:sp>
        <p:nvSpPr>
          <p:cNvPr id="14" name="Text 12"/>
          <p:cNvSpPr txBox="1"/>
          <p:nvPr/>
        </p:nvSpPr>
        <p:spPr>
          <a:xfrm>
            <a:off x="1325880" y="3172968"/>
            <a:ext cx="10241280" cy="457200"/>
          </a:xfrm>
          <a:prstGeom prst="rect">
            <a:avLst/>
          </a:prstGeom>
          <a:noFill/>
          <a:ln/>
        </p:spPr>
        <p:txBody>
          <a:bodyPr wrap="square" lIns="0" tIns="0" rIns="0" bIns="0" rtlCol="0" anchor="t"/>
          <a:lstStyle/>
          <a:p>
            <a:pPr indent="0" marL="0">
              <a:buNone/>
            </a:pPr>
            <a:r>
              <a:rPr lang="en-US" sz="1400" dirty="0">
                <a:solidFill>
                  <a:srgbClr val="667085"/>
                </a:solidFill>
                <a:latin typeface="IBM Plex Sans" pitchFamily="34" charset="0"/>
                <a:ea typeface="IBM Plex Sans" pitchFamily="34" charset="-122"/>
                <a:cs typeface="IBM Plex Sans" pitchFamily="34" charset="-120"/>
              </a:rPr>
              <a:t>Read the wall, write the key fact and your answer to the challenge on the worksheet.</a:t>
            </a:r>
            <a:endParaRPr lang="en-US" sz="1400" dirty="0"/>
          </a:p>
        </p:txBody>
      </p:sp>
      <p:sp>
        <p:nvSpPr>
          <p:cNvPr id="15" name="Shape 13"/>
          <p:cNvSpPr/>
          <p:nvPr/>
        </p:nvSpPr>
        <p:spPr>
          <a:xfrm>
            <a:off x="548640" y="3922776"/>
            <a:ext cx="566928" cy="566928"/>
          </a:xfrm>
          <a:prstGeom prst="ellipse">
            <a:avLst/>
          </a:prstGeom>
          <a:solidFill>
            <a:srgbClr val="08A6A6"/>
          </a:solidFill>
          <a:ln/>
        </p:spPr>
      </p:sp>
      <p:sp>
        <p:nvSpPr>
          <p:cNvPr id="16" name="Text 14"/>
          <p:cNvSpPr txBox="1"/>
          <p:nvPr/>
        </p:nvSpPr>
        <p:spPr>
          <a:xfrm>
            <a:off x="548640" y="3922776"/>
            <a:ext cx="566928" cy="566928"/>
          </a:xfrm>
          <a:prstGeom prst="rect">
            <a:avLst/>
          </a:prstGeom>
          <a:noFill/>
          <a:ln/>
        </p:spPr>
        <p:txBody>
          <a:bodyPr wrap="square" lIns="0" tIns="0" rIns="0" bIns="0" rtlCol="0" anchor="ctr"/>
          <a:lstStyle/>
          <a:p>
            <a:pPr algn="ctr" indent="0" marL="0">
              <a:buNone/>
            </a:pPr>
            <a:r>
              <a:rPr lang="en-US" sz="2000" b="1" dirty="0">
                <a:solidFill>
                  <a:srgbClr val="FFFFFF"/>
                </a:solidFill>
                <a:latin typeface="IBM Plex Mono" pitchFamily="34" charset="0"/>
                <a:ea typeface="IBM Plex Mono" pitchFamily="34" charset="-122"/>
                <a:cs typeface="IBM Plex Mono" pitchFamily="34" charset="-120"/>
              </a:rPr>
              <a:t>3</a:t>
            </a:r>
            <a:endParaRPr lang="en-US" sz="2000" dirty="0"/>
          </a:p>
        </p:txBody>
      </p:sp>
      <p:sp>
        <p:nvSpPr>
          <p:cNvPr id="17" name="Text 15"/>
          <p:cNvSpPr txBox="1"/>
          <p:nvPr/>
        </p:nvSpPr>
        <p:spPr>
          <a:xfrm>
            <a:off x="1325880" y="3904488"/>
            <a:ext cx="3017520" cy="320040"/>
          </a:xfrm>
          <a:prstGeom prst="rect">
            <a:avLst/>
          </a:prstGeom>
          <a:noFill/>
          <a:ln/>
        </p:spPr>
        <p:txBody>
          <a:bodyPr wrap="square" lIns="0" tIns="0" rIns="0" bIns="0" rtlCol="0" anchor="ctr"/>
          <a:lstStyle/>
          <a:p>
            <a:pPr indent="0" marL="0">
              <a:buNone/>
            </a:pPr>
            <a:r>
              <a:rPr lang="en-US" sz="1700" b="1" dirty="0">
                <a:solidFill>
                  <a:srgbClr val="101828"/>
                </a:solidFill>
                <a:latin typeface="IBM Plex Sans" pitchFamily="34" charset="0"/>
                <a:ea typeface="IBM Plex Sans" pitchFamily="34" charset="-122"/>
                <a:cs typeface="IBM Plex Sans" pitchFamily="34" charset="-120"/>
              </a:rPr>
              <a:t>Then tap the badge</a:t>
            </a:r>
            <a:endParaRPr lang="en-US" sz="1700" dirty="0"/>
          </a:p>
        </p:txBody>
      </p:sp>
      <p:sp>
        <p:nvSpPr>
          <p:cNvPr id="18" name="Text 16"/>
          <p:cNvSpPr txBox="1"/>
          <p:nvPr/>
        </p:nvSpPr>
        <p:spPr>
          <a:xfrm>
            <a:off x="1325880" y="4197096"/>
            <a:ext cx="10241280" cy="457200"/>
          </a:xfrm>
          <a:prstGeom prst="rect">
            <a:avLst/>
          </a:prstGeom>
          <a:noFill/>
          <a:ln/>
        </p:spPr>
        <p:txBody>
          <a:bodyPr wrap="square" lIns="0" tIns="0" rIns="0" bIns="0" rtlCol="0" anchor="t"/>
          <a:lstStyle/>
          <a:p>
            <a:pPr indent="0" marL="0">
              <a:buNone/>
            </a:pPr>
            <a:r>
              <a:rPr lang="en-US" sz="1400" dirty="0">
                <a:solidFill>
                  <a:srgbClr val="667085"/>
                </a:solidFill>
                <a:latin typeface="IBM Plex Sans" pitchFamily="34" charset="0"/>
                <a:ea typeface="IBM Plex Sans" pitchFamily="34" charset="-122"/>
                <a:cs typeface="IBM Plex Sans" pitchFamily="34" charset="-120"/>
              </a:rPr>
              <a:t>Only answer the questions once you have written. Your first answer is the one that counts.</a:t>
            </a:r>
            <a:endParaRPr lang="en-US" sz="1400" dirty="0"/>
          </a:p>
        </p:txBody>
      </p:sp>
      <p:sp>
        <p:nvSpPr>
          <p:cNvPr id="19" name="Shape 17"/>
          <p:cNvSpPr/>
          <p:nvPr/>
        </p:nvSpPr>
        <p:spPr>
          <a:xfrm>
            <a:off x="548640" y="4946904"/>
            <a:ext cx="566928" cy="566928"/>
          </a:xfrm>
          <a:prstGeom prst="ellipse">
            <a:avLst/>
          </a:prstGeom>
          <a:solidFill>
            <a:srgbClr val="F4B942"/>
          </a:solidFill>
          <a:ln/>
        </p:spPr>
      </p:sp>
      <p:sp>
        <p:nvSpPr>
          <p:cNvPr id="20" name="Text 18"/>
          <p:cNvSpPr txBox="1"/>
          <p:nvPr/>
        </p:nvSpPr>
        <p:spPr>
          <a:xfrm>
            <a:off x="548640" y="4946904"/>
            <a:ext cx="566928" cy="566928"/>
          </a:xfrm>
          <a:prstGeom prst="rect">
            <a:avLst/>
          </a:prstGeom>
          <a:noFill/>
          <a:ln/>
        </p:spPr>
        <p:txBody>
          <a:bodyPr wrap="square" lIns="0" tIns="0" rIns="0" bIns="0" rtlCol="0" anchor="ctr"/>
          <a:lstStyle/>
          <a:p>
            <a:pPr algn="ctr" indent="0" marL="0">
              <a:buNone/>
            </a:pPr>
            <a:r>
              <a:rPr lang="en-US" sz="2000" b="1" dirty="0">
                <a:solidFill>
                  <a:srgbClr val="FFFFFF"/>
                </a:solidFill>
                <a:latin typeface="IBM Plex Mono" pitchFamily="34" charset="0"/>
                <a:ea typeface="IBM Plex Mono" pitchFamily="34" charset="-122"/>
                <a:cs typeface="IBM Plex Mono" pitchFamily="34" charset="-120"/>
              </a:rPr>
              <a:t>4</a:t>
            </a:r>
            <a:endParaRPr lang="en-US" sz="2000" dirty="0"/>
          </a:p>
        </p:txBody>
      </p:sp>
      <p:sp>
        <p:nvSpPr>
          <p:cNvPr id="21" name="Text 19"/>
          <p:cNvSpPr txBox="1"/>
          <p:nvPr/>
        </p:nvSpPr>
        <p:spPr>
          <a:xfrm>
            <a:off x="1325880" y="4928616"/>
            <a:ext cx="3017520" cy="320040"/>
          </a:xfrm>
          <a:prstGeom prst="rect">
            <a:avLst/>
          </a:prstGeom>
          <a:noFill/>
          <a:ln/>
        </p:spPr>
        <p:txBody>
          <a:bodyPr wrap="square" lIns="0" tIns="0" rIns="0" bIns="0" rtlCol="0" anchor="ctr"/>
          <a:lstStyle/>
          <a:p>
            <a:pPr indent="0" marL="0">
              <a:buNone/>
            </a:pPr>
            <a:r>
              <a:rPr lang="en-US" sz="1700" b="1" dirty="0">
                <a:solidFill>
                  <a:srgbClr val="101828"/>
                </a:solidFill>
                <a:latin typeface="IBM Plex Sans" pitchFamily="34" charset="0"/>
                <a:ea typeface="IBM Plex Sans" pitchFamily="34" charset="-122"/>
                <a:cs typeface="IBM Plex Sans" pitchFamily="34" charset="-120"/>
              </a:rPr>
              <a:t>Look down at the end</a:t>
            </a:r>
            <a:endParaRPr lang="en-US" sz="1700" dirty="0"/>
          </a:p>
        </p:txBody>
      </p:sp>
      <p:sp>
        <p:nvSpPr>
          <p:cNvPr id="22" name="Text 20"/>
          <p:cNvSpPr txBox="1"/>
          <p:nvPr/>
        </p:nvSpPr>
        <p:spPr>
          <a:xfrm>
            <a:off x="1325880" y="5221224"/>
            <a:ext cx="10241280" cy="457200"/>
          </a:xfrm>
          <a:prstGeom prst="rect">
            <a:avLst/>
          </a:prstGeom>
          <a:noFill/>
          <a:ln/>
        </p:spPr>
        <p:txBody>
          <a:bodyPr wrap="square" lIns="0" tIns="0" rIns="0" bIns="0" rtlCol="0" anchor="t"/>
          <a:lstStyle/>
          <a:p>
            <a:pPr indent="0" marL="0">
              <a:buNone/>
            </a:pPr>
            <a:r>
              <a:rPr lang="en-US" sz="1400" dirty="0">
                <a:solidFill>
                  <a:srgbClr val="667085"/>
                </a:solidFill>
                <a:latin typeface="IBM Plex Sans" pitchFamily="34" charset="0"/>
                <a:ea typeface="IBM Plex Sans" pitchFamily="34" charset="-122"/>
                <a:cs typeface="IBM Plex Sans" pitchFamily="34" charset="-120"/>
              </a:rPr>
              <a:t>The starred final challenge is on the floor. Predict on paper first.</a:t>
            </a:r>
            <a:endParaRPr lang="en-US" sz="14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7F7F4"/>
        </a:solidFill>
      </p:bgPr>
    </p:bg>
    <p:spTree>
      <p:nvGrpSpPr>
        <p:cNvPr id="1" name=""/>
        <p:cNvGrpSpPr/>
        <p:nvPr/>
      </p:nvGrpSpPr>
      <p:grpSpPr>
        <a:xfrm>
          <a:off x="0" y="0"/>
          <a:ext cx="0" cy="0"/>
          <a:chOff x="0" y="0"/>
          <a:chExt cx="0" cy="0"/>
        </a:xfrm>
      </p:grpSpPr>
      <p:sp>
        <p:nvSpPr>
          <p:cNvPr id="2" name="Shape 0"/>
          <p:cNvSpPr/>
          <p:nvPr/>
        </p:nvSpPr>
        <p:spPr>
          <a:xfrm>
            <a:off x="0" y="0"/>
            <a:ext cx="12188952" cy="82296"/>
          </a:xfrm>
          <a:prstGeom prst="rect">
            <a:avLst/>
          </a:prstGeom>
          <a:solidFill>
            <a:srgbClr val="2D63FF"/>
          </a:solidFill>
          <a:ln/>
        </p:spPr>
      </p:sp>
      <p:sp>
        <p:nvSpPr>
          <p:cNvPr id="3" name="Text 1"/>
          <p:cNvSpPr txBox="1"/>
          <p:nvPr/>
        </p:nvSpPr>
        <p:spPr>
          <a:xfrm>
            <a:off x="502920" y="6236208"/>
            <a:ext cx="7772400" cy="365760"/>
          </a:xfrm>
          <a:prstGeom prst="rect">
            <a:avLst/>
          </a:prstGeom>
          <a:noFill/>
          <a:ln/>
        </p:spPr>
        <p:txBody>
          <a:bodyPr wrap="square" lIns="0" tIns="0" rIns="0" bIns="0" rtlCol="0" anchor="ctr"/>
          <a:lstStyle/>
          <a:p>
            <a:pPr indent="0" marL="0">
              <a:buNone/>
            </a:pPr>
            <a:r>
              <a:rPr lang="en-US" sz="1100" dirty="0">
                <a:solidFill>
                  <a:srgbClr val="667085"/>
                </a:solidFill>
                <a:latin typeface="IBM Plex Mono" pitchFamily="34" charset="0"/>
                <a:ea typeface="IBM Plex Mono" pitchFamily="34" charset="-122"/>
                <a:cs typeface="IBM Plex Mono" pitchFamily="34" charset="-120"/>
              </a:rPr>
              <a:t>2.2 Programming fundamentals  |  Lesson 6</a:t>
            </a:r>
            <a:endParaRPr lang="en-US" sz="1100" dirty="0"/>
          </a:p>
        </p:txBody>
      </p:sp>
      <p:sp>
        <p:nvSpPr>
          <p:cNvPr id="4" name="Text 2"/>
          <p:cNvSpPr txBox="1"/>
          <p:nvPr/>
        </p:nvSpPr>
        <p:spPr>
          <a:xfrm>
            <a:off x="9326880" y="6236208"/>
            <a:ext cx="2377440" cy="365760"/>
          </a:xfrm>
          <a:prstGeom prst="rect">
            <a:avLst/>
          </a:prstGeom>
          <a:noFill/>
          <a:ln/>
        </p:spPr>
        <p:txBody>
          <a:bodyPr wrap="square" lIns="0" tIns="0" rIns="0" bIns="0" rtlCol="0" anchor="ctr"/>
          <a:lstStyle/>
          <a:p>
            <a:pPr algn="r" indent="0" marL="0">
              <a:buNone/>
            </a:pPr>
            <a:r>
              <a:rPr lang="en-US" sz="1100" dirty="0">
                <a:solidFill>
                  <a:srgbClr val="667085"/>
                </a:solidFill>
                <a:latin typeface="IBM Plex Mono" pitchFamily="34" charset="0"/>
                <a:ea typeface="IBM Plex Mono" pitchFamily="34" charset="-122"/>
                <a:cs typeface="IBM Plex Mono" pitchFamily="34" charset="-120"/>
              </a:rPr>
              <a:t>Revise 360</a:t>
            </a:r>
            <a:endParaRPr lang="en-US" sz="1100" dirty="0"/>
          </a:p>
        </p:txBody>
      </p:sp>
      <p:sp>
        <p:nvSpPr>
          <p:cNvPr id="5" name="Text 3"/>
          <p:cNvSpPr txBox="1"/>
          <p:nvPr/>
        </p:nvSpPr>
        <p:spPr>
          <a:xfrm>
            <a:off x="8321040" y="6236208"/>
            <a:ext cx="914400" cy="365760"/>
          </a:xfrm>
          <a:prstGeom prst="rect">
            <a:avLst/>
          </a:prstGeom>
          <a:noFill/>
          <a:ln/>
        </p:spPr>
        <p:txBody>
          <a:bodyPr wrap="square" lIns="0" tIns="0" rIns="0" bIns="0" rtlCol="0" anchor="ctr"/>
          <a:lstStyle/>
          <a:p>
            <a:pPr algn="r" indent="0" marL="0">
              <a:buNone/>
            </a:pPr>
            <a:r>
              <a:rPr lang="en-US" sz="1100" dirty="0">
                <a:solidFill>
                  <a:srgbClr val="D9DEE7"/>
                </a:solidFill>
                <a:latin typeface="IBM Plex Mono" pitchFamily="34" charset="0"/>
                <a:ea typeface="IBM Plex Mono" pitchFamily="34" charset="-122"/>
                <a:cs typeface="IBM Plex Mono" pitchFamily="34" charset="-120"/>
              </a:rPr>
              <a:t>Station 1</a:t>
            </a:r>
            <a:endParaRPr lang="en-US" sz="1100" dirty="0"/>
          </a:p>
        </p:txBody>
      </p:sp>
      <p:sp>
        <p:nvSpPr>
          <p:cNvPr id="6" name="Shape 4"/>
          <p:cNvSpPr/>
          <p:nvPr/>
        </p:nvSpPr>
        <p:spPr>
          <a:xfrm>
            <a:off x="502920" y="438912"/>
            <a:ext cx="566928" cy="566928"/>
          </a:xfrm>
          <a:prstGeom prst="ellipse">
            <a:avLst/>
          </a:prstGeom>
          <a:solidFill>
            <a:srgbClr val="2D63FF"/>
          </a:solidFill>
          <a:ln/>
        </p:spPr>
      </p:sp>
      <p:sp>
        <p:nvSpPr>
          <p:cNvPr id="7" name="Text 5"/>
          <p:cNvSpPr txBox="1"/>
          <p:nvPr/>
        </p:nvSpPr>
        <p:spPr>
          <a:xfrm>
            <a:off x="502920" y="438912"/>
            <a:ext cx="566928" cy="566928"/>
          </a:xfrm>
          <a:prstGeom prst="rect">
            <a:avLst/>
          </a:prstGeom>
          <a:noFill/>
          <a:ln/>
        </p:spPr>
        <p:txBody>
          <a:bodyPr wrap="square" lIns="0" tIns="0" rIns="0" bIns="0" rtlCol="0" anchor="ctr"/>
          <a:lstStyle/>
          <a:p>
            <a:pPr algn="ctr" indent="0" marL="0">
              <a:buNone/>
            </a:pPr>
            <a:r>
              <a:rPr lang="en-US" sz="2000" b="1" dirty="0">
                <a:solidFill>
                  <a:srgbClr val="FFFFFF"/>
                </a:solidFill>
                <a:latin typeface="IBM Plex Mono" pitchFamily="34" charset="0"/>
                <a:ea typeface="IBM Plex Mono" pitchFamily="34" charset="-122"/>
                <a:cs typeface="IBM Plex Mono" pitchFamily="34" charset="-120"/>
              </a:rPr>
              <a:t>1</a:t>
            </a:r>
            <a:endParaRPr lang="en-US" sz="2000" dirty="0"/>
          </a:p>
        </p:txBody>
      </p:sp>
      <p:sp>
        <p:nvSpPr>
          <p:cNvPr id="8" name="Text 6"/>
          <p:cNvSpPr txBox="1"/>
          <p:nvPr/>
        </p:nvSpPr>
        <p:spPr>
          <a:xfrm>
            <a:off x="1234440" y="411480"/>
            <a:ext cx="10424160" cy="621792"/>
          </a:xfrm>
          <a:prstGeom prst="rect">
            <a:avLst/>
          </a:prstGeom>
          <a:noFill/>
          <a:ln/>
        </p:spPr>
        <p:txBody>
          <a:bodyPr wrap="square" lIns="0" tIns="0" rIns="0" bIns="0" rtlCol="0" anchor="ctr"/>
          <a:lstStyle/>
          <a:p>
            <a:pPr indent="0" marL="0">
              <a:buNone/>
            </a:pPr>
            <a:r>
              <a:rPr lang="en-US" sz="3000" b="1" dirty="0">
                <a:solidFill>
                  <a:srgbClr val="101828"/>
                </a:solidFill>
                <a:latin typeface="IBM Plex Sans" pitchFamily="34" charset="0"/>
                <a:ea typeface="IBM Plex Sans" pitchFamily="34" charset="-122"/>
                <a:cs typeface="IBM Plex Sans" pitchFamily="34" charset="-120"/>
              </a:rPr>
              <a:t>Why random numbers</a:t>
            </a:r>
            <a:endParaRPr lang="en-US" sz="3000" dirty="0"/>
          </a:p>
        </p:txBody>
      </p:sp>
      <p:sp>
        <p:nvSpPr>
          <p:cNvPr id="9" name="Shape 7"/>
          <p:cNvSpPr/>
          <p:nvPr/>
        </p:nvSpPr>
        <p:spPr>
          <a:xfrm>
            <a:off x="502920" y="1280160"/>
            <a:ext cx="7040880" cy="3246120"/>
          </a:xfrm>
          <a:prstGeom prst="roundRect">
            <a:avLst>
              <a:gd name="adj" fmla="val 3380"/>
            </a:avLst>
          </a:prstGeom>
          <a:solidFill>
            <a:srgbClr val="FFFFFF"/>
          </a:solidFill>
          <a:ln w="15875">
            <a:solidFill>
              <a:srgbClr val="D9DEE7"/>
            </a:solidFill>
            <a:prstDash val="solid"/>
          </a:ln>
        </p:spPr>
      </p:sp>
      <p:sp>
        <p:nvSpPr>
          <p:cNvPr id="10" name="Text 8"/>
          <p:cNvSpPr txBox="1"/>
          <p:nvPr/>
        </p:nvSpPr>
        <p:spPr>
          <a:xfrm>
            <a:off x="914400" y="1600200"/>
            <a:ext cx="6309360" cy="2651760"/>
          </a:xfrm>
          <a:prstGeom prst="rect">
            <a:avLst/>
          </a:prstGeom>
          <a:noFill/>
          <a:ln/>
        </p:spPr>
        <p:txBody>
          <a:bodyPr wrap="square" lIns="0" tIns="0" rIns="0" bIns="0" rtlCol="0" anchor="t"/>
          <a:lstStyle/>
          <a:p>
            <a:pPr marL="342900" indent="-342900">
              <a:lnSpc>
                <a:spcPct val="120000"/>
              </a:lnSpc>
              <a:spcAft>
                <a:spcPts val="1200"/>
              </a:spcAft>
              <a:buSzPct val="100000"/>
              <a:buChar char="•"/>
            </a:pPr>
            <a:r>
              <a:rPr lang="en-US" sz="1700" dirty="0">
                <a:solidFill>
                  <a:srgbClr val="101828"/>
                </a:solidFill>
                <a:latin typeface="IBM Plex Sans" pitchFamily="34" charset="0"/>
                <a:ea typeface="IBM Plex Sans" pitchFamily="34" charset="-122"/>
                <a:cs typeface="IBM Plex Sans" pitchFamily="34" charset="-120"/>
              </a:rPr>
              <a:t>A random number lets a program behave differently each time it runs, so the result cannot be predicted.</a:t>
            </a:r>
            <a:endParaRPr lang="en-US" sz="1700" dirty="0"/>
          </a:p>
          <a:p>
            <a:pPr marL="342900" indent="-342900">
              <a:lnSpc>
                <a:spcPct val="120000"/>
              </a:lnSpc>
              <a:spcAft>
                <a:spcPts val="1200"/>
              </a:spcAft>
              <a:buSzPct val="100000"/>
              <a:buChar char="•"/>
            </a:pPr>
            <a:r>
              <a:rPr lang="en-US" sz="1700" dirty="0">
                <a:solidFill>
                  <a:srgbClr val="101828"/>
                </a:solidFill>
                <a:latin typeface="IBM Plex Sans" pitchFamily="34" charset="0"/>
                <a:ea typeface="IBM Plex Sans" pitchFamily="34" charset="-122"/>
                <a:cs typeface="IBM Plex Sans" pitchFamily="34" charset="-120"/>
              </a:rPr>
              <a:t>Games use them for dice rolls, card shuffles and where an enemy appears.</a:t>
            </a:r>
            <a:endParaRPr lang="en-US" sz="1700" dirty="0"/>
          </a:p>
          <a:p>
            <a:pPr marL="342900" indent="-342900">
              <a:lnSpc>
                <a:spcPct val="120000"/>
              </a:lnSpc>
              <a:spcAft>
                <a:spcPts val="1200"/>
              </a:spcAft>
              <a:buSzPct val="100000"/>
              <a:buChar char="•"/>
            </a:pPr>
            <a:r>
              <a:rPr lang="en-US" sz="1700" dirty="0">
                <a:solidFill>
                  <a:srgbClr val="101828"/>
                </a:solidFill>
                <a:latin typeface="IBM Plex Sans" pitchFamily="34" charset="0"/>
                <a:ea typeface="IBM Plex Sans" pitchFamily="34" charset="-122"/>
                <a:cs typeface="IBM Plex Sans" pitchFamily="34" charset="-120"/>
              </a:rPr>
              <a:t>Simulations, random sampling, shuffling a list and generating a password all need them too.</a:t>
            </a:r>
            <a:endParaRPr lang="en-US" sz="1700" dirty="0"/>
          </a:p>
        </p:txBody>
      </p:sp>
      <p:sp>
        <p:nvSpPr>
          <p:cNvPr id="11" name="Shape 9"/>
          <p:cNvSpPr/>
          <p:nvPr/>
        </p:nvSpPr>
        <p:spPr>
          <a:xfrm>
            <a:off x="7818120" y="1280160"/>
            <a:ext cx="3840480" cy="3246120"/>
          </a:xfrm>
          <a:prstGeom prst="roundRect">
            <a:avLst>
              <a:gd name="adj" fmla="val 3380"/>
            </a:avLst>
          </a:prstGeom>
          <a:solidFill>
            <a:srgbClr val="FFFFFF"/>
          </a:solidFill>
          <a:ln w="15875">
            <a:solidFill>
              <a:srgbClr val="F4B942"/>
            </a:solidFill>
            <a:prstDash val="solid"/>
          </a:ln>
        </p:spPr>
      </p:sp>
      <p:sp>
        <p:nvSpPr>
          <p:cNvPr id="12" name="Text 10"/>
          <p:cNvSpPr txBox="1"/>
          <p:nvPr/>
        </p:nvSpPr>
        <p:spPr>
          <a:xfrm>
            <a:off x="8183880" y="1508760"/>
            <a:ext cx="3200400" cy="320040"/>
          </a:xfrm>
          <a:prstGeom prst="rect">
            <a:avLst/>
          </a:prstGeom>
          <a:noFill/>
          <a:ln/>
        </p:spPr>
        <p:txBody>
          <a:bodyPr wrap="square" lIns="0" tIns="0" rIns="0" bIns="0" rtlCol="0" anchor="ctr"/>
          <a:lstStyle/>
          <a:p>
            <a:pPr indent="0" marL="0">
              <a:buNone/>
            </a:pPr>
            <a:r>
              <a:rPr lang="en-US" sz="1200" b="1" dirty="0">
                <a:solidFill>
                  <a:srgbClr val="667085"/>
                </a:solidFill>
                <a:latin typeface="IBM Plex Mono" pitchFamily="34" charset="0"/>
                <a:ea typeface="IBM Plex Mono" pitchFamily="34" charset="-122"/>
                <a:cs typeface="IBM Plex Mono" pitchFamily="34" charset="-120"/>
              </a:rPr>
              <a:t>CHALLENGE</a:t>
            </a:r>
            <a:endParaRPr lang="en-US" sz="1200" dirty="0"/>
          </a:p>
        </p:txBody>
      </p:sp>
      <p:sp>
        <p:nvSpPr>
          <p:cNvPr id="13" name="Text 11"/>
          <p:cNvSpPr txBox="1"/>
          <p:nvPr/>
        </p:nvSpPr>
        <p:spPr>
          <a:xfrm>
            <a:off x="8183880" y="1874520"/>
            <a:ext cx="3154680" cy="2377440"/>
          </a:xfrm>
          <a:prstGeom prst="rect">
            <a:avLst/>
          </a:prstGeom>
          <a:noFill/>
          <a:ln/>
        </p:spPr>
        <p:txBody>
          <a:bodyPr wrap="square" lIns="0" tIns="0" rIns="0" bIns="0" rtlCol="0" anchor="t"/>
          <a:lstStyle/>
          <a:p>
            <a:pPr indent="0" marL="0">
              <a:lnSpc>
                <a:spcPct val="125000"/>
              </a:lnSpc>
              <a:buNone/>
            </a:pPr>
            <a:r>
              <a:rPr lang="en-US" sz="1600" dirty="0">
                <a:solidFill>
                  <a:srgbClr val="101828"/>
                </a:solidFill>
                <a:latin typeface="IBM Plex Sans" pitchFamily="34" charset="0"/>
                <a:ea typeface="IBM Plex Sans" pitchFamily="34" charset="-122"/>
                <a:cs typeface="IBM Plex Sans" pitchFamily="34" charset="-120"/>
              </a:rPr>
              <a:t>Give two reasons a dice game would be no fun if the program produced the same number every time.</a:t>
            </a:r>
            <a:endParaRPr lang="en-US" sz="1600" dirty="0"/>
          </a:p>
        </p:txBody>
      </p:sp>
      <p:sp>
        <p:nvSpPr>
          <p:cNvPr id="14" name="Shape 12"/>
          <p:cNvSpPr/>
          <p:nvPr/>
        </p:nvSpPr>
        <p:spPr>
          <a:xfrm>
            <a:off x="502920" y="4754880"/>
            <a:ext cx="11155680" cy="777240"/>
          </a:xfrm>
          <a:prstGeom prst="roundRect">
            <a:avLst>
              <a:gd name="adj" fmla="val 11765"/>
            </a:avLst>
          </a:prstGeom>
          <a:solidFill>
            <a:srgbClr val="EEF2FB"/>
          </a:solidFill>
          <a:ln w="12700">
            <a:solidFill>
              <a:srgbClr val="2D63FF"/>
            </a:solidFill>
            <a:prstDash val="solid"/>
          </a:ln>
        </p:spPr>
      </p:sp>
      <p:sp>
        <p:nvSpPr>
          <p:cNvPr id="15" name="Text 13"/>
          <p:cNvSpPr txBox="1"/>
          <p:nvPr/>
        </p:nvSpPr>
        <p:spPr>
          <a:xfrm>
            <a:off x="914400" y="4754880"/>
            <a:ext cx="10332720" cy="777240"/>
          </a:xfrm>
          <a:prstGeom prst="rect">
            <a:avLst/>
          </a:prstGeom>
          <a:noFill/>
          <a:ln/>
        </p:spPr>
        <p:txBody>
          <a:bodyPr wrap="square" lIns="0" tIns="0" rIns="0" bIns="0" rtlCol="0" anchor="ctr"/>
          <a:lstStyle/>
          <a:p>
            <a:pPr indent="0" marL="0">
              <a:buNone/>
            </a:pPr>
            <a:r>
              <a:rPr lang="en-US" sz="1600" b="1" dirty="0">
                <a:solidFill>
                  <a:srgbClr val="2D63FF"/>
                </a:solidFill>
                <a:latin typeface="IBM Plex Sans" pitchFamily="34" charset="0"/>
                <a:ea typeface="IBM Plex Sans" pitchFamily="34" charset="-122"/>
                <a:cs typeface="IBM Plex Sans" pitchFamily="34" charset="-120"/>
              </a:rPr>
              <a:t>On your worksheet:  </a:t>
            </a:r>
            <a:pPr indent="0" marL="0">
              <a:buNone/>
            </a:pPr>
            <a:r>
              <a:rPr lang="en-US" sz="1600" dirty="0">
                <a:solidFill>
                  <a:srgbClr val="101828"/>
                </a:solidFill>
                <a:latin typeface="IBM Plex Sans" pitchFamily="34" charset="0"/>
                <a:ea typeface="IBM Plex Sans" pitchFamily="34" charset="-122"/>
                <a:cs typeface="IBM Plex Sans" pitchFamily="34" charset="-120"/>
              </a:rPr>
              <a:t>Random numbers are used when...</a:t>
            </a:r>
            <a:endParaRPr lang="en-US" sz="16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7F7F4"/>
        </a:solidFill>
      </p:bgPr>
    </p:bg>
    <p:spTree>
      <p:nvGrpSpPr>
        <p:cNvPr id="1" name=""/>
        <p:cNvGrpSpPr/>
        <p:nvPr/>
      </p:nvGrpSpPr>
      <p:grpSpPr>
        <a:xfrm>
          <a:off x="0" y="0"/>
          <a:ext cx="0" cy="0"/>
          <a:chOff x="0" y="0"/>
          <a:chExt cx="0" cy="0"/>
        </a:xfrm>
      </p:grpSpPr>
      <p:sp>
        <p:nvSpPr>
          <p:cNvPr id="2" name="Shape 0"/>
          <p:cNvSpPr/>
          <p:nvPr/>
        </p:nvSpPr>
        <p:spPr>
          <a:xfrm>
            <a:off x="0" y="0"/>
            <a:ext cx="12188952" cy="82296"/>
          </a:xfrm>
          <a:prstGeom prst="rect">
            <a:avLst/>
          </a:prstGeom>
          <a:solidFill>
            <a:srgbClr val="2D63FF"/>
          </a:solidFill>
          <a:ln/>
        </p:spPr>
      </p:sp>
      <p:sp>
        <p:nvSpPr>
          <p:cNvPr id="3" name="Text 1"/>
          <p:cNvSpPr txBox="1"/>
          <p:nvPr/>
        </p:nvSpPr>
        <p:spPr>
          <a:xfrm>
            <a:off x="502920" y="6236208"/>
            <a:ext cx="7772400" cy="365760"/>
          </a:xfrm>
          <a:prstGeom prst="rect">
            <a:avLst/>
          </a:prstGeom>
          <a:noFill/>
          <a:ln/>
        </p:spPr>
        <p:txBody>
          <a:bodyPr wrap="square" lIns="0" tIns="0" rIns="0" bIns="0" rtlCol="0" anchor="ctr"/>
          <a:lstStyle/>
          <a:p>
            <a:pPr indent="0" marL="0">
              <a:buNone/>
            </a:pPr>
            <a:r>
              <a:rPr lang="en-US" sz="1100" dirty="0">
                <a:solidFill>
                  <a:srgbClr val="667085"/>
                </a:solidFill>
                <a:latin typeface="IBM Plex Mono" pitchFamily="34" charset="0"/>
                <a:ea typeface="IBM Plex Mono" pitchFamily="34" charset="-122"/>
                <a:cs typeface="IBM Plex Mono" pitchFamily="34" charset="-120"/>
              </a:rPr>
              <a:t>2.2 Programming fundamentals  |  Lesson 6</a:t>
            </a:r>
            <a:endParaRPr lang="en-US" sz="1100" dirty="0"/>
          </a:p>
        </p:txBody>
      </p:sp>
      <p:sp>
        <p:nvSpPr>
          <p:cNvPr id="4" name="Text 2"/>
          <p:cNvSpPr txBox="1"/>
          <p:nvPr/>
        </p:nvSpPr>
        <p:spPr>
          <a:xfrm>
            <a:off x="9326880" y="6236208"/>
            <a:ext cx="2377440" cy="365760"/>
          </a:xfrm>
          <a:prstGeom prst="rect">
            <a:avLst/>
          </a:prstGeom>
          <a:noFill/>
          <a:ln/>
        </p:spPr>
        <p:txBody>
          <a:bodyPr wrap="square" lIns="0" tIns="0" rIns="0" bIns="0" rtlCol="0" anchor="ctr"/>
          <a:lstStyle/>
          <a:p>
            <a:pPr algn="r" indent="0" marL="0">
              <a:buNone/>
            </a:pPr>
            <a:r>
              <a:rPr lang="en-US" sz="1100" dirty="0">
                <a:solidFill>
                  <a:srgbClr val="667085"/>
                </a:solidFill>
                <a:latin typeface="IBM Plex Mono" pitchFamily="34" charset="0"/>
                <a:ea typeface="IBM Plex Mono" pitchFamily="34" charset="-122"/>
                <a:cs typeface="IBM Plex Mono" pitchFamily="34" charset="-120"/>
              </a:rPr>
              <a:t>Revise 360</a:t>
            </a:r>
            <a:endParaRPr lang="en-US" sz="1100" dirty="0"/>
          </a:p>
        </p:txBody>
      </p:sp>
      <p:sp>
        <p:nvSpPr>
          <p:cNvPr id="5" name="Text 3"/>
          <p:cNvSpPr txBox="1"/>
          <p:nvPr/>
        </p:nvSpPr>
        <p:spPr>
          <a:xfrm>
            <a:off x="8321040" y="6236208"/>
            <a:ext cx="914400" cy="365760"/>
          </a:xfrm>
          <a:prstGeom prst="rect">
            <a:avLst/>
          </a:prstGeom>
          <a:noFill/>
          <a:ln/>
        </p:spPr>
        <p:txBody>
          <a:bodyPr wrap="square" lIns="0" tIns="0" rIns="0" bIns="0" rtlCol="0" anchor="ctr"/>
          <a:lstStyle/>
          <a:p>
            <a:pPr algn="r" indent="0" marL="0">
              <a:buNone/>
            </a:pPr>
            <a:r>
              <a:rPr lang="en-US" sz="1100" dirty="0">
                <a:solidFill>
                  <a:srgbClr val="D9DEE7"/>
                </a:solidFill>
                <a:latin typeface="IBM Plex Mono" pitchFamily="34" charset="0"/>
                <a:ea typeface="IBM Plex Mono" pitchFamily="34" charset="-122"/>
                <a:cs typeface="IBM Plex Mono" pitchFamily="34" charset="-120"/>
              </a:rPr>
              <a:t>Station 2</a:t>
            </a:r>
            <a:endParaRPr lang="en-US" sz="1100" dirty="0"/>
          </a:p>
        </p:txBody>
      </p:sp>
      <p:sp>
        <p:nvSpPr>
          <p:cNvPr id="6" name="Shape 4"/>
          <p:cNvSpPr/>
          <p:nvPr/>
        </p:nvSpPr>
        <p:spPr>
          <a:xfrm>
            <a:off x="502920" y="438912"/>
            <a:ext cx="566928" cy="566928"/>
          </a:xfrm>
          <a:prstGeom prst="ellipse">
            <a:avLst/>
          </a:prstGeom>
          <a:solidFill>
            <a:srgbClr val="2D63FF"/>
          </a:solidFill>
          <a:ln/>
        </p:spPr>
      </p:sp>
      <p:sp>
        <p:nvSpPr>
          <p:cNvPr id="7" name="Text 5"/>
          <p:cNvSpPr txBox="1"/>
          <p:nvPr/>
        </p:nvSpPr>
        <p:spPr>
          <a:xfrm>
            <a:off x="502920" y="438912"/>
            <a:ext cx="566928" cy="566928"/>
          </a:xfrm>
          <a:prstGeom prst="rect">
            <a:avLst/>
          </a:prstGeom>
          <a:noFill/>
          <a:ln/>
        </p:spPr>
        <p:txBody>
          <a:bodyPr wrap="square" lIns="0" tIns="0" rIns="0" bIns="0" rtlCol="0" anchor="ctr"/>
          <a:lstStyle/>
          <a:p>
            <a:pPr algn="ctr" indent="0" marL="0">
              <a:buNone/>
            </a:pPr>
            <a:r>
              <a:rPr lang="en-US" sz="2000" b="1" dirty="0">
                <a:solidFill>
                  <a:srgbClr val="FFFFFF"/>
                </a:solidFill>
                <a:latin typeface="IBM Plex Mono" pitchFamily="34" charset="0"/>
                <a:ea typeface="IBM Plex Mono" pitchFamily="34" charset="-122"/>
                <a:cs typeface="IBM Plex Mono" pitchFamily="34" charset="-120"/>
              </a:rPr>
              <a:t>2</a:t>
            </a:r>
            <a:endParaRPr lang="en-US" sz="2000" dirty="0"/>
          </a:p>
        </p:txBody>
      </p:sp>
      <p:sp>
        <p:nvSpPr>
          <p:cNvPr id="8" name="Text 6"/>
          <p:cNvSpPr txBox="1"/>
          <p:nvPr/>
        </p:nvSpPr>
        <p:spPr>
          <a:xfrm>
            <a:off x="1234440" y="411480"/>
            <a:ext cx="10424160" cy="621792"/>
          </a:xfrm>
          <a:prstGeom prst="rect">
            <a:avLst/>
          </a:prstGeom>
          <a:noFill/>
          <a:ln/>
        </p:spPr>
        <p:txBody>
          <a:bodyPr wrap="square" lIns="0" tIns="0" rIns="0" bIns="0" rtlCol="0" anchor="ctr"/>
          <a:lstStyle/>
          <a:p>
            <a:pPr indent="0" marL="0">
              <a:buNone/>
            </a:pPr>
            <a:r>
              <a:rPr lang="en-US" sz="3000" b="1" dirty="0">
                <a:solidFill>
                  <a:srgbClr val="101828"/>
                </a:solidFill>
                <a:latin typeface="IBM Plex Sans" pitchFamily="34" charset="0"/>
                <a:ea typeface="IBM Plex Sans" pitchFamily="34" charset="-122"/>
                <a:cs typeface="IBM Plex Sans" pitchFamily="34" charset="-120"/>
              </a:rPr>
              <a:t>Generating a random number</a:t>
            </a:r>
            <a:endParaRPr lang="en-US" sz="3000" dirty="0"/>
          </a:p>
        </p:txBody>
      </p:sp>
      <p:sp>
        <p:nvSpPr>
          <p:cNvPr id="9" name="Shape 7"/>
          <p:cNvSpPr/>
          <p:nvPr/>
        </p:nvSpPr>
        <p:spPr>
          <a:xfrm>
            <a:off x="502920" y="1280160"/>
            <a:ext cx="7040880" cy="3246120"/>
          </a:xfrm>
          <a:prstGeom prst="roundRect">
            <a:avLst>
              <a:gd name="adj" fmla="val 3380"/>
            </a:avLst>
          </a:prstGeom>
          <a:solidFill>
            <a:srgbClr val="FFFFFF"/>
          </a:solidFill>
          <a:ln w="15875">
            <a:solidFill>
              <a:srgbClr val="D9DEE7"/>
            </a:solidFill>
            <a:prstDash val="solid"/>
          </a:ln>
        </p:spPr>
      </p:sp>
      <p:sp>
        <p:nvSpPr>
          <p:cNvPr id="10" name="Text 8"/>
          <p:cNvSpPr txBox="1"/>
          <p:nvPr/>
        </p:nvSpPr>
        <p:spPr>
          <a:xfrm>
            <a:off x="914400" y="1600200"/>
            <a:ext cx="6309360" cy="2651760"/>
          </a:xfrm>
          <a:prstGeom prst="rect">
            <a:avLst/>
          </a:prstGeom>
          <a:noFill/>
          <a:ln/>
        </p:spPr>
        <p:txBody>
          <a:bodyPr wrap="square" lIns="0" tIns="0" rIns="0" bIns="0" rtlCol="0" anchor="t"/>
          <a:lstStyle/>
          <a:p>
            <a:pPr marL="342900" indent="-342900">
              <a:lnSpc>
                <a:spcPct val="120000"/>
              </a:lnSpc>
              <a:spcAft>
                <a:spcPts val="1200"/>
              </a:spcAft>
              <a:buSzPct val="100000"/>
              <a:buChar char="•"/>
            </a:pPr>
            <a:r>
              <a:rPr lang="en-US" sz="1700" dirty="0">
                <a:solidFill>
                  <a:srgbClr val="101828"/>
                </a:solidFill>
                <a:latin typeface="IBM Plex Sans" pitchFamily="34" charset="0"/>
                <a:ea typeface="IBM Plex Sans" pitchFamily="34" charset="-122"/>
                <a:cs typeface="IBM Plex Sans" pitchFamily="34" charset="-120"/>
              </a:rPr>
              <a:t>In the OCR Exam Reference Language, random(1, 6) returns a random whole number from 1 to 6, and both end points are included.</a:t>
            </a:r>
            <a:endParaRPr lang="en-US" sz="1700" dirty="0"/>
          </a:p>
          <a:p>
            <a:pPr marL="342900" indent="-342900">
              <a:lnSpc>
                <a:spcPct val="120000"/>
              </a:lnSpc>
              <a:spcAft>
                <a:spcPts val="1200"/>
              </a:spcAft>
              <a:buSzPct val="100000"/>
              <a:buChar char="•"/>
            </a:pPr>
            <a:r>
              <a:rPr lang="en-US" sz="1700" dirty="0">
                <a:solidFill>
                  <a:srgbClr val="101828"/>
                </a:solidFill>
                <a:latin typeface="IBM Plex Sans" pitchFamily="34" charset="0"/>
                <a:ea typeface="IBM Plex Sans" pitchFamily="34" charset="-122"/>
                <a:cs typeface="IBM Plex Sans" pitchFamily="34" charset="-120"/>
              </a:rPr>
              <a:t>The value returned is normally stored in a variable, so the program can use that one number more than once.</a:t>
            </a:r>
            <a:endParaRPr lang="en-US" sz="1700" dirty="0"/>
          </a:p>
          <a:p>
            <a:pPr marL="342900" indent="-342900">
              <a:lnSpc>
                <a:spcPct val="120000"/>
              </a:lnSpc>
              <a:spcAft>
                <a:spcPts val="1200"/>
              </a:spcAft>
              <a:buSzPct val="100000"/>
              <a:buChar char="•"/>
            </a:pPr>
            <a:r>
              <a:rPr lang="en-US" sz="1700" dirty="0">
                <a:solidFill>
                  <a:srgbClr val="101828"/>
                </a:solidFill>
                <a:latin typeface="IBM Plex Sans" pitchFamily="34" charset="0"/>
                <a:ea typeface="IBM Plex Sans" pitchFamily="34" charset="-122"/>
                <a:cs typeface="IBM Plex Sans" pitchFamily="34" charset="-120"/>
              </a:rPr>
              <a:t>Calling the function a second time gives a fresh number, which may or may not be the same as the first.</a:t>
            </a:r>
            <a:endParaRPr lang="en-US" sz="1700" dirty="0"/>
          </a:p>
        </p:txBody>
      </p:sp>
      <p:sp>
        <p:nvSpPr>
          <p:cNvPr id="11" name="Shape 9"/>
          <p:cNvSpPr/>
          <p:nvPr/>
        </p:nvSpPr>
        <p:spPr>
          <a:xfrm>
            <a:off x="7818120" y="1280160"/>
            <a:ext cx="3840480" cy="3246120"/>
          </a:xfrm>
          <a:prstGeom prst="roundRect">
            <a:avLst>
              <a:gd name="adj" fmla="val 3380"/>
            </a:avLst>
          </a:prstGeom>
          <a:solidFill>
            <a:srgbClr val="FFFFFF"/>
          </a:solidFill>
          <a:ln w="15875">
            <a:solidFill>
              <a:srgbClr val="F4B942"/>
            </a:solidFill>
            <a:prstDash val="solid"/>
          </a:ln>
        </p:spPr>
      </p:sp>
      <p:sp>
        <p:nvSpPr>
          <p:cNvPr id="12" name="Text 10"/>
          <p:cNvSpPr txBox="1"/>
          <p:nvPr/>
        </p:nvSpPr>
        <p:spPr>
          <a:xfrm>
            <a:off x="8183880" y="1508760"/>
            <a:ext cx="3200400" cy="320040"/>
          </a:xfrm>
          <a:prstGeom prst="rect">
            <a:avLst/>
          </a:prstGeom>
          <a:noFill/>
          <a:ln/>
        </p:spPr>
        <p:txBody>
          <a:bodyPr wrap="square" lIns="0" tIns="0" rIns="0" bIns="0" rtlCol="0" anchor="ctr"/>
          <a:lstStyle/>
          <a:p>
            <a:pPr indent="0" marL="0">
              <a:buNone/>
            </a:pPr>
            <a:r>
              <a:rPr lang="en-US" sz="1200" b="1" dirty="0">
                <a:solidFill>
                  <a:srgbClr val="667085"/>
                </a:solidFill>
                <a:latin typeface="IBM Plex Mono" pitchFamily="34" charset="0"/>
                <a:ea typeface="IBM Plex Mono" pitchFamily="34" charset="-122"/>
                <a:cs typeface="IBM Plex Mono" pitchFamily="34" charset="-120"/>
              </a:rPr>
              <a:t>CHALLENGE</a:t>
            </a:r>
            <a:endParaRPr lang="en-US" sz="1200" dirty="0"/>
          </a:p>
        </p:txBody>
      </p:sp>
      <p:sp>
        <p:nvSpPr>
          <p:cNvPr id="13" name="Text 11"/>
          <p:cNvSpPr txBox="1"/>
          <p:nvPr/>
        </p:nvSpPr>
        <p:spPr>
          <a:xfrm>
            <a:off x="8183880" y="1874520"/>
            <a:ext cx="3154680" cy="2377440"/>
          </a:xfrm>
          <a:prstGeom prst="rect">
            <a:avLst/>
          </a:prstGeom>
          <a:noFill/>
          <a:ln/>
        </p:spPr>
        <p:txBody>
          <a:bodyPr wrap="square" lIns="0" tIns="0" rIns="0" bIns="0" rtlCol="0" anchor="t"/>
          <a:lstStyle/>
          <a:p>
            <a:pPr indent="0" marL="0">
              <a:lnSpc>
                <a:spcPct val="125000"/>
              </a:lnSpc>
              <a:buNone/>
            </a:pPr>
            <a:r>
              <a:rPr lang="en-US" sz="1600" dirty="0">
                <a:solidFill>
                  <a:srgbClr val="101828"/>
                </a:solidFill>
                <a:latin typeface="IBM Plex Sans" pitchFamily="34" charset="0"/>
                <a:ea typeface="IBM Plex Sans" pitchFamily="34" charset="-122"/>
                <a:cs typeface="IBM Plex Sans" pitchFamily="34" charset="-120"/>
              </a:rPr>
              <a:t>Write two lines in the OCR Exam Reference Language that roll a dice and output the result.</a:t>
            </a:r>
            <a:endParaRPr lang="en-US" sz="1600" dirty="0"/>
          </a:p>
        </p:txBody>
      </p:sp>
      <p:sp>
        <p:nvSpPr>
          <p:cNvPr id="14" name="Shape 12"/>
          <p:cNvSpPr/>
          <p:nvPr/>
        </p:nvSpPr>
        <p:spPr>
          <a:xfrm>
            <a:off x="502920" y="4754880"/>
            <a:ext cx="11155680" cy="777240"/>
          </a:xfrm>
          <a:prstGeom prst="roundRect">
            <a:avLst>
              <a:gd name="adj" fmla="val 11765"/>
            </a:avLst>
          </a:prstGeom>
          <a:solidFill>
            <a:srgbClr val="EEF2FB"/>
          </a:solidFill>
          <a:ln w="12700">
            <a:solidFill>
              <a:srgbClr val="2D63FF"/>
            </a:solidFill>
            <a:prstDash val="solid"/>
          </a:ln>
        </p:spPr>
      </p:sp>
      <p:sp>
        <p:nvSpPr>
          <p:cNvPr id="15" name="Text 13"/>
          <p:cNvSpPr txBox="1"/>
          <p:nvPr/>
        </p:nvSpPr>
        <p:spPr>
          <a:xfrm>
            <a:off x="914400" y="4754880"/>
            <a:ext cx="10332720" cy="777240"/>
          </a:xfrm>
          <a:prstGeom prst="rect">
            <a:avLst/>
          </a:prstGeom>
          <a:noFill/>
          <a:ln/>
        </p:spPr>
        <p:txBody>
          <a:bodyPr wrap="square" lIns="0" tIns="0" rIns="0" bIns="0" rtlCol="0" anchor="ctr"/>
          <a:lstStyle/>
          <a:p>
            <a:pPr indent="0" marL="0">
              <a:buNone/>
            </a:pPr>
            <a:r>
              <a:rPr lang="en-US" sz="1600" b="1" dirty="0">
                <a:solidFill>
                  <a:srgbClr val="2D63FF"/>
                </a:solidFill>
                <a:latin typeface="IBM Plex Sans" pitchFamily="34" charset="0"/>
                <a:ea typeface="IBM Plex Sans" pitchFamily="34" charset="-122"/>
                <a:cs typeface="IBM Plex Sans" pitchFamily="34" charset="-120"/>
              </a:rPr>
              <a:t>On your worksheet:  </a:t>
            </a:r>
            <a:pPr indent="0" marL="0">
              <a:buNone/>
            </a:pPr>
            <a:r>
              <a:rPr lang="en-US" sz="1600" dirty="0">
                <a:solidFill>
                  <a:srgbClr val="101828"/>
                </a:solidFill>
                <a:latin typeface="IBM Plex Sans" pitchFamily="34" charset="0"/>
                <a:ea typeface="IBM Plex Sans" pitchFamily="34" charset="-122"/>
                <a:cs typeface="IBM Plex Sans" pitchFamily="34" charset="-120"/>
              </a:rPr>
              <a:t>In the OCR Exam Reference Language, random(1, 6) returns...</a:t>
            </a:r>
            <a:endParaRPr lang="en-US" sz="16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7F7F4"/>
        </a:solidFill>
      </p:bgPr>
    </p:bg>
    <p:spTree>
      <p:nvGrpSpPr>
        <p:cNvPr id="1" name=""/>
        <p:cNvGrpSpPr/>
        <p:nvPr/>
      </p:nvGrpSpPr>
      <p:grpSpPr>
        <a:xfrm>
          <a:off x="0" y="0"/>
          <a:ext cx="0" cy="0"/>
          <a:chOff x="0" y="0"/>
          <a:chExt cx="0" cy="0"/>
        </a:xfrm>
      </p:grpSpPr>
      <p:sp>
        <p:nvSpPr>
          <p:cNvPr id="2" name="Shape 0"/>
          <p:cNvSpPr/>
          <p:nvPr/>
        </p:nvSpPr>
        <p:spPr>
          <a:xfrm>
            <a:off x="0" y="0"/>
            <a:ext cx="12188952" cy="82296"/>
          </a:xfrm>
          <a:prstGeom prst="rect">
            <a:avLst/>
          </a:prstGeom>
          <a:solidFill>
            <a:srgbClr val="2D63FF"/>
          </a:solidFill>
          <a:ln/>
        </p:spPr>
      </p:sp>
      <p:sp>
        <p:nvSpPr>
          <p:cNvPr id="3" name="Text 1"/>
          <p:cNvSpPr txBox="1"/>
          <p:nvPr/>
        </p:nvSpPr>
        <p:spPr>
          <a:xfrm>
            <a:off x="502920" y="6236208"/>
            <a:ext cx="7772400" cy="365760"/>
          </a:xfrm>
          <a:prstGeom prst="rect">
            <a:avLst/>
          </a:prstGeom>
          <a:noFill/>
          <a:ln/>
        </p:spPr>
        <p:txBody>
          <a:bodyPr wrap="square" lIns="0" tIns="0" rIns="0" bIns="0" rtlCol="0" anchor="ctr"/>
          <a:lstStyle/>
          <a:p>
            <a:pPr indent="0" marL="0">
              <a:buNone/>
            </a:pPr>
            <a:r>
              <a:rPr lang="en-US" sz="1100" dirty="0">
                <a:solidFill>
                  <a:srgbClr val="667085"/>
                </a:solidFill>
                <a:latin typeface="IBM Plex Mono" pitchFamily="34" charset="0"/>
                <a:ea typeface="IBM Plex Mono" pitchFamily="34" charset="-122"/>
                <a:cs typeface="IBM Plex Mono" pitchFamily="34" charset="-120"/>
              </a:rPr>
              <a:t>2.2 Programming fundamentals  |  Lesson 6</a:t>
            </a:r>
            <a:endParaRPr lang="en-US" sz="1100" dirty="0"/>
          </a:p>
        </p:txBody>
      </p:sp>
      <p:sp>
        <p:nvSpPr>
          <p:cNvPr id="4" name="Text 2"/>
          <p:cNvSpPr txBox="1"/>
          <p:nvPr/>
        </p:nvSpPr>
        <p:spPr>
          <a:xfrm>
            <a:off x="9326880" y="6236208"/>
            <a:ext cx="2377440" cy="365760"/>
          </a:xfrm>
          <a:prstGeom prst="rect">
            <a:avLst/>
          </a:prstGeom>
          <a:noFill/>
          <a:ln/>
        </p:spPr>
        <p:txBody>
          <a:bodyPr wrap="square" lIns="0" tIns="0" rIns="0" bIns="0" rtlCol="0" anchor="ctr"/>
          <a:lstStyle/>
          <a:p>
            <a:pPr algn="r" indent="0" marL="0">
              <a:buNone/>
            </a:pPr>
            <a:r>
              <a:rPr lang="en-US" sz="1100" dirty="0">
                <a:solidFill>
                  <a:srgbClr val="667085"/>
                </a:solidFill>
                <a:latin typeface="IBM Plex Mono" pitchFamily="34" charset="0"/>
                <a:ea typeface="IBM Plex Mono" pitchFamily="34" charset="-122"/>
                <a:cs typeface="IBM Plex Mono" pitchFamily="34" charset="-120"/>
              </a:rPr>
              <a:t>Revise 360</a:t>
            </a:r>
            <a:endParaRPr lang="en-US" sz="1100" dirty="0"/>
          </a:p>
        </p:txBody>
      </p:sp>
      <p:sp>
        <p:nvSpPr>
          <p:cNvPr id="5" name="Text 3"/>
          <p:cNvSpPr txBox="1"/>
          <p:nvPr/>
        </p:nvSpPr>
        <p:spPr>
          <a:xfrm>
            <a:off x="8321040" y="6236208"/>
            <a:ext cx="914400" cy="365760"/>
          </a:xfrm>
          <a:prstGeom prst="rect">
            <a:avLst/>
          </a:prstGeom>
          <a:noFill/>
          <a:ln/>
        </p:spPr>
        <p:txBody>
          <a:bodyPr wrap="square" lIns="0" tIns="0" rIns="0" bIns="0" rtlCol="0" anchor="ctr"/>
          <a:lstStyle/>
          <a:p>
            <a:pPr algn="r" indent="0" marL="0">
              <a:buNone/>
            </a:pPr>
            <a:r>
              <a:rPr lang="en-US" sz="1100" dirty="0">
                <a:solidFill>
                  <a:srgbClr val="D9DEE7"/>
                </a:solidFill>
                <a:latin typeface="IBM Plex Mono" pitchFamily="34" charset="0"/>
                <a:ea typeface="IBM Plex Mono" pitchFamily="34" charset="-122"/>
                <a:cs typeface="IBM Plex Mono" pitchFamily="34" charset="-120"/>
              </a:rPr>
              <a:t>Station 3</a:t>
            </a:r>
            <a:endParaRPr lang="en-US" sz="1100" dirty="0"/>
          </a:p>
        </p:txBody>
      </p:sp>
      <p:sp>
        <p:nvSpPr>
          <p:cNvPr id="6" name="Shape 4"/>
          <p:cNvSpPr/>
          <p:nvPr/>
        </p:nvSpPr>
        <p:spPr>
          <a:xfrm>
            <a:off x="502920" y="438912"/>
            <a:ext cx="566928" cy="566928"/>
          </a:xfrm>
          <a:prstGeom prst="ellipse">
            <a:avLst/>
          </a:prstGeom>
          <a:solidFill>
            <a:srgbClr val="2D63FF"/>
          </a:solidFill>
          <a:ln/>
        </p:spPr>
      </p:sp>
      <p:sp>
        <p:nvSpPr>
          <p:cNvPr id="7" name="Text 5"/>
          <p:cNvSpPr txBox="1"/>
          <p:nvPr/>
        </p:nvSpPr>
        <p:spPr>
          <a:xfrm>
            <a:off x="502920" y="438912"/>
            <a:ext cx="566928" cy="566928"/>
          </a:xfrm>
          <a:prstGeom prst="rect">
            <a:avLst/>
          </a:prstGeom>
          <a:noFill/>
          <a:ln/>
        </p:spPr>
        <p:txBody>
          <a:bodyPr wrap="square" lIns="0" tIns="0" rIns="0" bIns="0" rtlCol="0" anchor="ctr"/>
          <a:lstStyle/>
          <a:p>
            <a:pPr algn="ctr" indent="0" marL="0">
              <a:buNone/>
            </a:pPr>
            <a:r>
              <a:rPr lang="en-US" sz="2000" b="1" dirty="0">
                <a:solidFill>
                  <a:srgbClr val="FFFFFF"/>
                </a:solidFill>
                <a:latin typeface="IBM Plex Mono" pitchFamily="34" charset="0"/>
                <a:ea typeface="IBM Plex Mono" pitchFamily="34" charset="-122"/>
                <a:cs typeface="IBM Plex Mono" pitchFamily="34" charset="-120"/>
              </a:rPr>
              <a:t>3</a:t>
            </a:r>
            <a:endParaRPr lang="en-US" sz="2000" dirty="0"/>
          </a:p>
        </p:txBody>
      </p:sp>
      <p:sp>
        <p:nvSpPr>
          <p:cNvPr id="8" name="Text 6"/>
          <p:cNvSpPr txBox="1"/>
          <p:nvPr/>
        </p:nvSpPr>
        <p:spPr>
          <a:xfrm>
            <a:off x="1234440" y="411480"/>
            <a:ext cx="10424160" cy="621792"/>
          </a:xfrm>
          <a:prstGeom prst="rect">
            <a:avLst/>
          </a:prstGeom>
          <a:noFill/>
          <a:ln/>
        </p:spPr>
        <p:txBody>
          <a:bodyPr wrap="square" lIns="0" tIns="0" rIns="0" bIns="0" rtlCol="0" anchor="ctr"/>
          <a:lstStyle/>
          <a:p>
            <a:pPr indent="0" marL="0">
              <a:buNone/>
            </a:pPr>
            <a:r>
              <a:rPr lang="en-US" sz="3000" b="1" dirty="0">
                <a:solidFill>
                  <a:srgbClr val="101828"/>
                </a:solidFill>
                <a:latin typeface="IBM Plex Sans" pitchFamily="34" charset="0"/>
                <a:ea typeface="IBM Plex Sans" pitchFamily="34" charset="-122"/>
                <a:cs typeface="IBM Plex Sans" pitchFamily="34" charset="-120"/>
              </a:rPr>
              <a:t>Choosing the range</a:t>
            </a:r>
            <a:endParaRPr lang="en-US" sz="3000" dirty="0"/>
          </a:p>
        </p:txBody>
      </p:sp>
      <p:sp>
        <p:nvSpPr>
          <p:cNvPr id="9" name="Shape 7"/>
          <p:cNvSpPr/>
          <p:nvPr/>
        </p:nvSpPr>
        <p:spPr>
          <a:xfrm>
            <a:off x="502920" y="1280160"/>
            <a:ext cx="7040880" cy="3246120"/>
          </a:xfrm>
          <a:prstGeom prst="roundRect">
            <a:avLst>
              <a:gd name="adj" fmla="val 3380"/>
            </a:avLst>
          </a:prstGeom>
          <a:solidFill>
            <a:srgbClr val="FFFFFF"/>
          </a:solidFill>
          <a:ln w="15875">
            <a:solidFill>
              <a:srgbClr val="D9DEE7"/>
            </a:solidFill>
            <a:prstDash val="solid"/>
          </a:ln>
        </p:spPr>
      </p:sp>
      <p:sp>
        <p:nvSpPr>
          <p:cNvPr id="10" name="Text 8"/>
          <p:cNvSpPr txBox="1"/>
          <p:nvPr/>
        </p:nvSpPr>
        <p:spPr>
          <a:xfrm>
            <a:off x="914400" y="1600200"/>
            <a:ext cx="6309360" cy="2651760"/>
          </a:xfrm>
          <a:prstGeom prst="rect">
            <a:avLst/>
          </a:prstGeom>
          <a:noFill/>
          <a:ln/>
        </p:spPr>
        <p:txBody>
          <a:bodyPr wrap="square" lIns="0" tIns="0" rIns="0" bIns="0" rtlCol="0" anchor="t"/>
          <a:lstStyle/>
          <a:p>
            <a:pPr marL="342900" indent="-342900">
              <a:lnSpc>
                <a:spcPct val="120000"/>
              </a:lnSpc>
              <a:spcAft>
                <a:spcPts val="1200"/>
              </a:spcAft>
              <a:buSzPct val="100000"/>
              <a:buChar char="•"/>
            </a:pPr>
            <a:r>
              <a:rPr lang="en-US" sz="1700" dirty="0">
                <a:solidFill>
                  <a:srgbClr val="101828"/>
                </a:solidFill>
                <a:latin typeface="IBM Plex Sans" pitchFamily="34" charset="0"/>
                <a:ea typeface="IBM Plex Sans" pitchFamily="34" charset="-122"/>
                <a:cs typeface="IBM Plex Sans" pitchFamily="34" charset="-120"/>
              </a:rPr>
              <a:t>The two values passed to the function set the lowest and the highest number that can be returned.</a:t>
            </a:r>
            <a:endParaRPr lang="en-US" sz="1700" dirty="0"/>
          </a:p>
          <a:p>
            <a:pPr marL="342900" indent="-342900">
              <a:lnSpc>
                <a:spcPct val="120000"/>
              </a:lnSpc>
              <a:spcAft>
                <a:spcPts val="1200"/>
              </a:spcAft>
              <a:buSzPct val="100000"/>
              <a:buChar char="•"/>
            </a:pPr>
            <a:r>
              <a:rPr lang="en-US" sz="1700" dirty="0">
                <a:solidFill>
                  <a:srgbClr val="101828"/>
                </a:solidFill>
                <a:latin typeface="IBM Plex Sans" pitchFamily="34" charset="0"/>
                <a:ea typeface="IBM Plex Sans" pitchFamily="34" charset="-122"/>
                <a:cs typeface="IBM Plex Sans" pitchFamily="34" charset="-120"/>
              </a:rPr>
              <a:t>In Python 3, random.randint(1, 6) can return 6, but random.randrange(1, 6) stops at 5.</a:t>
            </a:r>
            <a:endParaRPr lang="en-US" sz="1700" dirty="0"/>
          </a:p>
          <a:p>
            <a:pPr marL="342900" indent="-342900">
              <a:lnSpc>
                <a:spcPct val="120000"/>
              </a:lnSpc>
              <a:spcAft>
                <a:spcPts val="1200"/>
              </a:spcAft>
              <a:buSzPct val="100000"/>
              <a:buChar char="•"/>
            </a:pPr>
            <a:r>
              <a:rPr lang="en-US" sz="1700" dirty="0">
                <a:solidFill>
                  <a:srgbClr val="101828"/>
                </a:solidFill>
                <a:latin typeface="IBM Plex Sans" pitchFamily="34" charset="0"/>
                <a:ea typeface="IBM Plex Sans" pitchFamily="34" charset="-122"/>
                <a:cs typeface="IBM Plex Sans" pitchFamily="34" charset="-120"/>
              </a:rPr>
              <a:t>An array of five elements is indexed 0 to 4, so a random index must come from that range and no wider.</a:t>
            </a:r>
            <a:endParaRPr lang="en-US" sz="1700" dirty="0"/>
          </a:p>
        </p:txBody>
      </p:sp>
      <p:sp>
        <p:nvSpPr>
          <p:cNvPr id="11" name="Shape 9"/>
          <p:cNvSpPr/>
          <p:nvPr/>
        </p:nvSpPr>
        <p:spPr>
          <a:xfrm>
            <a:off x="7818120" y="1280160"/>
            <a:ext cx="3840480" cy="3246120"/>
          </a:xfrm>
          <a:prstGeom prst="roundRect">
            <a:avLst>
              <a:gd name="adj" fmla="val 3380"/>
            </a:avLst>
          </a:prstGeom>
          <a:solidFill>
            <a:srgbClr val="FFFFFF"/>
          </a:solidFill>
          <a:ln w="15875">
            <a:solidFill>
              <a:srgbClr val="F4B942"/>
            </a:solidFill>
            <a:prstDash val="solid"/>
          </a:ln>
        </p:spPr>
      </p:sp>
      <p:sp>
        <p:nvSpPr>
          <p:cNvPr id="12" name="Text 10"/>
          <p:cNvSpPr txBox="1"/>
          <p:nvPr/>
        </p:nvSpPr>
        <p:spPr>
          <a:xfrm>
            <a:off x="8183880" y="1508760"/>
            <a:ext cx="3200400" cy="320040"/>
          </a:xfrm>
          <a:prstGeom prst="rect">
            <a:avLst/>
          </a:prstGeom>
          <a:noFill/>
          <a:ln/>
        </p:spPr>
        <p:txBody>
          <a:bodyPr wrap="square" lIns="0" tIns="0" rIns="0" bIns="0" rtlCol="0" anchor="ctr"/>
          <a:lstStyle/>
          <a:p>
            <a:pPr indent="0" marL="0">
              <a:buNone/>
            </a:pPr>
            <a:r>
              <a:rPr lang="en-US" sz="1200" b="1" dirty="0">
                <a:solidFill>
                  <a:srgbClr val="667085"/>
                </a:solidFill>
                <a:latin typeface="IBM Plex Mono" pitchFamily="34" charset="0"/>
                <a:ea typeface="IBM Plex Mono" pitchFamily="34" charset="-122"/>
                <a:cs typeface="IBM Plex Mono" pitchFamily="34" charset="-120"/>
              </a:rPr>
              <a:t>CHALLENGE</a:t>
            </a:r>
            <a:endParaRPr lang="en-US" sz="1200" dirty="0"/>
          </a:p>
        </p:txBody>
      </p:sp>
      <p:sp>
        <p:nvSpPr>
          <p:cNvPr id="13" name="Text 11"/>
          <p:cNvSpPr txBox="1"/>
          <p:nvPr/>
        </p:nvSpPr>
        <p:spPr>
          <a:xfrm>
            <a:off x="8183880" y="1874520"/>
            <a:ext cx="3154680" cy="2377440"/>
          </a:xfrm>
          <a:prstGeom prst="rect">
            <a:avLst/>
          </a:prstGeom>
          <a:noFill/>
          <a:ln/>
        </p:spPr>
        <p:txBody>
          <a:bodyPr wrap="square" lIns="0" tIns="0" rIns="0" bIns="0" rtlCol="0" anchor="t"/>
          <a:lstStyle/>
          <a:p>
            <a:pPr indent="0" marL="0">
              <a:lnSpc>
                <a:spcPct val="125000"/>
              </a:lnSpc>
              <a:buNone/>
            </a:pPr>
            <a:r>
              <a:rPr lang="en-US" sz="1600" dirty="0">
                <a:solidFill>
                  <a:srgbClr val="101828"/>
                </a:solidFill>
                <a:latin typeface="IBM Plex Sans" pitchFamily="34" charset="0"/>
                <a:ea typeface="IBM Plex Sans" pitchFamily="34" charset="-122"/>
                <a:cs typeface="IBM Plex Sans" pitchFamily="34" charset="-120"/>
              </a:rPr>
              <a:t>An array holds eight prize names. State the range a random index must come from, and say what would happen if the range went up to 8.</a:t>
            </a:r>
            <a:endParaRPr lang="en-US" sz="1600" dirty="0"/>
          </a:p>
        </p:txBody>
      </p:sp>
      <p:sp>
        <p:nvSpPr>
          <p:cNvPr id="14" name="Shape 12"/>
          <p:cNvSpPr/>
          <p:nvPr/>
        </p:nvSpPr>
        <p:spPr>
          <a:xfrm>
            <a:off x="502920" y="4754880"/>
            <a:ext cx="11155680" cy="777240"/>
          </a:xfrm>
          <a:prstGeom prst="roundRect">
            <a:avLst>
              <a:gd name="adj" fmla="val 11765"/>
            </a:avLst>
          </a:prstGeom>
          <a:solidFill>
            <a:srgbClr val="EEF2FB"/>
          </a:solidFill>
          <a:ln w="12700">
            <a:solidFill>
              <a:srgbClr val="2D63FF"/>
            </a:solidFill>
            <a:prstDash val="solid"/>
          </a:ln>
        </p:spPr>
      </p:sp>
      <p:sp>
        <p:nvSpPr>
          <p:cNvPr id="15" name="Text 13"/>
          <p:cNvSpPr txBox="1"/>
          <p:nvPr/>
        </p:nvSpPr>
        <p:spPr>
          <a:xfrm>
            <a:off x="914400" y="4754880"/>
            <a:ext cx="10332720" cy="777240"/>
          </a:xfrm>
          <a:prstGeom prst="rect">
            <a:avLst/>
          </a:prstGeom>
          <a:noFill/>
          <a:ln/>
        </p:spPr>
        <p:txBody>
          <a:bodyPr wrap="square" lIns="0" tIns="0" rIns="0" bIns="0" rtlCol="0" anchor="ctr"/>
          <a:lstStyle/>
          <a:p>
            <a:pPr indent="0" marL="0">
              <a:buNone/>
            </a:pPr>
            <a:r>
              <a:rPr lang="en-US" sz="1600" b="1" dirty="0">
                <a:solidFill>
                  <a:srgbClr val="2D63FF"/>
                </a:solidFill>
                <a:latin typeface="IBM Plex Sans" pitchFamily="34" charset="0"/>
                <a:ea typeface="IBM Plex Sans" pitchFamily="34" charset="-122"/>
                <a:cs typeface="IBM Plex Sans" pitchFamily="34" charset="-120"/>
              </a:rPr>
              <a:t>On your worksheet:  </a:t>
            </a:r>
            <a:pPr indent="0" marL="0">
              <a:buNone/>
            </a:pPr>
            <a:r>
              <a:rPr lang="en-US" sz="1600" dirty="0">
                <a:solidFill>
                  <a:srgbClr val="101828"/>
                </a:solidFill>
                <a:latin typeface="IBM Plex Sans" pitchFamily="34" charset="0"/>
                <a:ea typeface="IBM Plex Sans" pitchFamily="34" charset="-122"/>
                <a:cs typeface="IBM Plex Sans" pitchFamily="34" charset="-120"/>
              </a:rPr>
              <a:t>The end points of the range matter because...</a:t>
            </a:r>
            <a:endParaRPr lang="en-US" sz="16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7F7F4"/>
        </a:solidFill>
      </p:bgPr>
    </p:bg>
    <p:spTree>
      <p:nvGrpSpPr>
        <p:cNvPr id="1" name=""/>
        <p:cNvGrpSpPr/>
        <p:nvPr/>
      </p:nvGrpSpPr>
      <p:grpSpPr>
        <a:xfrm>
          <a:off x="0" y="0"/>
          <a:ext cx="0" cy="0"/>
          <a:chOff x="0" y="0"/>
          <a:chExt cx="0" cy="0"/>
        </a:xfrm>
      </p:grpSpPr>
      <p:sp>
        <p:nvSpPr>
          <p:cNvPr id="2" name="Shape 0"/>
          <p:cNvSpPr/>
          <p:nvPr/>
        </p:nvSpPr>
        <p:spPr>
          <a:xfrm>
            <a:off x="0" y="0"/>
            <a:ext cx="12188952" cy="82296"/>
          </a:xfrm>
          <a:prstGeom prst="rect">
            <a:avLst/>
          </a:prstGeom>
          <a:solidFill>
            <a:srgbClr val="2D63FF"/>
          </a:solidFill>
          <a:ln/>
        </p:spPr>
      </p:sp>
      <p:sp>
        <p:nvSpPr>
          <p:cNvPr id="3" name="Text 1"/>
          <p:cNvSpPr txBox="1"/>
          <p:nvPr/>
        </p:nvSpPr>
        <p:spPr>
          <a:xfrm>
            <a:off x="502920" y="6236208"/>
            <a:ext cx="7772400" cy="365760"/>
          </a:xfrm>
          <a:prstGeom prst="rect">
            <a:avLst/>
          </a:prstGeom>
          <a:noFill/>
          <a:ln/>
        </p:spPr>
        <p:txBody>
          <a:bodyPr wrap="square" lIns="0" tIns="0" rIns="0" bIns="0" rtlCol="0" anchor="ctr"/>
          <a:lstStyle/>
          <a:p>
            <a:pPr indent="0" marL="0">
              <a:buNone/>
            </a:pPr>
            <a:r>
              <a:rPr lang="en-US" sz="1100" dirty="0">
                <a:solidFill>
                  <a:srgbClr val="667085"/>
                </a:solidFill>
                <a:latin typeface="IBM Plex Mono" pitchFamily="34" charset="0"/>
                <a:ea typeface="IBM Plex Mono" pitchFamily="34" charset="-122"/>
                <a:cs typeface="IBM Plex Mono" pitchFamily="34" charset="-120"/>
              </a:rPr>
              <a:t>2.2 Programming fundamentals  |  Lesson 6</a:t>
            </a:r>
            <a:endParaRPr lang="en-US" sz="1100" dirty="0"/>
          </a:p>
        </p:txBody>
      </p:sp>
      <p:sp>
        <p:nvSpPr>
          <p:cNvPr id="4" name="Text 2"/>
          <p:cNvSpPr txBox="1"/>
          <p:nvPr/>
        </p:nvSpPr>
        <p:spPr>
          <a:xfrm>
            <a:off x="9326880" y="6236208"/>
            <a:ext cx="2377440" cy="365760"/>
          </a:xfrm>
          <a:prstGeom prst="rect">
            <a:avLst/>
          </a:prstGeom>
          <a:noFill/>
          <a:ln/>
        </p:spPr>
        <p:txBody>
          <a:bodyPr wrap="square" lIns="0" tIns="0" rIns="0" bIns="0" rtlCol="0" anchor="ctr"/>
          <a:lstStyle/>
          <a:p>
            <a:pPr algn="r" indent="0" marL="0">
              <a:buNone/>
            </a:pPr>
            <a:r>
              <a:rPr lang="en-US" sz="1100" dirty="0">
                <a:solidFill>
                  <a:srgbClr val="667085"/>
                </a:solidFill>
                <a:latin typeface="IBM Plex Mono" pitchFamily="34" charset="0"/>
                <a:ea typeface="IBM Plex Mono" pitchFamily="34" charset="-122"/>
                <a:cs typeface="IBM Plex Mono" pitchFamily="34" charset="-120"/>
              </a:rPr>
              <a:t>Revise 360</a:t>
            </a:r>
            <a:endParaRPr lang="en-US" sz="1100" dirty="0"/>
          </a:p>
        </p:txBody>
      </p:sp>
      <p:sp>
        <p:nvSpPr>
          <p:cNvPr id="5" name="Text 3"/>
          <p:cNvSpPr txBox="1"/>
          <p:nvPr/>
        </p:nvSpPr>
        <p:spPr>
          <a:xfrm>
            <a:off x="8321040" y="6236208"/>
            <a:ext cx="914400" cy="365760"/>
          </a:xfrm>
          <a:prstGeom prst="rect">
            <a:avLst/>
          </a:prstGeom>
          <a:noFill/>
          <a:ln/>
        </p:spPr>
        <p:txBody>
          <a:bodyPr wrap="square" lIns="0" tIns="0" rIns="0" bIns="0" rtlCol="0" anchor="ctr"/>
          <a:lstStyle/>
          <a:p>
            <a:pPr algn="r" indent="0" marL="0">
              <a:buNone/>
            </a:pPr>
            <a:r>
              <a:rPr lang="en-US" sz="1100" dirty="0">
                <a:solidFill>
                  <a:srgbClr val="D9DEE7"/>
                </a:solidFill>
                <a:latin typeface="IBM Plex Mono" pitchFamily="34" charset="0"/>
                <a:ea typeface="IBM Plex Mono" pitchFamily="34" charset="-122"/>
                <a:cs typeface="IBM Plex Mono" pitchFamily="34" charset="-120"/>
              </a:rPr>
              <a:t>Station 4</a:t>
            </a:r>
            <a:endParaRPr lang="en-US" sz="1100" dirty="0"/>
          </a:p>
        </p:txBody>
      </p:sp>
      <p:sp>
        <p:nvSpPr>
          <p:cNvPr id="6" name="Shape 4"/>
          <p:cNvSpPr/>
          <p:nvPr/>
        </p:nvSpPr>
        <p:spPr>
          <a:xfrm>
            <a:off x="502920" y="438912"/>
            <a:ext cx="566928" cy="566928"/>
          </a:xfrm>
          <a:prstGeom prst="ellipse">
            <a:avLst/>
          </a:prstGeom>
          <a:solidFill>
            <a:srgbClr val="2D63FF"/>
          </a:solidFill>
          <a:ln/>
        </p:spPr>
      </p:sp>
      <p:sp>
        <p:nvSpPr>
          <p:cNvPr id="7" name="Text 5"/>
          <p:cNvSpPr txBox="1"/>
          <p:nvPr/>
        </p:nvSpPr>
        <p:spPr>
          <a:xfrm>
            <a:off x="502920" y="438912"/>
            <a:ext cx="566928" cy="566928"/>
          </a:xfrm>
          <a:prstGeom prst="rect">
            <a:avLst/>
          </a:prstGeom>
          <a:noFill/>
          <a:ln/>
        </p:spPr>
        <p:txBody>
          <a:bodyPr wrap="square" lIns="0" tIns="0" rIns="0" bIns="0" rtlCol="0" anchor="ctr"/>
          <a:lstStyle/>
          <a:p>
            <a:pPr algn="ctr" indent="0" marL="0">
              <a:buNone/>
            </a:pPr>
            <a:r>
              <a:rPr lang="en-US" sz="2000" b="1" dirty="0">
                <a:solidFill>
                  <a:srgbClr val="FFFFFF"/>
                </a:solidFill>
                <a:latin typeface="IBM Plex Mono" pitchFamily="34" charset="0"/>
                <a:ea typeface="IBM Plex Mono" pitchFamily="34" charset="-122"/>
                <a:cs typeface="IBM Plex Mono" pitchFamily="34" charset="-120"/>
              </a:rPr>
              <a:t>4</a:t>
            </a:r>
            <a:endParaRPr lang="en-US" sz="2000" dirty="0"/>
          </a:p>
        </p:txBody>
      </p:sp>
      <p:sp>
        <p:nvSpPr>
          <p:cNvPr id="8" name="Text 6"/>
          <p:cNvSpPr txBox="1"/>
          <p:nvPr/>
        </p:nvSpPr>
        <p:spPr>
          <a:xfrm>
            <a:off x="1234440" y="411480"/>
            <a:ext cx="10424160" cy="621792"/>
          </a:xfrm>
          <a:prstGeom prst="rect">
            <a:avLst/>
          </a:prstGeom>
          <a:noFill/>
          <a:ln/>
        </p:spPr>
        <p:txBody>
          <a:bodyPr wrap="square" lIns="0" tIns="0" rIns="0" bIns="0" rtlCol="0" anchor="ctr"/>
          <a:lstStyle/>
          <a:p>
            <a:pPr indent="0" marL="0">
              <a:buNone/>
            </a:pPr>
            <a:r>
              <a:rPr lang="en-US" sz="3000" b="1" dirty="0">
                <a:solidFill>
                  <a:srgbClr val="101828"/>
                </a:solidFill>
                <a:latin typeface="IBM Plex Sans" pitchFamily="34" charset="0"/>
                <a:ea typeface="IBM Plex Sans" pitchFamily="34" charset="-122"/>
                <a:cs typeface="IBM Plex Sans" pitchFamily="34" charset="-120"/>
              </a:rPr>
              <a:t>Pseudo-random</a:t>
            </a:r>
            <a:endParaRPr lang="en-US" sz="3000" dirty="0"/>
          </a:p>
        </p:txBody>
      </p:sp>
      <p:sp>
        <p:nvSpPr>
          <p:cNvPr id="9" name="Shape 7"/>
          <p:cNvSpPr/>
          <p:nvPr/>
        </p:nvSpPr>
        <p:spPr>
          <a:xfrm>
            <a:off x="502920" y="1280160"/>
            <a:ext cx="7040880" cy="3246120"/>
          </a:xfrm>
          <a:prstGeom prst="roundRect">
            <a:avLst>
              <a:gd name="adj" fmla="val 3380"/>
            </a:avLst>
          </a:prstGeom>
          <a:solidFill>
            <a:srgbClr val="FFFFFF"/>
          </a:solidFill>
          <a:ln w="15875">
            <a:solidFill>
              <a:srgbClr val="D9DEE7"/>
            </a:solidFill>
            <a:prstDash val="solid"/>
          </a:ln>
        </p:spPr>
      </p:sp>
      <p:sp>
        <p:nvSpPr>
          <p:cNvPr id="10" name="Text 8"/>
          <p:cNvSpPr txBox="1"/>
          <p:nvPr/>
        </p:nvSpPr>
        <p:spPr>
          <a:xfrm>
            <a:off x="914400" y="1600200"/>
            <a:ext cx="6309360" cy="2651760"/>
          </a:xfrm>
          <a:prstGeom prst="rect">
            <a:avLst/>
          </a:prstGeom>
          <a:noFill/>
          <a:ln/>
        </p:spPr>
        <p:txBody>
          <a:bodyPr wrap="square" lIns="0" tIns="0" rIns="0" bIns="0" rtlCol="0" anchor="t"/>
          <a:lstStyle/>
          <a:p>
            <a:pPr marL="342900" indent="-342900">
              <a:lnSpc>
                <a:spcPct val="120000"/>
              </a:lnSpc>
              <a:spcAft>
                <a:spcPts val="1200"/>
              </a:spcAft>
              <a:buSzPct val="100000"/>
              <a:buChar char="•"/>
            </a:pPr>
            <a:r>
              <a:rPr lang="en-US" sz="1700" dirty="0">
                <a:solidFill>
                  <a:srgbClr val="101828"/>
                </a:solidFill>
                <a:latin typeface="IBM Plex Sans" pitchFamily="34" charset="0"/>
                <a:ea typeface="IBM Plex Sans" pitchFamily="34" charset="-122"/>
                <a:cs typeface="IBM Plex Sans" pitchFamily="34" charset="-120"/>
              </a:rPr>
              <a:t>A computer cannot be truly random: it works each number out with an algorithm, so the numbers are called pseudo-random.</a:t>
            </a:r>
            <a:endParaRPr lang="en-US" sz="1700" dirty="0"/>
          </a:p>
          <a:p>
            <a:pPr marL="342900" indent="-342900">
              <a:lnSpc>
                <a:spcPct val="120000"/>
              </a:lnSpc>
              <a:spcAft>
                <a:spcPts val="1200"/>
              </a:spcAft>
              <a:buSzPct val="100000"/>
              <a:buChar char="•"/>
            </a:pPr>
            <a:r>
              <a:rPr lang="en-US" sz="1700" dirty="0">
                <a:solidFill>
                  <a:srgbClr val="101828"/>
                </a:solidFill>
                <a:latin typeface="IBM Plex Sans" pitchFamily="34" charset="0"/>
                <a:ea typeface="IBM Plex Sans" pitchFamily="34" charset="-122"/>
                <a:cs typeface="IBM Plex Sans" pitchFamily="34" charset="-120"/>
              </a:rPr>
              <a:t>The algorithm starts from a value called the seed, and the same seed always produces the same sequence of numbers.</a:t>
            </a:r>
            <a:endParaRPr lang="en-US" sz="1700" dirty="0"/>
          </a:p>
          <a:p>
            <a:pPr marL="342900" indent="-342900">
              <a:lnSpc>
                <a:spcPct val="120000"/>
              </a:lnSpc>
              <a:spcAft>
                <a:spcPts val="1200"/>
              </a:spcAft>
              <a:buSzPct val="100000"/>
              <a:buChar char="•"/>
            </a:pPr>
            <a:r>
              <a:rPr lang="en-US" sz="1700" dirty="0">
                <a:solidFill>
                  <a:srgbClr val="101828"/>
                </a:solidFill>
                <a:latin typeface="IBM Plex Sans" pitchFamily="34" charset="0"/>
                <a:ea typeface="IBM Plex Sans" pitchFamily="34" charset="-122"/>
                <a:cs typeface="IBM Plex Sans" pitchFamily="34" charset="-120"/>
              </a:rPr>
              <a:t>Most languages take the seed from the computer's clock, so the sequence is different each time the program runs.</a:t>
            </a:r>
            <a:endParaRPr lang="en-US" sz="1700" dirty="0"/>
          </a:p>
        </p:txBody>
      </p:sp>
      <p:sp>
        <p:nvSpPr>
          <p:cNvPr id="11" name="Shape 9"/>
          <p:cNvSpPr/>
          <p:nvPr/>
        </p:nvSpPr>
        <p:spPr>
          <a:xfrm>
            <a:off x="7818120" y="1280160"/>
            <a:ext cx="3840480" cy="3246120"/>
          </a:xfrm>
          <a:prstGeom prst="roundRect">
            <a:avLst>
              <a:gd name="adj" fmla="val 3380"/>
            </a:avLst>
          </a:prstGeom>
          <a:solidFill>
            <a:srgbClr val="FFFFFF"/>
          </a:solidFill>
          <a:ln w="15875">
            <a:solidFill>
              <a:srgbClr val="F4B942"/>
            </a:solidFill>
            <a:prstDash val="solid"/>
          </a:ln>
        </p:spPr>
      </p:sp>
      <p:sp>
        <p:nvSpPr>
          <p:cNvPr id="12" name="Text 10"/>
          <p:cNvSpPr txBox="1"/>
          <p:nvPr/>
        </p:nvSpPr>
        <p:spPr>
          <a:xfrm>
            <a:off x="8183880" y="1508760"/>
            <a:ext cx="3200400" cy="320040"/>
          </a:xfrm>
          <a:prstGeom prst="rect">
            <a:avLst/>
          </a:prstGeom>
          <a:noFill/>
          <a:ln/>
        </p:spPr>
        <p:txBody>
          <a:bodyPr wrap="square" lIns="0" tIns="0" rIns="0" bIns="0" rtlCol="0" anchor="ctr"/>
          <a:lstStyle/>
          <a:p>
            <a:pPr indent="0" marL="0">
              <a:buNone/>
            </a:pPr>
            <a:r>
              <a:rPr lang="en-US" sz="1200" b="1" dirty="0">
                <a:solidFill>
                  <a:srgbClr val="667085"/>
                </a:solidFill>
                <a:latin typeface="IBM Plex Mono" pitchFamily="34" charset="0"/>
                <a:ea typeface="IBM Plex Mono" pitchFamily="34" charset="-122"/>
                <a:cs typeface="IBM Plex Mono" pitchFamily="34" charset="-120"/>
              </a:rPr>
              <a:t>CHALLENGE</a:t>
            </a:r>
            <a:endParaRPr lang="en-US" sz="1200" dirty="0"/>
          </a:p>
        </p:txBody>
      </p:sp>
      <p:sp>
        <p:nvSpPr>
          <p:cNvPr id="13" name="Text 11"/>
          <p:cNvSpPr txBox="1"/>
          <p:nvPr/>
        </p:nvSpPr>
        <p:spPr>
          <a:xfrm>
            <a:off x="8183880" y="1874520"/>
            <a:ext cx="3154680" cy="2377440"/>
          </a:xfrm>
          <a:prstGeom prst="rect">
            <a:avLst/>
          </a:prstGeom>
          <a:noFill/>
          <a:ln/>
        </p:spPr>
        <p:txBody>
          <a:bodyPr wrap="square" lIns="0" tIns="0" rIns="0" bIns="0" rtlCol="0" anchor="t"/>
          <a:lstStyle/>
          <a:p>
            <a:pPr indent="0" marL="0">
              <a:lnSpc>
                <a:spcPct val="125000"/>
              </a:lnSpc>
              <a:buNone/>
            </a:pPr>
            <a:r>
              <a:rPr lang="en-US" sz="1600" dirty="0">
                <a:solidFill>
                  <a:srgbClr val="101828"/>
                </a:solidFill>
                <a:latin typeface="IBM Plex Sans" pitchFamily="34" charset="0"/>
                <a:ea typeface="IBM Plex Sans" pitchFamily="34" charset="-122"/>
                <a:cs typeface="IBM Plex Sans" pitchFamily="34" charset="-120"/>
              </a:rPr>
              <a:t>Explain why a programmer testing a game might choose to set the seed to the same value every time.</a:t>
            </a:r>
            <a:endParaRPr lang="en-US" sz="1600" dirty="0"/>
          </a:p>
        </p:txBody>
      </p:sp>
      <p:sp>
        <p:nvSpPr>
          <p:cNvPr id="14" name="Shape 12"/>
          <p:cNvSpPr/>
          <p:nvPr/>
        </p:nvSpPr>
        <p:spPr>
          <a:xfrm>
            <a:off x="502920" y="4754880"/>
            <a:ext cx="11155680" cy="777240"/>
          </a:xfrm>
          <a:prstGeom prst="roundRect">
            <a:avLst>
              <a:gd name="adj" fmla="val 11765"/>
            </a:avLst>
          </a:prstGeom>
          <a:solidFill>
            <a:srgbClr val="EEF2FB"/>
          </a:solidFill>
          <a:ln w="12700">
            <a:solidFill>
              <a:srgbClr val="2D63FF"/>
            </a:solidFill>
            <a:prstDash val="solid"/>
          </a:ln>
        </p:spPr>
      </p:sp>
      <p:sp>
        <p:nvSpPr>
          <p:cNvPr id="15" name="Text 13"/>
          <p:cNvSpPr txBox="1"/>
          <p:nvPr/>
        </p:nvSpPr>
        <p:spPr>
          <a:xfrm>
            <a:off x="914400" y="4754880"/>
            <a:ext cx="10332720" cy="777240"/>
          </a:xfrm>
          <a:prstGeom prst="rect">
            <a:avLst/>
          </a:prstGeom>
          <a:noFill/>
          <a:ln/>
        </p:spPr>
        <p:txBody>
          <a:bodyPr wrap="square" lIns="0" tIns="0" rIns="0" bIns="0" rtlCol="0" anchor="ctr"/>
          <a:lstStyle/>
          <a:p>
            <a:pPr indent="0" marL="0">
              <a:buNone/>
            </a:pPr>
            <a:r>
              <a:rPr lang="en-US" sz="1600" b="1" dirty="0">
                <a:solidFill>
                  <a:srgbClr val="2D63FF"/>
                </a:solidFill>
                <a:latin typeface="IBM Plex Sans" pitchFamily="34" charset="0"/>
                <a:ea typeface="IBM Plex Sans" pitchFamily="34" charset="-122"/>
                <a:cs typeface="IBM Plex Sans" pitchFamily="34" charset="-120"/>
              </a:rPr>
              <a:t>On your worksheet:  </a:t>
            </a:r>
            <a:pPr indent="0" marL="0">
              <a:buNone/>
            </a:pPr>
            <a:r>
              <a:rPr lang="en-US" sz="1600" dirty="0">
                <a:solidFill>
                  <a:srgbClr val="101828"/>
                </a:solidFill>
                <a:latin typeface="IBM Plex Sans" pitchFamily="34" charset="0"/>
                <a:ea typeface="IBM Plex Sans" pitchFamily="34" charset="-122"/>
                <a:cs typeface="IBM Plex Sans" pitchFamily="34" charset="-120"/>
              </a:rPr>
              <a:t>Pseudo-random means...</a:t>
            </a:r>
            <a:endParaRPr lang="en-US" sz="16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7F7F4"/>
        </a:solidFill>
      </p:bgPr>
    </p:bg>
    <p:spTree>
      <p:nvGrpSpPr>
        <p:cNvPr id="1" name=""/>
        <p:cNvGrpSpPr/>
        <p:nvPr/>
      </p:nvGrpSpPr>
      <p:grpSpPr>
        <a:xfrm>
          <a:off x="0" y="0"/>
          <a:ext cx="0" cy="0"/>
          <a:chOff x="0" y="0"/>
          <a:chExt cx="0" cy="0"/>
        </a:xfrm>
      </p:grpSpPr>
      <p:sp>
        <p:nvSpPr>
          <p:cNvPr id="2" name="Shape 0"/>
          <p:cNvSpPr/>
          <p:nvPr/>
        </p:nvSpPr>
        <p:spPr>
          <a:xfrm>
            <a:off x="0" y="0"/>
            <a:ext cx="12188952" cy="82296"/>
          </a:xfrm>
          <a:prstGeom prst="rect">
            <a:avLst/>
          </a:prstGeom>
          <a:solidFill>
            <a:srgbClr val="2D63FF"/>
          </a:solidFill>
          <a:ln/>
        </p:spPr>
      </p:sp>
      <p:sp>
        <p:nvSpPr>
          <p:cNvPr id="3" name="Text 1"/>
          <p:cNvSpPr txBox="1"/>
          <p:nvPr/>
        </p:nvSpPr>
        <p:spPr>
          <a:xfrm>
            <a:off x="502920" y="6236208"/>
            <a:ext cx="7772400" cy="365760"/>
          </a:xfrm>
          <a:prstGeom prst="rect">
            <a:avLst/>
          </a:prstGeom>
          <a:noFill/>
          <a:ln/>
        </p:spPr>
        <p:txBody>
          <a:bodyPr wrap="square" lIns="0" tIns="0" rIns="0" bIns="0" rtlCol="0" anchor="ctr"/>
          <a:lstStyle/>
          <a:p>
            <a:pPr indent="0" marL="0">
              <a:buNone/>
            </a:pPr>
            <a:r>
              <a:rPr lang="en-US" sz="1100" dirty="0">
                <a:solidFill>
                  <a:srgbClr val="667085"/>
                </a:solidFill>
                <a:latin typeface="IBM Plex Mono" pitchFamily="34" charset="0"/>
                <a:ea typeface="IBM Plex Mono" pitchFamily="34" charset="-122"/>
                <a:cs typeface="IBM Plex Mono" pitchFamily="34" charset="-120"/>
              </a:rPr>
              <a:t>2.2 Programming fundamentals  |  Lesson 6</a:t>
            </a:r>
            <a:endParaRPr lang="en-US" sz="1100" dirty="0"/>
          </a:p>
        </p:txBody>
      </p:sp>
      <p:sp>
        <p:nvSpPr>
          <p:cNvPr id="4" name="Text 2"/>
          <p:cNvSpPr txBox="1"/>
          <p:nvPr/>
        </p:nvSpPr>
        <p:spPr>
          <a:xfrm>
            <a:off x="9326880" y="6236208"/>
            <a:ext cx="2377440" cy="365760"/>
          </a:xfrm>
          <a:prstGeom prst="rect">
            <a:avLst/>
          </a:prstGeom>
          <a:noFill/>
          <a:ln/>
        </p:spPr>
        <p:txBody>
          <a:bodyPr wrap="square" lIns="0" tIns="0" rIns="0" bIns="0" rtlCol="0" anchor="ctr"/>
          <a:lstStyle/>
          <a:p>
            <a:pPr algn="r" indent="0" marL="0">
              <a:buNone/>
            </a:pPr>
            <a:r>
              <a:rPr lang="en-US" sz="1100" dirty="0">
                <a:solidFill>
                  <a:srgbClr val="667085"/>
                </a:solidFill>
                <a:latin typeface="IBM Plex Mono" pitchFamily="34" charset="0"/>
                <a:ea typeface="IBM Plex Mono" pitchFamily="34" charset="-122"/>
                <a:cs typeface="IBM Plex Mono" pitchFamily="34" charset="-120"/>
              </a:rPr>
              <a:t>Revise 360</a:t>
            </a:r>
            <a:endParaRPr lang="en-US" sz="1100" dirty="0"/>
          </a:p>
        </p:txBody>
      </p:sp>
      <p:sp>
        <p:nvSpPr>
          <p:cNvPr id="5" name="Text 3"/>
          <p:cNvSpPr txBox="1"/>
          <p:nvPr/>
        </p:nvSpPr>
        <p:spPr>
          <a:xfrm>
            <a:off x="8321040" y="6236208"/>
            <a:ext cx="914400" cy="365760"/>
          </a:xfrm>
          <a:prstGeom prst="rect">
            <a:avLst/>
          </a:prstGeom>
          <a:noFill/>
          <a:ln/>
        </p:spPr>
        <p:txBody>
          <a:bodyPr wrap="square" lIns="0" tIns="0" rIns="0" bIns="0" rtlCol="0" anchor="ctr"/>
          <a:lstStyle/>
          <a:p>
            <a:pPr algn="r" indent="0" marL="0">
              <a:buNone/>
            </a:pPr>
            <a:r>
              <a:rPr lang="en-US" sz="1100" dirty="0">
                <a:solidFill>
                  <a:srgbClr val="D9DEE7"/>
                </a:solidFill>
                <a:latin typeface="IBM Plex Mono" pitchFamily="34" charset="0"/>
                <a:ea typeface="IBM Plex Mono" pitchFamily="34" charset="-122"/>
                <a:cs typeface="IBM Plex Mono" pitchFamily="34" charset="-120"/>
              </a:rPr>
              <a:t>Station 5</a:t>
            </a:r>
            <a:endParaRPr lang="en-US" sz="1100" dirty="0"/>
          </a:p>
        </p:txBody>
      </p:sp>
      <p:sp>
        <p:nvSpPr>
          <p:cNvPr id="6" name="Shape 4"/>
          <p:cNvSpPr/>
          <p:nvPr/>
        </p:nvSpPr>
        <p:spPr>
          <a:xfrm>
            <a:off x="502920" y="438912"/>
            <a:ext cx="566928" cy="566928"/>
          </a:xfrm>
          <a:prstGeom prst="ellipse">
            <a:avLst/>
          </a:prstGeom>
          <a:solidFill>
            <a:srgbClr val="2D63FF"/>
          </a:solidFill>
          <a:ln/>
        </p:spPr>
      </p:sp>
      <p:sp>
        <p:nvSpPr>
          <p:cNvPr id="7" name="Text 5"/>
          <p:cNvSpPr txBox="1"/>
          <p:nvPr/>
        </p:nvSpPr>
        <p:spPr>
          <a:xfrm>
            <a:off x="502920" y="438912"/>
            <a:ext cx="566928" cy="566928"/>
          </a:xfrm>
          <a:prstGeom prst="rect">
            <a:avLst/>
          </a:prstGeom>
          <a:noFill/>
          <a:ln/>
        </p:spPr>
        <p:txBody>
          <a:bodyPr wrap="square" lIns="0" tIns="0" rIns="0" bIns="0" rtlCol="0" anchor="ctr"/>
          <a:lstStyle/>
          <a:p>
            <a:pPr algn="ctr" indent="0" marL="0">
              <a:buNone/>
            </a:pPr>
            <a:r>
              <a:rPr lang="en-US" sz="2000" b="1" dirty="0">
                <a:solidFill>
                  <a:srgbClr val="FFFFFF"/>
                </a:solidFill>
                <a:latin typeface="IBM Plex Mono" pitchFamily="34" charset="0"/>
                <a:ea typeface="IBM Plex Mono" pitchFamily="34" charset="-122"/>
                <a:cs typeface="IBM Plex Mono" pitchFamily="34" charset="-120"/>
              </a:rPr>
              <a:t>5</a:t>
            </a:r>
            <a:endParaRPr lang="en-US" sz="2000" dirty="0"/>
          </a:p>
        </p:txBody>
      </p:sp>
      <p:sp>
        <p:nvSpPr>
          <p:cNvPr id="8" name="Text 6"/>
          <p:cNvSpPr txBox="1"/>
          <p:nvPr/>
        </p:nvSpPr>
        <p:spPr>
          <a:xfrm>
            <a:off x="1234440" y="411480"/>
            <a:ext cx="10424160" cy="621792"/>
          </a:xfrm>
          <a:prstGeom prst="rect">
            <a:avLst/>
          </a:prstGeom>
          <a:noFill/>
          <a:ln/>
        </p:spPr>
        <p:txBody>
          <a:bodyPr wrap="square" lIns="0" tIns="0" rIns="0" bIns="0" rtlCol="0" anchor="ctr"/>
          <a:lstStyle/>
          <a:p>
            <a:pPr indent="0" marL="0">
              <a:buNone/>
            </a:pPr>
            <a:r>
              <a:rPr lang="en-US" sz="3000" b="1" dirty="0">
                <a:solidFill>
                  <a:srgbClr val="101828"/>
                </a:solidFill>
                <a:latin typeface="IBM Plex Sans" pitchFamily="34" charset="0"/>
                <a:ea typeface="IBM Plex Sans" pitchFamily="34" charset="-122"/>
                <a:cs typeface="IBM Plex Sans" pitchFamily="34" charset="-120"/>
              </a:rPr>
              <a:t>Random in a loop</a:t>
            </a:r>
            <a:endParaRPr lang="en-US" sz="3000" dirty="0"/>
          </a:p>
        </p:txBody>
      </p:sp>
      <p:sp>
        <p:nvSpPr>
          <p:cNvPr id="9" name="Shape 7"/>
          <p:cNvSpPr/>
          <p:nvPr/>
        </p:nvSpPr>
        <p:spPr>
          <a:xfrm>
            <a:off x="502920" y="1280160"/>
            <a:ext cx="7040880" cy="3246120"/>
          </a:xfrm>
          <a:prstGeom prst="roundRect">
            <a:avLst>
              <a:gd name="adj" fmla="val 3380"/>
            </a:avLst>
          </a:prstGeom>
          <a:solidFill>
            <a:srgbClr val="FFFFFF"/>
          </a:solidFill>
          <a:ln w="15875">
            <a:solidFill>
              <a:srgbClr val="D9DEE7"/>
            </a:solidFill>
            <a:prstDash val="solid"/>
          </a:ln>
        </p:spPr>
      </p:sp>
      <p:sp>
        <p:nvSpPr>
          <p:cNvPr id="10" name="Text 8"/>
          <p:cNvSpPr txBox="1"/>
          <p:nvPr/>
        </p:nvSpPr>
        <p:spPr>
          <a:xfrm>
            <a:off x="914400" y="1600200"/>
            <a:ext cx="6309360" cy="2651760"/>
          </a:xfrm>
          <a:prstGeom prst="rect">
            <a:avLst/>
          </a:prstGeom>
          <a:noFill/>
          <a:ln/>
        </p:spPr>
        <p:txBody>
          <a:bodyPr wrap="square" lIns="0" tIns="0" rIns="0" bIns="0" rtlCol="0" anchor="t"/>
          <a:lstStyle/>
          <a:p>
            <a:pPr marL="342900" indent="-342900">
              <a:lnSpc>
                <a:spcPct val="120000"/>
              </a:lnSpc>
              <a:spcAft>
                <a:spcPts val="1200"/>
              </a:spcAft>
              <a:buSzPct val="100000"/>
              <a:buChar char="•"/>
            </a:pPr>
            <a:r>
              <a:rPr lang="en-US" sz="1700" dirty="0">
                <a:solidFill>
                  <a:srgbClr val="101828"/>
                </a:solidFill>
                <a:latin typeface="IBM Plex Sans" pitchFamily="34" charset="0"/>
                <a:ea typeface="IBM Plex Sans" pitchFamily="34" charset="-122"/>
                <a:cs typeface="IBM Plex Sans" pitchFamily="34" charset="-120"/>
              </a:rPr>
              <a:t>A new number is generated every time the function is called, so a loop can produce a whole set of them.</a:t>
            </a:r>
            <a:endParaRPr lang="en-US" sz="1700" dirty="0"/>
          </a:p>
          <a:p>
            <a:pPr marL="342900" indent="-342900">
              <a:lnSpc>
                <a:spcPct val="120000"/>
              </a:lnSpc>
              <a:spcAft>
                <a:spcPts val="1200"/>
              </a:spcAft>
              <a:buSzPct val="100000"/>
              <a:buChar char="•"/>
            </a:pPr>
            <a:r>
              <a:rPr lang="en-US" sz="1700" dirty="0">
                <a:solidFill>
                  <a:srgbClr val="101828"/>
                </a:solidFill>
                <a:latin typeface="IBM Plex Sans" pitchFamily="34" charset="0"/>
                <a:ea typeface="IBM Plex Sans" pitchFamily="34" charset="-122"/>
                <a:cs typeface="IBM Plex Sans" pitchFamily="34" charset="-120"/>
              </a:rPr>
              <a:t>In the OCR Exam Reference Language a count-controlled loop suits a known number of values, such as ten dice rolls.</a:t>
            </a:r>
            <a:endParaRPr lang="en-US" sz="1700" dirty="0"/>
          </a:p>
          <a:p>
            <a:pPr marL="342900" indent="-342900">
              <a:lnSpc>
                <a:spcPct val="120000"/>
              </a:lnSpc>
              <a:spcAft>
                <a:spcPts val="1200"/>
              </a:spcAft>
              <a:buSzPct val="100000"/>
              <a:buChar char="•"/>
            </a:pPr>
            <a:r>
              <a:rPr lang="en-US" sz="1700" dirty="0">
                <a:solidFill>
                  <a:srgbClr val="101828"/>
                </a:solidFill>
                <a:latin typeface="IBM Plex Sans" pitchFamily="34" charset="0"/>
                <a:ea typeface="IBM Plex Sans" pitchFamily="34" charset="-122"/>
                <a:cs typeface="IBM Plex Sans" pitchFamily="34" charset="-120"/>
              </a:rPr>
              <a:t>Each call is independent of the last, so the same value can come up twice in a row.</a:t>
            </a:r>
            <a:endParaRPr lang="en-US" sz="1700" dirty="0"/>
          </a:p>
        </p:txBody>
      </p:sp>
      <p:sp>
        <p:nvSpPr>
          <p:cNvPr id="11" name="Shape 9"/>
          <p:cNvSpPr/>
          <p:nvPr/>
        </p:nvSpPr>
        <p:spPr>
          <a:xfrm>
            <a:off x="7818120" y="1280160"/>
            <a:ext cx="3840480" cy="3246120"/>
          </a:xfrm>
          <a:prstGeom prst="roundRect">
            <a:avLst>
              <a:gd name="adj" fmla="val 3380"/>
            </a:avLst>
          </a:prstGeom>
          <a:solidFill>
            <a:srgbClr val="FFFFFF"/>
          </a:solidFill>
          <a:ln w="15875">
            <a:solidFill>
              <a:srgbClr val="F4B942"/>
            </a:solidFill>
            <a:prstDash val="solid"/>
          </a:ln>
        </p:spPr>
      </p:sp>
      <p:sp>
        <p:nvSpPr>
          <p:cNvPr id="12" name="Text 10"/>
          <p:cNvSpPr txBox="1"/>
          <p:nvPr/>
        </p:nvSpPr>
        <p:spPr>
          <a:xfrm>
            <a:off x="8183880" y="1508760"/>
            <a:ext cx="3200400" cy="320040"/>
          </a:xfrm>
          <a:prstGeom prst="rect">
            <a:avLst/>
          </a:prstGeom>
          <a:noFill/>
          <a:ln/>
        </p:spPr>
        <p:txBody>
          <a:bodyPr wrap="square" lIns="0" tIns="0" rIns="0" bIns="0" rtlCol="0" anchor="ctr"/>
          <a:lstStyle/>
          <a:p>
            <a:pPr indent="0" marL="0">
              <a:buNone/>
            </a:pPr>
            <a:r>
              <a:rPr lang="en-US" sz="1200" b="1" dirty="0">
                <a:solidFill>
                  <a:srgbClr val="667085"/>
                </a:solidFill>
                <a:latin typeface="IBM Plex Mono" pitchFamily="34" charset="0"/>
                <a:ea typeface="IBM Plex Mono" pitchFamily="34" charset="-122"/>
                <a:cs typeface="IBM Plex Mono" pitchFamily="34" charset="-120"/>
              </a:rPr>
              <a:t>CHALLENGE</a:t>
            </a:r>
            <a:endParaRPr lang="en-US" sz="1200" dirty="0"/>
          </a:p>
        </p:txBody>
      </p:sp>
      <p:sp>
        <p:nvSpPr>
          <p:cNvPr id="13" name="Text 11"/>
          <p:cNvSpPr txBox="1"/>
          <p:nvPr/>
        </p:nvSpPr>
        <p:spPr>
          <a:xfrm>
            <a:off x="8183880" y="1874520"/>
            <a:ext cx="3154680" cy="2377440"/>
          </a:xfrm>
          <a:prstGeom prst="rect">
            <a:avLst/>
          </a:prstGeom>
          <a:noFill/>
          <a:ln/>
        </p:spPr>
        <p:txBody>
          <a:bodyPr wrap="square" lIns="0" tIns="0" rIns="0" bIns="0" rtlCol="0" anchor="t"/>
          <a:lstStyle/>
          <a:p>
            <a:pPr indent="0" marL="0">
              <a:lnSpc>
                <a:spcPct val="125000"/>
              </a:lnSpc>
              <a:buNone/>
            </a:pPr>
            <a:r>
              <a:rPr lang="en-US" sz="1600" dirty="0">
                <a:solidFill>
                  <a:srgbClr val="101828"/>
                </a:solidFill>
                <a:latin typeface="IBM Plex Sans" pitchFamily="34" charset="0"/>
                <a:ea typeface="IBM Plex Sans" pitchFamily="34" charset="-122"/>
                <a:cs typeface="IBM Plex Sans" pitchFamily="34" charset="-120"/>
              </a:rPr>
              <a:t>Describe what a program would need to do to count how many sixes it rolls in one hundred dice rolls.</a:t>
            </a:r>
            <a:endParaRPr lang="en-US" sz="1600" dirty="0"/>
          </a:p>
        </p:txBody>
      </p:sp>
      <p:sp>
        <p:nvSpPr>
          <p:cNvPr id="14" name="Shape 12"/>
          <p:cNvSpPr/>
          <p:nvPr/>
        </p:nvSpPr>
        <p:spPr>
          <a:xfrm>
            <a:off x="502920" y="4754880"/>
            <a:ext cx="11155680" cy="777240"/>
          </a:xfrm>
          <a:prstGeom prst="roundRect">
            <a:avLst>
              <a:gd name="adj" fmla="val 11765"/>
            </a:avLst>
          </a:prstGeom>
          <a:solidFill>
            <a:srgbClr val="EEF2FB"/>
          </a:solidFill>
          <a:ln w="12700">
            <a:solidFill>
              <a:srgbClr val="2D63FF"/>
            </a:solidFill>
            <a:prstDash val="solid"/>
          </a:ln>
        </p:spPr>
      </p:sp>
      <p:sp>
        <p:nvSpPr>
          <p:cNvPr id="15" name="Text 13"/>
          <p:cNvSpPr txBox="1"/>
          <p:nvPr/>
        </p:nvSpPr>
        <p:spPr>
          <a:xfrm>
            <a:off x="914400" y="4754880"/>
            <a:ext cx="10332720" cy="777240"/>
          </a:xfrm>
          <a:prstGeom prst="rect">
            <a:avLst/>
          </a:prstGeom>
          <a:noFill/>
          <a:ln/>
        </p:spPr>
        <p:txBody>
          <a:bodyPr wrap="square" lIns="0" tIns="0" rIns="0" bIns="0" rtlCol="0" anchor="ctr"/>
          <a:lstStyle/>
          <a:p>
            <a:pPr indent="0" marL="0">
              <a:buNone/>
            </a:pPr>
            <a:r>
              <a:rPr lang="en-US" sz="1600" b="1" dirty="0">
                <a:solidFill>
                  <a:srgbClr val="2D63FF"/>
                </a:solidFill>
                <a:latin typeface="IBM Plex Sans" pitchFamily="34" charset="0"/>
                <a:ea typeface="IBM Plex Sans" pitchFamily="34" charset="-122"/>
                <a:cs typeface="IBM Plex Sans" pitchFamily="34" charset="-120"/>
              </a:rPr>
              <a:t>On your worksheet:  </a:t>
            </a:r>
            <a:pPr indent="0" marL="0">
              <a:buNone/>
            </a:pPr>
            <a:r>
              <a:rPr lang="en-US" sz="1600" dirty="0">
                <a:solidFill>
                  <a:srgbClr val="101828"/>
                </a:solidFill>
                <a:latin typeface="IBM Plex Sans" pitchFamily="34" charset="0"/>
                <a:ea typeface="IBM Plex Sans" pitchFamily="34" charset="-122"/>
                <a:cs typeface="IBM Plex Sans" pitchFamily="34" charset="-120"/>
              </a:rPr>
              <a:t>Calling a random function inside a loop...</a:t>
            </a:r>
            <a:endParaRPr lang="en-US" sz="16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7F7F4"/>
        </a:solidFill>
      </p:bgPr>
    </p:bg>
    <p:spTree>
      <p:nvGrpSpPr>
        <p:cNvPr id="1" name=""/>
        <p:cNvGrpSpPr/>
        <p:nvPr/>
      </p:nvGrpSpPr>
      <p:grpSpPr>
        <a:xfrm>
          <a:off x="0" y="0"/>
          <a:ext cx="0" cy="0"/>
          <a:chOff x="0" y="0"/>
          <a:chExt cx="0" cy="0"/>
        </a:xfrm>
      </p:grpSpPr>
      <p:sp>
        <p:nvSpPr>
          <p:cNvPr id="2" name="Shape 0"/>
          <p:cNvSpPr/>
          <p:nvPr/>
        </p:nvSpPr>
        <p:spPr>
          <a:xfrm>
            <a:off x="0" y="0"/>
            <a:ext cx="12188952" cy="82296"/>
          </a:xfrm>
          <a:prstGeom prst="rect">
            <a:avLst/>
          </a:prstGeom>
          <a:solidFill>
            <a:srgbClr val="2D63FF"/>
          </a:solidFill>
          <a:ln/>
        </p:spPr>
      </p:sp>
      <p:sp>
        <p:nvSpPr>
          <p:cNvPr id="3" name="Text 1"/>
          <p:cNvSpPr txBox="1"/>
          <p:nvPr/>
        </p:nvSpPr>
        <p:spPr>
          <a:xfrm>
            <a:off x="502920" y="6236208"/>
            <a:ext cx="7772400" cy="365760"/>
          </a:xfrm>
          <a:prstGeom prst="rect">
            <a:avLst/>
          </a:prstGeom>
          <a:noFill/>
          <a:ln/>
        </p:spPr>
        <p:txBody>
          <a:bodyPr wrap="square" lIns="0" tIns="0" rIns="0" bIns="0" rtlCol="0" anchor="ctr"/>
          <a:lstStyle/>
          <a:p>
            <a:pPr indent="0" marL="0">
              <a:buNone/>
            </a:pPr>
            <a:r>
              <a:rPr lang="en-US" sz="1100" dirty="0">
                <a:solidFill>
                  <a:srgbClr val="667085"/>
                </a:solidFill>
                <a:latin typeface="IBM Plex Mono" pitchFamily="34" charset="0"/>
                <a:ea typeface="IBM Plex Mono" pitchFamily="34" charset="-122"/>
                <a:cs typeface="IBM Plex Mono" pitchFamily="34" charset="-120"/>
              </a:rPr>
              <a:t>2.2 Programming fundamentals  |  Lesson 6</a:t>
            </a:r>
            <a:endParaRPr lang="en-US" sz="1100" dirty="0"/>
          </a:p>
        </p:txBody>
      </p:sp>
      <p:sp>
        <p:nvSpPr>
          <p:cNvPr id="4" name="Text 2"/>
          <p:cNvSpPr txBox="1"/>
          <p:nvPr/>
        </p:nvSpPr>
        <p:spPr>
          <a:xfrm>
            <a:off x="9326880" y="6236208"/>
            <a:ext cx="2377440" cy="365760"/>
          </a:xfrm>
          <a:prstGeom prst="rect">
            <a:avLst/>
          </a:prstGeom>
          <a:noFill/>
          <a:ln/>
        </p:spPr>
        <p:txBody>
          <a:bodyPr wrap="square" lIns="0" tIns="0" rIns="0" bIns="0" rtlCol="0" anchor="ctr"/>
          <a:lstStyle/>
          <a:p>
            <a:pPr algn="r" indent="0" marL="0">
              <a:buNone/>
            </a:pPr>
            <a:r>
              <a:rPr lang="en-US" sz="1100" dirty="0">
                <a:solidFill>
                  <a:srgbClr val="667085"/>
                </a:solidFill>
                <a:latin typeface="IBM Plex Mono" pitchFamily="34" charset="0"/>
                <a:ea typeface="IBM Plex Mono" pitchFamily="34" charset="-122"/>
                <a:cs typeface="IBM Plex Mono" pitchFamily="34" charset="-120"/>
              </a:rPr>
              <a:t>Revise 360</a:t>
            </a:r>
            <a:endParaRPr lang="en-US" sz="1100" dirty="0"/>
          </a:p>
        </p:txBody>
      </p:sp>
      <p:sp>
        <p:nvSpPr>
          <p:cNvPr id="5" name="Text 3"/>
          <p:cNvSpPr txBox="1"/>
          <p:nvPr/>
        </p:nvSpPr>
        <p:spPr>
          <a:xfrm>
            <a:off x="8321040" y="6236208"/>
            <a:ext cx="914400" cy="365760"/>
          </a:xfrm>
          <a:prstGeom prst="rect">
            <a:avLst/>
          </a:prstGeom>
          <a:noFill/>
          <a:ln/>
        </p:spPr>
        <p:txBody>
          <a:bodyPr wrap="square" lIns="0" tIns="0" rIns="0" bIns="0" rtlCol="0" anchor="ctr"/>
          <a:lstStyle/>
          <a:p>
            <a:pPr algn="r" indent="0" marL="0">
              <a:buNone/>
            </a:pPr>
            <a:r>
              <a:rPr lang="en-US" sz="1100" dirty="0">
                <a:solidFill>
                  <a:srgbClr val="D9DEE7"/>
                </a:solidFill>
                <a:latin typeface="IBM Plex Mono" pitchFamily="34" charset="0"/>
                <a:ea typeface="IBM Plex Mono" pitchFamily="34" charset="-122"/>
                <a:cs typeface="IBM Plex Mono" pitchFamily="34" charset="-120"/>
              </a:rPr>
              <a:t>Station 6</a:t>
            </a:r>
            <a:endParaRPr lang="en-US" sz="1100" dirty="0"/>
          </a:p>
        </p:txBody>
      </p:sp>
      <p:sp>
        <p:nvSpPr>
          <p:cNvPr id="6" name="Shape 4"/>
          <p:cNvSpPr/>
          <p:nvPr/>
        </p:nvSpPr>
        <p:spPr>
          <a:xfrm>
            <a:off x="502920" y="438912"/>
            <a:ext cx="566928" cy="566928"/>
          </a:xfrm>
          <a:prstGeom prst="ellipse">
            <a:avLst/>
          </a:prstGeom>
          <a:solidFill>
            <a:srgbClr val="2D63FF"/>
          </a:solidFill>
          <a:ln/>
        </p:spPr>
      </p:sp>
      <p:sp>
        <p:nvSpPr>
          <p:cNvPr id="7" name="Text 5"/>
          <p:cNvSpPr txBox="1"/>
          <p:nvPr/>
        </p:nvSpPr>
        <p:spPr>
          <a:xfrm>
            <a:off x="502920" y="438912"/>
            <a:ext cx="566928" cy="566928"/>
          </a:xfrm>
          <a:prstGeom prst="rect">
            <a:avLst/>
          </a:prstGeom>
          <a:noFill/>
          <a:ln/>
        </p:spPr>
        <p:txBody>
          <a:bodyPr wrap="square" lIns="0" tIns="0" rIns="0" bIns="0" rtlCol="0" anchor="ctr"/>
          <a:lstStyle/>
          <a:p>
            <a:pPr algn="ctr" indent="0" marL="0">
              <a:buNone/>
            </a:pPr>
            <a:r>
              <a:rPr lang="en-US" sz="2000" b="1" dirty="0">
                <a:solidFill>
                  <a:srgbClr val="FFFFFF"/>
                </a:solidFill>
                <a:latin typeface="IBM Plex Mono" pitchFamily="34" charset="0"/>
                <a:ea typeface="IBM Plex Mono" pitchFamily="34" charset="-122"/>
                <a:cs typeface="IBM Plex Mono" pitchFamily="34" charset="-120"/>
              </a:rPr>
              <a:t>6</a:t>
            </a:r>
            <a:endParaRPr lang="en-US" sz="2000" dirty="0"/>
          </a:p>
        </p:txBody>
      </p:sp>
      <p:sp>
        <p:nvSpPr>
          <p:cNvPr id="8" name="Text 6"/>
          <p:cNvSpPr txBox="1"/>
          <p:nvPr/>
        </p:nvSpPr>
        <p:spPr>
          <a:xfrm>
            <a:off x="1234440" y="411480"/>
            <a:ext cx="10424160" cy="621792"/>
          </a:xfrm>
          <a:prstGeom prst="rect">
            <a:avLst/>
          </a:prstGeom>
          <a:noFill/>
          <a:ln/>
        </p:spPr>
        <p:txBody>
          <a:bodyPr wrap="square" lIns="0" tIns="0" rIns="0" bIns="0" rtlCol="0" anchor="ctr"/>
          <a:lstStyle/>
          <a:p>
            <a:pPr indent="0" marL="0">
              <a:buNone/>
            </a:pPr>
            <a:r>
              <a:rPr lang="en-US" sz="3000" b="1" dirty="0">
                <a:solidFill>
                  <a:srgbClr val="101828"/>
                </a:solidFill>
                <a:latin typeface="IBM Plex Sans" pitchFamily="34" charset="0"/>
                <a:ea typeface="IBM Plex Sans" pitchFamily="34" charset="-122"/>
                <a:cs typeface="IBM Plex Sans" pitchFamily="34" charset="-120"/>
              </a:rPr>
              <a:t>Using randomness well</a:t>
            </a:r>
            <a:endParaRPr lang="en-US" sz="3000" dirty="0"/>
          </a:p>
        </p:txBody>
      </p:sp>
      <p:sp>
        <p:nvSpPr>
          <p:cNvPr id="9" name="Shape 7"/>
          <p:cNvSpPr/>
          <p:nvPr/>
        </p:nvSpPr>
        <p:spPr>
          <a:xfrm>
            <a:off x="502920" y="1280160"/>
            <a:ext cx="7040880" cy="3246120"/>
          </a:xfrm>
          <a:prstGeom prst="roundRect">
            <a:avLst>
              <a:gd name="adj" fmla="val 3380"/>
            </a:avLst>
          </a:prstGeom>
          <a:solidFill>
            <a:srgbClr val="FFFFFF"/>
          </a:solidFill>
          <a:ln w="15875">
            <a:solidFill>
              <a:srgbClr val="D9DEE7"/>
            </a:solidFill>
            <a:prstDash val="solid"/>
          </a:ln>
        </p:spPr>
      </p:sp>
      <p:sp>
        <p:nvSpPr>
          <p:cNvPr id="10" name="Text 8"/>
          <p:cNvSpPr txBox="1"/>
          <p:nvPr/>
        </p:nvSpPr>
        <p:spPr>
          <a:xfrm>
            <a:off x="914400" y="1600200"/>
            <a:ext cx="6309360" cy="2651760"/>
          </a:xfrm>
          <a:prstGeom prst="rect">
            <a:avLst/>
          </a:prstGeom>
          <a:noFill/>
          <a:ln/>
        </p:spPr>
        <p:txBody>
          <a:bodyPr wrap="square" lIns="0" tIns="0" rIns="0" bIns="0" rtlCol="0" anchor="t"/>
          <a:lstStyle/>
          <a:p>
            <a:pPr marL="342900" indent="-342900">
              <a:lnSpc>
                <a:spcPct val="120000"/>
              </a:lnSpc>
              <a:spcAft>
                <a:spcPts val="1200"/>
              </a:spcAft>
              <a:buSzPct val="100000"/>
              <a:buChar char="•"/>
            </a:pPr>
            <a:r>
              <a:rPr lang="en-US" sz="1700" dirty="0">
                <a:solidFill>
                  <a:srgbClr val="101828"/>
                </a:solidFill>
                <a:latin typeface="IBM Plex Sans" pitchFamily="34" charset="0"/>
                <a:ea typeface="IBM Plex Sans" pitchFamily="34" charset="-122"/>
                <a:cs typeface="IBM Plex Sans" pitchFamily="34" charset="-120"/>
              </a:rPr>
              <a:t>A simulation uses random numbers to model something unpredictable, such as traffic or the weather, so it can be run many times.</a:t>
            </a:r>
            <a:endParaRPr lang="en-US" sz="1700" dirty="0"/>
          </a:p>
          <a:p>
            <a:pPr marL="342900" indent="-342900">
              <a:lnSpc>
                <a:spcPct val="120000"/>
              </a:lnSpc>
              <a:spcAft>
                <a:spcPts val="1200"/>
              </a:spcAft>
              <a:buSzPct val="100000"/>
              <a:buChar char="•"/>
            </a:pPr>
            <a:r>
              <a:rPr lang="en-US" sz="1700" dirty="0">
                <a:solidFill>
                  <a:srgbClr val="101828"/>
                </a:solidFill>
                <a:latin typeface="IBM Plex Sans" pitchFamily="34" charset="0"/>
                <a:ea typeface="IBM Plex Sans" pitchFamily="34" charset="-122"/>
                <a:cs typeface="IBM Plex Sans" pitchFamily="34" charset="-120"/>
              </a:rPr>
              <a:t>Random sampling picks members of a group at random, so the sample is fair and not chosen on purpose.</a:t>
            </a:r>
            <a:endParaRPr lang="en-US" sz="1700" dirty="0"/>
          </a:p>
          <a:p>
            <a:pPr marL="342900" indent="-342900">
              <a:lnSpc>
                <a:spcPct val="120000"/>
              </a:lnSpc>
              <a:spcAft>
                <a:spcPts val="1200"/>
              </a:spcAft>
              <a:buSzPct val="100000"/>
              <a:buChar char="•"/>
            </a:pPr>
            <a:r>
              <a:rPr lang="en-US" sz="1700" dirty="0">
                <a:solidFill>
                  <a:srgbClr val="101828"/>
                </a:solidFill>
                <a:latin typeface="IBM Plex Sans" pitchFamily="34" charset="0"/>
                <a:ea typeface="IBM Plex Sans" pitchFamily="34" charset="-122"/>
                <a:cs typeface="IBM Plex Sans" pitchFamily="34" charset="-120"/>
              </a:rPr>
              <a:t>A shuffle puts a list into a random order, and a password generator picks random characters.</a:t>
            </a:r>
            <a:endParaRPr lang="en-US" sz="1700" dirty="0"/>
          </a:p>
        </p:txBody>
      </p:sp>
      <p:sp>
        <p:nvSpPr>
          <p:cNvPr id="11" name="Shape 9"/>
          <p:cNvSpPr/>
          <p:nvPr/>
        </p:nvSpPr>
        <p:spPr>
          <a:xfrm>
            <a:off x="7818120" y="1280160"/>
            <a:ext cx="3840480" cy="3246120"/>
          </a:xfrm>
          <a:prstGeom prst="roundRect">
            <a:avLst>
              <a:gd name="adj" fmla="val 3380"/>
            </a:avLst>
          </a:prstGeom>
          <a:solidFill>
            <a:srgbClr val="FFFFFF"/>
          </a:solidFill>
          <a:ln w="15875">
            <a:solidFill>
              <a:srgbClr val="F4B942"/>
            </a:solidFill>
            <a:prstDash val="solid"/>
          </a:ln>
        </p:spPr>
      </p:sp>
      <p:sp>
        <p:nvSpPr>
          <p:cNvPr id="12" name="Text 10"/>
          <p:cNvSpPr txBox="1"/>
          <p:nvPr/>
        </p:nvSpPr>
        <p:spPr>
          <a:xfrm>
            <a:off x="8183880" y="1508760"/>
            <a:ext cx="3200400" cy="320040"/>
          </a:xfrm>
          <a:prstGeom prst="rect">
            <a:avLst/>
          </a:prstGeom>
          <a:noFill/>
          <a:ln/>
        </p:spPr>
        <p:txBody>
          <a:bodyPr wrap="square" lIns="0" tIns="0" rIns="0" bIns="0" rtlCol="0" anchor="ctr"/>
          <a:lstStyle/>
          <a:p>
            <a:pPr indent="0" marL="0">
              <a:buNone/>
            </a:pPr>
            <a:r>
              <a:rPr lang="en-US" sz="1200" b="1" dirty="0">
                <a:solidFill>
                  <a:srgbClr val="667085"/>
                </a:solidFill>
                <a:latin typeface="IBM Plex Mono" pitchFamily="34" charset="0"/>
                <a:ea typeface="IBM Plex Mono" pitchFamily="34" charset="-122"/>
                <a:cs typeface="IBM Plex Mono" pitchFamily="34" charset="-120"/>
              </a:rPr>
              <a:t>CHALLENGE</a:t>
            </a:r>
            <a:endParaRPr lang="en-US" sz="1200" dirty="0"/>
          </a:p>
        </p:txBody>
      </p:sp>
      <p:sp>
        <p:nvSpPr>
          <p:cNvPr id="13" name="Text 11"/>
          <p:cNvSpPr txBox="1"/>
          <p:nvPr/>
        </p:nvSpPr>
        <p:spPr>
          <a:xfrm>
            <a:off x="8183880" y="1874520"/>
            <a:ext cx="3154680" cy="2377440"/>
          </a:xfrm>
          <a:prstGeom prst="rect">
            <a:avLst/>
          </a:prstGeom>
          <a:noFill/>
          <a:ln/>
        </p:spPr>
        <p:txBody>
          <a:bodyPr wrap="square" lIns="0" tIns="0" rIns="0" bIns="0" rtlCol="0" anchor="t"/>
          <a:lstStyle/>
          <a:p>
            <a:pPr indent="0" marL="0">
              <a:lnSpc>
                <a:spcPct val="125000"/>
              </a:lnSpc>
              <a:buNone/>
            </a:pPr>
            <a:r>
              <a:rPr lang="en-US" sz="1600" dirty="0">
                <a:solidFill>
                  <a:srgbClr val="101828"/>
                </a:solidFill>
                <a:latin typeface="IBM Plex Sans" pitchFamily="34" charset="0"/>
                <a:ea typeface="IBM Plex Sans" pitchFamily="34" charset="-122"/>
                <a:cs typeface="IBM Plex Sans" pitchFamily="34" charset="-120"/>
              </a:rPr>
              <a:t>Suggest how a program could pick three pupils at random from a class list without picking the same pupil twice.</a:t>
            </a:r>
            <a:endParaRPr lang="en-US" sz="1600" dirty="0"/>
          </a:p>
        </p:txBody>
      </p:sp>
      <p:sp>
        <p:nvSpPr>
          <p:cNvPr id="14" name="Shape 12"/>
          <p:cNvSpPr/>
          <p:nvPr/>
        </p:nvSpPr>
        <p:spPr>
          <a:xfrm>
            <a:off x="502920" y="4754880"/>
            <a:ext cx="11155680" cy="777240"/>
          </a:xfrm>
          <a:prstGeom prst="roundRect">
            <a:avLst>
              <a:gd name="adj" fmla="val 11765"/>
            </a:avLst>
          </a:prstGeom>
          <a:solidFill>
            <a:srgbClr val="EEF2FB"/>
          </a:solidFill>
          <a:ln w="12700">
            <a:solidFill>
              <a:srgbClr val="2D63FF"/>
            </a:solidFill>
            <a:prstDash val="solid"/>
          </a:ln>
        </p:spPr>
      </p:sp>
      <p:sp>
        <p:nvSpPr>
          <p:cNvPr id="15" name="Text 13"/>
          <p:cNvSpPr txBox="1"/>
          <p:nvPr/>
        </p:nvSpPr>
        <p:spPr>
          <a:xfrm>
            <a:off x="914400" y="4754880"/>
            <a:ext cx="10332720" cy="777240"/>
          </a:xfrm>
          <a:prstGeom prst="rect">
            <a:avLst/>
          </a:prstGeom>
          <a:noFill/>
          <a:ln/>
        </p:spPr>
        <p:txBody>
          <a:bodyPr wrap="square" lIns="0" tIns="0" rIns="0" bIns="0" rtlCol="0" anchor="ctr"/>
          <a:lstStyle/>
          <a:p>
            <a:pPr indent="0" marL="0">
              <a:buNone/>
            </a:pPr>
            <a:r>
              <a:rPr lang="en-US" sz="1600" b="1" dirty="0">
                <a:solidFill>
                  <a:srgbClr val="2D63FF"/>
                </a:solidFill>
                <a:latin typeface="IBM Plex Sans" pitchFamily="34" charset="0"/>
                <a:ea typeface="IBM Plex Sans" pitchFamily="34" charset="-122"/>
                <a:cs typeface="IBM Plex Sans" pitchFamily="34" charset="-120"/>
              </a:rPr>
              <a:t>On your worksheet:  </a:t>
            </a:r>
            <a:pPr indent="0" marL="0">
              <a:buNone/>
            </a:pPr>
            <a:r>
              <a:rPr lang="en-US" sz="1600" dirty="0">
                <a:solidFill>
                  <a:srgbClr val="101828"/>
                </a:solidFill>
                <a:latin typeface="IBM Plex Sans" pitchFamily="34" charset="0"/>
                <a:ea typeface="IBM Plex Sans" pitchFamily="34" charset="-122"/>
                <a:cs typeface="IBM Plex Sans" pitchFamily="34" charset="-120"/>
              </a:rPr>
              <a:t>A simulation uses random numbers to...</a:t>
            </a:r>
            <a:endParaRPr lang="en-US" sz="16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7F7F4"/>
        </a:solidFill>
      </p:bgPr>
    </p:bg>
    <p:spTree>
      <p:nvGrpSpPr>
        <p:cNvPr id="1" name=""/>
        <p:cNvGrpSpPr/>
        <p:nvPr/>
      </p:nvGrpSpPr>
      <p:grpSpPr>
        <a:xfrm>
          <a:off x="0" y="0"/>
          <a:ext cx="0" cy="0"/>
          <a:chOff x="0" y="0"/>
          <a:chExt cx="0" cy="0"/>
        </a:xfrm>
      </p:grpSpPr>
      <p:sp>
        <p:nvSpPr>
          <p:cNvPr id="2" name="Shape 0"/>
          <p:cNvSpPr/>
          <p:nvPr/>
        </p:nvSpPr>
        <p:spPr>
          <a:xfrm>
            <a:off x="0" y="0"/>
            <a:ext cx="12188952" cy="82296"/>
          </a:xfrm>
          <a:prstGeom prst="rect">
            <a:avLst/>
          </a:prstGeom>
          <a:solidFill>
            <a:srgbClr val="2D63FF"/>
          </a:solidFill>
          <a:ln/>
        </p:spPr>
      </p:sp>
      <p:sp>
        <p:nvSpPr>
          <p:cNvPr id="3" name="Text 1"/>
          <p:cNvSpPr txBox="1"/>
          <p:nvPr/>
        </p:nvSpPr>
        <p:spPr>
          <a:xfrm>
            <a:off x="502920" y="6236208"/>
            <a:ext cx="7772400" cy="365760"/>
          </a:xfrm>
          <a:prstGeom prst="rect">
            <a:avLst/>
          </a:prstGeom>
          <a:noFill/>
          <a:ln/>
        </p:spPr>
        <p:txBody>
          <a:bodyPr wrap="square" lIns="0" tIns="0" rIns="0" bIns="0" rtlCol="0" anchor="ctr"/>
          <a:lstStyle/>
          <a:p>
            <a:pPr indent="0" marL="0">
              <a:buNone/>
            </a:pPr>
            <a:r>
              <a:rPr lang="en-US" sz="1100" dirty="0">
                <a:solidFill>
                  <a:srgbClr val="667085"/>
                </a:solidFill>
                <a:latin typeface="IBM Plex Mono" pitchFamily="34" charset="0"/>
                <a:ea typeface="IBM Plex Mono" pitchFamily="34" charset="-122"/>
                <a:cs typeface="IBM Plex Mono" pitchFamily="34" charset="-120"/>
              </a:rPr>
              <a:t>2.2 Programming fundamentals  |  Lesson 6</a:t>
            </a:r>
            <a:endParaRPr lang="en-US" sz="1100" dirty="0"/>
          </a:p>
        </p:txBody>
      </p:sp>
      <p:sp>
        <p:nvSpPr>
          <p:cNvPr id="4" name="Text 2"/>
          <p:cNvSpPr txBox="1"/>
          <p:nvPr/>
        </p:nvSpPr>
        <p:spPr>
          <a:xfrm>
            <a:off x="9326880" y="6236208"/>
            <a:ext cx="2377440" cy="365760"/>
          </a:xfrm>
          <a:prstGeom prst="rect">
            <a:avLst/>
          </a:prstGeom>
          <a:noFill/>
          <a:ln/>
        </p:spPr>
        <p:txBody>
          <a:bodyPr wrap="square" lIns="0" tIns="0" rIns="0" bIns="0" rtlCol="0" anchor="ctr"/>
          <a:lstStyle/>
          <a:p>
            <a:pPr algn="r" indent="0" marL="0">
              <a:buNone/>
            </a:pPr>
            <a:r>
              <a:rPr lang="en-US" sz="1100" dirty="0">
                <a:solidFill>
                  <a:srgbClr val="667085"/>
                </a:solidFill>
                <a:latin typeface="IBM Plex Mono" pitchFamily="34" charset="0"/>
                <a:ea typeface="IBM Plex Mono" pitchFamily="34" charset="-122"/>
                <a:cs typeface="IBM Plex Mono" pitchFamily="34" charset="-120"/>
              </a:rPr>
              <a:t>Revise 360</a:t>
            </a:r>
            <a:endParaRPr lang="en-US" sz="1100" dirty="0"/>
          </a:p>
        </p:txBody>
      </p:sp>
      <p:sp>
        <p:nvSpPr>
          <p:cNvPr id="5" name="Shape 3"/>
          <p:cNvSpPr/>
          <p:nvPr/>
        </p:nvSpPr>
        <p:spPr>
          <a:xfrm>
            <a:off x="502920" y="457200"/>
            <a:ext cx="1051560" cy="420624"/>
          </a:xfrm>
          <a:prstGeom prst="roundRect">
            <a:avLst>
              <a:gd name="adj" fmla="val 21739"/>
            </a:avLst>
          </a:prstGeom>
          <a:solidFill>
            <a:srgbClr val="F4B942"/>
          </a:solidFill>
          <a:ln/>
        </p:spPr>
      </p:sp>
      <p:sp>
        <p:nvSpPr>
          <p:cNvPr id="6" name="Text 4"/>
          <p:cNvSpPr txBox="1"/>
          <p:nvPr/>
        </p:nvSpPr>
        <p:spPr>
          <a:xfrm>
            <a:off x="502920" y="457200"/>
            <a:ext cx="1051560" cy="420624"/>
          </a:xfrm>
          <a:prstGeom prst="rect">
            <a:avLst/>
          </a:prstGeom>
          <a:noFill/>
          <a:ln/>
        </p:spPr>
        <p:txBody>
          <a:bodyPr wrap="square" lIns="0" tIns="0" rIns="0" bIns="0" rtlCol="0" anchor="ctr"/>
          <a:lstStyle/>
          <a:p>
            <a:pPr algn="ctr" indent="0" marL="0">
              <a:buNone/>
            </a:pPr>
            <a:r>
              <a:rPr lang="en-US" sz="1200" b="1" dirty="0">
                <a:solidFill>
                  <a:srgbClr val="101828"/>
                </a:solidFill>
                <a:latin typeface="IBM Plex Mono" pitchFamily="34" charset="0"/>
                <a:ea typeface="IBM Plex Mono" pitchFamily="34" charset="-122"/>
                <a:cs typeface="IBM Plex Mono" pitchFamily="34" charset="-120"/>
              </a:rPr>
              <a:t>CHECK</a:t>
            </a:r>
            <a:endParaRPr lang="en-US" sz="1200" dirty="0"/>
          </a:p>
        </p:txBody>
      </p:sp>
      <p:sp>
        <p:nvSpPr>
          <p:cNvPr id="7" name="Text 5"/>
          <p:cNvSpPr txBox="1"/>
          <p:nvPr/>
        </p:nvSpPr>
        <p:spPr>
          <a:xfrm>
            <a:off x="1737360" y="457200"/>
            <a:ext cx="9875520" cy="420624"/>
          </a:xfrm>
          <a:prstGeom prst="rect">
            <a:avLst/>
          </a:prstGeom>
          <a:noFill/>
          <a:ln/>
        </p:spPr>
        <p:txBody>
          <a:bodyPr wrap="square" lIns="0" tIns="0" rIns="0" bIns="0" rtlCol="0" anchor="ctr"/>
          <a:lstStyle/>
          <a:p>
            <a:pPr indent="0" marL="0">
              <a:buNone/>
            </a:pPr>
            <a:r>
              <a:rPr lang="en-US" sz="1500" dirty="0">
                <a:solidFill>
                  <a:srgbClr val="667085"/>
                </a:solidFill>
                <a:latin typeface="IBM Plex Sans" pitchFamily="34" charset="0"/>
                <a:ea typeface="IBM Plex Sans" pitchFamily="34" charset="-122"/>
                <a:cs typeface="IBM Plex Sans" pitchFamily="34" charset="-120"/>
              </a:rPr>
              <a:t>Hands down. Everyone commits.</a:t>
            </a:r>
            <a:endParaRPr lang="en-US" sz="1500" dirty="0"/>
          </a:p>
        </p:txBody>
      </p:sp>
      <p:sp>
        <p:nvSpPr>
          <p:cNvPr id="8" name="Text 6"/>
          <p:cNvSpPr txBox="1"/>
          <p:nvPr/>
        </p:nvSpPr>
        <p:spPr>
          <a:xfrm>
            <a:off x="502920" y="1097280"/>
            <a:ext cx="11155680" cy="914400"/>
          </a:xfrm>
          <a:prstGeom prst="rect">
            <a:avLst/>
          </a:prstGeom>
          <a:noFill/>
          <a:ln/>
        </p:spPr>
        <p:txBody>
          <a:bodyPr wrap="square" lIns="0" tIns="0" rIns="0" bIns="0" rtlCol="0" anchor="ctr"/>
          <a:lstStyle/>
          <a:p>
            <a:pPr indent="0" marL="0">
              <a:lnSpc>
                <a:spcPct val="115000"/>
              </a:lnSpc>
              <a:buNone/>
            </a:pPr>
            <a:r>
              <a:rPr lang="en-US" sz="2600" b="1" dirty="0">
                <a:solidFill>
                  <a:srgbClr val="101828"/>
                </a:solidFill>
                <a:latin typeface="IBM Plex Sans" pitchFamily="34" charset="0"/>
                <a:ea typeface="IBM Plex Sans" pitchFamily="34" charset="-122"/>
                <a:cs typeface="IBM Plex Sans" pitchFamily="34" charset="-120"/>
              </a:rPr>
              <a:t>Why are the numbers a computer produces described as pseudo-random?</a:t>
            </a:r>
            <a:endParaRPr lang="en-US" sz="2600" dirty="0"/>
          </a:p>
        </p:txBody>
      </p:sp>
      <p:sp>
        <p:nvSpPr>
          <p:cNvPr id="9" name="Shape 7"/>
          <p:cNvSpPr/>
          <p:nvPr/>
        </p:nvSpPr>
        <p:spPr>
          <a:xfrm>
            <a:off x="502920" y="2148840"/>
            <a:ext cx="11155680" cy="731520"/>
          </a:xfrm>
          <a:prstGeom prst="roundRect">
            <a:avLst>
              <a:gd name="adj" fmla="val 15000"/>
            </a:avLst>
          </a:prstGeom>
          <a:solidFill>
            <a:srgbClr val="FFFFFF"/>
          </a:solidFill>
          <a:ln w="15875">
            <a:solidFill>
              <a:srgbClr val="D9DEE7"/>
            </a:solidFill>
            <a:prstDash val="solid"/>
          </a:ln>
        </p:spPr>
      </p:sp>
      <p:sp>
        <p:nvSpPr>
          <p:cNvPr id="10" name="Shape 8"/>
          <p:cNvSpPr/>
          <p:nvPr/>
        </p:nvSpPr>
        <p:spPr>
          <a:xfrm>
            <a:off x="777240" y="2295144"/>
            <a:ext cx="438912" cy="438912"/>
          </a:xfrm>
          <a:prstGeom prst="roundRect">
            <a:avLst>
              <a:gd name="adj" fmla="val 20833"/>
            </a:avLst>
          </a:prstGeom>
          <a:solidFill>
            <a:srgbClr val="EEF2FB"/>
          </a:solidFill>
          <a:ln/>
        </p:spPr>
      </p:sp>
      <p:sp>
        <p:nvSpPr>
          <p:cNvPr id="11" name="Text 9"/>
          <p:cNvSpPr txBox="1"/>
          <p:nvPr/>
        </p:nvSpPr>
        <p:spPr>
          <a:xfrm>
            <a:off x="777240" y="2295144"/>
            <a:ext cx="438912" cy="438912"/>
          </a:xfrm>
          <a:prstGeom prst="rect">
            <a:avLst/>
          </a:prstGeom>
          <a:noFill/>
          <a:ln/>
        </p:spPr>
        <p:txBody>
          <a:bodyPr wrap="square" lIns="0" tIns="0" rIns="0" bIns="0" rtlCol="0" anchor="ctr"/>
          <a:lstStyle/>
          <a:p>
            <a:pPr algn="ctr" indent="0" marL="0">
              <a:buNone/>
            </a:pPr>
            <a:r>
              <a:rPr lang="en-US" sz="1300" b="1" dirty="0">
                <a:solidFill>
                  <a:srgbClr val="2D63FF"/>
                </a:solidFill>
                <a:latin typeface="IBM Plex Mono" pitchFamily="34" charset="0"/>
                <a:ea typeface="IBM Plex Mono" pitchFamily="34" charset="-122"/>
                <a:cs typeface="IBM Plex Mono" pitchFamily="34" charset="-120"/>
              </a:rPr>
              <a:t>A</a:t>
            </a:r>
            <a:endParaRPr lang="en-US" sz="1300" dirty="0"/>
          </a:p>
        </p:txBody>
      </p:sp>
      <p:sp>
        <p:nvSpPr>
          <p:cNvPr id="12" name="Text 10"/>
          <p:cNvSpPr txBox="1"/>
          <p:nvPr/>
        </p:nvSpPr>
        <p:spPr>
          <a:xfrm>
            <a:off x="1417320" y="2148840"/>
            <a:ext cx="10058400" cy="731520"/>
          </a:xfrm>
          <a:prstGeom prst="rect">
            <a:avLst/>
          </a:prstGeom>
          <a:noFill/>
          <a:ln/>
        </p:spPr>
        <p:txBody>
          <a:bodyPr wrap="square" lIns="0" tIns="0" rIns="0" bIns="0" rtlCol="0" anchor="ctr"/>
          <a:lstStyle/>
          <a:p>
            <a:pPr indent="0" marL="0">
              <a:lnSpc>
                <a:spcPct val="115000"/>
              </a:lnSpc>
              <a:buNone/>
            </a:pPr>
            <a:r>
              <a:rPr lang="en-US" sz="1700" dirty="0">
                <a:solidFill>
                  <a:srgbClr val="101828"/>
                </a:solidFill>
                <a:latin typeface="IBM Plex Sans" pitchFamily="34" charset="0"/>
                <a:ea typeface="IBM Plex Sans" pitchFamily="34" charset="-122"/>
                <a:cs typeface="IBM Plex Sans" pitchFamily="34" charset="-120"/>
              </a:rPr>
              <a:t>They are chosen by the user rather than by the program</a:t>
            </a:r>
            <a:endParaRPr lang="en-US" sz="1700" dirty="0"/>
          </a:p>
        </p:txBody>
      </p:sp>
      <p:sp>
        <p:nvSpPr>
          <p:cNvPr id="13" name="Shape 11"/>
          <p:cNvSpPr/>
          <p:nvPr/>
        </p:nvSpPr>
        <p:spPr>
          <a:xfrm>
            <a:off x="502920" y="3017520"/>
            <a:ext cx="11155680" cy="731520"/>
          </a:xfrm>
          <a:prstGeom prst="roundRect">
            <a:avLst>
              <a:gd name="adj" fmla="val 15000"/>
            </a:avLst>
          </a:prstGeom>
          <a:solidFill>
            <a:srgbClr val="FFFFFF"/>
          </a:solidFill>
          <a:ln w="15875">
            <a:solidFill>
              <a:srgbClr val="D9DEE7"/>
            </a:solidFill>
            <a:prstDash val="solid"/>
          </a:ln>
        </p:spPr>
      </p:sp>
      <p:sp>
        <p:nvSpPr>
          <p:cNvPr id="14" name="Shape 12"/>
          <p:cNvSpPr/>
          <p:nvPr/>
        </p:nvSpPr>
        <p:spPr>
          <a:xfrm>
            <a:off x="777240" y="3163824"/>
            <a:ext cx="438912" cy="438912"/>
          </a:xfrm>
          <a:prstGeom prst="roundRect">
            <a:avLst>
              <a:gd name="adj" fmla="val 20833"/>
            </a:avLst>
          </a:prstGeom>
          <a:solidFill>
            <a:srgbClr val="EEF2FB"/>
          </a:solidFill>
          <a:ln/>
        </p:spPr>
      </p:sp>
      <p:sp>
        <p:nvSpPr>
          <p:cNvPr id="15" name="Text 13"/>
          <p:cNvSpPr txBox="1"/>
          <p:nvPr/>
        </p:nvSpPr>
        <p:spPr>
          <a:xfrm>
            <a:off x="777240" y="3163824"/>
            <a:ext cx="438912" cy="438912"/>
          </a:xfrm>
          <a:prstGeom prst="rect">
            <a:avLst/>
          </a:prstGeom>
          <a:noFill/>
          <a:ln/>
        </p:spPr>
        <p:txBody>
          <a:bodyPr wrap="square" lIns="0" tIns="0" rIns="0" bIns="0" rtlCol="0" anchor="ctr"/>
          <a:lstStyle/>
          <a:p>
            <a:pPr algn="ctr" indent="0" marL="0">
              <a:buNone/>
            </a:pPr>
            <a:r>
              <a:rPr lang="en-US" sz="1300" b="1" dirty="0">
                <a:solidFill>
                  <a:srgbClr val="2D63FF"/>
                </a:solidFill>
                <a:latin typeface="IBM Plex Mono" pitchFamily="34" charset="0"/>
                <a:ea typeface="IBM Plex Mono" pitchFamily="34" charset="-122"/>
                <a:cs typeface="IBM Plex Mono" pitchFamily="34" charset="-120"/>
              </a:rPr>
              <a:t>B</a:t>
            </a:r>
            <a:endParaRPr lang="en-US" sz="1300" dirty="0"/>
          </a:p>
        </p:txBody>
      </p:sp>
      <p:sp>
        <p:nvSpPr>
          <p:cNvPr id="16" name="Text 14"/>
          <p:cNvSpPr txBox="1"/>
          <p:nvPr/>
        </p:nvSpPr>
        <p:spPr>
          <a:xfrm>
            <a:off x="1417320" y="3017520"/>
            <a:ext cx="10058400" cy="731520"/>
          </a:xfrm>
          <a:prstGeom prst="rect">
            <a:avLst/>
          </a:prstGeom>
          <a:noFill/>
          <a:ln/>
        </p:spPr>
        <p:txBody>
          <a:bodyPr wrap="square" lIns="0" tIns="0" rIns="0" bIns="0" rtlCol="0" anchor="ctr"/>
          <a:lstStyle/>
          <a:p>
            <a:pPr indent="0" marL="0">
              <a:lnSpc>
                <a:spcPct val="115000"/>
              </a:lnSpc>
              <a:buNone/>
            </a:pPr>
            <a:r>
              <a:rPr lang="en-US" sz="1700" dirty="0">
                <a:solidFill>
                  <a:srgbClr val="101828"/>
                </a:solidFill>
                <a:latin typeface="IBM Plex Sans" pitchFamily="34" charset="0"/>
                <a:ea typeface="IBM Plex Sans" pitchFamily="34" charset="-122"/>
                <a:cs typeface="IBM Plex Sans" pitchFamily="34" charset="-120"/>
              </a:rPr>
              <a:t>They are worked out by an algorithm, so they are not truly unpredictable</a:t>
            </a:r>
            <a:endParaRPr lang="en-US" sz="1700" dirty="0"/>
          </a:p>
        </p:txBody>
      </p:sp>
      <p:sp>
        <p:nvSpPr>
          <p:cNvPr id="17" name="Shape 15"/>
          <p:cNvSpPr/>
          <p:nvPr/>
        </p:nvSpPr>
        <p:spPr>
          <a:xfrm>
            <a:off x="502920" y="3886200"/>
            <a:ext cx="11155680" cy="731520"/>
          </a:xfrm>
          <a:prstGeom prst="roundRect">
            <a:avLst>
              <a:gd name="adj" fmla="val 15000"/>
            </a:avLst>
          </a:prstGeom>
          <a:solidFill>
            <a:srgbClr val="FFFFFF"/>
          </a:solidFill>
          <a:ln w="15875">
            <a:solidFill>
              <a:srgbClr val="D9DEE7"/>
            </a:solidFill>
            <a:prstDash val="solid"/>
          </a:ln>
        </p:spPr>
      </p:sp>
      <p:sp>
        <p:nvSpPr>
          <p:cNvPr id="18" name="Shape 16"/>
          <p:cNvSpPr/>
          <p:nvPr/>
        </p:nvSpPr>
        <p:spPr>
          <a:xfrm>
            <a:off x="777240" y="4032504"/>
            <a:ext cx="438912" cy="438912"/>
          </a:xfrm>
          <a:prstGeom prst="roundRect">
            <a:avLst>
              <a:gd name="adj" fmla="val 20833"/>
            </a:avLst>
          </a:prstGeom>
          <a:solidFill>
            <a:srgbClr val="EEF2FB"/>
          </a:solidFill>
          <a:ln/>
        </p:spPr>
      </p:sp>
      <p:sp>
        <p:nvSpPr>
          <p:cNvPr id="19" name="Text 17"/>
          <p:cNvSpPr txBox="1"/>
          <p:nvPr/>
        </p:nvSpPr>
        <p:spPr>
          <a:xfrm>
            <a:off x="777240" y="4032504"/>
            <a:ext cx="438912" cy="438912"/>
          </a:xfrm>
          <a:prstGeom prst="rect">
            <a:avLst/>
          </a:prstGeom>
          <a:noFill/>
          <a:ln/>
        </p:spPr>
        <p:txBody>
          <a:bodyPr wrap="square" lIns="0" tIns="0" rIns="0" bIns="0" rtlCol="0" anchor="ctr"/>
          <a:lstStyle/>
          <a:p>
            <a:pPr algn="ctr" indent="0" marL="0">
              <a:buNone/>
            </a:pPr>
            <a:r>
              <a:rPr lang="en-US" sz="1300" b="1" dirty="0">
                <a:solidFill>
                  <a:srgbClr val="2D63FF"/>
                </a:solidFill>
                <a:latin typeface="IBM Plex Mono" pitchFamily="34" charset="0"/>
                <a:ea typeface="IBM Plex Mono" pitchFamily="34" charset="-122"/>
                <a:cs typeface="IBM Plex Mono" pitchFamily="34" charset="-120"/>
              </a:rPr>
              <a:t>C</a:t>
            </a:r>
            <a:endParaRPr lang="en-US" sz="1300" dirty="0"/>
          </a:p>
        </p:txBody>
      </p:sp>
      <p:sp>
        <p:nvSpPr>
          <p:cNvPr id="20" name="Text 18"/>
          <p:cNvSpPr txBox="1"/>
          <p:nvPr/>
        </p:nvSpPr>
        <p:spPr>
          <a:xfrm>
            <a:off x="1417320" y="3886200"/>
            <a:ext cx="10058400" cy="731520"/>
          </a:xfrm>
          <a:prstGeom prst="rect">
            <a:avLst/>
          </a:prstGeom>
          <a:noFill/>
          <a:ln/>
        </p:spPr>
        <p:txBody>
          <a:bodyPr wrap="square" lIns="0" tIns="0" rIns="0" bIns="0" rtlCol="0" anchor="ctr"/>
          <a:lstStyle/>
          <a:p>
            <a:pPr indent="0" marL="0">
              <a:lnSpc>
                <a:spcPct val="115000"/>
              </a:lnSpc>
              <a:buNone/>
            </a:pPr>
            <a:r>
              <a:rPr lang="en-US" sz="1700" dirty="0">
                <a:solidFill>
                  <a:srgbClr val="101828"/>
                </a:solidFill>
                <a:latin typeface="IBM Plex Sans" pitchFamily="34" charset="0"/>
                <a:ea typeface="IBM Plex Sans" pitchFamily="34" charset="-122"/>
                <a:cs typeface="IBM Plex Sans" pitchFamily="34" charset="-120"/>
              </a:rPr>
              <a:t>They are always the same number</a:t>
            </a:r>
            <a:endParaRPr lang="en-US" sz="1700" dirty="0"/>
          </a:p>
        </p:txBody>
      </p:sp>
      <p:sp>
        <p:nvSpPr>
          <p:cNvPr id="21" name="Shape 19"/>
          <p:cNvSpPr/>
          <p:nvPr/>
        </p:nvSpPr>
        <p:spPr>
          <a:xfrm>
            <a:off x="502920" y="4754880"/>
            <a:ext cx="11155680" cy="731520"/>
          </a:xfrm>
          <a:prstGeom prst="roundRect">
            <a:avLst>
              <a:gd name="adj" fmla="val 15000"/>
            </a:avLst>
          </a:prstGeom>
          <a:solidFill>
            <a:srgbClr val="FFFFFF"/>
          </a:solidFill>
          <a:ln w="15875">
            <a:solidFill>
              <a:srgbClr val="D9DEE7"/>
            </a:solidFill>
            <a:prstDash val="solid"/>
          </a:ln>
        </p:spPr>
      </p:sp>
      <p:sp>
        <p:nvSpPr>
          <p:cNvPr id="22" name="Shape 20"/>
          <p:cNvSpPr/>
          <p:nvPr/>
        </p:nvSpPr>
        <p:spPr>
          <a:xfrm>
            <a:off x="777240" y="4901184"/>
            <a:ext cx="438912" cy="438912"/>
          </a:xfrm>
          <a:prstGeom prst="roundRect">
            <a:avLst>
              <a:gd name="adj" fmla="val 20833"/>
            </a:avLst>
          </a:prstGeom>
          <a:solidFill>
            <a:srgbClr val="EEF2FB"/>
          </a:solidFill>
          <a:ln/>
        </p:spPr>
      </p:sp>
      <p:sp>
        <p:nvSpPr>
          <p:cNvPr id="23" name="Text 21"/>
          <p:cNvSpPr txBox="1"/>
          <p:nvPr/>
        </p:nvSpPr>
        <p:spPr>
          <a:xfrm>
            <a:off x="777240" y="4901184"/>
            <a:ext cx="438912" cy="438912"/>
          </a:xfrm>
          <a:prstGeom prst="rect">
            <a:avLst/>
          </a:prstGeom>
          <a:noFill/>
          <a:ln/>
        </p:spPr>
        <p:txBody>
          <a:bodyPr wrap="square" lIns="0" tIns="0" rIns="0" bIns="0" rtlCol="0" anchor="ctr"/>
          <a:lstStyle/>
          <a:p>
            <a:pPr algn="ctr" indent="0" marL="0">
              <a:buNone/>
            </a:pPr>
            <a:r>
              <a:rPr lang="en-US" sz="1300" b="1" dirty="0">
                <a:solidFill>
                  <a:srgbClr val="2D63FF"/>
                </a:solidFill>
                <a:latin typeface="IBM Plex Mono" pitchFamily="34" charset="0"/>
                <a:ea typeface="IBM Plex Mono" pitchFamily="34" charset="-122"/>
                <a:cs typeface="IBM Plex Mono" pitchFamily="34" charset="-120"/>
              </a:rPr>
              <a:t>D</a:t>
            </a:r>
            <a:endParaRPr lang="en-US" sz="1300" dirty="0"/>
          </a:p>
        </p:txBody>
      </p:sp>
      <p:sp>
        <p:nvSpPr>
          <p:cNvPr id="24" name="Text 22"/>
          <p:cNvSpPr txBox="1"/>
          <p:nvPr/>
        </p:nvSpPr>
        <p:spPr>
          <a:xfrm>
            <a:off x="1417320" y="4754880"/>
            <a:ext cx="10058400" cy="731520"/>
          </a:xfrm>
          <a:prstGeom prst="rect">
            <a:avLst/>
          </a:prstGeom>
          <a:noFill/>
          <a:ln/>
        </p:spPr>
        <p:txBody>
          <a:bodyPr wrap="square" lIns="0" tIns="0" rIns="0" bIns="0" rtlCol="0" anchor="ctr"/>
          <a:lstStyle/>
          <a:p>
            <a:pPr indent="0" marL="0">
              <a:lnSpc>
                <a:spcPct val="115000"/>
              </a:lnSpc>
              <a:buNone/>
            </a:pPr>
            <a:r>
              <a:rPr lang="en-US" sz="1700" dirty="0">
                <a:solidFill>
                  <a:srgbClr val="101828"/>
                </a:solidFill>
                <a:latin typeface="IBM Plex Sans" pitchFamily="34" charset="0"/>
                <a:ea typeface="IBM Plex Sans" pitchFamily="34" charset="-122"/>
                <a:cs typeface="IBM Plex Sans" pitchFamily="34" charset="-120"/>
              </a:rPr>
              <a:t>They can only ever be between 0 and 1</a:t>
            </a:r>
            <a:endParaRPr lang="en-US" sz="17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7F7F4"/>
        </a:solidFill>
      </p:bgPr>
    </p:bg>
    <p:spTree>
      <p:nvGrpSpPr>
        <p:cNvPr id="1" name=""/>
        <p:cNvGrpSpPr/>
        <p:nvPr/>
      </p:nvGrpSpPr>
      <p:grpSpPr>
        <a:xfrm>
          <a:off x="0" y="0"/>
          <a:ext cx="0" cy="0"/>
          <a:chOff x="0" y="0"/>
          <a:chExt cx="0" cy="0"/>
        </a:xfrm>
      </p:grpSpPr>
      <p:sp>
        <p:nvSpPr>
          <p:cNvPr id="2" name="Shape 0"/>
          <p:cNvSpPr/>
          <p:nvPr/>
        </p:nvSpPr>
        <p:spPr>
          <a:xfrm>
            <a:off x="0" y="0"/>
            <a:ext cx="12188952" cy="82296"/>
          </a:xfrm>
          <a:prstGeom prst="rect">
            <a:avLst/>
          </a:prstGeom>
          <a:solidFill>
            <a:srgbClr val="2D63FF"/>
          </a:solidFill>
          <a:ln/>
        </p:spPr>
      </p:sp>
      <p:sp>
        <p:nvSpPr>
          <p:cNvPr id="3" name="Text 1"/>
          <p:cNvSpPr txBox="1"/>
          <p:nvPr/>
        </p:nvSpPr>
        <p:spPr>
          <a:xfrm>
            <a:off x="502920" y="6236208"/>
            <a:ext cx="7772400" cy="365760"/>
          </a:xfrm>
          <a:prstGeom prst="rect">
            <a:avLst/>
          </a:prstGeom>
          <a:noFill/>
          <a:ln/>
        </p:spPr>
        <p:txBody>
          <a:bodyPr wrap="square" lIns="0" tIns="0" rIns="0" bIns="0" rtlCol="0" anchor="ctr"/>
          <a:lstStyle/>
          <a:p>
            <a:pPr indent="0" marL="0">
              <a:buNone/>
            </a:pPr>
            <a:r>
              <a:rPr lang="en-US" sz="1100" dirty="0">
                <a:solidFill>
                  <a:srgbClr val="667085"/>
                </a:solidFill>
                <a:latin typeface="IBM Plex Mono" pitchFamily="34" charset="0"/>
                <a:ea typeface="IBM Plex Mono" pitchFamily="34" charset="-122"/>
                <a:cs typeface="IBM Plex Mono" pitchFamily="34" charset="-120"/>
              </a:rPr>
              <a:t>2.2 Programming fundamentals  |  Lesson 6</a:t>
            </a:r>
            <a:endParaRPr lang="en-US" sz="1100" dirty="0"/>
          </a:p>
        </p:txBody>
      </p:sp>
      <p:sp>
        <p:nvSpPr>
          <p:cNvPr id="4" name="Text 2"/>
          <p:cNvSpPr txBox="1"/>
          <p:nvPr/>
        </p:nvSpPr>
        <p:spPr>
          <a:xfrm>
            <a:off x="9326880" y="6236208"/>
            <a:ext cx="2377440" cy="365760"/>
          </a:xfrm>
          <a:prstGeom prst="rect">
            <a:avLst/>
          </a:prstGeom>
          <a:noFill/>
          <a:ln/>
        </p:spPr>
        <p:txBody>
          <a:bodyPr wrap="square" lIns="0" tIns="0" rIns="0" bIns="0" rtlCol="0" anchor="ctr"/>
          <a:lstStyle/>
          <a:p>
            <a:pPr algn="r" indent="0" marL="0">
              <a:buNone/>
            </a:pPr>
            <a:r>
              <a:rPr lang="en-US" sz="1100" dirty="0">
                <a:solidFill>
                  <a:srgbClr val="667085"/>
                </a:solidFill>
                <a:latin typeface="IBM Plex Mono" pitchFamily="34" charset="0"/>
                <a:ea typeface="IBM Plex Mono" pitchFamily="34" charset="-122"/>
                <a:cs typeface="IBM Plex Mono" pitchFamily="34" charset="-120"/>
              </a:rPr>
              <a:t>Revise 360</a:t>
            </a:r>
            <a:endParaRPr lang="en-US" sz="1100" dirty="0"/>
          </a:p>
        </p:txBody>
      </p:sp>
      <p:sp>
        <p:nvSpPr>
          <p:cNvPr id="5" name="Shape 3"/>
          <p:cNvSpPr/>
          <p:nvPr/>
        </p:nvSpPr>
        <p:spPr>
          <a:xfrm>
            <a:off x="502920" y="438912"/>
            <a:ext cx="3108960" cy="502920"/>
          </a:xfrm>
          <a:prstGeom prst="roundRect">
            <a:avLst>
              <a:gd name="adj" fmla="val 18182"/>
            </a:avLst>
          </a:prstGeom>
          <a:solidFill>
            <a:srgbClr val="F4B942"/>
          </a:solidFill>
          <a:ln/>
        </p:spPr>
      </p:sp>
      <p:sp>
        <p:nvSpPr>
          <p:cNvPr id="6" name="Text 4"/>
          <p:cNvSpPr txBox="1"/>
          <p:nvPr/>
        </p:nvSpPr>
        <p:spPr>
          <a:xfrm>
            <a:off x="502920" y="438912"/>
            <a:ext cx="3108960" cy="502920"/>
          </a:xfrm>
          <a:prstGeom prst="rect">
            <a:avLst/>
          </a:prstGeom>
          <a:noFill/>
          <a:ln/>
        </p:spPr>
        <p:txBody>
          <a:bodyPr wrap="square" lIns="0" tIns="0" rIns="0" bIns="0" rtlCol="0" anchor="ctr"/>
          <a:lstStyle/>
          <a:p>
            <a:pPr algn="ctr" indent="0" marL="0">
              <a:buNone/>
            </a:pPr>
            <a:r>
              <a:rPr lang="en-US" sz="1300" b="1" dirty="0">
                <a:solidFill>
                  <a:srgbClr val="101828"/>
                </a:solidFill>
                <a:latin typeface="IBM Plex Mono" pitchFamily="34" charset="0"/>
                <a:ea typeface="IBM Plex Mono" pitchFamily="34" charset="-122"/>
                <a:cs typeface="IBM Plex Mono" pitchFamily="34" charset="-120"/>
              </a:rPr>
              <a:t>★  FINAL CHALLENGE</a:t>
            </a:r>
            <a:endParaRPr lang="en-US" sz="1300" dirty="0"/>
          </a:p>
        </p:txBody>
      </p:sp>
      <p:sp>
        <p:nvSpPr>
          <p:cNvPr id="7" name="Text 5"/>
          <p:cNvSpPr txBox="1"/>
          <p:nvPr/>
        </p:nvSpPr>
        <p:spPr>
          <a:xfrm>
            <a:off x="502920" y="1097280"/>
            <a:ext cx="11155680" cy="731520"/>
          </a:xfrm>
          <a:prstGeom prst="rect">
            <a:avLst/>
          </a:prstGeom>
          <a:noFill/>
          <a:ln/>
        </p:spPr>
        <p:txBody>
          <a:bodyPr wrap="square" lIns="0" tIns="0" rIns="0" bIns="0" rtlCol="0" anchor="ctr"/>
          <a:lstStyle/>
          <a:p>
            <a:pPr indent="0" marL="0">
              <a:buNone/>
            </a:pPr>
            <a:r>
              <a:rPr lang="en-US" sz="3400" b="1" dirty="0">
                <a:solidFill>
                  <a:srgbClr val="101828"/>
                </a:solidFill>
                <a:latin typeface="IBM Plex Sans" pitchFamily="34" charset="0"/>
                <a:ea typeface="IBM Plex Sans" pitchFamily="34" charset="-122"/>
                <a:cs typeface="IBM Plex Sans" pitchFamily="34" charset="-120"/>
              </a:rPr>
              <a:t>How many rolls</a:t>
            </a:r>
            <a:endParaRPr lang="en-US" sz="3400" dirty="0"/>
          </a:p>
        </p:txBody>
      </p:sp>
      <p:sp>
        <p:nvSpPr>
          <p:cNvPr id="8" name="Shape 6"/>
          <p:cNvSpPr/>
          <p:nvPr/>
        </p:nvSpPr>
        <p:spPr>
          <a:xfrm>
            <a:off x="502920" y="2011680"/>
            <a:ext cx="11155680" cy="2194560"/>
          </a:xfrm>
          <a:prstGeom prst="roundRect">
            <a:avLst>
              <a:gd name="adj" fmla="val 5000"/>
            </a:avLst>
          </a:prstGeom>
          <a:solidFill>
            <a:srgbClr val="FFFFFF"/>
          </a:solidFill>
          <a:ln w="15875">
            <a:solidFill>
              <a:srgbClr val="2D63FF"/>
            </a:solidFill>
            <a:prstDash val="solid"/>
          </a:ln>
        </p:spPr>
      </p:sp>
      <p:sp>
        <p:nvSpPr>
          <p:cNvPr id="9" name="Text 7"/>
          <p:cNvSpPr txBox="1"/>
          <p:nvPr/>
        </p:nvSpPr>
        <p:spPr>
          <a:xfrm>
            <a:off x="1005840" y="2331720"/>
            <a:ext cx="10149840" cy="1554480"/>
          </a:xfrm>
          <a:prstGeom prst="rect">
            <a:avLst/>
          </a:prstGeom>
          <a:noFill/>
          <a:ln/>
        </p:spPr>
        <p:txBody>
          <a:bodyPr wrap="square" lIns="0" tIns="0" rIns="0" bIns="0" rtlCol="0" anchor="ctr"/>
          <a:lstStyle/>
          <a:p>
            <a:pPr indent="0" marL="0">
              <a:lnSpc>
                <a:spcPct val="130000"/>
              </a:lnSpc>
              <a:buNone/>
            </a:pPr>
            <a:r>
              <a:rPr lang="en-US" sz="2200" dirty="0">
                <a:solidFill>
                  <a:srgbClr val="101828"/>
                </a:solidFill>
                <a:latin typeface="IBM Plex Sans" pitchFamily="34" charset="0"/>
                <a:ea typeface="IBM Plex Sans" pitchFamily="34" charset="-122"/>
                <a:cs typeface="IBM Plex Sans" pitchFamily="34" charset="-120"/>
              </a:rPr>
              <a:t>Six lines of the OCR Exam Reference Language, jumbled. Tap the star and put them into a working program that keeps rolling a dice until it rolls a six, then outputs how many rolls that took.</a:t>
            </a:r>
            <a:endParaRPr lang="en-US" sz="2200" dirty="0"/>
          </a:p>
        </p:txBody>
      </p:sp>
      <p:sp>
        <p:nvSpPr>
          <p:cNvPr id="10" name="Text 8"/>
          <p:cNvSpPr txBox="1"/>
          <p:nvPr/>
        </p:nvSpPr>
        <p:spPr>
          <a:xfrm>
            <a:off x="502920" y="4526280"/>
            <a:ext cx="11155680" cy="457200"/>
          </a:xfrm>
          <a:prstGeom prst="rect">
            <a:avLst/>
          </a:prstGeom>
          <a:noFill/>
          <a:ln/>
        </p:spPr>
        <p:txBody>
          <a:bodyPr wrap="square" lIns="0" tIns="0" rIns="0" bIns="0" rtlCol="0" anchor="ctr"/>
          <a:lstStyle/>
          <a:p>
            <a:pPr indent="0" marL="0">
              <a:buNone/>
            </a:pPr>
            <a:r>
              <a:rPr lang="en-US" sz="1600" dirty="0">
                <a:solidFill>
                  <a:srgbClr val="667085"/>
                </a:solidFill>
                <a:latin typeface="IBM Plex Sans" pitchFamily="34" charset="0"/>
                <a:ea typeface="IBM Plex Sans" pitchFamily="34" charset="-122"/>
                <a:cs typeface="IBM Plex Sans" pitchFamily="34" charset="-120"/>
              </a:rPr>
              <a:t>Predict on paper first, then look down and test it.</a:t>
            </a:r>
            <a:endParaRPr lang="en-US" sz="16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7F7F4"/>
        </a:solidFill>
      </p:bgPr>
    </p:bg>
    <p:spTree>
      <p:nvGrpSpPr>
        <p:cNvPr id="1" name=""/>
        <p:cNvGrpSpPr/>
        <p:nvPr/>
      </p:nvGrpSpPr>
      <p:grpSpPr>
        <a:xfrm>
          <a:off x="0" y="0"/>
          <a:ext cx="0" cy="0"/>
          <a:chOff x="0" y="0"/>
          <a:chExt cx="0" cy="0"/>
        </a:xfrm>
      </p:grpSpPr>
      <p:sp>
        <p:nvSpPr>
          <p:cNvPr id="2" name="Shape 0"/>
          <p:cNvSpPr/>
          <p:nvPr/>
        </p:nvSpPr>
        <p:spPr>
          <a:xfrm>
            <a:off x="0" y="0"/>
            <a:ext cx="12188952" cy="82296"/>
          </a:xfrm>
          <a:prstGeom prst="rect">
            <a:avLst/>
          </a:prstGeom>
          <a:solidFill>
            <a:srgbClr val="2D63FF"/>
          </a:solidFill>
          <a:ln/>
        </p:spPr>
      </p:sp>
      <p:sp>
        <p:nvSpPr>
          <p:cNvPr id="3" name="Text 1"/>
          <p:cNvSpPr txBox="1"/>
          <p:nvPr/>
        </p:nvSpPr>
        <p:spPr>
          <a:xfrm>
            <a:off x="502920" y="6236208"/>
            <a:ext cx="7772400" cy="365760"/>
          </a:xfrm>
          <a:prstGeom prst="rect">
            <a:avLst/>
          </a:prstGeom>
          <a:noFill/>
          <a:ln/>
        </p:spPr>
        <p:txBody>
          <a:bodyPr wrap="square" lIns="0" tIns="0" rIns="0" bIns="0" rtlCol="0" anchor="ctr"/>
          <a:lstStyle/>
          <a:p>
            <a:pPr indent="0" marL="0">
              <a:buNone/>
            </a:pPr>
            <a:r>
              <a:rPr lang="en-US" sz="1100" dirty="0">
                <a:solidFill>
                  <a:srgbClr val="667085"/>
                </a:solidFill>
                <a:latin typeface="IBM Plex Mono" pitchFamily="34" charset="0"/>
                <a:ea typeface="IBM Plex Mono" pitchFamily="34" charset="-122"/>
                <a:cs typeface="IBM Plex Mono" pitchFamily="34" charset="-120"/>
              </a:rPr>
              <a:t>2.2 Programming fundamentals  |  Lesson 6</a:t>
            </a:r>
            <a:endParaRPr lang="en-US" sz="1100" dirty="0"/>
          </a:p>
        </p:txBody>
      </p:sp>
      <p:sp>
        <p:nvSpPr>
          <p:cNvPr id="4" name="Text 2"/>
          <p:cNvSpPr txBox="1"/>
          <p:nvPr/>
        </p:nvSpPr>
        <p:spPr>
          <a:xfrm>
            <a:off x="9326880" y="6236208"/>
            <a:ext cx="2377440" cy="365760"/>
          </a:xfrm>
          <a:prstGeom prst="rect">
            <a:avLst/>
          </a:prstGeom>
          <a:noFill/>
          <a:ln/>
        </p:spPr>
        <p:txBody>
          <a:bodyPr wrap="square" lIns="0" tIns="0" rIns="0" bIns="0" rtlCol="0" anchor="ctr"/>
          <a:lstStyle/>
          <a:p>
            <a:pPr algn="r" indent="0" marL="0">
              <a:buNone/>
            </a:pPr>
            <a:r>
              <a:rPr lang="en-US" sz="1100" dirty="0">
                <a:solidFill>
                  <a:srgbClr val="667085"/>
                </a:solidFill>
                <a:latin typeface="IBM Plex Mono" pitchFamily="34" charset="0"/>
                <a:ea typeface="IBM Plex Mono" pitchFamily="34" charset="-122"/>
                <a:cs typeface="IBM Plex Mono" pitchFamily="34" charset="-120"/>
              </a:rPr>
              <a:t>Revise 360</a:t>
            </a:r>
            <a:endParaRPr lang="en-US" sz="1100" dirty="0"/>
          </a:p>
        </p:txBody>
      </p:sp>
      <p:sp>
        <p:nvSpPr>
          <p:cNvPr id="5" name="Text 3"/>
          <p:cNvSpPr txBox="1"/>
          <p:nvPr/>
        </p:nvSpPr>
        <p:spPr>
          <a:xfrm>
            <a:off x="502920" y="411480"/>
            <a:ext cx="11155680" cy="777240"/>
          </a:xfrm>
          <a:prstGeom prst="rect">
            <a:avLst/>
          </a:prstGeom>
          <a:noFill/>
          <a:ln/>
        </p:spPr>
        <p:txBody>
          <a:bodyPr wrap="square" lIns="0" tIns="0" rIns="0" bIns="0" rtlCol="0" anchor="ctr"/>
          <a:lstStyle/>
          <a:p>
            <a:pPr indent="0" marL="0">
              <a:buNone/>
            </a:pPr>
            <a:r>
              <a:rPr lang="en-US" sz="3200" b="1" dirty="0">
                <a:solidFill>
                  <a:srgbClr val="101828"/>
                </a:solidFill>
                <a:latin typeface="IBM Plex Sans" pitchFamily="34" charset="0"/>
                <a:ea typeface="IBM Plex Sans" pitchFamily="34" charset="-122"/>
                <a:cs typeface="IBM Plex Sans" pitchFamily="34" charset="-120"/>
              </a:rPr>
              <a:t>Worth knowing</a:t>
            </a:r>
            <a:endParaRPr lang="en-US" sz="3200" dirty="0"/>
          </a:p>
        </p:txBody>
      </p:sp>
      <p:sp>
        <p:nvSpPr>
          <p:cNvPr id="6" name="Text 4"/>
          <p:cNvSpPr txBox="1"/>
          <p:nvPr/>
        </p:nvSpPr>
        <p:spPr>
          <a:xfrm>
            <a:off x="502920" y="1170432"/>
            <a:ext cx="11155680" cy="411480"/>
          </a:xfrm>
          <a:prstGeom prst="rect">
            <a:avLst/>
          </a:prstGeom>
          <a:noFill/>
          <a:ln/>
        </p:spPr>
        <p:txBody>
          <a:bodyPr wrap="square" lIns="0" tIns="0" rIns="0" bIns="0" rtlCol="0" anchor="ctr"/>
          <a:lstStyle/>
          <a:p>
            <a:pPr indent="0" marL="0">
              <a:buNone/>
            </a:pPr>
            <a:r>
              <a:rPr lang="en-US" sz="1500" dirty="0">
                <a:solidFill>
                  <a:srgbClr val="667085"/>
                </a:solidFill>
                <a:latin typeface="IBM Plex Sans" pitchFamily="34" charset="0"/>
                <a:ea typeface="IBM Plex Sans" pitchFamily="34" charset="-122"/>
                <a:cs typeface="IBM Plex Sans" pitchFamily="34" charset="-120"/>
              </a:rPr>
              <a:t>The information markers dotted around the room</a:t>
            </a:r>
            <a:endParaRPr lang="en-US" sz="1500" dirty="0"/>
          </a:p>
        </p:txBody>
      </p:sp>
      <p:sp>
        <p:nvSpPr>
          <p:cNvPr id="7" name="Shape 5"/>
          <p:cNvSpPr/>
          <p:nvPr/>
        </p:nvSpPr>
        <p:spPr>
          <a:xfrm>
            <a:off x="502920" y="1828800"/>
            <a:ext cx="5394960" cy="1737360"/>
          </a:xfrm>
          <a:prstGeom prst="roundRect">
            <a:avLst>
              <a:gd name="adj" fmla="val 6316"/>
            </a:avLst>
          </a:prstGeom>
          <a:solidFill>
            <a:srgbClr val="FFFFFF"/>
          </a:solidFill>
          <a:ln w="15875">
            <a:solidFill>
              <a:srgbClr val="2D63FF"/>
            </a:solidFill>
            <a:prstDash val="solid"/>
          </a:ln>
        </p:spPr>
      </p:sp>
      <p:sp>
        <p:nvSpPr>
          <p:cNvPr id="8" name="Text 6"/>
          <p:cNvSpPr txBox="1"/>
          <p:nvPr/>
        </p:nvSpPr>
        <p:spPr>
          <a:xfrm>
            <a:off x="822960" y="2011680"/>
            <a:ext cx="4754880" cy="365760"/>
          </a:xfrm>
          <a:prstGeom prst="rect">
            <a:avLst/>
          </a:prstGeom>
          <a:noFill/>
          <a:ln/>
        </p:spPr>
        <p:txBody>
          <a:bodyPr wrap="square" lIns="0" tIns="0" rIns="0" bIns="0" rtlCol="0" anchor="ctr"/>
          <a:lstStyle/>
          <a:p>
            <a:pPr indent="0" marL="0">
              <a:buNone/>
            </a:pPr>
            <a:r>
              <a:rPr lang="en-US" sz="1600" b="1" dirty="0">
                <a:solidFill>
                  <a:srgbClr val="2D63FF"/>
                </a:solidFill>
                <a:latin typeface="IBM Plex Sans" pitchFamily="34" charset="0"/>
                <a:ea typeface="IBM Plex Sans" pitchFamily="34" charset="-122"/>
                <a:cs typeface="IBM Plex Sans" pitchFamily="34" charset="-120"/>
              </a:rPr>
              <a:t>Nothing is truly random</a:t>
            </a:r>
            <a:endParaRPr lang="en-US" sz="1600" dirty="0"/>
          </a:p>
        </p:txBody>
      </p:sp>
      <p:sp>
        <p:nvSpPr>
          <p:cNvPr id="9" name="Text 7"/>
          <p:cNvSpPr txBox="1"/>
          <p:nvPr/>
        </p:nvSpPr>
        <p:spPr>
          <a:xfrm>
            <a:off x="822960" y="2395728"/>
            <a:ext cx="4754880" cy="1005840"/>
          </a:xfrm>
          <a:prstGeom prst="rect">
            <a:avLst/>
          </a:prstGeom>
          <a:noFill/>
          <a:ln/>
        </p:spPr>
        <p:txBody>
          <a:bodyPr wrap="square" lIns="0" tIns="0" rIns="0" bIns="0" rtlCol="0" anchor="t"/>
          <a:lstStyle/>
          <a:p>
            <a:pPr indent="0" marL="0">
              <a:lnSpc>
                <a:spcPct val="120000"/>
              </a:lnSpc>
              <a:buNone/>
            </a:pPr>
            <a:r>
              <a:rPr lang="en-US" sz="1300" dirty="0">
                <a:solidFill>
                  <a:srgbClr val="667085"/>
                </a:solidFill>
                <a:latin typeface="IBM Plex Sans" pitchFamily="34" charset="0"/>
                <a:ea typeface="IBM Plex Sans" pitchFamily="34" charset="-122"/>
                <a:cs typeface="IBM Plex Sans" pitchFamily="34" charset="-120"/>
              </a:rPr>
              <a:t>A dice is not really unpredictable. Thrown exactly the same way through exactly the same air it would land the same, but the detail is far beyond us, so we call it random. A program's random numbers rest on the same idea.</a:t>
            </a:r>
            <a:endParaRPr lang="en-US" sz="1300" dirty="0"/>
          </a:p>
        </p:txBody>
      </p:sp>
      <p:sp>
        <p:nvSpPr>
          <p:cNvPr id="10" name="Shape 8"/>
          <p:cNvSpPr/>
          <p:nvPr/>
        </p:nvSpPr>
        <p:spPr>
          <a:xfrm>
            <a:off x="6217920" y="1828800"/>
            <a:ext cx="5394960" cy="1737360"/>
          </a:xfrm>
          <a:prstGeom prst="roundRect">
            <a:avLst>
              <a:gd name="adj" fmla="val 6316"/>
            </a:avLst>
          </a:prstGeom>
          <a:solidFill>
            <a:srgbClr val="FFFFFF"/>
          </a:solidFill>
          <a:ln w="15875">
            <a:solidFill>
              <a:srgbClr val="08A6A6"/>
            </a:solidFill>
            <a:prstDash val="solid"/>
          </a:ln>
        </p:spPr>
      </p:sp>
      <p:sp>
        <p:nvSpPr>
          <p:cNvPr id="11" name="Text 9"/>
          <p:cNvSpPr txBox="1"/>
          <p:nvPr/>
        </p:nvSpPr>
        <p:spPr>
          <a:xfrm>
            <a:off x="6537960" y="2011680"/>
            <a:ext cx="4754880" cy="365760"/>
          </a:xfrm>
          <a:prstGeom prst="rect">
            <a:avLst/>
          </a:prstGeom>
          <a:noFill/>
          <a:ln/>
        </p:spPr>
        <p:txBody>
          <a:bodyPr wrap="square" lIns="0" tIns="0" rIns="0" bIns="0" rtlCol="0" anchor="ctr"/>
          <a:lstStyle/>
          <a:p>
            <a:pPr indent="0" marL="0">
              <a:buNone/>
            </a:pPr>
            <a:r>
              <a:rPr lang="en-US" sz="1600" b="1" dirty="0">
                <a:solidFill>
                  <a:srgbClr val="08A6A6"/>
                </a:solidFill>
                <a:latin typeface="IBM Plex Sans" pitchFamily="34" charset="0"/>
                <a:ea typeface="IBM Plex Sans" pitchFamily="34" charset="-122"/>
                <a:cs typeface="IBM Plex Sans" pitchFamily="34" charset="-120"/>
              </a:rPr>
              <a:t>Read the brackets first</a:t>
            </a:r>
            <a:endParaRPr lang="en-US" sz="1600" dirty="0"/>
          </a:p>
        </p:txBody>
      </p:sp>
      <p:sp>
        <p:nvSpPr>
          <p:cNvPr id="12" name="Text 10"/>
          <p:cNvSpPr txBox="1"/>
          <p:nvPr/>
        </p:nvSpPr>
        <p:spPr>
          <a:xfrm>
            <a:off x="6537960" y="2395728"/>
            <a:ext cx="4754880" cy="1005840"/>
          </a:xfrm>
          <a:prstGeom prst="rect">
            <a:avLst/>
          </a:prstGeom>
          <a:noFill/>
          <a:ln/>
        </p:spPr>
        <p:txBody>
          <a:bodyPr wrap="square" lIns="0" tIns="0" rIns="0" bIns="0" rtlCol="0" anchor="t"/>
          <a:lstStyle/>
          <a:p>
            <a:pPr indent="0" marL="0">
              <a:lnSpc>
                <a:spcPct val="120000"/>
              </a:lnSpc>
              <a:buNone/>
            </a:pPr>
            <a:r>
              <a:rPr lang="en-US" sz="1300" dirty="0">
                <a:solidFill>
                  <a:srgbClr val="667085"/>
                </a:solidFill>
                <a:latin typeface="IBM Plex Sans" pitchFamily="34" charset="0"/>
                <a:ea typeface="IBM Plex Sans" pitchFamily="34" charset="-122"/>
                <a:cs typeface="IBM Plex Sans" pitchFamily="34" charset="-120"/>
              </a:rPr>
              <a:t>In an exam question the two numbers in the brackets are most of the marks. Before you answer anything else, write down the lowest and the highest value that the call could possibly return.</a:t>
            </a:r>
            <a:endParaRPr lang="en-US" sz="1300" dirty="0"/>
          </a:p>
        </p:txBody>
      </p:sp>
      <p:sp>
        <p:nvSpPr>
          <p:cNvPr id="13" name="Shape 11"/>
          <p:cNvSpPr/>
          <p:nvPr/>
        </p:nvSpPr>
        <p:spPr>
          <a:xfrm>
            <a:off x="502920" y="3794760"/>
            <a:ext cx="5394960" cy="1737360"/>
          </a:xfrm>
          <a:prstGeom prst="roundRect">
            <a:avLst>
              <a:gd name="adj" fmla="val 6316"/>
            </a:avLst>
          </a:prstGeom>
          <a:solidFill>
            <a:srgbClr val="FFFFFF"/>
          </a:solidFill>
          <a:ln w="15875">
            <a:solidFill>
              <a:srgbClr val="2D63FF"/>
            </a:solidFill>
            <a:prstDash val="solid"/>
          </a:ln>
        </p:spPr>
      </p:sp>
      <p:sp>
        <p:nvSpPr>
          <p:cNvPr id="14" name="Text 12"/>
          <p:cNvSpPr txBox="1"/>
          <p:nvPr/>
        </p:nvSpPr>
        <p:spPr>
          <a:xfrm>
            <a:off x="822960" y="3977640"/>
            <a:ext cx="4754880" cy="365760"/>
          </a:xfrm>
          <a:prstGeom prst="rect">
            <a:avLst/>
          </a:prstGeom>
          <a:noFill/>
          <a:ln/>
        </p:spPr>
        <p:txBody>
          <a:bodyPr wrap="square" lIns="0" tIns="0" rIns="0" bIns="0" rtlCol="0" anchor="ctr"/>
          <a:lstStyle/>
          <a:p>
            <a:pPr indent="0" marL="0">
              <a:buNone/>
            </a:pPr>
            <a:r>
              <a:rPr lang="en-US" sz="1600" b="1" dirty="0">
                <a:solidFill>
                  <a:srgbClr val="2D63FF"/>
                </a:solidFill>
                <a:latin typeface="IBM Plex Sans" pitchFamily="34" charset="0"/>
                <a:ea typeface="IBM Plex Sans" pitchFamily="34" charset="-122"/>
                <a:cs typeface="IBM Plex Sans" pitchFamily="34" charset="-120"/>
              </a:rPr>
              <a:t>Off by one</a:t>
            </a:r>
            <a:endParaRPr lang="en-US" sz="1600" dirty="0"/>
          </a:p>
        </p:txBody>
      </p:sp>
      <p:sp>
        <p:nvSpPr>
          <p:cNvPr id="15" name="Text 13"/>
          <p:cNvSpPr txBox="1"/>
          <p:nvPr/>
        </p:nvSpPr>
        <p:spPr>
          <a:xfrm>
            <a:off x="822960" y="4361688"/>
            <a:ext cx="4754880" cy="1005840"/>
          </a:xfrm>
          <a:prstGeom prst="rect">
            <a:avLst/>
          </a:prstGeom>
          <a:noFill/>
          <a:ln/>
        </p:spPr>
        <p:txBody>
          <a:bodyPr wrap="square" lIns="0" tIns="0" rIns="0" bIns="0" rtlCol="0" anchor="t"/>
          <a:lstStyle/>
          <a:p>
            <a:pPr indent="0" marL="0">
              <a:lnSpc>
                <a:spcPct val="120000"/>
              </a:lnSpc>
              <a:buNone/>
            </a:pPr>
            <a:r>
              <a:rPr lang="en-US" sz="1300" dirty="0">
                <a:solidFill>
                  <a:srgbClr val="667085"/>
                </a:solidFill>
                <a:latin typeface="IBM Plex Sans" pitchFamily="34" charset="0"/>
                <a:ea typeface="IBM Plex Sans" pitchFamily="34" charset="-122"/>
                <a:cs typeface="IBM Plex Sans" pitchFamily="34" charset="-120"/>
              </a:rPr>
              <a:t>A range that is one too wide is one of the commonest bugs in programming. A random index that can equal the size of the array will crash the program eventually, but only on some runs, which makes it very hard to track down.</a:t>
            </a:r>
            <a:endParaRPr lang="en-US" sz="1300" dirty="0"/>
          </a:p>
        </p:txBody>
      </p:sp>
      <p:sp>
        <p:nvSpPr>
          <p:cNvPr id="16" name="Shape 14"/>
          <p:cNvSpPr/>
          <p:nvPr/>
        </p:nvSpPr>
        <p:spPr>
          <a:xfrm>
            <a:off x="6217920" y="3794760"/>
            <a:ext cx="5394960" cy="1737360"/>
          </a:xfrm>
          <a:prstGeom prst="roundRect">
            <a:avLst>
              <a:gd name="adj" fmla="val 6316"/>
            </a:avLst>
          </a:prstGeom>
          <a:solidFill>
            <a:srgbClr val="FFFFFF"/>
          </a:solidFill>
          <a:ln w="15875">
            <a:solidFill>
              <a:srgbClr val="08A6A6"/>
            </a:solidFill>
            <a:prstDash val="solid"/>
          </a:ln>
        </p:spPr>
      </p:sp>
      <p:sp>
        <p:nvSpPr>
          <p:cNvPr id="17" name="Text 15"/>
          <p:cNvSpPr txBox="1"/>
          <p:nvPr/>
        </p:nvSpPr>
        <p:spPr>
          <a:xfrm>
            <a:off x="6537960" y="3977640"/>
            <a:ext cx="4754880" cy="365760"/>
          </a:xfrm>
          <a:prstGeom prst="rect">
            <a:avLst/>
          </a:prstGeom>
          <a:noFill/>
          <a:ln/>
        </p:spPr>
        <p:txBody>
          <a:bodyPr wrap="square" lIns="0" tIns="0" rIns="0" bIns="0" rtlCol="0" anchor="ctr"/>
          <a:lstStyle/>
          <a:p>
            <a:pPr indent="0" marL="0">
              <a:buNone/>
            </a:pPr>
            <a:r>
              <a:rPr lang="en-US" sz="1600" b="1" dirty="0">
                <a:solidFill>
                  <a:srgbClr val="08A6A6"/>
                </a:solidFill>
                <a:latin typeface="IBM Plex Sans" pitchFamily="34" charset="0"/>
                <a:ea typeface="IBM Plex Sans" pitchFamily="34" charset="-122"/>
                <a:cs typeface="IBM Plex Sans" pitchFamily="34" charset="-120"/>
              </a:rPr>
              <a:t>Where the seed comes from</a:t>
            </a:r>
            <a:endParaRPr lang="en-US" sz="1600" dirty="0"/>
          </a:p>
        </p:txBody>
      </p:sp>
      <p:sp>
        <p:nvSpPr>
          <p:cNvPr id="18" name="Text 16"/>
          <p:cNvSpPr txBox="1"/>
          <p:nvPr/>
        </p:nvSpPr>
        <p:spPr>
          <a:xfrm>
            <a:off x="6537960" y="4361688"/>
            <a:ext cx="4754880" cy="1005840"/>
          </a:xfrm>
          <a:prstGeom prst="rect">
            <a:avLst/>
          </a:prstGeom>
          <a:noFill/>
          <a:ln/>
        </p:spPr>
        <p:txBody>
          <a:bodyPr wrap="square" lIns="0" tIns="0" rIns="0" bIns="0" rtlCol="0" anchor="t"/>
          <a:lstStyle/>
          <a:p>
            <a:pPr indent="0" marL="0">
              <a:lnSpc>
                <a:spcPct val="120000"/>
              </a:lnSpc>
              <a:buNone/>
            </a:pPr>
            <a:r>
              <a:rPr lang="en-US" sz="1300" dirty="0">
                <a:solidFill>
                  <a:srgbClr val="667085"/>
                </a:solidFill>
                <a:latin typeface="IBM Plex Sans" pitchFamily="34" charset="0"/>
                <a:ea typeface="IBM Plex Sans" pitchFamily="34" charset="-122"/>
                <a:cs typeface="IBM Plex Sans" pitchFamily="34" charset="-120"/>
              </a:rPr>
              <a:t>Most languages take the seed from the system clock, measured in tiny fractions of a second, so two runs almost never start from the same place. Setting the seed yourself gives the same sequence every time, which is exactly what a tester wants.</a:t>
            </a:r>
            <a:endParaRPr lang="en-US" sz="13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7F7F4"/>
        </a:solidFill>
      </p:bgPr>
    </p:bg>
    <p:spTree>
      <p:nvGrpSpPr>
        <p:cNvPr id="1" name=""/>
        <p:cNvGrpSpPr/>
        <p:nvPr/>
      </p:nvGrpSpPr>
      <p:grpSpPr>
        <a:xfrm>
          <a:off x="0" y="0"/>
          <a:ext cx="0" cy="0"/>
          <a:chOff x="0" y="0"/>
          <a:chExt cx="0" cy="0"/>
        </a:xfrm>
      </p:grpSpPr>
      <p:sp>
        <p:nvSpPr>
          <p:cNvPr id="2" name="Shape 0"/>
          <p:cNvSpPr/>
          <p:nvPr/>
        </p:nvSpPr>
        <p:spPr>
          <a:xfrm>
            <a:off x="0" y="0"/>
            <a:ext cx="12188952" cy="82296"/>
          </a:xfrm>
          <a:prstGeom prst="rect">
            <a:avLst/>
          </a:prstGeom>
          <a:solidFill>
            <a:srgbClr val="2D63FF"/>
          </a:solidFill>
          <a:ln/>
        </p:spPr>
      </p:sp>
      <p:sp>
        <p:nvSpPr>
          <p:cNvPr id="3" name="Text 1"/>
          <p:cNvSpPr txBox="1"/>
          <p:nvPr/>
        </p:nvSpPr>
        <p:spPr>
          <a:xfrm>
            <a:off x="502920" y="6236208"/>
            <a:ext cx="7772400" cy="365760"/>
          </a:xfrm>
          <a:prstGeom prst="rect">
            <a:avLst/>
          </a:prstGeom>
          <a:noFill/>
          <a:ln/>
        </p:spPr>
        <p:txBody>
          <a:bodyPr wrap="square" lIns="0" tIns="0" rIns="0" bIns="0" rtlCol="0" anchor="ctr"/>
          <a:lstStyle/>
          <a:p>
            <a:pPr indent="0" marL="0">
              <a:buNone/>
            </a:pPr>
            <a:r>
              <a:rPr lang="en-US" sz="1100" dirty="0">
                <a:solidFill>
                  <a:srgbClr val="667085"/>
                </a:solidFill>
                <a:latin typeface="IBM Plex Mono" pitchFamily="34" charset="0"/>
                <a:ea typeface="IBM Plex Mono" pitchFamily="34" charset="-122"/>
                <a:cs typeface="IBM Plex Mono" pitchFamily="34" charset="-120"/>
              </a:rPr>
              <a:t>2.2 Programming fundamentals  |  Lesson 6</a:t>
            </a:r>
            <a:endParaRPr lang="en-US" sz="1100" dirty="0"/>
          </a:p>
        </p:txBody>
      </p:sp>
      <p:sp>
        <p:nvSpPr>
          <p:cNvPr id="4" name="Text 2"/>
          <p:cNvSpPr txBox="1"/>
          <p:nvPr/>
        </p:nvSpPr>
        <p:spPr>
          <a:xfrm>
            <a:off x="9326880" y="6236208"/>
            <a:ext cx="2377440" cy="365760"/>
          </a:xfrm>
          <a:prstGeom prst="rect">
            <a:avLst/>
          </a:prstGeom>
          <a:noFill/>
          <a:ln/>
        </p:spPr>
        <p:txBody>
          <a:bodyPr wrap="square" lIns="0" tIns="0" rIns="0" bIns="0" rtlCol="0" anchor="ctr"/>
          <a:lstStyle/>
          <a:p>
            <a:pPr algn="r" indent="0" marL="0">
              <a:buNone/>
            </a:pPr>
            <a:r>
              <a:rPr lang="en-US" sz="1100" dirty="0">
                <a:solidFill>
                  <a:srgbClr val="667085"/>
                </a:solidFill>
                <a:latin typeface="IBM Plex Mono" pitchFamily="34" charset="0"/>
                <a:ea typeface="IBM Plex Mono" pitchFamily="34" charset="-122"/>
                <a:cs typeface="IBM Plex Mono" pitchFamily="34" charset="-120"/>
              </a:rPr>
              <a:t>Revise 360</a:t>
            </a:r>
            <a:endParaRPr lang="en-US" sz="1100" dirty="0"/>
          </a:p>
        </p:txBody>
      </p:sp>
      <p:sp>
        <p:nvSpPr>
          <p:cNvPr id="5" name="Text 3"/>
          <p:cNvSpPr txBox="1"/>
          <p:nvPr/>
        </p:nvSpPr>
        <p:spPr>
          <a:xfrm>
            <a:off x="502920" y="411480"/>
            <a:ext cx="11155680" cy="777240"/>
          </a:xfrm>
          <a:prstGeom prst="rect">
            <a:avLst/>
          </a:prstGeom>
          <a:noFill/>
          <a:ln/>
        </p:spPr>
        <p:txBody>
          <a:bodyPr wrap="square" lIns="0" tIns="0" rIns="0" bIns="0" rtlCol="0" anchor="ctr"/>
          <a:lstStyle/>
          <a:p>
            <a:pPr indent="0" marL="0">
              <a:buNone/>
            </a:pPr>
            <a:r>
              <a:rPr lang="en-US" sz="3200" b="1" dirty="0">
                <a:solidFill>
                  <a:srgbClr val="101828"/>
                </a:solidFill>
                <a:latin typeface="IBM Plex Sans" pitchFamily="34" charset="0"/>
                <a:ea typeface="IBM Plex Sans" pitchFamily="34" charset="-122"/>
                <a:cs typeface="IBM Plex Sans" pitchFamily="34" charset="-120"/>
              </a:rPr>
              <a:t>Exam practice</a:t>
            </a:r>
            <a:endParaRPr lang="en-US" sz="3200" dirty="0"/>
          </a:p>
        </p:txBody>
      </p:sp>
      <p:sp>
        <p:nvSpPr>
          <p:cNvPr id="6" name="Text 4"/>
          <p:cNvSpPr txBox="1"/>
          <p:nvPr/>
        </p:nvSpPr>
        <p:spPr>
          <a:xfrm>
            <a:off x="502920" y="1170432"/>
            <a:ext cx="11155680" cy="411480"/>
          </a:xfrm>
          <a:prstGeom prst="rect">
            <a:avLst/>
          </a:prstGeom>
          <a:noFill/>
          <a:ln/>
        </p:spPr>
        <p:txBody>
          <a:bodyPr wrap="square" lIns="0" tIns="0" rIns="0" bIns="0" rtlCol="0" anchor="ctr"/>
          <a:lstStyle/>
          <a:p>
            <a:pPr indent="0" marL="0">
              <a:buNone/>
            </a:pPr>
            <a:r>
              <a:rPr lang="en-US" sz="1500" dirty="0">
                <a:solidFill>
                  <a:srgbClr val="667085"/>
                </a:solidFill>
                <a:latin typeface="IBM Plex Sans" pitchFamily="34" charset="0"/>
                <a:ea typeface="IBM Plex Sans" pitchFamily="34" charset="-122"/>
                <a:cs typeface="IBM Plex Sans" pitchFamily="34" charset="-120"/>
              </a:rPr>
              <a:t>Devices away. Answer from memory on the worksheet.</a:t>
            </a:r>
            <a:endParaRPr lang="en-US" sz="1500" dirty="0"/>
          </a:p>
        </p:txBody>
      </p:sp>
      <p:sp>
        <p:nvSpPr>
          <p:cNvPr id="7" name="Shape 5"/>
          <p:cNvSpPr/>
          <p:nvPr/>
        </p:nvSpPr>
        <p:spPr>
          <a:xfrm>
            <a:off x="502920" y="1828800"/>
            <a:ext cx="11155680" cy="1097280"/>
          </a:xfrm>
          <a:prstGeom prst="roundRect">
            <a:avLst>
              <a:gd name="adj" fmla="val 10000"/>
            </a:avLst>
          </a:prstGeom>
          <a:solidFill>
            <a:srgbClr val="FFFFFF"/>
          </a:solidFill>
          <a:ln w="15875">
            <a:solidFill>
              <a:srgbClr val="D9DEE7"/>
            </a:solidFill>
            <a:prstDash val="solid"/>
          </a:ln>
        </p:spPr>
      </p:sp>
      <p:sp>
        <p:nvSpPr>
          <p:cNvPr id="8" name="Text 6"/>
          <p:cNvSpPr txBox="1"/>
          <p:nvPr/>
        </p:nvSpPr>
        <p:spPr>
          <a:xfrm>
            <a:off x="914400" y="1938528"/>
            <a:ext cx="9418320" cy="877824"/>
          </a:xfrm>
          <a:prstGeom prst="rect">
            <a:avLst/>
          </a:prstGeom>
          <a:noFill/>
          <a:ln/>
        </p:spPr>
        <p:txBody>
          <a:bodyPr wrap="square" lIns="0" tIns="0" rIns="0" bIns="0" rtlCol="0" anchor="ctr"/>
          <a:lstStyle/>
          <a:p>
            <a:pPr indent="0" marL="0">
              <a:lnSpc>
                <a:spcPct val="118000"/>
              </a:lnSpc>
              <a:buNone/>
            </a:pPr>
            <a:r>
              <a:rPr lang="en-US" sz="1700" dirty="0">
                <a:solidFill>
                  <a:srgbClr val="101828"/>
                </a:solidFill>
                <a:latin typeface="IBM Plex Sans" pitchFamily="34" charset="0"/>
                <a:ea typeface="IBM Plex Sans" pitchFamily="34" charset="-122"/>
                <a:cs typeface="IBM Plex Sans" pitchFamily="34" charset="-120"/>
              </a:rPr>
              <a:t>State two different reasons why a program might need a random number.</a:t>
            </a:r>
            <a:endParaRPr lang="en-US" sz="1700" dirty="0"/>
          </a:p>
        </p:txBody>
      </p:sp>
      <p:sp>
        <p:nvSpPr>
          <p:cNvPr id="9" name="Shape 7"/>
          <p:cNvSpPr/>
          <p:nvPr/>
        </p:nvSpPr>
        <p:spPr>
          <a:xfrm>
            <a:off x="10515600" y="2130552"/>
            <a:ext cx="868680" cy="493776"/>
          </a:xfrm>
          <a:prstGeom prst="roundRect">
            <a:avLst>
              <a:gd name="adj" fmla="val 18519"/>
            </a:avLst>
          </a:prstGeom>
          <a:solidFill>
            <a:srgbClr val="EEF2FB"/>
          </a:solidFill>
          <a:ln/>
        </p:spPr>
      </p:sp>
      <p:sp>
        <p:nvSpPr>
          <p:cNvPr id="10" name="Text 8"/>
          <p:cNvSpPr txBox="1"/>
          <p:nvPr/>
        </p:nvSpPr>
        <p:spPr>
          <a:xfrm>
            <a:off x="10515600" y="2130552"/>
            <a:ext cx="868680" cy="493776"/>
          </a:xfrm>
          <a:prstGeom prst="rect">
            <a:avLst/>
          </a:prstGeom>
          <a:noFill/>
          <a:ln/>
        </p:spPr>
        <p:txBody>
          <a:bodyPr wrap="square" lIns="0" tIns="0" rIns="0" bIns="0" rtlCol="0" anchor="ctr"/>
          <a:lstStyle/>
          <a:p>
            <a:pPr algn="ctr" indent="0" marL="0">
              <a:buNone/>
            </a:pPr>
            <a:r>
              <a:rPr lang="en-US" sz="1500" b="1" dirty="0">
                <a:solidFill>
                  <a:srgbClr val="2D63FF"/>
                </a:solidFill>
                <a:latin typeface="IBM Plex Mono" pitchFamily="34" charset="0"/>
                <a:ea typeface="IBM Plex Mono" pitchFamily="34" charset="-122"/>
                <a:cs typeface="IBM Plex Mono" pitchFamily="34" charset="-120"/>
              </a:rPr>
              <a:t>[2]</a:t>
            </a:r>
            <a:endParaRPr lang="en-US" sz="1500" dirty="0"/>
          </a:p>
        </p:txBody>
      </p:sp>
      <p:sp>
        <p:nvSpPr>
          <p:cNvPr id="11" name="Shape 9"/>
          <p:cNvSpPr/>
          <p:nvPr/>
        </p:nvSpPr>
        <p:spPr>
          <a:xfrm>
            <a:off x="502920" y="3127248"/>
            <a:ext cx="11155680" cy="1097280"/>
          </a:xfrm>
          <a:prstGeom prst="roundRect">
            <a:avLst>
              <a:gd name="adj" fmla="val 10000"/>
            </a:avLst>
          </a:prstGeom>
          <a:solidFill>
            <a:srgbClr val="FFFFFF"/>
          </a:solidFill>
          <a:ln w="15875">
            <a:solidFill>
              <a:srgbClr val="D9DEE7"/>
            </a:solidFill>
            <a:prstDash val="solid"/>
          </a:ln>
        </p:spPr>
      </p:sp>
      <p:sp>
        <p:nvSpPr>
          <p:cNvPr id="12" name="Text 10"/>
          <p:cNvSpPr txBox="1"/>
          <p:nvPr/>
        </p:nvSpPr>
        <p:spPr>
          <a:xfrm>
            <a:off x="914400" y="3236976"/>
            <a:ext cx="9418320" cy="877824"/>
          </a:xfrm>
          <a:prstGeom prst="rect">
            <a:avLst/>
          </a:prstGeom>
          <a:noFill/>
          <a:ln/>
        </p:spPr>
        <p:txBody>
          <a:bodyPr wrap="square" lIns="0" tIns="0" rIns="0" bIns="0" rtlCol="0" anchor="ctr"/>
          <a:lstStyle/>
          <a:p>
            <a:pPr indent="0" marL="0">
              <a:lnSpc>
                <a:spcPct val="118000"/>
              </a:lnSpc>
              <a:buNone/>
            </a:pPr>
            <a:r>
              <a:rPr lang="en-US" sz="1700" dirty="0">
                <a:solidFill>
                  <a:srgbClr val="101828"/>
                </a:solidFill>
                <a:latin typeface="IBM Plex Sans" pitchFamily="34" charset="0"/>
                <a:ea typeface="IBM Plex Sans" pitchFamily="34" charset="-122"/>
                <a:cs typeface="IBM Plex Sans" pitchFamily="34" charset="-120"/>
              </a:rPr>
              <a:t>An array called prize holds eight prizes. Describe how a random number could be used to choose one of them, and state the range that number must come from.</a:t>
            </a:r>
            <a:endParaRPr lang="en-US" sz="1700" dirty="0"/>
          </a:p>
        </p:txBody>
      </p:sp>
      <p:sp>
        <p:nvSpPr>
          <p:cNvPr id="13" name="Shape 11"/>
          <p:cNvSpPr/>
          <p:nvPr/>
        </p:nvSpPr>
        <p:spPr>
          <a:xfrm>
            <a:off x="10515600" y="3429000"/>
            <a:ext cx="868680" cy="493776"/>
          </a:xfrm>
          <a:prstGeom prst="roundRect">
            <a:avLst>
              <a:gd name="adj" fmla="val 18519"/>
            </a:avLst>
          </a:prstGeom>
          <a:solidFill>
            <a:srgbClr val="EEF2FB"/>
          </a:solidFill>
          <a:ln/>
        </p:spPr>
      </p:sp>
      <p:sp>
        <p:nvSpPr>
          <p:cNvPr id="14" name="Text 12"/>
          <p:cNvSpPr txBox="1"/>
          <p:nvPr/>
        </p:nvSpPr>
        <p:spPr>
          <a:xfrm>
            <a:off x="10515600" y="3429000"/>
            <a:ext cx="868680" cy="493776"/>
          </a:xfrm>
          <a:prstGeom prst="rect">
            <a:avLst/>
          </a:prstGeom>
          <a:noFill/>
          <a:ln/>
        </p:spPr>
        <p:txBody>
          <a:bodyPr wrap="square" lIns="0" tIns="0" rIns="0" bIns="0" rtlCol="0" anchor="ctr"/>
          <a:lstStyle/>
          <a:p>
            <a:pPr algn="ctr" indent="0" marL="0">
              <a:buNone/>
            </a:pPr>
            <a:r>
              <a:rPr lang="en-US" sz="1500" b="1" dirty="0">
                <a:solidFill>
                  <a:srgbClr val="2D63FF"/>
                </a:solidFill>
                <a:latin typeface="IBM Plex Mono" pitchFamily="34" charset="0"/>
                <a:ea typeface="IBM Plex Mono" pitchFamily="34" charset="-122"/>
                <a:cs typeface="IBM Plex Mono" pitchFamily="34" charset="-120"/>
              </a:rPr>
              <a:t>[3]</a:t>
            </a:r>
            <a:endParaRPr lang="en-US" sz="1500" dirty="0"/>
          </a:p>
        </p:txBody>
      </p:sp>
      <p:sp>
        <p:nvSpPr>
          <p:cNvPr id="15" name="Shape 13"/>
          <p:cNvSpPr/>
          <p:nvPr/>
        </p:nvSpPr>
        <p:spPr>
          <a:xfrm>
            <a:off x="502920" y="4425696"/>
            <a:ext cx="11155680" cy="1097280"/>
          </a:xfrm>
          <a:prstGeom prst="roundRect">
            <a:avLst>
              <a:gd name="adj" fmla="val 10000"/>
            </a:avLst>
          </a:prstGeom>
          <a:solidFill>
            <a:srgbClr val="FFFFFF"/>
          </a:solidFill>
          <a:ln w="15875">
            <a:solidFill>
              <a:srgbClr val="D9DEE7"/>
            </a:solidFill>
            <a:prstDash val="solid"/>
          </a:ln>
        </p:spPr>
      </p:sp>
      <p:sp>
        <p:nvSpPr>
          <p:cNvPr id="16" name="Text 14"/>
          <p:cNvSpPr txBox="1"/>
          <p:nvPr/>
        </p:nvSpPr>
        <p:spPr>
          <a:xfrm>
            <a:off x="914400" y="4535424"/>
            <a:ext cx="9418320" cy="877824"/>
          </a:xfrm>
          <a:prstGeom prst="rect">
            <a:avLst/>
          </a:prstGeom>
          <a:noFill/>
          <a:ln/>
        </p:spPr>
        <p:txBody>
          <a:bodyPr wrap="square" lIns="0" tIns="0" rIns="0" bIns="0" rtlCol="0" anchor="ctr"/>
          <a:lstStyle/>
          <a:p>
            <a:pPr indent="0" marL="0">
              <a:lnSpc>
                <a:spcPct val="118000"/>
              </a:lnSpc>
              <a:buNone/>
            </a:pPr>
            <a:r>
              <a:rPr lang="en-US" sz="1700" dirty="0">
                <a:solidFill>
                  <a:srgbClr val="101828"/>
                </a:solidFill>
                <a:latin typeface="IBM Plex Sans" pitchFamily="34" charset="0"/>
                <a:ea typeface="IBM Plex Sans" pitchFamily="34" charset="-122"/>
                <a:cs typeface="IBM Plex Sans" pitchFamily="34" charset="-120"/>
              </a:rPr>
              <a:t>Explain why the numbers produced by a computer are described as pseudo-random.</a:t>
            </a:r>
            <a:endParaRPr lang="en-US" sz="1700" dirty="0"/>
          </a:p>
        </p:txBody>
      </p:sp>
      <p:sp>
        <p:nvSpPr>
          <p:cNvPr id="17" name="Shape 15"/>
          <p:cNvSpPr/>
          <p:nvPr/>
        </p:nvSpPr>
        <p:spPr>
          <a:xfrm>
            <a:off x="10515600" y="4727448"/>
            <a:ext cx="868680" cy="493776"/>
          </a:xfrm>
          <a:prstGeom prst="roundRect">
            <a:avLst>
              <a:gd name="adj" fmla="val 18519"/>
            </a:avLst>
          </a:prstGeom>
          <a:solidFill>
            <a:srgbClr val="EEF2FB"/>
          </a:solidFill>
          <a:ln/>
        </p:spPr>
      </p:sp>
      <p:sp>
        <p:nvSpPr>
          <p:cNvPr id="18" name="Text 16"/>
          <p:cNvSpPr txBox="1"/>
          <p:nvPr/>
        </p:nvSpPr>
        <p:spPr>
          <a:xfrm>
            <a:off x="10515600" y="4727448"/>
            <a:ext cx="868680" cy="493776"/>
          </a:xfrm>
          <a:prstGeom prst="rect">
            <a:avLst/>
          </a:prstGeom>
          <a:noFill/>
          <a:ln/>
        </p:spPr>
        <p:txBody>
          <a:bodyPr wrap="square" lIns="0" tIns="0" rIns="0" bIns="0" rtlCol="0" anchor="ctr"/>
          <a:lstStyle/>
          <a:p>
            <a:pPr algn="ctr" indent="0" marL="0">
              <a:buNone/>
            </a:pPr>
            <a:r>
              <a:rPr lang="en-US" sz="1500" b="1" dirty="0">
                <a:solidFill>
                  <a:srgbClr val="2D63FF"/>
                </a:solidFill>
                <a:latin typeface="IBM Plex Mono" pitchFamily="34" charset="0"/>
                <a:ea typeface="IBM Plex Mono" pitchFamily="34" charset="-122"/>
                <a:cs typeface="IBM Plex Mono" pitchFamily="34" charset="-120"/>
              </a:rPr>
              <a:t>[3]</a:t>
            </a:r>
            <a:endParaRPr lang="en-US" sz="15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7F7F4"/>
        </a:solidFill>
      </p:bgPr>
    </p:bg>
    <p:spTree>
      <p:nvGrpSpPr>
        <p:cNvPr id="1" name=""/>
        <p:cNvGrpSpPr/>
        <p:nvPr/>
      </p:nvGrpSpPr>
      <p:grpSpPr>
        <a:xfrm>
          <a:off x="0" y="0"/>
          <a:ext cx="0" cy="0"/>
          <a:chOff x="0" y="0"/>
          <a:chExt cx="0" cy="0"/>
        </a:xfrm>
      </p:grpSpPr>
      <p:sp>
        <p:nvSpPr>
          <p:cNvPr id="2" name="Shape 0"/>
          <p:cNvSpPr/>
          <p:nvPr/>
        </p:nvSpPr>
        <p:spPr>
          <a:xfrm>
            <a:off x="0" y="0"/>
            <a:ext cx="12188952" cy="82296"/>
          </a:xfrm>
          <a:prstGeom prst="rect">
            <a:avLst/>
          </a:prstGeom>
          <a:solidFill>
            <a:srgbClr val="2D63FF"/>
          </a:solidFill>
          <a:ln/>
        </p:spPr>
      </p:sp>
      <p:sp>
        <p:nvSpPr>
          <p:cNvPr id="3" name="Text 1"/>
          <p:cNvSpPr txBox="1"/>
          <p:nvPr/>
        </p:nvSpPr>
        <p:spPr>
          <a:xfrm>
            <a:off x="502920" y="6236208"/>
            <a:ext cx="7772400" cy="365760"/>
          </a:xfrm>
          <a:prstGeom prst="rect">
            <a:avLst/>
          </a:prstGeom>
          <a:noFill/>
          <a:ln/>
        </p:spPr>
        <p:txBody>
          <a:bodyPr wrap="square" lIns="0" tIns="0" rIns="0" bIns="0" rtlCol="0" anchor="ctr"/>
          <a:lstStyle/>
          <a:p>
            <a:pPr indent="0" marL="0">
              <a:buNone/>
            </a:pPr>
            <a:r>
              <a:rPr lang="en-US" sz="1100" dirty="0">
                <a:solidFill>
                  <a:srgbClr val="667085"/>
                </a:solidFill>
                <a:latin typeface="IBM Plex Mono" pitchFamily="34" charset="0"/>
                <a:ea typeface="IBM Plex Mono" pitchFamily="34" charset="-122"/>
                <a:cs typeface="IBM Plex Mono" pitchFamily="34" charset="-120"/>
              </a:rPr>
              <a:t>2.2 Programming fundamentals  |  Lesson 6</a:t>
            </a:r>
            <a:endParaRPr lang="en-US" sz="1100" dirty="0"/>
          </a:p>
        </p:txBody>
      </p:sp>
      <p:sp>
        <p:nvSpPr>
          <p:cNvPr id="4" name="Text 2"/>
          <p:cNvSpPr txBox="1"/>
          <p:nvPr/>
        </p:nvSpPr>
        <p:spPr>
          <a:xfrm>
            <a:off x="9326880" y="6236208"/>
            <a:ext cx="2377440" cy="365760"/>
          </a:xfrm>
          <a:prstGeom prst="rect">
            <a:avLst/>
          </a:prstGeom>
          <a:noFill/>
          <a:ln/>
        </p:spPr>
        <p:txBody>
          <a:bodyPr wrap="square" lIns="0" tIns="0" rIns="0" bIns="0" rtlCol="0" anchor="ctr"/>
          <a:lstStyle/>
          <a:p>
            <a:pPr algn="r" indent="0" marL="0">
              <a:buNone/>
            </a:pPr>
            <a:r>
              <a:rPr lang="en-US" sz="1100" dirty="0">
                <a:solidFill>
                  <a:srgbClr val="667085"/>
                </a:solidFill>
                <a:latin typeface="IBM Plex Mono" pitchFamily="34" charset="0"/>
                <a:ea typeface="IBM Plex Mono" pitchFamily="34" charset="-122"/>
                <a:cs typeface="IBM Plex Mono" pitchFamily="34" charset="-120"/>
              </a:rPr>
              <a:t>Revise 360</a:t>
            </a:r>
            <a:endParaRPr lang="en-US" sz="1100" dirty="0"/>
          </a:p>
        </p:txBody>
      </p:sp>
      <p:sp>
        <p:nvSpPr>
          <p:cNvPr id="5" name="Text 3"/>
          <p:cNvSpPr txBox="1"/>
          <p:nvPr/>
        </p:nvSpPr>
        <p:spPr>
          <a:xfrm>
            <a:off x="502920" y="411480"/>
            <a:ext cx="11155680" cy="777240"/>
          </a:xfrm>
          <a:prstGeom prst="rect">
            <a:avLst/>
          </a:prstGeom>
          <a:noFill/>
          <a:ln/>
        </p:spPr>
        <p:txBody>
          <a:bodyPr wrap="square" lIns="0" tIns="0" rIns="0" bIns="0" rtlCol="0" anchor="ctr"/>
          <a:lstStyle/>
          <a:p>
            <a:pPr indent="0" marL="0">
              <a:buNone/>
            </a:pPr>
            <a:r>
              <a:rPr lang="en-US" sz="3200" b="1" dirty="0">
                <a:solidFill>
                  <a:srgbClr val="101828"/>
                </a:solidFill>
                <a:latin typeface="IBM Plex Sans" pitchFamily="34" charset="0"/>
                <a:ea typeface="IBM Plex Sans" pitchFamily="34" charset="-122"/>
                <a:cs typeface="IBM Plex Sans" pitchFamily="34" charset="-120"/>
              </a:rPr>
              <a:t>Before you go</a:t>
            </a:r>
            <a:endParaRPr lang="en-US" sz="3200" dirty="0"/>
          </a:p>
        </p:txBody>
      </p:sp>
      <p:sp>
        <p:nvSpPr>
          <p:cNvPr id="6" name="Text 4"/>
          <p:cNvSpPr txBox="1"/>
          <p:nvPr/>
        </p:nvSpPr>
        <p:spPr>
          <a:xfrm>
            <a:off x="502920" y="1170432"/>
            <a:ext cx="11155680" cy="411480"/>
          </a:xfrm>
          <a:prstGeom prst="rect">
            <a:avLst/>
          </a:prstGeom>
          <a:noFill/>
          <a:ln/>
        </p:spPr>
        <p:txBody>
          <a:bodyPr wrap="square" lIns="0" tIns="0" rIns="0" bIns="0" rtlCol="0" anchor="ctr"/>
          <a:lstStyle/>
          <a:p>
            <a:pPr indent="0" marL="0">
              <a:buNone/>
            </a:pPr>
            <a:r>
              <a:rPr lang="en-US" sz="1500" dirty="0">
                <a:solidFill>
                  <a:srgbClr val="667085"/>
                </a:solidFill>
                <a:latin typeface="IBM Plex Sans" pitchFamily="34" charset="0"/>
                <a:ea typeface="IBM Plex Sans" pitchFamily="34" charset="-122"/>
                <a:cs typeface="IBM Plex Sans" pitchFamily="34" charset="-120"/>
              </a:rPr>
              <a:t>Rate yourself on each of these</a:t>
            </a:r>
            <a:endParaRPr lang="en-US" sz="1500" dirty="0"/>
          </a:p>
        </p:txBody>
      </p:sp>
      <p:sp>
        <p:nvSpPr>
          <p:cNvPr id="7" name="Shape 5"/>
          <p:cNvSpPr/>
          <p:nvPr/>
        </p:nvSpPr>
        <p:spPr>
          <a:xfrm>
            <a:off x="502920" y="1920240"/>
            <a:ext cx="7863840" cy="777240"/>
          </a:xfrm>
          <a:prstGeom prst="roundRect">
            <a:avLst>
              <a:gd name="adj" fmla="val 14118"/>
            </a:avLst>
          </a:prstGeom>
          <a:solidFill>
            <a:srgbClr val="FFFFFF"/>
          </a:solidFill>
          <a:ln w="15875">
            <a:solidFill>
              <a:srgbClr val="D9DEE7"/>
            </a:solidFill>
            <a:prstDash val="solid"/>
          </a:ln>
        </p:spPr>
      </p:sp>
      <p:sp>
        <p:nvSpPr>
          <p:cNvPr id="8" name="Text 6"/>
          <p:cNvSpPr txBox="1"/>
          <p:nvPr/>
        </p:nvSpPr>
        <p:spPr>
          <a:xfrm>
            <a:off x="914400" y="1920240"/>
            <a:ext cx="7132320" cy="777240"/>
          </a:xfrm>
          <a:prstGeom prst="rect">
            <a:avLst/>
          </a:prstGeom>
          <a:noFill/>
          <a:ln/>
        </p:spPr>
        <p:txBody>
          <a:bodyPr wrap="square" lIns="0" tIns="0" rIns="0" bIns="0" rtlCol="0" anchor="ctr"/>
          <a:lstStyle/>
          <a:p>
            <a:pPr indent="0" marL="0">
              <a:buNone/>
            </a:pPr>
            <a:r>
              <a:rPr lang="en-US" sz="1800" dirty="0">
                <a:solidFill>
                  <a:srgbClr val="101828"/>
                </a:solidFill>
                <a:latin typeface="IBM Plex Sans" pitchFamily="34" charset="0"/>
                <a:ea typeface="IBM Plex Sans" pitchFamily="34" charset="-122"/>
                <a:cs typeface="IBM Plex Sans" pitchFamily="34" charset="-120"/>
              </a:rPr>
              <a:t>What random numbers are used for in a program</a:t>
            </a:r>
            <a:endParaRPr lang="en-US" sz="1800" dirty="0"/>
          </a:p>
        </p:txBody>
      </p:sp>
      <p:sp>
        <p:nvSpPr>
          <p:cNvPr id="9" name="Shape 7"/>
          <p:cNvSpPr/>
          <p:nvPr/>
        </p:nvSpPr>
        <p:spPr>
          <a:xfrm>
            <a:off x="8595360" y="2066544"/>
            <a:ext cx="987552" cy="484632"/>
          </a:xfrm>
          <a:prstGeom prst="roundRect">
            <a:avLst>
              <a:gd name="adj" fmla="val 18868"/>
            </a:avLst>
          </a:prstGeom>
          <a:solidFill>
            <a:srgbClr val="FFFFFF"/>
          </a:solidFill>
          <a:ln w="15875">
            <a:solidFill>
              <a:srgbClr val="08A6A6"/>
            </a:solidFill>
            <a:prstDash val="solid"/>
          </a:ln>
        </p:spPr>
      </p:sp>
      <p:sp>
        <p:nvSpPr>
          <p:cNvPr id="10" name="Text 8"/>
          <p:cNvSpPr txBox="1"/>
          <p:nvPr/>
        </p:nvSpPr>
        <p:spPr>
          <a:xfrm>
            <a:off x="8595360" y="2066544"/>
            <a:ext cx="987552" cy="484632"/>
          </a:xfrm>
          <a:prstGeom prst="rect">
            <a:avLst/>
          </a:prstGeom>
          <a:noFill/>
          <a:ln/>
        </p:spPr>
        <p:txBody>
          <a:bodyPr wrap="square" lIns="0" tIns="0" rIns="0" bIns="0" rtlCol="0" anchor="ctr"/>
          <a:lstStyle/>
          <a:p>
            <a:pPr algn="ctr" indent="0" marL="0">
              <a:buNone/>
            </a:pPr>
            <a:r>
              <a:rPr lang="en-US" sz="1000" dirty="0">
                <a:solidFill>
                  <a:srgbClr val="08A6A6"/>
                </a:solidFill>
                <a:latin typeface="IBM Plex Sans" pitchFamily="34" charset="0"/>
                <a:ea typeface="IBM Plex Sans" pitchFamily="34" charset="-122"/>
                <a:cs typeface="IBM Plex Sans" pitchFamily="34" charset="-120"/>
              </a:rPr>
              <a:t>Secure</a:t>
            </a:r>
            <a:endParaRPr lang="en-US" sz="1000" dirty="0"/>
          </a:p>
        </p:txBody>
      </p:sp>
      <p:sp>
        <p:nvSpPr>
          <p:cNvPr id="11" name="Shape 9"/>
          <p:cNvSpPr/>
          <p:nvPr/>
        </p:nvSpPr>
        <p:spPr>
          <a:xfrm>
            <a:off x="9674352" y="2066544"/>
            <a:ext cx="987552" cy="484632"/>
          </a:xfrm>
          <a:prstGeom prst="roundRect">
            <a:avLst>
              <a:gd name="adj" fmla="val 18868"/>
            </a:avLst>
          </a:prstGeom>
          <a:solidFill>
            <a:srgbClr val="FFFFFF"/>
          </a:solidFill>
          <a:ln w="15875">
            <a:solidFill>
              <a:srgbClr val="F4B942"/>
            </a:solidFill>
            <a:prstDash val="solid"/>
          </a:ln>
        </p:spPr>
      </p:sp>
      <p:sp>
        <p:nvSpPr>
          <p:cNvPr id="12" name="Text 10"/>
          <p:cNvSpPr txBox="1"/>
          <p:nvPr/>
        </p:nvSpPr>
        <p:spPr>
          <a:xfrm>
            <a:off x="9674352" y="2066544"/>
            <a:ext cx="987552" cy="484632"/>
          </a:xfrm>
          <a:prstGeom prst="rect">
            <a:avLst/>
          </a:prstGeom>
          <a:noFill/>
          <a:ln/>
        </p:spPr>
        <p:txBody>
          <a:bodyPr wrap="square" lIns="0" tIns="0" rIns="0" bIns="0" rtlCol="0" anchor="ctr"/>
          <a:lstStyle/>
          <a:p>
            <a:pPr algn="ctr" indent="0" marL="0">
              <a:buNone/>
            </a:pPr>
            <a:r>
              <a:rPr lang="en-US" sz="1000" dirty="0">
                <a:solidFill>
                  <a:srgbClr val="F4B942"/>
                </a:solidFill>
                <a:latin typeface="IBM Plex Sans" pitchFamily="34" charset="0"/>
                <a:ea typeface="IBM Plex Sans" pitchFamily="34" charset="-122"/>
                <a:cs typeface="IBM Plex Sans" pitchFamily="34" charset="-120"/>
              </a:rPr>
              <a:t>Revise</a:t>
            </a:r>
            <a:endParaRPr lang="en-US" sz="1000" dirty="0"/>
          </a:p>
        </p:txBody>
      </p:sp>
      <p:sp>
        <p:nvSpPr>
          <p:cNvPr id="13" name="Shape 11"/>
          <p:cNvSpPr/>
          <p:nvPr/>
        </p:nvSpPr>
        <p:spPr>
          <a:xfrm>
            <a:off x="10753344" y="2066544"/>
            <a:ext cx="987552" cy="484632"/>
          </a:xfrm>
          <a:prstGeom prst="roundRect">
            <a:avLst>
              <a:gd name="adj" fmla="val 18868"/>
            </a:avLst>
          </a:prstGeom>
          <a:solidFill>
            <a:srgbClr val="FFFFFF"/>
          </a:solidFill>
          <a:ln w="15875">
            <a:solidFill>
              <a:srgbClr val="E2574C"/>
            </a:solidFill>
            <a:prstDash val="solid"/>
          </a:ln>
        </p:spPr>
      </p:sp>
      <p:sp>
        <p:nvSpPr>
          <p:cNvPr id="14" name="Text 12"/>
          <p:cNvSpPr txBox="1"/>
          <p:nvPr/>
        </p:nvSpPr>
        <p:spPr>
          <a:xfrm>
            <a:off x="10753344" y="2066544"/>
            <a:ext cx="987552" cy="484632"/>
          </a:xfrm>
          <a:prstGeom prst="rect">
            <a:avLst/>
          </a:prstGeom>
          <a:noFill/>
          <a:ln/>
        </p:spPr>
        <p:txBody>
          <a:bodyPr wrap="square" lIns="0" tIns="0" rIns="0" bIns="0" rtlCol="0" anchor="ctr"/>
          <a:lstStyle/>
          <a:p>
            <a:pPr algn="ctr" indent="0" marL="0">
              <a:buNone/>
            </a:pPr>
            <a:r>
              <a:rPr lang="en-US" sz="1000" dirty="0">
                <a:solidFill>
                  <a:srgbClr val="E2574C"/>
                </a:solidFill>
                <a:latin typeface="IBM Plex Sans" pitchFamily="34" charset="0"/>
                <a:ea typeface="IBM Plex Sans" pitchFamily="34" charset="-122"/>
                <a:cs typeface="IBM Plex Sans" pitchFamily="34" charset="-120"/>
              </a:rPr>
              <a:t>Focus here</a:t>
            </a:r>
            <a:endParaRPr lang="en-US" sz="1000" dirty="0"/>
          </a:p>
        </p:txBody>
      </p:sp>
      <p:sp>
        <p:nvSpPr>
          <p:cNvPr id="15" name="Shape 13"/>
          <p:cNvSpPr/>
          <p:nvPr/>
        </p:nvSpPr>
        <p:spPr>
          <a:xfrm>
            <a:off x="502920" y="2880360"/>
            <a:ext cx="7863840" cy="777240"/>
          </a:xfrm>
          <a:prstGeom prst="roundRect">
            <a:avLst>
              <a:gd name="adj" fmla="val 14118"/>
            </a:avLst>
          </a:prstGeom>
          <a:solidFill>
            <a:srgbClr val="FFFFFF"/>
          </a:solidFill>
          <a:ln w="15875">
            <a:solidFill>
              <a:srgbClr val="D9DEE7"/>
            </a:solidFill>
            <a:prstDash val="solid"/>
          </a:ln>
        </p:spPr>
      </p:sp>
      <p:sp>
        <p:nvSpPr>
          <p:cNvPr id="16" name="Text 14"/>
          <p:cNvSpPr txBox="1"/>
          <p:nvPr/>
        </p:nvSpPr>
        <p:spPr>
          <a:xfrm>
            <a:off x="914400" y="2880360"/>
            <a:ext cx="7132320" cy="777240"/>
          </a:xfrm>
          <a:prstGeom prst="rect">
            <a:avLst/>
          </a:prstGeom>
          <a:noFill/>
          <a:ln/>
        </p:spPr>
        <p:txBody>
          <a:bodyPr wrap="square" lIns="0" tIns="0" rIns="0" bIns="0" rtlCol="0" anchor="ctr"/>
          <a:lstStyle/>
          <a:p>
            <a:pPr indent="0" marL="0">
              <a:buNone/>
            </a:pPr>
            <a:r>
              <a:rPr lang="en-US" sz="1800" dirty="0">
                <a:solidFill>
                  <a:srgbClr val="101828"/>
                </a:solidFill>
                <a:latin typeface="IBM Plex Sans" pitchFamily="34" charset="0"/>
                <a:ea typeface="IBM Plex Sans" pitchFamily="34" charset="-122"/>
                <a:cs typeface="IBM Plex Sans" pitchFamily="34" charset="-120"/>
              </a:rPr>
              <a:t>How to generate a random number in a given range, and why the end points matter</a:t>
            </a:r>
            <a:endParaRPr lang="en-US" sz="1800" dirty="0"/>
          </a:p>
        </p:txBody>
      </p:sp>
      <p:sp>
        <p:nvSpPr>
          <p:cNvPr id="17" name="Shape 15"/>
          <p:cNvSpPr/>
          <p:nvPr/>
        </p:nvSpPr>
        <p:spPr>
          <a:xfrm>
            <a:off x="8595360" y="3026664"/>
            <a:ext cx="987552" cy="484632"/>
          </a:xfrm>
          <a:prstGeom prst="roundRect">
            <a:avLst>
              <a:gd name="adj" fmla="val 18868"/>
            </a:avLst>
          </a:prstGeom>
          <a:solidFill>
            <a:srgbClr val="FFFFFF"/>
          </a:solidFill>
          <a:ln w="15875">
            <a:solidFill>
              <a:srgbClr val="08A6A6"/>
            </a:solidFill>
            <a:prstDash val="solid"/>
          </a:ln>
        </p:spPr>
      </p:sp>
      <p:sp>
        <p:nvSpPr>
          <p:cNvPr id="18" name="Text 16"/>
          <p:cNvSpPr txBox="1"/>
          <p:nvPr/>
        </p:nvSpPr>
        <p:spPr>
          <a:xfrm>
            <a:off x="8595360" y="3026664"/>
            <a:ext cx="987552" cy="484632"/>
          </a:xfrm>
          <a:prstGeom prst="rect">
            <a:avLst/>
          </a:prstGeom>
          <a:noFill/>
          <a:ln/>
        </p:spPr>
        <p:txBody>
          <a:bodyPr wrap="square" lIns="0" tIns="0" rIns="0" bIns="0" rtlCol="0" anchor="ctr"/>
          <a:lstStyle/>
          <a:p>
            <a:pPr algn="ctr" indent="0" marL="0">
              <a:buNone/>
            </a:pPr>
            <a:r>
              <a:rPr lang="en-US" sz="1000" dirty="0">
                <a:solidFill>
                  <a:srgbClr val="08A6A6"/>
                </a:solidFill>
                <a:latin typeface="IBM Plex Sans" pitchFamily="34" charset="0"/>
                <a:ea typeface="IBM Plex Sans" pitchFamily="34" charset="-122"/>
                <a:cs typeface="IBM Plex Sans" pitchFamily="34" charset="-120"/>
              </a:rPr>
              <a:t>Secure</a:t>
            </a:r>
            <a:endParaRPr lang="en-US" sz="1000" dirty="0"/>
          </a:p>
        </p:txBody>
      </p:sp>
      <p:sp>
        <p:nvSpPr>
          <p:cNvPr id="19" name="Shape 17"/>
          <p:cNvSpPr/>
          <p:nvPr/>
        </p:nvSpPr>
        <p:spPr>
          <a:xfrm>
            <a:off x="9674352" y="3026664"/>
            <a:ext cx="987552" cy="484632"/>
          </a:xfrm>
          <a:prstGeom prst="roundRect">
            <a:avLst>
              <a:gd name="adj" fmla="val 18868"/>
            </a:avLst>
          </a:prstGeom>
          <a:solidFill>
            <a:srgbClr val="FFFFFF"/>
          </a:solidFill>
          <a:ln w="15875">
            <a:solidFill>
              <a:srgbClr val="F4B942"/>
            </a:solidFill>
            <a:prstDash val="solid"/>
          </a:ln>
        </p:spPr>
      </p:sp>
      <p:sp>
        <p:nvSpPr>
          <p:cNvPr id="20" name="Text 18"/>
          <p:cNvSpPr txBox="1"/>
          <p:nvPr/>
        </p:nvSpPr>
        <p:spPr>
          <a:xfrm>
            <a:off x="9674352" y="3026664"/>
            <a:ext cx="987552" cy="484632"/>
          </a:xfrm>
          <a:prstGeom prst="rect">
            <a:avLst/>
          </a:prstGeom>
          <a:noFill/>
          <a:ln/>
        </p:spPr>
        <p:txBody>
          <a:bodyPr wrap="square" lIns="0" tIns="0" rIns="0" bIns="0" rtlCol="0" anchor="ctr"/>
          <a:lstStyle/>
          <a:p>
            <a:pPr algn="ctr" indent="0" marL="0">
              <a:buNone/>
            </a:pPr>
            <a:r>
              <a:rPr lang="en-US" sz="1000" dirty="0">
                <a:solidFill>
                  <a:srgbClr val="F4B942"/>
                </a:solidFill>
                <a:latin typeface="IBM Plex Sans" pitchFamily="34" charset="0"/>
                <a:ea typeface="IBM Plex Sans" pitchFamily="34" charset="-122"/>
                <a:cs typeface="IBM Plex Sans" pitchFamily="34" charset="-120"/>
              </a:rPr>
              <a:t>Revise</a:t>
            </a:r>
            <a:endParaRPr lang="en-US" sz="1000" dirty="0"/>
          </a:p>
        </p:txBody>
      </p:sp>
      <p:sp>
        <p:nvSpPr>
          <p:cNvPr id="21" name="Shape 19"/>
          <p:cNvSpPr/>
          <p:nvPr/>
        </p:nvSpPr>
        <p:spPr>
          <a:xfrm>
            <a:off x="10753344" y="3026664"/>
            <a:ext cx="987552" cy="484632"/>
          </a:xfrm>
          <a:prstGeom prst="roundRect">
            <a:avLst>
              <a:gd name="adj" fmla="val 18868"/>
            </a:avLst>
          </a:prstGeom>
          <a:solidFill>
            <a:srgbClr val="FFFFFF"/>
          </a:solidFill>
          <a:ln w="15875">
            <a:solidFill>
              <a:srgbClr val="E2574C"/>
            </a:solidFill>
            <a:prstDash val="solid"/>
          </a:ln>
        </p:spPr>
      </p:sp>
      <p:sp>
        <p:nvSpPr>
          <p:cNvPr id="22" name="Text 20"/>
          <p:cNvSpPr txBox="1"/>
          <p:nvPr/>
        </p:nvSpPr>
        <p:spPr>
          <a:xfrm>
            <a:off x="10753344" y="3026664"/>
            <a:ext cx="987552" cy="484632"/>
          </a:xfrm>
          <a:prstGeom prst="rect">
            <a:avLst/>
          </a:prstGeom>
          <a:noFill/>
          <a:ln/>
        </p:spPr>
        <p:txBody>
          <a:bodyPr wrap="square" lIns="0" tIns="0" rIns="0" bIns="0" rtlCol="0" anchor="ctr"/>
          <a:lstStyle/>
          <a:p>
            <a:pPr algn="ctr" indent="0" marL="0">
              <a:buNone/>
            </a:pPr>
            <a:r>
              <a:rPr lang="en-US" sz="1000" dirty="0">
                <a:solidFill>
                  <a:srgbClr val="E2574C"/>
                </a:solidFill>
                <a:latin typeface="IBM Plex Sans" pitchFamily="34" charset="0"/>
                <a:ea typeface="IBM Plex Sans" pitchFamily="34" charset="-122"/>
                <a:cs typeface="IBM Plex Sans" pitchFamily="34" charset="-120"/>
              </a:rPr>
              <a:t>Focus here</a:t>
            </a:r>
            <a:endParaRPr lang="en-US" sz="1000" dirty="0"/>
          </a:p>
        </p:txBody>
      </p:sp>
      <p:sp>
        <p:nvSpPr>
          <p:cNvPr id="23" name="Shape 21"/>
          <p:cNvSpPr/>
          <p:nvPr/>
        </p:nvSpPr>
        <p:spPr>
          <a:xfrm>
            <a:off x="502920" y="3840480"/>
            <a:ext cx="7863840" cy="777240"/>
          </a:xfrm>
          <a:prstGeom prst="roundRect">
            <a:avLst>
              <a:gd name="adj" fmla="val 14118"/>
            </a:avLst>
          </a:prstGeom>
          <a:solidFill>
            <a:srgbClr val="FFFFFF"/>
          </a:solidFill>
          <a:ln w="15875">
            <a:solidFill>
              <a:srgbClr val="D9DEE7"/>
            </a:solidFill>
            <a:prstDash val="solid"/>
          </a:ln>
        </p:spPr>
      </p:sp>
      <p:sp>
        <p:nvSpPr>
          <p:cNvPr id="24" name="Text 22"/>
          <p:cNvSpPr txBox="1"/>
          <p:nvPr/>
        </p:nvSpPr>
        <p:spPr>
          <a:xfrm>
            <a:off x="914400" y="3840480"/>
            <a:ext cx="7132320" cy="777240"/>
          </a:xfrm>
          <a:prstGeom prst="rect">
            <a:avLst/>
          </a:prstGeom>
          <a:noFill/>
          <a:ln/>
        </p:spPr>
        <p:txBody>
          <a:bodyPr wrap="square" lIns="0" tIns="0" rIns="0" bIns="0" rtlCol="0" anchor="ctr"/>
          <a:lstStyle/>
          <a:p>
            <a:pPr indent="0" marL="0">
              <a:buNone/>
            </a:pPr>
            <a:r>
              <a:rPr lang="en-US" sz="1800" dirty="0">
                <a:solidFill>
                  <a:srgbClr val="101828"/>
                </a:solidFill>
                <a:latin typeface="IBM Plex Sans" pitchFamily="34" charset="0"/>
                <a:ea typeface="IBM Plex Sans" pitchFamily="34" charset="-122"/>
                <a:cs typeface="IBM Plex Sans" pitchFamily="34" charset="-120"/>
              </a:rPr>
              <a:t>What pseudo-random means, and what a seed does</a:t>
            </a:r>
            <a:endParaRPr lang="en-US" sz="1800" dirty="0"/>
          </a:p>
        </p:txBody>
      </p:sp>
      <p:sp>
        <p:nvSpPr>
          <p:cNvPr id="25" name="Shape 23"/>
          <p:cNvSpPr/>
          <p:nvPr/>
        </p:nvSpPr>
        <p:spPr>
          <a:xfrm>
            <a:off x="8595360" y="3986784"/>
            <a:ext cx="987552" cy="484632"/>
          </a:xfrm>
          <a:prstGeom prst="roundRect">
            <a:avLst>
              <a:gd name="adj" fmla="val 18868"/>
            </a:avLst>
          </a:prstGeom>
          <a:solidFill>
            <a:srgbClr val="FFFFFF"/>
          </a:solidFill>
          <a:ln w="15875">
            <a:solidFill>
              <a:srgbClr val="08A6A6"/>
            </a:solidFill>
            <a:prstDash val="solid"/>
          </a:ln>
        </p:spPr>
      </p:sp>
      <p:sp>
        <p:nvSpPr>
          <p:cNvPr id="26" name="Text 24"/>
          <p:cNvSpPr txBox="1"/>
          <p:nvPr/>
        </p:nvSpPr>
        <p:spPr>
          <a:xfrm>
            <a:off x="8595360" y="3986784"/>
            <a:ext cx="987552" cy="484632"/>
          </a:xfrm>
          <a:prstGeom prst="rect">
            <a:avLst/>
          </a:prstGeom>
          <a:noFill/>
          <a:ln/>
        </p:spPr>
        <p:txBody>
          <a:bodyPr wrap="square" lIns="0" tIns="0" rIns="0" bIns="0" rtlCol="0" anchor="ctr"/>
          <a:lstStyle/>
          <a:p>
            <a:pPr algn="ctr" indent="0" marL="0">
              <a:buNone/>
            </a:pPr>
            <a:r>
              <a:rPr lang="en-US" sz="1000" dirty="0">
                <a:solidFill>
                  <a:srgbClr val="08A6A6"/>
                </a:solidFill>
                <a:latin typeface="IBM Plex Sans" pitchFamily="34" charset="0"/>
                <a:ea typeface="IBM Plex Sans" pitchFamily="34" charset="-122"/>
                <a:cs typeface="IBM Plex Sans" pitchFamily="34" charset="-120"/>
              </a:rPr>
              <a:t>Secure</a:t>
            </a:r>
            <a:endParaRPr lang="en-US" sz="1000" dirty="0"/>
          </a:p>
        </p:txBody>
      </p:sp>
      <p:sp>
        <p:nvSpPr>
          <p:cNvPr id="27" name="Shape 25"/>
          <p:cNvSpPr/>
          <p:nvPr/>
        </p:nvSpPr>
        <p:spPr>
          <a:xfrm>
            <a:off x="9674352" y="3986784"/>
            <a:ext cx="987552" cy="484632"/>
          </a:xfrm>
          <a:prstGeom prst="roundRect">
            <a:avLst>
              <a:gd name="adj" fmla="val 18868"/>
            </a:avLst>
          </a:prstGeom>
          <a:solidFill>
            <a:srgbClr val="FFFFFF"/>
          </a:solidFill>
          <a:ln w="15875">
            <a:solidFill>
              <a:srgbClr val="F4B942"/>
            </a:solidFill>
            <a:prstDash val="solid"/>
          </a:ln>
        </p:spPr>
      </p:sp>
      <p:sp>
        <p:nvSpPr>
          <p:cNvPr id="28" name="Text 26"/>
          <p:cNvSpPr txBox="1"/>
          <p:nvPr/>
        </p:nvSpPr>
        <p:spPr>
          <a:xfrm>
            <a:off x="9674352" y="3986784"/>
            <a:ext cx="987552" cy="484632"/>
          </a:xfrm>
          <a:prstGeom prst="rect">
            <a:avLst/>
          </a:prstGeom>
          <a:noFill/>
          <a:ln/>
        </p:spPr>
        <p:txBody>
          <a:bodyPr wrap="square" lIns="0" tIns="0" rIns="0" bIns="0" rtlCol="0" anchor="ctr"/>
          <a:lstStyle/>
          <a:p>
            <a:pPr algn="ctr" indent="0" marL="0">
              <a:buNone/>
            </a:pPr>
            <a:r>
              <a:rPr lang="en-US" sz="1000" dirty="0">
                <a:solidFill>
                  <a:srgbClr val="F4B942"/>
                </a:solidFill>
                <a:latin typeface="IBM Plex Sans" pitchFamily="34" charset="0"/>
                <a:ea typeface="IBM Plex Sans" pitchFamily="34" charset="-122"/>
                <a:cs typeface="IBM Plex Sans" pitchFamily="34" charset="-120"/>
              </a:rPr>
              <a:t>Revise</a:t>
            </a:r>
            <a:endParaRPr lang="en-US" sz="1000" dirty="0"/>
          </a:p>
        </p:txBody>
      </p:sp>
      <p:sp>
        <p:nvSpPr>
          <p:cNvPr id="29" name="Shape 27"/>
          <p:cNvSpPr/>
          <p:nvPr/>
        </p:nvSpPr>
        <p:spPr>
          <a:xfrm>
            <a:off x="10753344" y="3986784"/>
            <a:ext cx="987552" cy="484632"/>
          </a:xfrm>
          <a:prstGeom prst="roundRect">
            <a:avLst>
              <a:gd name="adj" fmla="val 18868"/>
            </a:avLst>
          </a:prstGeom>
          <a:solidFill>
            <a:srgbClr val="FFFFFF"/>
          </a:solidFill>
          <a:ln w="15875">
            <a:solidFill>
              <a:srgbClr val="E2574C"/>
            </a:solidFill>
            <a:prstDash val="solid"/>
          </a:ln>
        </p:spPr>
      </p:sp>
      <p:sp>
        <p:nvSpPr>
          <p:cNvPr id="30" name="Text 28"/>
          <p:cNvSpPr txBox="1"/>
          <p:nvPr/>
        </p:nvSpPr>
        <p:spPr>
          <a:xfrm>
            <a:off x="10753344" y="3986784"/>
            <a:ext cx="987552" cy="484632"/>
          </a:xfrm>
          <a:prstGeom prst="rect">
            <a:avLst/>
          </a:prstGeom>
          <a:noFill/>
          <a:ln/>
        </p:spPr>
        <p:txBody>
          <a:bodyPr wrap="square" lIns="0" tIns="0" rIns="0" bIns="0" rtlCol="0" anchor="ctr"/>
          <a:lstStyle/>
          <a:p>
            <a:pPr algn="ctr" indent="0" marL="0">
              <a:buNone/>
            </a:pPr>
            <a:r>
              <a:rPr lang="en-US" sz="1000" dirty="0">
                <a:solidFill>
                  <a:srgbClr val="E2574C"/>
                </a:solidFill>
                <a:latin typeface="IBM Plex Sans" pitchFamily="34" charset="0"/>
                <a:ea typeface="IBM Plex Sans" pitchFamily="34" charset="-122"/>
                <a:cs typeface="IBM Plex Sans" pitchFamily="34" charset="-120"/>
              </a:rPr>
              <a:t>Focus here</a:t>
            </a:r>
            <a:endParaRPr lang="en-US" sz="1000" dirty="0"/>
          </a:p>
        </p:txBody>
      </p:sp>
      <p:sp>
        <p:nvSpPr>
          <p:cNvPr id="31" name="Text 29"/>
          <p:cNvSpPr txBox="1"/>
          <p:nvPr/>
        </p:nvSpPr>
        <p:spPr>
          <a:xfrm>
            <a:off x="502920" y="5074920"/>
            <a:ext cx="11155680" cy="548640"/>
          </a:xfrm>
          <a:prstGeom prst="rect">
            <a:avLst/>
          </a:prstGeom>
          <a:noFill/>
          <a:ln/>
        </p:spPr>
        <p:txBody>
          <a:bodyPr wrap="square" lIns="0" tIns="0" rIns="0" bIns="0" rtlCol="0" anchor="ctr"/>
          <a:lstStyle/>
          <a:p>
            <a:pPr indent="0" marL="0">
              <a:buNone/>
            </a:pPr>
            <a:r>
              <a:rPr lang="en-US" sz="1500" dirty="0">
                <a:solidFill>
                  <a:srgbClr val="667085"/>
                </a:solidFill>
                <a:latin typeface="IBM Plex Sans" pitchFamily="34" charset="0"/>
                <a:ea typeface="IBM Plex Sans" pitchFamily="34" charset="-122"/>
                <a:cs typeface="IBM Plex Sans" pitchFamily="34" charset="-120"/>
              </a:rPr>
              <a:t>Anything marked Focus here: reopen Chance machine and use review mode on the questions you got wrong.</a:t>
            </a:r>
            <a:endParaRPr lang="en-US" sz="15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15</Slides>
  <Notes>15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15</vt:i4>
      </vt:variant>
    </vt:vector>
  </HeadingPairs>
  <TitlesOfParts>
    <vt:vector size="1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vector>
  </TitlesOfParts>
  <Company>Revise 360 Ltd</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2.2 Programming fundamentals  |  Lesson 6 — Chance machine</dc:title>
  <dc:subject>OCR J277 GCSE Computer Science</dc:subject>
  <dc:creator>Revise 360 Ltd</dc:creator>
  <cp:lastModifiedBy>Revise 360 Ltd</cp:lastModifiedBy>
  <cp:revision>1</cp:revision>
  <dcterms:created xsi:type="dcterms:W3CDTF">2026-10-03T17:08:50Z</dcterms:created>
  <dcterms:modified xsi:type="dcterms:W3CDTF">2026-10-03T17:08:50Z</dcterms:modified>
</cp:coreProperties>
</file>