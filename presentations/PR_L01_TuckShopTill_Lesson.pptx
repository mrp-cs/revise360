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Lesson 1: Tuck shop till.
Open the experience at revise360.co.uk and hand out PR_L01_TuckShopTill_Worksheet.docx.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Share the objectives, then go straight into the starter. Devices stay away for the first five minutes.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Silent start. Take two or three answers before moving on: this is where misconceptions surface.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Insist on writing before tapping. That single rule is the difference between revision and a quiz game.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Station 1: Printing output. Students read this wall in the experience, write the key fact and the challenge answer, then answer the questions at the badge.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Station 2: Variables. Students read this wall in the experience, write the key fact and the challenge answer, then answer the questions at the badge.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Station 3: Reading input. Students read this wall in the experience, write the key fact and the challenge answer, then answer the questions at the badge.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Station 4: Numbers and text. Students read this wall in the experience, write the key fact and the challenge answer, then answer the questions at the badge.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Station 5: Casting. Students read this wall in the experience, write the key fact and the challenge answer, then answer the questions at the badge.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Station 6: Putting it together. Students read this wall in the experience, write the key fact and the challenge answer, then answer the questions at the badge.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Make them commit to an answer on paper before they tap the star. Guessing first costs them the learning.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these as a settler, or as something for early finishers to read in the experience.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Timed and silent. Mark against the answer sheet, then ask students to record their weakest area.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Students copy their score-screen breakdown onto the worksheet, then rate themselves here.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18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2D63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141732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4B94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Python programming  |  Lesson 1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1920240"/>
            <a:ext cx="10515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Tuck shop till</a:t>
            </a:r>
            <a:endParaRPr lang="en-US" sz="60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3291840"/>
            <a:ext cx="95097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800" dirty="0">
                <a:solidFill>
                  <a:srgbClr val="C7CDD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Every program you will ever write starts here: showing something on the screen, storing a value and asking the user for one. Work the tuck shop till and you will have written your first real programs.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822960" y="4846320"/>
            <a:ext cx="2926080" cy="0"/>
          </a:xfrm>
          <a:prstGeom prst="line">
            <a:avLst/>
          </a:prstGeom>
          <a:noFill/>
          <a:ln w="31750">
            <a:solidFill>
              <a:srgbClr val="2D63F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50292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Revise 360 Python course  |  Beyond the OCR J277 specification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2D63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6236208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Python programming  |  Lesson 1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326880" y="623620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Revise 360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411480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By the end of this lesson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1170432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6708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Why must a program decide the data type of a value before it can do anything useful with it?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1965960"/>
            <a:ext cx="566928" cy="566928"/>
          </a:xfrm>
          <a:prstGeom prst="ellipse">
            <a:avLst/>
          </a:prstGeom>
          <a:solidFill>
            <a:srgbClr val="2D63FF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48640" y="19659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1325880" y="1965960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Know how to print a line of output and store a value in a variable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548640" y="2898648"/>
            <a:ext cx="566928" cy="566928"/>
          </a:xfrm>
          <a:prstGeom prst="ellipse">
            <a:avLst/>
          </a:prstGeom>
          <a:solidFill>
            <a:srgbClr val="2D63FF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48640" y="28986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1325880" y="2898648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Know how to read a value with input() and choose the data type it needs</a:t>
            </a:r>
            <a:endParaRPr lang="en-US" sz="1900" dirty="0"/>
          </a:p>
        </p:txBody>
      </p:sp>
      <p:sp>
        <p:nvSpPr>
          <p:cNvPr id="13" name="Shape 11"/>
          <p:cNvSpPr/>
          <p:nvPr/>
        </p:nvSpPr>
        <p:spPr>
          <a:xfrm>
            <a:off x="548640" y="3831336"/>
            <a:ext cx="566928" cy="566928"/>
          </a:xfrm>
          <a:prstGeom prst="ellipse">
            <a:avLst/>
          </a:prstGeom>
          <a:solidFill>
            <a:srgbClr val="2D63FF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48640" y="383133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1325880" y="3831336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Understand why a value that has been typed in must be cast before it can be calculated with</a:t>
            </a:r>
            <a:endParaRPr lang="en-US" sz="19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5084064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Key words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48640" y="5468112"/>
            <a:ext cx="1188720" cy="40233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2D63F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48640" y="5468112"/>
            <a:ext cx="1188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D63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print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1865376" y="5468112"/>
            <a:ext cx="1627632" cy="40233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2D63F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1865376" y="5468112"/>
            <a:ext cx="16276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D63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Variable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621024" y="5468112"/>
            <a:ext cx="1188720" cy="40233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2D63FF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3621024" y="5468112"/>
            <a:ext cx="1188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D63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input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937760" y="5468112"/>
            <a:ext cx="1335024" cy="40233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2D63FF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4937760" y="5468112"/>
            <a:ext cx="133502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D63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String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400800" y="5468112"/>
            <a:ext cx="1481328" cy="40233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2D63FF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400800" y="5468112"/>
            <a:ext cx="14813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D63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Integer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8010144" y="5468112"/>
            <a:ext cx="1481328" cy="40233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2D63FF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8010144" y="5468112"/>
            <a:ext cx="14813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D63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Casting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2D63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6236208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Python programming  |  Lesson 1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326880" y="623620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Revise 360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02920" y="457200"/>
            <a:ext cx="2103120" cy="457200"/>
          </a:xfrm>
          <a:prstGeom prst="roundRect">
            <a:avLst>
              <a:gd name="adj" fmla="val 20000"/>
            </a:avLst>
          </a:prstGeom>
          <a:solidFill>
            <a:srgbClr val="F4B94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02920" y="45720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182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STARTER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2788920" y="45720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708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Five minutes, on paper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02920" y="1234440"/>
            <a:ext cx="11155680" cy="320040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 w="15875">
            <a:solidFill>
              <a:srgbClr val="2D63F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005840" y="1645920"/>
            <a:ext cx="101498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26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Three lines run in this order: price = 40, then price = 65, then print(price). Write down exactly what is printed, and explain in one sentence what became of the first value.</a:t>
            </a:r>
            <a:endParaRPr lang="en-US" sz="2600" dirty="0"/>
          </a:p>
        </p:txBody>
      </p:sp>
      <p:sp>
        <p:nvSpPr>
          <p:cNvPr id="10" name="Text 8"/>
          <p:cNvSpPr txBox="1"/>
          <p:nvPr/>
        </p:nvSpPr>
        <p:spPr>
          <a:xfrm>
            <a:off x="502920" y="4709160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6708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No devices yet. Write your answer on the worksheet before anyone talks.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2D63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6236208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Python programming  |  Lesson 1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326880" y="623620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Revise 360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411480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Into the experience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1170432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6708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Open Tuck shop till on revise360.co.uk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1874520"/>
            <a:ext cx="566928" cy="566928"/>
          </a:xfrm>
          <a:prstGeom prst="ellipse">
            <a:avLst/>
          </a:prstGeom>
          <a:solidFill>
            <a:srgbClr val="08A6A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48640" y="18745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1325880" y="1856232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Look around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1325880" y="2148840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6708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Six numbered stations are arranged around you. Turn right for 1 and 2, around for 3 and 4, left for 5 and 6.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48640" y="2898648"/>
            <a:ext cx="566928" cy="566928"/>
          </a:xfrm>
          <a:prstGeom prst="ellipse">
            <a:avLst/>
          </a:prstGeom>
          <a:solidFill>
            <a:srgbClr val="08A6A6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48640" y="28986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1325880" y="288036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Plan before you type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1325880" y="3172968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6708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Read the task and its brief. Work out the inputs, what happens to them, and exactly what is printed.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48640" y="3922776"/>
            <a:ext cx="566928" cy="566928"/>
          </a:xfrm>
          <a:prstGeom prst="ellipse">
            <a:avLst/>
          </a:prstGeom>
          <a:solidFill>
            <a:srgbClr val="08A6A6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548640" y="392277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1325880" y="3904488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Write it and run it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1325880" y="4197096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6708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Type the program in the editor and press Run to see what it does. Then press Check to mark it against the tests.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48640" y="4946904"/>
            <a:ext cx="566928" cy="566928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548640" y="494690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4</a:t>
            </a:r>
            <a:endParaRPr lang="en-US" sz="2000" dirty="0"/>
          </a:p>
        </p:txBody>
      </p:sp>
      <p:sp>
        <p:nvSpPr>
          <p:cNvPr id="21" name="Text 19"/>
          <p:cNvSpPr txBox="1"/>
          <p:nvPr/>
        </p:nvSpPr>
        <p:spPr>
          <a:xfrm>
            <a:off x="1325880" y="4928616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Read the failures</a:t>
            </a:r>
            <a:endParaRPr lang="en-US" sz="1700" dirty="0"/>
          </a:p>
        </p:txBody>
      </p:sp>
      <p:sp>
        <p:nvSpPr>
          <p:cNvPr id="22" name="Text 20"/>
          <p:cNvSpPr txBox="1"/>
          <p:nvPr/>
        </p:nvSpPr>
        <p:spPr>
          <a:xfrm>
            <a:off x="1325880" y="5221224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6708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test that fails tells you what was expected and what came out. Fix and run it again - that is what programmers do.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2D63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6236208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Python programming  |  Lesson 1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326880" y="623620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Revise 360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8321040" y="623620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D9DEE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Station 1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02920" y="438912"/>
            <a:ext cx="566928" cy="566928"/>
          </a:xfrm>
          <a:prstGeom prst="ellipse">
            <a:avLst/>
          </a:prstGeom>
          <a:solidFill>
            <a:srgbClr val="2D63F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02920" y="43891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1234440" y="411480"/>
            <a:ext cx="10424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Printing output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502920" y="1280160"/>
            <a:ext cx="7040880" cy="3246120"/>
          </a:xfrm>
          <a:prstGeom prst="roundRect">
            <a:avLst>
              <a:gd name="adj" fmla="val 3380"/>
            </a:avLst>
          </a:prstGeom>
          <a:solidFill>
            <a:srgbClr val="FFFFFF"/>
          </a:solidFill>
          <a:ln w="15875">
            <a:solidFill>
              <a:srgbClr val="D9DEE7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914400" y="1600200"/>
            <a:ext cx="63093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print() shows a value on the screen and then moves down to the next line.</a:t>
            </a:r>
            <a:endParaRPr lang="en-US" sz="170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Text to be printed exactly goes inside quotes, and one print() gives one line of output.</a:t>
            </a:r>
            <a:endParaRPr lang="en-US" sz="170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Mistake: leaving the quotes off, so Python hunts for a variable with that name instead.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7818120" y="1280160"/>
            <a:ext cx="3840480" cy="3246120"/>
          </a:xfrm>
          <a:prstGeom prst="roundRect">
            <a:avLst>
              <a:gd name="adj" fmla="val 3380"/>
            </a:avLst>
          </a:prstGeom>
          <a:solidFill>
            <a:srgbClr val="FFFFFF"/>
          </a:solidFill>
          <a:ln w="15875">
            <a:solidFill>
              <a:srgbClr val="F4B94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183880" y="15087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CHALLENGE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8183880" y="1874520"/>
            <a:ext cx="31546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Why does Python treat Juice and "Juice" as two completely different things?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02920" y="4754880"/>
            <a:ext cx="11155680" cy="777240"/>
          </a:xfrm>
          <a:prstGeom prst="roundRect">
            <a:avLst>
              <a:gd name="adj" fmla="val 11765"/>
            </a:avLst>
          </a:prstGeom>
          <a:solidFill>
            <a:srgbClr val="EEF2FB"/>
          </a:solidFill>
          <a:ln w="12700">
            <a:solidFill>
              <a:srgbClr val="2D63F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14400" y="4754880"/>
            <a:ext cx="10332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63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On your worksheet:  </a:t>
            </a:r>
            <a:pPr indent="0" marL="0">
              <a:buNone/>
            </a:pPr>
            <a:r>
              <a:rPr lang="en-US" sz="16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Printing one line of text is still the first program most programmers ever write.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2D63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6236208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Python programming  |  Lesson 1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326880" y="623620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Revise 360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8321040" y="623620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D9DEE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Station 2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02920" y="438912"/>
            <a:ext cx="566928" cy="566928"/>
          </a:xfrm>
          <a:prstGeom prst="ellipse">
            <a:avLst/>
          </a:prstGeom>
          <a:solidFill>
            <a:srgbClr val="2D63F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02920" y="43891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1234440" y="411480"/>
            <a:ext cx="10424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Variables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502920" y="1280160"/>
            <a:ext cx="7040880" cy="3246120"/>
          </a:xfrm>
          <a:prstGeom prst="roundRect">
            <a:avLst>
              <a:gd name="adj" fmla="val 3380"/>
            </a:avLst>
          </a:prstGeom>
          <a:solidFill>
            <a:srgbClr val="FFFFFF"/>
          </a:solidFill>
          <a:ln w="15875">
            <a:solidFill>
              <a:srgbClr val="D9DEE7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914400" y="1600200"/>
            <a:ext cx="63093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variable is a named box in memory holding one value you can use again later.</a:t>
            </a:r>
            <a:endParaRPr lang="en-US" sz="170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name = value stores it, and the name always goes on the left of the equals sign.</a:t>
            </a:r>
            <a:endParaRPr lang="en-US" sz="170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Mistake: a second assignment replaces the value, it does not add to it.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7818120" y="1280160"/>
            <a:ext cx="3840480" cy="3246120"/>
          </a:xfrm>
          <a:prstGeom prst="roundRect">
            <a:avLst>
              <a:gd name="adj" fmla="val 3380"/>
            </a:avLst>
          </a:prstGeom>
          <a:solidFill>
            <a:srgbClr val="FFFFFF"/>
          </a:solidFill>
          <a:ln w="15875">
            <a:solidFill>
              <a:srgbClr val="F4B94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183880" y="15087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CHALLENGE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8183880" y="1874520"/>
            <a:ext cx="31546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Name two values the till has to remember while it is running.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02920" y="4754880"/>
            <a:ext cx="11155680" cy="777240"/>
          </a:xfrm>
          <a:prstGeom prst="roundRect">
            <a:avLst>
              <a:gd name="adj" fmla="val 11765"/>
            </a:avLst>
          </a:prstGeom>
          <a:solidFill>
            <a:srgbClr val="EEF2FB"/>
          </a:solidFill>
          <a:ln w="12700">
            <a:solidFill>
              <a:srgbClr val="2D63F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14400" y="4754880"/>
            <a:ext cx="10332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63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On your worksheet:  </a:t>
            </a:r>
            <a:pPr indent="0" marL="0">
              <a:buNone/>
            </a:pPr>
            <a:r>
              <a:rPr lang="en-US" sz="16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 programming = means 'put this in here', not 'is the same as'.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2D63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6236208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Python programming  |  Lesson 1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326880" y="623620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Revise 360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8321040" y="623620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D9DEE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Station 3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02920" y="438912"/>
            <a:ext cx="566928" cy="566928"/>
          </a:xfrm>
          <a:prstGeom prst="ellipse">
            <a:avLst/>
          </a:prstGeom>
          <a:solidFill>
            <a:srgbClr val="2D63F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02920" y="43891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1234440" y="411480"/>
            <a:ext cx="10424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Reading input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502920" y="1280160"/>
            <a:ext cx="7040880" cy="3246120"/>
          </a:xfrm>
          <a:prstGeom prst="roundRect">
            <a:avLst>
              <a:gd name="adj" fmla="val 3380"/>
            </a:avLst>
          </a:prstGeom>
          <a:solidFill>
            <a:srgbClr val="FFFFFF"/>
          </a:solidFill>
          <a:ln w="15875">
            <a:solidFill>
              <a:srgbClr val="D9DEE7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914400" y="1600200"/>
            <a:ext cx="63093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input() stops the program, waits for a line to be typed and hands that line back.</a:t>
            </a:r>
            <a:endParaRPr lang="en-US" sz="170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Store what comes back in a variable, or the value the user typed is thrown away.</a:t>
            </a:r>
            <a:endParaRPr lang="en-US" sz="170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Mistake: forgetting that input() always gives text, even when digits were typed.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7818120" y="1280160"/>
            <a:ext cx="3840480" cy="3246120"/>
          </a:xfrm>
          <a:prstGeom prst="roundRect">
            <a:avLst>
              <a:gd name="adj" fmla="val 3380"/>
            </a:avLst>
          </a:prstGeom>
          <a:solidFill>
            <a:srgbClr val="FFFFFF"/>
          </a:solidFill>
          <a:ln w="15875">
            <a:solidFill>
              <a:srgbClr val="F4B94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183880" y="15087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CHALLENGE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8183880" y="1874520"/>
            <a:ext cx="31546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What is the difference between printing a prompt and reading the reply?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02920" y="4754880"/>
            <a:ext cx="11155680" cy="777240"/>
          </a:xfrm>
          <a:prstGeom prst="roundRect">
            <a:avLst>
              <a:gd name="adj" fmla="val 11765"/>
            </a:avLst>
          </a:prstGeom>
          <a:solidFill>
            <a:srgbClr val="EEF2FB"/>
          </a:solidFill>
          <a:ln w="12700">
            <a:solidFill>
              <a:srgbClr val="2D63F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14400" y="4754880"/>
            <a:ext cx="10332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63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On your worksheet:  </a:t>
            </a:r>
            <a:pPr indent="0" marL="0">
              <a:buNone/>
            </a:pPr>
            <a:r>
              <a:rPr lang="en-US" sz="16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input() is patient: a program will sit on that line for as long as it takes.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2D63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6236208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Python programming  |  Lesson 1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326880" y="623620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Revise 360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8321040" y="623620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D9DEE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Station 4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02920" y="438912"/>
            <a:ext cx="566928" cy="566928"/>
          </a:xfrm>
          <a:prstGeom prst="ellipse">
            <a:avLst/>
          </a:prstGeom>
          <a:solidFill>
            <a:srgbClr val="2D63F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02920" y="43891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4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1234440" y="411480"/>
            <a:ext cx="10424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Numbers and text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502920" y="1280160"/>
            <a:ext cx="7040880" cy="3246120"/>
          </a:xfrm>
          <a:prstGeom prst="roundRect">
            <a:avLst>
              <a:gd name="adj" fmla="val 3380"/>
            </a:avLst>
          </a:prstGeom>
          <a:solidFill>
            <a:srgbClr val="FFFFFF"/>
          </a:solidFill>
          <a:ln w="15875">
            <a:solidFill>
              <a:srgbClr val="D9DEE7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914400" y="1600200"/>
            <a:ext cx="63093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Integers count whole things, floats hold decimals, strings hold text and booleans hold True or False.</a:t>
            </a:r>
            <a:endParaRPr lang="en-US" sz="170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+ adds two numbers but joins two strings, so the data type decides what happens.</a:t>
            </a:r>
            <a:endParaRPr lang="en-US" sz="170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Mistake: joining a number to a string with +, which Python refuses to do.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7818120" y="1280160"/>
            <a:ext cx="3840480" cy="3246120"/>
          </a:xfrm>
          <a:prstGeom prst="roundRect">
            <a:avLst>
              <a:gd name="adj" fmla="val 3380"/>
            </a:avLst>
          </a:prstGeom>
          <a:solidFill>
            <a:srgbClr val="FFFFFF"/>
          </a:solidFill>
          <a:ln w="15875">
            <a:solidFill>
              <a:srgbClr val="F4B94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183880" y="15087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CHALLENGE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8183880" y="1874520"/>
            <a:ext cx="31546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Which data type would you choose for a library fine of 1.50, and why?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02920" y="4754880"/>
            <a:ext cx="11155680" cy="777240"/>
          </a:xfrm>
          <a:prstGeom prst="roundRect">
            <a:avLst>
              <a:gd name="adj" fmla="val 11765"/>
            </a:avLst>
          </a:prstGeom>
          <a:solidFill>
            <a:srgbClr val="EEF2FB"/>
          </a:solidFill>
          <a:ln w="12700">
            <a:solidFill>
              <a:srgbClr val="2D63F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14400" y="4754880"/>
            <a:ext cx="10332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63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On your worksheet:  </a:t>
            </a:r>
            <a:pPr indent="0" marL="0">
              <a:buNone/>
            </a:pPr>
            <a:r>
              <a:rPr lang="en-US" sz="16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Joining strings end to end has its own name: concatenation.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2D63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6236208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Python programming  |  Lesson 1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326880" y="623620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Revise 360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8321040" y="623620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D9DEE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Station 5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02920" y="438912"/>
            <a:ext cx="566928" cy="566928"/>
          </a:xfrm>
          <a:prstGeom prst="ellipse">
            <a:avLst/>
          </a:prstGeom>
          <a:solidFill>
            <a:srgbClr val="2D63F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02920" y="43891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5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1234440" y="411480"/>
            <a:ext cx="10424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Casting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502920" y="1280160"/>
            <a:ext cx="7040880" cy="3246120"/>
          </a:xfrm>
          <a:prstGeom prst="roundRect">
            <a:avLst>
              <a:gd name="adj" fmla="val 3380"/>
            </a:avLst>
          </a:prstGeom>
          <a:solidFill>
            <a:srgbClr val="FFFFFF"/>
          </a:solidFill>
          <a:ln w="15875">
            <a:solidFill>
              <a:srgbClr val="D9DEE7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914400" y="1600200"/>
            <a:ext cx="63093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Casting changes a value from one data type into another.</a:t>
            </a:r>
            <a:endParaRPr lang="en-US" sz="170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int() and float() turn text into a number, and str() turns a number into text.</a:t>
            </a:r>
            <a:endParaRPr lang="en-US" sz="170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Mistake: casting with int() before checking the text really is a whole number.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7818120" y="1280160"/>
            <a:ext cx="3840480" cy="3246120"/>
          </a:xfrm>
          <a:prstGeom prst="roundRect">
            <a:avLst>
              <a:gd name="adj" fmla="val 3380"/>
            </a:avLst>
          </a:prstGeom>
          <a:solidFill>
            <a:srgbClr val="FFFFFF"/>
          </a:solidFill>
          <a:ln w="15875">
            <a:solidFill>
              <a:srgbClr val="F4B94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183880" y="15087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CHALLENGE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8183880" y="1874520"/>
            <a:ext cx="31546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Why does int(input()) appear in so many programs?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02920" y="4754880"/>
            <a:ext cx="11155680" cy="777240"/>
          </a:xfrm>
          <a:prstGeom prst="roundRect">
            <a:avLst>
              <a:gd name="adj" fmla="val 11765"/>
            </a:avLst>
          </a:prstGeom>
          <a:solidFill>
            <a:srgbClr val="EEF2FB"/>
          </a:solidFill>
          <a:ln w="12700">
            <a:solidFill>
              <a:srgbClr val="2D63F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14400" y="4754880"/>
            <a:ext cx="10332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63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On your worksheet:  </a:t>
            </a:r>
            <a:pPr indent="0" marL="0">
              <a:buNone/>
            </a:pPr>
            <a:r>
              <a:rPr lang="en-US" sz="16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Cast is borrowed from metalwork: the value is poured into a new shape.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2D63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6236208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Python programming  |  Lesson 1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326880" y="623620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Revise 360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8321040" y="623620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D9DEE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Station 6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02920" y="438912"/>
            <a:ext cx="566928" cy="566928"/>
          </a:xfrm>
          <a:prstGeom prst="ellipse">
            <a:avLst/>
          </a:prstGeom>
          <a:solidFill>
            <a:srgbClr val="2D63F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02920" y="43891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6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1234440" y="411480"/>
            <a:ext cx="10424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Putting it together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502920" y="1280160"/>
            <a:ext cx="7040880" cy="3246120"/>
          </a:xfrm>
          <a:prstGeom prst="roundRect">
            <a:avLst>
              <a:gd name="adj" fmla="val 3380"/>
            </a:avLst>
          </a:prstGeom>
          <a:solidFill>
            <a:srgbClr val="FFFFFF"/>
          </a:solidFill>
          <a:ln w="15875">
            <a:solidFill>
              <a:srgbClr val="D9DEE7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914400" y="1600200"/>
            <a:ext cx="63093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Real programs read several values, work something out and print a tidy report.</a:t>
            </a:r>
            <a:endParaRPr lang="en-US" sz="170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Decide the data type each value needs before you write a single line.</a:t>
            </a:r>
            <a:endParaRPr lang="en-US" sz="170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Mistake: printing the lines in a different order from the one the task asked for.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7818120" y="1280160"/>
            <a:ext cx="3840480" cy="3246120"/>
          </a:xfrm>
          <a:prstGeom prst="roundRect">
            <a:avLst>
              <a:gd name="adj" fmla="val 3380"/>
            </a:avLst>
          </a:prstGeom>
          <a:solidFill>
            <a:srgbClr val="FFFFFF"/>
          </a:solidFill>
          <a:ln w="15875">
            <a:solidFill>
              <a:srgbClr val="F4B94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183880" y="15087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CHALLENGE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8183880" y="1874520"/>
            <a:ext cx="31546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Plan the inputs, the variables and the output lines of a competitor card.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02920" y="4754880"/>
            <a:ext cx="11155680" cy="777240"/>
          </a:xfrm>
          <a:prstGeom prst="roundRect">
            <a:avLst>
              <a:gd name="adj" fmla="val 11765"/>
            </a:avLst>
          </a:prstGeom>
          <a:solidFill>
            <a:srgbClr val="EEF2FB"/>
          </a:solidFill>
          <a:ln w="12700">
            <a:solidFill>
              <a:srgbClr val="2D63F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14400" y="4754880"/>
            <a:ext cx="10332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63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On your worksheet:  </a:t>
            </a:r>
            <a:pPr indent="0" marL="0">
              <a:buNone/>
            </a:pPr>
            <a:r>
              <a:rPr lang="en-US" sz="16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Input, process, output is such a common pattern that it has its own initials: IPO.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2D63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6236208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Python programming  |  Lesson 1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326880" y="623620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Revise 360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02920" y="438912"/>
            <a:ext cx="3108960" cy="502920"/>
          </a:xfrm>
          <a:prstGeom prst="roundRect">
            <a:avLst>
              <a:gd name="adj" fmla="val 18182"/>
            </a:avLst>
          </a:prstGeom>
          <a:solidFill>
            <a:srgbClr val="F4B94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02920" y="438912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182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★  FINAL CHALLENGE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502920" y="1097280"/>
            <a:ext cx="11155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Name the data type</a:t>
            </a:r>
            <a:endParaRPr lang="en-US" sz="3400" dirty="0"/>
          </a:p>
        </p:txBody>
      </p:sp>
      <p:sp>
        <p:nvSpPr>
          <p:cNvPr id="8" name="Shape 6"/>
          <p:cNvSpPr/>
          <p:nvPr/>
        </p:nvSpPr>
        <p:spPr>
          <a:xfrm>
            <a:off x="502920" y="2011680"/>
            <a:ext cx="11155680" cy="2194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2D63F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005840" y="2331720"/>
            <a:ext cx="101498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22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Eight values have come through the till. Tap the star and sort each one into the data type Python would store it as.</a:t>
            </a:r>
            <a:endParaRPr lang="en-US" sz="2200" dirty="0"/>
          </a:p>
        </p:txBody>
      </p:sp>
      <p:sp>
        <p:nvSpPr>
          <p:cNvPr id="10" name="Text 8"/>
          <p:cNvSpPr txBox="1"/>
          <p:nvPr/>
        </p:nvSpPr>
        <p:spPr>
          <a:xfrm>
            <a:off x="502920" y="4526280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6708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Predict on paper first, then look down and test it.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2D63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6236208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Python programming  |  Lesson 1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326880" y="623620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Revise 360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411480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Worth knowing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1170432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6708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information markers dotted around the room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02920" y="1828800"/>
            <a:ext cx="5394960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5875">
            <a:solidFill>
              <a:srgbClr val="2D63F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22960" y="201168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63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first line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2395728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6708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Printing a greeting has been the traditional first program in a new language since the 1970s.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217920" y="1828800"/>
            <a:ext cx="5394960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5875">
            <a:solidFill>
              <a:srgbClr val="08A6A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537960" y="201168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8A6A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Naming rules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6537960" y="2395728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6708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Python variable name can hold letters, digits and underscores, but it cannot start with a digit or contain a space.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02920" y="3794760"/>
            <a:ext cx="5394960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5875">
            <a:solidFill>
              <a:srgbClr val="2D63F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22960" y="397764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63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Why it waits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822960" y="4361688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6708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input() reads one whole line, so the program only carries on once the Enter key has been pressed.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217920" y="3794760"/>
            <a:ext cx="5394960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5875">
            <a:solidFill>
              <a:srgbClr val="08A6A6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537960" y="397764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8A6A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One bit each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6537960" y="4361688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6708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boolean has only two possible values, so it needs just one bit of storage - the smallest piece of data there is.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2D63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6236208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Python programming  |  Lesson 1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326880" y="623620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Revise 360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411480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Exam practice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1170432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6708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Devices away. Answer from memory on the worksheet.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02920" y="1828800"/>
            <a:ext cx="11155680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D9DEE7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14400" y="1938528"/>
            <a:ext cx="941832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7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pupil writes two lines to add a 50p bag charge to a price that has been typed in: price = input('Price: ') and then print(price + 50). State what Python does when this runs, and rewrite the two lines so they work.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10515600" y="2130552"/>
            <a:ext cx="868680" cy="493776"/>
          </a:xfrm>
          <a:prstGeom prst="roundRect">
            <a:avLst>
              <a:gd name="adj" fmla="val 18519"/>
            </a:avLst>
          </a:prstGeom>
          <a:solidFill>
            <a:srgbClr val="EEF2FB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0515600" y="2130552"/>
            <a:ext cx="8686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D63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[3]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02920" y="3127248"/>
            <a:ext cx="11155680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D9DEE7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14400" y="3236976"/>
            <a:ext cx="941832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7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Write a program that reads a pupil's name and the number of library books they are holding, then prints one line giving the name and how many of their 6 allowed books are still free.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10515600" y="3429000"/>
            <a:ext cx="868680" cy="493776"/>
          </a:xfrm>
          <a:prstGeom prst="roundRect">
            <a:avLst>
              <a:gd name="adj" fmla="val 18519"/>
            </a:avLst>
          </a:prstGeom>
          <a:solidFill>
            <a:srgbClr val="EEF2FB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10515600" y="3429000"/>
            <a:ext cx="8686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D63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[4]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502920" y="4425696"/>
            <a:ext cx="11155680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D9DEE7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914400" y="4535424"/>
            <a:ext cx="941832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7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Write a program that reads the price of one pencil in pence and how many pencils are bought, then prints the total cost in pence.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10515600" y="4727448"/>
            <a:ext cx="868680" cy="493776"/>
          </a:xfrm>
          <a:prstGeom prst="roundRect">
            <a:avLst>
              <a:gd name="adj" fmla="val 18519"/>
            </a:avLst>
          </a:prstGeom>
          <a:solidFill>
            <a:srgbClr val="EEF2FB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10515600" y="4727448"/>
            <a:ext cx="8686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D63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[3]</a:t>
            </a: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2D63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6236208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Python programming  |  Lesson 1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326880" y="623620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Revise 360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411480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Before you go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1170432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6708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Rate yourself on each of these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02920" y="1920240"/>
            <a:ext cx="7863840" cy="777240"/>
          </a:xfrm>
          <a:prstGeom prst="roundRect">
            <a:avLst>
              <a:gd name="adj" fmla="val 14118"/>
            </a:avLst>
          </a:prstGeom>
          <a:solidFill>
            <a:srgbClr val="FFFFFF"/>
          </a:solidFill>
          <a:ln w="15875">
            <a:solidFill>
              <a:srgbClr val="D9DEE7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14400" y="1920240"/>
            <a:ext cx="7132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Printing output and storing a value in a variable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8595360" y="2066544"/>
            <a:ext cx="987552" cy="484632"/>
          </a:xfrm>
          <a:prstGeom prst="roundRect">
            <a:avLst>
              <a:gd name="adj" fmla="val 18868"/>
            </a:avLst>
          </a:prstGeom>
          <a:solidFill>
            <a:srgbClr val="FFFFFF"/>
          </a:solidFill>
          <a:ln w="15875">
            <a:solidFill>
              <a:srgbClr val="08A6A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595360" y="2066544"/>
            <a:ext cx="987552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8A6A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Secure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9674352" y="2066544"/>
            <a:ext cx="987552" cy="484632"/>
          </a:xfrm>
          <a:prstGeom prst="roundRect">
            <a:avLst>
              <a:gd name="adj" fmla="val 18868"/>
            </a:avLst>
          </a:prstGeom>
          <a:solidFill>
            <a:srgbClr val="FFFFFF"/>
          </a:solidFill>
          <a:ln w="15875">
            <a:solidFill>
              <a:srgbClr val="F4B94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674352" y="2066544"/>
            <a:ext cx="987552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4B94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Revise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0753344" y="2066544"/>
            <a:ext cx="987552" cy="484632"/>
          </a:xfrm>
          <a:prstGeom prst="roundRect">
            <a:avLst>
              <a:gd name="adj" fmla="val 18868"/>
            </a:avLst>
          </a:prstGeom>
          <a:solidFill>
            <a:srgbClr val="FFFFFF"/>
          </a:solidFill>
          <a:ln w="15875">
            <a:solidFill>
              <a:srgbClr val="E2574C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0753344" y="2066544"/>
            <a:ext cx="987552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2574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Focus here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02920" y="2880360"/>
            <a:ext cx="7863840" cy="777240"/>
          </a:xfrm>
          <a:prstGeom prst="roundRect">
            <a:avLst>
              <a:gd name="adj" fmla="val 14118"/>
            </a:avLst>
          </a:prstGeom>
          <a:solidFill>
            <a:srgbClr val="FFFFFF"/>
          </a:solidFill>
          <a:ln w="15875">
            <a:solidFill>
              <a:srgbClr val="D9DEE7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914400" y="2880360"/>
            <a:ext cx="7132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Reading input and choosing its data type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8595360" y="3026664"/>
            <a:ext cx="987552" cy="484632"/>
          </a:xfrm>
          <a:prstGeom prst="roundRect">
            <a:avLst>
              <a:gd name="adj" fmla="val 18868"/>
            </a:avLst>
          </a:prstGeom>
          <a:solidFill>
            <a:srgbClr val="FFFFFF"/>
          </a:solidFill>
          <a:ln w="15875">
            <a:solidFill>
              <a:srgbClr val="08A6A6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595360" y="3026664"/>
            <a:ext cx="987552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8A6A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Secure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9674352" y="3026664"/>
            <a:ext cx="987552" cy="484632"/>
          </a:xfrm>
          <a:prstGeom prst="roundRect">
            <a:avLst>
              <a:gd name="adj" fmla="val 18868"/>
            </a:avLst>
          </a:prstGeom>
          <a:solidFill>
            <a:srgbClr val="FFFFFF"/>
          </a:solidFill>
          <a:ln w="15875">
            <a:solidFill>
              <a:srgbClr val="F4B942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9674352" y="3026664"/>
            <a:ext cx="987552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4B94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Revise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0753344" y="3026664"/>
            <a:ext cx="987552" cy="484632"/>
          </a:xfrm>
          <a:prstGeom prst="roundRect">
            <a:avLst>
              <a:gd name="adj" fmla="val 18868"/>
            </a:avLst>
          </a:prstGeom>
          <a:solidFill>
            <a:srgbClr val="FFFFFF"/>
          </a:solidFill>
          <a:ln w="15875">
            <a:solidFill>
              <a:srgbClr val="E2574C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10753344" y="3026664"/>
            <a:ext cx="987552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2574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Focus here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02920" y="3840480"/>
            <a:ext cx="7863840" cy="777240"/>
          </a:xfrm>
          <a:prstGeom prst="roundRect">
            <a:avLst>
              <a:gd name="adj" fmla="val 14118"/>
            </a:avLst>
          </a:prstGeom>
          <a:solidFill>
            <a:srgbClr val="FFFFFF"/>
          </a:solidFill>
          <a:ln w="15875">
            <a:solidFill>
              <a:srgbClr val="D9DEE7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914400" y="3840480"/>
            <a:ext cx="7132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Casting between text and numbers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8595360" y="3986784"/>
            <a:ext cx="987552" cy="484632"/>
          </a:xfrm>
          <a:prstGeom prst="roundRect">
            <a:avLst>
              <a:gd name="adj" fmla="val 18868"/>
            </a:avLst>
          </a:prstGeom>
          <a:solidFill>
            <a:srgbClr val="FFFFFF"/>
          </a:solidFill>
          <a:ln w="15875">
            <a:solidFill>
              <a:srgbClr val="08A6A6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8595360" y="3986784"/>
            <a:ext cx="987552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8A6A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Secure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9674352" y="3986784"/>
            <a:ext cx="987552" cy="484632"/>
          </a:xfrm>
          <a:prstGeom prst="roundRect">
            <a:avLst>
              <a:gd name="adj" fmla="val 18868"/>
            </a:avLst>
          </a:prstGeom>
          <a:solidFill>
            <a:srgbClr val="FFFFFF"/>
          </a:solidFill>
          <a:ln w="15875">
            <a:solidFill>
              <a:srgbClr val="F4B942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9674352" y="3986784"/>
            <a:ext cx="987552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4B94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Revise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0753344" y="3986784"/>
            <a:ext cx="987552" cy="484632"/>
          </a:xfrm>
          <a:prstGeom prst="roundRect">
            <a:avLst>
              <a:gd name="adj" fmla="val 18868"/>
            </a:avLst>
          </a:prstGeom>
          <a:solidFill>
            <a:srgbClr val="FFFFFF"/>
          </a:solidFill>
          <a:ln w="15875">
            <a:solidFill>
              <a:srgbClr val="E2574C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10753344" y="3986784"/>
            <a:ext cx="987552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2574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Focus here</a:t>
            </a:r>
            <a:endParaRPr lang="en-US" sz="1000" dirty="0"/>
          </a:p>
        </p:txBody>
      </p:sp>
      <p:sp>
        <p:nvSpPr>
          <p:cNvPr id="31" name="Text 29"/>
          <p:cNvSpPr txBox="1"/>
          <p:nvPr/>
        </p:nvSpPr>
        <p:spPr>
          <a:xfrm>
            <a:off x="502920" y="5074920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6708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Anything marked Focus here: reopen Tuck shop till and use review mode on the questions you got wrong.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Revise 360 Ltd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Python programming  |  Lesson 1 — Tuck shop till</dc:title>
  <dc:subject>OCR J277 GCSE Computer Science</dc:subject>
  <dc:creator>Revise 360 Ltd</dc:creator>
  <cp:lastModifiedBy>Revise 360 Ltd</cp:lastModifiedBy>
  <cp:revision>1</cp:revision>
  <dcterms:created xsi:type="dcterms:W3CDTF">2026-10-02T05:55:28Z</dcterms:created>
  <dcterms:modified xsi:type="dcterms:W3CDTF">2026-10-02T05:55:28Z</dcterms:modified>
</cp:coreProperties>
</file>