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329e0112d84f22" /><Relationship Type="http://schemas.openxmlformats.org/officeDocument/2006/relationships/extended-properties" Target="/docProps/app.xml" Id="R3d3fdf536bbd46f3" /><Relationship Type="http://schemas.openxmlformats.org/officeDocument/2006/relationships/officeDocument" Target="/ppt/presentation.xml" Id="Rc7924489515747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5ab35ba61248ca"/>
  </p:sldMasterIdLst>
  <p:notesMasterIdLst>
    <p:notesMasterId xmlns:r="http://schemas.openxmlformats.org/officeDocument/2006/relationships" r:id="R1595d9c7d3144420"/>
  </p:notesMasterIdLst>
  <p:sldIdLst>
    <p:sldId xmlns:r="http://schemas.openxmlformats.org/officeDocument/2006/relationships" id="256" r:id="R19a7fdb848ab410d"/>
    <p:sldId xmlns:r="http://schemas.openxmlformats.org/officeDocument/2006/relationships" id="257" r:id="R3d0fe664e7df4b8f"/>
    <p:sldId xmlns:r="http://schemas.openxmlformats.org/officeDocument/2006/relationships" id="258" r:id="R005fabba9ce143f8"/>
    <p:sldId xmlns:r="http://schemas.openxmlformats.org/officeDocument/2006/relationships" id="259" r:id="R4ff200f127e64215"/>
    <p:sldId xmlns:r="http://schemas.openxmlformats.org/officeDocument/2006/relationships" id="260" r:id="R70c78664e1954a6e"/>
    <p:sldId xmlns:r="http://schemas.openxmlformats.org/officeDocument/2006/relationships" id="261" r:id="R4a79a6cffc5a4b77"/>
    <p:sldId xmlns:r="http://schemas.openxmlformats.org/officeDocument/2006/relationships" id="262" r:id="R9832fdb1fbc24511"/>
    <p:sldId xmlns:r="http://schemas.openxmlformats.org/officeDocument/2006/relationships" id="263" r:id="R4e8a3555167a4c69"/>
    <p:sldId xmlns:r="http://schemas.openxmlformats.org/officeDocument/2006/relationships" id="264" r:id="R433d83b0b19140be"/>
    <p:sldId xmlns:r="http://schemas.openxmlformats.org/officeDocument/2006/relationships" id="265" r:id="Rb669a6f1d9414a9b"/>
    <p:sldId xmlns:r="http://schemas.openxmlformats.org/officeDocument/2006/relationships" id="266" r:id="Rc1ee3a5e81ee4b3d"/>
    <p:sldId xmlns:r="http://schemas.openxmlformats.org/officeDocument/2006/relationships" id="267" r:id="Rc95e7adf2cbe4b01"/>
    <p:sldId xmlns:r="http://schemas.openxmlformats.org/officeDocument/2006/relationships" id="268" r:id="R5544de7c11024ebb"/>
    <p:sldId xmlns:r="http://schemas.openxmlformats.org/officeDocument/2006/relationships" id="269" r:id="R71f4ae26404e4ee9"/>
    <p:sldId xmlns:r="http://schemas.openxmlformats.org/officeDocument/2006/relationships" id="270" r:id="R275e9e4af8d0439a"/>
    <p:sldId xmlns:r="http://schemas.openxmlformats.org/officeDocument/2006/relationships" id="271" r:id="Ra0a4fdb73b704d73"/>
    <p:sldId xmlns:r="http://schemas.openxmlformats.org/officeDocument/2006/relationships" id="272" r:id="Rbe75abfadaf647d1"/>
    <p:sldId xmlns:r="http://schemas.openxmlformats.org/officeDocument/2006/relationships" id="273" r:id="R77870b5507be4a42"/>
    <p:sldId xmlns:r="http://schemas.openxmlformats.org/officeDocument/2006/relationships" id="274" r:id="R3cc82376fecc46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ea9865662f42a9" /><Relationship Type="http://schemas.openxmlformats.org/officeDocument/2006/relationships/slideMaster" Target="/ppt/slideMasters/slideMaster1.xml" Id="Rf15ab35ba61248ca" /><Relationship Type="http://schemas.openxmlformats.org/officeDocument/2006/relationships/notesMaster" Target="/ppt/notesMasters/notesMaster1.xml" Id="R1595d9c7d3144420" /><Relationship Type="http://schemas.openxmlformats.org/officeDocument/2006/relationships/presProps" Target="/ppt/presProps.xml" Id="R11cd08186e5f4105" /><Relationship Type="http://schemas.openxmlformats.org/officeDocument/2006/relationships/tableStyles" Target="/ppt/tableStyles.xml" Id="Rf6a8437a987d4445" /><Relationship Type="http://schemas.openxmlformats.org/officeDocument/2006/relationships/slide" Target="/ppt/slides/slide1.xml" Id="R19a7fdb848ab410d" /><Relationship Type="http://schemas.openxmlformats.org/officeDocument/2006/relationships/slide" Target="/ppt/slides/slide2.xml" Id="R3d0fe664e7df4b8f" /><Relationship Type="http://schemas.openxmlformats.org/officeDocument/2006/relationships/slide" Target="/ppt/slides/slide3.xml" Id="R005fabba9ce143f8" /><Relationship Type="http://schemas.openxmlformats.org/officeDocument/2006/relationships/slide" Target="/ppt/slides/slide4.xml" Id="R4ff200f127e64215" /><Relationship Type="http://schemas.openxmlformats.org/officeDocument/2006/relationships/slide" Target="/ppt/slides/slide5.xml" Id="R70c78664e1954a6e" /><Relationship Type="http://schemas.openxmlformats.org/officeDocument/2006/relationships/slide" Target="/ppt/slides/slide6.xml" Id="R4a79a6cffc5a4b77" /><Relationship Type="http://schemas.openxmlformats.org/officeDocument/2006/relationships/slide" Target="/ppt/slides/slide7.xml" Id="R9832fdb1fbc24511" /><Relationship Type="http://schemas.openxmlformats.org/officeDocument/2006/relationships/slide" Target="/ppt/slides/slide8.xml" Id="R4e8a3555167a4c69" /><Relationship Type="http://schemas.openxmlformats.org/officeDocument/2006/relationships/slide" Target="/ppt/slides/slide9.xml" Id="R433d83b0b19140be" /><Relationship Type="http://schemas.openxmlformats.org/officeDocument/2006/relationships/slide" Target="/ppt/slides/slide10.xml" Id="Rb669a6f1d9414a9b" /><Relationship Type="http://schemas.openxmlformats.org/officeDocument/2006/relationships/slide" Target="/ppt/slides/slide11.xml" Id="Rc1ee3a5e81ee4b3d" /><Relationship Type="http://schemas.openxmlformats.org/officeDocument/2006/relationships/slide" Target="/ppt/slides/slide12.xml" Id="Rc95e7adf2cbe4b01" /><Relationship Type="http://schemas.openxmlformats.org/officeDocument/2006/relationships/slide" Target="/ppt/slides/slide13.xml" Id="R5544de7c11024ebb" /><Relationship Type="http://schemas.openxmlformats.org/officeDocument/2006/relationships/slide" Target="/ppt/slides/slide14.xml" Id="R71f4ae26404e4ee9" /><Relationship Type="http://schemas.openxmlformats.org/officeDocument/2006/relationships/slide" Target="/ppt/slides/slide15.xml" Id="R275e9e4af8d0439a" /><Relationship Type="http://schemas.openxmlformats.org/officeDocument/2006/relationships/slide" Target="/ppt/slides/slide16.xml" Id="Ra0a4fdb73b704d73" /><Relationship Type="http://schemas.openxmlformats.org/officeDocument/2006/relationships/slide" Target="/ppt/slides/slide17.xml" Id="Rbe75abfadaf647d1" /><Relationship Type="http://schemas.openxmlformats.org/officeDocument/2006/relationships/slide" Target="/ppt/slides/slide18.xml" Id="R77870b5507be4a42" /><Relationship Type="http://schemas.openxmlformats.org/officeDocument/2006/relationships/slide" Target="/ppt/slides/slide19.xml" Id="R3cc82376fecc46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309cf4aa9f43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44a89e85e24cbe" /><Relationship Type="http://schemas.openxmlformats.org/officeDocument/2006/relationships/notesMaster" Target="/ppt/notesMasters/notesMaster1.xml" Id="R842aec66de3544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856ce99a5e4b1c" /><Relationship Type="http://schemas.openxmlformats.org/officeDocument/2006/relationships/notesMaster" Target="/ppt/notesMasters/notesMaster1.xml" Id="Reedd7115197348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ec53c20fcb4cc6" /><Relationship Type="http://schemas.openxmlformats.org/officeDocument/2006/relationships/notesMaster" Target="/ppt/notesMasters/notesMaster1.xml" Id="Red68ab106b8949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fe9e6a92bf4f90" /><Relationship Type="http://schemas.openxmlformats.org/officeDocument/2006/relationships/notesMaster" Target="/ppt/notesMasters/notesMaster1.xml" Id="R5104827e73494d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69b9f0c988480b" /><Relationship Type="http://schemas.openxmlformats.org/officeDocument/2006/relationships/notesMaster" Target="/ppt/notesMasters/notesMaster1.xml" Id="R0a0d3b6d21814d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e698b8cf1a4a68" /><Relationship Type="http://schemas.openxmlformats.org/officeDocument/2006/relationships/notesMaster" Target="/ppt/notesMasters/notesMaster1.xml" Id="Rf8fb1e3b13114b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b167a94b484cc2" /><Relationship Type="http://schemas.openxmlformats.org/officeDocument/2006/relationships/notesMaster" Target="/ppt/notesMasters/notesMaster1.xml" Id="R28c0003f82cf4a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474c579c044716" /><Relationship Type="http://schemas.openxmlformats.org/officeDocument/2006/relationships/notesMaster" Target="/ppt/notesMasters/notesMaster1.xml" Id="R2baa275d302f4f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0655e3c04848af" /><Relationship Type="http://schemas.openxmlformats.org/officeDocument/2006/relationships/notesMaster" Target="/ppt/notesMasters/notesMaster1.xml" Id="R930807fd0d9741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a630e04b49456d" /><Relationship Type="http://schemas.openxmlformats.org/officeDocument/2006/relationships/notesMaster" Target="/ppt/notesMasters/notesMaster1.xml" Id="R2ed7b1d9b2d043a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c83df1bc6a498a" /><Relationship Type="http://schemas.openxmlformats.org/officeDocument/2006/relationships/notesMaster" Target="/ppt/notesMasters/notesMaster1.xml" Id="Rd3a84854eb2145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f75eb88e5374062" /><Relationship Type="http://schemas.openxmlformats.org/officeDocument/2006/relationships/notesMaster" Target="/ppt/notesMasters/notesMaster1.xml" Id="R72a4b2fa19824e1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77ba46f10ac4da0" /><Relationship Type="http://schemas.openxmlformats.org/officeDocument/2006/relationships/notesMaster" Target="/ppt/notesMasters/notesMaster1.xml" Id="Rd16787efc9e3488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12af7149dcf4930" /><Relationship Type="http://schemas.openxmlformats.org/officeDocument/2006/relationships/notesMaster" Target="/ppt/notesMasters/notesMaster1.xml" Id="R90da097fd9c14ad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5c0a98009ca4e0d" /><Relationship Type="http://schemas.openxmlformats.org/officeDocument/2006/relationships/notesMaster" Target="/ppt/notesMasters/notesMaster1.xml" Id="R7b187c68dfde4b3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a58869d11254f29" /><Relationship Type="http://schemas.openxmlformats.org/officeDocument/2006/relationships/notesMaster" Target="/ppt/notesMasters/notesMaster1.xml" Id="R0b3c151a0485480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2bf502c87e543a9" /><Relationship Type="http://schemas.openxmlformats.org/officeDocument/2006/relationships/notesMaster" Target="/ppt/notesMasters/notesMaster1.xml" Id="R31d05d887854443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c2a67fd74d34dfd" /><Relationship Type="http://schemas.openxmlformats.org/officeDocument/2006/relationships/notesMaster" Target="/ppt/notesMasters/notesMaster1.xml" Id="Rc96606d639604e9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75f99b569754941" /><Relationship Type="http://schemas.openxmlformats.org/officeDocument/2006/relationships/notesMaster" Target="/ppt/notesMasters/notesMaster1.xml" Id="Rc12fb16fcb1946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image is a straight-on perspective preview of the actual experience. Start with the worksheet starter.</a:t>
            </a:r>
          </a:p>
          <a:p xmlns:a="http://schemas.openxmlformats.org/drawingml/2006/main">
            <a:r>
              <a:t>Sources: Revise 360 experiences/ms-l03.json and worksheets/MS_L03_StorageWarehouse_Worksheet.docx.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outcomes follow the wording of the lesson worksheet.</a:t>
            </a:r>
          </a:p>
          <a:p xmlns:a="http://schemas.openxmlformats.org/drawingml/2006/main">
            <a:r>
              <a:t>Sources: Revise 360 experiences/ms-l03.json and worksheets/MS_L03_StorageWarehouse_Worksheet.docx.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Allow students to answer the exact worksheet starter before showing the sample answers.</a:t>
            </a:r>
          </a:p>
          <a:p xmlns:a="http://schemas.openxmlformats.org/drawingml/2006/main">
            <a:r>
              <a:t>Sources: Revise 360 experiences/ms-l03.json and worksheets/MS_L03_StorageWarehouse_Worksheet.docx.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 equivalent correct responses. These examples respond to the worksheet starter.</a:t>
            </a:r>
          </a:p>
          <a:p xmlns:a="http://schemas.openxmlformats.org/drawingml/2006/main">
            <a:r>
              <a:t>Sources: Revise 360 experiences/ms-l03.json and worksheets/MS_L03_StorageWarehouse_Worksheet.docx.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define the two terms printed on the worksheet before marking them.</a:t>
            </a:r>
          </a:p>
          <a:p xmlns:a="http://schemas.openxmlformats.org/drawingml/2006/main">
            <a:r>
              <a:t>Sources: Revise 360 experiences/ms-l03.json and worksheets/MS_L03_StorageWarehouse_Worksheet.docx.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after students attempt the definitions; accept accurate wording in their own words.</a:t>
            </a:r>
          </a:p>
          <a:p xmlns:a="http://schemas.openxmlformats.org/drawingml/2006/main">
            <a:r>
              <a:t>Sources: Revise 360 experiences/ms-l03.json and worksheets/MS_L03_StorageWarehouse_Worksheet.docx.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Leave this board slide visible during the experience. The OPEN EXPERIENCE label is a clickable link. Everyone should complete the experience and reach the plenary near the end of the lesson. First on-screen responses count.</a:t>
            </a:r>
          </a:p>
          <a:p xmlns:a="http://schemas.openxmlformats.org/drawingml/2006/main">
            <a:r>
              <a:t>Sources: Revise 360 experiences/ms-l03.json and worksheets/MS_L03_StorageWarehouse_Worksheet.docx.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follows the task after the score on the worksheet. For revision, students use their results and outstanding work list.</a:t>
            </a:r>
          </a:p>
          <a:p xmlns:a="http://schemas.openxmlformats.org/drawingml/2006/main">
            <a:r>
              <a:t>Sources: Revise 360 experiences/ms-l03.json and worksheets/MS_L03_StorageWarehouse_Worksheet.docx.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question to deepen or correct the worksheet response before the plenary.</a:t>
            </a:r>
          </a:p>
          <a:p xmlns:a="http://schemas.openxmlformats.org/drawingml/2006/main">
            <a:r>
              <a:t>Sources: Revise 360 experiences/ms-l03.json and worksheets/MS_L03_StorageWarehouse_Worksheet.docx.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sample answers or a sample revision action. Ratings and open choices may vary with a justified device and context.</a:t>
            </a:r>
          </a:p>
          <a:p xmlns:a="http://schemas.openxmlformats.org/drawingml/2006/main">
            <a:r>
              <a:t>Sources: Revise 360 experiences/ms-l03.json and worksheets/MS_L03_StorageWarehouse_Worksheet.docx.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after students have completed the experience. These concise points answer the station challenges and help students improve their own wording.</a:t>
            </a:r>
          </a:p>
          <a:p xmlns:a="http://schemas.openxmlformats.org/drawingml/2006/main">
            <a:r>
              <a:t>Sources: Revise 360 experiences/ms-l03.json and worksheets/MS_L03_StorageWarehouse_Worksheet.docx.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after students have completed the experience. These concise points answer the station challenges and help students improve their own wording.</a:t>
            </a:r>
          </a:p>
          <a:p xmlns:a="http://schemas.openxmlformats.org/drawingml/2006/main">
            <a:r>
              <a:t>Sources: Revise 360 experiences/ms-l03.json and worksheets/MS_L03_StorageWarehouse_Worksheet.docx.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 are in the same order as the worksheet final challenge and the experience star task. Pixel and sound sketches should be checked against the interactive pattern or wave.</a:t>
            </a:r>
          </a:p>
          <a:p xmlns:a="http://schemas.openxmlformats.org/drawingml/2006/main">
            <a:r>
              <a:t>Sources: Revise 360 experiences/ms-l03.json and worksheets/MS_L03_StorageWarehouse_Worksheet.docx.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 are in the same order as the worksheet final challenge and the experience star task. Pixel and sound sketches should be checked against the interactive pattern or wave.</a:t>
            </a:r>
          </a:p>
          <a:p xmlns:a="http://schemas.openxmlformats.org/drawingml/2006/main">
            <a:r>
              <a:t>Sources: Revise 360 experiences/ms-l03.json and worksheets/MS_L03_StorageWarehouse_Worksheet.docx.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exam-practice questions from the worksheet. Allow independent writing before displaying the answer slides.</a:t>
            </a:r>
          </a:p>
          <a:p xmlns:a="http://schemas.openxmlformats.org/drawingml/2006/main">
            <a:r>
              <a:t>Sources: Revise 360 experiences/ms-l03.json and worksheets/MS_L03_StorageWarehouse_Worksheet.docx.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exam-practice questions from the worksheet. Allow independent writing before displaying the answer slides.</a:t>
            </a:r>
          </a:p>
          <a:p xmlns:a="http://schemas.openxmlformats.org/drawingml/2006/main">
            <a:r>
              <a:t>Sources: Revise 360 experiences/ms-l03.json and worksheets/MS_L03_StorageWarehouse_Worksheet.docx.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correct or improve one answer.</a:t>
            </a:r>
          </a:p>
          <a:p xmlns:a="http://schemas.openxmlformats.org/drawingml/2006/main">
            <a:r>
              <a:t>Sources: Revise 360 experiences/ms-l03.json and worksheets/MS_L03_StorageWarehouse_Worksheet.docx.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correct or improve one answer.</a:t>
            </a:r>
          </a:p>
          <a:p xmlns:a="http://schemas.openxmlformats.org/drawingml/2006/main">
            <a:r>
              <a:t>Sources: Revise 360 experiences/ms-l03.json and worksheets/MS_L03_StorageWarehouse_Worksheet.docx.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exact confidence objectives from the worksheet. Students identify one area to revisit.</a:t>
            </a:r>
          </a:p>
          <a:p xmlns:a="http://schemas.openxmlformats.org/drawingml/2006/main">
            <a:r>
              <a:t>Sources: Revise 360 experiences/ms-l03.json and worksheets/MS_L03_StorageWarehouse_Worksheet.docx.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776a7357b14e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efe0ccce7d42bc" /><Relationship Type="http://schemas.openxmlformats.org/officeDocument/2006/relationships/slideLayout" Target="/ppt/slideLayouts/slideLayout1.xml" Id="Ra9721efdee7145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721efdee7145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6a13476b14047" /><Relationship Type="http://schemas.openxmlformats.org/officeDocument/2006/relationships/image" Target="/ppt/media/image.png" Id="Rb24e1abb0086405a" /><Relationship Type="http://schemas.openxmlformats.org/officeDocument/2006/relationships/image" Target="/ppt/media/image.jpeg" Id="R6dbac95967f54b88" /><Relationship Type="http://schemas.openxmlformats.org/officeDocument/2006/relationships/notesSlide" Target="/ppt/notesSlides/notesSlide1.xml" Id="R812e554ad54549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3ef05d3c244b4" /><Relationship Type="http://schemas.openxmlformats.org/officeDocument/2006/relationships/image" Target="/ppt/media/image2.png" Id="Rf1fb7280d1504fd6" /><Relationship Type="http://schemas.openxmlformats.org/officeDocument/2006/relationships/notesSlide" Target="/ppt/notesSlides/notesSlide2.xml" Id="Rbf315aba20c945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c3e57d9aa4286" /><Relationship Type="http://schemas.openxmlformats.org/officeDocument/2006/relationships/image" Target="/ppt/media/image3.png" Id="R54ffe73a53064474" /><Relationship Type="http://schemas.openxmlformats.org/officeDocument/2006/relationships/notesSlide" Target="/ppt/notesSlides/notesSlide3.xml" Id="R362c82bab60b48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33457dde74f14" /><Relationship Type="http://schemas.openxmlformats.org/officeDocument/2006/relationships/image" Target="/ppt/media/image4.png" Id="R3247d4e5445d4a74" /><Relationship Type="http://schemas.openxmlformats.org/officeDocument/2006/relationships/notesSlide" Target="/ppt/notesSlides/notesSlide4.xml" Id="R7701386417c643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4d373043f4fd8" /><Relationship Type="http://schemas.openxmlformats.org/officeDocument/2006/relationships/image" Target="/ppt/media/image5.png" Id="R3025e2ba4b9d467c" /><Relationship Type="http://schemas.openxmlformats.org/officeDocument/2006/relationships/notesSlide" Target="/ppt/notesSlides/notesSlide5.xml" Id="Re6b50402fdf34b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554d0da5f4860" /><Relationship Type="http://schemas.openxmlformats.org/officeDocument/2006/relationships/image" Target="/ppt/media/image6.png" Id="R5d0264f23491400a" /><Relationship Type="http://schemas.openxmlformats.org/officeDocument/2006/relationships/notesSlide" Target="/ppt/notesSlides/notesSlide6.xml" Id="R0b3d3253164e49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5f4813ef44dbb" /><Relationship Type="http://schemas.openxmlformats.org/officeDocument/2006/relationships/image" Target="/ppt/media/image7.png" Id="R44f3c143a8d34565" /><Relationship Type="http://schemas.openxmlformats.org/officeDocument/2006/relationships/hyperlink" Target="https://mrp-cs.github.io/Revise360/experience.html?id=ms-l03" TargetMode="External" Id="Rdf0c75f0a55048a9" /><Relationship Type="http://schemas.openxmlformats.org/officeDocument/2006/relationships/notesSlide" Target="/ppt/notesSlides/notesSlide7.xml" Id="R47bd56342e0749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a06ae4be14e39" /><Relationship Type="http://schemas.openxmlformats.org/officeDocument/2006/relationships/image" Target="/ppt/media/image8.png" Id="Ra0b9b260ad3b437d" /><Relationship Type="http://schemas.openxmlformats.org/officeDocument/2006/relationships/notesSlide" Target="/ppt/notesSlides/notesSlide8.xml" Id="Re7be01e8dffb47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fcddc4a5840e1" /><Relationship Type="http://schemas.openxmlformats.org/officeDocument/2006/relationships/image" Target="/ppt/media/image9.png" Id="Ra95bb47ca7a142ae" /><Relationship Type="http://schemas.openxmlformats.org/officeDocument/2006/relationships/notesSlide" Target="/ppt/notesSlides/notesSlide9.xml" Id="R1dd015a4d41d40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1cc235bdb416b" /><Relationship Type="http://schemas.openxmlformats.org/officeDocument/2006/relationships/image" Target="/ppt/media/image10.png" Id="Rb41ca2613b8546ed" /><Relationship Type="http://schemas.openxmlformats.org/officeDocument/2006/relationships/notesSlide" Target="/ppt/notesSlides/notesSlide10.xml" Id="Rd76651167dc64e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67ba7f59d4ed3" /><Relationship Type="http://schemas.openxmlformats.org/officeDocument/2006/relationships/image" Target="/ppt/media/image11.png" Id="R4563d6de30454788" /><Relationship Type="http://schemas.openxmlformats.org/officeDocument/2006/relationships/notesSlide" Target="/ppt/notesSlides/notesSlide11.xml" Id="Rfd9fc237d67d4e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7ad45928a4f4b" /><Relationship Type="http://schemas.openxmlformats.org/officeDocument/2006/relationships/image" Target="/ppt/media/image12.png" Id="Rbc37ab0aaae14283" /><Relationship Type="http://schemas.openxmlformats.org/officeDocument/2006/relationships/notesSlide" Target="/ppt/notesSlides/notesSlide12.xml" Id="Re1af5587c84447a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6ebe6c01b4363" /><Relationship Type="http://schemas.openxmlformats.org/officeDocument/2006/relationships/image" Target="/ppt/media/image13.png" Id="R5e920d821fcc4252" /><Relationship Type="http://schemas.openxmlformats.org/officeDocument/2006/relationships/notesSlide" Target="/ppt/notesSlides/notesSlide13.xml" Id="R4d0c7939a088447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087eb00974b30" /><Relationship Type="http://schemas.openxmlformats.org/officeDocument/2006/relationships/image" Target="/ppt/media/image14.png" Id="R1557fb33728645c0" /><Relationship Type="http://schemas.openxmlformats.org/officeDocument/2006/relationships/notesSlide" Target="/ppt/notesSlides/notesSlide14.xml" Id="R47dce0a34e034bf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26325a0be4add" /><Relationship Type="http://schemas.openxmlformats.org/officeDocument/2006/relationships/image" Target="/ppt/media/image15.png" Id="R5f825944ec9d4349" /><Relationship Type="http://schemas.openxmlformats.org/officeDocument/2006/relationships/notesSlide" Target="/ppt/notesSlides/notesSlide15.xml" Id="Ra8e787c8b905414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9766235d34dff" /><Relationship Type="http://schemas.openxmlformats.org/officeDocument/2006/relationships/image" Target="/ppt/media/image16.png" Id="Rb8d9adfee7b74109" /><Relationship Type="http://schemas.openxmlformats.org/officeDocument/2006/relationships/notesSlide" Target="/ppt/notesSlides/notesSlide16.xml" Id="R54280aff48024a5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88296fe1c4b04" /><Relationship Type="http://schemas.openxmlformats.org/officeDocument/2006/relationships/image" Target="/ppt/media/image17.png" Id="Rc7b5c46aa75646b0" /><Relationship Type="http://schemas.openxmlformats.org/officeDocument/2006/relationships/notesSlide" Target="/ppt/notesSlides/notesSlide17.xml" Id="R3eb05af17f434f1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1d11150c04ea4" /><Relationship Type="http://schemas.openxmlformats.org/officeDocument/2006/relationships/image" Target="/ppt/media/image18.png" Id="R3fb819568ab84988" /><Relationship Type="http://schemas.openxmlformats.org/officeDocument/2006/relationships/notesSlide" Target="/ppt/notesSlides/notesSlide18.xml" Id="Reb7fe65ae39a4be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be55771224be4" /><Relationship Type="http://schemas.openxmlformats.org/officeDocument/2006/relationships/image" Target="/ppt/media/image19.png" Id="R7b58a8f139374447" /><Relationship Type="http://schemas.openxmlformats.org/officeDocument/2006/relationships/notesSlide" Target="/ppt/notesSlides/notesSlide19.xml" Id="R67472eefbbee4b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D016828F-1EA5-48C0-90F6-D77BB0BE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88692C2-B793-4BD5-B0FD-491D7702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1.2   /   LESSON 03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3697A77-F882-4C73-B8A2-2A03B69F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STORAGE WAREHOUSE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4e1abb0086405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2B14E8F-3E85-49C2-BC45-CA9D3FB4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19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171738AA-9174-4A1E-99D0-822F5D71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Common types of storage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393D830E-2894-466E-9F9C-678DC393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KEY QUESTION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73F1F1CE-BC99-4FE1-B54D-76A36F53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Why do computers have secondary storage?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bac95967f54b88"/>
          <a:stretch xmlns:a="http://schemas.openxmlformats.org/drawingml/2006/main"/>
        </p:blipFill>
        <p:spPr>
          <a:xfrm xmlns:a="http://schemas.openxmlformats.org/drawingml/2006/main">
            <a:off x="6076950" y="1819275"/>
            <a:ext cx="5400675" cy="3600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3247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1978421D-2070-48C5-A9E7-C096DABA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96FC67A-4A02-419F-82E9-6B05737B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03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B0B04F13-44FB-44F3-AA51-60AD7962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fb7280d1504fd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A15AA4B-AE8C-4545-B399-6BB3464F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19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93DD559A-5A01-4FEA-8325-4F202B92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AB9A7E1E-A1FF-4355-B87C-E2FAEC09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understand the need for secondary storage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119A226F-F3F2-433F-B370-9F9E0A67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A12AED27-A9BD-409E-8A3F-6C2EF1A0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242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know the common types of storage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2DA455D1-B8FE-4656-BE8E-75AE3B77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3599FA0F-BE22-4B06-AA46-C73A5830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053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know how each type works</a:t>
            </a:r>
          </a:p>
        </p:txBody>
      </p:sp>
    </p:spTree>
    <p:extLst>
      <p:ext uri="{BB962C8B-B14F-4D97-AF65-F5344CB8AC3E}">
        <p14:creationId xmlns:p14="http://schemas.microsoft.com/office/powerpoint/2010/main" val="18339090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C500F363-4BF7-4CAA-BBA1-A934FEB3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623D65F-FA84-41B2-8861-B3D6C6E9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03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00F4D00-1B2C-42DC-91BE-8B76AA3B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ffe73a5306447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421B6D6-2234-467A-8C7F-5A1EBFFB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19</a:t>
            </a:r>
          </a:p>
        </p:txBody>
      </p:sp>
      <p:sp>
        <p:nvSpPr>
          <p:cNvPr id="6" name="worksheet-starter">
            <a:extLst xmlns:a="http://schemas.openxmlformats.org/drawingml/2006/main">
              <a:ext uri="{FF2B5EF4-FFF2-40B4-BE49-F238E27FC236}">
                <a16:creationId xmlns:a16="http://schemas.microsoft.com/office/drawing/2014/main" id="{687753FC-84C2-4D24-8552-A2089761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List everything stored on the computer you are using that must still be there tomorrow morning.</a:t>
            </a:r>
          </a:p>
        </p:txBody>
      </p:sp>
    </p:spTree>
    <p:extLst>
      <p:ext uri="{BB962C8B-B14F-4D97-AF65-F5344CB8AC3E}">
        <p14:creationId xmlns:p14="http://schemas.microsoft.com/office/powerpoint/2010/main" val="2787064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89D2924A-CF11-4ECA-84DF-743CE7FE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9B78B3A-65D4-46BE-B729-C21DAA11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A6A6376-B4FA-4A83-B4BE-6C194E2C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47d4e5445d4a7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6DC7E98-1B7F-4ADD-AC03-E8530CDF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19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11A3A88C-8F73-4E01-9979-C17C66F9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9300579B-4D74-4D93-BFDA-DD75FEEE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Saved documents, installed programs and the operating system need non-volatile secondary storage so they remain after power off.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A43DAE55-3318-4EEB-9D46-41396AAE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8EC765DB-777E-4FCF-8A09-CF0258C7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338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RAM holds current work but loses its contents without power.</a:t>
            </a:r>
          </a:p>
        </p:txBody>
      </p:sp>
    </p:spTree>
    <p:extLst>
      <p:ext uri="{BB962C8B-B14F-4D97-AF65-F5344CB8AC3E}">
        <p14:creationId xmlns:p14="http://schemas.microsoft.com/office/powerpoint/2010/main" val="17377454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2E4D8D7-8EC2-461E-B49E-1B4F04BA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F7464BC-65DF-4B00-861C-8EEC0B89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03   /   WORKSHEET KEY TERMS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AB1905B-E60A-4ED9-9B93-B82BFDC6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 quiz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25e2ba4b9d467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E8FEA40-D674-4DA8-81B7-F48ED219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19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3AC2487B-7C0E-42E9-9743-361D5C5F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F7E125E8-437A-4E98-B017-301AC3BD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Secondary storage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2C5D949F-E101-4865-AFE8-040965E2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916CCBEB-1C9F-46A5-8119-A5B0CE7F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Non-volatile</a:t>
            </a:r>
          </a:p>
        </p:txBody>
      </p:sp>
    </p:spTree>
    <p:extLst>
      <p:ext uri="{BB962C8B-B14F-4D97-AF65-F5344CB8AC3E}">
        <p14:creationId xmlns:p14="http://schemas.microsoft.com/office/powerpoint/2010/main" val="903277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F02570E9-E7A1-4E93-A6EA-EAB2B44C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0DE38E7-2CFA-4B12-A834-B31D2A6C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58ED066-8F90-4232-9233-B4941E9F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terminology: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0264f23491400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502D661-AFAE-47A3-A1FA-EE9C2E36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19</a:t>
            </a:r>
          </a:p>
        </p:txBody>
      </p:sp>
      <p:sp>
        <p:nvSpPr>
          <p:cNvPr id="6" name="term-label-0">
            <a:extLst xmlns:a="http://schemas.openxmlformats.org/drawingml/2006/main">
              <a:ext uri="{FF2B5EF4-FFF2-40B4-BE49-F238E27FC236}">
                <a16:creationId xmlns:a16="http://schemas.microsoft.com/office/drawing/2014/main" id="{E738FF95-D757-4C83-8612-097A2864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88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Secondary storage</a:t>
            </a:r>
          </a:p>
        </p:txBody>
      </p:sp>
      <p:sp>
        <p:nvSpPr>
          <p:cNvPr id="7" name="term-definition-0">
            <a:extLst xmlns:a="http://schemas.openxmlformats.org/drawingml/2006/main">
              <a:ext uri="{FF2B5EF4-FFF2-40B4-BE49-F238E27FC236}">
                <a16:creationId xmlns:a16="http://schemas.microsoft.com/office/drawing/2014/main" id="{9DD3DBF0-DF11-4E8F-AED2-5EFC9E4E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Secondary storage: non-volatile storage for programs and files kept long term.</a:t>
            </a:r>
          </a:p>
        </p:txBody>
      </p:sp>
      <p:sp>
        <p:nvSpPr>
          <p:cNvPr id="8" name="term-label-1">
            <a:extLst xmlns:a="http://schemas.openxmlformats.org/drawingml/2006/main">
              <a:ext uri="{FF2B5EF4-FFF2-40B4-BE49-F238E27FC236}">
                <a16:creationId xmlns:a16="http://schemas.microsoft.com/office/drawing/2014/main" id="{E84900C1-126B-4554-8FE2-E9DF806B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Non-volatile</a:t>
            </a:r>
          </a:p>
        </p:txBody>
      </p:sp>
      <p:sp>
        <p:nvSpPr>
          <p:cNvPr id="9" name="term-definition-1">
            <a:extLst xmlns:a="http://schemas.openxmlformats.org/drawingml/2006/main">
              <a:ext uri="{FF2B5EF4-FFF2-40B4-BE49-F238E27FC236}">
                <a16:creationId xmlns:a16="http://schemas.microsoft.com/office/drawing/2014/main" id="{6D1B9B24-9144-4B17-8C68-6262DB4D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Non-volatile: retains its data when the power is turned off.</a:t>
            </a:r>
          </a:p>
        </p:txBody>
      </p:sp>
    </p:spTree>
    <p:extLst>
      <p:ext uri="{BB962C8B-B14F-4D97-AF65-F5344CB8AC3E}">
        <p14:creationId xmlns:p14="http://schemas.microsoft.com/office/powerpoint/2010/main" val="12222731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130C8D5-6EA2-4DB7-9387-EC0CD911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F735853-8D6C-46CE-A0DB-DCF61041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1.2   /   LESSON 03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E41BB74-2673-4049-9159-37237B3C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3c143a8d3456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61B5470-981B-4F63-8EA8-46EF99B8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19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8D94A7EC-039D-4F43-B630-A155B19B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</a:t>
            </a: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df0c75f0a55048a9"/>
              </a:rPr>
              <a:t>OPEN EXPERIENCE ↗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C3B56D2E-5F66-4550-A88B-7CAE802C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Storage warehouse in Topic 1.2.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ED8B796F-1126-4E59-BEFE-C237E28B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F38C2B1B-C89F-4D52-ADFB-A5A47B02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Read each panel. Write the key fact IN YOUR OWN WORDS and answer the worksheet challenge before tapping its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A76ECD4A-6894-4FCD-A266-7068EEA2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69DB55EA-4C49-423F-9C0C-AEABF830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Complete the ★ task before tapping the star. Copy your score (out of 25), then finish the worksheet task or review.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72F78D11-1A3A-48D0-A625-FEA94C8C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BE5A5AFF-947C-47B0-BFFB-577AFB45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17306289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00F7937-4088-4B2A-825A-ECCB49F7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C5810F96-BEAB-42C1-8CE2-D61B8AC5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03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6062859-BBC4-48DE-BBEA-E66F3FF2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Apply your learning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9b260ad3b437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39F0B8B-76BB-414D-989C-3AAA095D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19</a:t>
            </a:r>
          </a:p>
        </p:txBody>
      </p:sp>
      <p:sp>
        <p:nvSpPr>
          <p:cNvPr id="6" name="application-prompt">
            <a:extLst xmlns:a="http://schemas.openxmlformats.org/drawingml/2006/main">
              <a:ext uri="{FF2B5EF4-FFF2-40B4-BE49-F238E27FC236}">
                <a16:creationId xmlns:a16="http://schemas.microsoft.com/office/drawing/2014/main" id="{E29165A4-4408-49AD-B6DC-9E89A463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95525"/>
            <a:ext cx="105727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Which storage would you use for a school file server, and which for a laptop system drive? Justify both.</a:t>
            </a:r>
          </a:p>
        </p:txBody>
      </p:sp>
    </p:spTree>
    <p:extLst>
      <p:ext uri="{BB962C8B-B14F-4D97-AF65-F5344CB8AC3E}">
        <p14:creationId xmlns:p14="http://schemas.microsoft.com/office/powerpoint/2010/main" val="6296361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2202AE8-9756-4186-931C-8FFAC3C5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C9CE052-9695-46E4-9356-7715E171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03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52FFCBA-01D0-4ED0-8521-6B73E19F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bb47ca7a142a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0575D98-3B7D-46C0-B179-10228E1F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19</a:t>
            </a:r>
          </a:p>
        </p:txBody>
      </p:sp>
      <p:sp>
        <p:nvSpPr>
          <p:cNvPr id="6" name="review-prompt">
            <a:extLst xmlns:a="http://schemas.openxmlformats.org/drawingml/2006/main">
              <a:ext uri="{FF2B5EF4-FFF2-40B4-BE49-F238E27FC236}">
                <a16:creationId xmlns:a16="http://schemas.microsoft.com/office/drawing/2014/main" id="{D64F7F2D-CEF7-442E-8E2E-3B8ED4B1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5727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Rank CD, DVD and Blu-ray by capacity. How does an optical drive read their data?</a:t>
            </a:r>
          </a:p>
        </p:txBody>
      </p:sp>
    </p:spTree>
    <p:extLst>
      <p:ext uri="{BB962C8B-B14F-4D97-AF65-F5344CB8AC3E}">
        <p14:creationId xmlns:p14="http://schemas.microsoft.com/office/powerpoint/2010/main" val="20028043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1C50F8E-2369-4E1A-BAB8-F528A2AF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E3E1563-1F82-46A8-927A-BB0B7C50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C991D6E-E6BC-47BC-AF75-2A8C60BE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Application: sample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1ca2613b8546e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703F3DD-9336-4D25-B074-648B9FE0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19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17035DA4-6BCD-46C1-9C18-8FFA6D75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2579454D-1FB4-4BBF-97D1-5DA3DD25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47850"/>
            <a:ext cx="9925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hard disk can give the server high capacity at low cost per GB for bulk files.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88F2824A-DA5A-4EE7-9B62-1DC8E878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146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B0BD32AA-BA64-4744-BDD1-3E7F32A8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14675"/>
            <a:ext cx="9925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 SSD suits a laptop system drive: fast access and no moving parts when the laptop is carried.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B74F7C7C-BD1D-4B58-926E-269C9CDB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D6876F1B-AD96-442B-BCB1-50EF0EBE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0"/>
            <a:ext cx="9925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CD &lt; DVD &lt; Blu-ray. A laser detects changes in reflected light from the disc surface to read the encoded data.</a:t>
            </a:r>
          </a:p>
        </p:txBody>
      </p:sp>
    </p:spTree>
    <p:extLst>
      <p:ext uri="{BB962C8B-B14F-4D97-AF65-F5344CB8AC3E}">
        <p14:creationId xmlns:p14="http://schemas.microsoft.com/office/powerpoint/2010/main" val="14941563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241A3CE-A3A0-49AF-9681-321906E7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164EE56-9F2B-40E2-B2A9-A0BB2696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03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F4637C3-EDEA-49BC-9F0B-0E8DA514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63d6de3045478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DE382A0-2EF0-46BC-AA33-D97C9577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19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68A22A36-39D5-4B7D-B487-EC4EF1BE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65D795D2-0570-4C46-A3C6-9FDF285C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Why secondary storage?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40C5161C-5FB3-40DE-A7F2-B7631B54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Secondary storage keeps files, programs and the OS when power is off; RAM is volatile and mainly holds current work.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322BDD43-66BE-49DF-B227-5A19D89C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Magnetic storage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77C8D694-F0C6-4D72-BA82-910FF40E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hard disk stores bits as magnetic patterns on spinning platters. Moving parts can be damaged by bumps in a laptop.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104BCF96-286E-4F5F-A88F-79AD73C9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Optical storage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536862FD-9D6F-4DC9-B498-9CC3AA30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laser reads patterns of pits and lands on a disc. Typical capacity order: CD &lt; DVD &lt; Blu-ray.</a:t>
            </a:r>
          </a:p>
        </p:txBody>
      </p:sp>
    </p:spTree>
    <p:extLst>
      <p:ext uri="{BB962C8B-B14F-4D97-AF65-F5344CB8AC3E}">
        <p14:creationId xmlns:p14="http://schemas.microsoft.com/office/powerpoint/2010/main" val="13018387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F85D7915-1304-42DD-AF76-684BB3B3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DB999EA-8ABB-4215-BAF5-ABC2E6B3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03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C469F2C-4CA9-474F-BECC-12211F79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7ab0aaae1428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4BAB4E3-DC78-44BF-9F34-47B46466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19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1F811CCA-B586-4C90-B8EA-E00CC577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B1E486E3-2806-45F1-A478-8357E569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Solid state storage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B3E3A78D-77DF-4772-B180-575C0228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Flash memory holds electrical charges without moving parts. An SSD is fast and more resistant to knocks.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83954268-73E0-4501-8A14-2E23F62F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Inside the devices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225573D6-1A2F-45DC-81DB-AA6C0B1C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hard disk has spinning platters, a spindle, an actuator arm and a read/write head.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1096C0F2-C86A-4FDE-B580-24B2D411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Choosing a type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67F0BC22-4665-4614-B912-E5021C01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For bulk files, a high-capacity HDD can offer low cost per GB. For a portable system drive, an SSD is faster and more durable.</a:t>
            </a:r>
          </a:p>
        </p:txBody>
      </p:sp>
    </p:spTree>
    <p:extLst>
      <p:ext uri="{BB962C8B-B14F-4D97-AF65-F5344CB8AC3E}">
        <p14:creationId xmlns:p14="http://schemas.microsoft.com/office/powerpoint/2010/main" val="10504686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111EBA39-FF4E-4052-B5E9-9C869DD6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562CEDB-14E0-44A4-9911-B11D8E44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D19935D-56F1-475D-82EF-AB144C19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 1–5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920d821fcc425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EC5137D-A44F-44B0-8C35-46DF1B1F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19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B137242B-3BB2-4154-928B-8BC12AC5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283C0F47-9FE5-41BB-8F50-B6822AAE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Hard disk drive → Magnetic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454CB05A-E6E1-4F06-991A-B8BBAAFA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74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5ACBD554-76BD-47A7-A081-B5E5CD74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574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Blu-ray disc → Optical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8E5F7B26-E12B-4928-AF5D-9CE1F58F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2B6E31E5-65FB-41B1-8931-0C12BBF9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956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USB memory stick → Solid state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82DB5140-E1A9-4EDE-84A2-E9FB4BFA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51104E7F-FB6A-4940-B92F-1EE759B3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338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Backup tape → Magnetic</a:t>
            </a:r>
          </a:p>
        </p:txBody>
      </p:sp>
      <p:sp>
        <p:nvSpPr>
          <p:cNvPr id="14" name="number-5">
            <a:extLst xmlns:a="http://schemas.openxmlformats.org/drawingml/2006/main">
              <a:ext uri="{FF2B5EF4-FFF2-40B4-BE49-F238E27FC236}">
                <a16:creationId xmlns:a16="http://schemas.microsoft.com/office/drawing/2014/main" id="{C18D7DFC-72B2-4715-A03F-A0E47779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720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5.</a:t>
            </a:r>
          </a:p>
        </p:txBody>
      </p:sp>
      <p:sp>
        <p:nvSpPr>
          <p:cNvPr id="15" name="item-5">
            <a:extLst xmlns:a="http://schemas.openxmlformats.org/drawingml/2006/main">
              <a:ext uri="{FF2B5EF4-FFF2-40B4-BE49-F238E27FC236}">
                <a16:creationId xmlns:a16="http://schemas.microsoft.com/office/drawing/2014/main" id="{4E46F658-D744-4209-A110-E9F21256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DVD → Optical</a:t>
            </a:r>
          </a:p>
        </p:txBody>
      </p:sp>
    </p:spTree>
    <p:extLst>
      <p:ext uri="{BB962C8B-B14F-4D97-AF65-F5344CB8AC3E}">
        <p14:creationId xmlns:p14="http://schemas.microsoft.com/office/powerpoint/2010/main" val="1999736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BD5CBF7E-DA12-469C-8731-EEFB5F99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269F873-99D3-4427-8D5C-197D4ABD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B0E8952B-D25E-4468-9B93-7A16D598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 6–9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57fb33728645c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1916F71-3D93-4120-8C5C-F7C720AB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19</a:t>
            </a:r>
          </a:p>
        </p:txBody>
      </p:sp>
      <p:sp>
        <p:nvSpPr>
          <p:cNvPr id="6" name="number-6">
            <a:extLst xmlns:a="http://schemas.openxmlformats.org/drawingml/2006/main">
              <a:ext uri="{FF2B5EF4-FFF2-40B4-BE49-F238E27FC236}">
                <a16:creationId xmlns:a16="http://schemas.microsoft.com/office/drawing/2014/main" id="{4F674D1C-6FA2-4BBA-B5B9-50899327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6.</a:t>
            </a:r>
          </a:p>
        </p:txBody>
      </p:sp>
      <p:sp>
        <p:nvSpPr>
          <p:cNvPr id="7" name="item-6">
            <a:extLst xmlns:a="http://schemas.openxmlformats.org/drawingml/2006/main">
              <a:ext uri="{FF2B5EF4-FFF2-40B4-BE49-F238E27FC236}">
                <a16:creationId xmlns:a16="http://schemas.microsoft.com/office/drawing/2014/main" id="{FCF1C80A-6695-4D7B-B358-1D3FC454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SD card in a camera → Solid state</a:t>
            </a:r>
          </a:p>
        </p:txBody>
      </p:sp>
      <p:sp>
        <p:nvSpPr>
          <p:cNvPr id="8" name="number-7">
            <a:extLst xmlns:a="http://schemas.openxmlformats.org/drawingml/2006/main">
              <a:ext uri="{FF2B5EF4-FFF2-40B4-BE49-F238E27FC236}">
                <a16:creationId xmlns:a16="http://schemas.microsoft.com/office/drawing/2014/main" id="{0FA1C49E-99AB-4F8F-BD3A-31742082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7.</a:t>
            </a:r>
          </a:p>
        </p:txBody>
      </p:sp>
      <p:sp>
        <p:nvSpPr>
          <p:cNvPr id="9" name="item-7">
            <a:extLst xmlns:a="http://schemas.openxmlformats.org/drawingml/2006/main">
              <a:ext uri="{FF2B5EF4-FFF2-40B4-BE49-F238E27FC236}">
                <a16:creationId xmlns:a16="http://schemas.microsoft.com/office/drawing/2014/main" id="{37482399-40C0-4EE5-BA7C-3915FF96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00350"/>
            <a:ext cx="9925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Spinning platters and a read/write head → Magnetic</a:t>
            </a:r>
          </a:p>
        </p:txBody>
      </p:sp>
      <p:sp>
        <p:nvSpPr>
          <p:cNvPr id="10" name="number-8">
            <a:extLst xmlns:a="http://schemas.openxmlformats.org/drawingml/2006/main">
              <a:ext uri="{FF2B5EF4-FFF2-40B4-BE49-F238E27FC236}">
                <a16:creationId xmlns:a16="http://schemas.microsoft.com/office/drawing/2014/main" id="{39AF26A3-D8FD-44B6-BA22-02D2348D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8.</a:t>
            </a:r>
          </a:p>
        </p:txBody>
      </p:sp>
      <p:sp>
        <p:nvSpPr>
          <p:cNvPr id="11" name="item-8">
            <a:extLst xmlns:a="http://schemas.openxmlformats.org/drawingml/2006/main">
              <a:ext uri="{FF2B5EF4-FFF2-40B4-BE49-F238E27FC236}">
                <a16:creationId xmlns:a16="http://schemas.microsoft.com/office/drawing/2014/main" id="{562FEDE0-4434-4D51-81B2-076B1E72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81425"/>
            <a:ext cx="9925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laser reading pits and lands → Optical</a:t>
            </a:r>
          </a:p>
        </p:txBody>
      </p:sp>
      <p:sp>
        <p:nvSpPr>
          <p:cNvPr id="12" name="number-9">
            <a:extLst xmlns:a="http://schemas.openxmlformats.org/drawingml/2006/main">
              <a:ext uri="{FF2B5EF4-FFF2-40B4-BE49-F238E27FC236}">
                <a16:creationId xmlns:a16="http://schemas.microsoft.com/office/drawing/2014/main" id="{C73EF7E1-A9B2-447B-B926-5BCC1A3C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9.</a:t>
            </a:r>
          </a:p>
        </p:txBody>
      </p:sp>
      <p:sp>
        <p:nvSpPr>
          <p:cNvPr id="13" name="item-9">
            <a:extLst xmlns:a="http://schemas.openxmlformats.org/drawingml/2006/main">
              <a:ext uri="{FF2B5EF4-FFF2-40B4-BE49-F238E27FC236}">
                <a16:creationId xmlns:a16="http://schemas.microsoft.com/office/drawing/2014/main" id="{1E47668A-BC9F-4F21-8199-906A64F8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62500"/>
            <a:ext cx="9925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Flash memory with no moving parts → Solid state</a:t>
            </a:r>
          </a:p>
        </p:txBody>
      </p:sp>
    </p:spTree>
    <p:extLst>
      <p:ext uri="{BB962C8B-B14F-4D97-AF65-F5344CB8AC3E}">
        <p14:creationId xmlns:p14="http://schemas.microsoft.com/office/powerpoint/2010/main" val="2994668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BA27C69-A8E8-47D8-A574-D7078276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986259F-03FC-41E5-9BDC-F5234C7B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03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B6D5DE09-6FCB-439C-A2C3-2C9C7EB8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825944ec9d4349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EC99507-A93A-4F94-9100-33E3B68D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19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32B7DDD7-CACB-4BBA-8E8D-21E953CE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-0">
            <a:extLst xmlns:a="http://schemas.openxmlformats.org/drawingml/2006/main">
              <a:ext uri="{FF2B5EF4-FFF2-40B4-BE49-F238E27FC236}">
                <a16:creationId xmlns:a16="http://schemas.microsoft.com/office/drawing/2014/main" id="{26A97AE7-9937-4066-B897-9500DF06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 State what is meant by non-volatile storage.  [1]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215BDD50-26F5-49C0-8854-2F0450F6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 Describe how a hard disk drive stores data.  [2]</a:t>
            </a:r>
          </a:p>
        </p:txBody>
      </p:sp>
    </p:spTree>
    <p:extLst>
      <p:ext uri="{BB962C8B-B14F-4D97-AF65-F5344CB8AC3E}">
        <p14:creationId xmlns:p14="http://schemas.microsoft.com/office/powerpoint/2010/main" val="5808513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36DE904-2955-44C4-8F4F-FAE9605B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983A2CE-D404-4E7E-9FDC-74239F0B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03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0E7ADE78-0F68-4222-B925-EB6DD0D8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 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d9adfee7b74109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4A565A4-FF80-4502-996C-66815E59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19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0D99A118-BEB6-497F-A084-25D83FA5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">
            <a:extLst xmlns:a="http://schemas.openxmlformats.org/drawingml/2006/main">
              <a:ext uri="{FF2B5EF4-FFF2-40B4-BE49-F238E27FC236}">
                <a16:creationId xmlns:a16="http://schemas.microsoft.com/office/drawing/2014/main" id="{D4D0C662-3B4E-4262-A958-8ACCD3A5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047750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 Describe how data is read from an optical disc.  [2]</a:t>
            </a:r>
          </a:p>
        </p:txBody>
      </p:sp>
    </p:spTree>
    <p:extLst>
      <p:ext uri="{BB962C8B-B14F-4D97-AF65-F5344CB8AC3E}">
        <p14:creationId xmlns:p14="http://schemas.microsoft.com/office/powerpoint/2010/main" val="56864182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D0320B95-A352-4778-835B-E20C0F8E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CFC1B2-CB38-465C-B6F6-7CF92704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27E8FC0-EB43-42DD-8AF4-E45274D7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b5c46aa75646b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10588D2-D191-422F-8440-0C8DEA9C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19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0103CAD1-79F2-44B2-A2B4-F8F0E361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4E9CD294-0BD6-42FE-B31A-839673DD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Non-volatile storage keeps its data when the power is off.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D28BBED5-E950-468A-897D-FE389858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A hard disk has spinning platters. Its read/write head changes or senses magnetic patterns representing bits.</a:t>
            </a:r>
          </a:p>
        </p:txBody>
      </p:sp>
    </p:spTree>
    <p:extLst>
      <p:ext uri="{BB962C8B-B14F-4D97-AF65-F5344CB8AC3E}">
        <p14:creationId xmlns:p14="http://schemas.microsoft.com/office/powerpoint/2010/main" val="164323962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18E3B20C-FE57-4FE0-BC46-F23FEC22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80C5645-214D-49BA-94A9-9AD62455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132381D-0616-44F3-A8D4-A497BEA2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 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b819568ab8498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21F83C8-E9C5-4295-B309-96D0CA01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19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77C756EC-1F22-4607-AA29-8F0A6F2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">
            <a:extLst xmlns:a="http://schemas.openxmlformats.org/drawingml/2006/main">
              <a:ext uri="{FF2B5EF4-FFF2-40B4-BE49-F238E27FC236}">
                <a16:creationId xmlns:a16="http://schemas.microsoft.com/office/drawing/2014/main" id="{C238FAF8-9540-491C-A59A-352CD2DB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0572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An optical drive shines a laser at the disc and detects differences in reflected light from its encoded surface.</a:t>
            </a:r>
          </a:p>
        </p:txBody>
      </p:sp>
    </p:spTree>
    <p:extLst>
      <p:ext uri="{BB962C8B-B14F-4D97-AF65-F5344CB8AC3E}">
        <p14:creationId xmlns:p14="http://schemas.microsoft.com/office/powerpoint/2010/main" val="7130784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2B83BF1-D35F-4B74-AC47-BE72A4DA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C21D21A-52BE-401F-960F-83CC77FF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03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1ACFD8A-F3F0-4EE9-B732-A67ED1FE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58a8f13937444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980DBB9-08B1-4D3C-93F6-9F1E5689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19 / 19</a:t>
            </a:r>
          </a:p>
        </p:txBody>
      </p:sp>
      <p:sp>
        <p:nvSpPr>
          <p:cNvPr id="6" name="confidence-intro">
            <a:extLst xmlns:a="http://schemas.openxmlformats.org/drawingml/2006/main">
              <a:ext uri="{FF2B5EF4-FFF2-40B4-BE49-F238E27FC236}">
                <a16:creationId xmlns:a16="http://schemas.microsoft.com/office/drawing/2014/main" id="{3F916239-969E-4877-9AA1-B46C4D1F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Select Not yet, Getting there or Confident for each objective on the worksheet.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13582DFD-8BA8-41D8-995D-AA00B838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5D92B5E6-06F3-4798-AAEF-B3B88D01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need for secondary storage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C1891C06-5CF6-4422-BCDC-FFDC6F21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FA12269F-0874-4F8E-8722-0A4C8853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Magnetic, optical and solid state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12C9CE51-066F-4080-9937-799D25C1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18368C95-FE7D-48D0-94AA-6AF353B1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720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each type works</a:t>
            </a:r>
          </a:p>
        </p:txBody>
      </p:sp>
    </p:spTree>
    <p:extLst>
      <p:ext uri="{BB962C8B-B14F-4D97-AF65-F5344CB8AC3E}">
        <p14:creationId xmlns:p14="http://schemas.microsoft.com/office/powerpoint/2010/main" val="8367935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2026-09-25T13:17:54.2160000Z</dcterms:created>
  <dcterms:modified xsi:type="dcterms:W3CDTF">2026-09-25T13:17:54.2160000Z</dcterms:modified>
</coreProperties>
</file>