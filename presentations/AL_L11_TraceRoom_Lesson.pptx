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Trace room.
Open the experience at revise360.co.uk and hand out AL_L11_TraceRoom_Worksheet.docx.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a trace table is.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Filling one in.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Tracing a loop.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Tracing selection.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Finding the bug with a trace.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Trace tables in the exam.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in at the front with the class calling out each value. Do not reveal the finished table: build it row by row.
The program is deliberately not one the pupils are about to trace. The stations halve a number, grade a mark and find a bug; the exam practice runs with an input of 9. A countdown in twos is none of them.
The error worth provoking is stopping at x = 4. Ask the class whether the loop is finished there and let somebody check 4 &gt; 3 aloud. That is the whole skill: the condition is tested before every pass, including the one you did not expect.
Say this out loud: Four lines are printed: 8, 6, 4, 2. The loop ends because 2 &gt; 3 is false - so check the condition once more after the final change,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None: the body never runs.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Tracing a loop, and work through its example again, aloud, with the class watching, then re-ask this question.
The course's own response to a wrong answer here: A while loop may run zero times; a do-until always runs at least once.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(al-l11-s3-c2),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2.1 Algorithms  |  Lesson 11</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Trace room</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trace table records what every variable holds as a program runs. It is how you find a logic error without a computer, and it appears on the exam paper every year.</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and why do programmers use a trace table?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a trace table is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and why trace tables help with debugging</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complete a trace table</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06654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Trace table</a:t>
            </a:r>
            <a:endParaRPr lang="en-US" sz="1200" dirty="0"/>
          </a:p>
        </p:txBody>
      </p:sp>
      <p:sp>
        <p:nvSpPr>
          <p:cNvPr id="19" name="Shape 17"/>
          <p:cNvSpPr/>
          <p:nvPr/>
        </p:nvSpPr>
        <p:spPr>
          <a:xfrm>
            <a:off x="2743200" y="5468112"/>
            <a:ext cx="1481328"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743200"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Dry run</a:t>
            </a:r>
            <a:endParaRPr lang="en-US" sz="1200" dirty="0"/>
          </a:p>
        </p:txBody>
      </p:sp>
      <p:sp>
        <p:nvSpPr>
          <p:cNvPr id="21" name="Shape 19"/>
          <p:cNvSpPr/>
          <p:nvPr/>
        </p:nvSpPr>
        <p:spPr>
          <a:xfrm>
            <a:off x="4352544" y="5468112"/>
            <a:ext cx="162763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352544"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Variable</a:t>
            </a:r>
            <a:endParaRPr lang="en-US" sz="1200" dirty="0"/>
          </a:p>
        </p:txBody>
      </p:sp>
      <p:sp>
        <p:nvSpPr>
          <p:cNvPr id="23" name="Shape 21"/>
          <p:cNvSpPr/>
          <p:nvPr/>
        </p:nvSpPr>
        <p:spPr>
          <a:xfrm>
            <a:off x="6108192" y="5468112"/>
            <a:ext cx="1773936"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108192"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Iteration</a:t>
            </a:r>
            <a:endParaRPr lang="en-US" sz="1200" dirty="0"/>
          </a:p>
        </p:txBody>
      </p:sp>
      <p:sp>
        <p:nvSpPr>
          <p:cNvPr id="25" name="Shape 23"/>
          <p:cNvSpPr/>
          <p:nvPr/>
        </p:nvSpPr>
        <p:spPr>
          <a:xfrm>
            <a:off x="8010144"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8010144"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Work out, on paper, what this gives:  total = 0, then add 1, then 2, then 3, then 4. Write down the total after each step.</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Trace room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a trace table is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trace table has one column per variable, plus one for output.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You work through the program line by line, writing down each value as it changes.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This is also called a dry run: running the program in your head.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programmer would trace a program by hand.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trace table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Filling one in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Only write a value when it changes, so the table stays readable.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Work strictly line by line, in the order the program actually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Take loops round as many times as the program does, not as many as you expect.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Trace a short loop by hand and record every change.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fill in a trace table, 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Tracing a loop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time round the loop, write a new row.</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 the loop condition each time before going round again.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last row shows the values when the loop stops.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Trace a while loop that halves a number until it reaches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Tracing a loop means...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Tracing selection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At an if statement, decide which branch runs with the current values.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Only the lines in that branch change anything.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Write down which branch was taken if the table has a column for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Trace a program that reports a grade from a mark.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Tracing selection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Finding the bug with a trace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Trace the program with an input you know the answer for.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Compare each value with what it should be.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first row where they differ points at the line with the error.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Trace a faulty program and identify the line that is wrong.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trace table finds a bug by...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Trace tables in the exam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Fill in every row asked for, even if a value repeats.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Put the output in the output column, not in a variable column.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Work slowly: almost all lost marks here come from rushing.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Complete a full trace table for a given program.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 the exam, a trace table must...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Watch me trace one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 different program from yours, so you get the method and not the answer</a:t>
            </a:r>
            <a:endParaRPr lang="en-US" sz="1500" dirty="0"/>
          </a:p>
        </p:txBody>
      </p:sp>
      <p:sp>
        <p:nvSpPr>
          <p:cNvPr id="7" name="Shape 5"/>
          <p:cNvSpPr/>
          <p:nvPr/>
        </p:nvSpPr>
        <p:spPr>
          <a:xfrm>
            <a:off x="502920" y="1719072"/>
            <a:ext cx="3566160" cy="2473980"/>
          </a:xfrm>
          <a:prstGeom prst="roundRect">
            <a:avLst>
              <a:gd name="adj" fmla="val 4435"/>
            </a:avLst>
          </a:prstGeom>
          <a:solidFill>
            <a:srgbClr val="FFFFFF"/>
          </a:solidFill>
          <a:ln w="15875">
            <a:solidFill>
              <a:srgbClr val="D9DEE7"/>
            </a:solidFill>
            <a:prstDash val="solid"/>
          </a:ln>
        </p:spPr>
      </p:sp>
      <p:sp>
        <p:nvSpPr>
          <p:cNvPr id="8" name="Text 6"/>
          <p:cNvSpPr txBox="1"/>
          <p:nvPr/>
        </p:nvSpPr>
        <p:spPr>
          <a:xfrm>
            <a:off x="77724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THE PROGRAM</a:t>
            </a:r>
            <a:endParaRPr lang="en-US" sz="1100" dirty="0"/>
          </a:p>
        </p:txBody>
      </p:sp>
      <p:sp>
        <p:nvSpPr>
          <p:cNvPr id="9" name="Text 7"/>
          <p:cNvSpPr txBox="1"/>
          <p:nvPr/>
        </p:nvSpPr>
        <p:spPr>
          <a:xfrm>
            <a:off x="777240" y="2231136"/>
            <a:ext cx="3017520" cy="1815612"/>
          </a:xfrm>
          <a:prstGeom prst="rect">
            <a:avLst/>
          </a:prstGeom>
          <a:noFill/>
          <a:ln/>
        </p:spPr>
        <p:txBody>
          <a:bodyPr wrap="square" lIns="0" tIns="0" rIns="0" bIns="0" rtlCol="0" anchor="t"/>
          <a:lstStyle/>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x = 10</a:t>
            </a: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while x &gt; 3</a:t>
            </a: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    x = x - 2</a:t>
            </a: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    print(x)</a:t>
            </a: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endwhile</a:t>
            </a:r>
            <a:endParaRPr lang="en-US" sz="1100" dirty="0"/>
          </a:p>
        </p:txBody>
      </p:sp>
      <p:sp>
        <p:nvSpPr>
          <p:cNvPr id="10" name="Shape 8"/>
          <p:cNvSpPr/>
          <p:nvPr/>
        </p:nvSpPr>
        <p:spPr>
          <a:xfrm>
            <a:off x="4297680" y="1719072"/>
            <a:ext cx="3566160" cy="2473980"/>
          </a:xfrm>
          <a:prstGeom prst="roundRect">
            <a:avLst>
              <a:gd name="adj" fmla="val 4435"/>
            </a:avLst>
          </a:prstGeom>
          <a:solidFill>
            <a:srgbClr val="FFFFFF"/>
          </a:solidFill>
          <a:ln w="15875">
            <a:solidFill>
              <a:srgbClr val="D9DEE7"/>
            </a:solidFill>
            <a:prstDash val="solid"/>
          </a:ln>
        </p:spPr>
      </p:sp>
      <p:sp>
        <p:nvSpPr>
          <p:cNvPr id="11" name="Text 9"/>
          <p:cNvSpPr txBox="1"/>
          <p:nvPr/>
        </p:nvSpPr>
        <p:spPr>
          <a:xfrm>
            <a:off x="457200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WHAT I'M THINKING</a:t>
            </a:r>
            <a:endParaRPr lang="en-US" sz="1100" dirty="0"/>
          </a:p>
        </p:txBody>
      </p:sp>
      <p:sp>
        <p:nvSpPr>
          <p:cNvPr id="12" name="Text 10"/>
          <p:cNvSpPr txBox="1"/>
          <p:nvPr/>
        </p:nvSpPr>
        <p:spPr>
          <a:xfrm>
            <a:off x="4572000" y="2231136"/>
            <a:ext cx="3017520" cy="1815612"/>
          </a:xfrm>
          <a:prstGeom prst="rect">
            <a:avLst/>
          </a:prstGeom>
          <a:noFill/>
          <a:ln/>
        </p:spPr>
        <p:txBody>
          <a:bodyPr wrap="square" lIns="0" tIns="0" rIns="0" bIns="0" rtlCol="0" anchor="t"/>
          <a:lstStyle/>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A trace table has one column per variable and one for anything printed.</a:t>
            </a:r>
            <a:endParaRPr lang="en-US" sz="1100" dirty="0"/>
          </a:p>
          <a:p>
            <a:pPr indent="0" marL="0">
              <a:lnSpc>
                <a:spcPct val="118000"/>
              </a:lnSpc>
              <a:buNone/>
            </a:pP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One row per pass of the loop.</a:t>
            </a:r>
            <a:endParaRPr lang="en-US" sz="1100" dirty="0"/>
          </a:p>
          <a:p>
            <a:pPr indent="0" marL="0">
              <a:lnSpc>
                <a:spcPct val="118000"/>
              </a:lnSpc>
              <a:buNone/>
            </a:pP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I check the condition BEFORE each pass, not after.</a:t>
            </a:r>
            <a:endParaRPr lang="en-US" sz="1100" dirty="0"/>
          </a:p>
        </p:txBody>
      </p:sp>
      <p:sp>
        <p:nvSpPr>
          <p:cNvPr id="13" name="Shape 11"/>
          <p:cNvSpPr/>
          <p:nvPr/>
        </p:nvSpPr>
        <p:spPr>
          <a:xfrm>
            <a:off x="8092440" y="1719072"/>
            <a:ext cx="3566160" cy="2473980"/>
          </a:xfrm>
          <a:prstGeom prst="roundRect">
            <a:avLst>
              <a:gd name="adj" fmla="val 4435"/>
            </a:avLst>
          </a:prstGeom>
          <a:solidFill>
            <a:srgbClr val="FFFFFF"/>
          </a:solidFill>
          <a:ln w="15875">
            <a:solidFill>
              <a:srgbClr val="D9DEE7"/>
            </a:solidFill>
            <a:prstDash val="solid"/>
          </a:ln>
        </p:spPr>
      </p:sp>
      <p:sp>
        <p:nvSpPr>
          <p:cNvPr id="14" name="Text 12"/>
          <p:cNvSpPr txBox="1"/>
          <p:nvPr/>
        </p:nvSpPr>
        <p:spPr>
          <a:xfrm>
            <a:off x="836676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HOW I FILL IT IN</a:t>
            </a:r>
            <a:endParaRPr lang="en-US" sz="1100" dirty="0"/>
          </a:p>
        </p:txBody>
      </p:sp>
      <p:sp>
        <p:nvSpPr>
          <p:cNvPr id="15" name="Text 13"/>
          <p:cNvSpPr txBox="1"/>
          <p:nvPr/>
        </p:nvSpPr>
        <p:spPr>
          <a:xfrm>
            <a:off x="8366760" y="2231136"/>
            <a:ext cx="3017520" cy="1815612"/>
          </a:xfrm>
          <a:prstGeom prst="rect">
            <a:avLst/>
          </a:prstGeom>
          <a:noFill/>
          <a:ln/>
        </p:spPr>
        <p:txBody>
          <a:bodyPr wrap="square" lIns="0" tIns="0" rIns="0" bIns="0" rtlCol="0" anchor="t"/>
          <a:lstStyle/>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Start: x = 10, nothing printed yet.</a:t>
            </a:r>
            <a:endParaRPr lang="en-US" sz="1100" dirty="0"/>
          </a:p>
          <a:p>
            <a:pPr indent="0" marL="0">
              <a:lnSpc>
                <a:spcPct val="118000"/>
              </a:lnSpc>
              <a:buNone/>
            </a:pP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Each pass: subtract 2, THEN print, so the printed value is the new one.</a:t>
            </a:r>
            <a:endParaRPr lang="en-US" sz="1100" dirty="0"/>
          </a:p>
          <a:p>
            <a:pPr indent="0" marL="0">
              <a:lnSpc>
                <a:spcPct val="118000"/>
              </a:lnSpc>
              <a:buNone/>
            </a:pPr>
            <a:endParaRPr lang="en-US" sz="1100" dirty="0"/>
          </a:p>
          <a:p>
            <a:pPr indent="0" marL="0">
              <a:lnSpc>
                <a:spcPct val="118000"/>
              </a:lnSpc>
              <a:buNone/>
            </a:pPr>
            <a:r>
              <a:rPr lang="en-US" sz="1100" dirty="0">
                <a:solidFill>
                  <a:srgbClr val="101828"/>
                </a:solidFill>
                <a:latin typeface="IBM Plex Sans" pitchFamily="34" charset="0"/>
                <a:ea typeface="IBM Plex Sans" pitchFamily="34" charset="-122"/>
                <a:cs typeface="IBM Plex Sans" pitchFamily="34" charset="-120"/>
              </a:rPr>
              <a:t>Stop when the condition is false.</a:t>
            </a:r>
            <a:endParaRPr lang="en-US" sz="1100" dirty="0"/>
          </a:p>
        </p:txBody>
      </p:sp>
      <p:sp>
        <p:nvSpPr>
          <p:cNvPr id="16" name="Shape 14"/>
          <p:cNvSpPr/>
          <p:nvPr/>
        </p:nvSpPr>
        <p:spPr>
          <a:xfrm>
            <a:off x="502920" y="4330212"/>
            <a:ext cx="11155680" cy="2006580"/>
          </a:xfrm>
          <a:prstGeom prst="roundRect">
            <a:avLst>
              <a:gd name="adj" fmla="val 5468"/>
            </a:avLst>
          </a:prstGeom>
          <a:solidFill>
            <a:srgbClr val="FFFFFF"/>
          </a:solidFill>
          <a:ln w="15875">
            <a:solidFill>
              <a:srgbClr val="08A6A6"/>
            </a:solidFill>
            <a:prstDash val="solid"/>
          </a:ln>
        </p:spPr>
      </p:sp>
      <p:sp>
        <p:nvSpPr>
          <p:cNvPr id="17" name="Text 15"/>
          <p:cNvSpPr txBox="1"/>
          <p:nvPr/>
        </p:nvSpPr>
        <p:spPr>
          <a:xfrm>
            <a:off x="868680" y="4494804"/>
            <a:ext cx="10424160" cy="292608"/>
          </a:xfrm>
          <a:prstGeom prst="rect">
            <a:avLst/>
          </a:prstGeom>
          <a:noFill/>
          <a:ln/>
        </p:spPr>
        <p:txBody>
          <a:bodyPr wrap="square" lIns="0" tIns="0" rIns="0" bIns="0" rtlCol="0" anchor="ctr"/>
          <a:lstStyle/>
          <a:p>
            <a:pPr indent="0" marL="0">
              <a:buNone/>
            </a:pPr>
            <a:r>
              <a:rPr lang="en-US" sz="1100" b="1" dirty="0">
                <a:solidFill>
                  <a:srgbClr val="08A6A6"/>
                </a:solidFill>
                <a:latin typeface="IBM Plex Mono" pitchFamily="34" charset="0"/>
                <a:ea typeface="IBM Plex Mono" pitchFamily="34" charset="-122"/>
                <a:cs typeface="IBM Plex Mono" pitchFamily="34" charset="-120"/>
              </a:rPr>
              <a:t>THE FINISHED TABLE</a:t>
            </a:r>
            <a:endParaRPr lang="en-US" sz="1100" dirty="0"/>
          </a:p>
        </p:txBody>
      </p:sp>
      <p:sp>
        <p:nvSpPr>
          <p:cNvPr id="18" name="Text 16"/>
          <p:cNvSpPr txBox="1"/>
          <p:nvPr/>
        </p:nvSpPr>
        <p:spPr>
          <a:xfrm>
            <a:off x="868680" y="4842276"/>
            <a:ext cx="10424160" cy="1384788"/>
          </a:xfrm>
          <a:prstGeom prst="rect">
            <a:avLst/>
          </a:prstGeom>
          <a:noFill/>
          <a:ln/>
        </p:spPr>
        <p:txBody>
          <a:bodyPr wrap="square" lIns="0" tIns="0" rIns="0" bIns="0" rtlCol="0" anchor="t"/>
          <a:lstStyle/>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x      Output</a:t>
            </a:r>
            <a:endParaRPr lang="en-US" sz="1300" dirty="0"/>
          </a:p>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10       -</a:t>
            </a:r>
            <a:endParaRPr lang="en-US" sz="1300" dirty="0"/>
          </a:p>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 8       8</a:t>
            </a:r>
            <a:endParaRPr lang="en-US" sz="1300" dirty="0"/>
          </a:p>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 6       6</a:t>
            </a:r>
            <a:endParaRPr lang="en-US" sz="1300" dirty="0"/>
          </a:p>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 4       4</a:t>
            </a:r>
            <a:endParaRPr lang="en-US" sz="1300" dirty="0"/>
          </a:p>
          <a:p>
            <a:pPr indent="0" marL="0">
              <a:lnSpc>
                <a:spcPct val="120000"/>
              </a:lnSpc>
              <a:buNone/>
            </a:pPr>
            <a:r>
              <a:rPr lang="en-US" sz="1300" dirty="0">
                <a:solidFill>
                  <a:srgbClr val="101828"/>
                </a:solidFill>
                <a:latin typeface="IBM Plex Sans" pitchFamily="34" charset="0"/>
                <a:ea typeface="IBM Plex Sans" pitchFamily="34" charset="-122"/>
                <a:cs typeface="IBM Plex Sans" pitchFamily="34" charset="-120"/>
              </a:rPr>
              <a:t> 2       2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A while loop's condition is false the first time it is tested. How many rows does the loop add?</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None: the body never runs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One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As many as the list</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runs once anyway</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Trace it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One last program to follow line by line. Tap the star and complete the table.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Also called a dry run</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Running a program in your head with pen and paper is a dry run; the trace table is where you write it down.</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Before debuggers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Early programmers had no way to inspect a running program, so tracing by hand was the only debugging technique there was.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Still used</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Professional programmers still trace tricky loops by hand, because a debugger shows what happens and a trace shows why.</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Watch the loop condition</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Most trace table mistakes come from going round a loop one time too many or too few. Check the condition every time.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a trace table.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how a trace table helps a programmer find a logic error.</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Complete the trace table for the program shown, which is run with an input of 9.</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11</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a trace table is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Tracing loops and selection</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Using a trace to find a bug</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Trace room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Algorithms  |  Lesson 11 — Trace room</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