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6: Search corridor.
Open the experience at revise360.co.uk and hand out AL_L06_SearchCorridor_Worksheet.docx.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How it works.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Its one great advantage.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Counting the checks.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Why it gets slow.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Writing it down.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Answering search questions.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answer is C: So they can use a much faster search that needs the list in order.
Do not say it yet. Every pupil commits first - fingers, whiteboards or a show of hands on each letter in turn - and you count the split before anyone can change their mind.
IF MOST OF THE CLASS IS RIGHT: say why it is right in one sentence and go straight on to the independent work.
IF A SIGNIFICANT GROUP IS ON ONE WRONG LETTER: that option is the misconception to teach against before anyone goes on. Go back to station 4, Why it gets slow, and work through its example again, aloud, with the class watching, then re-ask this question.
The course's own response to a wrong answer here: That faster search is the binary search, next lesson.
A limitation, stated rather than papered over: one response covers every wrong option; it does not say what to revisit for each one. The course does not record what each separate wrong option means, and this slide does not invent it. Decide your own reteach for each option before the lesson; the options above are the start of it.
This is a real activity from the experience (al-l06-s4-c2), so the wording here is the wording a pupil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2.1 Algorithms  |  Lesson 6</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Search corridor</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The simplest way to find something is to look at everything in turn. Learn how a linear search works, why it is used despite being slow, and step through one yourself.</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OCR J277 Paper 2  |  Computational thinking, algorithms and programming</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How does a linear search work, and when is it the right choice?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linear search algorithm</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that it is inefficient but simple and needs no ordering</a:t>
            </a:r>
            <a:endParaRPr lang="en-US" sz="1900" dirty="0"/>
          </a:p>
        </p:txBody>
      </p:sp>
      <p:sp>
        <p:nvSpPr>
          <p:cNvPr id="13" name="Text 11"/>
          <p:cNvSpPr txBox="1"/>
          <p:nvPr/>
        </p:nvSpPr>
        <p:spPr>
          <a:xfrm>
            <a:off x="548640" y="4151376"/>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4" name="Shape 12"/>
          <p:cNvSpPr/>
          <p:nvPr/>
        </p:nvSpPr>
        <p:spPr>
          <a:xfrm>
            <a:off x="548640" y="4535424"/>
            <a:ext cx="2359152" cy="402336"/>
          </a:xfrm>
          <a:prstGeom prst="roundRect">
            <a:avLst>
              <a:gd name="adj" fmla="val 50000"/>
            </a:avLst>
          </a:prstGeom>
          <a:solidFill>
            <a:srgbClr val="FFFFFF"/>
          </a:solidFill>
          <a:ln w="12700">
            <a:solidFill>
              <a:srgbClr val="2D63FF"/>
            </a:solidFill>
            <a:prstDash val="solid"/>
          </a:ln>
        </p:spPr>
      </p:sp>
      <p:sp>
        <p:nvSpPr>
          <p:cNvPr id="15" name="Text 13"/>
          <p:cNvSpPr txBox="1"/>
          <p:nvPr/>
        </p:nvSpPr>
        <p:spPr>
          <a:xfrm>
            <a:off x="548640" y="4535424"/>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Linear search</a:t>
            </a:r>
            <a:endParaRPr lang="en-US" sz="1200" dirty="0"/>
          </a:p>
        </p:txBody>
      </p:sp>
      <p:sp>
        <p:nvSpPr>
          <p:cNvPr id="16" name="Shape 14"/>
          <p:cNvSpPr/>
          <p:nvPr/>
        </p:nvSpPr>
        <p:spPr>
          <a:xfrm>
            <a:off x="3035808" y="4535424"/>
            <a:ext cx="2944368" cy="402336"/>
          </a:xfrm>
          <a:prstGeom prst="roundRect">
            <a:avLst>
              <a:gd name="adj" fmla="val 50000"/>
            </a:avLst>
          </a:prstGeom>
          <a:solidFill>
            <a:srgbClr val="FFFFFF"/>
          </a:solidFill>
          <a:ln w="12700">
            <a:solidFill>
              <a:srgbClr val="2D63FF"/>
            </a:solidFill>
            <a:prstDash val="solid"/>
          </a:ln>
        </p:spPr>
      </p:sp>
      <p:sp>
        <p:nvSpPr>
          <p:cNvPr id="17" name="Text 15"/>
          <p:cNvSpPr txBox="1"/>
          <p:nvPr/>
        </p:nvSpPr>
        <p:spPr>
          <a:xfrm>
            <a:off x="3035808" y="4535424"/>
            <a:ext cx="2944368"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Sequential search</a:t>
            </a:r>
            <a:endParaRPr lang="en-US" sz="1200" dirty="0"/>
          </a:p>
        </p:txBody>
      </p:sp>
      <p:sp>
        <p:nvSpPr>
          <p:cNvPr id="18" name="Shape 16"/>
          <p:cNvSpPr/>
          <p:nvPr/>
        </p:nvSpPr>
        <p:spPr>
          <a:xfrm>
            <a:off x="6108192" y="4535424"/>
            <a:ext cx="2505456" cy="402336"/>
          </a:xfrm>
          <a:prstGeom prst="roundRect">
            <a:avLst>
              <a:gd name="adj" fmla="val 50000"/>
            </a:avLst>
          </a:prstGeom>
          <a:solidFill>
            <a:srgbClr val="FFFFFF"/>
          </a:solidFill>
          <a:ln w="12700">
            <a:solidFill>
              <a:srgbClr val="2D63FF"/>
            </a:solidFill>
            <a:prstDash val="solid"/>
          </a:ln>
        </p:spPr>
      </p:sp>
      <p:sp>
        <p:nvSpPr>
          <p:cNvPr id="19" name="Text 17"/>
          <p:cNvSpPr txBox="1"/>
          <p:nvPr/>
        </p:nvSpPr>
        <p:spPr>
          <a:xfrm>
            <a:off x="6108192" y="4535424"/>
            <a:ext cx="2505456"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Unordered list</a:t>
            </a:r>
            <a:endParaRPr lang="en-US" sz="1200" dirty="0"/>
          </a:p>
        </p:txBody>
      </p:sp>
      <p:sp>
        <p:nvSpPr>
          <p:cNvPr id="20" name="Shape 18"/>
          <p:cNvSpPr/>
          <p:nvPr/>
        </p:nvSpPr>
        <p:spPr>
          <a:xfrm>
            <a:off x="8741664" y="4535424"/>
            <a:ext cx="1920240" cy="402336"/>
          </a:xfrm>
          <a:prstGeom prst="roundRect">
            <a:avLst>
              <a:gd name="adj" fmla="val 50000"/>
            </a:avLst>
          </a:prstGeom>
          <a:solidFill>
            <a:srgbClr val="FFFFFF"/>
          </a:solidFill>
          <a:ln w="12700">
            <a:solidFill>
              <a:srgbClr val="2D63FF"/>
            </a:solidFill>
            <a:prstDash val="solid"/>
          </a:ln>
        </p:spPr>
      </p:sp>
      <p:sp>
        <p:nvSpPr>
          <p:cNvPr id="21" name="Text 19"/>
          <p:cNvSpPr txBox="1"/>
          <p:nvPr/>
        </p:nvSpPr>
        <p:spPr>
          <a:xfrm>
            <a:off x="8741664" y="4535424"/>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Efficiency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You have lost a photo in an album of 200 pictures. Describe exactly how you would look for it, and how many you would expect to check.</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Search corridor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then write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wall, write the key fact and your answer to the challenge on the worksheet.</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Then tap the badge</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Only answer the questions once you have written. Your first answer is the one that counts.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down at the end</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The starred final challenge is on the floor. Predict on paper first.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How it works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Start at the first item and compare it to what you are looking for.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If it doesn't match, move to the next and compare again.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Stop when it matches, or when you reach the end without finding it.</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Describe a linear search in three steps of your own.</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linear search works by...</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Its one great advantage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The list does not need to be in order.</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works on any data that can be compared, including text.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It is short and easy to program, so mistakes are less likely.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Give two situations where a linear search is the right choice.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linear search is useful because...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Counting the checks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Best case: the item is first, so one check.</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Worst case: the item is last or missing, so one check per item.</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On average, about half the list is checked.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For a list of 100 items, state the best, worst and average number of checks.</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linear search needs...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Why it gets slow</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Double the list and you double the work.</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For a million items, the worst case is a million comparisons.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This is why large systems sort their data and use a faster search instead.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Explain why a linear search becomes unusable on very large data.</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linear search gets slower because...</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Writing it down</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Set a flag to false, then loop through every index.</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If the item at that index matches, set the flag to true and stop.</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After the loop, the flag says whether it was found.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Write pseudocode for a linear search that outputs true or false.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Pseudocode for a linear search...</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Answering search questions</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Name the algorithm and say what it does step by step.</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Say whether the list must be in order: for a linear search, it need not be.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If asked to count checks, count comparisons, not loops.</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a four-mark answer describing a linear search.</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To answer a search question, I should...</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1051560" cy="420624"/>
          </a:xfrm>
          <a:prstGeom prst="roundRect">
            <a:avLst>
              <a:gd name="adj" fmla="val 21739"/>
            </a:avLst>
          </a:prstGeom>
          <a:solidFill>
            <a:srgbClr val="F4B942"/>
          </a:solidFill>
          <a:ln/>
        </p:spPr>
      </p:sp>
      <p:sp>
        <p:nvSpPr>
          <p:cNvPr id="6" name="Text 4"/>
          <p:cNvSpPr txBox="1"/>
          <p:nvPr/>
        </p:nvSpPr>
        <p:spPr>
          <a:xfrm>
            <a:off x="502920" y="457200"/>
            <a:ext cx="1051560" cy="420624"/>
          </a:xfrm>
          <a:prstGeom prst="rect">
            <a:avLst/>
          </a:prstGeom>
          <a:noFill/>
          <a:ln/>
        </p:spPr>
        <p:txBody>
          <a:bodyPr wrap="square" lIns="0" tIns="0" rIns="0" bIns="0" rtlCol="0" anchor="ctr"/>
          <a:lstStyle/>
          <a:p>
            <a:pPr algn="ctr" indent="0" marL="0">
              <a:buNone/>
            </a:pPr>
            <a:r>
              <a:rPr lang="en-US" sz="1200" b="1" dirty="0">
                <a:solidFill>
                  <a:srgbClr val="101828"/>
                </a:solidFill>
                <a:latin typeface="IBM Plex Mono" pitchFamily="34" charset="0"/>
                <a:ea typeface="IBM Plex Mono" pitchFamily="34" charset="-122"/>
                <a:cs typeface="IBM Plex Mono" pitchFamily="34" charset="-120"/>
              </a:rPr>
              <a:t>CHECK</a:t>
            </a:r>
            <a:endParaRPr lang="en-US" sz="1200" dirty="0"/>
          </a:p>
        </p:txBody>
      </p:sp>
      <p:sp>
        <p:nvSpPr>
          <p:cNvPr id="7" name="Text 5"/>
          <p:cNvSpPr txBox="1"/>
          <p:nvPr/>
        </p:nvSpPr>
        <p:spPr>
          <a:xfrm>
            <a:off x="1737360" y="457200"/>
            <a:ext cx="9875520" cy="420624"/>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Hands down. Everyone commits.</a:t>
            </a:r>
            <a:endParaRPr lang="en-US" sz="1500" dirty="0"/>
          </a:p>
        </p:txBody>
      </p:sp>
      <p:sp>
        <p:nvSpPr>
          <p:cNvPr id="8" name="Text 6"/>
          <p:cNvSpPr txBox="1"/>
          <p:nvPr/>
        </p:nvSpPr>
        <p:spPr>
          <a:xfrm>
            <a:off x="502920" y="1097280"/>
            <a:ext cx="11155680" cy="914400"/>
          </a:xfrm>
          <a:prstGeom prst="rect">
            <a:avLst/>
          </a:prstGeom>
          <a:noFill/>
          <a:ln/>
        </p:spPr>
        <p:txBody>
          <a:bodyPr wrap="square" lIns="0" tIns="0" rIns="0" bIns="0" rtlCol="0" anchor="ctr"/>
          <a:lstStyle/>
          <a:p>
            <a:pPr indent="0" marL="0">
              <a:lnSpc>
                <a:spcPct val="115000"/>
              </a:lnSpc>
              <a:buNone/>
            </a:pPr>
            <a:r>
              <a:rPr lang="en-US" sz="2600" b="1" dirty="0">
                <a:solidFill>
                  <a:srgbClr val="101828"/>
                </a:solidFill>
                <a:latin typeface="IBM Plex Sans" pitchFamily="34" charset="0"/>
                <a:ea typeface="IBM Plex Sans" pitchFamily="34" charset="-122"/>
                <a:cs typeface="IBM Plex Sans" pitchFamily="34" charset="-120"/>
              </a:rPr>
              <a:t>Why do large systems sort their data?</a:t>
            </a:r>
            <a:endParaRPr lang="en-US" sz="2600" dirty="0"/>
          </a:p>
        </p:txBody>
      </p:sp>
      <p:sp>
        <p:nvSpPr>
          <p:cNvPr id="9" name="Shape 7"/>
          <p:cNvSpPr/>
          <p:nvPr/>
        </p:nvSpPr>
        <p:spPr>
          <a:xfrm>
            <a:off x="502920" y="2148840"/>
            <a:ext cx="11155680" cy="731520"/>
          </a:xfrm>
          <a:prstGeom prst="roundRect">
            <a:avLst>
              <a:gd name="adj" fmla="val 15000"/>
            </a:avLst>
          </a:prstGeom>
          <a:solidFill>
            <a:srgbClr val="FFFFFF"/>
          </a:solidFill>
          <a:ln w="15875">
            <a:solidFill>
              <a:srgbClr val="D9DEE7"/>
            </a:solidFill>
            <a:prstDash val="solid"/>
          </a:ln>
        </p:spPr>
      </p:sp>
      <p:sp>
        <p:nvSpPr>
          <p:cNvPr id="10" name="Shape 8"/>
          <p:cNvSpPr/>
          <p:nvPr/>
        </p:nvSpPr>
        <p:spPr>
          <a:xfrm>
            <a:off x="777240" y="2295144"/>
            <a:ext cx="438912" cy="438912"/>
          </a:xfrm>
          <a:prstGeom prst="roundRect">
            <a:avLst>
              <a:gd name="adj" fmla="val 20833"/>
            </a:avLst>
          </a:prstGeom>
          <a:solidFill>
            <a:srgbClr val="EEF2FB"/>
          </a:solidFill>
          <a:ln/>
        </p:spPr>
      </p:sp>
      <p:sp>
        <p:nvSpPr>
          <p:cNvPr id="11" name="Text 9"/>
          <p:cNvSpPr txBox="1"/>
          <p:nvPr/>
        </p:nvSpPr>
        <p:spPr>
          <a:xfrm>
            <a:off x="777240" y="229514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A</a:t>
            </a:r>
            <a:endParaRPr lang="en-US" sz="1300" dirty="0"/>
          </a:p>
        </p:txBody>
      </p:sp>
      <p:sp>
        <p:nvSpPr>
          <p:cNvPr id="12" name="Text 10"/>
          <p:cNvSpPr txBox="1"/>
          <p:nvPr/>
        </p:nvSpPr>
        <p:spPr>
          <a:xfrm>
            <a:off x="1417320" y="214884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Unsorted data cannot be stored</a:t>
            </a:r>
            <a:endParaRPr lang="en-US" sz="1700" dirty="0"/>
          </a:p>
        </p:txBody>
      </p:sp>
      <p:sp>
        <p:nvSpPr>
          <p:cNvPr id="13" name="Shape 11"/>
          <p:cNvSpPr/>
          <p:nvPr/>
        </p:nvSpPr>
        <p:spPr>
          <a:xfrm>
            <a:off x="502920" y="3017520"/>
            <a:ext cx="11155680" cy="731520"/>
          </a:xfrm>
          <a:prstGeom prst="roundRect">
            <a:avLst>
              <a:gd name="adj" fmla="val 15000"/>
            </a:avLst>
          </a:prstGeom>
          <a:solidFill>
            <a:srgbClr val="FFFFFF"/>
          </a:solidFill>
          <a:ln w="15875">
            <a:solidFill>
              <a:srgbClr val="D9DEE7"/>
            </a:solidFill>
            <a:prstDash val="solid"/>
          </a:ln>
        </p:spPr>
      </p:sp>
      <p:sp>
        <p:nvSpPr>
          <p:cNvPr id="14" name="Shape 12"/>
          <p:cNvSpPr/>
          <p:nvPr/>
        </p:nvSpPr>
        <p:spPr>
          <a:xfrm>
            <a:off x="777240" y="3163824"/>
            <a:ext cx="438912" cy="438912"/>
          </a:xfrm>
          <a:prstGeom prst="roundRect">
            <a:avLst>
              <a:gd name="adj" fmla="val 20833"/>
            </a:avLst>
          </a:prstGeom>
          <a:solidFill>
            <a:srgbClr val="EEF2FB"/>
          </a:solidFill>
          <a:ln/>
        </p:spPr>
      </p:sp>
      <p:sp>
        <p:nvSpPr>
          <p:cNvPr id="15" name="Text 13"/>
          <p:cNvSpPr txBox="1"/>
          <p:nvPr/>
        </p:nvSpPr>
        <p:spPr>
          <a:xfrm>
            <a:off x="777240" y="316382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B</a:t>
            </a:r>
            <a:endParaRPr lang="en-US" sz="1300" dirty="0"/>
          </a:p>
        </p:txBody>
      </p:sp>
      <p:sp>
        <p:nvSpPr>
          <p:cNvPr id="16" name="Text 14"/>
          <p:cNvSpPr txBox="1"/>
          <p:nvPr/>
        </p:nvSpPr>
        <p:spPr>
          <a:xfrm>
            <a:off x="1417320" y="301752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Sorting removes duplicates</a:t>
            </a:r>
            <a:endParaRPr lang="en-US" sz="1700" dirty="0"/>
          </a:p>
        </p:txBody>
      </p:sp>
      <p:sp>
        <p:nvSpPr>
          <p:cNvPr id="17" name="Shape 15"/>
          <p:cNvSpPr/>
          <p:nvPr/>
        </p:nvSpPr>
        <p:spPr>
          <a:xfrm>
            <a:off x="502920" y="3886200"/>
            <a:ext cx="11155680" cy="731520"/>
          </a:xfrm>
          <a:prstGeom prst="roundRect">
            <a:avLst>
              <a:gd name="adj" fmla="val 15000"/>
            </a:avLst>
          </a:prstGeom>
          <a:solidFill>
            <a:srgbClr val="FFFFFF"/>
          </a:solidFill>
          <a:ln w="15875">
            <a:solidFill>
              <a:srgbClr val="D9DEE7"/>
            </a:solidFill>
            <a:prstDash val="solid"/>
          </a:ln>
        </p:spPr>
      </p:sp>
      <p:sp>
        <p:nvSpPr>
          <p:cNvPr id="18" name="Shape 16"/>
          <p:cNvSpPr/>
          <p:nvPr/>
        </p:nvSpPr>
        <p:spPr>
          <a:xfrm>
            <a:off x="777240" y="4032504"/>
            <a:ext cx="438912" cy="438912"/>
          </a:xfrm>
          <a:prstGeom prst="roundRect">
            <a:avLst>
              <a:gd name="adj" fmla="val 20833"/>
            </a:avLst>
          </a:prstGeom>
          <a:solidFill>
            <a:srgbClr val="EEF2FB"/>
          </a:solidFill>
          <a:ln/>
        </p:spPr>
      </p:sp>
      <p:sp>
        <p:nvSpPr>
          <p:cNvPr id="19" name="Text 17"/>
          <p:cNvSpPr txBox="1"/>
          <p:nvPr/>
        </p:nvSpPr>
        <p:spPr>
          <a:xfrm>
            <a:off x="777240" y="403250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C</a:t>
            </a:r>
            <a:endParaRPr lang="en-US" sz="1300" dirty="0"/>
          </a:p>
        </p:txBody>
      </p:sp>
      <p:sp>
        <p:nvSpPr>
          <p:cNvPr id="20" name="Text 18"/>
          <p:cNvSpPr txBox="1"/>
          <p:nvPr/>
        </p:nvSpPr>
        <p:spPr>
          <a:xfrm>
            <a:off x="1417320" y="388620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So they can use a much faster search that needs the list in order</a:t>
            </a:r>
            <a:endParaRPr lang="en-US" sz="1700" dirty="0"/>
          </a:p>
        </p:txBody>
      </p:sp>
      <p:sp>
        <p:nvSpPr>
          <p:cNvPr id="21" name="Shape 19"/>
          <p:cNvSpPr/>
          <p:nvPr/>
        </p:nvSpPr>
        <p:spPr>
          <a:xfrm>
            <a:off x="502920" y="4754880"/>
            <a:ext cx="11155680" cy="731520"/>
          </a:xfrm>
          <a:prstGeom prst="roundRect">
            <a:avLst>
              <a:gd name="adj" fmla="val 15000"/>
            </a:avLst>
          </a:prstGeom>
          <a:solidFill>
            <a:srgbClr val="FFFFFF"/>
          </a:solidFill>
          <a:ln w="15875">
            <a:solidFill>
              <a:srgbClr val="D9DEE7"/>
            </a:solidFill>
            <a:prstDash val="solid"/>
          </a:ln>
        </p:spPr>
      </p:sp>
      <p:sp>
        <p:nvSpPr>
          <p:cNvPr id="22" name="Shape 20"/>
          <p:cNvSpPr/>
          <p:nvPr/>
        </p:nvSpPr>
        <p:spPr>
          <a:xfrm>
            <a:off x="777240" y="4901184"/>
            <a:ext cx="438912" cy="438912"/>
          </a:xfrm>
          <a:prstGeom prst="roundRect">
            <a:avLst>
              <a:gd name="adj" fmla="val 20833"/>
            </a:avLst>
          </a:prstGeom>
          <a:solidFill>
            <a:srgbClr val="EEF2FB"/>
          </a:solidFill>
          <a:ln/>
        </p:spPr>
      </p:sp>
      <p:sp>
        <p:nvSpPr>
          <p:cNvPr id="23" name="Text 21"/>
          <p:cNvSpPr txBox="1"/>
          <p:nvPr/>
        </p:nvSpPr>
        <p:spPr>
          <a:xfrm>
            <a:off x="777240" y="4901184"/>
            <a:ext cx="438912" cy="438912"/>
          </a:xfrm>
          <a:prstGeom prst="rect">
            <a:avLst/>
          </a:prstGeom>
          <a:noFill/>
          <a:ln/>
        </p:spPr>
        <p:txBody>
          <a:bodyPr wrap="square" lIns="0" tIns="0" rIns="0" bIns="0" rtlCol="0" anchor="ctr"/>
          <a:lstStyle/>
          <a:p>
            <a:pPr algn="ctr" indent="0" marL="0">
              <a:buNone/>
            </a:pPr>
            <a:r>
              <a:rPr lang="en-US" sz="1300" b="1" dirty="0">
                <a:solidFill>
                  <a:srgbClr val="2D63FF"/>
                </a:solidFill>
                <a:latin typeface="IBM Plex Mono" pitchFamily="34" charset="0"/>
                <a:ea typeface="IBM Plex Mono" pitchFamily="34" charset="-122"/>
                <a:cs typeface="IBM Plex Mono" pitchFamily="34" charset="-120"/>
              </a:rPr>
              <a:t>D</a:t>
            </a:r>
            <a:endParaRPr lang="en-US" sz="1300" dirty="0"/>
          </a:p>
        </p:txBody>
      </p:sp>
      <p:sp>
        <p:nvSpPr>
          <p:cNvPr id="24" name="Text 22"/>
          <p:cNvSpPr txBox="1"/>
          <p:nvPr/>
        </p:nvSpPr>
        <p:spPr>
          <a:xfrm>
            <a:off x="1417320" y="4754880"/>
            <a:ext cx="10058400" cy="731520"/>
          </a:xfrm>
          <a:prstGeom prst="rect">
            <a:avLst/>
          </a:prstGeom>
          <a:noFill/>
          <a:ln/>
        </p:spPr>
        <p:txBody>
          <a:bodyPr wrap="square" lIns="0" tIns="0" rIns="0" bIns="0" rtlCol="0" anchor="ctr"/>
          <a:lstStyle/>
          <a:p>
            <a:pPr indent="0" marL="0">
              <a:lnSpc>
                <a:spcPct val="115000"/>
              </a:lnSpc>
              <a:buNone/>
            </a:pPr>
            <a:r>
              <a:rPr lang="en-US" sz="1700" dirty="0">
                <a:solidFill>
                  <a:srgbClr val="101828"/>
                </a:solidFill>
                <a:latin typeface="IBM Plex Sans" pitchFamily="34" charset="0"/>
                <a:ea typeface="IBM Plex Sans" pitchFamily="34" charset="-122"/>
                <a:cs typeface="IBM Plex Sans" pitchFamily="34" charset="-120"/>
              </a:rPr>
              <a:t>Sorted data uses less space</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Search it</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Two searches and a judgement call. Tap the star to begin.</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Also called sequential</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linear search is sometimes called a sequential search, because it goes through the list in sequence.</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Sometimes unbeatable</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If the list is unsorted and you search it once, a linear search is the fastest possible: anything else would have to look at every item too.</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Your eyes do it</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Scanning a shelf for a particular book is a linear search, which is why bookshops sort their shelves.</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Early exit</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well-written linear search stops the moment it finds a match, which halves the average work.</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Describe how a linear search works.</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[3]</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State one advantage of a linear search over a binary search.</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[1]</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A list contains 2,000 unsorted items. Explain why a linear search may take a long time, and state the maximum number of comparisons needed.</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2.1 Algorithms  |  Lesson 6</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How a linear search works</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Its advantages and disadvantages</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Counting the comparisons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Search corridor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2.1 Algorithms  |  Lesson 6 — Search corridor</dc:title>
  <dc:subject>OCR J277 GCSE Computer Science</dc:subject>
  <dc:creator>Revise 360 Ltd</dc:creator>
  <cp:lastModifiedBy>Revise 360 Ltd</cp:lastModifiedBy>
  <cp:revision>1</cp:revision>
  <dcterms:created xsi:type="dcterms:W3CDTF">2026-10-03T17:08:50Z</dcterms:created>
  <dcterms:modified xsi:type="dcterms:W3CDTF">2026-10-03T17:08:50Z</dcterms:modified>
</cp:coreProperties>
</file>