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3: Code clinic.
Open the experience at revise360.co.uk and hand out RP_L03_CodeClinic_Worksheet.docx.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Share the objectives, then go straight into the starter. Devices stay away for the first five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Silent start. Take two or three answers before moving on: this is where misconceptions surface.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 on writing before tapping. That single rule is the difference between revision and a quiz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1: Naming conventions.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2: Commenting.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3: Indentation and white space.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4: Sub-programs.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5: Why maintainability matters.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6: Refining an algorithm.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them commit to an answer on paper before they tap the star. Guessing first costs them the learning.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these as a settler, or as something for early finishers to read in the experience.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Timed and silent. Mark against the answer sheet, then ask students to record their weakest area.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copy their score-screen breakdown onto the worksheet, then rate themselves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828"/>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822960" y="1417320"/>
            <a:ext cx="10515600" cy="411480"/>
          </a:xfrm>
          <a:prstGeom prst="rect">
            <a:avLst/>
          </a:prstGeom>
          <a:noFill/>
          <a:ln/>
        </p:spPr>
        <p:txBody>
          <a:bodyPr wrap="square" lIns="0" tIns="0" rIns="0" bIns="0" rtlCol="0" anchor="ctr"/>
          <a:lstStyle/>
          <a:p>
            <a:pPr indent="0" marL="0">
              <a:buNone/>
            </a:pPr>
            <a:r>
              <a:rPr lang="en-US" sz="1500" dirty="0">
                <a:solidFill>
                  <a:srgbClr val="F4B942"/>
                </a:solidFill>
                <a:latin typeface="IBM Plex Mono" pitchFamily="34" charset="0"/>
                <a:ea typeface="IBM Plex Mono" pitchFamily="34" charset="-122"/>
                <a:cs typeface="IBM Plex Mono" pitchFamily="34" charset="-120"/>
              </a:rPr>
              <a:t>2.3 Producing robust programs  |  Lesson 3</a:t>
            </a:r>
            <a:endParaRPr lang="en-US" sz="1500" dirty="0"/>
          </a:p>
        </p:txBody>
      </p:sp>
      <p:sp>
        <p:nvSpPr>
          <p:cNvPr id="4" name="Text 2"/>
          <p:cNvSpPr txBox="1"/>
          <p:nvPr/>
        </p:nvSpPr>
        <p:spPr>
          <a:xfrm>
            <a:off x="822960" y="1920240"/>
            <a:ext cx="10515600" cy="1280160"/>
          </a:xfrm>
          <a:prstGeom prst="rect">
            <a:avLst/>
          </a:prstGeom>
          <a:noFill/>
          <a:ln/>
        </p:spPr>
        <p:txBody>
          <a:bodyPr wrap="square" lIns="0" tIns="0" rIns="0" bIns="0" rtlCol="0" anchor="ctr"/>
          <a:lstStyle/>
          <a:p>
            <a:pPr indent="0" marL="0">
              <a:buNone/>
            </a:pPr>
            <a:r>
              <a:rPr lang="en-US" sz="6000" b="1" dirty="0">
                <a:solidFill>
                  <a:srgbClr val="FFFFFF"/>
                </a:solidFill>
                <a:latin typeface="IBM Plex Sans" pitchFamily="34" charset="0"/>
                <a:ea typeface="IBM Plex Sans" pitchFamily="34" charset="-122"/>
                <a:cs typeface="IBM Plex Sans" pitchFamily="34" charset="-120"/>
              </a:rPr>
              <a:t>Code clinic</a:t>
            </a:r>
            <a:endParaRPr lang="en-US" sz="6000" dirty="0"/>
          </a:p>
        </p:txBody>
      </p:sp>
      <p:sp>
        <p:nvSpPr>
          <p:cNvPr id="5" name="Text 3"/>
          <p:cNvSpPr txBox="1"/>
          <p:nvPr/>
        </p:nvSpPr>
        <p:spPr>
          <a:xfrm>
            <a:off x="822960" y="3291840"/>
            <a:ext cx="9509760" cy="1371600"/>
          </a:xfrm>
          <a:prstGeom prst="rect">
            <a:avLst/>
          </a:prstGeom>
          <a:noFill/>
          <a:ln/>
        </p:spPr>
        <p:txBody>
          <a:bodyPr wrap="square" lIns="0" tIns="0" rIns="0" bIns="0" rtlCol="0" anchor="ctr"/>
          <a:lstStyle/>
          <a:p>
            <a:pPr indent="0" marL="0">
              <a:lnSpc>
                <a:spcPct val="125000"/>
              </a:lnSpc>
              <a:buNone/>
            </a:pPr>
            <a:r>
              <a:rPr lang="en-US" sz="1800" dirty="0">
                <a:solidFill>
                  <a:srgbClr val="C7CDD9"/>
                </a:solidFill>
                <a:latin typeface="IBM Plex Sans" pitchFamily="34" charset="0"/>
                <a:ea typeface="IBM Plex Sans" pitchFamily="34" charset="-122"/>
                <a:cs typeface="IBM Plex Sans" pitchFamily="34" charset="-120"/>
              </a:rPr>
              <a:t>Code is read far more often than it is written, and usually by someone who was not there when it was written. Maintainability is everything you do to the person who opens your program in six months, which is often you.</a:t>
            </a:r>
            <a:endParaRPr lang="en-US" sz="1800" dirty="0"/>
          </a:p>
        </p:txBody>
      </p:sp>
      <p:sp>
        <p:nvSpPr>
          <p:cNvPr id="6" name="Shape 4"/>
          <p:cNvSpPr/>
          <p:nvPr/>
        </p:nvSpPr>
        <p:spPr>
          <a:xfrm>
            <a:off x="822960" y="4846320"/>
            <a:ext cx="2926080" cy="0"/>
          </a:xfrm>
          <a:prstGeom prst="line">
            <a:avLst/>
          </a:prstGeom>
          <a:noFill/>
          <a:ln w="31750">
            <a:solidFill>
              <a:srgbClr val="2D63FF"/>
            </a:solidFill>
            <a:prstDash val="solid"/>
          </a:ln>
        </p:spPr>
      </p:sp>
      <p:sp>
        <p:nvSpPr>
          <p:cNvPr id="7" name="Text 5"/>
          <p:cNvSpPr txBox="1"/>
          <p:nvPr/>
        </p:nvSpPr>
        <p:spPr>
          <a:xfrm>
            <a:off x="822960" y="5029200"/>
            <a:ext cx="10515600" cy="365760"/>
          </a:xfrm>
          <a:prstGeom prst="rect">
            <a:avLst/>
          </a:prstGeom>
          <a:noFill/>
          <a:ln/>
        </p:spPr>
        <p:txBody>
          <a:bodyPr wrap="square" lIns="0" tIns="0" rIns="0" bIns="0" rtlCol="0" anchor="ctr"/>
          <a:lstStyle/>
          <a:p>
            <a:pPr indent="0" marL="0">
              <a:buNone/>
            </a:pPr>
            <a:r>
              <a:rPr lang="en-US" sz="1300" dirty="0">
                <a:solidFill>
                  <a:srgbClr val="667085"/>
                </a:solidFill>
                <a:latin typeface="IBM Plex Mono" pitchFamily="34" charset="0"/>
                <a:ea typeface="IBM Plex Mono" pitchFamily="34" charset="-122"/>
                <a:cs typeface="IBM Plex Mono" pitchFamily="34" charset="-120"/>
              </a:rPr>
              <a:t>OCR J277 Paper 2  |  Computational thinking, algorithms and programming</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2.3 Producing robust programs  |  Lesson 3</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By the end of this lesson</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What does code maintainability mean?</a:t>
            </a:r>
            <a:endParaRPr lang="en-US" sz="1500" dirty="0"/>
          </a:p>
        </p:txBody>
      </p:sp>
      <p:sp>
        <p:nvSpPr>
          <p:cNvPr id="7" name="Shape 5"/>
          <p:cNvSpPr/>
          <p:nvPr/>
        </p:nvSpPr>
        <p:spPr>
          <a:xfrm>
            <a:off x="548640" y="1965960"/>
            <a:ext cx="566928" cy="566928"/>
          </a:xfrm>
          <a:prstGeom prst="ellipse">
            <a:avLst/>
          </a:prstGeom>
          <a:solidFill>
            <a:srgbClr val="2D63FF"/>
          </a:solidFill>
          <a:ln/>
        </p:spPr>
      </p:sp>
      <p:sp>
        <p:nvSpPr>
          <p:cNvPr id="8" name="Text 6"/>
          <p:cNvSpPr txBox="1"/>
          <p:nvPr/>
        </p:nvSpPr>
        <p:spPr>
          <a:xfrm>
            <a:off x="548640" y="196596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9" name="Text 7"/>
          <p:cNvSpPr txBox="1"/>
          <p:nvPr/>
        </p:nvSpPr>
        <p:spPr>
          <a:xfrm>
            <a:off x="1325880" y="1965960"/>
            <a:ext cx="10332720" cy="566928"/>
          </a:xfrm>
          <a:prstGeom prst="rect">
            <a:avLst/>
          </a:prstGeom>
          <a:noFill/>
          <a:ln/>
        </p:spPr>
        <p:txBody>
          <a:bodyPr wrap="square" lIns="0" tIns="0" rIns="0" bIns="0" rtlCol="0" anchor="ctr"/>
          <a:lstStyle/>
          <a:p>
            <a:pPr indent="0" marL="0">
              <a:buNone/>
            </a:pPr>
            <a:r>
              <a:rPr lang="en-US" sz="1900" dirty="0">
                <a:solidFill>
                  <a:srgbClr val="101828"/>
                </a:solidFill>
                <a:latin typeface="IBM Plex Sans" pitchFamily="34" charset="0"/>
                <a:ea typeface="IBM Plex Sans" pitchFamily="34" charset="-122"/>
                <a:cs typeface="IBM Plex Sans" pitchFamily="34" charset="-120"/>
              </a:rPr>
              <a:t>Know why creating code that is easy to read is important with large projects</a:t>
            </a:r>
            <a:endParaRPr lang="en-US" sz="1900" dirty="0"/>
          </a:p>
        </p:txBody>
      </p:sp>
      <p:sp>
        <p:nvSpPr>
          <p:cNvPr id="10" name="Shape 8"/>
          <p:cNvSpPr/>
          <p:nvPr/>
        </p:nvSpPr>
        <p:spPr>
          <a:xfrm>
            <a:off x="548640" y="2898648"/>
            <a:ext cx="566928" cy="566928"/>
          </a:xfrm>
          <a:prstGeom prst="ellipse">
            <a:avLst/>
          </a:prstGeom>
          <a:solidFill>
            <a:srgbClr val="2D63FF"/>
          </a:solidFill>
          <a:ln/>
        </p:spPr>
      </p:sp>
      <p:sp>
        <p:nvSpPr>
          <p:cNvPr id="11" name="Text 9"/>
          <p:cNvSpPr txBox="1"/>
          <p:nvPr/>
        </p:nvSpPr>
        <p:spPr>
          <a:xfrm>
            <a:off x="548640" y="289864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2</a:t>
            </a:r>
            <a:endParaRPr lang="en-US" sz="2000" dirty="0"/>
          </a:p>
        </p:txBody>
      </p:sp>
      <p:sp>
        <p:nvSpPr>
          <p:cNvPr id="12" name="Text 10"/>
          <p:cNvSpPr txBox="1"/>
          <p:nvPr/>
        </p:nvSpPr>
        <p:spPr>
          <a:xfrm>
            <a:off x="1325880" y="2898648"/>
            <a:ext cx="10332720" cy="566928"/>
          </a:xfrm>
          <a:prstGeom prst="rect">
            <a:avLst/>
          </a:prstGeom>
          <a:noFill/>
          <a:ln/>
        </p:spPr>
        <p:txBody>
          <a:bodyPr wrap="square" lIns="0" tIns="0" rIns="0" bIns="0" rtlCol="0" anchor="ctr"/>
          <a:lstStyle/>
          <a:p>
            <a:pPr indent="0" marL="0">
              <a:buNone/>
            </a:pPr>
            <a:r>
              <a:rPr lang="en-US" sz="1900" dirty="0">
                <a:solidFill>
                  <a:srgbClr val="101828"/>
                </a:solidFill>
                <a:latin typeface="IBM Plex Sans" pitchFamily="34" charset="0"/>
                <a:ea typeface="IBM Plex Sans" pitchFamily="34" charset="-122"/>
                <a:cs typeface="IBM Plex Sans" pitchFamily="34" charset="-120"/>
              </a:rPr>
              <a:t>Understand what programmers can do to make their code more readable</a:t>
            </a:r>
            <a:endParaRPr lang="en-US" sz="1900" dirty="0"/>
          </a:p>
        </p:txBody>
      </p:sp>
      <p:sp>
        <p:nvSpPr>
          <p:cNvPr id="13" name="Shape 11"/>
          <p:cNvSpPr/>
          <p:nvPr/>
        </p:nvSpPr>
        <p:spPr>
          <a:xfrm>
            <a:off x="548640" y="3831336"/>
            <a:ext cx="566928" cy="566928"/>
          </a:xfrm>
          <a:prstGeom prst="ellipse">
            <a:avLst/>
          </a:prstGeom>
          <a:solidFill>
            <a:srgbClr val="2D63FF"/>
          </a:solidFill>
          <a:ln/>
        </p:spPr>
      </p:sp>
      <p:sp>
        <p:nvSpPr>
          <p:cNvPr id="14" name="Text 12"/>
          <p:cNvSpPr txBox="1"/>
          <p:nvPr/>
        </p:nvSpPr>
        <p:spPr>
          <a:xfrm>
            <a:off x="548640" y="383133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3</a:t>
            </a:r>
            <a:endParaRPr lang="en-US" sz="2000" dirty="0"/>
          </a:p>
        </p:txBody>
      </p:sp>
      <p:sp>
        <p:nvSpPr>
          <p:cNvPr id="15" name="Text 13"/>
          <p:cNvSpPr txBox="1"/>
          <p:nvPr/>
        </p:nvSpPr>
        <p:spPr>
          <a:xfrm>
            <a:off x="1325880" y="3831336"/>
            <a:ext cx="10332720" cy="566928"/>
          </a:xfrm>
          <a:prstGeom prst="rect">
            <a:avLst/>
          </a:prstGeom>
          <a:noFill/>
          <a:ln/>
        </p:spPr>
        <p:txBody>
          <a:bodyPr wrap="square" lIns="0" tIns="0" rIns="0" bIns="0" rtlCol="0" anchor="ctr"/>
          <a:lstStyle/>
          <a:p>
            <a:pPr indent="0" marL="0">
              <a:buNone/>
            </a:pPr>
            <a:r>
              <a:rPr lang="en-US" sz="1900" dirty="0">
                <a:solidFill>
                  <a:srgbClr val="101828"/>
                </a:solidFill>
                <a:latin typeface="IBM Plex Sans" pitchFamily="34" charset="0"/>
                <a:ea typeface="IBM Plex Sans" pitchFamily="34" charset="-122"/>
                <a:cs typeface="IBM Plex Sans" pitchFamily="34" charset="-120"/>
              </a:rPr>
              <a:t>Understand how to refine algorithms to make them more robust</a:t>
            </a:r>
            <a:endParaRPr lang="en-US" sz="1900" dirty="0"/>
          </a:p>
        </p:txBody>
      </p:sp>
      <p:sp>
        <p:nvSpPr>
          <p:cNvPr id="16" name="Text 14"/>
          <p:cNvSpPr txBox="1"/>
          <p:nvPr/>
        </p:nvSpPr>
        <p:spPr>
          <a:xfrm>
            <a:off x="548640" y="5084064"/>
            <a:ext cx="2743200" cy="320040"/>
          </a:xfrm>
          <a:prstGeom prst="rect">
            <a:avLst/>
          </a:prstGeom>
          <a:noFill/>
          <a:ln/>
        </p:spPr>
        <p:txBody>
          <a:bodyPr wrap="square" lIns="0" tIns="0" rIns="0" bIns="0" rtlCol="0" anchor="ctr"/>
          <a:lstStyle/>
          <a:p>
            <a:pPr indent="0" marL="0">
              <a:buNone/>
            </a:pPr>
            <a:r>
              <a:rPr lang="en-US" sz="1200" dirty="0">
                <a:solidFill>
                  <a:srgbClr val="667085"/>
                </a:solidFill>
                <a:latin typeface="IBM Plex Mono" pitchFamily="34" charset="0"/>
                <a:ea typeface="IBM Plex Mono" pitchFamily="34" charset="-122"/>
                <a:cs typeface="IBM Plex Mono" pitchFamily="34" charset="-120"/>
              </a:rPr>
              <a:t>Key words</a:t>
            </a:r>
            <a:endParaRPr lang="en-US" sz="1200" dirty="0"/>
          </a:p>
        </p:txBody>
      </p:sp>
      <p:sp>
        <p:nvSpPr>
          <p:cNvPr id="17" name="Shape 15"/>
          <p:cNvSpPr/>
          <p:nvPr/>
        </p:nvSpPr>
        <p:spPr>
          <a:xfrm>
            <a:off x="548640" y="5468112"/>
            <a:ext cx="2651760" cy="402336"/>
          </a:xfrm>
          <a:prstGeom prst="roundRect">
            <a:avLst>
              <a:gd name="adj" fmla="val 50000"/>
            </a:avLst>
          </a:prstGeom>
          <a:solidFill>
            <a:srgbClr val="FFFFFF"/>
          </a:solidFill>
          <a:ln w="12700">
            <a:solidFill>
              <a:srgbClr val="2D63FF"/>
            </a:solidFill>
            <a:prstDash val="solid"/>
          </a:ln>
        </p:spPr>
      </p:sp>
      <p:sp>
        <p:nvSpPr>
          <p:cNvPr id="18" name="Text 16"/>
          <p:cNvSpPr txBox="1"/>
          <p:nvPr/>
        </p:nvSpPr>
        <p:spPr>
          <a:xfrm>
            <a:off x="548640" y="5468112"/>
            <a:ext cx="2651760"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Maintainability</a:t>
            </a:r>
            <a:endParaRPr lang="en-US" sz="1200" dirty="0"/>
          </a:p>
        </p:txBody>
      </p:sp>
      <p:sp>
        <p:nvSpPr>
          <p:cNvPr id="19" name="Shape 17"/>
          <p:cNvSpPr/>
          <p:nvPr/>
        </p:nvSpPr>
        <p:spPr>
          <a:xfrm>
            <a:off x="3328416" y="5468112"/>
            <a:ext cx="3090672" cy="402336"/>
          </a:xfrm>
          <a:prstGeom prst="roundRect">
            <a:avLst>
              <a:gd name="adj" fmla="val 50000"/>
            </a:avLst>
          </a:prstGeom>
          <a:solidFill>
            <a:srgbClr val="FFFFFF"/>
          </a:solidFill>
          <a:ln w="12700">
            <a:solidFill>
              <a:srgbClr val="2D63FF"/>
            </a:solidFill>
            <a:prstDash val="solid"/>
          </a:ln>
        </p:spPr>
      </p:sp>
      <p:sp>
        <p:nvSpPr>
          <p:cNvPr id="20" name="Text 18"/>
          <p:cNvSpPr txBox="1"/>
          <p:nvPr/>
        </p:nvSpPr>
        <p:spPr>
          <a:xfrm>
            <a:off x="3328416" y="5468112"/>
            <a:ext cx="3090672"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Naming conventions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2.3 Producing robust programs  |  Lesson 3</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Shape 3"/>
          <p:cNvSpPr/>
          <p:nvPr/>
        </p:nvSpPr>
        <p:spPr>
          <a:xfrm>
            <a:off x="502920" y="457200"/>
            <a:ext cx="2103120" cy="457200"/>
          </a:xfrm>
          <a:prstGeom prst="roundRect">
            <a:avLst>
              <a:gd name="adj" fmla="val 20000"/>
            </a:avLst>
          </a:prstGeom>
          <a:solidFill>
            <a:srgbClr val="F4B942"/>
          </a:solidFill>
          <a:ln/>
        </p:spPr>
      </p:sp>
      <p:sp>
        <p:nvSpPr>
          <p:cNvPr id="6" name="Text 4"/>
          <p:cNvSpPr txBox="1"/>
          <p:nvPr/>
        </p:nvSpPr>
        <p:spPr>
          <a:xfrm>
            <a:off x="502920" y="457200"/>
            <a:ext cx="2103120" cy="457200"/>
          </a:xfrm>
          <a:prstGeom prst="rect">
            <a:avLst/>
          </a:prstGeom>
          <a:noFill/>
          <a:ln/>
        </p:spPr>
        <p:txBody>
          <a:bodyPr wrap="square" lIns="0" tIns="0" rIns="0" bIns="0" rtlCol="0" anchor="ctr"/>
          <a:lstStyle/>
          <a:p>
            <a:pPr algn="ctr" indent="0" marL="0">
              <a:buNone/>
            </a:pPr>
            <a:r>
              <a:rPr lang="en-US" sz="1300" b="1" dirty="0">
                <a:solidFill>
                  <a:srgbClr val="101828"/>
                </a:solidFill>
                <a:latin typeface="IBM Plex Mono" pitchFamily="34" charset="0"/>
                <a:ea typeface="IBM Plex Mono" pitchFamily="34" charset="-122"/>
                <a:cs typeface="IBM Plex Mono" pitchFamily="34" charset="-120"/>
              </a:rPr>
              <a:t>STARTER</a:t>
            </a:r>
            <a:endParaRPr lang="en-US" sz="1300" dirty="0"/>
          </a:p>
        </p:txBody>
      </p:sp>
      <p:sp>
        <p:nvSpPr>
          <p:cNvPr id="7" name="Text 5"/>
          <p:cNvSpPr txBox="1"/>
          <p:nvPr/>
        </p:nvSpPr>
        <p:spPr>
          <a:xfrm>
            <a:off x="2788920" y="457200"/>
            <a:ext cx="5486400" cy="457200"/>
          </a:xfrm>
          <a:prstGeom prst="rect">
            <a:avLst/>
          </a:prstGeom>
          <a:noFill/>
          <a:ln/>
        </p:spPr>
        <p:txBody>
          <a:bodyPr wrap="square" lIns="0" tIns="0" rIns="0" bIns="0" rtlCol="0" anchor="ctr"/>
          <a:lstStyle/>
          <a:p>
            <a:pPr indent="0" marL="0">
              <a:buNone/>
            </a:pPr>
            <a:r>
              <a:rPr lang="en-US" sz="1400" dirty="0">
                <a:solidFill>
                  <a:srgbClr val="667085"/>
                </a:solidFill>
                <a:latin typeface="IBM Plex Sans" pitchFamily="34" charset="0"/>
                <a:ea typeface="IBM Plex Sans" pitchFamily="34" charset="-122"/>
                <a:cs typeface="IBM Plex Sans" pitchFamily="34" charset="-120"/>
              </a:rPr>
              <a:t>Five minutes, on paper</a:t>
            </a:r>
            <a:endParaRPr lang="en-US" sz="1400" dirty="0"/>
          </a:p>
        </p:txBody>
      </p:sp>
      <p:sp>
        <p:nvSpPr>
          <p:cNvPr id="8" name="Shape 6"/>
          <p:cNvSpPr/>
          <p:nvPr/>
        </p:nvSpPr>
        <p:spPr>
          <a:xfrm>
            <a:off x="502920" y="1234440"/>
            <a:ext cx="11155680" cy="3200400"/>
          </a:xfrm>
          <a:prstGeom prst="roundRect">
            <a:avLst>
              <a:gd name="adj" fmla="val 3429"/>
            </a:avLst>
          </a:prstGeom>
          <a:solidFill>
            <a:srgbClr val="FFFFFF"/>
          </a:solidFill>
          <a:ln w="15875">
            <a:solidFill>
              <a:srgbClr val="2D63FF"/>
            </a:solidFill>
            <a:prstDash val="solid"/>
          </a:ln>
        </p:spPr>
      </p:sp>
      <p:sp>
        <p:nvSpPr>
          <p:cNvPr id="9" name="Text 7"/>
          <p:cNvSpPr txBox="1"/>
          <p:nvPr/>
        </p:nvSpPr>
        <p:spPr>
          <a:xfrm>
            <a:off x="1005840" y="1645920"/>
            <a:ext cx="10149840" cy="2377440"/>
          </a:xfrm>
          <a:prstGeom prst="rect">
            <a:avLst/>
          </a:prstGeom>
          <a:noFill/>
          <a:ln/>
        </p:spPr>
        <p:txBody>
          <a:bodyPr wrap="square" lIns="0" tIns="0" rIns="0" bIns="0" rtlCol="0" anchor="ctr"/>
          <a:lstStyle/>
          <a:p>
            <a:pPr indent="0" marL="0">
              <a:lnSpc>
                <a:spcPct val="130000"/>
              </a:lnSpc>
              <a:buNone/>
            </a:pPr>
            <a:r>
              <a:rPr lang="en-US" sz="2600" dirty="0">
                <a:solidFill>
                  <a:srgbClr val="101828"/>
                </a:solidFill>
                <a:latin typeface="IBM Plex Sans" pitchFamily="34" charset="0"/>
                <a:ea typeface="IBM Plex Sans" pitchFamily="34" charset="-122"/>
                <a:cs typeface="IBM Plex Sans" pitchFamily="34" charset="-120"/>
              </a:rPr>
              <a:t>List seven habits that make a program hard for another programmer to read.</a:t>
            </a:r>
            <a:endParaRPr lang="en-US" sz="2600" dirty="0"/>
          </a:p>
        </p:txBody>
      </p:sp>
      <p:sp>
        <p:nvSpPr>
          <p:cNvPr id="10" name="Text 8"/>
          <p:cNvSpPr txBox="1"/>
          <p:nvPr/>
        </p:nvSpPr>
        <p:spPr>
          <a:xfrm>
            <a:off x="502920" y="4709160"/>
            <a:ext cx="11155680" cy="45720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No devices yet. Write your answer on the worksheet before anyone talks.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2.3 Producing robust programs  |  Lesson 3</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Into the experience</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Open Code clinic on revise360.co.uk</a:t>
            </a:r>
            <a:endParaRPr lang="en-US" sz="1500" dirty="0"/>
          </a:p>
        </p:txBody>
      </p:sp>
      <p:sp>
        <p:nvSpPr>
          <p:cNvPr id="7" name="Shape 5"/>
          <p:cNvSpPr/>
          <p:nvPr/>
        </p:nvSpPr>
        <p:spPr>
          <a:xfrm>
            <a:off x="548640" y="1874520"/>
            <a:ext cx="566928" cy="566928"/>
          </a:xfrm>
          <a:prstGeom prst="ellipse">
            <a:avLst/>
          </a:prstGeom>
          <a:solidFill>
            <a:srgbClr val="08A6A6"/>
          </a:solidFill>
          <a:ln/>
        </p:spPr>
      </p:sp>
      <p:sp>
        <p:nvSpPr>
          <p:cNvPr id="8" name="Text 6"/>
          <p:cNvSpPr txBox="1"/>
          <p:nvPr/>
        </p:nvSpPr>
        <p:spPr>
          <a:xfrm>
            <a:off x="548640" y="187452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9" name="Text 7"/>
          <p:cNvSpPr txBox="1"/>
          <p:nvPr/>
        </p:nvSpPr>
        <p:spPr>
          <a:xfrm>
            <a:off x="1325880" y="1856232"/>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Look around</a:t>
            </a:r>
            <a:endParaRPr lang="en-US" sz="1700" dirty="0"/>
          </a:p>
        </p:txBody>
      </p:sp>
      <p:sp>
        <p:nvSpPr>
          <p:cNvPr id="10" name="Text 8"/>
          <p:cNvSpPr txBox="1"/>
          <p:nvPr/>
        </p:nvSpPr>
        <p:spPr>
          <a:xfrm>
            <a:off x="1325880" y="2148840"/>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Six numbered stations are arranged around you. Turn right for 1 and 2, around for 3 and 4, left for 5 and 6.</a:t>
            </a:r>
            <a:endParaRPr lang="en-US" sz="1400" dirty="0"/>
          </a:p>
        </p:txBody>
      </p:sp>
      <p:sp>
        <p:nvSpPr>
          <p:cNvPr id="11" name="Shape 9"/>
          <p:cNvSpPr/>
          <p:nvPr/>
        </p:nvSpPr>
        <p:spPr>
          <a:xfrm>
            <a:off x="548640" y="2898648"/>
            <a:ext cx="566928" cy="566928"/>
          </a:xfrm>
          <a:prstGeom prst="ellipse">
            <a:avLst/>
          </a:prstGeom>
          <a:solidFill>
            <a:srgbClr val="08A6A6"/>
          </a:solidFill>
          <a:ln/>
        </p:spPr>
      </p:sp>
      <p:sp>
        <p:nvSpPr>
          <p:cNvPr id="12" name="Text 10"/>
          <p:cNvSpPr txBox="1"/>
          <p:nvPr/>
        </p:nvSpPr>
        <p:spPr>
          <a:xfrm>
            <a:off x="548640" y="289864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2</a:t>
            </a:r>
            <a:endParaRPr lang="en-US" sz="2000" dirty="0"/>
          </a:p>
        </p:txBody>
      </p:sp>
      <p:sp>
        <p:nvSpPr>
          <p:cNvPr id="13" name="Text 11"/>
          <p:cNvSpPr txBox="1"/>
          <p:nvPr/>
        </p:nvSpPr>
        <p:spPr>
          <a:xfrm>
            <a:off x="1325880" y="2880360"/>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Read, then write</a:t>
            </a:r>
            <a:endParaRPr lang="en-US" sz="1700" dirty="0"/>
          </a:p>
        </p:txBody>
      </p:sp>
      <p:sp>
        <p:nvSpPr>
          <p:cNvPr id="14" name="Text 12"/>
          <p:cNvSpPr txBox="1"/>
          <p:nvPr/>
        </p:nvSpPr>
        <p:spPr>
          <a:xfrm>
            <a:off x="1325880" y="3172968"/>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Read the wall, write the key fact and your answer to the challenge on the worksheet.</a:t>
            </a:r>
            <a:endParaRPr lang="en-US" sz="1400" dirty="0"/>
          </a:p>
        </p:txBody>
      </p:sp>
      <p:sp>
        <p:nvSpPr>
          <p:cNvPr id="15" name="Shape 13"/>
          <p:cNvSpPr/>
          <p:nvPr/>
        </p:nvSpPr>
        <p:spPr>
          <a:xfrm>
            <a:off x="548640" y="3922776"/>
            <a:ext cx="566928" cy="566928"/>
          </a:xfrm>
          <a:prstGeom prst="ellipse">
            <a:avLst/>
          </a:prstGeom>
          <a:solidFill>
            <a:srgbClr val="08A6A6"/>
          </a:solidFill>
          <a:ln/>
        </p:spPr>
      </p:sp>
      <p:sp>
        <p:nvSpPr>
          <p:cNvPr id="16" name="Text 14"/>
          <p:cNvSpPr txBox="1"/>
          <p:nvPr/>
        </p:nvSpPr>
        <p:spPr>
          <a:xfrm>
            <a:off x="548640" y="392277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3</a:t>
            </a:r>
            <a:endParaRPr lang="en-US" sz="2000" dirty="0"/>
          </a:p>
        </p:txBody>
      </p:sp>
      <p:sp>
        <p:nvSpPr>
          <p:cNvPr id="17" name="Text 15"/>
          <p:cNvSpPr txBox="1"/>
          <p:nvPr/>
        </p:nvSpPr>
        <p:spPr>
          <a:xfrm>
            <a:off x="1325880" y="3904488"/>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Then tap the badge</a:t>
            </a:r>
            <a:endParaRPr lang="en-US" sz="1700" dirty="0"/>
          </a:p>
        </p:txBody>
      </p:sp>
      <p:sp>
        <p:nvSpPr>
          <p:cNvPr id="18" name="Text 16"/>
          <p:cNvSpPr txBox="1"/>
          <p:nvPr/>
        </p:nvSpPr>
        <p:spPr>
          <a:xfrm>
            <a:off x="1325880" y="4197096"/>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Only answer the questions once you have written. Your first answer is the one that counts.</a:t>
            </a:r>
            <a:endParaRPr lang="en-US" sz="1400" dirty="0"/>
          </a:p>
        </p:txBody>
      </p:sp>
      <p:sp>
        <p:nvSpPr>
          <p:cNvPr id="19" name="Shape 17"/>
          <p:cNvSpPr/>
          <p:nvPr/>
        </p:nvSpPr>
        <p:spPr>
          <a:xfrm>
            <a:off x="548640" y="4946904"/>
            <a:ext cx="566928" cy="566928"/>
          </a:xfrm>
          <a:prstGeom prst="ellipse">
            <a:avLst/>
          </a:prstGeom>
          <a:solidFill>
            <a:srgbClr val="F4B942"/>
          </a:solidFill>
          <a:ln/>
        </p:spPr>
      </p:sp>
      <p:sp>
        <p:nvSpPr>
          <p:cNvPr id="20" name="Text 18"/>
          <p:cNvSpPr txBox="1"/>
          <p:nvPr/>
        </p:nvSpPr>
        <p:spPr>
          <a:xfrm>
            <a:off x="548640" y="4946904"/>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4</a:t>
            </a:r>
            <a:endParaRPr lang="en-US" sz="2000" dirty="0"/>
          </a:p>
        </p:txBody>
      </p:sp>
      <p:sp>
        <p:nvSpPr>
          <p:cNvPr id="21" name="Text 19"/>
          <p:cNvSpPr txBox="1"/>
          <p:nvPr/>
        </p:nvSpPr>
        <p:spPr>
          <a:xfrm>
            <a:off x="1325880" y="4928616"/>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Look down at the end</a:t>
            </a:r>
            <a:endParaRPr lang="en-US" sz="1700" dirty="0"/>
          </a:p>
        </p:txBody>
      </p:sp>
      <p:sp>
        <p:nvSpPr>
          <p:cNvPr id="22" name="Text 20"/>
          <p:cNvSpPr txBox="1"/>
          <p:nvPr/>
        </p:nvSpPr>
        <p:spPr>
          <a:xfrm>
            <a:off x="1325880" y="5221224"/>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The starred final challenge is on the floor. Predict on paper first.</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2.3 Producing robust programs  |  Lesson 3</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1</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Naming conventions</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Use descriptive names that say what data a variable holds, like totalScore rather than x.</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Stick to one style throughout, such as camelCase or snake_case.</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Why is f1 a poor name for a list of factors? Suggest a better one.</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Good variable names are...</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2.3 Producing robust programs  |  Lesson 3</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2</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2</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Commenting</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Comments explain what a section of code does and why.</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The translator ignores them, so they don't change how the program runs.</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They help other programmers, and you in six months' time.</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Write a comment for a sub-program that checks whether a password is at least 8 characters long.</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Comments are used to... The translator...</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2.3 Producing robust programs  |  Lesson 3</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3</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3</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Indentation and white space</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Indentation shows which lines belong inside a loop, selection statement or sub-program.</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Blank lines and spaces separate sections, so code is quicker to scan.</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Look at the two loops on the wall. Which lines are inside the loop? How can you tell?</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Indentation shows...</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2.3 Producing robust programs  |  Lesson 3</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4</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4</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Sub-programs</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Procedures and functions split a program into named, reusable parts.</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Each part can be written, tested and fixed on its own.</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Code is reused by calling it, instead of being copied.</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A program repeats the same 10 lines in five places, and a bug is found. How would a sub-program help?</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Sub-programs help because...</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2.3 Producing robust programs  |  Lesson 3</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5</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5</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Why maintainability matters</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Maintainability means techniques that make code easier to debug, update and maintain.</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Large projects have many programmers working on the same code, often for years.</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Code that is hard to read takes longer, and costs more, to fix.</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Why is readable code more important in a large project than in a program you write on your own?</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Maintainability is especially important in large projects because...</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2.3 Producing robust programs  |  Lesson 3</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6</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6</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Refining an algorithm</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This program builds a locker code but accepts anything the user types.</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Refining it means adding validation so it only accepts sensible input.</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The highlighted lines are where checks are needed.</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Suggest a validation check for each highlighted line.</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2.3 Producing robust programs  |  Lesson 3</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Shape 3"/>
          <p:cNvSpPr/>
          <p:nvPr/>
        </p:nvSpPr>
        <p:spPr>
          <a:xfrm>
            <a:off x="502920" y="438912"/>
            <a:ext cx="3108960" cy="502920"/>
          </a:xfrm>
          <a:prstGeom prst="roundRect">
            <a:avLst>
              <a:gd name="adj" fmla="val 18182"/>
            </a:avLst>
          </a:prstGeom>
          <a:solidFill>
            <a:srgbClr val="F4B942"/>
          </a:solidFill>
          <a:ln/>
        </p:spPr>
      </p:sp>
      <p:sp>
        <p:nvSpPr>
          <p:cNvPr id="6" name="Text 4"/>
          <p:cNvSpPr txBox="1"/>
          <p:nvPr/>
        </p:nvSpPr>
        <p:spPr>
          <a:xfrm>
            <a:off x="502920" y="438912"/>
            <a:ext cx="3108960" cy="502920"/>
          </a:xfrm>
          <a:prstGeom prst="rect">
            <a:avLst/>
          </a:prstGeom>
          <a:noFill/>
          <a:ln/>
        </p:spPr>
        <p:txBody>
          <a:bodyPr wrap="square" lIns="0" tIns="0" rIns="0" bIns="0" rtlCol="0" anchor="ctr"/>
          <a:lstStyle/>
          <a:p>
            <a:pPr algn="ctr" indent="0" marL="0">
              <a:buNone/>
            </a:pPr>
            <a:r>
              <a:rPr lang="en-US" sz="1300" b="1" dirty="0">
                <a:solidFill>
                  <a:srgbClr val="101828"/>
                </a:solidFill>
                <a:latin typeface="IBM Plex Mono" pitchFamily="34" charset="0"/>
                <a:ea typeface="IBM Plex Mono" pitchFamily="34" charset="-122"/>
                <a:cs typeface="IBM Plex Mono" pitchFamily="34" charset="-120"/>
              </a:rPr>
              <a:t>★  FINAL CHALLENGE</a:t>
            </a:r>
            <a:endParaRPr lang="en-US" sz="1300" dirty="0"/>
          </a:p>
        </p:txBody>
      </p:sp>
      <p:sp>
        <p:nvSpPr>
          <p:cNvPr id="7" name="Text 5"/>
          <p:cNvSpPr txBox="1"/>
          <p:nvPr/>
        </p:nvSpPr>
        <p:spPr>
          <a:xfrm>
            <a:off x="502920" y="1097280"/>
            <a:ext cx="11155680" cy="731520"/>
          </a:xfrm>
          <a:prstGeom prst="rect">
            <a:avLst/>
          </a:prstGeom>
          <a:noFill/>
          <a:ln/>
        </p:spPr>
        <p:txBody>
          <a:bodyPr wrap="square" lIns="0" tIns="0" rIns="0" bIns="0" rtlCol="0" anchor="ctr"/>
          <a:lstStyle/>
          <a:p>
            <a:pPr indent="0" marL="0">
              <a:buNone/>
            </a:pPr>
            <a:r>
              <a:rPr lang="en-US" sz="3400" b="1" dirty="0">
                <a:solidFill>
                  <a:srgbClr val="101828"/>
                </a:solidFill>
                <a:latin typeface="IBM Plex Sans" pitchFamily="34" charset="0"/>
                <a:ea typeface="IBM Plex Sans" pitchFamily="34" charset="-122"/>
                <a:cs typeface="IBM Plex Sans" pitchFamily="34" charset="-120"/>
              </a:rPr>
              <a:t>Good practice or bad?</a:t>
            </a:r>
            <a:endParaRPr lang="en-US" sz="3400" dirty="0"/>
          </a:p>
        </p:txBody>
      </p:sp>
      <p:sp>
        <p:nvSpPr>
          <p:cNvPr id="8" name="Shape 6"/>
          <p:cNvSpPr/>
          <p:nvPr/>
        </p:nvSpPr>
        <p:spPr>
          <a:xfrm>
            <a:off x="502920" y="2011680"/>
            <a:ext cx="11155680" cy="2194560"/>
          </a:xfrm>
          <a:prstGeom prst="roundRect">
            <a:avLst>
              <a:gd name="adj" fmla="val 5000"/>
            </a:avLst>
          </a:prstGeom>
          <a:solidFill>
            <a:srgbClr val="FFFFFF"/>
          </a:solidFill>
          <a:ln w="15875">
            <a:solidFill>
              <a:srgbClr val="2D63FF"/>
            </a:solidFill>
            <a:prstDash val="solid"/>
          </a:ln>
        </p:spPr>
      </p:sp>
      <p:sp>
        <p:nvSpPr>
          <p:cNvPr id="9" name="Text 7"/>
          <p:cNvSpPr txBox="1"/>
          <p:nvPr/>
        </p:nvSpPr>
        <p:spPr>
          <a:xfrm>
            <a:off x="1005840" y="2331720"/>
            <a:ext cx="10149840" cy="1554480"/>
          </a:xfrm>
          <a:prstGeom prst="rect">
            <a:avLst/>
          </a:prstGeom>
          <a:noFill/>
          <a:ln/>
        </p:spPr>
        <p:txBody>
          <a:bodyPr wrap="square" lIns="0" tIns="0" rIns="0" bIns="0" rtlCol="0" anchor="ctr"/>
          <a:lstStyle/>
          <a:p>
            <a:pPr indent="0" marL="0">
              <a:lnSpc>
                <a:spcPct val="130000"/>
              </a:lnSpc>
              <a:buNone/>
            </a:pPr>
            <a:r>
              <a:rPr lang="en-US" sz="2200" dirty="0">
                <a:solidFill>
                  <a:srgbClr val="101828"/>
                </a:solidFill>
                <a:latin typeface="IBM Plex Sans" pitchFamily="34" charset="0"/>
                <a:ea typeface="IBM Plex Sans" pitchFamily="34" charset="-122"/>
                <a:cs typeface="IBM Plex Sans" pitchFamily="34" charset="-120"/>
              </a:rPr>
              <a:t>Sort each habit: is it good practice, or bad practice that makes code hard to maintain?</a:t>
            </a:r>
            <a:endParaRPr lang="en-US" sz="2200" dirty="0"/>
          </a:p>
        </p:txBody>
      </p:sp>
      <p:sp>
        <p:nvSpPr>
          <p:cNvPr id="10" name="Text 8"/>
          <p:cNvSpPr txBox="1"/>
          <p:nvPr/>
        </p:nvSpPr>
        <p:spPr>
          <a:xfrm>
            <a:off x="502920" y="4526280"/>
            <a:ext cx="11155680" cy="457200"/>
          </a:xfrm>
          <a:prstGeom prst="rect">
            <a:avLst/>
          </a:prstGeom>
          <a:noFill/>
          <a:ln/>
        </p:spPr>
        <p:txBody>
          <a:bodyPr wrap="square" lIns="0" tIns="0" rIns="0" bIns="0" rtlCol="0" anchor="ctr"/>
          <a:lstStyle/>
          <a:p>
            <a:pPr indent="0" marL="0">
              <a:buNone/>
            </a:pPr>
            <a:r>
              <a:rPr lang="en-US" sz="1600" dirty="0">
                <a:solidFill>
                  <a:srgbClr val="667085"/>
                </a:solidFill>
                <a:latin typeface="IBM Plex Sans" pitchFamily="34" charset="0"/>
                <a:ea typeface="IBM Plex Sans" pitchFamily="34" charset="-122"/>
                <a:cs typeface="IBM Plex Sans" pitchFamily="34" charset="-120"/>
              </a:rPr>
              <a:t>Predict on paper first, then look down and test it.</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2.3 Producing robust programs  |  Lesson 3</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Worth knowing</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The information markers dotted around the room</a:t>
            </a:r>
            <a:endParaRPr lang="en-US" sz="1500" dirty="0"/>
          </a:p>
        </p:txBody>
      </p:sp>
      <p:sp>
        <p:nvSpPr>
          <p:cNvPr id="7" name="Shape 5"/>
          <p:cNvSpPr/>
          <p:nvPr/>
        </p:nvSpPr>
        <p:spPr>
          <a:xfrm>
            <a:off x="502920" y="1828800"/>
            <a:ext cx="5394960" cy="1737360"/>
          </a:xfrm>
          <a:prstGeom prst="roundRect">
            <a:avLst>
              <a:gd name="adj" fmla="val 6316"/>
            </a:avLst>
          </a:prstGeom>
          <a:solidFill>
            <a:srgbClr val="FFFFFF"/>
          </a:solidFill>
          <a:ln w="15875">
            <a:solidFill>
              <a:srgbClr val="2D63FF"/>
            </a:solidFill>
            <a:prstDash val="solid"/>
          </a:ln>
        </p:spPr>
      </p:sp>
      <p:sp>
        <p:nvSpPr>
          <p:cNvPr id="8" name="Text 6"/>
          <p:cNvSpPr txBox="1"/>
          <p:nvPr/>
        </p:nvSpPr>
        <p:spPr>
          <a:xfrm>
            <a:off x="822960" y="2011680"/>
            <a:ext cx="4754880" cy="36576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Read more than written</a:t>
            </a:r>
            <a:endParaRPr lang="en-US" sz="1600" dirty="0"/>
          </a:p>
        </p:txBody>
      </p:sp>
      <p:sp>
        <p:nvSpPr>
          <p:cNvPr id="9" name="Text 7"/>
          <p:cNvSpPr txBox="1"/>
          <p:nvPr/>
        </p:nvSpPr>
        <p:spPr>
          <a:xfrm>
            <a:off x="822960" y="239572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Programmers spend much more time reading existing code than writing new code; it's often quoted as around 10 times more. That's why readable code saves so much time.</a:t>
            </a:r>
            <a:endParaRPr lang="en-US" sz="1300" dirty="0"/>
          </a:p>
        </p:txBody>
      </p:sp>
      <p:sp>
        <p:nvSpPr>
          <p:cNvPr id="10" name="Shape 8"/>
          <p:cNvSpPr/>
          <p:nvPr/>
        </p:nvSpPr>
        <p:spPr>
          <a:xfrm>
            <a:off x="6217920" y="1828800"/>
            <a:ext cx="5394960" cy="1737360"/>
          </a:xfrm>
          <a:prstGeom prst="roundRect">
            <a:avLst>
              <a:gd name="adj" fmla="val 6316"/>
            </a:avLst>
          </a:prstGeom>
          <a:solidFill>
            <a:srgbClr val="FFFFFF"/>
          </a:solidFill>
          <a:ln w="15875">
            <a:solidFill>
              <a:srgbClr val="08A6A6"/>
            </a:solidFill>
            <a:prstDash val="solid"/>
          </a:ln>
        </p:spPr>
      </p:sp>
      <p:sp>
        <p:nvSpPr>
          <p:cNvPr id="11" name="Text 9"/>
          <p:cNvSpPr txBox="1"/>
          <p:nvPr/>
        </p:nvSpPr>
        <p:spPr>
          <a:xfrm>
            <a:off x="6537960" y="2011680"/>
            <a:ext cx="4754880" cy="365760"/>
          </a:xfrm>
          <a:prstGeom prst="rect">
            <a:avLst/>
          </a:prstGeom>
          <a:noFill/>
          <a:ln/>
        </p:spPr>
        <p:txBody>
          <a:bodyPr wrap="square" lIns="0" tIns="0" rIns="0" bIns="0" rtlCol="0" anchor="ctr"/>
          <a:lstStyle/>
          <a:p>
            <a:pPr indent="0" marL="0">
              <a:buNone/>
            </a:pPr>
            <a:r>
              <a:rPr lang="en-US" sz="1600" b="1" dirty="0">
                <a:solidFill>
                  <a:srgbClr val="08A6A6"/>
                </a:solidFill>
                <a:latin typeface="IBM Plex Sans" pitchFamily="34" charset="0"/>
                <a:ea typeface="IBM Plex Sans" pitchFamily="34" charset="-122"/>
                <a:cs typeface="IBM Plex Sans" pitchFamily="34" charset="-120"/>
              </a:rPr>
              <a:t>Python's style guide</a:t>
            </a:r>
            <a:endParaRPr lang="en-US" sz="1600" dirty="0"/>
          </a:p>
        </p:txBody>
      </p:sp>
      <p:sp>
        <p:nvSpPr>
          <p:cNvPr id="12" name="Text 10"/>
          <p:cNvSpPr txBox="1"/>
          <p:nvPr/>
        </p:nvSpPr>
        <p:spPr>
          <a:xfrm>
            <a:off x="6537960" y="239572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Python has an official style guide called PEP 8. It recommends snake_case for variable and function names, like total_score, and 4 spaces for each level of indentation.</a:t>
            </a:r>
            <a:endParaRPr lang="en-US" sz="1300" dirty="0"/>
          </a:p>
        </p:txBody>
      </p:sp>
      <p:sp>
        <p:nvSpPr>
          <p:cNvPr id="13" name="Shape 11"/>
          <p:cNvSpPr/>
          <p:nvPr/>
        </p:nvSpPr>
        <p:spPr>
          <a:xfrm>
            <a:off x="502920" y="3794760"/>
            <a:ext cx="5394960" cy="1737360"/>
          </a:xfrm>
          <a:prstGeom prst="roundRect">
            <a:avLst>
              <a:gd name="adj" fmla="val 6316"/>
            </a:avLst>
          </a:prstGeom>
          <a:solidFill>
            <a:srgbClr val="FFFFFF"/>
          </a:solidFill>
          <a:ln w="15875">
            <a:solidFill>
              <a:srgbClr val="2D63FF"/>
            </a:solidFill>
            <a:prstDash val="solid"/>
          </a:ln>
        </p:spPr>
      </p:sp>
      <p:sp>
        <p:nvSpPr>
          <p:cNvPr id="14" name="Text 12"/>
          <p:cNvSpPr txBox="1"/>
          <p:nvPr/>
        </p:nvSpPr>
        <p:spPr>
          <a:xfrm>
            <a:off x="822960" y="3977640"/>
            <a:ext cx="4754880" cy="36576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Indentation in Python</a:t>
            </a:r>
            <a:endParaRPr lang="en-US" sz="1600" dirty="0"/>
          </a:p>
        </p:txBody>
      </p:sp>
      <p:sp>
        <p:nvSpPr>
          <p:cNvPr id="15" name="Text 13"/>
          <p:cNvSpPr txBox="1"/>
          <p:nvPr/>
        </p:nvSpPr>
        <p:spPr>
          <a:xfrm>
            <a:off x="822960" y="436168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In most languages indentation is just for readability. In Python it's part of the syntax: the translator uses it to work out which lines are inside a loop or if statement.</a:t>
            </a:r>
            <a:endParaRPr lang="en-US" sz="1300" dirty="0"/>
          </a:p>
        </p:txBody>
      </p:sp>
      <p:sp>
        <p:nvSpPr>
          <p:cNvPr id="16" name="Shape 14"/>
          <p:cNvSpPr/>
          <p:nvPr/>
        </p:nvSpPr>
        <p:spPr>
          <a:xfrm>
            <a:off x="6217920" y="3794760"/>
            <a:ext cx="5394960" cy="1737360"/>
          </a:xfrm>
          <a:prstGeom prst="roundRect">
            <a:avLst>
              <a:gd name="adj" fmla="val 6316"/>
            </a:avLst>
          </a:prstGeom>
          <a:solidFill>
            <a:srgbClr val="FFFFFF"/>
          </a:solidFill>
          <a:ln w="15875">
            <a:solidFill>
              <a:srgbClr val="08A6A6"/>
            </a:solidFill>
            <a:prstDash val="solid"/>
          </a:ln>
        </p:spPr>
      </p:sp>
      <p:sp>
        <p:nvSpPr>
          <p:cNvPr id="17" name="Text 15"/>
          <p:cNvSpPr txBox="1"/>
          <p:nvPr/>
        </p:nvSpPr>
        <p:spPr>
          <a:xfrm>
            <a:off x="6537960" y="3977640"/>
            <a:ext cx="4754880" cy="365760"/>
          </a:xfrm>
          <a:prstGeom prst="rect">
            <a:avLst/>
          </a:prstGeom>
          <a:noFill/>
          <a:ln/>
        </p:spPr>
        <p:txBody>
          <a:bodyPr wrap="square" lIns="0" tIns="0" rIns="0" bIns="0" rtlCol="0" anchor="ctr"/>
          <a:lstStyle/>
          <a:p>
            <a:pPr indent="0" marL="0">
              <a:buNone/>
            </a:pPr>
            <a:r>
              <a:rPr lang="en-US" sz="1600" b="1" dirty="0">
                <a:solidFill>
                  <a:srgbClr val="08A6A6"/>
                </a:solidFill>
                <a:latin typeface="IBM Plex Sans" pitchFamily="34" charset="0"/>
                <a:ea typeface="IBM Plex Sans" pitchFamily="34" charset="-122"/>
                <a:cs typeface="IBM Plex Sans" pitchFamily="34" charset="-120"/>
              </a:rPr>
              <a:t>The millennium bug</a:t>
            </a:r>
            <a:endParaRPr lang="en-US" sz="1600" dirty="0"/>
          </a:p>
        </p:txBody>
      </p:sp>
      <p:sp>
        <p:nvSpPr>
          <p:cNvPr id="18" name="Text 16"/>
          <p:cNvSpPr txBox="1"/>
          <p:nvPr/>
        </p:nvSpPr>
        <p:spPr>
          <a:xfrm>
            <a:off x="6537960" y="436168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Old programs saved space by storing years as two digits, like 99. Before the year 2000, programmers worldwide had to find and fix this code, which was much harder where it was badly documented.</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2.3 Producing robust programs  |  Lesson 3</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Exam practice</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Devices away. Answer from memory on the worksheet.</a:t>
            </a:r>
            <a:endParaRPr lang="en-US" sz="1500" dirty="0"/>
          </a:p>
        </p:txBody>
      </p:sp>
      <p:sp>
        <p:nvSpPr>
          <p:cNvPr id="7" name="Shape 5"/>
          <p:cNvSpPr/>
          <p:nvPr/>
        </p:nvSpPr>
        <p:spPr>
          <a:xfrm>
            <a:off x="502920" y="1828800"/>
            <a:ext cx="11155680" cy="1097280"/>
          </a:xfrm>
          <a:prstGeom prst="roundRect">
            <a:avLst>
              <a:gd name="adj" fmla="val 10000"/>
            </a:avLst>
          </a:prstGeom>
          <a:solidFill>
            <a:srgbClr val="FFFFFF"/>
          </a:solidFill>
          <a:ln w="15875">
            <a:solidFill>
              <a:srgbClr val="D9DEE7"/>
            </a:solidFill>
            <a:prstDash val="solid"/>
          </a:ln>
        </p:spPr>
      </p:sp>
      <p:sp>
        <p:nvSpPr>
          <p:cNvPr id="8" name="Text 6"/>
          <p:cNvSpPr txBox="1"/>
          <p:nvPr/>
        </p:nvSpPr>
        <p:spPr>
          <a:xfrm>
            <a:off x="914400" y="1938528"/>
            <a:ext cx="9418320" cy="877824"/>
          </a:xfrm>
          <a:prstGeom prst="rect">
            <a:avLst/>
          </a:prstGeom>
          <a:noFill/>
          <a:ln/>
        </p:spPr>
        <p:txBody>
          <a:bodyPr wrap="square" lIns="0" tIns="0" rIns="0" bIns="0" rtlCol="0" anchor="ctr"/>
          <a:lstStyle/>
          <a:p>
            <a:pPr indent="0" marL="0">
              <a:lnSpc>
                <a:spcPct val="118000"/>
              </a:lnSpc>
              <a:buNone/>
            </a:pPr>
            <a:r>
              <a:rPr lang="en-US" sz="1700" dirty="0">
                <a:solidFill>
                  <a:srgbClr val="101828"/>
                </a:solidFill>
                <a:latin typeface="IBM Plex Sans" pitchFamily="34" charset="0"/>
                <a:ea typeface="IBM Plex Sans" pitchFamily="34" charset="-122"/>
                <a:cs typeface="IBM Plex Sans" pitchFamily="34" charset="-120"/>
              </a:rPr>
              <a:t>Describe three techniques that make a program easier for another programmer to maintain.</a:t>
            </a:r>
            <a:endParaRPr lang="en-US" sz="1700" dirty="0"/>
          </a:p>
        </p:txBody>
      </p:sp>
      <p:sp>
        <p:nvSpPr>
          <p:cNvPr id="9" name="Shape 7"/>
          <p:cNvSpPr/>
          <p:nvPr/>
        </p:nvSpPr>
        <p:spPr>
          <a:xfrm>
            <a:off x="10515600" y="2130552"/>
            <a:ext cx="868680" cy="493776"/>
          </a:xfrm>
          <a:prstGeom prst="roundRect">
            <a:avLst>
              <a:gd name="adj" fmla="val 18519"/>
            </a:avLst>
          </a:prstGeom>
          <a:solidFill>
            <a:srgbClr val="EEF2FB"/>
          </a:solidFill>
          <a:ln/>
        </p:spPr>
      </p:sp>
      <p:sp>
        <p:nvSpPr>
          <p:cNvPr id="10" name="Text 8"/>
          <p:cNvSpPr txBox="1"/>
          <p:nvPr/>
        </p:nvSpPr>
        <p:spPr>
          <a:xfrm>
            <a:off x="10515600" y="2130552"/>
            <a:ext cx="868680" cy="493776"/>
          </a:xfrm>
          <a:prstGeom prst="rect">
            <a:avLst/>
          </a:prstGeom>
          <a:noFill/>
          <a:ln/>
        </p:spPr>
        <p:txBody>
          <a:bodyPr wrap="square" lIns="0" tIns="0" rIns="0" bIns="0" rtlCol="0" anchor="ctr"/>
          <a:lstStyle/>
          <a:p>
            <a:pPr algn="ctr" indent="0" marL="0">
              <a:buNone/>
            </a:pPr>
            <a:r>
              <a:rPr lang="en-US" sz="1500" b="1" dirty="0">
                <a:solidFill>
                  <a:srgbClr val="2D63FF"/>
                </a:solidFill>
                <a:latin typeface="IBM Plex Mono" pitchFamily="34" charset="0"/>
                <a:ea typeface="IBM Plex Mono" pitchFamily="34" charset="-122"/>
                <a:cs typeface="IBM Plex Mono" pitchFamily="34" charset="-120"/>
              </a:rPr>
              <a:t>[3]</a:t>
            </a:r>
            <a:endParaRPr lang="en-US" sz="1500" dirty="0"/>
          </a:p>
        </p:txBody>
      </p:sp>
      <p:sp>
        <p:nvSpPr>
          <p:cNvPr id="11" name="Shape 9"/>
          <p:cNvSpPr/>
          <p:nvPr/>
        </p:nvSpPr>
        <p:spPr>
          <a:xfrm>
            <a:off x="502920" y="3127248"/>
            <a:ext cx="11155680" cy="1097280"/>
          </a:xfrm>
          <a:prstGeom prst="roundRect">
            <a:avLst>
              <a:gd name="adj" fmla="val 10000"/>
            </a:avLst>
          </a:prstGeom>
          <a:solidFill>
            <a:srgbClr val="FFFFFF"/>
          </a:solidFill>
          <a:ln w="15875">
            <a:solidFill>
              <a:srgbClr val="D9DEE7"/>
            </a:solidFill>
            <a:prstDash val="solid"/>
          </a:ln>
        </p:spPr>
      </p:sp>
      <p:sp>
        <p:nvSpPr>
          <p:cNvPr id="12" name="Text 10"/>
          <p:cNvSpPr txBox="1"/>
          <p:nvPr/>
        </p:nvSpPr>
        <p:spPr>
          <a:xfrm>
            <a:off x="914400" y="3236976"/>
            <a:ext cx="9418320" cy="877824"/>
          </a:xfrm>
          <a:prstGeom prst="rect">
            <a:avLst/>
          </a:prstGeom>
          <a:noFill/>
          <a:ln/>
        </p:spPr>
        <p:txBody>
          <a:bodyPr wrap="square" lIns="0" tIns="0" rIns="0" bIns="0" rtlCol="0" anchor="ctr"/>
          <a:lstStyle/>
          <a:p>
            <a:pPr indent="0" marL="0">
              <a:lnSpc>
                <a:spcPct val="118000"/>
              </a:lnSpc>
              <a:buNone/>
            </a:pPr>
            <a:r>
              <a:rPr lang="en-US" sz="1700" dirty="0">
                <a:solidFill>
                  <a:srgbClr val="101828"/>
                </a:solidFill>
                <a:latin typeface="IBM Plex Sans" pitchFamily="34" charset="0"/>
                <a:ea typeface="IBM Plex Sans" pitchFamily="34" charset="-122"/>
                <a:cs typeface="IBM Plex Sans" pitchFamily="34" charset="-120"/>
              </a:rPr>
              <a:t>Rewrite the first five lines of Exhibit A (on the floor of the clinic) using good practice.</a:t>
            </a:r>
            <a:endParaRPr lang="en-US" sz="1700" dirty="0"/>
          </a:p>
        </p:txBody>
      </p:sp>
      <p:sp>
        <p:nvSpPr>
          <p:cNvPr id="13" name="Shape 11"/>
          <p:cNvSpPr/>
          <p:nvPr/>
        </p:nvSpPr>
        <p:spPr>
          <a:xfrm>
            <a:off x="10515600" y="3429000"/>
            <a:ext cx="868680" cy="493776"/>
          </a:xfrm>
          <a:prstGeom prst="roundRect">
            <a:avLst>
              <a:gd name="adj" fmla="val 18519"/>
            </a:avLst>
          </a:prstGeom>
          <a:solidFill>
            <a:srgbClr val="EEF2FB"/>
          </a:solidFill>
          <a:ln/>
        </p:spPr>
      </p:sp>
      <p:sp>
        <p:nvSpPr>
          <p:cNvPr id="14" name="Text 12"/>
          <p:cNvSpPr txBox="1"/>
          <p:nvPr/>
        </p:nvSpPr>
        <p:spPr>
          <a:xfrm>
            <a:off x="10515600" y="3429000"/>
            <a:ext cx="868680" cy="493776"/>
          </a:xfrm>
          <a:prstGeom prst="rect">
            <a:avLst/>
          </a:prstGeom>
          <a:noFill/>
          <a:ln/>
        </p:spPr>
        <p:txBody>
          <a:bodyPr wrap="square" lIns="0" tIns="0" rIns="0" bIns="0" rtlCol="0" anchor="ctr"/>
          <a:lstStyle/>
          <a:p>
            <a:pPr algn="ctr" indent="0" marL="0">
              <a:buNone/>
            </a:pPr>
            <a:r>
              <a:rPr lang="en-US" sz="1500" b="1" dirty="0">
                <a:solidFill>
                  <a:srgbClr val="2D63FF"/>
                </a:solidFill>
                <a:latin typeface="IBM Plex Mono" pitchFamily="34" charset="0"/>
                <a:ea typeface="IBM Plex Mono" pitchFamily="34" charset="-122"/>
                <a:cs typeface="IBM Plex Mono" pitchFamily="34" charset="-120"/>
              </a:rPr>
              <a:t>[4]</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2.3 Producing robust programs  |  Lesson 3</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Before you go</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Rate yourself on each of these</a:t>
            </a:r>
            <a:endParaRPr lang="en-US" sz="1500" dirty="0"/>
          </a:p>
        </p:txBody>
      </p:sp>
      <p:sp>
        <p:nvSpPr>
          <p:cNvPr id="7" name="Shape 5"/>
          <p:cNvSpPr/>
          <p:nvPr/>
        </p:nvSpPr>
        <p:spPr>
          <a:xfrm>
            <a:off x="502920" y="1920240"/>
            <a:ext cx="7863840" cy="777240"/>
          </a:xfrm>
          <a:prstGeom prst="roundRect">
            <a:avLst>
              <a:gd name="adj" fmla="val 14118"/>
            </a:avLst>
          </a:prstGeom>
          <a:solidFill>
            <a:srgbClr val="FFFFFF"/>
          </a:solidFill>
          <a:ln w="15875">
            <a:solidFill>
              <a:srgbClr val="D9DEE7"/>
            </a:solidFill>
            <a:prstDash val="solid"/>
          </a:ln>
        </p:spPr>
      </p:sp>
      <p:sp>
        <p:nvSpPr>
          <p:cNvPr id="8" name="Text 6"/>
          <p:cNvSpPr txBox="1"/>
          <p:nvPr/>
        </p:nvSpPr>
        <p:spPr>
          <a:xfrm>
            <a:off x="914400" y="192024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Why readable code matters in large projects</a:t>
            </a:r>
            <a:endParaRPr lang="en-US" sz="1800" dirty="0"/>
          </a:p>
        </p:txBody>
      </p:sp>
      <p:sp>
        <p:nvSpPr>
          <p:cNvPr id="9" name="Shape 7"/>
          <p:cNvSpPr/>
          <p:nvPr/>
        </p:nvSpPr>
        <p:spPr>
          <a:xfrm>
            <a:off x="8595360" y="2066544"/>
            <a:ext cx="987552" cy="484632"/>
          </a:xfrm>
          <a:prstGeom prst="roundRect">
            <a:avLst>
              <a:gd name="adj" fmla="val 18868"/>
            </a:avLst>
          </a:prstGeom>
          <a:solidFill>
            <a:srgbClr val="FFFFFF"/>
          </a:solidFill>
          <a:ln w="15875">
            <a:solidFill>
              <a:srgbClr val="08A6A6"/>
            </a:solidFill>
            <a:prstDash val="solid"/>
          </a:ln>
        </p:spPr>
      </p:sp>
      <p:sp>
        <p:nvSpPr>
          <p:cNvPr id="10" name="Text 8"/>
          <p:cNvSpPr txBox="1"/>
          <p:nvPr/>
        </p:nvSpPr>
        <p:spPr>
          <a:xfrm>
            <a:off x="8595360" y="206654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11" name="Shape 9"/>
          <p:cNvSpPr/>
          <p:nvPr/>
        </p:nvSpPr>
        <p:spPr>
          <a:xfrm>
            <a:off x="9674352" y="2066544"/>
            <a:ext cx="987552" cy="484632"/>
          </a:xfrm>
          <a:prstGeom prst="roundRect">
            <a:avLst>
              <a:gd name="adj" fmla="val 18868"/>
            </a:avLst>
          </a:prstGeom>
          <a:solidFill>
            <a:srgbClr val="FFFFFF"/>
          </a:solidFill>
          <a:ln w="15875">
            <a:solidFill>
              <a:srgbClr val="F4B942"/>
            </a:solidFill>
            <a:prstDash val="solid"/>
          </a:ln>
        </p:spPr>
      </p:sp>
      <p:sp>
        <p:nvSpPr>
          <p:cNvPr id="12" name="Text 10"/>
          <p:cNvSpPr txBox="1"/>
          <p:nvPr/>
        </p:nvSpPr>
        <p:spPr>
          <a:xfrm>
            <a:off x="9674352" y="206654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13" name="Shape 11"/>
          <p:cNvSpPr/>
          <p:nvPr/>
        </p:nvSpPr>
        <p:spPr>
          <a:xfrm>
            <a:off x="10753344" y="2066544"/>
            <a:ext cx="987552" cy="484632"/>
          </a:xfrm>
          <a:prstGeom prst="roundRect">
            <a:avLst>
              <a:gd name="adj" fmla="val 18868"/>
            </a:avLst>
          </a:prstGeom>
          <a:solidFill>
            <a:srgbClr val="FFFFFF"/>
          </a:solidFill>
          <a:ln w="15875">
            <a:solidFill>
              <a:srgbClr val="E2574C"/>
            </a:solidFill>
            <a:prstDash val="solid"/>
          </a:ln>
        </p:spPr>
      </p:sp>
      <p:sp>
        <p:nvSpPr>
          <p:cNvPr id="14" name="Text 12"/>
          <p:cNvSpPr txBox="1"/>
          <p:nvPr/>
        </p:nvSpPr>
        <p:spPr>
          <a:xfrm>
            <a:off x="10753344" y="206654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15" name="Shape 13"/>
          <p:cNvSpPr/>
          <p:nvPr/>
        </p:nvSpPr>
        <p:spPr>
          <a:xfrm>
            <a:off x="502920" y="2880360"/>
            <a:ext cx="7863840" cy="777240"/>
          </a:xfrm>
          <a:prstGeom prst="roundRect">
            <a:avLst>
              <a:gd name="adj" fmla="val 14118"/>
            </a:avLst>
          </a:prstGeom>
          <a:solidFill>
            <a:srgbClr val="FFFFFF"/>
          </a:solidFill>
          <a:ln w="15875">
            <a:solidFill>
              <a:srgbClr val="D9DEE7"/>
            </a:solidFill>
            <a:prstDash val="solid"/>
          </a:ln>
        </p:spPr>
      </p:sp>
      <p:sp>
        <p:nvSpPr>
          <p:cNvPr id="16" name="Text 14"/>
          <p:cNvSpPr txBox="1"/>
          <p:nvPr/>
        </p:nvSpPr>
        <p:spPr>
          <a:xfrm>
            <a:off x="914400" y="288036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Ways to make code more readable</a:t>
            </a:r>
            <a:endParaRPr lang="en-US" sz="1800" dirty="0"/>
          </a:p>
        </p:txBody>
      </p:sp>
      <p:sp>
        <p:nvSpPr>
          <p:cNvPr id="17" name="Shape 15"/>
          <p:cNvSpPr/>
          <p:nvPr/>
        </p:nvSpPr>
        <p:spPr>
          <a:xfrm>
            <a:off x="8595360" y="3026664"/>
            <a:ext cx="987552" cy="484632"/>
          </a:xfrm>
          <a:prstGeom prst="roundRect">
            <a:avLst>
              <a:gd name="adj" fmla="val 18868"/>
            </a:avLst>
          </a:prstGeom>
          <a:solidFill>
            <a:srgbClr val="FFFFFF"/>
          </a:solidFill>
          <a:ln w="15875">
            <a:solidFill>
              <a:srgbClr val="08A6A6"/>
            </a:solidFill>
            <a:prstDash val="solid"/>
          </a:ln>
        </p:spPr>
      </p:sp>
      <p:sp>
        <p:nvSpPr>
          <p:cNvPr id="18" name="Text 16"/>
          <p:cNvSpPr txBox="1"/>
          <p:nvPr/>
        </p:nvSpPr>
        <p:spPr>
          <a:xfrm>
            <a:off x="8595360" y="302666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19" name="Shape 17"/>
          <p:cNvSpPr/>
          <p:nvPr/>
        </p:nvSpPr>
        <p:spPr>
          <a:xfrm>
            <a:off x="9674352" y="3026664"/>
            <a:ext cx="987552" cy="484632"/>
          </a:xfrm>
          <a:prstGeom prst="roundRect">
            <a:avLst>
              <a:gd name="adj" fmla="val 18868"/>
            </a:avLst>
          </a:prstGeom>
          <a:solidFill>
            <a:srgbClr val="FFFFFF"/>
          </a:solidFill>
          <a:ln w="15875">
            <a:solidFill>
              <a:srgbClr val="F4B942"/>
            </a:solidFill>
            <a:prstDash val="solid"/>
          </a:ln>
        </p:spPr>
      </p:sp>
      <p:sp>
        <p:nvSpPr>
          <p:cNvPr id="20" name="Text 18"/>
          <p:cNvSpPr txBox="1"/>
          <p:nvPr/>
        </p:nvSpPr>
        <p:spPr>
          <a:xfrm>
            <a:off x="9674352" y="302666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21" name="Shape 19"/>
          <p:cNvSpPr/>
          <p:nvPr/>
        </p:nvSpPr>
        <p:spPr>
          <a:xfrm>
            <a:off x="10753344" y="3026664"/>
            <a:ext cx="987552" cy="484632"/>
          </a:xfrm>
          <a:prstGeom prst="roundRect">
            <a:avLst>
              <a:gd name="adj" fmla="val 18868"/>
            </a:avLst>
          </a:prstGeom>
          <a:solidFill>
            <a:srgbClr val="FFFFFF"/>
          </a:solidFill>
          <a:ln w="15875">
            <a:solidFill>
              <a:srgbClr val="E2574C"/>
            </a:solidFill>
            <a:prstDash val="solid"/>
          </a:ln>
        </p:spPr>
      </p:sp>
      <p:sp>
        <p:nvSpPr>
          <p:cNvPr id="22" name="Text 20"/>
          <p:cNvSpPr txBox="1"/>
          <p:nvPr/>
        </p:nvSpPr>
        <p:spPr>
          <a:xfrm>
            <a:off x="10753344" y="302666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23" name="Shape 21"/>
          <p:cNvSpPr/>
          <p:nvPr/>
        </p:nvSpPr>
        <p:spPr>
          <a:xfrm>
            <a:off x="502920" y="3840480"/>
            <a:ext cx="7863840" cy="777240"/>
          </a:xfrm>
          <a:prstGeom prst="roundRect">
            <a:avLst>
              <a:gd name="adj" fmla="val 14118"/>
            </a:avLst>
          </a:prstGeom>
          <a:solidFill>
            <a:srgbClr val="FFFFFF"/>
          </a:solidFill>
          <a:ln w="15875">
            <a:solidFill>
              <a:srgbClr val="D9DEE7"/>
            </a:solidFill>
            <a:prstDash val="solid"/>
          </a:ln>
        </p:spPr>
      </p:sp>
      <p:sp>
        <p:nvSpPr>
          <p:cNvPr id="24" name="Text 22"/>
          <p:cNvSpPr txBox="1"/>
          <p:nvPr/>
        </p:nvSpPr>
        <p:spPr>
          <a:xfrm>
            <a:off x="914400" y="384048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Refining an algorithm to make it more robust</a:t>
            </a:r>
            <a:endParaRPr lang="en-US" sz="1800" dirty="0"/>
          </a:p>
        </p:txBody>
      </p:sp>
      <p:sp>
        <p:nvSpPr>
          <p:cNvPr id="25" name="Shape 23"/>
          <p:cNvSpPr/>
          <p:nvPr/>
        </p:nvSpPr>
        <p:spPr>
          <a:xfrm>
            <a:off x="8595360" y="3986784"/>
            <a:ext cx="987552" cy="484632"/>
          </a:xfrm>
          <a:prstGeom prst="roundRect">
            <a:avLst>
              <a:gd name="adj" fmla="val 18868"/>
            </a:avLst>
          </a:prstGeom>
          <a:solidFill>
            <a:srgbClr val="FFFFFF"/>
          </a:solidFill>
          <a:ln w="15875">
            <a:solidFill>
              <a:srgbClr val="08A6A6"/>
            </a:solidFill>
            <a:prstDash val="solid"/>
          </a:ln>
        </p:spPr>
      </p:sp>
      <p:sp>
        <p:nvSpPr>
          <p:cNvPr id="26" name="Text 24"/>
          <p:cNvSpPr txBox="1"/>
          <p:nvPr/>
        </p:nvSpPr>
        <p:spPr>
          <a:xfrm>
            <a:off x="8595360" y="398678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27" name="Shape 25"/>
          <p:cNvSpPr/>
          <p:nvPr/>
        </p:nvSpPr>
        <p:spPr>
          <a:xfrm>
            <a:off x="9674352" y="3986784"/>
            <a:ext cx="987552" cy="484632"/>
          </a:xfrm>
          <a:prstGeom prst="roundRect">
            <a:avLst>
              <a:gd name="adj" fmla="val 18868"/>
            </a:avLst>
          </a:prstGeom>
          <a:solidFill>
            <a:srgbClr val="FFFFFF"/>
          </a:solidFill>
          <a:ln w="15875">
            <a:solidFill>
              <a:srgbClr val="F4B942"/>
            </a:solidFill>
            <a:prstDash val="solid"/>
          </a:ln>
        </p:spPr>
      </p:sp>
      <p:sp>
        <p:nvSpPr>
          <p:cNvPr id="28" name="Text 26"/>
          <p:cNvSpPr txBox="1"/>
          <p:nvPr/>
        </p:nvSpPr>
        <p:spPr>
          <a:xfrm>
            <a:off x="9674352" y="398678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29" name="Shape 27"/>
          <p:cNvSpPr/>
          <p:nvPr/>
        </p:nvSpPr>
        <p:spPr>
          <a:xfrm>
            <a:off x="10753344" y="3986784"/>
            <a:ext cx="987552" cy="484632"/>
          </a:xfrm>
          <a:prstGeom prst="roundRect">
            <a:avLst>
              <a:gd name="adj" fmla="val 18868"/>
            </a:avLst>
          </a:prstGeom>
          <a:solidFill>
            <a:srgbClr val="FFFFFF"/>
          </a:solidFill>
          <a:ln w="15875">
            <a:solidFill>
              <a:srgbClr val="E2574C"/>
            </a:solidFill>
            <a:prstDash val="solid"/>
          </a:ln>
        </p:spPr>
      </p:sp>
      <p:sp>
        <p:nvSpPr>
          <p:cNvPr id="30" name="Text 28"/>
          <p:cNvSpPr txBox="1"/>
          <p:nvPr/>
        </p:nvSpPr>
        <p:spPr>
          <a:xfrm>
            <a:off x="10753344" y="398678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31" name="Text 29"/>
          <p:cNvSpPr txBox="1"/>
          <p:nvPr/>
        </p:nvSpPr>
        <p:spPr>
          <a:xfrm>
            <a:off x="502920" y="5074920"/>
            <a:ext cx="11155680" cy="54864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Anything marked Focus here: reopen Code clinic and use review mode on the questions you got wrong.</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Revise 360 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2.3 Producing robust programs  |  Lesson 3 — Code clinic</dc:title>
  <dc:subject>OCR J277 GCSE Computer Science</dc:subject>
  <dc:creator>Revise 360 Ltd</dc:creator>
  <cp:lastModifiedBy>Revise 360 Ltd</cp:lastModifiedBy>
  <cp:revision>1</cp:revision>
  <dcterms:created xsi:type="dcterms:W3CDTF">2026-10-01T02:34:51Z</dcterms:created>
  <dcterms:modified xsi:type="dcterms:W3CDTF">2026-10-01T02:34:51Z</dcterms:modified>
</cp:coreProperties>
</file>