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9: Split and insert.
Open the experience at revise360.co.uk and hand out AL_L09_Splitandinsert_Worksheet.docx.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Share the objectives, then go straight into the starter. Devices stay away for the first five minutes.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Silent start. Take two or three answers before moving on: this is where misconceptions surface.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 on writing before tapping. That single rule is the difference between revision and a quiz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1: Merge sort: splitting.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2: Merge sort: merging.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3: Merge sort: the whole thing.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4: Insertion sort.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5: Comparing the three sorts.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Station 6: Answering sorting questions. Students read this wall in the experience, write the key fact and the challenge answer, then answer the questions at the badge.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Make them commit to an answer on paper before they tap the star. Guessing first costs them the learning.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these as a settler, or as something for early finishers to read in the experience.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Timed and silent. Mark against the answer sheet, then ask students to record their weakest area.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Students copy their score-screen breakdown onto the worksheet, then rate themselves here.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0182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822960" y="1417320"/>
            <a:ext cx="10515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F4B942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9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192024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Split and insert</a:t>
            </a:r>
            <a:endParaRPr lang="en-US" sz="60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3291840"/>
            <a:ext cx="95097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800" dirty="0">
                <a:solidFill>
                  <a:srgbClr val="C7CD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Two more sorting algorithms, both faster than a bubble sort on real data. Merge sort splits the list until nothing is left to split; insertion sort builds a sorted section one item at a time.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822960" y="4846320"/>
            <a:ext cx="2926080" cy="0"/>
          </a:xfrm>
          <a:prstGeom prst="line">
            <a:avLst/>
          </a:prstGeom>
          <a:noFill/>
          <a:ln w="31750">
            <a:solidFill>
              <a:srgbClr val="2D63FF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822960" y="502920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OCR J277 Paper 2  |  Computational thinking, algorithms and programming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the end of this lesson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How do merge sort and insertion sort work, and how do they compare with a bubble sort?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965960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96596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965960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the merge sort algorithm</a:t>
            </a:r>
            <a:endParaRPr lang="en-US" sz="1900" dirty="0"/>
          </a:p>
        </p:txBody>
      </p:sp>
      <p:sp>
        <p:nvSpPr>
          <p:cNvPr id="10" name="Shape 8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1" name="Text 9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2" name="Text 10"/>
          <p:cNvSpPr txBox="1"/>
          <p:nvPr/>
        </p:nvSpPr>
        <p:spPr>
          <a:xfrm>
            <a:off x="1325880" y="2898648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Understand the insertion sort algorithm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3831336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548640" y="383133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5" name="Text 13"/>
          <p:cNvSpPr txBox="1"/>
          <p:nvPr/>
        </p:nvSpPr>
        <p:spPr>
          <a:xfrm>
            <a:off x="1325880" y="3831336"/>
            <a:ext cx="103327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 able to compare the three sorting algorithms</a:t>
            </a:r>
            <a:endParaRPr lang="en-US" sz="19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084064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Key words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548640" y="5468112"/>
            <a:ext cx="192024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548640" y="5468112"/>
            <a:ext cx="19202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Merge sort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2596896" y="5468112"/>
            <a:ext cx="2505456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2596896" y="5468112"/>
            <a:ext cx="250545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Insertion sort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230368" y="5468112"/>
            <a:ext cx="3090672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5230368" y="5468112"/>
            <a:ext cx="3090672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Divide and conquer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8449056" y="5468112"/>
            <a:ext cx="1188720" cy="40233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8449056" y="5468112"/>
            <a:ext cx="118872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Merge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57200"/>
            <a:ext cx="2103120" cy="457200"/>
          </a:xfrm>
          <a:prstGeom prst="roundRect">
            <a:avLst>
              <a:gd name="adj" fmla="val 20000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57200"/>
            <a:ext cx="21031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STARTER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2788920" y="457200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Five minutes, on paper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502920" y="1234440"/>
            <a:ext cx="11155680" cy="3200400"/>
          </a:xfrm>
          <a:prstGeom prst="roundRect">
            <a:avLst>
              <a:gd name="adj" fmla="val 3429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1645920"/>
            <a:ext cx="101498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Deal yourself seven playing cards. Sort them into order and write down exactly what you did. Which algorithm was it closest to?</a:t>
            </a:r>
            <a:endParaRPr lang="en-US" sz="26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70916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No devices yet. Write your answer on the worksheet before anyone talks.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Into the experience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Open Split and insert on revise360.co.uk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48640" y="1874520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8" name="Text 6"/>
          <p:cNvSpPr txBox="1"/>
          <p:nvPr/>
        </p:nvSpPr>
        <p:spPr>
          <a:xfrm>
            <a:off x="548640" y="1874520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9" name="Text 7"/>
          <p:cNvSpPr txBox="1"/>
          <p:nvPr/>
        </p:nvSpPr>
        <p:spPr>
          <a:xfrm>
            <a:off x="1325880" y="1856232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around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325880" y="2148840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Six numbered stations are arranged around you. Turn right for 1 and 2, around for 3 and 4, left for 5 and 6.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548640" y="2898648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2" name="Text 10"/>
          <p:cNvSpPr txBox="1"/>
          <p:nvPr/>
        </p:nvSpPr>
        <p:spPr>
          <a:xfrm>
            <a:off x="548640" y="2898648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288036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Read, then write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325880" y="3172968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Read the wall, write the key fact and your answer to the challenge on the worksheet.</a:t>
            </a:r>
            <a:endParaRPr lang="en-US" sz="1400" dirty="0"/>
          </a:p>
        </p:txBody>
      </p:sp>
      <p:sp>
        <p:nvSpPr>
          <p:cNvPr id="15" name="Shape 13"/>
          <p:cNvSpPr/>
          <p:nvPr/>
        </p:nvSpPr>
        <p:spPr>
          <a:xfrm>
            <a:off x="548640" y="3922776"/>
            <a:ext cx="566928" cy="566928"/>
          </a:xfrm>
          <a:prstGeom prst="ellipse">
            <a:avLst/>
          </a:prstGeom>
          <a:solidFill>
            <a:srgbClr val="08A6A6"/>
          </a:solidFill>
          <a:ln/>
        </p:spPr>
      </p:sp>
      <p:sp>
        <p:nvSpPr>
          <p:cNvPr id="16" name="Text 14"/>
          <p:cNvSpPr txBox="1"/>
          <p:nvPr/>
        </p:nvSpPr>
        <p:spPr>
          <a:xfrm>
            <a:off x="548640" y="3922776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17" name="Text 15"/>
          <p:cNvSpPr txBox="1"/>
          <p:nvPr/>
        </p:nvSpPr>
        <p:spPr>
          <a:xfrm>
            <a:off x="1325880" y="3904488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Then tap the badge</a:t>
            </a:r>
            <a:endParaRPr lang="en-US" sz="1700" dirty="0"/>
          </a:p>
        </p:txBody>
      </p:sp>
      <p:sp>
        <p:nvSpPr>
          <p:cNvPr id="18" name="Text 16"/>
          <p:cNvSpPr txBox="1"/>
          <p:nvPr/>
        </p:nvSpPr>
        <p:spPr>
          <a:xfrm>
            <a:off x="1325880" y="4197096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Only answer the questions once you have written. Your first answer is the one that counts.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548640" y="4946904"/>
            <a:ext cx="566928" cy="566928"/>
          </a:xfrm>
          <a:prstGeom prst="ellipse">
            <a:avLst/>
          </a:prstGeom>
          <a:solidFill>
            <a:srgbClr val="F4B942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548640" y="4946904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21" name="Text 19"/>
          <p:cNvSpPr txBox="1"/>
          <p:nvPr/>
        </p:nvSpPr>
        <p:spPr>
          <a:xfrm>
            <a:off x="1325880" y="4928616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Look down at the end</a:t>
            </a:r>
            <a:endParaRPr lang="en-US" sz="1700" dirty="0"/>
          </a:p>
        </p:txBody>
      </p:sp>
      <p:sp>
        <p:nvSpPr>
          <p:cNvPr id="22" name="Text 20"/>
          <p:cNvSpPr txBox="1"/>
          <p:nvPr/>
        </p:nvSpPr>
        <p:spPr>
          <a:xfrm>
            <a:off x="1325880" y="5221224"/>
            <a:ext cx="102412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starred final challenge is on the floor. Predict on paper first.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1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1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Merge sort: splitting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Split the list in half, then split each half, and keep going.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Stop when every piece holds a single item, which is sorted by definition.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This is the divide part of divide and conquer.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Show how 8, 3, 5, 1 is split down to single items.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Merge sort splits by...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2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Merge sort: merging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Take two sorted pieces and combine them into one sorted piece.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Compare the first item of each, take the smaller, and repeat.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Keep merging pairs until one sorted list remains.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Merge 3, 8 with 1, 5 and show each comparison.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Merge sort merges by...</a:t>
            </a:r>
            <a:endParaRPr lang="en-US" sz="1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3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3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Merge sort: the whole thing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Split all the way down, then merge all the way back up.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is much faster than a bubble sort on large lists.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It needs extra memory to hold the pieces, so it does not sort in place.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merge sort in two sentences: one for splitting, one for merging.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merge sort works by...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4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4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Insertion sort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Treat the first item as a sorted section of one.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Take the next item and move it left until it is in the right place within that section.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Repeat until every item has been inserted.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Run an insertion sort on 4, 2, 7, 1 and show each step.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insertion sort works by...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5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5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Comparing the three sorts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Bubble: simplest, slowest, sorts in place.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Insertion: simple, faster than bubble, sorts in place, very fast on nearly sorted data.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Merge: most complex, much faster on large lists, needs extra memory.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Make a table comparing the three sorts on speed, memory and complexity.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three sorts compare as...</a:t>
            </a:r>
            <a:endParaRPr lang="en-US" sz="1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8321040" y="6236208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D9DEE7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Station 6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502920" y="438912"/>
            <a:ext cx="566928" cy="566928"/>
          </a:xfrm>
          <a:prstGeom prst="ellipse">
            <a:avLst/>
          </a:prstGeom>
          <a:solidFill>
            <a:srgbClr val="2D63FF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502920" y="438912"/>
            <a:ext cx="56692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6</a:t>
            </a:r>
            <a:endParaRPr lang="en-US" sz="2000" dirty="0"/>
          </a:p>
        </p:txBody>
      </p:sp>
      <p:sp>
        <p:nvSpPr>
          <p:cNvPr id="8" name="Text 6"/>
          <p:cNvSpPr txBox="1"/>
          <p:nvPr/>
        </p:nvSpPr>
        <p:spPr>
          <a:xfrm>
            <a:off x="1234440" y="411480"/>
            <a:ext cx="1042416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Answering sorting questions</a:t>
            </a:r>
            <a:endParaRPr lang="en-US" sz="3000" dirty="0"/>
          </a:p>
        </p:txBody>
      </p:sp>
      <p:sp>
        <p:nvSpPr>
          <p:cNvPr id="9" name="Shape 7"/>
          <p:cNvSpPr/>
          <p:nvPr/>
        </p:nvSpPr>
        <p:spPr>
          <a:xfrm>
            <a:off x="502920" y="1280160"/>
            <a:ext cx="70408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14400" y="1600200"/>
            <a:ext cx="630936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Name the algorithm and describe its distinctive action: swap neighbours, insert into a sorted section, or split and merge.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If asked to show the steps, show the list after each pass or insertion.</a:t>
            </a:r>
            <a:endParaRPr lang="en-US" sz="1700" dirty="0"/>
          </a:p>
          <a:p>
            <a:pPr marL="342900" indent="-342900">
              <a:lnSpc>
                <a:spcPct val="120000"/>
              </a:lnSpc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Comparisons usually mean 'when does it stop' and 'how much memory'.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818120" y="1280160"/>
            <a:ext cx="3840480" cy="3246120"/>
          </a:xfrm>
          <a:prstGeom prst="roundRect">
            <a:avLst>
              <a:gd name="adj" fmla="val 3380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183880" y="1508760"/>
            <a:ext cx="3200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CHALLENGE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8183880" y="1874520"/>
            <a:ext cx="315468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Plan a six-mark answer comparing bubble sort and merge sort.</a:t>
            </a:r>
            <a:endParaRPr lang="en-US" sz="1600" dirty="0"/>
          </a:p>
        </p:txBody>
      </p:sp>
      <p:sp>
        <p:nvSpPr>
          <p:cNvPr id="14" name="Shape 12"/>
          <p:cNvSpPr/>
          <p:nvPr/>
        </p:nvSpPr>
        <p:spPr>
          <a:xfrm>
            <a:off x="502920" y="4754880"/>
            <a:ext cx="11155680" cy="777240"/>
          </a:xfrm>
          <a:prstGeom prst="roundRect">
            <a:avLst>
              <a:gd name="adj" fmla="val 11765"/>
            </a:avLst>
          </a:prstGeom>
          <a:solidFill>
            <a:srgbClr val="EEF2FB"/>
          </a:solidFill>
          <a:ln w="12700">
            <a:solidFill>
              <a:srgbClr val="2D63FF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914400" y="4754880"/>
            <a:ext cx="103327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On your worksheet:  </a:t>
            </a:r>
            <a:pPr indent="0" marL="0">
              <a:buNone/>
            </a:pPr>
            <a:r>
              <a:rPr lang="en-US" sz="16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To answer a sorting question, I should...</a:t>
            </a:r>
            <a:endParaRPr lang="en-US" sz="16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502920" y="438912"/>
            <a:ext cx="3108960" cy="502920"/>
          </a:xfrm>
          <a:prstGeom prst="roundRect">
            <a:avLst>
              <a:gd name="adj" fmla="val 18182"/>
            </a:avLst>
          </a:prstGeom>
          <a:solidFill>
            <a:srgbClr val="F4B942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502920" y="438912"/>
            <a:ext cx="31089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101828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★  FINAL CHALLENGE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502920" y="1097280"/>
            <a:ext cx="111556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Sort it out</a:t>
            </a:r>
            <a:endParaRPr lang="en-US" sz="3400" dirty="0"/>
          </a:p>
        </p:txBody>
      </p:sp>
      <p:sp>
        <p:nvSpPr>
          <p:cNvPr id="8" name="Shape 6"/>
          <p:cNvSpPr/>
          <p:nvPr/>
        </p:nvSpPr>
        <p:spPr>
          <a:xfrm>
            <a:off x="502920" y="2011680"/>
            <a:ext cx="11155680" cy="2194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1005840" y="2331720"/>
            <a:ext cx="101498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22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 insertion sort to run, then the three algorithms to tell apart. Tap the star to begin.</a:t>
            </a:r>
            <a:endParaRPr lang="en-US" sz="2200" dirty="0"/>
          </a:p>
        </p:txBody>
      </p:sp>
      <p:sp>
        <p:nvSpPr>
          <p:cNvPr id="10" name="Text 8"/>
          <p:cNvSpPr txBox="1"/>
          <p:nvPr/>
        </p:nvSpPr>
        <p:spPr>
          <a:xfrm>
            <a:off x="502920" y="4526280"/>
            <a:ext cx="11155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Predict on paper first, then look down and test it.</a:t>
            </a:r>
            <a:endParaRPr lang="en-US" sz="16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Worth knowing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information markers dotted around the room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822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Merge sort is old</a:t>
            </a:r>
            <a:endParaRPr lang="en-US" sz="1600" dirty="0"/>
          </a:p>
        </p:txBody>
      </p:sp>
      <p:sp>
        <p:nvSpPr>
          <p:cNvPr id="9" name="Text 7"/>
          <p:cNvSpPr txBox="1"/>
          <p:nvPr/>
        </p:nvSpPr>
        <p:spPr>
          <a:xfrm>
            <a:off x="822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John von Neumann described the merge sort in 1945, on one of the first stored-program computers.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6537960" y="201168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Recursion</a:t>
            </a:r>
            <a:endParaRPr lang="en-US" sz="16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239572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Merge sort naturally calls itself on each half, which is called recursion. You meet it properly at A level.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502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2D63FF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22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D63FF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Real sorts are hybrids</a:t>
            </a:r>
            <a:endParaRPr lang="en-US" sz="1600" dirty="0"/>
          </a:p>
        </p:txBody>
      </p:sp>
      <p:sp>
        <p:nvSpPr>
          <p:cNvPr id="15" name="Text 13"/>
          <p:cNvSpPr txBox="1"/>
          <p:nvPr/>
        </p:nvSpPr>
        <p:spPr>
          <a:xfrm>
            <a:off x="822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sort built into most programming languages switches to insertion sort for small pieces, because it is faster there.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217920" y="3794760"/>
            <a:ext cx="5394960" cy="1737360"/>
          </a:xfrm>
          <a:prstGeom prst="roundRect">
            <a:avLst>
              <a:gd name="adj" fmla="val 6316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6537960" y="3977640"/>
            <a:ext cx="47548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Cards in your hand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6537960" y="4361688"/>
            <a:ext cx="47548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3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Almost everyone sorts a hand of cards with an insertion sort without being taught it.</a:t>
            </a:r>
            <a:endParaRPr lang="en-US" sz="13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Exam practice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Devices away. Answer from memory on the worksheet.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828800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38528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Describe how an insertion sort works.</a:t>
            </a: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10515600" y="2130552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10515600" y="2130552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[3]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>
            <a:off x="502920" y="3127248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14400" y="3236976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Show the stages of a merge sort on the list 6, 2, 9, 4.</a:t>
            </a:r>
            <a:endParaRPr lang="en-US" sz="1700" dirty="0"/>
          </a:p>
        </p:txBody>
      </p:sp>
      <p:sp>
        <p:nvSpPr>
          <p:cNvPr id="13" name="Shape 11"/>
          <p:cNvSpPr/>
          <p:nvPr/>
        </p:nvSpPr>
        <p:spPr>
          <a:xfrm>
            <a:off x="10515600" y="3429000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4" name="Text 12"/>
          <p:cNvSpPr txBox="1"/>
          <p:nvPr/>
        </p:nvSpPr>
        <p:spPr>
          <a:xfrm>
            <a:off x="10515600" y="3429000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  <p:sp>
        <p:nvSpPr>
          <p:cNvPr id="15" name="Shape 13"/>
          <p:cNvSpPr/>
          <p:nvPr/>
        </p:nvSpPr>
        <p:spPr>
          <a:xfrm>
            <a:off x="502920" y="4425696"/>
            <a:ext cx="11155680" cy="10972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4535424"/>
            <a:ext cx="941832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8000"/>
              </a:lnSpc>
              <a:buNone/>
            </a:pPr>
            <a:r>
              <a:rPr lang="en-US" sz="17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Compare a bubble sort with a merge sort, giving one advantage of each.</a:t>
            </a:r>
            <a:endParaRPr lang="en-US" sz="1700" dirty="0"/>
          </a:p>
        </p:txBody>
      </p:sp>
      <p:sp>
        <p:nvSpPr>
          <p:cNvPr id="17" name="Shape 15"/>
          <p:cNvSpPr/>
          <p:nvPr/>
        </p:nvSpPr>
        <p:spPr>
          <a:xfrm>
            <a:off x="10515600" y="4727448"/>
            <a:ext cx="868680" cy="493776"/>
          </a:xfrm>
          <a:prstGeom prst="roundRect">
            <a:avLst>
              <a:gd name="adj" fmla="val 18519"/>
            </a:avLst>
          </a:prstGeom>
          <a:solidFill>
            <a:srgbClr val="EEF2FB"/>
          </a:solidFill>
          <a:ln/>
        </p:spPr>
      </p:sp>
      <p:sp>
        <p:nvSpPr>
          <p:cNvPr id="18" name="Text 16"/>
          <p:cNvSpPr txBox="1"/>
          <p:nvPr/>
        </p:nvSpPr>
        <p:spPr>
          <a:xfrm>
            <a:off x="10515600" y="4727448"/>
            <a:ext cx="86868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63FF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[4]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7F7F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82296"/>
          </a:xfrm>
          <a:prstGeom prst="rect">
            <a:avLst/>
          </a:prstGeom>
          <a:solidFill>
            <a:srgbClr val="2D63FF"/>
          </a:solidFill>
          <a:ln/>
        </p:spPr>
      </p:sp>
      <p:sp>
        <p:nvSpPr>
          <p:cNvPr id="3" name="Text 1"/>
          <p:cNvSpPr txBox="1"/>
          <p:nvPr/>
        </p:nvSpPr>
        <p:spPr>
          <a:xfrm>
            <a:off x="502920" y="6236208"/>
            <a:ext cx="7772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2.1 Algorithms  |  Lesson 9</a:t>
            </a:r>
            <a:endParaRPr lang="en-US" sz="1100" dirty="0"/>
          </a:p>
        </p:txBody>
      </p:sp>
      <p:sp>
        <p:nvSpPr>
          <p:cNvPr id="4" name="Text 2"/>
          <p:cNvSpPr txBox="1"/>
          <p:nvPr/>
        </p:nvSpPr>
        <p:spPr>
          <a:xfrm>
            <a:off x="9326880" y="6236208"/>
            <a:ext cx="2377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67085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Revise 360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502920" y="411480"/>
            <a:ext cx="1115568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you go</a:t>
            </a:r>
            <a:endParaRPr lang="en-US" sz="3200" dirty="0"/>
          </a:p>
        </p:txBody>
      </p:sp>
      <p:sp>
        <p:nvSpPr>
          <p:cNvPr id="6" name="Text 4"/>
          <p:cNvSpPr txBox="1"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Rate yourself on each of these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502920" y="192024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14400" y="192024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Merge sort: splitting and merging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8595360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8595360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9674352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674352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10753344" y="206654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753344" y="206654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02920" y="288036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914400" y="288036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Insertion sort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8595360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18" name="Text 16"/>
          <p:cNvSpPr txBox="1"/>
          <p:nvPr/>
        </p:nvSpPr>
        <p:spPr>
          <a:xfrm>
            <a:off x="8595360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9674352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74352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10753344" y="302666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10753344" y="302666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02920" y="3840480"/>
            <a:ext cx="7863840" cy="777240"/>
          </a:xfrm>
          <a:prstGeom prst="roundRect">
            <a:avLst>
              <a:gd name="adj" fmla="val 14118"/>
            </a:avLst>
          </a:prstGeom>
          <a:solidFill>
            <a:srgbClr val="FFFFFF"/>
          </a:solidFill>
          <a:ln w="15875">
            <a:solidFill>
              <a:srgbClr val="D9DEE7"/>
            </a:solidFill>
            <a:prstDash val="solid"/>
          </a:ln>
        </p:spPr>
      </p:sp>
      <p:sp>
        <p:nvSpPr>
          <p:cNvPr id="24" name="Text 22"/>
          <p:cNvSpPr txBox="1"/>
          <p:nvPr/>
        </p:nvSpPr>
        <p:spPr>
          <a:xfrm>
            <a:off x="914400" y="3840480"/>
            <a:ext cx="713232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101828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Comparing the three sorts</a:t>
            </a:r>
            <a:endParaRPr lang="en-US" sz="1800" dirty="0"/>
          </a:p>
        </p:txBody>
      </p:sp>
      <p:sp>
        <p:nvSpPr>
          <p:cNvPr id="25" name="Shape 23"/>
          <p:cNvSpPr/>
          <p:nvPr/>
        </p:nvSpPr>
        <p:spPr>
          <a:xfrm>
            <a:off x="8595360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08A6A6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595360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08A6A6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Secure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9674352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F4B942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9674352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F4B94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Revise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10753344" y="3986784"/>
            <a:ext cx="987552" cy="484632"/>
          </a:xfrm>
          <a:prstGeom prst="roundRect">
            <a:avLst>
              <a:gd name="adj" fmla="val 18868"/>
            </a:avLst>
          </a:prstGeom>
          <a:solidFill>
            <a:srgbClr val="FFFFFF"/>
          </a:solidFill>
          <a:ln w="15875">
            <a:solidFill>
              <a:srgbClr val="E2574C"/>
            </a:solidFill>
            <a:prstDash val="solid"/>
          </a:ln>
        </p:spPr>
      </p:sp>
      <p:sp>
        <p:nvSpPr>
          <p:cNvPr id="30" name="Text 28"/>
          <p:cNvSpPr txBox="1"/>
          <p:nvPr/>
        </p:nvSpPr>
        <p:spPr>
          <a:xfrm>
            <a:off x="10753344" y="3986784"/>
            <a:ext cx="987552" cy="4846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E2574C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Focus here</a:t>
            </a:r>
            <a:endParaRPr lang="en-US" sz="1000" dirty="0"/>
          </a:p>
        </p:txBody>
      </p:sp>
      <p:sp>
        <p:nvSpPr>
          <p:cNvPr id="31" name="Text 29"/>
          <p:cNvSpPr txBox="1"/>
          <p:nvPr/>
        </p:nvSpPr>
        <p:spPr>
          <a:xfrm>
            <a:off x="502920" y="5074920"/>
            <a:ext cx="111556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67085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Anything marked Focus here: reopen Split and insert and use review mode on the questions you got wrong.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Revise 360 Ltd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2.1 Algorithms  |  Lesson 9 — Split and insert</dc:title>
  <dc:subject>OCR J277 GCSE Computer Science</dc:subject>
  <dc:creator>Revise 360 Ltd</dc:creator>
  <cp:lastModifiedBy>Revise 360 Ltd</cp:lastModifiedBy>
  <cp:revision>1</cp:revision>
  <dcterms:created xsi:type="dcterms:W3CDTF">2026-09-30T12:05:32Z</dcterms:created>
  <dcterms:modified xsi:type="dcterms:W3CDTF">2026-09-30T12:05:32Z</dcterms:modified>
</cp:coreProperties>
</file>