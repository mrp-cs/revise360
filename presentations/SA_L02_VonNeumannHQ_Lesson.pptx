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898ae19acc4d3d" /><Relationship Type="http://schemas.openxmlformats.org/officeDocument/2006/relationships/extended-properties" Target="/docProps/app.xml" Id="R4619a5123c4e425f" /><Relationship Type="http://schemas.openxmlformats.org/officeDocument/2006/relationships/officeDocument" Target="/ppt/presentation.xml" Id="R9d62476123644b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de6f30fcf84cb4"/>
  </p:sldMasterIdLst>
  <p:notesMasterIdLst>
    <p:notesMasterId xmlns:r="http://schemas.openxmlformats.org/officeDocument/2006/relationships" r:id="R9354dc7401f641c2"/>
  </p:notesMasterIdLst>
  <p:sldIdLst>
    <p:sldId xmlns:r="http://schemas.openxmlformats.org/officeDocument/2006/relationships" id="256" r:id="R13982dca26a84691"/>
    <p:sldId xmlns:r="http://schemas.openxmlformats.org/officeDocument/2006/relationships" id="257" r:id="R29b7621e6d5f4b31"/>
    <p:sldId xmlns:r="http://schemas.openxmlformats.org/officeDocument/2006/relationships" id="258" r:id="R415eff274f0a498c"/>
    <p:sldId xmlns:r="http://schemas.openxmlformats.org/officeDocument/2006/relationships" id="259" r:id="R586e0c522cba4f0b"/>
    <p:sldId xmlns:r="http://schemas.openxmlformats.org/officeDocument/2006/relationships" id="260" r:id="Rfd362ae000734f71"/>
    <p:sldId xmlns:r="http://schemas.openxmlformats.org/officeDocument/2006/relationships" id="261" r:id="Rc2ec0e37591547ec"/>
    <p:sldId xmlns:r="http://schemas.openxmlformats.org/officeDocument/2006/relationships" id="262" r:id="R647302f6dbf7442d"/>
    <p:sldId xmlns:r="http://schemas.openxmlformats.org/officeDocument/2006/relationships" id="263" r:id="R2e089309b8aa46fb"/>
    <p:sldId xmlns:r="http://schemas.openxmlformats.org/officeDocument/2006/relationships" id="264" r:id="R8868847bc86a4a55"/>
    <p:sldId xmlns:r="http://schemas.openxmlformats.org/officeDocument/2006/relationships" id="265" r:id="Rdd26a91533c54d55"/>
    <p:sldId xmlns:r="http://schemas.openxmlformats.org/officeDocument/2006/relationships" id="266" r:id="Rae420ff0eba647c4"/>
    <p:sldId xmlns:r="http://schemas.openxmlformats.org/officeDocument/2006/relationships" id="267" r:id="R9d4e12a97c574364"/>
    <p:sldId xmlns:r="http://schemas.openxmlformats.org/officeDocument/2006/relationships" id="268" r:id="R9019b024a0274261"/>
    <p:sldId xmlns:r="http://schemas.openxmlformats.org/officeDocument/2006/relationships" id="269" r:id="Rea51f9d195e04936"/>
    <p:sldId xmlns:r="http://schemas.openxmlformats.org/officeDocument/2006/relationships" id="270" r:id="R38844b294e6a4642"/>
    <p:sldId xmlns:r="http://schemas.openxmlformats.org/officeDocument/2006/relationships" id="271" r:id="Rf303857a296b4bb4"/>
    <p:sldId xmlns:r="http://schemas.openxmlformats.org/officeDocument/2006/relationships" id="272" r:id="R7b67c719101545f6"/>
    <p:sldId xmlns:r="http://schemas.openxmlformats.org/officeDocument/2006/relationships" id="273" r:id="Rf42a5dc7b44242d6"/>
    <p:sldId xmlns:r="http://schemas.openxmlformats.org/officeDocument/2006/relationships" id="274" r:id="R55a2f2a67b694b51"/>
    <p:sldId xmlns:r="http://schemas.openxmlformats.org/officeDocument/2006/relationships" id="275" r:id="Rbb73b736ceca4c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5e8bbe2aa84ae7" /><Relationship Type="http://schemas.openxmlformats.org/officeDocument/2006/relationships/slideMaster" Target="/ppt/slideMasters/slideMaster1.xml" Id="R56de6f30fcf84cb4" /><Relationship Type="http://schemas.openxmlformats.org/officeDocument/2006/relationships/notesMaster" Target="/ppt/notesMasters/notesMaster1.xml" Id="R9354dc7401f641c2" /><Relationship Type="http://schemas.openxmlformats.org/officeDocument/2006/relationships/presProps" Target="/ppt/presProps.xml" Id="Rf10c1d9a77f44bf0" /><Relationship Type="http://schemas.openxmlformats.org/officeDocument/2006/relationships/tableStyles" Target="/ppt/tableStyles.xml" Id="Raf4d247309674860" /><Relationship Type="http://schemas.openxmlformats.org/officeDocument/2006/relationships/slide" Target="/ppt/slides/slide1.xml" Id="R13982dca26a84691" /><Relationship Type="http://schemas.openxmlformats.org/officeDocument/2006/relationships/slide" Target="/ppt/slides/slide2.xml" Id="R29b7621e6d5f4b31" /><Relationship Type="http://schemas.openxmlformats.org/officeDocument/2006/relationships/slide" Target="/ppt/slides/slide3.xml" Id="R415eff274f0a498c" /><Relationship Type="http://schemas.openxmlformats.org/officeDocument/2006/relationships/slide" Target="/ppt/slides/slide4.xml" Id="R586e0c522cba4f0b" /><Relationship Type="http://schemas.openxmlformats.org/officeDocument/2006/relationships/slide" Target="/ppt/slides/slide5.xml" Id="Rfd362ae000734f71" /><Relationship Type="http://schemas.openxmlformats.org/officeDocument/2006/relationships/slide" Target="/ppt/slides/slide6.xml" Id="Rc2ec0e37591547ec" /><Relationship Type="http://schemas.openxmlformats.org/officeDocument/2006/relationships/slide" Target="/ppt/slides/slide7.xml" Id="R647302f6dbf7442d" /><Relationship Type="http://schemas.openxmlformats.org/officeDocument/2006/relationships/slide" Target="/ppt/slides/slide8.xml" Id="R2e089309b8aa46fb" /><Relationship Type="http://schemas.openxmlformats.org/officeDocument/2006/relationships/slide" Target="/ppt/slides/slide9.xml" Id="R8868847bc86a4a55" /><Relationship Type="http://schemas.openxmlformats.org/officeDocument/2006/relationships/slide" Target="/ppt/slides/slide10.xml" Id="Rdd26a91533c54d55" /><Relationship Type="http://schemas.openxmlformats.org/officeDocument/2006/relationships/slide" Target="/ppt/slides/slide11.xml" Id="Rae420ff0eba647c4" /><Relationship Type="http://schemas.openxmlformats.org/officeDocument/2006/relationships/slide" Target="/ppt/slides/slide12.xml" Id="R9d4e12a97c574364" /><Relationship Type="http://schemas.openxmlformats.org/officeDocument/2006/relationships/slide" Target="/ppt/slides/slide13.xml" Id="R9019b024a0274261" /><Relationship Type="http://schemas.openxmlformats.org/officeDocument/2006/relationships/slide" Target="/ppt/slides/slide14.xml" Id="Rea51f9d195e04936" /><Relationship Type="http://schemas.openxmlformats.org/officeDocument/2006/relationships/slide" Target="/ppt/slides/slide15.xml" Id="R38844b294e6a4642" /><Relationship Type="http://schemas.openxmlformats.org/officeDocument/2006/relationships/slide" Target="/ppt/slides/slide16.xml" Id="Rf303857a296b4bb4" /><Relationship Type="http://schemas.openxmlformats.org/officeDocument/2006/relationships/slide" Target="/ppt/slides/slide17.xml" Id="R7b67c719101545f6" /><Relationship Type="http://schemas.openxmlformats.org/officeDocument/2006/relationships/slide" Target="/ppt/slides/slide18.xml" Id="Rf42a5dc7b44242d6" /><Relationship Type="http://schemas.openxmlformats.org/officeDocument/2006/relationships/slide" Target="/ppt/slides/slide19.xml" Id="R55a2f2a67b694b51" /><Relationship Type="http://schemas.openxmlformats.org/officeDocument/2006/relationships/slide" Target="/ppt/slides/slide20.xml" Id="Rbb73b736ceca4c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cc3b135c354f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f9933ef72e4e77" /><Relationship Type="http://schemas.openxmlformats.org/officeDocument/2006/relationships/notesMaster" Target="/ppt/notesMasters/notesMaster1.xml" Id="R55fa97c07a3b49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4df64ebcf04c07" /><Relationship Type="http://schemas.openxmlformats.org/officeDocument/2006/relationships/notesMaster" Target="/ppt/notesMasters/notesMaster1.xml" Id="R7b3ba3e1f04b48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0675d65bc8444e" /><Relationship Type="http://schemas.openxmlformats.org/officeDocument/2006/relationships/notesMaster" Target="/ppt/notesMasters/notesMaster1.xml" Id="R217ddd6f67424a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dc735fbaf94a6d" /><Relationship Type="http://schemas.openxmlformats.org/officeDocument/2006/relationships/notesMaster" Target="/ppt/notesMasters/notesMaster1.xml" Id="R2fe9b36ef1234b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84f2e943f34b71" /><Relationship Type="http://schemas.openxmlformats.org/officeDocument/2006/relationships/notesMaster" Target="/ppt/notesMasters/notesMaster1.xml" Id="R13619b3d3e004a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164b122f264e1f" /><Relationship Type="http://schemas.openxmlformats.org/officeDocument/2006/relationships/notesMaster" Target="/ppt/notesMasters/notesMaster1.xml" Id="R56b32780991145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05a2d4fe934305" /><Relationship Type="http://schemas.openxmlformats.org/officeDocument/2006/relationships/notesMaster" Target="/ppt/notesMasters/notesMaster1.xml" Id="R584ac91b63d64e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6d040e630c48fa" /><Relationship Type="http://schemas.openxmlformats.org/officeDocument/2006/relationships/notesMaster" Target="/ppt/notesMasters/notesMaster1.xml" Id="Rd891014555c444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ae7e88ef204801" /><Relationship Type="http://schemas.openxmlformats.org/officeDocument/2006/relationships/notesMaster" Target="/ppt/notesMasters/notesMaster1.xml" Id="Rd8a4d13f6ed244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748c14864a4d1b" /><Relationship Type="http://schemas.openxmlformats.org/officeDocument/2006/relationships/notesMaster" Target="/ppt/notesMasters/notesMaster1.xml" Id="R622800b9b43f4b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9cd9ad29df4fdd" /><Relationship Type="http://schemas.openxmlformats.org/officeDocument/2006/relationships/notesMaster" Target="/ppt/notesMasters/notesMaster1.xml" Id="Rdc2e67f7cf8241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c72c987e6a74bf0" /><Relationship Type="http://schemas.openxmlformats.org/officeDocument/2006/relationships/notesMaster" Target="/ppt/notesMasters/notesMaster1.xml" Id="R7fa221ff1a6146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bde315eb774c81" /><Relationship Type="http://schemas.openxmlformats.org/officeDocument/2006/relationships/notesMaster" Target="/ppt/notesMasters/notesMaster1.xml" Id="Rbf84eefca00145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8f72f1731c4cc9" /><Relationship Type="http://schemas.openxmlformats.org/officeDocument/2006/relationships/notesMaster" Target="/ppt/notesMasters/notesMaster1.xml" Id="R0ddbbdb33c59489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2ee86b8cf249f0" /><Relationship Type="http://schemas.openxmlformats.org/officeDocument/2006/relationships/notesMaster" Target="/ppt/notesMasters/notesMaster1.xml" Id="Rd0ada16eb69d4a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3b489cd3ba24fd0" /><Relationship Type="http://schemas.openxmlformats.org/officeDocument/2006/relationships/notesMaster" Target="/ppt/notesMasters/notesMaster1.xml" Id="R87d51c09e7a94a4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ba23b88053436a" /><Relationship Type="http://schemas.openxmlformats.org/officeDocument/2006/relationships/notesMaster" Target="/ppt/notesMasters/notesMaster1.xml" Id="Rd02739fe59f448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2dba38185344786" /><Relationship Type="http://schemas.openxmlformats.org/officeDocument/2006/relationships/notesMaster" Target="/ppt/notesMasters/notesMaster1.xml" Id="R367f767aa4ec405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080e334c0ad4658" /><Relationship Type="http://schemas.openxmlformats.org/officeDocument/2006/relationships/notesMaster" Target="/ppt/notesMasters/notesMaster1.xml" Id="R144dc2bfadcf454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03f668adae34716" /><Relationship Type="http://schemas.openxmlformats.org/officeDocument/2006/relationships/notesMaster" Target="/ppt/notesMasters/notesMaster1.xml" Id="Ra5a1cba3a4be42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picture shows a straight-on perspective view of the actual 360 experience opening scene. Students should keep the experience closed until slide 7.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outcomes with the class. They follow the wording of the lesson worksheet.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pupils to attempt the exact starter question printed on the worksheet. Take a few suggestions before showing the model answer.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write definitions from memory. These two terms are the worksheet’s exact key terminology entries, including the recap terms in Lesson 4.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sample answers to the exact worksheet starter question. Accept other correct examples and explanations.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term definitions are visible for pupils to correct their quiz. Reveal this slide after attempts.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slide where students open the experience file. Leave it visible while they get set up. The link opens the matching experience.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image is a straight-on perspective view of stations 1 and 2 in the actual experience. Students should record the key fact and their own answer before selecting each badge.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Once students have reached the score screen, they copy the mark straight away. The key question is printed on the worksheet after the score box.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extension is optional and comes after the experience. Give students time to reason in full sentences.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slide up while the rest of the class finishes. Do not reveal station answers until pupils have completed the experience.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sample answers after early finishers have attempted the two extension prompts. These are examples rather than a single required wording.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concise answers to the worksheet station prompts, shared only after pupils complete the experience. Correct wording can vary.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answers follow the final challenge in the interactive experience and the worksheet. Students should correct their table before the exam questions.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exact exam-practice questions a and b from the worksheet. Give independent writing time before revealing the answers.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exact worksheet exam-practice question c. Let students answer independently.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improve one response in a different colour.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equivalent descriptions. The experience also covers Harvard architecture and Python keywords; the exam questions on the worksheet focus on registers and the cycle. Ask students to revise one sentence after self-check.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the exact confidence objectives listed in the worksheet. Ask students to identify one item to revisit next time.</a:t>
            </a:r>
          </a:p>
          <a:p xmlns:a="http://schemas.openxmlformats.org/drawingml/2006/main">
            <a:r>
              <a:t>Sources: Revise360 experiences/sa-l02.json and worksheets/SA_L02_VonNeumannHQ_Worksheet.docx.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bbc0b1f53a40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84eeecbc8f4e8f" /><Relationship Type="http://schemas.openxmlformats.org/officeDocument/2006/relationships/slideLayout" Target="/ppt/slideLayouts/slideLayout1.xml" Id="Re5f1d028558f44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f1d028558f44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3be6c62704d06" /><Relationship Type="http://schemas.openxmlformats.org/officeDocument/2006/relationships/image" Target="/ppt/media/image.jpeg" Id="R21e60b9f742b48e5" /><Relationship Type="http://schemas.openxmlformats.org/officeDocument/2006/relationships/notesSlide" Target="/ppt/notesSlides/notesSlide1.xml" Id="R2bc70cd9a2db42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9be98b8a64729" /><Relationship Type="http://schemas.openxmlformats.org/officeDocument/2006/relationships/notesSlide" Target="/ppt/notesSlides/notesSlide2.xml" Id="R6d945511316540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284a2eb1f4a7a" /><Relationship Type="http://schemas.openxmlformats.org/officeDocument/2006/relationships/notesSlide" Target="/ppt/notesSlides/notesSlide3.xml" Id="R21013747a54b40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b9f6675ce49b6" /><Relationship Type="http://schemas.openxmlformats.org/officeDocument/2006/relationships/notesSlide" Target="/ppt/notesSlides/notesSlide4.xml" Id="R5f77fe42837547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fa956c5ef4626" /><Relationship Type="http://schemas.openxmlformats.org/officeDocument/2006/relationships/notesSlide" Target="/ppt/notesSlides/notesSlide5.xml" Id="R2888e5b67d0d49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2cad8ab3a414b" /><Relationship Type="http://schemas.openxmlformats.org/officeDocument/2006/relationships/notesSlide" Target="/ppt/notesSlides/notesSlide6.xml" Id="R3177e3fd500848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7f7857b004ba2" /><Relationship Type="http://schemas.openxmlformats.org/officeDocument/2006/relationships/hyperlink" Target="https://mrp-cs.github.io/Revise360/experience.html?id=sa-l02" TargetMode="External" Id="Rdf362d33554c4aa0" /><Relationship Type="http://schemas.openxmlformats.org/officeDocument/2006/relationships/notesSlide" Target="/ppt/notesSlides/notesSlide7.xml" Id="Rf9ed1deaa1aa40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630c830274607" /><Relationship Type="http://schemas.openxmlformats.org/officeDocument/2006/relationships/image" Target="/ppt/media/image2.jpeg" Id="Rd0cbd9073bf54ac5" /><Relationship Type="http://schemas.openxmlformats.org/officeDocument/2006/relationships/notesSlide" Target="/ppt/notesSlides/notesSlide8.xml" Id="R039109a2698241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e7799360d47f4" /><Relationship Type="http://schemas.openxmlformats.org/officeDocument/2006/relationships/notesSlide" Target="/ppt/notesSlides/notesSlide9.xml" Id="R45d2b210175a49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bc5183ac34d17" /><Relationship Type="http://schemas.openxmlformats.org/officeDocument/2006/relationships/notesSlide" Target="/ppt/notesSlides/notesSlide10.xml" Id="Ra95d3d3490c54f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18165ca3e40e7" /><Relationship Type="http://schemas.openxmlformats.org/officeDocument/2006/relationships/notesSlide" Target="/ppt/notesSlides/notesSlide11.xml" Id="R85fdd7b3471045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9604ab971497e" /><Relationship Type="http://schemas.openxmlformats.org/officeDocument/2006/relationships/notesSlide" Target="/ppt/notesSlides/notesSlide12.xml" Id="R1a8cafff308f435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6e3cf231748b0" /><Relationship Type="http://schemas.openxmlformats.org/officeDocument/2006/relationships/notesSlide" Target="/ppt/notesSlides/notesSlide13.xml" Id="Ra6243b888d254bf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3bf7443364386" /><Relationship Type="http://schemas.openxmlformats.org/officeDocument/2006/relationships/notesSlide" Target="/ppt/notesSlides/notesSlide14.xml" Id="Rb8de3d375d0d451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27c373fce4e81" /><Relationship Type="http://schemas.openxmlformats.org/officeDocument/2006/relationships/notesSlide" Target="/ppt/notesSlides/notesSlide15.xml" Id="R70242a05333e443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efa9267d74656" /><Relationship Type="http://schemas.openxmlformats.org/officeDocument/2006/relationships/notesSlide" Target="/ppt/notesSlides/notesSlide16.xml" Id="Rc3edd19d4c2547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32b549b36a4b9e" /><Relationship Type="http://schemas.openxmlformats.org/officeDocument/2006/relationships/notesSlide" Target="/ppt/notesSlides/notesSlide17.xml" Id="R0f0675cbf65a422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e431e0d8c4b30" /><Relationship Type="http://schemas.openxmlformats.org/officeDocument/2006/relationships/notesSlide" Target="/ppt/notesSlides/notesSlide18.xml" Id="Rbe22b2aa86374ca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89c3a7d384534" /><Relationship Type="http://schemas.openxmlformats.org/officeDocument/2006/relationships/notesSlide" Target="/ppt/notesSlides/notesSlide19.xml" Id="R5cd4374f187040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773eb70a14972" /><Relationship Type="http://schemas.openxmlformats.org/officeDocument/2006/relationships/notesSlide" Target="/ppt/notesSlides/notesSlide20.xml" Id="R50d97b73b59543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005E1066-E2FC-40A1-85A7-0D457B01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7659E45-F643-4977-884B-940009B7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VON NEUMANN HQ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9F508E6-E586-4E31-A48B-EB46B89F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78B8D0C-06BA-4C93-A66D-19B17DA6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20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92006C3B-6F58-47D0-8B24-87C49FF7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Architecture of the CPU</a:t>
            </a:r>
          </a:p>
        </p:txBody>
      </p:sp>
      <p:sp>
        <p:nvSpPr>
          <p:cNvPr id="6" name="cover-note">
            <a:extLst xmlns:a="http://schemas.openxmlformats.org/drawingml/2006/main">
              <a:ext uri="{FF2B5EF4-FFF2-40B4-BE49-F238E27FC236}">
                <a16:creationId xmlns:a16="http://schemas.microsoft.com/office/drawing/2014/main" id="{522F69C3-C0DB-41B6-A7C1-240DAE8B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5143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 with your worksheet.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after the starter answers.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60b9f742b48e5"/>
          <a:stretch xmlns:a="http://schemas.openxmlformats.org/drawingml/2006/main"/>
        </p:blipFill>
        <p:spPr>
          <a:xfrm xmlns:a="http://schemas.openxmlformats.org/drawingml/2006/main">
            <a:off x="6076950" y="1819275"/>
            <a:ext cx="5400675" cy="3600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108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opic">
            <a:extLst xmlns:a="http://schemas.openxmlformats.org/drawingml/2006/main">
              <a:ext uri="{FF2B5EF4-FFF2-40B4-BE49-F238E27FC236}">
                <a16:creationId xmlns:a16="http://schemas.microsoft.com/office/drawing/2014/main" id="{1ADC248A-8771-4FCA-A5BA-B3350C1E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FB9553EB-59E6-43B6-AF77-9A116369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By the end of this lesson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E4341BC-C77D-44A9-9CC8-4FBB15AA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0826A3C-8B46-47E8-9BB7-C3A7D63F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20</a:t>
            </a:r>
          </a:p>
        </p:txBody>
      </p:sp>
      <p:sp>
        <p:nvSpPr>
          <p:cNvPr id="5" name="outcome-intro">
            <a:extLst xmlns:a="http://schemas.openxmlformats.org/drawingml/2006/main">
              <a:ext uri="{FF2B5EF4-FFF2-40B4-BE49-F238E27FC236}">
                <a16:creationId xmlns:a16="http://schemas.microsoft.com/office/drawing/2014/main" id="{9DC4F9EF-CA36-4136-8844-AABF3F8B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Your worksheet lists these learning outcomes: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2F05433C-9671-4B0D-91F4-2B2D7B16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6E48D77B-24E4-45E9-B99A-D261CACC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66950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the von Neumann architecture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98792852-5F74-42AF-86C8-D0A6CA39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50EE3A12-A0AC-4E54-BAAA-CE1F928C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62325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Know the components of the von Neumann architecture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5EE88B69-5106-4B47-BBF9-D7363FA3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9EA58D54-FF18-4CF7-AC94-B69A9B7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57700"/>
            <a:ext cx="992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Understand what a keyword is</a:t>
            </a:r>
          </a:p>
        </p:txBody>
      </p:sp>
      <p:sp>
        <p:nvSpPr>
          <p:cNvPr id="12" name="starter-next">
            <a:extLst xmlns:a="http://schemas.openxmlformats.org/drawingml/2006/main">
              <a:ext uri="{FF2B5EF4-FFF2-40B4-BE49-F238E27FC236}">
                <a16:creationId xmlns:a16="http://schemas.microsoft.com/office/drawing/2014/main" id="{8F45BF7D-4689-4A9F-A7FF-747DD37B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007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Complete the worksheet starter before opening the experience.</a:t>
            </a:r>
          </a:p>
        </p:txBody>
      </p:sp>
    </p:spTree>
    <p:extLst>
      <p:ext uri="{BB962C8B-B14F-4D97-AF65-F5344CB8AC3E}">
        <p14:creationId xmlns:p14="http://schemas.microsoft.com/office/powerpoint/2010/main" val="6236671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D6EF7934-2092-4966-95B5-B7781670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02CA21A7-8CFB-484E-9B0D-18AD3B34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before the experience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347B5A3-7282-4412-89BA-022C5A94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7EEAA9-876F-43E4-9F7B-4EA740D2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20</a:t>
            </a:r>
          </a:p>
        </p:txBody>
      </p:sp>
      <p:sp>
        <p:nvSpPr>
          <p:cNvPr id="5" name="write-first">
            <a:extLst xmlns:a="http://schemas.openxmlformats.org/drawingml/2006/main">
              <a:ext uri="{FF2B5EF4-FFF2-40B4-BE49-F238E27FC236}">
                <a16:creationId xmlns:a16="http://schemas.microsoft.com/office/drawing/2014/main" id="{20FA507A-E880-4995-A075-F501DCB6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Answer the starter question in the box on your worksheet.</a:t>
            </a:r>
          </a:p>
        </p:txBody>
      </p:sp>
      <p:sp>
        <p:nvSpPr>
          <p:cNvPr id="6" name="worksheet-starter">
            <a:extLst xmlns:a="http://schemas.openxmlformats.org/drawingml/2006/main">
              <a:ext uri="{FF2B5EF4-FFF2-40B4-BE49-F238E27FC236}">
                <a16:creationId xmlns:a16="http://schemas.microsoft.com/office/drawing/2014/main" id="{F7685F81-502B-444E-AB60-C0399996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105727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same laptop can run a game, then a word processor, then a browser, with no hardware changed. What makes that possible?</a:t>
            </a:r>
          </a:p>
        </p:txBody>
      </p:sp>
      <p:sp>
        <p:nvSpPr>
          <p:cNvPr id="7" name="no-open">
            <a:extLst xmlns:a="http://schemas.openxmlformats.org/drawingml/2006/main">
              <a:ext uri="{FF2B5EF4-FFF2-40B4-BE49-F238E27FC236}">
                <a16:creationId xmlns:a16="http://schemas.microsoft.com/office/drawing/2014/main" id="{0896E8B7-2DDB-4F15-9103-FA10D6B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Keep the experience closed until the starter and key terms are checked.</a:t>
            </a:r>
          </a:p>
        </p:txBody>
      </p:sp>
    </p:spTree>
    <p:extLst>
      <p:ext uri="{BB962C8B-B14F-4D97-AF65-F5344CB8AC3E}">
        <p14:creationId xmlns:p14="http://schemas.microsoft.com/office/powerpoint/2010/main" val="17517017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70A14F74-CA35-4F19-B86F-3BF2BB7F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F1AD87E1-F122-41B8-80BA-019595A3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9254F21-1B31-4566-884F-C5E5A90C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 key terms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2766893-38DE-48EF-8E9D-903A01EC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20</a:t>
            </a:r>
          </a:p>
        </p:txBody>
      </p:sp>
      <p:sp>
        <p:nvSpPr>
          <p:cNvPr id="5" name="define-first">
            <a:extLst xmlns:a="http://schemas.openxmlformats.org/drawingml/2006/main">
              <a:ext uri="{FF2B5EF4-FFF2-40B4-BE49-F238E27FC236}">
                <a16:creationId xmlns:a16="http://schemas.microsoft.com/office/drawing/2014/main" id="{39C81B85-A01F-4B1F-911E-72125D33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572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Define the two terms listed in the key terminology section of your worksheet.</a:t>
            </a:r>
          </a:p>
        </p:txBody>
      </p:sp>
      <p:sp>
        <p:nvSpPr>
          <p:cNvPr id="6" name="term-number-0">
            <a:extLst xmlns:a="http://schemas.openxmlformats.org/drawingml/2006/main">
              <a:ext uri="{FF2B5EF4-FFF2-40B4-BE49-F238E27FC236}">
                <a16:creationId xmlns:a16="http://schemas.microsoft.com/office/drawing/2014/main" id="{A6D9E0DF-B9AB-40F1-B15A-C2712D5E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term-0">
            <a:extLst xmlns:a="http://schemas.openxmlformats.org/drawingml/2006/main">
              <a:ext uri="{FF2B5EF4-FFF2-40B4-BE49-F238E27FC236}">
                <a16:creationId xmlns:a16="http://schemas.microsoft.com/office/drawing/2014/main" id="{CD536FCB-7310-4D01-8236-9E1A3A45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860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ALU</a:t>
            </a:r>
          </a:p>
        </p:txBody>
      </p:sp>
      <p:sp>
        <p:nvSpPr>
          <p:cNvPr id="8" name="term-number-1">
            <a:extLst xmlns:a="http://schemas.openxmlformats.org/drawingml/2006/main">
              <a:ext uri="{FF2B5EF4-FFF2-40B4-BE49-F238E27FC236}">
                <a16:creationId xmlns:a16="http://schemas.microsoft.com/office/drawing/2014/main" id="{FADD78C1-E884-41F3-B0C1-DD800201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590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term-1">
            <a:extLst xmlns:a="http://schemas.openxmlformats.org/drawingml/2006/main">
              <a:ext uri="{FF2B5EF4-FFF2-40B4-BE49-F238E27FC236}">
                <a16:creationId xmlns:a16="http://schemas.microsoft.com/office/drawing/2014/main" id="{3A859D39-D504-4DAE-9A6D-4ABC2A5F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324350"/>
            <a:ext cx="9667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CU (control unit)</a:t>
            </a:r>
          </a:p>
        </p:txBody>
      </p:sp>
    </p:spTree>
    <p:extLst>
      <p:ext uri="{BB962C8B-B14F-4D97-AF65-F5344CB8AC3E}">
        <p14:creationId xmlns:p14="http://schemas.microsoft.com/office/powerpoint/2010/main" val="12268308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891BC5C7-4C3F-4067-B567-FDD1F945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E65AF9FE-12AD-451B-A1E4-F44D3A6C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8B0CA72-1C61-4460-9902-ED534741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32F1C31-11CE-4286-98B9-AD34C453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20</a:t>
            </a:r>
          </a:p>
        </p:txBody>
      </p:sp>
      <p:sp>
        <p:nvSpPr>
          <p:cNvPr id="5" name="sample-note">
            <a:extLst xmlns:a="http://schemas.openxmlformats.org/drawingml/2006/main">
              <a:ext uri="{FF2B5EF4-FFF2-40B4-BE49-F238E27FC236}">
                <a16:creationId xmlns:a16="http://schemas.microsoft.com/office/drawing/2014/main" id="{6B19938B-84CB-4540-86F0-010887D6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worksheet answer with these examples. Other accurate examples count.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D9CCA6CA-E047-412F-99D8-2A3F9825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88BC0AD0-8B92-414F-A07D-771EE94A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9925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CPU can run different stored programs loaded into main memory.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95FCBFAC-D1A1-481A-A5C9-38D00FF9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13334CBD-8CEB-466F-95C9-DF5ADF85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99250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New instructions change the task without rewiring the hardware.</a:t>
            </a:r>
          </a:p>
        </p:txBody>
      </p:sp>
    </p:spTree>
    <p:extLst>
      <p:ext uri="{BB962C8B-B14F-4D97-AF65-F5344CB8AC3E}">
        <p14:creationId xmlns:p14="http://schemas.microsoft.com/office/powerpoint/2010/main" val="24427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1B082176-2C34-486F-B7CB-B5CD6D4F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A24D684-1984-4022-8595-9FC0E92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Key terminology: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EA9FDD7-C11F-4CFD-8EEE-9C54B441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5829564-E3BA-430F-B9FA-286C3F11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20</a:t>
            </a:r>
          </a:p>
        </p:txBody>
      </p:sp>
      <p:sp>
        <p:nvSpPr>
          <p:cNvPr id="5" name="terms-note">
            <a:extLst xmlns:a="http://schemas.openxmlformats.org/drawingml/2006/main">
              <a:ext uri="{FF2B5EF4-FFF2-40B4-BE49-F238E27FC236}">
                <a16:creationId xmlns:a16="http://schemas.microsoft.com/office/drawing/2014/main" id="{0F71E94D-D75D-4D87-9931-CF8914B2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Correct or improve your two definitions before opening the experience.</a:t>
            </a:r>
          </a:p>
        </p:txBody>
      </p:sp>
      <p:sp>
        <p:nvSpPr>
          <p:cNvPr id="6" name="answer-term-0">
            <a:extLst xmlns:a="http://schemas.openxmlformats.org/drawingml/2006/main">
              <a:ext uri="{FF2B5EF4-FFF2-40B4-BE49-F238E27FC236}">
                <a16:creationId xmlns:a16="http://schemas.microsoft.com/office/drawing/2014/main" id="{85432F28-8743-4586-ADCC-4262C220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ALU</a:t>
            </a:r>
          </a:p>
        </p:txBody>
      </p:sp>
      <p:sp>
        <p:nvSpPr>
          <p:cNvPr id="7" name="answer-definition-0">
            <a:extLst xmlns:a="http://schemas.openxmlformats.org/drawingml/2006/main">
              <a:ext uri="{FF2B5EF4-FFF2-40B4-BE49-F238E27FC236}">
                <a16:creationId xmlns:a16="http://schemas.microsoft.com/office/drawing/2014/main" id="{C27A866E-C4B0-40B2-B7B7-0622D977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arithmetic logic unit performs calculations and logical operations.</a:t>
            </a:r>
          </a:p>
        </p:txBody>
      </p:sp>
      <p:sp>
        <p:nvSpPr>
          <p:cNvPr id="8" name="answer-term-1">
            <a:extLst xmlns:a="http://schemas.openxmlformats.org/drawingml/2006/main">
              <a:ext uri="{FF2B5EF4-FFF2-40B4-BE49-F238E27FC236}">
                <a16:creationId xmlns:a16="http://schemas.microsoft.com/office/drawing/2014/main" id="{3FF9CA0E-4F70-4956-8A1E-25D8B2D7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33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CU (control unit)</a:t>
            </a:r>
          </a:p>
        </p:txBody>
      </p:sp>
      <p:sp>
        <p:nvSpPr>
          <p:cNvPr id="9" name="answer-definition-1">
            <a:extLst xmlns:a="http://schemas.openxmlformats.org/drawingml/2006/main">
              <a:ext uri="{FF2B5EF4-FFF2-40B4-BE49-F238E27FC236}">
                <a16:creationId xmlns:a16="http://schemas.microsoft.com/office/drawing/2014/main" id="{87E7BC97-EC61-4CFD-8E82-3D38F031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control unit decodes instructions and sends control signals.</a:t>
            </a:r>
          </a:p>
        </p:txBody>
      </p:sp>
    </p:spTree>
    <p:extLst>
      <p:ext uri="{BB962C8B-B14F-4D97-AF65-F5344CB8AC3E}">
        <p14:creationId xmlns:p14="http://schemas.microsoft.com/office/powerpoint/2010/main" val="1017389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C3105751-2790-497C-A4DF-98D49577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62DDF11-9D49-4B96-A6BB-6689BC3F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the experience now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5A9793E-A592-4D1A-A249-EE07BDF9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4EEFAB0-6DA4-465E-8232-D71964AD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20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7B1F9B43-3FF8-4591-AC78-78D9B2DB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81F3451E-862A-4D4B-927D-6C672C11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Select Von Neumann HQ from Topic 1.1. Keep your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BE3D3CC5-C07F-4A82-86D7-6735B743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645862B0-B906-44B5-B6EE-6C2DF532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47950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station, read the wall panel and write the key fact and challenge answer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DE5372BE-D725-4F35-B6F6-E4F712A1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BC45B6E3-E66A-4CFD-8AF7-D4B35BF3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05225"/>
            <a:ext cx="99250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Tap the badge and answer on screen. Your first answer is the one that counts.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5F2D98E8-4DBF-4FDD-A7CF-326299DC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3433E007-C28A-4727-8A3F-472CD201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When the score screen appears, copy your score into the yellow worksheet box (out of 19).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A275AA55-78EB-4614-8024-7C68EF1B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df362d33554c4aa0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12795582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ic">
            <a:extLst xmlns:a="http://schemas.openxmlformats.org/drawingml/2006/main">
              <a:ext uri="{FF2B5EF4-FFF2-40B4-BE49-F238E27FC236}">
                <a16:creationId xmlns:a16="http://schemas.microsoft.com/office/drawing/2014/main" id="{30903948-5468-4D9C-8247-9BC2DC7B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213EA23-2846-4BE4-A97D-AB3F2110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stations in your worksheet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AC8B676-2313-4258-B567-B3472F46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E2ACDE3-5F71-4C53-9A77-3E87C4C3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20</a:t>
            </a:r>
          </a:p>
        </p:txBody>
      </p:sp>
      <p:sp>
        <p:nvSpPr>
          <p:cNvPr id="5" name="route-intro">
            <a:extLst xmlns:a="http://schemas.openxmlformats.org/drawingml/2006/main">
              <a:ext uri="{FF2B5EF4-FFF2-40B4-BE49-F238E27FC236}">
                <a16:creationId xmlns:a16="http://schemas.microsoft.com/office/drawing/2014/main" id="{8D6CC133-D4E5-45DA-9B8E-4FA7905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same route as the experience and worksheet:</a:t>
            </a:r>
          </a:p>
        </p:txBody>
      </p:sp>
      <p:sp>
        <p:nvSpPr>
          <p:cNvPr id="6" name="route-direction-0">
            <a:extLst xmlns:a="http://schemas.openxmlformats.org/drawingml/2006/main">
              <a:ext uri="{FF2B5EF4-FFF2-40B4-BE49-F238E27FC236}">
                <a16:creationId xmlns:a16="http://schemas.microsoft.com/office/drawing/2014/main" id="{88A199DA-7553-4497-8AD7-D2C873E6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RIGHT</a:t>
            </a:r>
          </a:p>
        </p:txBody>
      </p:sp>
      <p:sp>
        <p:nvSpPr>
          <p:cNvPr id="7" name="route-names-0">
            <a:extLst xmlns:a="http://schemas.openxmlformats.org/drawingml/2006/main">
              <a:ext uri="{FF2B5EF4-FFF2-40B4-BE49-F238E27FC236}">
                <a16:creationId xmlns:a16="http://schemas.microsoft.com/office/drawing/2014/main" id="{C2C65FAF-3BCF-44B2-8BC7-2C8BC554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1 John von Neumann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2 The stored-program concept</a:t>
            </a:r>
          </a:p>
        </p:txBody>
      </p:sp>
      <p:sp>
        <p:nvSpPr>
          <p:cNvPr id="8" name="route-direction-1">
            <a:extLst xmlns:a="http://schemas.openxmlformats.org/drawingml/2006/main">
              <a:ext uri="{FF2B5EF4-FFF2-40B4-BE49-F238E27FC236}">
                <a16:creationId xmlns:a16="http://schemas.microsoft.com/office/drawing/2014/main" id="{26BDAA00-5A8B-4A0B-94FF-EFF8D7DC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AROUND</a:t>
            </a:r>
          </a:p>
        </p:txBody>
      </p:sp>
      <p:sp>
        <p:nvSpPr>
          <p:cNvPr id="9" name="route-names-1">
            <a:extLst xmlns:a="http://schemas.openxmlformats.org/drawingml/2006/main">
              <a:ext uri="{FF2B5EF4-FFF2-40B4-BE49-F238E27FC236}">
                <a16:creationId xmlns:a16="http://schemas.microsoft.com/office/drawing/2014/main" id="{5966AF7A-20DA-4F19-B2AF-81107527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099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3 Program counter and accumulator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4 MAR and MDR</a:t>
            </a:r>
          </a:p>
        </p:txBody>
      </p:sp>
      <p:sp>
        <p:nvSpPr>
          <p:cNvPr id="10" name="route-direction-2">
            <a:extLst xmlns:a="http://schemas.openxmlformats.org/drawingml/2006/main">
              <a:ext uri="{FF2B5EF4-FFF2-40B4-BE49-F238E27FC236}">
                <a16:creationId xmlns:a16="http://schemas.microsoft.com/office/drawing/2014/main" id="{9ED7AC9C-C9B4-41E6-B688-F8694020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62425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LEFT</a:t>
            </a:r>
          </a:p>
        </p:txBody>
      </p:sp>
      <p:sp>
        <p:nvSpPr>
          <p:cNvPr id="11" name="route-names-2">
            <a:extLst xmlns:a="http://schemas.openxmlformats.org/drawingml/2006/main">
              <a:ext uri="{FF2B5EF4-FFF2-40B4-BE49-F238E27FC236}">
                <a16:creationId xmlns:a16="http://schemas.microsoft.com/office/drawing/2014/main" id="{1322E2ED-E9F1-4DF4-8778-AA015623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62425"/>
            <a:ext cx="4438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5 Other architectures</a:t>
            </a:r>
          </a:p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6 Keywords</a:t>
            </a:r>
          </a:p>
        </p:txBody>
      </p:sp>
      <p:sp>
        <p:nvSpPr>
          <p:cNvPr id="12" name="route-direction-3">
            <a:extLst xmlns:a="http://schemas.openxmlformats.org/drawingml/2006/main">
              <a:ext uri="{FF2B5EF4-FFF2-40B4-BE49-F238E27FC236}">
                <a16:creationId xmlns:a16="http://schemas.microsoft.com/office/drawing/2014/main" id="{E13D4066-AFF0-4567-B2A0-CF828ADC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DOWN</a:t>
            </a:r>
          </a:p>
        </p:txBody>
      </p:sp>
      <p:sp>
        <p:nvSpPr>
          <p:cNvPr id="13" name="route-names-3">
            <a:extLst xmlns:a="http://schemas.openxmlformats.org/drawingml/2006/main">
              <a:ext uri="{FF2B5EF4-FFF2-40B4-BE49-F238E27FC236}">
                <a16:creationId xmlns:a16="http://schemas.microsoft.com/office/drawing/2014/main" id="{C1BAA430-2AA1-4780-9F63-59C5DD0F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14950"/>
            <a:ext cx="4438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★ Final challenge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bd9073bf54ac5"/>
          <a:stretch xmlns:a="http://schemas.openxmlformats.org/drawingml/2006/main"/>
        </p:blipFill>
        <p:spPr>
          <a:xfrm xmlns:a="http://schemas.openxmlformats.org/drawingml/2006/main">
            <a:off x="6505575" y="2241550"/>
            <a:ext cx="4933950" cy="3289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20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EC213E70-B12C-48AF-BBC9-C792FAD3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8EF72684-CB55-4E4E-9855-5720FE7C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challenge, score and key question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ABEB47C-8611-4562-867C-89417F1E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Worksheet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1B2EC7C-B0BB-45E1-BA28-F46103B9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20</a:t>
            </a:r>
          </a:p>
        </p:txBody>
      </p:sp>
      <p:sp>
        <p:nvSpPr>
          <p:cNvPr id="5" name="star">
            <a:extLst xmlns:a="http://schemas.openxmlformats.org/drawingml/2006/main">
              <a:ext uri="{FF2B5EF4-FFF2-40B4-BE49-F238E27FC236}">
                <a16:creationId xmlns:a16="http://schemas.microsoft.com/office/drawing/2014/main" id="{4BFD5ABE-1668-413D-A5FB-C9BDC561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057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Look down. Complete the ★ final challenge table on your worksheet before tapping the star.</a:t>
            </a:r>
          </a:p>
        </p:txBody>
      </p:sp>
      <p:sp>
        <p:nvSpPr>
          <p:cNvPr id="6" name="score">
            <a:extLst xmlns:a="http://schemas.openxmlformats.org/drawingml/2006/main">
              <a:ext uri="{FF2B5EF4-FFF2-40B4-BE49-F238E27FC236}">
                <a16:creationId xmlns:a16="http://schemas.microsoft.com/office/drawing/2014/main" id="{6FA94CEE-58A1-4CB8-99CB-6F996E39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Copy the result from the score screen:  ______ / 19</a:t>
            </a:r>
          </a:p>
        </p:txBody>
      </p:sp>
      <p:sp>
        <p:nvSpPr>
          <p:cNvPr id="7" name="key-label">
            <a:extLst xmlns:a="http://schemas.openxmlformats.org/drawingml/2006/main">
              <a:ext uri="{FF2B5EF4-FFF2-40B4-BE49-F238E27FC236}">
                <a16:creationId xmlns:a16="http://schemas.microsoft.com/office/drawing/2014/main" id="{86374862-7DCA-4463-A516-11683E81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52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KEY QUESTION</a:t>
            </a:r>
          </a:p>
        </p:txBody>
      </p:sp>
      <p:sp>
        <p:nvSpPr>
          <p:cNvPr id="8" name="key-question">
            <a:extLst xmlns:a="http://schemas.openxmlformats.org/drawingml/2006/main">
              <a:ext uri="{FF2B5EF4-FFF2-40B4-BE49-F238E27FC236}">
                <a16:creationId xmlns:a16="http://schemas.microsoft.com/office/drawing/2014/main" id="{C183B16A-DD85-4ABC-9E0E-CA556440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67275"/>
            <a:ext cx="10572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What other architectures exist and where are they used?</a:t>
            </a:r>
          </a:p>
        </p:txBody>
      </p:sp>
    </p:spTree>
    <p:extLst>
      <p:ext uri="{BB962C8B-B14F-4D97-AF65-F5344CB8AC3E}">
        <p14:creationId xmlns:p14="http://schemas.microsoft.com/office/powerpoint/2010/main" val="168157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DE0C655C-B9C8-4D3F-B273-6614DB99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BC2B751-8688-4051-87DE-2B440763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FB68CA5-3DB2-4971-80C7-5FB380BE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B740BA1-0FE3-4739-96BD-A2BD72D9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20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32254F10-45E8-4D0F-A608-09AEFA71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AE6C8CC6-CAF6-4CA5-A8BA-83B37776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runs a game, then a spreadsheet. Explain how a stored program makes this possible without rewiring the computer.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BA0CFEE2-BECF-4ECA-9D27-8764EA3F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Compare shared memory with the separate instruction and data memories in Harvard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6085254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24850592-D633-4220-9961-54AA41E6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E892A9E9-113D-428D-BB74-1049A3D4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9C93633-FFDA-4FB6-B42C-DCA879B0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78AA1E7-8384-417D-B3F3-9755B299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11 / 20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1CA98DA6-DB8C-4514-911B-47D28B33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F26A1007-C8F3-4D1B-9106-E16BB2F6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MAR and MDR in one sentence each. Then describe what the control unit does during decode.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9FBBE61C-FABF-4FE5-83F5-9E7435B4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When the class is ready, close the experience and answer the plenary exam quiz.</a:t>
            </a:r>
          </a:p>
        </p:txBody>
      </p:sp>
    </p:spTree>
    <p:extLst>
      <p:ext uri="{BB962C8B-B14F-4D97-AF65-F5344CB8AC3E}">
        <p14:creationId xmlns:p14="http://schemas.microsoft.com/office/powerpoint/2010/main" val="336167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576BEC52-C639-41A0-ADF9-EC2F2186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A7E0939-9237-4913-94EA-AABA0D65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sample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0DB957D-84DB-40AC-83B6-3A843EB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3EE6B91-1918-4270-8B8E-DE9B971C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12 / 20</a:t>
            </a:r>
          </a:p>
        </p:txBody>
      </p:sp>
      <p:sp>
        <p:nvSpPr>
          <p:cNvPr id="5" name="extension-check">
            <a:extLst xmlns:a="http://schemas.openxmlformats.org/drawingml/2006/main">
              <a:ext uri="{FF2B5EF4-FFF2-40B4-BE49-F238E27FC236}">
                <a16:creationId xmlns:a16="http://schemas.microsoft.com/office/drawing/2014/main" id="{433EE541-3802-4507-B0BC-63A87053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reasoning, then improve one sentence on your worksheet.</a:t>
            </a:r>
          </a:p>
        </p:txBody>
      </p:sp>
      <p:sp>
        <p:nvSpPr>
          <p:cNvPr id="6" name="answer-application">
            <a:extLst xmlns:a="http://schemas.openxmlformats.org/drawingml/2006/main">
              <a:ext uri="{FF2B5EF4-FFF2-40B4-BE49-F238E27FC236}">
                <a16:creationId xmlns:a16="http://schemas.microsoft.com/office/drawing/2014/main" id="{5BEACAEB-384C-4944-BFB4-40A75FB9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Application</a:t>
            </a:r>
          </a:p>
        </p:txBody>
      </p:sp>
      <p:sp>
        <p:nvSpPr>
          <p:cNvPr id="7" name="answer-application-body">
            <a:extLst xmlns:a="http://schemas.openxmlformats.org/drawingml/2006/main">
              <a:ext uri="{FF2B5EF4-FFF2-40B4-BE49-F238E27FC236}">
                <a16:creationId xmlns:a16="http://schemas.microsoft.com/office/drawing/2014/main" id="{89357E72-E23E-4AE6-9D8D-E3FA790D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47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Loading a new stored program into main memory lets the same CPU run a new task. Harvard architecture separates instruction and data memories.</a:t>
            </a:r>
          </a:p>
        </p:txBody>
      </p:sp>
      <p:sp>
        <p:nvSpPr>
          <p:cNvPr id="8" name="answer-stretch">
            <a:extLst xmlns:a="http://schemas.openxmlformats.org/drawingml/2006/main">
              <a:ext uri="{FF2B5EF4-FFF2-40B4-BE49-F238E27FC236}">
                <a16:creationId xmlns:a16="http://schemas.microsoft.com/office/drawing/2014/main" id="{3E0786A2-A387-4218-A718-179EDB86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Check and stretch</a:t>
            </a:r>
          </a:p>
        </p:txBody>
      </p:sp>
      <p:sp>
        <p:nvSpPr>
          <p:cNvPr id="9" name="answer-stretch-body">
            <a:extLst xmlns:a="http://schemas.openxmlformats.org/drawingml/2006/main">
              <a:ext uri="{FF2B5EF4-FFF2-40B4-BE49-F238E27FC236}">
                <a16:creationId xmlns:a16="http://schemas.microsoft.com/office/drawing/2014/main" id="{3022E163-02C7-499A-A546-FAF532F7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047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MAR holds the memory address. MDR holds data or an instruction moving to or from memory. The control unit interprets the instruction during decode.</a:t>
            </a:r>
          </a:p>
        </p:txBody>
      </p:sp>
    </p:spTree>
    <p:extLst>
      <p:ext uri="{BB962C8B-B14F-4D97-AF65-F5344CB8AC3E}">
        <p14:creationId xmlns:p14="http://schemas.microsoft.com/office/powerpoint/2010/main" val="18141371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937546EB-31DA-465E-A6B1-C9858079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D98C6342-26FB-4E96-B5CF-D87C0350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1–3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E5AB8FA-B2D1-421F-824B-D6B1E2ED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79FC405-8909-468B-8A08-5BBF3A95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13 / 20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463E0FC3-8079-422C-8521-EB6F2719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Check your key facts and challenge responses.</a:t>
            </a:r>
          </a:p>
        </p:txBody>
      </p:sp>
      <p:sp>
        <p:nvSpPr>
          <p:cNvPr id="6" name="station-name-0">
            <a:extLst xmlns:a="http://schemas.openxmlformats.org/drawingml/2006/main">
              <a:ext uri="{FF2B5EF4-FFF2-40B4-BE49-F238E27FC236}">
                <a16:creationId xmlns:a16="http://schemas.microsoft.com/office/drawing/2014/main" id="{C152E489-30C8-48C1-8CA8-A4707791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  John von Neumann</a:t>
            </a:r>
          </a:p>
        </p:txBody>
      </p:sp>
      <p:sp>
        <p:nvSpPr>
          <p:cNvPr id="7" name="station-answer-0">
            <a:extLst xmlns:a="http://schemas.openxmlformats.org/drawingml/2006/main">
              <a:ext uri="{FF2B5EF4-FFF2-40B4-BE49-F238E27FC236}">
                <a16:creationId xmlns:a16="http://schemas.microsoft.com/office/drawing/2014/main" id="{1E44D716-33A5-4616-849C-09DB0D83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John von Neumann described a stored-program computer design in 1945.</a:t>
            </a:r>
          </a:p>
        </p:txBody>
      </p:sp>
      <p:sp>
        <p:nvSpPr>
          <p:cNvPr id="8" name="station-name-1">
            <a:extLst xmlns:a="http://schemas.openxmlformats.org/drawingml/2006/main">
              <a:ext uri="{FF2B5EF4-FFF2-40B4-BE49-F238E27FC236}">
                <a16:creationId xmlns:a16="http://schemas.microsoft.com/office/drawing/2014/main" id="{F14389E9-CF44-408B-81AD-BB79B5E7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  The stored-program concept</a:t>
            </a:r>
          </a:p>
        </p:txBody>
      </p:sp>
      <p:sp>
        <p:nvSpPr>
          <p:cNvPr id="9" name="station-answer-1">
            <a:extLst xmlns:a="http://schemas.openxmlformats.org/drawingml/2006/main">
              <a:ext uri="{FF2B5EF4-FFF2-40B4-BE49-F238E27FC236}">
                <a16:creationId xmlns:a16="http://schemas.microsoft.com/office/drawing/2014/main" id="{915B1D59-0975-45B8-89CF-0E2C2298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Instructions and data share main memory. Loading a different program changes what the computer does.</a:t>
            </a:r>
          </a:p>
        </p:txBody>
      </p:sp>
      <p:sp>
        <p:nvSpPr>
          <p:cNvPr id="10" name="station-name-2">
            <a:extLst xmlns:a="http://schemas.openxmlformats.org/drawingml/2006/main">
              <a:ext uri="{FF2B5EF4-FFF2-40B4-BE49-F238E27FC236}">
                <a16:creationId xmlns:a16="http://schemas.microsoft.com/office/drawing/2014/main" id="{1192040C-926A-48B9-AB8E-F7225B5D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  Program counter and accumulator</a:t>
            </a:r>
          </a:p>
        </p:txBody>
      </p:sp>
      <p:sp>
        <p:nvSpPr>
          <p:cNvPr id="11" name="station-answer-2">
            <a:extLst xmlns:a="http://schemas.openxmlformats.org/drawingml/2006/main">
              <a:ext uri="{FF2B5EF4-FFF2-40B4-BE49-F238E27FC236}">
                <a16:creationId xmlns:a16="http://schemas.microsoft.com/office/drawing/2014/main" id="{E9FDAF98-451A-4EE0-BE96-550B1709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PC holds the next instruction address and increments; accumulator holds calculation results.</a:t>
            </a:r>
          </a:p>
        </p:txBody>
      </p:sp>
    </p:spTree>
    <p:extLst>
      <p:ext uri="{BB962C8B-B14F-4D97-AF65-F5344CB8AC3E}">
        <p14:creationId xmlns:p14="http://schemas.microsoft.com/office/powerpoint/2010/main" val="566676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7F276958-C86B-415B-93F8-F69CBCC0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CD8054B1-B36C-44E0-8B61-EDD4DD65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After the experience: stations 4–6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5602D78-E90D-451C-BD43-F82DF246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A1FAD51-DF89-4CFE-9E57-BB786946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14 / 20</a:t>
            </a:r>
          </a:p>
        </p:txBody>
      </p:sp>
      <p:sp>
        <p:nvSpPr>
          <p:cNvPr id="5" name="check-stations">
            <a:extLst xmlns:a="http://schemas.openxmlformats.org/drawingml/2006/main">
              <a:ext uri="{FF2B5EF4-FFF2-40B4-BE49-F238E27FC236}">
                <a16:creationId xmlns:a16="http://schemas.microsoft.com/office/drawing/2014/main" id="{8243E693-FE13-4233-A31E-8EA686ED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Continue checking the station notes on your worksheet.</a:t>
            </a:r>
          </a:p>
        </p:txBody>
      </p:sp>
      <p:sp>
        <p:nvSpPr>
          <p:cNvPr id="6" name="station-name-3">
            <a:extLst xmlns:a="http://schemas.openxmlformats.org/drawingml/2006/main">
              <a:ext uri="{FF2B5EF4-FFF2-40B4-BE49-F238E27FC236}">
                <a16:creationId xmlns:a16="http://schemas.microsoft.com/office/drawing/2014/main" id="{45A0A184-46CA-44A3-9B32-5F6E39BA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  MAR and MDR</a:t>
            </a:r>
          </a:p>
        </p:txBody>
      </p:sp>
      <p:sp>
        <p:nvSpPr>
          <p:cNvPr id="7" name="station-answer-3">
            <a:extLst xmlns:a="http://schemas.openxmlformats.org/drawingml/2006/main">
              <a:ext uri="{FF2B5EF4-FFF2-40B4-BE49-F238E27FC236}">
                <a16:creationId xmlns:a16="http://schemas.microsoft.com/office/drawing/2014/main" id="{215B75D2-D5FF-4EEE-B5C1-0D330B07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MAR holds the memory address. MDR holds data or an instruction moving between CPU and main memory.</a:t>
            </a:r>
          </a:p>
        </p:txBody>
      </p:sp>
      <p:sp>
        <p:nvSpPr>
          <p:cNvPr id="8" name="station-name-4">
            <a:extLst xmlns:a="http://schemas.openxmlformats.org/drawingml/2006/main">
              <a:ext uri="{FF2B5EF4-FFF2-40B4-BE49-F238E27FC236}">
                <a16:creationId xmlns:a16="http://schemas.microsoft.com/office/drawing/2014/main" id="{4D863D9B-7130-430B-A557-AC723407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  Other architectures</a:t>
            </a:r>
          </a:p>
        </p:txBody>
      </p:sp>
      <p:sp>
        <p:nvSpPr>
          <p:cNvPr id="9" name="station-answer-4">
            <a:extLst xmlns:a="http://schemas.openxmlformats.org/drawingml/2006/main">
              <a:ext uri="{FF2B5EF4-FFF2-40B4-BE49-F238E27FC236}">
                <a16:creationId xmlns:a16="http://schemas.microsoft.com/office/drawing/2014/main" id="{93354BDB-EB00-417D-9E54-0EB4AA8F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Harvard architecture keeps instructions and data in separate memories; microcontrollers often use it.</a:t>
            </a:r>
          </a:p>
        </p:txBody>
      </p:sp>
      <p:sp>
        <p:nvSpPr>
          <p:cNvPr id="10" name="station-name-5">
            <a:extLst xmlns:a="http://schemas.openxmlformats.org/drawingml/2006/main">
              <a:ext uri="{FF2B5EF4-FFF2-40B4-BE49-F238E27FC236}">
                <a16:creationId xmlns:a16="http://schemas.microsoft.com/office/drawing/2014/main" id="{29286B17-180E-4E97-B814-E99DC442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  Keywords</a:t>
            </a:r>
          </a:p>
        </p:txBody>
      </p:sp>
      <p:sp>
        <p:nvSpPr>
          <p:cNvPr id="11" name="station-answer-5">
            <a:extLst xmlns:a="http://schemas.openxmlformats.org/drawingml/2006/main">
              <a:ext uri="{FF2B5EF4-FFF2-40B4-BE49-F238E27FC236}">
                <a16:creationId xmlns:a16="http://schemas.microsoft.com/office/drawing/2014/main" id="{B397263B-AA6B-4CE1-8481-A5277281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477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For example, while repeats a loop, if tests a condition, and for iterates. Keywords are reserved.</a:t>
            </a:r>
          </a:p>
        </p:txBody>
      </p:sp>
    </p:spTree>
    <p:extLst>
      <p:ext uri="{BB962C8B-B14F-4D97-AF65-F5344CB8AC3E}">
        <p14:creationId xmlns:p14="http://schemas.microsoft.com/office/powerpoint/2010/main" val="12404127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opic">
            <a:extLst xmlns:a="http://schemas.openxmlformats.org/drawingml/2006/main">
              <a:ext uri="{FF2B5EF4-FFF2-40B4-BE49-F238E27FC236}">
                <a16:creationId xmlns:a16="http://schemas.microsoft.com/office/drawing/2014/main" id="{7C50A190-2415-4C56-B79A-ACBC8E85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99D757F5-F418-4564-91BC-6159CCC1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Final challenge: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155044A-F40E-4620-ADA8-D690AD23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E9A248A-0AAD-4461-AFD8-81ACD242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15 / 20</a:t>
            </a:r>
          </a:p>
        </p:txBody>
      </p:sp>
      <p:sp>
        <p:nvSpPr>
          <p:cNvPr id="5" name="star-key">
            <a:extLst xmlns:a="http://schemas.openxmlformats.org/drawingml/2006/main">
              <a:ext uri="{FF2B5EF4-FFF2-40B4-BE49-F238E27FC236}">
                <a16:creationId xmlns:a16="http://schemas.microsoft.com/office/drawing/2014/main" id="{11652CDF-8D27-4139-95EE-4258AFC9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Compare your star challenge table with the answers below.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53C17752-8392-41DA-AEA1-FB3068AA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05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3B0BBBB8-51B6-40CD-AF68-8BB17632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05025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Program counter: next instruction address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E9E2ACE0-7E85-499B-B8F6-E89E4F7E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DA22F667-C49E-4E62-8751-CB0096D7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67000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Control unit: decodes and controls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A5C2D332-434B-4F89-97BC-09F07222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289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F768625A-C229-4BC5-B060-F259E427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28975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MAR: memory address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79F304D0-1573-4B2A-841F-BE8CB9246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3F7BCF9F-E6AE-4B42-A024-DECB3B12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90950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ALU: arithmetic and logic</a:t>
            </a:r>
          </a:p>
        </p:txBody>
      </p:sp>
      <p:sp>
        <p:nvSpPr>
          <p:cNvPr id="14" name="number-5">
            <a:extLst xmlns:a="http://schemas.openxmlformats.org/drawingml/2006/main">
              <a:ext uri="{FF2B5EF4-FFF2-40B4-BE49-F238E27FC236}">
                <a16:creationId xmlns:a16="http://schemas.microsoft.com/office/drawing/2014/main" id="{AAF13D68-7604-46B7-A703-118694D2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5.</a:t>
            </a:r>
          </a:p>
        </p:txBody>
      </p:sp>
      <p:sp>
        <p:nvSpPr>
          <p:cNvPr id="15" name="item-5">
            <a:extLst xmlns:a="http://schemas.openxmlformats.org/drawingml/2006/main">
              <a:ext uri="{FF2B5EF4-FFF2-40B4-BE49-F238E27FC236}">
                <a16:creationId xmlns:a16="http://schemas.microsoft.com/office/drawing/2014/main" id="{5192D43E-D4A7-4167-9AA3-166A99BD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52925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MDR: data to or from memory</a:t>
            </a:r>
          </a:p>
        </p:txBody>
      </p:sp>
      <p:sp>
        <p:nvSpPr>
          <p:cNvPr id="16" name="number-6">
            <a:extLst xmlns:a="http://schemas.openxmlformats.org/drawingml/2006/main">
              <a:ext uri="{FF2B5EF4-FFF2-40B4-BE49-F238E27FC236}">
                <a16:creationId xmlns:a16="http://schemas.microsoft.com/office/drawing/2014/main" id="{A5B2B46A-2642-4D4E-8867-250A8322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6.</a:t>
            </a:r>
          </a:p>
        </p:txBody>
      </p:sp>
      <p:sp>
        <p:nvSpPr>
          <p:cNvPr id="17" name="item-6">
            <a:extLst xmlns:a="http://schemas.openxmlformats.org/drawingml/2006/main">
              <a:ext uri="{FF2B5EF4-FFF2-40B4-BE49-F238E27FC236}">
                <a16:creationId xmlns:a16="http://schemas.microsoft.com/office/drawing/2014/main" id="{DD8FB3B6-A80B-453F-8F39-85CA3EE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Accumulator: calculation results</a:t>
            </a:r>
          </a:p>
        </p:txBody>
      </p:sp>
      <p:sp>
        <p:nvSpPr>
          <p:cNvPr id="18" name="number-7">
            <a:extLst xmlns:a="http://schemas.openxmlformats.org/drawingml/2006/main">
              <a:ext uri="{FF2B5EF4-FFF2-40B4-BE49-F238E27FC236}">
                <a16:creationId xmlns:a16="http://schemas.microsoft.com/office/drawing/2014/main" id="{4EC0CD2E-5FC9-4248-B8AE-C506C84B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7.</a:t>
            </a:r>
          </a:p>
        </p:txBody>
      </p:sp>
      <p:sp>
        <p:nvSpPr>
          <p:cNvPr id="19" name="item-7">
            <a:extLst xmlns:a="http://schemas.openxmlformats.org/drawingml/2006/main">
              <a:ext uri="{FF2B5EF4-FFF2-40B4-BE49-F238E27FC236}">
                <a16:creationId xmlns:a16="http://schemas.microsoft.com/office/drawing/2014/main" id="{1C1BE0BE-CFAF-4F4D-9D2C-79FAA162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76875"/>
            <a:ext cx="9925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Cache: frequently used data and instructions</a:t>
            </a:r>
          </a:p>
        </p:txBody>
      </p:sp>
    </p:spTree>
    <p:extLst>
      <p:ext uri="{BB962C8B-B14F-4D97-AF65-F5344CB8AC3E}">
        <p14:creationId xmlns:p14="http://schemas.microsoft.com/office/powerpoint/2010/main" val="16938020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0231054D-17EA-49EE-8955-C7AE2186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0D5D871-8583-4E3F-84F2-A382C32D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7224ABF-D3B1-4377-80EC-7603EBE6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8F03C52-FFA4-4552-A76F-4F7A4FA2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16 / 20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2DAA97CF-1621-47EB-9088-DC3AF952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Take the headset off or close the page. Answer from memory on the worksheet.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B3E11B4B-A522-42F2-8E03-ADA42501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812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E19DB393-801E-4BC6-918D-036B9E3E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58127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the register that holds the address of the next instruction to be fetched. [1]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BD91FE2A-A973-4A98-8606-06D9C4AD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FD8DD8D5-22F0-4894-A9AE-9850A6EF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43375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what the memory data register holds and when it is used. [2]</a:t>
            </a:r>
          </a:p>
        </p:txBody>
      </p:sp>
    </p:spTree>
    <p:extLst>
      <p:ext uri="{BB962C8B-B14F-4D97-AF65-F5344CB8AC3E}">
        <p14:creationId xmlns:p14="http://schemas.microsoft.com/office/powerpoint/2010/main" val="12831512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8A075FD0-0DC5-425F-9940-02077BDE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E117A31-81EE-4B22-93FC-FE8C26D8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question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01361FF-A47B-4930-BE2F-F9F17AB7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4AB3C2-DE6B-4D52-802D-0F3CBB88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17 / 20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887CC91E-81D4-4080-9EF2-351043FD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E55864B7-DF61-4903-9C55-212206AE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28976722-9563-4CFB-8AFC-2CD9CE18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what happens during each of the three stages of the fetch-decode-execute cycle. [6]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0E3AEE01-C024-437C-90A8-C3906DF9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7989770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77ED7E49-CD1A-4FD8-A732-8FBA3697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4A4803DD-A17D-4787-B176-A619A7D0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D775CCD-E1D7-48F0-86B7-8D6509F3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3BB292F-631F-4A2D-B363-B824E4D0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18 / 20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DBC3046E-7387-48D0-AF92-2B85810F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59735F28-1627-4947-89FE-2181DF06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Program counter (PC).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5F953924-C7DE-41FD-ABB0-0ED863FC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The MDR holds data or an instruction fetched from memory, or data waiting to be written. It is used during transfer between main memory and the CPU.</a:t>
            </a:r>
          </a:p>
        </p:txBody>
      </p:sp>
    </p:spTree>
    <p:extLst>
      <p:ext uri="{BB962C8B-B14F-4D97-AF65-F5344CB8AC3E}">
        <p14:creationId xmlns:p14="http://schemas.microsoft.com/office/powerpoint/2010/main" val="14826425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A6607B90-179A-4446-BD8F-5BB60BDB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96373095-2C27-4CCE-81E0-18543AD9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Exam practice: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224B977-AEA9-4467-90D2-16688B29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E68E8EC-6790-42B8-80E2-18DEFDE7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19 / 20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F391A12A-3463-410B-8FED-EC7DE1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851B8B58-1587-441C-A9BD-50D735A5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B18494F2-1ACA-4512-9FE8-68156C20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Fetch: the PC address goes to the MAR; the instruction arrives from RAM in the MDR; the PC increments.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14B281FA-F895-4A14-8579-D0725865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ED76EDB5-045C-4BAC-9B93-BD5865FA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Decode: the control unit interprets the instruction and decides the required operation.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2264175B-F6B9-4EAA-8655-451B087D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12A84ED0-2EA1-4040-A194-297C8DE6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958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Execute: the CPU carries it out, for example an ALU calculation whose result is held in the accumulator.</a:t>
            </a:r>
          </a:p>
        </p:txBody>
      </p:sp>
    </p:spTree>
    <p:extLst>
      <p:ext uri="{BB962C8B-B14F-4D97-AF65-F5344CB8AC3E}">
        <p14:creationId xmlns:p14="http://schemas.microsoft.com/office/powerpoint/2010/main" val="15502636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ic">
            <a:extLst xmlns:a="http://schemas.openxmlformats.org/drawingml/2006/main">
              <a:ext uri="{FF2B5EF4-FFF2-40B4-BE49-F238E27FC236}">
                <a16:creationId xmlns:a16="http://schemas.microsoft.com/office/drawing/2014/main" id="{1BDE6ADB-C58E-47BB-AB15-DBC96366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02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C93EABE-AE92-42F9-9E34-2292930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How confident am I?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9A64860-196E-4B6C-9778-7E5DE321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Self-check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9DD65AB-A18E-403C-85BA-C37FE722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20 / 20</a:t>
            </a:r>
          </a:p>
        </p:txBody>
      </p:sp>
      <p:sp>
        <p:nvSpPr>
          <p:cNvPr id="5" name="confidence-instruction">
            <a:extLst xmlns:a="http://schemas.openxmlformats.org/drawingml/2006/main">
              <a:ext uri="{FF2B5EF4-FFF2-40B4-BE49-F238E27FC236}">
                <a16:creationId xmlns:a16="http://schemas.microsoft.com/office/drawing/2014/main" id="{C56CEDC1-E2B8-4587-BE4F-E0963AFD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477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On the worksheet, select Not yet, Getting there or Confident for each objective.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EF2543EB-93BC-4347-84D9-297776D3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5661CDA5-5D1B-4AF4-A72F-108D5942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von Neumann architecture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354C82CE-6E5A-467D-8B7E-89D8CB49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BD0C78E2-4B4D-4B01-BCF1-9BA7B9F0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2425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The PC, MAR, MDR and accumulator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748A9C93-FFA7-4AA7-AC77-2E18847C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49D516BD-F6C6-4BA8-A74D-49502B9B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99250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What a keyword is</a:t>
            </a:r>
          </a:p>
        </p:txBody>
      </p:sp>
    </p:spTree>
    <p:extLst>
      <p:ext uri="{BB962C8B-B14F-4D97-AF65-F5344CB8AC3E}">
        <p14:creationId xmlns:p14="http://schemas.microsoft.com/office/powerpoint/2010/main" val="17936567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2026-09-25T11:38:42.9420000Z</dcterms:created>
  <dcterms:modified xsi:type="dcterms:W3CDTF">2026-09-25T11:38:42.9420000Z</dcterms:modified>
</coreProperties>
</file>