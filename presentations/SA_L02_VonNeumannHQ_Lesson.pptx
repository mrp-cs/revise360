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9913f7c4fbf4644" /><Relationship Type="http://schemas.openxmlformats.org/officeDocument/2006/relationships/extended-properties" Target="/docProps/app.xml" Id="R490f5111080f4618" /><Relationship Type="http://schemas.openxmlformats.org/officeDocument/2006/relationships/officeDocument" Target="/ppt/presentation.xml" Id="Rbfddc25ee7154cdf" /></Relationships>
</file>

<file path=ppt/presentation.xml><?xml version="1.0" encoding="utf-8"?>
<p:presentation xmlns:p="http://schemas.openxmlformats.org/presentationml/2006/main">
  <p:sldMasterIdLst>
    <p:sldMasterId xmlns:r="http://schemas.openxmlformats.org/officeDocument/2006/relationships" id="2147483648" r:id="R72f5bf2b9d6e408f"/>
  </p:sldMasterIdLst>
  <p:notesMasterIdLst>
    <p:notesMasterId xmlns:r="http://schemas.openxmlformats.org/officeDocument/2006/relationships" r:id="Rb2bb9aa500f64498"/>
  </p:notesMasterIdLst>
  <p:sldIdLst>
    <p:sldId xmlns:r="http://schemas.openxmlformats.org/officeDocument/2006/relationships" id="256" r:id="R545558afb8064e82"/>
    <p:sldId xmlns:r="http://schemas.openxmlformats.org/officeDocument/2006/relationships" id="257" r:id="Ra6d312bf27a34935"/>
    <p:sldId xmlns:r="http://schemas.openxmlformats.org/officeDocument/2006/relationships" id="258" r:id="R6d674b77a6744f5a"/>
    <p:sldId xmlns:r="http://schemas.openxmlformats.org/officeDocument/2006/relationships" id="259" r:id="Rf64eeb03362e4745"/>
    <p:sldId xmlns:r="http://schemas.openxmlformats.org/officeDocument/2006/relationships" id="260" r:id="R1ec01628d859400d"/>
    <p:sldId xmlns:r="http://schemas.openxmlformats.org/officeDocument/2006/relationships" id="261" r:id="Rbbe185cca6a946ed"/>
    <p:sldId xmlns:r="http://schemas.openxmlformats.org/officeDocument/2006/relationships" id="262" r:id="R39c95acaaec84713"/>
    <p:sldId xmlns:r="http://schemas.openxmlformats.org/officeDocument/2006/relationships" id="263" r:id="R095951b9985d4fbd"/>
    <p:sldId xmlns:r="http://schemas.openxmlformats.org/officeDocument/2006/relationships" id="264" r:id="R8234608e72cd4b5a"/>
    <p:sldId xmlns:r="http://schemas.openxmlformats.org/officeDocument/2006/relationships" id="265" r:id="R673706697ee54f00"/>
    <p:sldId xmlns:r="http://schemas.openxmlformats.org/officeDocument/2006/relationships" id="266" r:id="R922d6736542a4831"/>
    <p:sldId xmlns:r="http://schemas.openxmlformats.org/officeDocument/2006/relationships" id="267" r:id="Rf884d24b73214cd6"/>
    <p:sldId xmlns:r="http://schemas.openxmlformats.org/officeDocument/2006/relationships" id="268" r:id="R8b2af48aa8a04d90"/>
    <p:sldId xmlns:r="http://schemas.openxmlformats.org/officeDocument/2006/relationships" id="269" r:id="R7920ad0b6e5d4254"/>
    <p:sldId xmlns:r="http://schemas.openxmlformats.org/officeDocument/2006/relationships" id="270" r:id="R3b4a7132f6744149"/>
    <p:sldId xmlns:r="http://schemas.openxmlformats.org/officeDocument/2006/relationships" id="271" r:id="R8cddc8c2a74948b8"/>
    <p:sldId xmlns:r="http://schemas.openxmlformats.org/officeDocument/2006/relationships" id="272" r:id="Rb88e7e4711e9420e"/>
    <p:sldId xmlns:r="http://schemas.openxmlformats.org/officeDocument/2006/relationships" id="273" r:id="Rcc2557a361b5489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b278b9914fa4371" /><Relationship Type="http://schemas.openxmlformats.org/officeDocument/2006/relationships/slideMaster" Target="/ppt/slideMasters/slideMaster1.xml" Id="R72f5bf2b9d6e408f" /><Relationship Type="http://schemas.openxmlformats.org/officeDocument/2006/relationships/notesMaster" Target="/ppt/notesMasters/notesMaster1.xml" Id="Rb2bb9aa500f64498" /><Relationship Type="http://schemas.openxmlformats.org/officeDocument/2006/relationships/presProps" Target="/ppt/presProps.xml" Id="Rda783ff7167642ee" /><Relationship Type="http://schemas.openxmlformats.org/officeDocument/2006/relationships/tableStyles" Target="/ppt/tableStyles.xml" Id="R3f81597b5c8941a5" /><Relationship Type="http://schemas.openxmlformats.org/officeDocument/2006/relationships/slide" Target="/ppt/slides/slide1.xml" Id="R545558afb8064e82" /><Relationship Type="http://schemas.openxmlformats.org/officeDocument/2006/relationships/slide" Target="/ppt/slides/slide2.xml" Id="Ra6d312bf27a34935" /><Relationship Type="http://schemas.openxmlformats.org/officeDocument/2006/relationships/slide" Target="/ppt/slides/slide3.xml" Id="R6d674b77a6744f5a" /><Relationship Type="http://schemas.openxmlformats.org/officeDocument/2006/relationships/slide" Target="/ppt/slides/slide4.xml" Id="Rf64eeb03362e4745" /><Relationship Type="http://schemas.openxmlformats.org/officeDocument/2006/relationships/slide" Target="/ppt/slides/slide5.xml" Id="R1ec01628d859400d" /><Relationship Type="http://schemas.openxmlformats.org/officeDocument/2006/relationships/slide" Target="/ppt/slides/slide6.xml" Id="Rbbe185cca6a946ed" /><Relationship Type="http://schemas.openxmlformats.org/officeDocument/2006/relationships/slide" Target="/ppt/slides/slide7.xml" Id="R39c95acaaec84713" /><Relationship Type="http://schemas.openxmlformats.org/officeDocument/2006/relationships/slide" Target="/ppt/slides/slide8.xml" Id="R095951b9985d4fbd" /><Relationship Type="http://schemas.openxmlformats.org/officeDocument/2006/relationships/slide" Target="/ppt/slides/slide9.xml" Id="R8234608e72cd4b5a" /><Relationship Type="http://schemas.openxmlformats.org/officeDocument/2006/relationships/slide" Target="/ppt/slides/slide10.xml" Id="R673706697ee54f00" /><Relationship Type="http://schemas.openxmlformats.org/officeDocument/2006/relationships/slide" Target="/ppt/slides/slide11.xml" Id="R922d6736542a4831" /><Relationship Type="http://schemas.openxmlformats.org/officeDocument/2006/relationships/slide" Target="/ppt/slides/slide12.xml" Id="Rf884d24b73214cd6" /><Relationship Type="http://schemas.openxmlformats.org/officeDocument/2006/relationships/slide" Target="/ppt/slides/slide13.xml" Id="R8b2af48aa8a04d90" /><Relationship Type="http://schemas.openxmlformats.org/officeDocument/2006/relationships/slide" Target="/ppt/slides/slide14.xml" Id="R7920ad0b6e5d4254" /><Relationship Type="http://schemas.openxmlformats.org/officeDocument/2006/relationships/slide" Target="/ppt/slides/slide15.xml" Id="R3b4a7132f6744149" /><Relationship Type="http://schemas.openxmlformats.org/officeDocument/2006/relationships/slide" Target="/ppt/slides/slide16.xml" Id="R8cddc8c2a74948b8" /><Relationship Type="http://schemas.openxmlformats.org/officeDocument/2006/relationships/slide" Target="/ppt/slides/slide17.xml" Id="Rb88e7e4711e9420e" /><Relationship Type="http://schemas.openxmlformats.org/officeDocument/2006/relationships/slide" Target="/ppt/slides/slide18.xml" Id="Rcc2557a361b5489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a0c9a7c21240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02b604f0ab4f09" /><Relationship Type="http://schemas.openxmlformats.org/officeDocument/2006/relationships/notesMaster" Target="/ppt/notesMasters/notesMaster1.xml" Id="Ref50624d4c2848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ae3d884564ad4542" /><Relationship Type="http://schemas.openxmlformats.org/officeDocument/2006/relationships/notesMaster" Target="/ppt/notesMasters/notesMaster1.xml" Id="Rde6d9dfcf90d41a2" /></Relationships>
</file>

<file path=ppt/notesSlides/_rels/notesSlide3.xml.rels>&#65279;<?xml version="1.0" encoding="utf-8"?><Relationships xmlns="http://schemas.openxmlformats.org/package/2006/relationships"><Relationship Type="http://schemas.openxmlformats.org/officeDocument/2006/relationships/slide" Target="/ppt/slides/slide3.xml" Id="R769b7ea253cd440b" /><Relationship Type="http://schemas.openxmlformats.org/officeDocument/2006/relationships/notesMaster" Target="/ppt/notesMasters/notesMaster1.xml" Id="Ra3f48d44ca374a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f77d460e58c548fd" /><Relationship Type="http://schemas.openxmlformats.org/officeDocument/2006/relationships/notesMaster" Target="/ppt/notesMasters/notesMaster1.xml" Id="Ref47aa90ddf04c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71f4d484bbed4183" /><Relationship Type="http://schemas.openxmlformats.org/officeDocument/2006/relationships/notesMaster" Target="/ppt/notesMasters/notesMaster1.xml" Id="R191d129296e541d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7e54ce494a4e47" /><Relationship Type="http://schemas.openxmlformats.org/officeDocument/2006/relationships/notesMaster" Target="/ppt/notesMasters/notesMaster1.xml" Id="R3d3a7d39e9e1491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312e28fb65a4085" /><Relationship Type="http://schemas.openxmlformats.org/officeDocument/2006/relationships/notesMaster" Target="/ppt/notesMasters/notesMaster1.xml" Id="R7ed6022d6fb34266" /></Relationships>
</file>

<file path=ppt/notesSlides/_rels/notesSlide8.xml.rels>&#65279;<?xml version="1.0" encoding="utf-8"?><Relationships xmlns="http://schemas.openxmlformats.org/package/2006/relationships"><Relationship Type="http://schemas.openxmlformats.org/officeDocument/2006/relationships/slide" Target="/ppt/slides/slide8.xml" Id="R688350decdf8478c" /><Relationship Type="http://schemas.openxmlformats.org/officeDocument/2006/relationships/notesMaster" Target="/ppt/notesMasters/notesMaster1.xml" Id="R58029d67ef474e8c" /></Relationships>
</file>

<file path=ppt/notesSlides/_rels/notesSlide9.xml.rels>&#65279;<?xml version="1.0" encoding="utf-8"?><Relationships xmlns="http://schemas.openxmlformats.org/package/2006/relationships"><Relationship Type="http://schemas.openxmlformats.org/officeDocument/2006/relationships/slide" Target="/ppt/slides/slide9.xml" Id="R499684ba0ed6447c" /><Relationship Type="http://schemas.openxmlformats.org/officeDocument/2006/relationships/notesMaster" Target="/ppt/notesMasters/notesMaster1.xml" Id="R623d2a76c8ea479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562c8e829634502" /><Relationship Type="http://schemas.openxmlformats.org/officeDocument/2006/relationships/notesMaster" Target="/ppt/notesMasters/notesMaster1.xml" Id="R1f0ebcad839a4e0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d33e49b7ddf4176" /><Relationship Type="http://schemas.openxmlformats.org/officeDocument/2006/relationships/notesMaster" Target="/ppt/notesMasters/notesMaster1.xml" Id="Rdda5ad7693d6409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5f9393fcbb4418a" /><Relationship Type="http://schemas.openxmlformats.org/officeDocument/2006/relationships/notesMaster" Target="/ppt/notesMasters/notesMaster1.xml" Id="R382d5ae1d627487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5a71454baa74298" /><Relationship Type="http://schemas.openxmlformats.org/officeDocument/2006/relationships/notesMaster" Target="/ppt/notesMasters/notesMaster1.xml" Id="R7db05996eb6d424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c7aef9eb6954f15" /><Relationship Type="http://schemas.openxmlformats.org/officeDocument/2006/relationships/notesMaster" Target="/ppt/notesMasters/notesMaster1.xml" Id="Raa859b6205c745c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278c26d1c034909" /><Relationship Type="http://schemas.openxmlformats.org/officeDocument/2006/relationships/notesMaster" Target="/ppt/notesMasters/notesMaster1.xml" Id="R36e0b7026a06470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03fb4d531364a45" /><Relationship Type="http://schemas.openxmlformats.org/officeDocument/2006/relationships/notesMaster" Target="/ppt/notesMasters/notesMaster1.xml" Id="R8c9d174b49734ea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97fd9f570654f69" /><Relationship Type="http://schemas.openxmlformats.org/officeDocument/2006/relationships/notesMaster" Target="/ppt/notesMasters/notesMaster1.xml" Id="Rac31cdf986e843d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e07d3ad8f2945d2" /><Relationship Type="http://schemas.openxmlformats.org/officeDocument/2006/relationships/notesMaster" Target="/ppt/notesMasters/notesMaster1.xml" Id="R208aedb587d84e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picture shows a straight-on perspective view of the actual 360 experience opening scene. The experience opens after the starter and key term answers have been checked.</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outcomes with the class. They follow the wording of the lesson worksheet.</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Allow pupils to attempt the exact starter question printed on the worksheet. Take a few suggestions before showing the model answer.</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sample answers to the exact worksheet starter question. Accept other correct examples and explanations.</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write definitions from memory. These two terms are the worksheet’s exact key terminology entries, including the recap terms in Lesson 4.</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term definitions are visible for pupils to correct their quiz. Reveal this slide after attempts.</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board slide after the key term answers and leave it visible during the experience. The OPEN EXPERIENCE label links to the matching experience. Everyone should finish the experience in this lesson and move to the plenary near the end. The worksheet gives the route and station names.</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optional and comes after the experience. Give students time to reason in full sentences.</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work after the experience has been completed. Move the whole class to the plenary knowledge check near the end of the lesson. Do not reveal station answers until pupils have completed the experience.</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sample answers after students have attempted the two application prompts. These are examples rather than a single required wording.</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concise answers to the worksheet station prompts, shared only after pupils complete the experience. Correct wording can vary.</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answers follow the final challenge in the interactive experience and the worksheet. Students should correct their table before the exam questions.</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exam-practice questions a and b from the worksheet. Give independent writing time before revealing the answers.</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worksheet exam-practice question c. Let students answer independently.</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classroom answer points, not an official OCR mark scheme. Ask students to improve one response in a different colour.</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Accept equivalent descriptions. The experience also covers Harvard architecture and Python keywords; the exam questions on the worksheet focus on registers and the cycle. Ask students to revise one sentence after self-check.</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the exact confidence objectives listed in the worksheet. Ask students to identify one item to revisit next time.</a:t>
            </a:r>
          </a:p>
          <a:p xmlns:a="http://schemas.openxmlformats.org/drawingml/2006/main">
            <a:r>
              <a:t>Sources: Revise360 experiences/sa-l02.json and worksheets/SA_L02_VonNeumannHQ_Worksheet.docx. Indicative answers are for discussion and self-check, not an official exam-board mark scheme.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ee43f503224ed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8a6736f62ba4115" /><Relationship Type="http://schemas.openxmlformats.org/officeDocument/2006/relationships/slideLayout" Target="/ppt/slideLayouts/slideLayout1.xml" Id="Re50ac13371e1479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0ac13371e1479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a7a5ac0f44f4fcd" /><Relationship Type="http://schemas.openxmlformats.org/officeDocument/2006/relationships/image" Target="/ppt/media/image.png" Id="Rd109f51530da4654" /><Relationship Type="http://schemas.openxmlformats.org/officeDocument/2006/relationships/image" Target="/ppt/media/image.jpeg" Id="Rde3e71370b0040d9" /><Relationship Type="http://schemas.openxmlformats.org/officeDocument/2006/relationships/notesSlide" Target="/ppt/notesSlides/notesSlide1.xml" Id="R02cc07b1b67c42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b2ac52198134fab" /><Relationship Type="http://schemas.openxmlformats.org/officeDocument/2006/relationships/image" Target="/ppt/media/image2.png" Id="R39751e3624304814" /><Relationship Type="http://schemas.openxmlformats.org/officeDocument/2006/relationships/notesSlide" Target="/ppt/notesSlides/notesSlide2.xml" Id="R174a485cb1e14f5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c947999dbea4ad1" /><Relationship Type="http://schemas.openxmlformats.org/officeDocument/2006/relationships/image" Target="/ppt/media/image3.png" Id="R5b48ace00f404e71" /><Relationship Type="http://schemas.openxmlformats.org/officeDocument/2006/relationships/notesSlide" Target="/ppt/notesSlides/notesSlide3.xml" Id="R283e2cf28b2642f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56b44eb8c544412" /><Relationship Type="http://schemas.openxmlformats.org/officeDocument/2006/relationships/image" Target="/ppt/media/image4.png" Id="Rf1ac603bfd894cb2" /><Relationship Type="http://schemas.openxmlformats.org/officeDocument/2006/relationships/notesSlide" Target="/ppt/notesSlides/notesSlide4.xml" Id="Rb9ef22112a2d4f3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b26130668f547a4" /><Relationship Type="http://schemas.openxmlformats.org/officeDocument/2006/relationships/image" Target="/ppt/media/image5.png" Id="R39d319b48e404fa6" /><Relationship Type="http://schemas.openxmlformats.org/officeDocument/2006/relationships/notesSlide" Target="/ppt/notesSlides/notesSlide5.xml" Id="R3e2582e53cd049a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4731f6d77b54ce1" /><Relationship Type="http://schemas.openxmlformats.org/officeDocument/2006/relationships/image" Target="/ppt/media/image6.png" Id="R79d09c5ca7f9485a" /><Relationship Type="http://schemas.openxmlformats.org/officeDocument/2006/relationships/notesSlide" Target="/ppt/notesSlides/notesSlide6.xml" Id="R265526b0803741e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3a0c32b2edb47a3" /><Relationship Type="http://schemas.openxmlformats.org/officeDocument/2006/relationships/image" Target="/ppt/media/image7.png" Id="R60a9615020b643bb" /><Relationship Type="http://schemas.openxmlformats.org/officeDocument/2006/relationships/hyperlink" Target="https://mrp-cs.github.io/Revise360/experience.html?id=sa-l02" TargetMode="External" Id="R951aa45abc7545b6" /><Relationship Type="http://schemas.openxmlformats.org/officeDocument/2006/relationships/notesSlide" Target="/ppt/notesSlides/notesSlide7.xml" Id="R572938617f97408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aae2a9ea5804426" /><Relationship Type="http://schemas.openxmlformats.org/officeDocument/2006/relationships/image" Target="/ppt/media/image8.png" Id="R3a130c25ea634f33" /><Relationship Type="http://schemas.openxmlformats.org/officeDocument/2006/relationships/notesSlide" Target="/ppt/notesSlides/notesSlide8.xml" Id="R9755e2ab67464f7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7ecaed75d074b25" /><Relationship Type="http://schemas.openxmlformats.org/officeDocument/2006/relationships/image" Target="/ppt/media/image9.png" Id="Rc5c4b1b691e74825" /><Relationship Type="http://schemas.openxmlformats.org/officeDocument/2006/relationships/notesSlide" Target="/ppt/notesSlides/notesSlide9.xml" Id="Rd95d0db41a80450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3ef9375ad5e48ec" /><Relationship Type="http://schemas.openxmlformats.org/officeDocument/2006/relationships/image" Target="/ppt/media/image10.png" Id="R3788d3f526e94ced" /><Relationship Type="http://schemas.openxmlformats.org/officeDocument/2006/relationships/notesSlide" Target="/ppt/notesSlides/notesSlide10.xml" Id="Re82955bb6b28456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f49804dee7845c8" /><Relationship Type="http://schemas.openxmlformats.org/officeDocument/2006/relationships/image" Target="/ppt/media/image11.png" Id="Re3e1fc2e24dc4441" /><Relationship Type="http://schemas.openxmlformats.org/officeDocument/2006/relationships/notesSlide" Target="/ppt/notesSlides/notesSlide11.xml" Id="Ra497f0704750418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b79a12166d54ef5" /><Relationship Type="http://schemas.openxmlformats.org/officeDocument/2006/relationships/image" Target="/ppt/media/image12.png" Id="Red642058484d4eab" /><Relationship Type="http://schemas.openxmlformats.org/officeDocument/2006/relationships/notesSlide" Target="/ppt/notesSlides/notesSlide12.xml" Id="R07cab6cfe62546b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e06245858694e52" /><Relationship Type="http://schemas.openxmlformats.org/officeDocument/2006/relationships/image" Target="/ppt/media/image13.png" Id="R3e9b99c893e94f90" /><Relationship Type="http://schemas.openxmlformats.org/officeDocument/2006/relationships/notesSlide" Target="/ppt/notesSlides/notesSlide13.xml" Id="R0a76b97a70c74e9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b9b1b44c647439f" /><Relationship Type="http://schemas.openxmlformats.org/officeDocument/2006/relationships/image" Target="/ppt/media/image14.png" Id="R48398316e78b45dd" /><Relationship Type="http://schemas.openxmlformats.org/officeDocument/2006/relationships/notesSlide" Target="/ppt/notesSlides/notesSlide14.xml" Id="R2282606f206745c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42cd7303ab64904" /><Relationship Type="http://schemas.openxmlformats.org/officeDocument/2006/relationships/image" Target="/ppt/media/image15.png" Id="R0f760e353cb149bb" /><Relationship Type="http://schemas.openxmlformats.org/officeDocument/2006/relationships/notesSlide" Target="/ppt/notesSlides/notesSlide15.xml" Id="R9d0912a29bd84e8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72e889d9f5d4800" /><Relationship Type="http://schemas.openxmlformats.org/officeDocument/2006/relationships/image" Target="/ppt/media/image16.png" Id="R9be05ea93bf84754" /><Relationship Type="http://schemas.openxmlformats.org/officeDocument/2006/relationships/notesSlide" Target="/ppt/notesSlides/notesSlide16.xml" Id="Rc3044db6eeaf488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342749129984e4e" /><Relationship Type="http://schemas.openxmlformats.org/officeDocument/2006/relationships/image" Target="/ppt/media/image17.png" Id="R76bb41bdae434579" /><Relationship Type="http://schemas.openxmlformats.org/officeDocument/2006/relationships/notesSlide" Target="/ppt/notesSlides/notesSlide17.xml" Id="R9486b58c5278437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f0c26dc75c94c1d" /><Relationship Type="http://schemas.openxmlformats.org/officeDocument/2006/relationships/image" Target="/ppt/media/image18.png" Id="Rb58bcf79024b432e" /><Relationship Type="http://schemas.openxmlformats.org/officeDocument/2006/relationships/notesSlide" Target="/ppt/notesSlides/notesSlide18.xml" Id="R9a46658d319d403b" /></Relationships>
</file>

<file path=ppt/slides/slide1.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FA23D368-A6F2-4DE8-B7D9-4B47AB6B0259}"/>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CB9BADE7-EB6A-4427-AA4B-9E37C531DBF1}"/>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02</a:t>
            </a:r>
          </a:p>
        </p:txBody>
      </p:sp>
      <p:sp>
        <p:nvSpPr>
          <p:cNvPr id="3" name="heading">
            <a:extLst xmlns:a="http://schemas.openxmlformats.org/drawingml/2006/main">
              <a:ext uri="{FF2B5EF4-FFF2-40B4-BE49-F238E27FC236}">
                <a16:creationId xmlns:a16="http://schemas.microsoft.com/office/drawing/2014/main" id="{62B8C46B-5433-4892-A299-77664BEF508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VON NEUMANN HQ</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109f51530da4654"/>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345E382F-C67E-4C15-9E87-41C268FCA46E}"/>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 / 18</a:t>
            </a:r>
          </a:p>
        </p:txBody>
      </p:sp>
      <p:sp>
        <p:nvSpPr>
          <p:cNvPr id="6" name="subject">
            <a:extLst xmlns:a="http://schemas.openxmlformats.org/drawingml/2006/main">
              <a:ext uri="{FF2B5EF4-FFF2-40B4-BE49-F238E27FC236}">
                <a16:creationId xmlns:a16="http://schemas.microsoft.com/office/drawing/2014/main" id="{07C9A94A-4749-4F1B-9C68-0BFC3420B2FB}"/>
              </a:ext>
            </a:extLst>
          </p:cNvPr>
          <p:cNvSpPr>
            <a:spLocks xmlns:a="http://schemas.openxmlformats.org/drawingml/2006/main" noGrp="1"/>
          </p:cNvSpPr>
          <p:nvPr/>
        </p:nvSpPr>
        <p:spPr>
          <a:xfrm xmlns:a="http://schemas.openxmlformats.org/drawingml/2006/main">
            <a:off x="685800" y="1762125"/>
            <a:ext cx="5143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77D8FF"/>
                </a:solidFill>
                <a:latin typeface="DejaVu Sans"/>
                <a:ea typeface="DejaVu Sans"/>
                <a:cs typeface="DejaVu Sans"/>
              </a:defRPr>
            </a:pPr>
            <a:r>
              <a:rPr sz="2325" b="0">
                <a:solidFill>
                  <a:srgbClr val="77D8FF"/>
                </a:solidFill>
                <a:latin typeface="DejaVu Sans"/>
                <a:ea typeface="DejaVu Sans"/>
                <a:cs typeface="DejaVu Sans"/>
              </a:rPr>
              <a:t>Architecture of the CPU</a:t>
            </a:r>
          </a:p>
        </p:txBody>
      </p:sp>
      <p:sp>
        <p:nvSpPr>
          <p:cNvPr id="7" name="cover-key-label">
            <a:extLst xmlns:a="http://schemas.openxmlformats.org/drawingml/2006/main">
              <a:ext uri="{FF2B5EF4-FFF2-40B4-BE49-F238E27FC236}">
                <a16:creationId xmlns:a16="http://schemas.microsoft.com/office/drawing/2014/main" id="{F110EC25-38F1-4D13-93FC-3FEB5F6CDB5F}"/>
              </a:ext>
            </a:extLst>
          </p:cNvPr>
          <p:cNvSpPr>
            <a:spLocks xmlns:a="http://schemas.openxmlformats.org/drawingml/2006/main" noGrp="1"/>
          </p:cNvSpPr>
          <p:nvPr/>
        </p:nvSpPr>
        <p:spPr>
          <a:xfrm xmlns:a="http://schemas.openxmlformats.org/drawingml/2006/main">
            <a:off x="685800" y="3038475"/>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KEY QUESTION</a:t>
            </a:r>
          </a:p>
        </p:txBody>
      </p:sp>
      <p:sp>
        <p:nvSpPr>
          <p:cNvPr id="8" name="cover-key-question">
            <a:extLst xmlns:a="http://schemas.openxmlformats.org/drawingml/2006/main">
              <a:ext uri="{FF2B5EF4-FFF2-40B4-BE49-F238E27FC236}">
                <a16:creationId xmlns:a16="http://schemas.microsoft.com/office/drawing/2014/main" id="{A403BD30-6F2A-4A9A-91DA-C2B3DECD8466}"/>
              </a:ext>
            </a:extLst>
          </p:cNvPr>
          <p:cNvSpPr>
            <a:spLocks xmlns:a="http://schemas.openxmlformats.org/drawingml/2006/main" noGrp="1"/>
          </p:cNvSpPr>
          <p:nvPr/>
        </p:nvSpPr>
        <p:spPr>
          <a:xfrm xmlns:a="http://schemas.openxmlformats.org/drawingml/2006/main">
            <a:off x="685800" y="3429000"/>
            <a:ext cx="47625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What other architectures exist and where are they used?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de3e71370b0040d9"/>
          <a:stretch xmlns:a="http://schemas.openxmlformats.org/drawingml/2006/main"/>
        </p:blipFill>
        <p:spPr>
          <a:xfrm xmlns:a="http://schemas.openxmlformats.org/drawingml/2006/main">
            <a:off x="6076950" y="1819275"/>
            <a:ext cx="5400675" cy="3600450"/>
          </a:xfrm>
          <a:prstGeom xmlns:a="http://schemas.openxmlformats.org/drawingml/2006/main" prst="rect">
            <a:avLst/>
          </a:prstGeom>
        </p:spPr>
      </p:pic>
    </p:spTree>
    <p:extLst>
      <p:ext uri="{BB962C8B-B14F-4D97-AF65-F5344CB8AC3E}">
        <p14:creationId xmlns:p14="http://schemas.microsoft.com/office/powerpoint/2010/main" val="16264283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footer background">
            <a:extLst xmlns:a="http://schemas.openxmlformats.org/drawingml/2006/main">
              <a:ext uri="{FF2B5EF4-FFF2-40B4-BE49-F238E27FC236}">
                <a16:creationId xmlns:a16="http://schemas.microsoft.com/office/drawing/2014/main" id="{E5BF0379-2A73-4815-8421-ED64633F0698}"/>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D21293EB-6465-4973-825F-752A8EB00C50}"/>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WORKSHEET</a:t>
            </a:r>
          </a:p>
        </p:txBody>
      </p:sp>
      <p:sp>
        <p:nvSpPr>
          <p:cNvPr id="3" name="heading">
            <a:extLst xmlns:a="http://schemas.openxmlformats.org/drawingml/2006/main">
              <a:ext uri="{FF2B5EF4-FFF2-40B4-BE49-F238E27FC236}">
                <a16:creationId xmlns:a16="http://schemas.microsoft.com/office/drawing/2014/main" id="{66A07D95-84CF-4BBB-B5F4-F2B4C68957FF}"/>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By the end of this lesson</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39751e3624304814"/>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CAF165CE-A856-46FB-97FF-B5B7EF7417F0}"/>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2 / 18</a:t>
            </a:r>
          </a:p>
        </p:txBody>
      </p:sp>
      <p:sp>
        <p:nvSpPr>
          <p:cNvPr id="6" name="number-1">
            <a:extLst xmlns:a="http://schemas.openxmlformats.org/drawingml/2006/main">
              <a:ext uri="{FF2B5EF4-FFF2-40B4-BE49-F238E27FC236}">
                <a16:creationId xmlns:a16="http://schemas.microsoft.com/office/drawing/2014/main" id="{3192EC4E-F287-4176-8A56-41B57F808D68}"/>
              </a:ext>
            </a:extLst>
          </p:cNvPr>
          <p:cNvSpPr>
            <a:spLocks xmlns:a="http://schemas.openxmlformats.org/drawingml/2006/main" noGrp="1"/>
          </p:cNvSpPr>
          <p:nvPr/>
        </p:nvSpPr>
        <p:spPr>
          <a:xfrm xmlns:a="http://schemas.openxmlformats.org/drawingml/2006/main">
            <a:off x="723900" y="19431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302E0283-18D2-498D-B0C0-DD91FFD5A36E}"/>
              </a:ext>
            </a:extLst>
          </p:cNvPr>
          <p:cNvSpPr>
            <a:spLocks xmlns:a="http://schemas.openxmlformats.org/drawingml/2006/main" noGrp="1"/>
          </p:cNvSpPr>
          <p:nvPr/>
        </p:nvSpPr>
        <p:spPr>
          <a:xfrm xmlns:a="http://schemas.openxmlformats.org/drawingml/2006/main">
            <a:off x="1352550" y="194310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Describe the von Neumann architecture</a:t>
            </a:r>
          </a:p>
        </p:txBody>
      </p:sp>
      <p:sp>
        <p:nvSpPr>
          <p:cNvPr id="8" name="number-2">
            <a:extLst xmlns:a="http://schemas.openxmlformats.org/drawingml/2006/main">
              <a:ext uri="{FF2B5EF4-FFF2-40B4-BE49-F238E27FC236}">
                <a16:creationId xmlns:a16="http://schemas.microsoft.com/office/drawing/2014/main" id="{F12B5F86-B90E-407E-A316-A22AFCB3FA47}"/>
              </a:ext>
            </a:extLst>
          </p:cNvPr>
          <p:cNvSpPr>
            <a:spLocks xmlns:a="http://schemas.openxmlformats.org/drawingml/2006/main" noGrp="1"/>
          </p:cNvSpPr>
          <p:nvPr/>
        </p:nvSpPr>
        <p:spPr>
          <a:xfrm xmlns:a="http://schemas.openxmlformats.org/drawingml/2006/main">
            <a:off x="723900" y="31813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7624AC3A-3A58-4397-B357-EE30ACC824E1}"/>
              </a:ext>
            </a:extLst>
          </p:cNvPr>
          <p:cNvSpPr>
            <a:spLocks xmlns:a="http://schemas.openxmlformats.org/drawingml/2006/main" noGrp="1"/>
          </p:cNvSpPr>
          <p:nvPr/>
        </p:nvSpPr>
        <p:spPr>
          <a:xfrm xmlns:a="http://schemas.openxmlformats.org/drawingml/2006/main">
            <a:off x="1352550" y="318135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Know the components of the von Neumann architecture</a:t>
            </a:r>
          </a:p>
        </p:txBody>
      </p:sp>
      <p:sp>
        <p:nvSpPr>
          <p:cNvPr id="10" name="number-3">
            <a:extLst xmlns:a="http://schemas.openxmlformats.org/drawingml/2006/main">
              <a:ext uri="{FF2B5EF4-FFF2-40B4-BE49-F238E27FC236}">
                <a16:creationId xmlns:a16="http://schemas.microsoft.com/office/drawing/2014/main" id="{3C91FDD6-FACB-4AE6-A00F-CBCEAD353CE9}"/>
              </a:ext>
            </a:extLst>
          </p:cNvPr>
          <p:cNvSpPr>
            <a:spLocks xmlns:a="http://schemas.openxmlformats.org/drawingml/2006/main" noGrp="1"/>
          </p:cNvSpPr>
          <p:nvPr/>
        </p:nvSpPr>
        <p:spPr>
          <a:xfrm xmlns:a="http://schemas.openxmlformats.org/drawingml/2006/main">
            <a:off x="723900" y="4419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1" name="item-3">
            <a:extLst xmlns:a="http://schemas.openxmlformats.org/drawingml/2006/main">
              <a:ext uri="{FF2B5EF4-FFF2-40B4-BE49-F238E27FC236}">
                <a16:creationId xmlns:a16="http://schemas.microsoft.com/office/drawing/2014/main" id="{74779CBC-6420-4AEE-961A-AF90926E4AE2}"/>
              </a:ext>
            </a:extLst>
          </p:cNvPr>
          <p:cNvSpPr>
            <a:spLocks xmlns:a="http://schemas.openxmlformats.org/drawingml/2006/main" noGrp="1"/>
          </p:cNvSpPr>
          <p:nvPr/>
        </p:nvSpPr>
        <p:spPr>
          <a:xfrm xmlns:a="http://schemas.openxmlformats.org/drawingml/2006/main">
            <a:off x="1352550" y="4419600"/>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Understand what a keyword is</a:t>
            </a:r>
          </a:p>
        </p:txBody>
      </p:sp>
    </p:spTree>
    <p:extLst>
      <p:ext uri="{BB962C8B-B14F-4D97-AF65-F5344CB8AC3E}">
        <p14:creationId xmlns:p14="http://schemas.microsoft.com/office/powerpoint/2010/main" val="1435789395"/>
      </p:ext>
    </p:extLst>
  </p:cSld>
</p:sld>
</file>

<file path=ppt/slides/slide3.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42851B05-ED97-4BB2-AF1C-48EA8750DA42}"/>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960C1F63-573A-4863-B36A-B7ACEF69955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WORKSHEET STARTER</a:t>
            </a:r>
          </a:p>
        </p:txBody>
      </p:sp>
      <p:sp>
        <p:nvSpPr>
          <p:cNvPr id="3" name="heading">
            <a:extLst xmlns:a="http://schemas.openxmlformats.org/drawingml/2006/main">
              <a:ext uri="{FF2B5EF4-FFF2-40B4-BE49-F238E27FC236}">
                <a16:creationId xmlns:a16="http://schemas.microsoft.com/office/drawing/2014/main" id="{13ED64E8-E69B-4075-9961-08161040B955}"/>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before the experience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b48ace00f404e71"/>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E225A918-F780-49CE-903A-A5F20F2FEA0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3 / 18</a:t>
            </a:r>
          </a:p>
        </p:txBody>
      </p:sp>
      <p:sp>
        <p:nvSpPr>
          <p:cNvPr id="6" name="worksheet-starter">
            <a:extLst xmlns:a="http://schemas.openxmlformats.org/drawingml/2006/main">
              <a:ext uri="{FF2B5EF4-FFF2-40B4-BE49-F238E27FC236}">
                <a16:creationId xmlns:a16="http://schemas.microsoft.com/office/drawing/2014/main" id="{F141C48F-FAAA-46DE-B694-68CA9CC083DA}"/>
              </a:ext>
            </a:extLst>
          </p:cNvPr>
          <p:cNvSpPr>
            <a:spLocks xmlns:a="http://schemas.openxmlformats.org/drawingml/2006/main" noGrp="1"/>
          </p:cNvSpPr>
          <p:nvPr/>
        </p:nvSpPr>
        <p:spPr>
          <a:xfrm xmlns:a="http://schemas.openxmlformats.org/drawingml/2006/main">
            <a:off x="704850" y="2095500"/>
            <a:ext cx="10572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101828"/>
                </a:solidFill>
                <a:latin typeface="DejaVu Sans"/>
                <a:ea typeface="DejaVu Sans"/>
                <a:cs typeface="DejaVu Sans"/>
              </a:defRPr>
            </a:pPr>
            <a:r>
              <a:rPr sz="2550" b="1">
                <a:solidFill>
                  <a:srgbClr val="101828"/>
                </a:solidFill>
                <a:latin typeface="DejaVu Sans"/>
                <a:ea typeface="DejaVu Sans"/>
                <a:cs typeface="DejaVu Sans"/>
              </a:rPr>
              <a:t>The same laptop can run a game, then a word processor, then a browser, with no hardware changed. What makes that possible?</a:t>
            </a:r>
          </a:p>
        </p:txBody>
      </p:sp>
    </p:spTree>
    <p:extLst>
      <p:ext uri="{BB962C8B-B14F-4D97-AF65-F5344CB8AC3E}">
        <p14:creationId xmlns:p14="http://schemas.microsoft.com/office/powerpoint/2010/main" val="958797336"/>
      </p:ext>
    </p:extLst>
  </p:cSld>
</p:sld>
</file>

<file path=ppt/slides/slide4.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D49BCB5E-1A0E-40B2-BBF4-83A2CC24803E}"/>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9956A034-44E5-413E-BE77-88C61B429561}"/>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CHECK</a:t>
            </a:r>
          </a:p>
        </p:txBody>
      </p:sp>
      <p:sp>
        <p:nvSpPr>
          <p:cNvPr id="3" name="heading">
            <a:extLst xmlns:a="http://schemas.openxmlformats.org/drawingml/2006/main">
              <a:ext uri="{FF2B5EF4-FFF2-40B4-BE49-F238E27FC236}">
                <a16:creationId xmlns:a16="http://schemas.microsoft.com/office/drawing/2014/main" id="{34F0D581-2D67-4133-839D-53160C95B828}"/>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Starter: sample answers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1ac603bfd894cb2"/>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EC96E94E-EB45-4856-B5A2-75249C0DDA0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4 / 18</a:t>
            </a:r>
          </a:p>
        </p:txBody>
      </p:sp>
      <p:sp>
        <p:nvSpPr>
          <p:cNvPr id="6" name="number-1">
            <a:extLst xmlns:a="http://schemas.openxmlformats.org/drawingml/2006/main">
              <a:ext uri="{FF2B5EF4-FFF2-40B4-BE49-F238E27FC236}">
                <a16:creationId xmlns:a16="http://schemas.microsoft.com/office/drawing/2014/main" id="{77126404-E350-4536-9959-41D7BB0153C9}"/>
              </a:ext>
            </a:extLst>
          </p:cNvPr>
          <p:cNvSpPr>
            <a:spLocks xmlns:a="http://schemas.openxmlformats.org/drawingml/2006/main" noGrp="1"/>
          </p:cNvSpPr>
          <p:nvPr/>
        </p:nvSpPr>
        <p:spPr>
          <a:xfrm xmlns:a="http://schemas.openxmlformats.org/drawingml/2006/main">
            <a:off x="723900" y="22860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1.</a:t>
            </a:r>
          </a:p>
        </p:txBody>
      </p:sp>
      <p:sp>
        <p:nvSpPr>
          <p:cNvPr id="7" name="item-1">
            <a:extLst xmlns:a="http://schemas.openxmlformats.org/drawingml/2006/main">
              <a:ext uri="{FF2B5EF4-FFF2-40B4-BE49-F238E27FC236}">
                <a16:creationId xmlns:a16="http://schemas.microsoft.com/office/drawing/2014/main" id="{1897ECD5-BF9D-4628-BDDB-E738628326CC}"/>
              </a:ext>
            </a:extLst>
          </p:cNvPr>
          <p:cNvSpPr>
            <a:spLocks xmlns:a="http://schemas.openxmlformats.org/drawingml/2006/main" noGrp="1"/>
          </p:cNvSpPr>
          <p:nvPr/>
        </p:nvSpPr>
        <p:spPr>
          <a:xfrm xmlns:a="http://schemas.openxmlformats.org/drawingml/2006/main">
            <a:off x="1352550" y="2286000"/>
            <a:ext cx="99250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01828"/>
                </a:solidFill>
                <a:latin typeface="DejaVu Sans"/>
                <a:ea typeface="DejaVu Sans"/>
                <a:cs typeface="DejaVu Sans"/>
              </a:defRPr>
            </a:pPr>
            <a:r>
              <a:rPr sz="2250" b="0">
                <a:solidFill>
                  <a:srgbClr val="101828"/>
                </a:solidFill>
                <a:latin typeface="DejaVu Sans"/>
                <a:ea typeface="DejaVu Sans"/>
                <a:cs typeface="DejaVu Sans"/>
              </a:rPr>
              <a:t>The CPU can run different stored programs loaded into main memory.</a:t>
            </a:r>
          </a:p>
        </p:txBody>
      </p:sp>
      <p:sp>
        <p:nvSpPr>
          <p:cNvPr id="8" name="number-2">
            <a:extLst xmlns:a="http://schemas.openxmlformats.org/drawingml/2006/main">
              <a:ext uri="{FF2B5EF4-FFF2-40B4-BE49-F238E27FC236}">
                <a16:creationId xmlns:a16="http://schemas.microsoft.com/office/drawing/2014/main" id="{6ACA193C-9454-4372-BEF5-12259940D002}"/>
              </a:ext>
            </a:extLst>
          </p:cNvPr>
          <p:cNvSpPr>
            <a:spLocks xmlns:a="http://schemas.openxmlformats.org/drawingml/2006/main" noGrp="1"/>
          </p:cNvSpPr>
          <p:nvPr/>
        </p:nvSpPr>
        <p:spPr>
          <a:xfrm xmlns:a="http://schemas.openxmlformats.org/drawingml/2006/main">
            <a:off x="723900" y="38671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2.</a:t>
            </a:r>
          </a:p>
        </p:txBody>
      </p:sp>
      <p:sp>
        <p:nvSpPr>
          <p:cNvPr id="9" name="item-2">
            <a:extLst xmlns:a="http://schemas.openxmlformats.org/drawingml/2006/main">
              <a:ext uri="{FF2B5EF4-FFF2-40B4-BE49-F238E27FC236}">
                <a16:creationId xmlns:a16="http://schemas.microsoft.com/office/drawing/2014/main" id="{77ABB075-108F-4D83-9DDC-43E53015F050}"/>
              </a:ext>
            </a:extLst>
          </p:cNvPr>
          <p:cNvSpPr>
            <a:spLocks xmlns:a="http://schemas.openxmlformats.org/drawingml/2006/main" noGrp="1"/>
          </p:cNvSpPr>
          <p:nvPr/>
        </p:nvSpPr>
        <p:spPr>
          <a:xfrm xmlns:a="http://schemas.openxmlformats.org/drawingml/2006/main">
            <a:off x="1352550" y="3867150"/>
            <a:ext cx="99250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01828"/>
                </a:solidFill>
                <a:latin typeface="DejaVu Sans"/>
                <a:ea typeface="DejaVu Sans"/>
                <a:cs typeface="DejaVu Sans"/>
              </a:defRPr>
            </a:pPr>
            <a:r>
              <a:rPr sz="2250" b="0">
                <a:solidFill>
                  <a:srgbClr val="101828"/>
                </a:solidFill>
                <a:latin typeface="DejaVu Sans"/>
                <a:ea typeface="DejaVu Sans"/>
                <a:cs typeface="DejaVu Sans"/>
              </a:rPr>
              <a:t>New instructions change the task without rewiring the hardware.</a:t>
            </a:r>
          </a:p>
        </p:txBody>
      </p:sp>
    </p:spTree>
    <p:extLst>
      <p:ext uri="{BB962C8B-B14F-4D97-AF65-F5344CB8AC3E}">
        <p14:creationId xmlns:p14="http://schemas.microsoft.com/office/powerpoint/2010/main" val="561847195"/>
      </p:ext>
    </p:extLst>
  </p:cSld>
</p:sld>
</file>

<file path=ppt/slides/slide5.xml><?xml version="1.0" encoding="utf-8"?>
<p:sld xmlns:p="http://schemas.openxmlformats.org/presentationml/2006/main">
  <p:cSld>
    <p:bg>
      <p:bgPr>
        <a:solidFill xmlns:a="http://schemas.openxmlformats.org/drawingml/2006/main">
          <a:srgbClr val="FFF8E9"/>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954710A8-5E58-40DF-9EC6-7A5489EBA2CD}"/>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AA49A579-E7A5-486F-9ECF-1CF5A67B77B5}"/>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WORKSHEET KEY TERMS</a:t>
            </a:r>
          </a:p>
        </p:txBody>
      </p:sp>
      <p:sp>
        <p:nvSpPr>
          <p:cNvPr id="3" name="heading">
            <a:extLst xmlns:a="http://schemas.openxmlformats.org/drawingml/2006/main">
              <a:ext uri="{FF2B5EF4-FFF2-40B4-BE49-F238E27FC236}">
                <a16:creationId xmlns:a16="http://schemas.microsoft.com/office/drawing/2014/main" id="{B13397F8-C83D-4BD6-8C30-8E0B742512EA}"/>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quiz</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9d319b48e404fa6"/>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85A0B4FC-19F7-4765-802B-6F72265ACA5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5 / 18</a:t>
            </a:r>
          </a:p>
        </p:txBody>
      </p:sp>
      <p:sp>
        <p:nvSpPr>
          <p:cNvPr id="6" name="term-number-0">
            <a:extLst xmlns:a="http://schemas.openxmlformats.org/drawingml/2006/main">
              <a:ext uri="{FF2B5EF4-FFF2-40B4-BE49-F238E27FC236}">
                <a16:creationId xmlns:a16="http://schemas.microsoft.com/office/drawing/2014/main" id="{9A992CCA-FE2D-4DE0-B2F0-B852DEC3ADFC}"/>
              </a:ext>
            </a:extLst>
          </p:cNvPr>
          <p:cNvSpPr>
            <a:spLocks xmlns:a="http://schemas.openxmlformats.org/drawingml/2006/main" noGrp="1"/>
          </p:cNvSpPr>
          <p:nvPr/>
        </p:nvSpPr>
        <p:spPr>
          <a:xfrm xmlns:a="http://schemas.openxmlformats.org/drawingml/2006/main">
            <a:off x="723900" y="227647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1.</a:t>
            </a:r>
          </a:p>
        </p:txBody>
      </p:sp>
      <p:sp>
        <p:nvSpPr>
          <p:cNvPr id="7" name="term-0">
            <a:extLst xmlns:a="http://schemas.openxmlformats.org/drawingml/2006/main">
              <a:ext uri="{FF2B5EF4-FFF2-40B4-BE49-F238E27FC236}">
                <a16:creationId xmlns:a16="http://schemas.microsoft.com/office/drawing/2014/main" id="{3B132935-59D3-4E09-BCB0-1230D305DDDF}"/>
              </a:ext>
            </a:extLst>
          </p:cNvPr>
          <p:cNvSpPr>
            <a:spLocks xmlns:a="http://schemas.openxmlformats.org/drawingml/2006/main" noGrp="1"/>
          </p:cNvSpPr>
          <p:nvPr/>
        </p:nvSpPr>
        <p:spPr>
          <a:xfrm xmlns:a="http://schemas.openxmlformats.org/drawingml/2006/main">
            <a:off x="1371600" y="227647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ALU</a:t>
            </a:r>
          </a:p>
        </p:txBody>
      </p:sp>
      <p:sp>
        <p:nvSpPr>
          <p:cNvPr id="8" name="term-number-1">
            <a:extLst xmlns:a="http://schemas.openxmlformats.org/drawingml/2006/main">
              <a:ext uri="{FF2B5EF4-FFF2-40B4-BE49-F238E27FC236}">
                <a16:creationId xmlns:a16="http://schemas.microsoft.com/office/drawing/2014/main" id="{46C91880-AC07-46BD-A10F-5DF0AD6EE0E9}"/>
              </a:ext>
            </a:extLst>
          </p:cNvPr>
          <p:cNvSpPr>
            <a:spLocks xmlns:a="http://schemas.openxmlformats.org/drawingml/2006/main" noGrp="1"/>
          </p:cNvSpPr>
          <p:nvPr/>
        </p:nvSpPr>
        <p:spPr>
          <a:xfrm xmlns:a="http://schemas.openxmlformats.org/drawingml/2006/main">
            <a:off x="723900" y="4086225"/>
            <a:ext cx="5905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1">
                <a:solidFill>
                  <a:srgbClr val="2D63FF"/>
                </a:solidFill>
                <a:latin typeface="DejaVu Sans"/>
                <a:ea typeface="DejaVu Sans"/>
                <a:cs typeface="DejaVu Sans"/>
              </a:defRPr>
            </a:pPr>
            <a:r>
              <a:rPr sz="2700" b="1">
                <a:solidFill>
                  <a:srgbClr val="2D63FF"/>
                </a:solidFill>
                <a:latin typeface="DejaVu Sans"/>
                <a:ea typeface="DejaVu Sans"/>
                <a:cs typeface="DejaVu Sans"/>
              </a:rPr>
              <a:t>2.</a:t>
            </a:r>
          </a:p>
        </p:txBody>
      </p:sp>
      <p:sp>
        <p:nvSpPr>
          <p:cNvPr id="9" name="term-1">
            <a:extLst xmlns:a="http://schemas.openxmlformats.org/drawingml/2006/main">
              <a:ext uri="{FF2B5EF4-FFF2-40B4-BE49-F238E27FC236}">
                <a16:creationId xmlns:a16="http://schemas.microsoft.com/office/drawing/2014/main" id="{40F94ECE-A0AF-4C4C-8682-0988C79A4BFA}"/>
              </a:ext>
            </a:extLst>
          </p:cNvPr>
          <p:cNvSpPr>
            <a:spLocks xmlns:a="http://schemas.openxmlformats.org/drawingml/2006/main" noGrp="1"/>
          </p:cNvSpPr>
          <p:nvPr/>
        </p:nvSpPr>
        <p:spPr>
          <a:xfrm xmlns:a="http://schemas.openxmlformats.org/drawingml/2006/main">
            <a:off x="1371600" y="4086225"/>
            <a:ext cx="96678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01828"/>
                </a:solidFill>
                <a:latin typeface="DejaVu Sans"/>
                <a:ea typeface="DejaVu Sans"/>
                <a:cs typeface="DejaVu Sans"/>
              </a:defRPr>
            </a:pPr>
            <a:r>
              <a:rPr sz="2775" b="1">
                <a:solidFill>
                  <a:srgbClr val="101828"/>
                </a:solidFill>
                <a:latin typeface="DejaVu Sans"/>
                <a:ea typeface="DejaVu Sans"/>
                <a:cs typeface="DejaVu Sans"/>
              </a:rPr>
              <a:t>CU (control unit)</a:t>
            </a:r>
          </a:p>
        </p:txBody>
      </p:sp>
    </p:spTree>
    <p:extLst>
      <p:ext uri="{BB962C8B-B14F-4D97-AF65-F5344CB8AC3E}">
        <p14:creationId xmlns:p14="http://schemas.microsoft.com/office/powerpoint/2010/main" val="1084657585"/>
      </p:ext>
    </p:extLst>
  </p:cSld>
</p:sld>
</file>

<file path=ppt/slides/slide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A647F0D6-6BB9-49CB-9DC2-BE391A09B57F}"/>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719BBC3D-F2D6-4746-A9FB-12FEA07A6C3C}"/>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CHECK</a:t>
            </a:r>
          </a:p>
        </p:txBody>
      </p:sp>
      <p:sp>
        <p:nvSpPr>
          <p:cNvPr id="3" name="heading">
            <a:extLst xmlns:a="http://schemas.openxmlformats.org/drawingml/2006/main">
              <a:ext uri="{FF2B5EF4-FFF2-40B4-BE49-F238E27FC236}">
                <a16:creationId xmlns:a16="http://schemas.microsoft.com/office/drawing/2014/main" id="{05AE11F7-616C-4790-B65A-765F396489E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Key terminology: answers</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79d09c5ca7f9485a"/>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97AD6A55-340C-4B4A-B228-0E02702DC05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6 / 18</a:t>
            </a:r>
          </a:p>
        </p:txBody>
      </p:sp>
      <p:sp>
        <p:nvSpPr>
          <p:cNvPr id="6" name="answer-term-0">
            <a:extLst xmlns:a="http://schemas.openxmlformats.org/drawingml/2006/main">
              <a:ext uri="{FF2B5EF4-FFF2-40B4-BE49-F238E27FC236}">
                <a16:creationId xmlns:a16="http://schemas.microsoft.com/office/drawing/2014/main" id="{18B87175-337D-40FE-BA93-6DA5F71CA6A1}"/>
              </a:ext>
            </a:extLst>
          </p:cNvPr>
          <p:cNvSpPr>
            <a:spLocks xmlns:a="http://schemas.openxmlformats.org/drawingml/2006/main" noGrp="1"/>
          </p:cNvSpPr>
          <p:nvPr/>
        </p:nvSpPr>
        <p:spPr>
          <a:xfrm xmlns:a="http://schemas.openxmlformats.org/drawingml/2006/main">
            <a:off x="723900" y="20478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ALU</a:t>
            </a:r>
          </a:p>
        </p:txBody>
      </p:sp>
      <p:sp>
        <p:nvSpPr>
          <p:cNvPr id="7" name="answer-definition-0">
            <a:extLst xmlns:a="http://schemas.openxmlformats.org/drawingml/2006/main">
              <a:ext uri="{FF2B5EF4-FFF2-40B4-BE49-F238E27FC236}">
                <a16:creationId xmlns:a16="http://schemas.microsoft.com/office/drawing/2014/main" id="{A9A530B5-D829-4ECD-89A1-D9D86A8BC5AD}"/>
              </a:ext>
            </a:extLst>
          </p:cNvPr>
          <p:cNvSpPr>
            <a:spLocks xmlns:a="http://schemas.openxmlformats.org/drawingml/2006/main" noGrp="1"/>
          </p:cNvSpPr>
          <p:nvPr/>
        </p:nvSpPr>
        <p:spPr>
          <a:xfrm xmlns:a="http://schemas.openxmlformats.org/drawingml/2006/main">
            <a:off x="723900" y="262890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arithmetic logic unit performs calculations and logical operations.</a:t>
            </a:r>
          </a:p>
        </p:txBody>
      </p:sp>
      <p:sp>
        <p:nvSpPr>
          <p:cNvPr id="8" name="answer-term-1">
            <a:extLst xmlns:a="http://schemas.openxmlformats.org/drawingml/2006/main">
              <a:ext uri="{FF2B5EF4-FFF2-40B4-BE49-F238E27FC236}">
                <a16:creationId xmlns:a16="http://schemas.microsoft.com/office/drawing/2014/main" id="{9CE0ECDF-6BFE-4372-9173-8C53BCF68D2C}"/>
              </a:ext>
            </a:extLst>
          </p:cNvPr>
          <p:cNvSpPr>
            <a:spLocks xmlns:a="http://schemas.openxmlformats.org/drawingml/2006/main" noGrp="1"/>
          </p:cNvSpPr>
          <p:nvPr/>
        </p:nvSpPr>
        <p:spPr>
          <a:xfrm xmlns:a="http://schemas.openxmlformats.org/drawingml/2006/main">
            <a:off x="723900" y="393382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2D63FF"/>
                </a:solidFill>
                <a:latin typeface="DejaVu Sans"/>
                <a:ea typeface="DejaVu Sans"/>
                <a:cs typeface="DejaVu Sans"/>
              </a:defRPr>
            </a:pPr>
            <a:r>
              <a:rPr sz="2550" b="1">
                <a:solidFill>
                  <a:srgbClr val="2D63FF"/>
                </a:solidFill>
                <a:latin typeface="DejaVu Sans"/>
                <a:ea typeface="DejaVu Sans"/>
                <a:cs typeface="DejaVu Sans"/>
              </a:rPr>
              <a:t>CU (control unit)</a:t>
            </a:r>
          </a:p>
        </p:txBody>
      </p:sp>
      <p:sp>
        <p:nvSpPr>
          <p:cNvPr id="9" name="answer-definition-1">
            <a:extLst xmlns:a="http://schemas.openxmlformats.org/drawingml/2006/main">
              <a:ext uri="{FF2B5EF4-FFF2-40B4-BE49-F238E27FC236}">
                <a16:creationId xmlns:a16="http://schemas.microsoft.com/office/drawing/2014/main" id="{0298FF01-B10A-4B33-A5A5-FCD235562ACA}"/>
              </a:ext>
            </a:extLst>
          </p:cNvPr>
          <p:cNvSpPr>
            <a:spLocks xmlns:a="http://schemas.openxmlformats.org/drawingml/2006/main" noGrp="1"/>
          </p:cNvSpPr>
          <p:nvPr/>
        </p:nvSpPr>
        <p:spPr>
          <a:xfrm xmlns:a="http://schemas.openxmlformats.org/drawingml/2006/main">
            <a:off x="723900" y="451485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control unit decodes instructions and sends control signals.</a:t>
            </a:r>
          </a:p>
        </p:txBody>
      </p:sp>
    </p:spTree>
    <p:extLst>
      <p:ext uri="{BB962C8B-B14F-4D97-AF65-F5344CB8AC3E}">
        <p14:creationId xmlns:p14="http://schemas.microsoft.com/office/powerpoint/2010/main" val="1251999061"/>
      </p:ext>
    </p:extLst>
  </p:cSld>
</p:sld>
</file>

<file path=ppt/slides/slide7.xml><?xml version="1.0" encoding="utf-8"?>
<p:sld xmlns:p="http://schemas.openxmlformats.org/presentationml/2006/main">
  <p:cSld>
    <p:bg>
      <p:bgPr>
        <a:solidFill xmlns:a="http://schemas.openxmlformats.org/drawingml/2006/main">
          <a:srgbClr val="122448"/>
        </a:solidFill>
      </p:bgPr>
    </p:bg>
    <p:spTree>
      <p:nvGrpSpPr>
        <p:cNvPr id="1" name=""/>
        <p:cNvGrpSpPr/>
        <p:nvPr/>
      </p:nvGrpSpPr>
      <p:grpSpPr>
        <a:xfrm xmlns:a="http://schemas.openxmlformats.org/drawingml/2006/main"/>
      </p:grpSpPr>
      <p:sp>
        <p:nvSpPr>
          <p:cNvPr id="14" name="footer background">
            <a:extLst xmlns:a="http://schemas.openxmlformats.org/drawingml/2006/main">
              <a:ext uri="{FF2B5EF4-FFF2-40B4-BE49-F238E27FC236}">
                <a16:creationId xmlns:a16="http://schemas.microsoft.com/office/drawing/2014/main" id="{DDB9AAFE-B0A7-4A24-ABFE-6E0AC103D2F7}"/>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4DA7647-E2F2-4B73-8E0F-C83FC261C727}"/>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77D8FF"/>
                </a:solidFill>
                <a:latin typeface="DejaVu Sans"/>
                <a:ea typeface="DejaVu Sans"/>
                <a:cs typeface="DejaVu Sans"/>
              </a:defRPr>
            </a:pPr>
            <a:r>
              <a:rPr sz="1125" b="1">
                <a:solidFill>
                  <a:srgbClr val="77D8FF"/>
                </a:solidFill>
                <a:latin typeface="DejaVu Sans"/>
                <a:ea typeface="DejaVu Sans"/>
                <a:cs typeface="DejaVu Sans"/>
              </a:rPr>
              <a:t>TOPIC 1.1   /   LESSON 02   /   EXPERIENCE</a:t>
            </a:r>
          </a:p>
        </p:txBody>
      </p:sp>
      <p:sp>
        <p:nvSpPr>
          <p:cNvPr id="3" name="heading">
            <a:extLst xmlns:a="http://schemas.openxmlformats.org/drawingml/2006/main">
              <a:ext uri="{FF2B5EF4-FFF2-40B4-BE49-F238E27FC236}">
                <a16:creationId xmlns:a16="http://schemas.microsoft.com/office/drawing/2014/main" id="{16CB50CA-04A5-446E-865F-DB947BD6118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FFFFFF"/>
                </a:solidFill>
                <a:latin typeface="DejaVu Sans"/>
                <a:ea typeface="DejaVu Sans"/>
                <a:cs typeface="DejaVu Sans"/>
              </a:defRPr>
            </a:pPr>
            <a:r>
              <a:rPr sz="3225" b="1">
                <a:solidFill>
                  <a:srgbClr val="FFFFFF"/>
                </a:solidFill>
                <a:latin typeface="DejaVu Sans"/>
                <a:ea typeface="DejaVu Sans"/>
                <a:cs typeface="DejaVu Sans"/>
              </a:rPr>
              <a:t>Worksheet + experience</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60a9615020b643bb"/>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0D007FC1-E6A5-45B2-ABC4-D98EF048A0EC}"/>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7 / 18</a:t>
            </a:r>
          </a:p>
        </p:txBody>
      </p:sp>
      <p:sp>
        <p:nvSpPr>
          <p:cNvPr id="6" name="open-label">
            <a:extLst xmlns:a="http://schemas.openxmlformats.org/drawingml/2006/main">
              <a:ext uri="{FF2B5EF4-FFF2-40B4-BE49-F238E27FC236}">
                <a16:creationId xmlns:a16="http://schemas.microsoft.com/office/drawing/2014/main" id="{7DB307D3-FE91-453E-A14C-8913ABB40F19}"/>
              </a:ext>
            </a:extLst>
          </p:cNvPr>
          <p:cNvSpPr>
            <a:spLocks xmlns:a="http://schemas.openxmlformats.org/drawingml/2006/main" noGrp="1"/>
          </p:cNvSpPr>
          <p:nvPr/>
        </p:nvSpPr>
        <p:spPr>
          <a:xfrm xmlns:a="http://schemas.openxmlformats.org/drawingml/2006/main">
            <a:off x="723900" y="15240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01   </a:t>
            </a:r>
            <a:r>
              <a:rPr sz="1425" b="1">
                <a:solidFill>
                  <a:srgbClr val="77D8FF"/>
                </a:solidFill>
                <a:latin typeface="DejaVu Sans"/>
                <a:ea typeface="DejaVu Sans"/>
                <a:cs typeface="DejaVu Sans"/>
                <a:hlinkClick xmlns:r="http://schemas.openxmlformats.org/officeDocument/2006/relationships" r:id="R951aa45abc7545b6"/>
              </a:rPr>
              <a:t>OPEN EXPERIENCE ↗</a:t>
            </a:r>
          </a:p>
        </p:txBody>
      </p:sp>
      <p:sp>
        <p:nvSpPr>
          <p:cNvPr id="7" name="open-body">
            <a:extLst xmlns:a="http://schemas.openxmlformats.org/drawingml/2006/main">
              <a:ext uri="{FF2B5EF4-FFF2-40B4-BE49-F238E27FC236}">
                <a16:creationId xmlns:a16="http://schemas.microsoft.com/office/drawing/2014/main" id="{4BF33557-4BEA-4721-87ED-B78A1A268E7C}"/>
              </a:ext>
            </a:extLst>
          </p:cNvPr>
          <p:cNvSpPr>
            <a:spLocks xmlns:a="http://schemas.openxmlformats.org/drawingml/2006/main" noGrp="1"/>
          </p:cNvSpPr>
          <p:nvPr/>
        </p:nvSpPr>
        <p:spPr>
          <a:xfrm xmlns:a="http://schemas.openxmlformats.org/drawingml/2006/main">
            <a:off x="723900" y="1847850"/>
            <a:ext cx="10572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FFFFFF"/>
                </a:solidFill>
                <a:latin typeface="DejaVu Sans"/>
                <a:ea typeface="DejaVu Sans"/>
                <a:cs typeface="DejaVu Sans"/>
              </a:defRPr>
            </a:pPr>
            <a:r>
              <a:rPr sz="1950" b="0">
                <a:solidFill>
                  <a:srgbClr val="FFFFFF"/>
                </a:solidFill>
                <a:latin typeface="DejaVu Sans"/>
                <a:ea typeface="DejaVu Sans"/>
                <a:cs typeface="DejaVu Sans"/>
              </a:rPr>
              <a:t>Open Von Neumann HQ in Topic 1.1. Keep the worksheet beside you.</a:t>
            </a:r>
          </a:p>
        </p:txBody>
      </p:sp>
      <p:sp>
        <p:nvSpPr>
          <p:cNvPr id="8" name="station-label">
            <a:extLst xmlns:a="http://schemas.openxmlformats.org/drawingml/2006/main">
              <a:ext uri="{FF2B5EF4-FFF2-40B4-BE49-F238E27FC236}">
                <a16:creationId xmlns:a16="http://schemas.microsoft.com/office/drawing/2014/main" id="{4EFE39A0-EF1B-4B07-887B-2BED4289CDCA}"/>
              </a:ext>
            </a:extLst>
          </p:cNvPr>
          <p:cNvSpPr>
            <a:spLocks xmlns:a="http://schemas.openxmlformats.org/drawingml/2006/main" noGrp="1"/>
          </p:cNvSpPr>
          <p:nvPr/>
        </p:nvSpPr>
        <p:spPr>
          <a:xfrm xmlns:a="http://schemas.openxmlformats.org/drawingml/2006/main">
            <a:off x="723900" y="25908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02   SIX STATIONS</a:t>
            </a:r>
          </a:p>
        </p:txBody>
      </p:sp>
      <p:sp>
        <p:nvSpPr>
          <p:cNvPr id="9" name="station-body">
            <a:extLst xmlns:a="http://schemas.openxmlformats.org/drawingml/2006/main">
              <a:ext uri="{FF2B5EF4-FFF2-40B4-BE49-F238E27FC236}">
                <a16:creationId xmlns:a16="http://schemas.microsoft.com/office/drawing/2014/main" id="{6FA06AEE-F9BB-4C38-9931-EB9EDDAB621D}"/>
              </a:ext>
            </a:extLst>
          </p:cNvPr>
          <p:cNvSpPr>
            <a:spLocks xmlns:a="http://schemas.openxmlformats.org/drawingml/2006/main" noGrp="1"/>
          </p:cNvSpPr>
          <p:nvPr/>
        </p:nvSpPr>
        <p:spPr>
          <a:xfrm xmlns:a="http://schemas.openxmlformats.org/drawingml/2006/main">
            <a:off x="723900" y="2914650"/>
            <a:ext cx="1057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FFFFFF"/>
                </a:solidFill>
                <a:latin typeface="DejaVu Sans"/>
                <a:ea typeface="DejaVu Sans"/>
                <a:cs typeface="DejaVu Sans"/>
              </a:defRPr>
            </a:pPr>
            <a:r>
              <a:rPr sz="2175" b="1">
                <a:solidFill>
                  <a:srgbClr val="FFFFFF"/>
                </a:solidFill>
                <a:latin typeface="DejaVu Sans"/>
                <a:ea typeface="DejaVu Sans"/>
                <a:cs typeface="DejaVu Sans"/>
              </a:rPr>
              <a:t>Read each panel. Write the key fact IN YOUR OWN WORDS and answer the worksheet challenge before tapping its badge.</a:t>
            </a:r>
          </a:p>
        </p:txBody>
      </p:sp>
      <p:sp>
        <p:nvSpPr>
          <p:cNvPr id="10" name="finish-label">
            <a:extLst xmlns:a="http://schemas.openxmlformats.org/drawingml/2006/main">
              <a:ext uri="{FF2B5EF4-FFF2-40B4-BE49-F238E27FC236}">
                <a16:creationId xmlns:a16="http://schemas.microsoft.com/office/drawing/2014/main" id="{A03068A9-C3B5-43F1-8C9D-1EB6F30C47C2}"/>
              </a:ext>
            </a:extLst>
          </p:cNvPr>
          <p:cNvSpPr>
            <a:spLocks xmlns:a="http://schemas.openxmlformats.org/drawingml/2006/main" noGrp="1"/>
          </p:cNvSpPr>
          <p:nvPr/>
        </p:nvSpPr>
        <p:spPr>
          <a:xfrm xmlns:a="http://schemas.openxmlformats.org/drawingml/2006/main">
            <a:off x="723900" y="371475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03   FINAL CHALLENGE</a:t>
            </a:r>
          </a:p>
        </p:txBody>
      </p:sp>
      <p:sp>
        <p:nvSpPr>
          <p:cNvPr id="11" name="finish-body">
            <a:extLst xmlns:a="http://schemas.openxmlformats.org/drawingml/2006/main">
              <a:ext uri="{FF2B5EF4-FFF2-40B4-BE49-F238E27FC236}">
                <a16:creationId xmlns:a16="http://schemas.microsoft.com/office/drawing/2014/main" id="{076BD6C2-E640-47C4-8640-573CA7AB1E3C}"/>
              </a:ext>
            </a:extLst>
          </p:cNvPr>
          <p:cNvSpPr>
            <a:spLocks xmlns:a="http://schemas.openxmlformats.org/drawingml/2006/main" noGrp="1"/>
          </p:cNvSpPr>
          <p:nvPr/>
        </p:nvSpPr>
        <p:spPr>
          <a:xfrm xmlns:a="http://schemas.openxmlformats.org/drawingml/2006/main">
            <a:off x="723900" y="4048125"/>
            <a:ext cx="10572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FFFFFF"/>
                </a:solidFill>
                <a:latin typeface="DejaVu Sans"/>
                <a:ea typeface="DejaVu Sans"/>
                <a:cs typeface="DejaVu Sans"/>
              </a:defRPr>
            </a:pPr>
            <a:r>
              <a:rPr sz="1875" b="0">
                <a:solidFill>
                  <a:srgbClr val="FFFFFF"/>
                </a:solidFill>
                <a:latin typeface="DejaVu Sans"/>
                <a:ea typeface="DejaVu Sans"/>
                <a:cs typeface="DejaVu Sans"/>
              </a:rPr>
              <a:t>Complete the ★ table before tapping the star. Copy your score (out of 19), then answer the worksheet key question.</a:t>
            </a:r>
          </a:p>
        </p:txBody>
      </p:sp>
      <p:sp>
        <p:nvSpPr>
          <p:cNvPr id="12" name="plenary-label">
            <a:extLst xmlns:a="http://schemas.openxmlformats.org/drawingml/2006/main">
              <a:ext uri="{FF2B5EF4-FFF2-40B4-BE49-F238E27FC236}">
                <a16:creationId xmlns:a16="http://schemas.microsoft.com/office/drawing/2014/main" id="{EDA6BC0C-B80A-4C25-B110-60BE04BDE18C}"/>
              </a:ext>
            </a:extLst>
          </p:cNvPr>
          <p:cNvSpPr>
            <a:spLocks xmlns:a="http://schemas.openxmlformats.org/drawingml/2006/main" noGrp="1"/>
          </p:cNvSpPr>
          <p:nvPr/>
        </p:nvSpPr>
        <p:spPr>
          <a:xfrm xmlns:a="http://schemas.openxmlformats.org/drawingml/2006/main">
            <a:off x="723900" y="49149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77D8FF"/>
                </a:solidFill>
                <a:latin typeface="DejaVu Sans"/>
                <a:ea typeface="DejaVu Sans"/>
                <a:cs typeface="DejaVu Sans"/>
              </a:defRPr>
            </a:pPr>
            <a:r>
              <a:rPr sz="1425" b="1">
                <a:solidFill>
                  <a:srgbClr val="77D8FF"/>
                </a:solidFill>
                <a:latin typeface="DejaVu Sans"/>
                <a:ea typeface="DejaVu Sans"/>
                <a:cs typeface="DejaVu Sans"/>
              </a:rPr>
              <a:t>04   PLENARY</a:t>
            </a:r>
          </a:p>
        </p:txBody>
      </p:sp>
      <p:sp>
        <p:nvSpPr>
          <p:cNvPr id="13" name="plenary-body">
            <a:extLst xmlns:a="http://schemas.openxmlformats.org/drawingml/2006/main">
              <a:ext uri="{FF2B5EF4-FFF2-40B4-BE49-F238E27FC236}">
                <a16:creationId xmlns:a16="http://schemas.microsoft.com/office/drawing/2014/main" id="{79D7AFCD-A076-4602-BEE9-DA933D8DC877}"/>
              </a:ext>
            </a:extLst>
          </p:cNvPr>
          <p:cNvSpPr>
            <a:spLocks xmlns:a="http://schemas.openxmlformats.org/drawingml/2006/main" noGrp="1"/>
          </p:cNvSpPr>
          <p:nvPr/>
        </p:nvSpPr>
        <p:spPr>
          <a:xfrm xmlns:a="http://schemas.openxmlformats.org/drawingml/2006/main">
            <a:off x="723900" y="52387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FFFFFF"/>
                </a:solidFill>
                <a:latin typeface="DejaVu Sans"/>
                <a:ea typeface="DejaVu Sans"/>
                <a:cs typeface="DejaVu Sans"/>
              </a:defRPr>
            </a:pPr>
            <a:r>
              <a:rPr sz="1800" b="0">
                <a:solidFill>
                  <a:srgbClr val="FFFFFF"/>
                </a:solidFill>
                <a:latin typeface="DejaVu Sans"/>
                <a:ea typeface="DejaVu Sans"/>
                <a:cs typeface="DejaVu Sans"/>
              </a:rPr>
              <a:t>Finish the experience in this lesson. Near the end, close it for the plenary knowledge checks.</a:t>
            </a:r>
          </a:p>
        </p:txBody>
      </p:sp>
    </p:spTree>
    <p:extLst>
      <p:ext uri="{BB962C8B-B14F-4D97-AF65-F5344CB8AC3E}">
        <p14:creationId xmlns:p14="http://schemas.microsoft.com/office/powerpoint/2010/main" val="129236314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ooter background">
            <a:extLst xmlns:a="http://schemas.openxmlformats.org/drawingml/2006/main">
              <a:ext uri="{FF2B5EF4-FFF2-40B4-BE49-F238E27FC236}">
                <a16:creationId xmlns:a16="http://schemas.microsoft.com/office/drawing/2014/main" id="{197948A3-B0AD-421D-8681-CACE31315A4E}"/>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1AAF2611-80A5-4E99-BAA7-488898A97C46}"/>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EXTENSION</a:t>
            </a:r>
          </a:p>
        </p:txBody>
      </p:sp>
      <p:sp>
        <p:nvSpPr>
          <p:cNvPr id="3" name="heading">
            <a:extLst xmlns:a="http://schemas.openxmlformats.org/drawingml/2006/main">
              <a:ext uri="{FF2B5EF4-FFF2-40B4-BE49-F238E27FC236}">
                <a16:creationId xmlns:a16="http://schemas.microsoft.com/office/drawing/2014/main" id="{02A1B719-0B55-4BD6-963E-CCF9E65CCCAB}"/>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Apply your learning</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3a130c25ea634f33"/>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BBEA6B82-5E2D-4080-B7CE-FB8FEB48E2CD}"/>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8 / 18</a:t>
            </a:r>
          </a:p>
        </p:txBody>
      </p:sp>
      <p:sp>
        <p:nvSpPr>
          <p:cNvPr id="6" name="extension-prompt">
            <a:extLst xmlns:a="http://schemas.openxmlformats.org/drawingml/2006/main">
              <a:ext uri="{FF2B5EF4-FFF2-40B4-BE49-F238E27FC236}">
                <a16:creationId xmlns:a16="http://schemas.microsoft.com/office/drawing/2014/main" id="{9B2DE4C4-C81E-406B-9352-3EB2A82A9BE8}"/>
              </a:ext>
            </a:extLst>
          </p:cNvPr>
          <p:cNvSpPr>
            <a:spLocks xmlns:a="http://schemas.openxmlformats.org/drawingml/2006/main" noGrp="1"/>
          </p:cNvSpPr>
          <p:nvPr/>
        </p:nvSpPr>
        <p:spPr>
          <a:xfrm xmlns:a="http://schemas.openxmlformats.org/drawingml/2006/main">
            <a:off x="714375" y="2419350"/>
            <a:ext cx="1057275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A laptop runs a game, then a spreadsheet. Explain how a stored program makes this possible without rewiring the computer.</a:t>
            </a:r>
          </a:p>
        </p:txBody>
      </p:sp>
      <p:sp>
        <p:nvSpPr>
          <p:cNvPr id="7" name="extension-follow">
            <a:extLst xmlns:a="http://schemas.openxmlformats.org/drawingml/2006/main">
              <a:ext uri="{FF2B5EF4-FFF2-40B4-BE49-F238E27FC236}">
                <a16:creationId xmlns:a16="http://schemas.microsoft.com/office/drawing/2014/main" id="{68074AAB-F8EA-42F8-8518-92951DB780AE}"/>
              </a:ext>
            </a:extLst>
          </p:cNvPr>
          <p:cNvSpPr>
            <a:spLocks xmlns:a="http://schemas.openxmlformats.org/drawingml/2006/main" noGrp="1"/>
          </p:cNvSpPr>
          <p:nvPr/>
        </p:nvSpPr>
        <p:spPr>
          <a:xfrm xmlns:a="http://schemas.openxmlformats.org/drawingml/2006/main">
            <a:off x="714375" y="4648200"/>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2D63FF"/>
                </a:solidFill>
                <a:latin typeface="DejaVu Sans"/>
                <a:ea typeface="DejaVu Sans"/>
                <a:cs typeface="DejaVu Sans"/>
              </a:defRPr>
            </a:pPr>
            <a:r>
              <a:rPr sz="1950" b="0">
                <a:solidFill>
                  <a:srgbClr val="2D63FF"/>
                </a:solidFill>
                <a:latin typeface="DejaVu Sans"/>
                <a:ea typeface="DejaVu Sans"/>
                <a:cs typeface="DejaVu Sans"/>
              </a:rPr>
              <a:t>Compare shared memory with the separate instruction and data memories in Harvard architecture.</a:t>
            </a:r>
          </a:p>
        </p:txBody>
      </p:sp>
    </p:spTree>
    <p:extLst>
      <p:ext uri="{BB962C8B-B14F-4D97-AF65-F5344CB8AC3E}">
        <p14:creationId xmlns:p14="http://schemas.microsoft.com/office/powerpoint/2010/main" val="14866631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footer background">
            <a:extLst xmlns:a="http://schemas.openxmlformats.org/drawingml/2006/main">
              <a:ext uri="{FF2B5EF4-FFF2-40B4-BE49-F238E27FC236}">
                <a16:creationId xmlns:a16="http://schemas.microsoft.com/office/drawing/2014/main" id="{52AE200F-BD5B-484C-89A7-2CE289B7D43E}"/>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D1F7B63C-14D0-450E-A954-E9CE0B18182D}"/>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EXTENSION</a:t>
            </a:r>
          </a:p>
        </p:txBody>
      </p:sp>
      <p:sp>
        <p:nvSpPr>
          <p:cNvPr id="3" name="heading">
            <a:extLst xmlns:a="http://schemas.openxmlformats.org/drawingml/2006/main">
              <a:ext uri="{FF2B5EF4-FFF2-40B4-BE49-F238E27FC236}">
                <a16:creationId xmlns:a16="http://schemas.microsoft.com/office/drawing/2014/main" id="{F1BAAF80-2AB1-4AD5-847F-B1498ED387D1}"/>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Check and improve</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5c4b1b691e74825"/>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D07DDD7C-8DD8-4908-843E-305A50F9D777}"/>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9 / 18</a:t>
            </a:r>
          </a:p>
        </p:txBody>
      </p:sp>
      <p:sp>
        <p:nvSpPr>
          <p:cNvPr id="6" name="extension-two">
            <a:extLst xmlns:a="http://schemas.openxmlformats.org/drawingml/2006/main">
              <a:ext uri="{FF2B5EF4-FFF2-40B4-BE49-F238E27FC236}">
                <a16:creationId xmlns:a16="http://schemas.microsoft.com/office/drawing/2014/main" id="{1C61F606-73B8-4676-BFBD-2E73E9D59599}"/>
              </a:ext>
            </a:extLst>
          </p:cNvPr>
          <p:cNvSpPr>
            <a:spLocks xmlns:a="http://schemas.openxmlformats.org/drawingml/2006/main" noGrp="1"/>
          </p:cNvSpPr>
          <p:nvPr/>
        </p:nvSpPr>
        <p:spPr>
          <a:xfrm xmlns:a="http://schemas.openxmlformats.org/drawingml/2006/main">
            <a:off x="704850" y="2676525"/>
            <a:ext cx="10620375" cy="1752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101828"/>
                </a:solidFill>
                <a:latin typeface="DejaVu Sans"/>
                <a:ea typeface="DejaVu Sans"/>
                <a:cs typeface="DejaVu Sans"/>
              </a:defRPr>
            </a:pPr>
            <a:r>
              <a:rPr sz="2400" b="1">
                <a:solidFill>
                  <a:srgbClr val="101828"/>
                </a:solidFill>
                <a:latin typeface="DejaVu Sans"/>
                <a:ea typeface="DejaVu Sans"/>
                <a:cs typeface="DejaVu Sans"/>
              </a:rPr>
              <a:t>Explain MAR and MDR in one sentence each. Then describe what the control unit does during decode.</a:t>
            </a:r>
          </a:p>
        </p:txBody>
      </p:sp>
    </p:spTree>
    <p:extLst>
      <p:ext uri="{BB962C8B-B14F-4D97-AF65-F5344CB8AC3E}">
        <p14:creationId xmlns:p14="http://schemas.microsoft.com/office/powerpoint/2010/main" val="714156413"/>
      </p:ext>
    </p:extLst>
  </p:cSld>
</p:sld>
</file>

<file path=ppt/slides/slide10.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8152AF6B-0D36-4977-AF4A-08097A437BDC}"/>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A032261E-B266-407D-9581-5DC9D28D04A3}"/>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CHECK</a:t>
            </a:r>
          </a:p>
        </p:txBody>
      </p:sp>
      <p:sp>
        <p:nvSpPr>
          <p:cNvPr id="3" name="heading">
            <a:extLst xmlns:a="http://schemas.openxmlformats.org/drawingml/2006/main">
              <a:ext uri="{FF2B5EF4-FFF2-40B4-BE49-F238E27FC236}">
                <a16:creationId xmlns:a16="http://schemas.microsoft.com/office/drawing/2014/main" id="{560B4466-47E0-4379-BB75-C3D07A68E3B9}"/>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Application: sample answers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788d3f526e94ced"/>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D4432DD4-94E1-4ED9-BE1E-9943E4807F75}"/>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10 / 18</a:t>
            </a:r>
          </a:p>
        </p:txBody>
      </p:sp>
      <p:sp>
        <p:nvSpPr>
          <p:cNvPr id="6" name="extension-check">
            <a:extLst xmlns:a="http://schemas.openxmlformats.org/drawingml/2006/main">
              <a:ext uri="{FF2B5EF4-FFF2-40B4-BE49-F238E27FC236}">
                <a16:creationId xmlns:a16="http://schemas.microsoft.com/office/drawing/2014/main" id="{D6BA3D24-E84D-4F8C-8CFA-9982826D5D70}"/>
              </a:ext>
            </a:extLst>
          </p:cNvPr>
          <p:cNvSpPr>
            <a:spLocks xmlns:a="http://schemas.openxmlformats.org/drawingml/2006/main" noGrp="1"/>
          </p:cNvSpPr>
          <p:nvPr/>
        </p:nvSpPr>
        <p:spPr>
          <a:xfrm xmlns:a="http://schemas.openxmlformats.org/drawingml/2006/main">
            <a:off x="704850" y="1533525"/>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reasoning, then improve one sentence on your worksheet.</a:t>
            </a:r>
          </a:p>
        </p:txBody>
      </p:sp>
      <p:sp>
        <p:nvSpPr>
          <p:cNvPr id="7" name="answer-application">
            <a:extLst xmlns:a="http://schemas.openxmlformats.org/drawingml/2006/main">
              <a:ext uri="{FF2B5EF4-FFF2-40B4-BE49-F238E27FC236}">
                <a16:creationId xmlns:a16="http://schemas.microsoft.com/office/drawing/2014/main" id="{2940D4DC-1478-44BF-82D9-88F12FA14E7D}"/>
              </a:ext>
            </a:extLst>
          </p:cNvPr>
          <p:cNvSpPr>
            <a:spLocks xmlns:a="http://schemas.openxmlformats.org/drawingml/2006/main" noGrp="1"/>
          </p:cNvSpPr>
          <p:nvPr/>
        </p:nvSpPr>
        <p:spPr>
          <a:xfrm xmlns:a="http://schemas.openxmlformats.org/drawingml/2006/main">
            <a:off x="723900" y="23050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Application</a:t>
            </a:r>
          </a:p>
        </p:txBody>
      </p:sp>
      <p:sp>
        <p:nvSpPr>
          <p:cNvPr id="8" name="answer-application-body">
            <a:extLst xmlns:a="http://schemas.openxmlformats.org/drawingml/2006/main">
              <a:ext uri="{FF2B5EF4-FFF2-40B4-BE49-F238E27FC236}">
                <a16:creationId xmlns:a16="http://schemas.microsoft.com/office/drawing/2014/main" id="{3466F049-8A52-4580-A0C4-748050F19CB1}"/>
              </a:ext>
            </a:extLst>
          </p:cNvPr>
          <p:cNvSpPr>
            <a:spLocks xmlns:a="http://schemas.openxmlformats.org/drawingml/2006/main" noGrp="1"/>
          </p:cNvSpPr>
          <p:nvPr/>
        </p:nvSpPr>
        <p:spPr>
          <a:xfrm xmlns:a="http://schemas.openxmlformats.org/drawingml/2006/main">
            <a:off x="723900" y="2771775"/>
            <a:ext cx="104775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Loading a new stored program into main memory lets the same CPU run a new task. Harvard architecture separates instruction and data memories.</a:t>
            </a:r>
          </a:p>
        </p:txBody>
      </p:sp>
      <p:sp>
        <p:nvSpPr>
          <p:cNvPr id="9" name="answer-stretch">
            <a:extLst xmlns:a="http://schemas.openxmlformats.org/drawingml/2006/main">
              <a:ext uri="{FF2B5EF4-FFF2-40B4-BE49-F238E27FC236}">
                <a16:creationId xmlns:a16="http://schemas.microsoft.com/office/drawing/2014/main" id="{53BB21EC-1DAB-4BDC-AC5E-C03E50C2D59D}"/>
              </a:ext>
            </a:extLst>
          </p:cNvPr>
          <p:cNvSpPr>
            <a:spLocks xmlns:a="http://schemas.openxmlformats.org/drawingml/2006/main" noGrp="1"/>
          </p:cNvSpPr>
          <p:nvPr/>
        </p:nvSpPr>
        <p:spPr>
          <a:xfrm xmlns:a="http://schemas.openxmlformats.org/drawingml/2006/main">
            <a:off x="723900" y="43529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Check and stretch</a:t>
            </a:r>
          </a:p>
        </p:txBody>
      </p:sp>
      <p:sp>
        <p:nvSpPr>
          <p:cNvPr id="10" name="answer-stretch-body">
            <a:extLst xmlns:a="http://schemas.openxmlformats.org/drawingml/2006/main">
              <a:ext uri="{FF2B5EF4-FFF2-40B4-BE49-F238E27FC236}">
                <a16:creationId xmlns:a16="http://schemas.microsoft.com/office/drawing/2014/main" id="{9D03C784-6FBD-464F-B751-2B4534F16C0E}"/>
              </a:ext>
            </a:extLst>
          </p:cNvPr>
          <p:cNvSpPr>
            <a:spLocks xmlns:a="http://schemas.openxmlformats.org/drawingml/2006/main" noGrp="1"/>
          </p:cNvSpPr>
          <p:nvPr/>
        </p:nvSpPr>
        <p:spPr>
          <a:xfrm xmlns:a="http://schemas.openxmlformats.org/drawingml/2006/main">
            <a:off x="723900" y="4810125"/>
            <a:ext cx="104775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MAR holds the memory address. MDR holds data or an instruction moving to or from memory. The control unit interprets the instruction during decode.</a:t>
            </a:r>
          </a:p>
        </p:txBody>
      </p:sp>
    </p:spTree>
    <p:extLst>
      <p:ext uri="{BB962C8B-B14F-4D97-AF65-F5344CB8AC3E}">
        <p14:creationId xmlns:p14="http://schemas.microsoft.com/office/powerpoint/2010/main" val="420910806"/>
      </p:ext>
    </p:extLst>
  </p:cSld>
</p:sld>
</file>

<file path=ppt/slides/slide11.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9057229C-36D6-4DA2-94EC-66A54B40E6D6}"/>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4E2CD950-A1CC-4B79-9B47-FB12D1AC4F9D}"/>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ANSWERS</a:t>
            </a:r>
          </a:p>
        </p:txBody>
      </p:sp>
      <p:sp>
        <p:nvSpPr>
          <p:cNvPr id="3" name="heading">
            <a:extLst xmlns:a="http://schemas.openxmlformats.org/drawingml/2006/main">
              <a:ext uri="{FF2B5EF4-FFF2-40B4-BE49-F238E27FC236}">
                <a16:creationId xmlns:a16="http://schemas.microsoft.com/office/drawing/2014/main" id="{74700F52-5086-4870-8BA1-402E2D05CD6A}"/>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1–3</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e3e1fc2e24dc4441"/>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E577564-F8B4-4E70-A107-C80CFCFF8E8E}"/>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11 / 18</a:t>
            </a:r>
          </a:p>
        </p:txBody>
      </p:sp>
      <p:sp>
        <p:nvSpPr>
          <p:cNvPr id="6" name="check-stations">
            <a:extLst xmlns:a="http://schemas.openxmlformats.org/drawingml/2006/main">
              <a:ext uri="{FF2B5EF4-FFF2-40B4-BE49-F238E27FC236}">
                <a16:creationId xmlns:a16="http://schemas.microsoft.com/office/drawing/2014/main" id="{DCBDB201-1407-4BBE-93D2-F84A3675456C}"/>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0">
            <a:extLst xmlns:a="http://schemas.openxmlformats.org/drawingml/2006/main">
              <a:ext uri="{FF2B5EF4-FFF2-40B4-BE49-F238E27FC236}">
                <a16:creationId xmlns:a16="http://schemas.microsoft.com/office/drawing/2014/main" id="{B6CF333D-3A13-44A1-8BF8-DF012ADEEEAC}"/>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  John von Neumann</a:t>
            </a:r>
          </a:p>
        </p:txBody>
      </p:sp>
      <p:sp>
        <p:nvSpPr>
          <p:cNvPr id="8" name="station-answer-0">
            <a:extLst xmlns:a="http://schemas.openxmlformats.org/drawingml/2006/main">
              <a:ext uri="{FF2B5EF4-FFF2-40B4-BE49-F238E27FC236}">
                <a16:creationId xmlns:a16="http://schemas.microsoft.com/office/drawing/2014/main" id="{159CF7A9-4835-4564-A7DE-EF5425A66FC9}"/>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John von Neumann described a stored-program computer design in 1945.</a:t>
            </a:r>
          </a:p>
        </p:txBody>
      </p:sp>
      <p:sp>
        <p:nvSpPr>
          <p:cNvPr id="9" name="station-name-1">
            <a:extLst xmlns:a="http://schemas.openxmlformats.org/drawingml/2006/main">
              <a:ext uri="{FF2B5EF4-FFF2-40B4-BE49-F238E27FC236}">
                <a16:creationId xmlns:a16="http://schemas.microsoft.com/office/drawing/2014/main" id="{197AB02B-7FA3-4849-9D56-570E2D5465B8}"/>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  The stored-program concept</a:t>
            </a:r>
          </a:p>
        </p:txBody>
      </p:sp>
      <p:sp>
        <p:nvSpPr>
          <p:cNvPr id="10" name="station-answer-1">
            <a:extLst xmlns:a="http://schemas.openxmlformats.org/drawingml/2006/main">
              <a:ext uri="{FF2B5EF4-FFF2-40B4-BE49-F238E27FC236}">
                <a16:creationId xmlns:a16="http://schemas.microsoft.com/office/drawing/2014/main" id="{1F2EE935-3590-4FBE-8D9E-F48DD26E2051}"/>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Instructions and data share main memory. Loading a different program changes what the computer does.</a:t>
            </a:r>
          </a:p>
        </p:txBody>
      </p:sp>
      <p:sp>
        <p:nvSpPr>
          <p:cNvPr id="11" name="station-name-2">
            <a:extLst xmlns:a="http://schemas.openxmlformats.org/drawingml/2006/main">
              <a:ext uri="{FF2B5EF4-FFF2-40B4-BE49-F238E27FC236}">
                <a16:creationId xmlns:a16="http://schemas.microsoft.com/office/drawing/2014/main" id="{C341F339-1E94-4D44-9A5C-5849C0DDD951}"/>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  Program counter and accumulator</a:t>
            </a:r>
          </a:p>
        </p:txBody>
      </p:sp>
      <p:sp>
        <p:nvSpPr>
          <p:cNvPr id="12" name="station-answer-2">
            <a:extLst xmlns:a="http://schemas.openxmlformats.org/drawingml/2006/main">
              <a:ext uri="{FF2B5EF4-FFF2-40B4-BE49-F238E27FC236}">
                <a16:creationId xmlns:a16="http://schemas.microsoft.com/office/drawing/2014/main" id="{DAF5DDFE-3FA1-4336-8E3C-3B1B7C02DF9B}"/>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PC holds the next instruction address and increments; accumulator holds calculation results.</a:t>
            </a:r>
          </a:p>
        </p:txBody>
      </p:sp>
    </p:spTree>
    <p:extLst>
      <p:ext uri="{BB962C8B-B14F-4D97-AF65-F5344CB8AC3E}">
        <p14:creationId xmlns:p14="http://schemas.microsoft.com/office/powerpoint/2010/main" val="426200917"/>
      </p:ext>
    </p:extLst>
  </p:cSld>
</p:sld>
</file>

<file path=ppt/slides/slide12.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5CF4BCF2-6D2A-44E8-AB3E-777B908E9D2D}"/>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4D0BC3A3-67DC-43A3-BD9B-697509BE1522}"/>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ANSWERS</a:t>
            </a:r>
          </a:p>
        </p:txBody>
      </p:sp>
      <p:sp>
        <p:nvSpPr>
          <p:cNvPr id="3" name="heading">
            <a:extLst xmlns:a="http://schemas.openxmlformats.org/drawingml/2006/main">
              <a:ext uri="{FF2B5EF4-FFF2-40B4-BE49-F238E27FC236}">
                <a16:creationId xmlns:a16="http://schemas.microsoft.com/office/drawing/2014/main" id="{278AFFB4-A92D-4552-AA64-4C66081CCA98}"/>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After the experience: stations 4–6</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ed642058484d4eab"/>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52FFCCAE-5CE1-4264-88A0-103E266CA78E}"/>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12 / 18</a:t>
            </a:r>
          </a:p>
        </p:txBody>
      </p:sp>
      <p:sp>
        <p:nvSpPr>
          <p:cNvPr id="6" name="check-stations">
            <a:extLst xmlns:a="http://schemas.openxmlformats.org/drawingml/2006/main">
              <a:ext uri="{FF2B5EF4-FFF2-40B4-BE49-F238E27FC236}">
                <a16:creationId xmlns:a16="http://schemas.microsoft.com/office/drawing/2014/main" id="{E3319770-694F-49A4-A8A8-4CA47F8F4946}"/>
              </a:ext>
            </a:extLst>
          </p:cNvPr>
          <p:cNvSpPr>
            <a:spLocks xmlns:a="http://schemas.openxmlformats.org/drawingml/2006/main" noGrp="1"/>
          </p:cNvSpPr>
          <p:nvPr/>
        </p:nvSpPr>
        <p:spPr>
          <a:xfrm xmlns:a="http://schemas.openxmlformats.org/drawingml/2006/main">
            <a:off x="704850" y="15430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Check your key facts and challenge responses.</a:t>
            </a:r>
          </a:p>
        </p:txBody>
      </p:sp>
      <p:sp>
        <p:nvSpPr>
          <p:cNvPr id="7" name="station-name-3">
            <a:extLst xmlns:a="http://schemas.openxmlformats.org/drawingml/2006/main">
              <a:ext uri="{FF2B5EF4-FFF2-40B4-BE49-F238E27FC236}">
                <a16:creationId xmlns:a16="http://schemas.microsoft.com/office/drawing/2014/main" id="{805B57D0-BA9B-49F8-9F87-28862ECDB812}"/>
              </a:ext>
            </a:extLst>
          </p:cNvPr>
          <p:cNvSpPr>
            <a:spLocks xmlns:a="http://schemas.openxmlformats.org/drawingml/2006/main" noGrp="1"/>
          </p:cNvSpPr>
          <p:nvPr/>
        </p:nvSpPr>
        <p:spPr>
          <a:xfrm xmlns:a="http://schemas.openxmlformats.org/drawingml/2006/main">
            <a:off x="723900" y="22098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4  MAR and MDR</a:t>
            </a:r>
          </a:p>
        </p:txBody>
      </p:sp>
      <p:sp>
        <p:nvSpPr>
          <p:cNvPr id="8" name="station-answer-3">
            <a:extLst xmlns:a="http://schemas.openxmlformats.org/drawingml/2006/main">
              <a:ext uri="{FF2B5EF4-FFF2-40B4-BE49-F238E27FC236}">
                <a16:creationId xmlns:a16="http://schemas.microsoft.com/office/drawing/2014/main" id="{96CFB676-48E4-4AED-96BC-A38F9822C2FE}"/>
              </a:ext>
            </a:extLst>
          </p:cNvPr>
          <p:cNvSpPr>
            <a:spLocks xmlns:a="http://schemas.openxmlformats.org/drawingml/2006/main" noGrp="1"/>
          </p:cNvSpPr>
          <p:nvPr/>
        </p:nvSpPr>
        <p:spPr>
          <a:xfrm xmlns:a="http://schemas.openxmlformats.org/drawingml/2006/main">
            <a:off x="723900" y="263842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MAR holds the memory address. MDR holds data or an instruction moving between CPU and main memory.</a:t>
            </a:r>
          </a:p>
        </p:txBody>
      </p:sp>
      <p:sp>
        <p:nvSpPr>
          <p:cNvPr id="9" name="station-name-4">
            <a:extLst xmlns:a="http://schemas.openxmlformats.org/drawingml/2006/main">
              <a:ext uri="{FF2B5EF4-FFF2-40B4-BE49-F238E27FC236}">
                <a16:creationId xmlns:a16="http://schemas.microsoft.com/office/drawing/2014/main" id="{9FCB9FD8-26D5-402C-92EF-CC41B459E419}"/>
              </a:ext>
            </a:extLst>
          </p:cNvPr>
          <p:cNvSpPr>
            <a:spLocks xmlns:a="http://schemas.openxmlformats.org/drawingml/2006/main" noGrp="1"/>
          </p:cNvSpPr>
          <p:nvPr/>
        </p:nvSpPr>
        <p:spPr>
          <a:xfrm xmlns:a="http://schemas.openxmlformats.org/drawingml/2006/main">
            <a:off x="723900" y="353377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5  Other architectures</a:t>
            </a:r>
          </a:p>
        </p:txBody>
      </p:sp>
      <p:sp>
        <p:nvSpPr>
          <p:cNvPr id="10" name="station-answer-4">
            <a:extLst xmlns:a="http://schemas.openxmlformats.org/drawingml/2006/main">
              <a:ext uri="{FF2B5EF4-FFF2-40B4-BE49-F238E27FC236}">
                <a16:creationId xmlns:a16="http://schemas.microsoft.com/office/drawing/2014/main" id="{E61997D8-71C6-492C-8CA1-887C2F63718D}"/>
              </a:ext>
            </a:extLst>
          </p:cNvPr>
          <p:cNvSpPr>
            <a:spLocks xmlns:a="http://schemas.openxmlformats.org/drawingml/2006/main" noGrp="1"/>
          </p:cNvSpPr>
          <p:nvPr/>
        </p:nvSpPr>
        <p:spPr>
          <a:xfrm xmlns:a="http://schemas.openxmlformats.org/drawingml/2006/main">
            <a:off x="723900" y="3962400"/>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Harvard architecture keeps instructions and data in separate memories; microcontrollers often use it.</a:t>
            </a:r>
          </a:p>
        </p:txBody>
      </p:sp>
      <p:sp>
        <p:nvSpPr>
          <p:cNvPr id="11" name="station-name-5">
            <a:extLst xmlns:a="http://schemas.openxmlformats.org/drawingml/2006/main">
              <a:ext uri="{FF2B5EF4-FFF2-40B4-BE49-F238E27FC236}">
                <a16:creationId xmlns:a16="http://schemas.microsoft.com/office/drawing/2014/main" id="{96CA2DA0-3B95-4E15-8F9A-464B7ECC4831}"/>
              </a:ext>
            </a:extLst>
          </p:cNvPr>
          <p:cNvSpPr>
            <a:spLocks xmlns:a="http://schemas.openxmlformats.org/drawingml/2006/main" noGrp="1"/>
          </p:cNvSpPr>
          <p:nvPr/>
        </p:nvSpPr>
        <p:spPr>
          <a:xfrm xmlns:a="http://schemas.openxmlformats.org/drawingml/2006/main">
            <a:off x="723900" y="4857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6  Keywords</a:t>
            </a:r>
          </a:p>
        </p:txBody>
      </p:sp>
      <p:sp>
        <p:nvSpPr>
          <p:cNvPr id="12" name="station-answer-5">
            <a:extLst xmlns:a="http://schemas.openxmlformats.org/drawingml/2006/main">
              <a:ext uri="{FF2B5EF4-FFF2-40B4-BE49-F238E27FC236}">
                <a16:creationId xmlns:a16="http://schemas.microsoft.com/office/drawing/2014/main" id="{23919343-3D0B-4EE7-9EDD-CA82477559FA}"/>
              </a:ext>
            </a:extLst>
          </p:cNvPr>
          <p:cNvSpPr>
            <a:spLocks xmlns:a="http://schemas.openxmlformats.org/drawingml/2006/main" noGrp="1"/>
          </p:cNvSpPr>
          <p:nvPr/>
        </p:nvSpPr>
        <p:spPr>
          <a:xfrm xmlns:a="http://schemas.openxmlformats.org/drawingml/2006/main">
            <a:off x="723900" y="5286375"/>
            <a:ext cx="10477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01828"/>
                </a:solidFill>
                <a:latin typeface="DejaVu Sans"/>
                <a:ea typeface="DejaVu Sans"/>
                <a:cs typeface="DejaVu Sans"/>
              </a:defRPr>
            </a:pPr>
            <a:r>
              <a:rPr sz="1800" b="0">
                <a:solidFill>
                  <a:srgbClr val="101828"/>
                </a:solidFill>
                <a:latin typeface="DejaVu Sans"/>
                <a:ea typeface="DejaVu Sans"/>
                <a:cs typeface="DejaVu Sans"/>
              </a:rPr>
              <a:t>For example, while repeats a loop, if tests a condition, and for iterates. Keywords are reserved.</a:t>
            </a:r>
          </a:p>
        </p:txBody>
      </p:sp>
    </p:spTree>
    <p:extLst>
      <p:ext uri="{BB962C8B-B14F-4D97-AF65-F5344CB8AC3E}">
        <p14:creationId xmlns:p14="http://schemas.microsoft.com/office/powerpoint/2010/main" val="315620645"/>
      </p:ext>
    </p:extLst>
  </p:cSld>
</p:sld>
</file>

<file path=ppt/slides/slide13.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21" name="footer background">
            <a:extLst xmlns:a="http://schemas.openxmlformats.org/drawingml/2006/main">
              <a:ext uri="{FF2B5EF4-FFF2-40B4-BE49-F238E27FC236}">
                <a16:creationId xmlns:a16="http://schemas.microsoft.com/office/drawing/2014/main" id="{6ED1100E-FDB9-4BEC-91A8-4D3DB2AD8F32}"/>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362F29CB-E650-4675-87B2-0902BFE1939F}"/>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CHECK</a:t>
            </a:r>
          </a:p>
        </p:txBody>
      </p:sp>
      <p:sp>
        <p:nvSpPr>
          <p:cNvPr id="3" name="heading">
            <a:extLst xmlns:a="http://schemas.openxmlformats.org/drawingml/2006/main">
              <a:ext uri="{FF2B5EF4-FFF2-40B4-BE49-F238E27FC236}">
                <a16:creationId xmlns:a16="http://schemas.microsoft.com/office/drawing/2014/main" id="{CF137D10-D343-4C6F-8629-AC909A5329FE}"/>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Final challenge: answers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e9b99c893e94f90"/>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9BDA26EE-55AD-4DDA-B6B0-74B5DB9E27D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13 / 18</a:t>
            </a:r>
          </a:p>
        </p:txBody>
      </p:sp>
      <p:sp>
        <p:nvSpPr>
          <p:cNvPr id="6" name="star-key">
            <a:extLst xmlns:a="http://schemas.openxmlformats.org/drawingml/2006/main">
              <a:ext uri="{FF2B5EF4-FFF2-40B4-BE49-F238E27FC236}">
                <a16:creationId xmlns:a16="http://schemas.microsoft.com/office/drawing/2014/main" id="{D83551CA-A4EE-4737-898F-394430AF7BD7}"/>
              </a:ext>
            </a:extLst>
          </p:cNvPr>
          <p:cNvSpPr>
            <a:spLocks xmlns:a="http://schemas.openxmlformats.org/drawingml/2006/main" noGrp="1"/>
          </p:cNvSpPr>
          <p:nvPr/>
        </p:nvSpPr>
        <p:spPr>
          <a:xfrm xmlns:a="http://schemas.openxmlformats.org/drawingml/2006/main">
            <a:off x="704850" y="152400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Compare your star challenge table with the answers below.</a:t>
            </a:r>
          </a:p>
        </p:txBody>
      </p:sp>
      <p:sp>
        <p:nvSpPr>
          <p:cNvPr id="7" name="number-1">
            <a:extLst xmlns:a="http://schemas.openxmlformats.org/drawingml/2006/main">
              <a:ext uri="{FF2B5EF4-FFF2-40B4-BE49-F238E27FC236}">
                <a16:creationId xmlns:a16="http://schemas.microsoft.com/office/drawing/2014/main" id="{7E3DE421-8E73-470B-927A-EF8F3D3A2FD9}"/>
              </a:ext>
            </a:extLst>
          </p:cNvPr>
          <p:cNvSpPr>
            <a:spLocks xmlns:a="http://schemas.openxmlformats.org/drawingml/2006/main" noGrp="1"/>
          </p:cNvSpPr>
          <p:nvPr/>
        </p:nvSpPr>
        <p:spPr>
          <a:xfrm xmlns:a="http://schemas.openxmlformats.org/drawingml/2006/main">
            <a:off x="723900" y="2105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13DF4384-2FF0-47D1-B70E-2EFB58960A99}"/>
              </a:ext>
            </a:extLst>
          </p:cNvPr>
          <p:cNvSpPr>
            <a:spLocks xmlns:a="http://schemas.openxmlformats.org/drawingml/2006/main" noGrp="1"/>
          </p:cNvSpPr>
          <p:nvPr/>
        </p:nvSpPr>
        <p:spPr>
          <a:xfrm xmlns:a="http://schemas.openxmlformats.org/drawingml/2006/main">
            <a:off x="1352550" y="2105025"/>
            <a:ext cx="99250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Program counter: next instruction address</a:t>
            </a:r>
          </a:p>
        </p:txBody>
      </p:sp>
      <p:sp>
        <p:nvSpPr>
          <p:cNvPr id="9" name="number-2">
            <a:extLst xmlns:a="http://schemas.openxmlformats.org/drawingml/2006/main">
              <a:ext uri="{FF2B5EF4-FFF2-40B4-BE49-F238E27FC236}">
                <a16:creationId xmlns:a16="http://schemas.microsoft.com/office/drawing/2014/main" id="{4FF479C6-3800-4681-B37B-C86E35942D87}"/>
              </a:ext>
            </a:extLst>
          </p:cNvPr>
          <p:cNvSpPr>
            <a:spLocks xmlns:a="http://schemas.openxmlformats.org/drawingml/2006/main" noGrp="1"/>
          </p:cNvSpPr>
          <p:nvPr/>
        </p:nvSpPr>
        <p:spPr>
          <a:xfrm xmlns:a="http://schemas.openxmlformats.org/drawingml/2006/main">
            <a:off x="723900" y="26670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3942EB3E-9053-40BE-A1BD-93084E39C95F}"/>
              </a:ext>
            </a:extLst>
          </p:cNvPr>
          <p:cNvSpPr>
            <a:spLocks xmlns:a="http://schemas.openxmlformats.org/drawingml/2006/main" noGrp="1"/>
          </p:cNvSpPr>
          <p:nvPr/>
        </p:nvSpPr>
        <p:spPr>
          <a:xfrm xmlns:a="http://schemas.openxmlformats.org/drawingml/2006/main">
            <a:off x="1352550" y="2667000"/>
            <a:ext cx="99250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Control unit: decodes and controls</a:t>
            </a:r>
          </a:p>
        </p:txBody>
      </p:sp>
      <p:sp>
        <p:nvSpPr>
          <p:cNvPr id="11" name="number-3">
            <a:extLst xmlns:a="http://schemas.openxmlformats.org/drawingml/2006/main">
              <a:ext uri="{FF2B5EF4-FFF2-40B4-BE49-F238E27FC236}">
                <a16:creationId xmlns:a16="http://schemas.microsoft.com/office/drawing/2014/main" id="{26B4204B-5F71-4B93-8E7B-B701FB1BA27A}"/>
              </a:ext>
            </a:extLst>
          </p:cNvPr>
          <p:cNvSpPr>
            <a:spLocks xmlns:a="http://schemas.openxmlformats.org/drawingml/2006/main" noGrp="1"/>
          </p:cNvSpPr>
          <p:nvPr/>
        </p:nvSpPr>
        <p:spPr>
          <a:xfrm xmlns:a="http://schemas.openxmlformats.org/drawingml/2006/main">
            <a:off x="723900" y="32289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4C97C65A-922B-4780-BBAC-71069C3CCD7F}"/>
              </a:ext>
            </a:extLst>
          </p:cNvPr>
          <p:cNvSpPr>
            <a:spLocks xmlns:a="http://schemas.openxmlformats.org/drawingml/2006/main" noGrp="1"/>
          </p:cNvSpPr>
          <p:nvPr/>
        </p:nvSpPr>
        <p:spPr>
          <a:xfrm xmlns:a="http://schemas.openxmlformats.org/drawingml/2006/main">
            <a:off x="1352550" y="3228975"/>
            <a:ext cx="99250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MAR: memory address</a:t>
            </a:r>
          </a:p>
        </p:txBody>
      </p:sp>
      <p:sp>
        <p:nvSpPr>
          <p:cNvPr id="13" name="number-4">
            <a:extLst xmlns:a="http://schemas.openxmlformats.org/drawingml/2006/main">
              <a:ext uri="{FF2B5EF4-FFF2-40B4-BE49-F238E27FC236}">
                <a16:creationId xmlns:a16="http://schemas.microsoft.com/office/drawing/2014/main" id="{804C80C5-9BDD-4DCD-90EB-ABCCBFE82685}"/>
              </a:ext>
            </a:extLst>
          </p:cNvPr>
          <p:cNvSpPr>
            <a:spLocks xmlns:a="http://schemas.openxmlformats.org/drawingml/2006/main" noGrp="1"/>
          </p:cNvSpPr>
          <p:nvPr/>
        </p:nvSpPr>
        <p:spPr>
          <a:xfrm xmlns:a="http://schemas.openxmlformats.org/drawingml/2006/main">
            <a:off x="723900" y="37909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4.</a:t>
            </a:r>
          </a:p>
        </p:txBody>
      </p:sp>
      <p:sp>
        <p:nvSpPr>
          <p:cNvPr id="14" name="item-4">
            <a:extLst xmlns:a="http://schemas.openxmlformats.org/drawingml/2006/main">
              <a:ext uri="{FF2B5EF4-FFF2-40B4-BE49-F238E27FC236}">
                <a16:creationId xmlns:a16="http://schemas.microsoft.com/office/drawing/2014/main" id="{7B03AA0B-B349-4663-BECD-384F8CEC1A11}"/>
              </a:ext>
            </a:extLst>
          </p:cNvPr>
          <p:cNvSpPr>
            <a:spLocks xmlns:a="http://schemas.openxmlformats.org/drawingml/2006/main" noGrp="1"/>
          </p:cNvSpPr>
          <p:nvPr/>
        </p:nvSpPr>
        <p:spPr>
          <a:xfrm xmlns:a="http://schemas.openxmlformats.org/drawingml/2006/main">
            <a:off x="1352550" y="3790950"/>
            <a:ext cx="99250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ALU: arithmetic and logic</a:t>
            </a:r>
          </a:p>
        </p:txBody>
      </p:sp>
      <p:sp>
        <p:nvSpPr>
          <p:cNvPr id="15" name="number-5">
            <a:extLst xmlns:a="http://schemas.openxmlformats.org/drawingml/2006/main">
              <a:ext uri="{FF2B5EF4-FFF2-40B4-BE49-F238E27FC236}">
                <a16:creationId xmlns:a16="http://schemas.microsoft.com/office/drawing/2014/main" id="{889350D1-BCB9-4915-BBB1-21B2F45024D6}"/>
              </a:ext>
            </a:extLst>
          </p:cNvPr>
          <p:cNvSpPr>
            <a:spLocks xmlns:a="http://schemas.openxmlformats.org/drawingml/2006/main" noGrp="1"/>
          </p:cNvSpPr>
          <p:nvPr/>
        </p:nvSpPr>
        <p:spPr>
          <a:xfrm xmlns:a="http://schemas.openxmlformats.org/drawingml/2006/main">
            <a:off x="723900" y="43529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5.</a:t>
            </a:r>
          </a:p>
        </p:txBody>
      </p:sp>
      <p:sp>
        <p:nvSpPr>
          <p:cNvPr id="16" name="item-5">
            <a:extLst xmlns:a="http://schemas.openxmlformats.org/drawingml/2006/main">
              <a:ext uri="{FF2B5EF4-FFF2-40B4-BE49-F238E27FC236}">
                <a16:creationId xmlns:a16="http://schemas.microsoft.com/office/drawing/2014/main" id="{CF3197EB-69CC-4A1C-9D59-AE63FC31A07B}"/>
              </a:ext>
            </a:extLst>
          </p:cNvPr>
          <p:cNvSpPr>
            <a:spLocks xmlns:a="http://schemas.openxmlformats.org/drawingml/2006/main" noGrp="1"/>
          </p:cNvSpPr>
          <p:nvPr/>
        </p:nvSpPr>
        <p:spPr>
          <a:xfrm xmlns:a="http://schemas.openxmlformats.org/drawingml/2006/main">
            <a:off x="1352550" y="4352925"/>
            <a:ext cx="99250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MDR: data to or from memory</a:t>
            </a:r>
          </a:p>
        </p:txBody>
      </p:sp>
      <p:sp>
        <p:nvSpPr>
          <p:cNvPr id="17" name="number-6">
            <a:extLst xmlns:a="http://schemas.openxmlformats.org/drawingml/2006/main">
              <a:ext uri="{FF2B5EF4-FFF2-40B4-BE49-F238E27FC236}">
                <a16:creationId xmlns:a16="http://schemas.microsoft.com/office/drawing/2014/main" id="{EB34A705-606F-4829-BD20-BC8063721DFD}"/>
              </a:ext>
            </a:extLst>
          </p:cNvPr>
          <p:cNvSpPr>
            <a:spLocks xmlns:a="http://schemas.openxmlformats.org/drawingml/2006/main" noGrp="1"/>
          </p:cNvSpPr>
          <p:nvPr/>
        </p:nvSpPr>
        <p:spPr>
          <a:xfrm xmlns:a="http://schemas.openxmlformats.org/drawingml/2006/main">
            <a:off x="723900" y="4914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6.</a:t>
            </a:r>
          </a:p>
        </p:txBody>
      </p:sp>
      <p:sp>
        <p:nvSpPr>
          <p:cNvPr id="18" name="item-6">
            <a:extLst xmlns:a="http://schemas.openxmlformats.org/drawingml/2006/main">
              <a:ext uri="{FF2B5EF4-FFF2-40B4-BE49-F238E27FC236}">
                <a16:creationId xmlns:a16="http://schemas.microsoft.com/office/drawing/2014/main" id="{D638277D-D71A-43E4-8C4B-244961106611}"/>
              </a:ext>
            </a:extLst>
          </p:cNvPr>
          <p:cNvSpPr>
            <a:spLocks xmlns:a="http://schemas.openxmlformats.org/drawingml/2006/main" noGrp="1"/>
          </p:cNvSpPr>
          <p:nvPr/>
        </p:nvSpPr>
        <p:spPr>
          <a:xfrm xmlns:a="http://schemas.openxmlformats.org/drawingml/2006/main">
            <a:off x="1352550" y="4914900"/>
            <a:ext cx="99250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Accumulator: calculation results</a:t>
            </a:r>
          </a:p>
        </p:txBody>
      </p:sp>
      <p:sp>
        <p:nvSpPr>
          <p:cNvPr id="19" name="number-7">
            <a:extLst xmlns:a="http://schemas.openxmlformats.org/drawingml/2006/main">
              <a:ext uri="{FF2B5EF4-FFF2-40B4-BE49-F238E27FC236}">
                <a16:creationId xmlns:a16="http://schemas.microsoft.com/office/drawing/2014/main" id="{4C8B1F1F-6A4B-4B4F-A7A1-637986DFBE7B}"/>
              </a:ext>
            </a:extLst>
          </p:cNvPr>
          <p:cNvSpPr>
            <a:spLocks xmlns:a="http://schemas.openxmlformats.org/drawingml/2006/main" noGrp="1"/>
          </p:cNvSpPr>
          <p:nvPr/>
        </p:nvSpPr>
        <p:spPr>
          <a:xfrm xmlns:a="http://schemas.openxmlformats.org/drawingml/2006/main">
            <a:off x="723900" y="54768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D63FF"/>
                </a:solidFill>
                <a:latin typeface="DejaVu Sans"/>
                <a:ea typeface="DejaVu Sans"/>
                <a:cs typeface="DejaVu Sans"/>
              </a:defRPr>
            </a:pPr>
            <a:r>
              <a:rPr sz="1875" b="1">
                <a:solidFill>
                  <a:srgbClr val="2D63FF"/>
                </a:solidFill>
                <a:latin typeface="DejaVu Sans"/>
                <a:ea typeface="DejaVu Sans"/>
                <a:cs typeface="DejaVu Sans"/>
              </a:rPr>
              <a:t>7.</a:t>
            </a:r>
          </a:p>
        </p:txBody>
      </p:sp>
      <p:sp>
        <p:nvSpPr>
          <p:cNvPr id="20" name="item-7">
            <a:extLst xmlns:a="http://schemas.openxmlformats.org/drawingml/2006/main">
              <a:ext uri="{FF2B5EF4-FFF2-40B4-BE49-F238E27FC236}">
                <a16:creationId xmlns:a16="http://schemas.microsoft.com/office/drawing/2014/main" id="{AC115FEA-7B39-4449-B9CE-FBDFBA26A60B}"/>
              </a:ext>
            </a:extLst>
          </p:cNvPr>
          <p:cNvSpPr>
            <a:spLocks xmlns:a="http://schemas.openxmlformats.org/drawingml/2006/main" noGrp="1"/>
          </p:cNvSpPr>
          <p:nvPr/>
        </p:nvSpPr>
        <p:spPr>
          <a:xfrm xmlns:a="http://schemas.openxmlformats.org/drawingml/2006/main">
            <a:off x="1352550" y="5476875"/>
            <a:ext cx="99250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01828"/>
                </a:solidFill>
                <a:latin typeface="DejaVu Sans"/>
                <a:ea typeface="DejaVu Sans"/>
                <a:cs typeface="DejaVu Sans"/>
              </a:defRPr>
            </a:pPr>
            <a:r>
              <a:rPr sz="1875" b="0">
                <a:solidFill>
                  <a:srgbClr val="101828"/>
                </a:solidFill>
                <a:latin typeface="DejaVu Sans"/>
                <a:ea typeface="DejaVu Sans"/>
                <a:cs typeface="DejaVu Sans"/>
              </a:rPr>
              <a:t>Cache: frequently used data and instructions</a:t>
            </a:r>
          </a:p>
        </p:txBody>
      </p:sp>
    </p:spTree>
    <p:extLst>
      <p:ext uri="{BB962C8B-B14F-4D97-AF65-F5344CB8AC3E}">
        <p14:creationId xmlns:p14="http://schemas.microsoft.com/office/powerpoint/2010/main" val="139714091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ooter background">
            <a:extLst xmlns:a="http://schemas.openxmlformats.org/drawingml/2006/main">
              <a:ext uri="{FF2B5EF4-FFF2-40B4-BE49-F238E27FC236}">
                <a16:creationId xmlns:a16="http://schemas.microsoft.com/office/drawing/2014/main" id="{E87F11EF-7FFA-4408-A12E-DE89DAFFFFE5}"/>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60F0612D-C640-4EE1-B1B8-01C7EA804515}"/>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PLENARY</a:t>
            </a:r>
          </a:p>
        </p:txBody>
      </p:sp>
      <p:sp>
        <p:nvSpPr>
          <p:cNvPr id="3" name="heading">
            <a:extLst xmlns:a="http://schemas.openxmlformats.org/drawingml/2006/main">
              <a:ext uri="{FF2B5EF4-FFF2-40B4-BE49-F238E27FC236}">
                <a16:creationId xmlns:a16="http://schemas.microsoft.com/office/drawing/2014/main" id="{4753F620-EA17-4B0D-8C22-19D3E9F0299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questions (a–b)</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48398316e78b45dd"/>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09597770-0081-422D-9FD7-62D8449B1986}"/>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14 / 18</a:t>
            </a:r>
          </a:p>
        </p:txBody>
      </p:sp>
      <p:sp>
        <p:nvSpPr>
          <p:cNvPr id="6" name="plenary-instruction">
            <a:extLst xmlns:a="http://schemas.openxmlformats.org/drawingml/2006/main">
              <a:ext uri="{FF2B5EF4-FFF2-40B4-BE49-F238E27FC236}">
                <a16:creationId xmlns:a16="http://schemas.microsoft.com/office/drawing/2014/main" id="{B87D6E55-30AA-4CA3-B846-ED63D8CF9A45}"/>
              </a:ext>
            </a:extLst>
          </p:cNvPr>
          <p:cNvSpPr>
            <a:spLocks xmlns:a="http://schemas.openxmlformats.org/drawingml/2006/main" noGrp="1"/>
          </p:cNvSpPr>
          <p:nvPr/>
        </p:nvSpPr>
        <p:spPr>
          <a:xfrm xmlns:a="http://schemas.openxmlformats.org/drawingml/2006/main">
            <a:off x="704850" y="1562100"/>
            <a:ext cx="10715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Take the headset off or close the page. Answer from memory on the worksheet.</a:t>
            </a:r>
          </a:p>
        </p:txBody>
      </p:sp>
      <p:sp>
        <p:nvSpPr>
          <p:cNvPr id="7" name="a">
            <a:extLst xmlns:a="http://schemas.openxmlformats.org/drawingml/2006/main">
              <a:ext uri="{FF2B5EF4-FFF2-40B4-BE49-F238E27FC236}">
                <a16:creationId xmlns:a16="http://schemas.microsoft.com/office/drawing/2014/main" id="{FFC68F07-09BB-47F0-A613-9A8C0DDB99D3}"/>
              </a:ext>
            </a:extLst>
          </p:cNvPr>
          <p:cNvSpPr>
            <a:spLocks xmlns:a="http://schemas.openxmlformats.org/drawingml/2006/main" noGrp="1"/>
          </p:cNvSpPr>
          <p:nvPr/>
        </p:nvSpPr>
        <p:spPr>
          <a:xfrm xmlns:a="http://schemas.openxmlformats.org/drawingml/2006/main">
            <a:off x="733425" y="25812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a)</a:t>
            </a:r>
          </a:p>
        </p:txBody>
      </p:sp>
      <p:sp>
        <p:nvSpPr>
          <p:cNvPr id="8" name="question-a">
            <a:extLst xmlns:a="http://schemas.openxmlformats.org/drawingml/2006/main">
              <a:ext uri="{FF2B5EF4-FFF2-40B4-BE49-F238E27FC236}">
                <a16:creationId xmlns:a16="http://schemas.microsoft.com/office/drawing/2014/main" id="{FEFF6070-7900-4449-AD79-8BA7F165586B}"/>
              </a:ext>
            </a:extLst>
          </p:cNvPr>
          <p:cNvSpPr>
            <a:spLocks xmlns:a="http://schemas.openxmlformats.org/drawingml/2006/main" noGrp="1"/>
          </p:cNvSpPr>
          <p:nvPr/>
        </p:nvSpPr>
        <p:spPr>
          <a:xfrm xmlns:a="http://schemas.openxmlformats.org/drawingml/2006/main">
            <a:off x="1343025" y="2581275"/>
            <a:ext cx="99441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Name the register that holds the address of the next instruction to be fetched. [1]</a:t>
            </a:r>
          </a:p>
        </p:txBody>
      </p:sp>
      <p:sp>
        <p:nvSpPr>
          <p:cNvPr id="9" name="b">
            <a:extLst xmlns:a="http://schemas.openxmlformats.org/drawingml/2006/main">
              <a:ext uri="{FF2B5EF4-FFF2-40B4-BE49-F238E27FC236}">
                <a16:creationId xmlns:a16="http://schemas.microsoft.com/office/drawing/2014/main" id="{9A852486-A3DE-4503-B431-7E0EEBB778A2}"/>
              </a:ext>
            </a:extLst>
          </p:cNvPr>
          <p:cNvSpPr>
            <a:spLocks xmlns:a="http://schemas.openxmlformats.org/drawingml/2006/main" noGrp="1"/>
          </p:cNvSpPr>
          <p:nvPr/>
        </p:nvSpPr>
        <p:spPr>
          <a:xfrm xmlns:a="http://schemas.openxmlformats.org/drawingml/2006/main">
            <a:off x="733425" y="414337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D63FF"/>
                </a:solidFill>
                <a:latin typeface="DejaVu Sans"/>
                <a:ea typeface="DejaVu Sans"/>
                <a:cs typeface="DejaVu Sans"/>
              </a:defRPr>
            </a:pPr>
            <a:r>
              <a:rPr sz="2250" b="1">
                <a:solidFill>
                  <a:srgbClr val="2D63FF"/>
                </a:solidFill>
                <a:latin typeface="DejaVu Sans"/>
                <a:ea typeface="DejaVu Sans"/>
                <a:cs typeface="DejaVu Sans"/>
              </a:rPr>
              <a:t>b)</a:t>
            </a:r>
          </a:p>
        </p:txBody>
      </p:sp>
      <p:sp>
        <p:nvSpPr>
          <p:cNvPr id="10" name="question-b">
            <a:extLst xmlns:a="http://schemas.openxmlformats.org/drawingml/2006/main">
              <a:ext uri="{FF2B5EF4-FFF2-40B4-BE49-F238E27FC236}">
                <a16:creationId xmlns:a16="http://schemas.microsoft.com/office/drawing/2014/main" id="{2DDC389F-49B5-48FD-9A84-B0CE9C175132}"/>
              </a:ext>
            </a:extLst>
          </p:cNvPr>
          <p:cNvSpPr>
            <a:spLocks xmlns:a="http://schemas.openxmlformats.org/drawingml/2006/main" noGrp="1"/>
          </p:cNvSpPr>
          <p:nvPr/>
        </p:nvSpPr>
        <p:spPr>
          <a:xfrm xmlns:a="http://schemas.openxmlformats.org/drawingml/2006/main">
            <a:off x="1343025" y="4143375"/>
            <a:ext cx="99441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01828"/>
                </a:solidFill>
                <a:latin typeface="DejaVu Sans"/>
                <a:ea typeface="DejaVu Sans"/>
                <a:cs typeface="DejaVu Sans"/>
              </a:defRPr>
            </a:pPr>
            <a:r>
              <a:rPr sz="2175" b="0">
                <a:solidFill>
                  <a:srgbClr val="101828"/>
                </a:solidFill>
                <a:latin typeface="DejaVu Sans"/>
                <a:ea typeface="DejaVu Sans"/>
                <a:cs typeface="DejaVu Sans"/>
              </a:rPr>
              <a:t>Describe what the memory data register holds and when it is used. [2]</a:t>
            </a:r>
          </a:p>
        </p:txBody>
      </p:sp>
    </p:spTree>
    <p:extLst>
      <p:ext uri="{BB962C8B-B14F-4D97-AF65-F5344CB8AC3E}">
        <p14:creationId xmlns:p14="http://schemas.microsoft.com/office/powerpoint/2010/main" val="16959022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footer background">
            <a:extLst xmlns:a="http://schemas.openxmlformats.org/drawingml/2006/main">
              <a:ext uri="{FF2B5EF4-FFF2-40B4-BE49-F238E27FC236}">
                <a16:creationId xmlns:a16="http://schemas.microsoft.com/office/drawing/2014/main" id="{AA70A4BB-08AA-4351-A47D-61014B17A35B}"/>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4671E492-468F-4555-85DD-63F8EB3C96A3}"/>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PLENARY</a:t>
            </a:r>
          </a:p>
        </p:txBody>
      </p:sp>
      <p:sp>
        <p:nvSpPr>
          <p:cNvPr id="3" name="heading">
            <a:extLst xmlns:a="http://schemas.openxmlformats.org/drawingml/2006/main">
              <a:ext uri="{FF2B5EF4-FFF2-40B4-BE49-F238E27FC236}">
                <a16:creationId xmlns:a16="http://schemas.microsoft.com/office/drawing/2014/main" id="{D08FC1D6-E08C-4DED-AF7F-2AA6F86F003D}"/>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question (c)</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f760e353cb149bb"/>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B8FD90D-0D08-43CC-B6DF-15D6134FFD8E}"/>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15 / 18</a:t>
            </a:r>
          </a:p>
        </p:txBody>
      </p:sp>
      <p:sp>
        <p:nvSpPr>
          <p:cNvPr id="6" name="from-memory">
            <a:extLst xmlns:a="http://schemas.openxmlformats.org/drawingml/2006/main">
              <a:ext uri="{FF2B5EF4-FFF2-40B4-BE49-F238E27FC236}">
                <a16:creationId xmlns:a16="http://schemas.microsoft.com/office/drawing/2014/main" id="{68906A2B-9970-441B-984A-3BB9ECB191E4}"/>
              </a:ext>
            </a:extLst>
          </p:cNvPr>
          <p:cNvSpPr>
            <a:spLocks xmlns:a="http://schemas.openxmlformats.org/drawingml/2006/main" noGrp="1"/>
          </p:cNvSpPr>
          <p:nvPr/>
        </p:nvSpPr>
        <p:spPr>
          <a:xfrm xmlns:a="http://schemas.openxmlformats.org/drawingml/2006/main">
            <a:off x="704850" y="1600200"/>
            <a:ext cx="10715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526174"/>
                </a:solidFill>
                <a:latin typeface="DejaVu Sans"/>
                <a:ea typeface="DejaVu Sans"/>
                <a:cs typeface="DejaVu Sans"/>
              </a:defRPr>
            </a:pPr>
            <a:r>
              <a:rPr sz="1875" b="0">
                <a:solidFill>
                  <a:srgbClr val="526174"/>
                </a:solidFill>
                <a:latin typeface="DejaVu Sans"/>
                <a:ea typeface="DejaVu Sans"/>
                <a:cs typeface="DejaVu Sans"/>
              </a:rPr>
              <a:t>Keep the experience closed. Explain your reasoning in full sentences.</a:t>
            </a:r>
          </a:p>
        </p:txBody>
      </p:sp>
      <p:sp>
        <p:nvSpPr>
          <p:cNvPr id="7" name="c">
            <a:extLst xmlns:a="http://schemas.openxmlformats.org/drawingml/2006/main">
              <a:ext uri="{FF2B5EF4-FFF2-40B4-BE49-F238E27FC236}">
                <a16:creationId xmlns:a16="http://schemas.microsoft.com/office/drawing/2014/main" id="{F86536E0-6C2E-41DE-AB67-4021C3C3681F}"/>
              </a:ext>
            </a:extLst>
          </p:cNvPr>
          <p:cNvSpPr>
            <a:spLocks xmlns:a="http://schemas.openxmlformats.org/drawingml/2006/main" noGrp="1"/>
          </p:cNvSpPr>
          <p:nvPr/>
        </p:nvSpPr>
        <p:spPr>
          <a:xfrm xmlns:a="http://schemas.openxmlformats.org/drawingml/2006/main">
            <a:off x="733425" y="2781300"/>
            <a:ext cx="6096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D63FF"/>
                </a:solidFill>
                <a:latin typeface="DejaVu Sans"/>
                <a:ea typeface="DejaVu Sans"/>
                <a:cs typeface="DejaVu Sans"/>
              </a:defRPr>
            </a:pPr>
            <a:r>
              <a:rPr sz="2400" b="1">
                <a:solidFill>
                  <a:srgbClr val="2D63FF"/>
                </a:solidFill>
                <a:latin typeface="DejaVu Sans"/>
                <a:ea typeface="DejaVu Sans"/>
                <a:cs typeface="DejaVu Sans"/>
              </a:rPr>
              <a:t>c)</a:t>
            </a:r>
          </a:p>
        </p:txBody>
      </p:sp>
      <p:sp>
        <p:nvSpPr>
          <p:cNvPr id="8" name="question-c">
            <a:extLst xmlns:a="http://schemas.openxmlformats.org/drawingml/2006/main">
              <a:ext uri="{FF2B5EF4-FFF2-40B4-BE49-F238E27FC236}">
                <a16:creationId xmlns:a16="http://schemas.microsoft.com/office/drawing/2014/main" id="{C3D560A3-FB1D-4C88-A267-8DE515591D80}"/>
              </a:ext>
            </a:extLst>
          </p:cNvPr>
          <p:cNvSpPr>
            <a:spLocks xmlns:a="http://schemas.openxmlformats.org/drawingml/2006/main" noGrp="1"/>
          </p:cNvSpPr>
          <p:nvPr/>
        </p:nvSpPr>
        <p:spPr>
          <a:xfrm xmlns:a="http://schemas.openxmlformats.org/drawingml/2006/main">
            <a:off x="1381125" y="2781300"/>
            <a:ext cx="98679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01828"/>
                </a:solidFill>
                <a:latin typeface="DejaVu Sans"/>
                <a:ea typeface="DejaVu Sans"/>
                <a:cs typeface="DejaVu Sans"/>
              </a:defRPr>
            </a:pPr>
            <a:r>
              <a:rPr sz="2475" b="0">
                <a:solidFill>
                  <a:srgbClr val="101828"/>
                </a:solidFill>
                <a:latin typeface="DejaVu Sans"/>
                <a:ea typeface="DejaVu Sans"/>
                <a:cs typeface="DejaVu Sans"/>
              </a:rPr>
              <a:t>Explain what happens during each of the three stages of the fetch-decode-execute cycle. [6]</a:t>
            </a:r>
          </a:p>
        </p:txBody>
      </p:sp>
      <p:sp>
        <p:nvSpPr>
          <p:cNvPr id="9" name="marks">
            <a:extLst xmlns:a="http://schemas.openxmlformats.org/drawingml/2006/main">
              <a:ext uri="{FF2B5EF4-FFF2-40B4-BE49-F238E27FC236}">
                <a16:creationId xmlns:a16="http://schemas.microsoft.com/office/drawing/2014/main" id="{9394558D-6402-4DDB-9EA3-8BA17E6372CA}"/>
              </a:ext>
            </a:extLst>
          </p:cNvPr>
          <p:cNvSpPr>
            <a:spLocks xmlns:a="http://schemas.openxmlformats.org/drawingml/2006/main" noGrp="1"/>
          </p:cNvSpPr>
          <p:nvPr/>
        </p:nvSpPr>
        <p:spPr>
          <a:xfrm xmlns:a="http://schemas.openxmlformats.org/drawingml/2006/main">
            <a:off x="733425" y="5438775"/>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Use the marks in brackets to judge how much detail to include.</a:t>
            </a:r>
          </a:p>
        </p:txBody>
      </p:sp>
    </p:spTree>
    <p:extLst>
      <p:ext uri="{BB962C8B-B14F-4D97-AF65-F5344CB8AC3E}">
        <p14:creationId xmlns:p14="http://schemas.microsoft.com/office/powerpoint/2010/main" val="1899766669"/>
      </p:ext>
    </p:extLst>
  </p:cSld>
</p:sld>
</file>

<file path=ppt/slides/slide16.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9" name="footer background">
            <a:extLst xmlns:a="http://schemas.openxmlformats.org/drawingml/2006/main">
              <a:ext uri="{FF2B5EF4-FFF2-40B4-BE49-F238E27FC236}">
                <a16:creationId xmlns:a16="http://schemas.microsoft.com/office/drawing/2014/main" id="{6B5F7371-F7B6-4C16-B7BF-D9EE9CB5599C}"/>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4C28313B-0A66-4385-AE1E-3B54E1F62219}"/>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CHECK</a:t>
            </a:r>
          </a:p>
        </p:txBody>
      </p:sp>
      <p:sp>
        <p:nvSpPr>
          <p:cNvPr id="3" name="heading">
            <a:extLst xmlns:a="http://schemas.openxmlformats.org/drawingml/2006/main">
              <a:ext uri="{FF2B5EF4-FFF2-40B4-BE49-F238E27FC236}">
                <a16:creationId xmlns:a16="http://schemas.microsoft.com/office/drawing/2014/main" id="{A51F7F83-203F-4579-8DDB-C5AA5D852785}"/>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answers (a–b)</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9be05ea93bf84754"/>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305778FC-8970-4CFD-AA2D-858613D223C4}"/>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16 / 18</a:t>
            </a:r>
          </a:p>
        </p:txBody>
      </p:sp>
      <p:sp>
        <p:nvSpPr>
          <p:cNvPr id="6" name="scheme-intro">
            <a:extLst xmlns:a="http://schemas.openxmlformats.org/drawingml/2006/main">
              <a:ext uri="{FF2B5EF4-FFF2-40B4-BE49-F238E27FC236}">
                <a16:creationId xmlns:a16="http://schemas.microsoft.com/office/drawing/2014/main" id="{530292FF-1FCD-4CED-85EC-6F04147A316F}"/>
              </a:ext>
            </a:extLst>
          </p:cNvPr>
          <p:cNvSpPr>
            <a:spLocks xmlns:a="http://schemas.openxmlformats.org/drawingml/2006/main" noGrp="1"/>
          </p:cNvSpPr>
          <p:nvPr/>
        </p:nvSpPr>
        <p:spPr>
          <a:xfrm xmlns:a="http://schemas.openxmlformats.org/drawingml/2006/main">
            <a:off x="704850" y="1543050"/>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Credit accurate answers in students’ own words.</a:t>
            </a:r>
          </a:p>
        </p:txBody>
      </p:sp>
      <p:sp>
        <p:nvSpPr>
          <p:cNvPr id="7" name="scheme-a">
            <a:extLst xmlns:a="http://schemas.openxmlformats.org/drawingml/2006/main">
              <a:ext uri="{FF2B5EF4-FFF2-40B4-BE49-F238E27FC236}">
                <a16:creationId xmlns:a16="http://schemas.microsoft.com/office/drawing/2014/main" id="{17001887-DCDF-444F-83D5-E97F6C022029}"/>
              </a:ext>
            </a:extLst>
          </p:cNvPr>
          <p:cNvSpPr>
            <a:spLocks xmlns:a="http://schemas.openxmlformats.org/drawingml/2006/main" noGrp="1"/>
          </p:cNvSpPr>
          <p:nvPr/>
        </p:nvSpPr>
        <p:spPr>
          <a:xfrm xmlns:a="http://schemas.openxmlformats.org/drawingml/2006/main">
            <a:off x="723900" y="2457450"/>
            <a:ext cx="105727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a  Program counter (PC).</a:t>
            </a:r>
          </a:p>
        </p:txBody>
      </p:sp>
      <p:sp>
        <p:nvSpPr>
          <p:cNvPr id="8" name="scheme-b">
            <a:extLst xmlns:a="http://schemas.openxmlformats.org/drawingml/2006/main">
              <a:ext uri="{FF2B5EF4-FFF2-40B4-BE49-F238E27FC236}">
                <a16:creationId xmlns:a16="http://schemas.microsoft.com/office/drawing/2014/main" id="{F3F5560C-997F-479E-AD94-D2AB611C6D85}"/>
              </a:ext>
            </a:extLst>
          </p:cNvPr>
          <p:cNvSpPr>
            <a:spLocks xmlns:a="http://schemas.openxmlformats.org/drawingml/2006/main" noGrp="1"/>
          </p:cNvSpPr>
          <p:nvPr/>
        </p:nvSpPr>
        <p:spPr>
          <a:xfrm xmlns:a="http://schemas.openxmlformats.org/drawingml/2006/main">
            <a:off x="723900" y="4086225"/>
            <a:ext cx="10572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b  The MDR holds data or an instruction fetched from memory, or data waiting to be written. It is used during transfer between main memory and the CPU.</a:t>
            </a:r>
          </a:p>
        </p:txBody>
      </p:sp>
    </p:spTree>
    <p:extLst>
      <p:ext uri="{BB962C8B-B14F-4D97-AF65-F5344CB8AC3E}">
        <p14:creationId xmlns:p14="http://schemas.microsoft.com/office/powerpoint/2010/main" val="265556279"/>
      </p:ext>
    </p:extLst>
  </p:cSld>
</p:sld>
</file>

<file path=ppt/slides/slide17.xml><?xml version="1.0" encoding="utf-8"?>
<p:sld xmlns:p="http://schemas.openxmlformats.org/presentationml/2006/main">
  <p:cSld>
    <p:bg>
      <p:bgPr>
        <a:solidFill xmlns:a="http://schemas.openxmlformats.org/drawingml/2006/main">
          <a:srgbClr val="EAF3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67554EC9-3758-4D84-8FD3-C34614DC112A}"/>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D1E292A2-69CF-4B2E-AD27-61C83583302A}"/>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CHECK</a:t>
            </a:r>
          </a:p>
        </p:txBody>
      </p:sp>
      <p:sp>
        <p:nvSpPr>
          <p:cNvPr id="3" name="heading">
            <a:extLst xmlns:a="http://schemas.openxmlformats.org/drawingml/2006/main">
              <a:ext uri="{FF2B5EF4-FFF2-40B4-BE49-F238E27FC236}">
                <a16:creationId xmlns:a16="http://schemas.microsoft.com/office/drawing/2014/main" id="{E9562716-15C8-45F3-8BDC-1C25B307274C}"/>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Plenary: answer (c)</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76bb41bdae434579"/>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1C403BC0-69F6-44F4-AFBC-40D677B6CEFE}"/>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17 / 18</a:t>
            </a:r>
          </a:p>
        </p:txBody>
      </p:sp>
      <p:sp>
        <p:nvSpPr>
          <p:cNvPr id="6" name="scheme-intro">
            <a:extLst xmlns:a="http://schemas.openxmlformats.org/drawingml/2006/main">
              <a:ext uri="{FF2B5EF4-FFF2-40B4-BE49-F238E27FC236}">
                <a16:creationId xmlns:a16="http://schemas.microsoft.com/office/drawing/2014/main" id="{263B1BC8-E53A-4E7B-B744-40B76A2215F8}"/>
              </a:ext>
            </a:extLst>
          </p:cNvPr>
          <p:cNvSpPr>
            <a:spLocks xmlns:a="http://schemas.openxmlformats.org/drawingml/2006/main" noGrp="1"/>
          </p:cNvSpPr>
          <p:nvPr/>
        </p:nvSpPr>
        <p:spPr>
          <a:xfrm xmlns:a="http://schemas.openxmlformats.org/drawingml/2006/main">
            <a:off x="704850" y="1533525"/>
            <a:ext cx="107156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Indicative points for the final question.</a:t>
            </a:r>
          </a:p>
        </p:txBody>
      </p:sp>
      <p:sp>
        <p:nvSpPr>
          <p:cNvPr id="7" name="number-1">
            <a:extLst xmlns:a="http://schemas.openxmlformats.org/drawingml/2006/main">
              <a:ext uri="{FF2B5EF4-FFF2-40B4-BE49-F238E27FC236}">
                <a16:creationId xmlns:a16="http://schemas.microsoft.com/office/drawing/2014/main" id="{93C4A259-3C85-4794-B06B-135E75D8B550}"/>
              </a:ext>
            </a:extLst>
          </p:cNvPr>
          <p:cNvSpPr>
            <a:spLocks xmlns:a="http://schemas.openxmlformats.org/drawingml/2006/main" noGrp="1"/>
          </p:cNvSpPr>
          <p:nvPr/>
        </p:nvSpPr>
        <p:spPr>
          <a:xfrm xmlns:a="http://schemas.openxmlformats.org/drawingml/2006/main">
            <a:off x="723900" y="24860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5E7D6DA4-9D5F-46BF-9641-AD0575DF9A7B}"/>
              </a:ext>
            </a:extLst>
          </p:cNvPr>
          <p:cNvSpPr>
            <a:spLocks xmlns:a="http://schemas.openxmlformats.org/drawingml/2006/main" noGrp="1"/>
          </p:cNvSpPr>
          <p:nvPr/>
        </p:nvSpPr>
        <p:spPr>
          <a:xfrm xmlns:a="http://schemas.openxmlformats.org/drawingml/2006/main">
            <a:off x="1352550" y="24860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Fetch: the PC address goes to the MAR; the instruction arrives from RAM in the MDR; the PC increments.</a:t>
            </a:r>
          </a:p>
        </p:txBody>
      </p:sp>
      <p:sp>
        <p:nvSpPr>
          <p:cNvPr id="9" name="number-2">
            <a:extLst xmlns:a="http://schemas.openxmlformats.org/drawingml/2006/main">
              <a:ext uri="{FF2B5EF4-FFF2-40B4-BE49-F238E27FC236}">
                <a16:creationId xmlns:a16="http://schemas.microsoft.com/office/drawing/2014/main" id="{826426D2-44C4-4C3B-AD1E-49489347BF58}"/>
              </a:ext>
            </a:extLst>
          </p:cNvPr>
          <p:cNvSpPr>
            <a:spLocks xmlns:a="http://schemas.openxmlformats.org/drawingml/2006/main" noGrp="1"/>
          </p:cNvSpPr>
          <p:nvPr/>
        </p:nvSpPr>
        <p:spPr>
          <a:xfrm xmlns:a="http://schemas.openxmlformats.org/drawingml/2006/main">
            <a:off x="723900" y="35909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1B1E4DE7-AAD2-4584-A40E-D9FFF19084C5}"/>
              </a:ext>
            </a:extLst>
          </p:cNvPr>
          <p:cNvSpPr>
            <a:spLocks xmlns:a="http://schemas.openxmlformats.org/drawingml/2006/main" noGrp="1"/>
          </p:cNvSpPr>
          <p:nvPr/>
        </p:nvSpPr>
        <p:spPr>
          <a:xfrm xmlns:a="http://schemas.openxmlformats.org/drawingml/2006/main">
            <a:off x="1352550" y="35909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Decode: the control unit interprets the instruction and decides the required operation.</a:t>
            </a:r>
          </a:p>
        </p:txBody>
      </p:sp>
      <p:sp>
        <p:nvSpPr>
          <p:cNvPr id="11" name="number-3">
            <a:extLst xmlns:a="http://schemas.openxmlformats.org/drawingml/2006/main">
              <a:ext uri="{FF2B5EF4-FFF2-40B4-BE49-F238E27FC236}">
                <a16:creationId xmlns:a16="http://schemas.microsoft.com/office/drawing/2014/main" id="{2812E5CA-D2B6-4B72-AD4A-1263955FCA2B}"/>
              </a:ext>
            </a:extLst>
          </p:cNvPr>
          <p:cNvSpPr>
            <a:spLocks xmlns:a="http://schemas.openxmlformats.org/drawingml/2006/main" noGrp="1"/>
          </p:cNvSpPr>
          <p:nvPr/>
        </p:nvSpPr>
        <p:spPr>
          <a:xfrm xmlns:a="http://schemas.openxmlformats.org/drawingml/2006/main">
            <a:off x="723900" y="4695825"/>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D63FF"/>
                </a:solidFill>
                <a:latin typeface="DejaVu Sans"/>
                <a:ea typeface="DejaVu Sans"/>
                <a:cs typeface="DejaVu Sans"/>
              </a:defRPr>
            </a:pPr>
            <a:r>
              <a:rPr sz="1950"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9CC1BAAA-FA3A-499C-9EBB-DFF07F818AC7}"/>
              </a:ext>
            </a:extLst>
          </p:cNvPr>
          <p:cNvSpPr>
            <a:spLocks xmlns:a="http://schemas.openxmlformats.org/drawingml/2006/main" noGrp="1"/>
          </p:cNvSpPr>
          <p:nvPr/>
        </p:nvSpPr>
        <p:spPr>
          <a:xfrm xmlns:a="http://schemas.openxmlformats.org/drawingml/2006/main">
            <a:off x="1352550" y="4695825"/>
            <a:ext cx="99250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01828"/>
                </a:solidFill>
                <a:latin typeface="DejaVu Sans"/>
                <a:ea typeface="DejaVu Sans"/>
                <a:cs typeface="DejaVu Sans"/>
              </a:defRPr>
            </a:pPr>
            <a:r>
              <a:rPr sz="1950" b="0">
                <a:solidFill>
                  <a:srgbClr val="101828"/>
                </a:solidFill>
                <a:latin typeface="DejaVu Sans"/>
                <a:ea typeface="DejaVu Sans"/>
                <a:cs typeface="DejaVu Sans"/>
              </a:rPr>
              <a:t>Execute: the CPU carries it out, for example an ALU calculation whose result is held in the accumulator.</a:t>
            </a:r>
          </a:p>
        </p:txBody>
      </p:sp>
    </p:spTree>
    <p:extLst>
      <p:ext uri="{BB962C8B-B14F-4D97-AF65-F5344CB8AC3E}">
        <p14:creationId xmlns:p14="http://schemas.microsoft.com/office/powerpoint/2010/main" val="253383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ooter background">
            <a:extLst xmlns:a="http://schemas.openxmlformats.org/drawingml/2006/main">
              <a:ext uri="{FF2B5EF4-FFF2-40B4-BE49-F238E27FC236}">
                <a16:creationId xmlns:a16="http://schemas.microsoft.com/office/drawing/2014/main" id="{555115B8-264B-495B-8C49-5773C0EA3E8D}"/>
              </a:ext>
            </a:extLst>
          </p:cNvPr>
          <p:cNvSpPr>
            <a:spLocks xmlns:a="http://schemas.openxmlformats.org/drawingml/2006/main" noGrp="1"/>
          </p:cNvSpPr>
          <p:nvPr/>
        </p:nvSpPr>
        <p:spPr>
          <a:xfrm xmlns:a="http://schemas.openxmlformats.org/drawingml/2006/main">
            <a:off x="0" y="6124575"/>
            <a:ext cx="12192000" cy="733425"/>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 name="topic">
            <a:extLst xmlns:a="http://schemas.openxmlformats.org/drawingml/2006/main">
              <a:ext uri="{FF2B5EF4-FFF2-40B4-BE49-F238E27FC236}">
                <a16:creationId xmlns:a16="http://schemas.microsoft.com/office/drawing/2014/main" id="{3BF6E07B-EFD4-462A-B3D5-084FF7CE8D5F}"/>
              </a:ext>
            </a:extLst>
          </p:cNvPr>
          <p:cNvSpPr>
            <a:spLocks xmlns:a="http://schemas.openxmlformats.org/drawingml/2006/main" noGrp="1"/>
          </p:cNvSpPr>
          <p:nvPr/>
        </p:nvSpPr>
        <p:spPr>
          <a:xfrm xmlns:a="http://schemas.openxmlformats.org/drawingml/2006/main">
            <a:off x="666750" y="323850"/>
            <a:ext cx="981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b="1">
                <a:solidFill>
                  <a:srgbClr val="2D63FF"/>
                </a:solidFill>
                <a:latin typeface="DejaVu Sans"/>
                <a:ea typeface="DejaVu Sans"/>
                <a:cs typeface="DejaVu Sans"/>
              </a:defRPr>
            </a:pPr>
            <a:r>
              <a:rPr sz="1125" b="1">
                <a:solidFill>
                  <a:srgbClr val="2D63FF"/>
                </a:solidFill>
                <a:latin typeface="DejaVu Sans"/>
                <a:ea typeface="DejaVu Sans"/>
                <a:cs typeface="DejaVu Sans"/>
              </a:rPr>
              <a:t>TOPIC 1.1   /   LESSON 02   /   SELF-CHECK</a:t>
            </a:r>
          </a:p>
        </p:txBody>
      </p:sp>
      <p:sp>
        <p:nvSpPr>
          <p:cNvPr id="3" name="heading">
            <a:extLst xmlns:a="http://schemas.openxmlformats.org/drawingml/2006/main">
              <a:ext uri="{FF2B5EF4-FFF2-40B4-BE49-F238E27FC236}">
                <a16:creationId xmlns:a16="http://schemas.microsoft.com/office/drawing/2014/main" id="{B6649E7E-BF2A-47FD-9498-1B00CCB8FCE7}"/>
              </a:ext>
            </a:extLst>
          </p:cNvPr>
          <p:cNvSpPr>
            <a:spLocks xmlns:a="http://schemas.openxmlformats.org/drawingml/2006/main" noGrp="1"/>
          </p:cNvSpPr>
          <p:nvPr/>
        </p:nvSpPr>
        <p:spPr>
          <a:xfrm xmlns:a="http://schemas.openxmlformats.org/drawingml/2006/main">
            <a:off x="666750" y="76200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225" b="1">
                <a:solidFill>
                  <a:srgbClr val="101828"/>
                </a:solidFill>
                <a:latin typeface="DejaVu Sans"/>
                <a:ea typeface="DejaVu Sans"/>
                <a:cs typeface="DejaVu Sans"/>
              </a:defRPr>
            </a:pPr>
            <a:r>
              <a:rPr sz="3225" b="1">
                <a:solidFill>
                  <a:srgbClr val="101828"/>
                </a:solidFill>
                <a:latin typeface="DejaVu Sans"/>
                <a:ea typeface="DejaVu Sans"/>
                <a:cs typeface="DejaVu Sans"/>
              </a:rPr>
              <a:t>How confident am I?</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b58bcf79024b432e"/>
          <a:stretch xmlns:a="http://schemas.openxmlformats.org/drawingml/2006/main"/>
        </p:blipFill>
        <p:spPr>
          <a:xfrm xmlns:a="http://schemas.openxmlformats.org/drawingml/2006/main">
            <a:off x="666750" y="6241242"/>
            <a:ext cx="2038350" cy="395316"/>
          </a:xfrm>
          <a:prstGeom xmlns:a="http://schemas.openxmlformats.org/drawingml/2006/main" prst="rect">
            <a:avLst/>
          </a:prstGeom>
        </p:spPr>
      </p:pic>
      <p:sp>
        <p:nvSpPr>
          <p:cNvPr id="5" name="page">
            <a:extLst xmlns:a="http://schemas.openxmlformats.org/drawingml/2006/main">
              <a:ext uri="{FF2B5EF4-FFF2-40B4-BE49-F238E27FC236}">
                <a16:creationId xmlns:a16="http://schemas.microsoft.com/office/drawing/2014/main" id="{2A704ED3-34A8-4AF2-A268-7EBC8889C02B}"/>
              </a:ext>
            </a:extLst>
          </p:cNvPr>
          <p:cNvSpPr>
            <a:spLocks xmlns:a="http://schemas.openxmlformats.org/drawingml/2006/main" noGrp="1"/>
          </p:cNvSpPr>
          <p:nvPr/>
        </p:nvSpPr>
        <p:spPr>
          <a:xfrm xmlns:a="http://schemas.openxmlformats.org/drawingml/2006/main">
            <a:off x="10668000" y="6400800"/>
            <a:ext cx="857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0">
                <a:solidFill>
                  <a:srgbClr val="526174"/>
                </a:solidFill>
                <a:latin typeface="DejaVu Sans"/>
                <a:ea typeface="DejaVu Sans"/>
                <a:cs typeface="DejaVu Sans"/>
              </a:defRPr>
            </a:pPr>
            <a:r>
              <a:rPr sz="1050" b="0">
                <a:solidFill>
                  <a:srgbClr val="526174"/>
                </a:solidFill>
                <a:latin typeface="DejaVu Sans"/>
                <a:ea typeface="DejaVu Sans"/>
                <a:cs typeface="DejaVu Sans"/>
              </a:rPr>
              <a:t>18 / 18</a:t>
            </a:r>
          </a:p>
        </p:txBody>
      </p:sp>
      <p:sp>
        <p:nvSpPr>
          <p:cNvPr id="6" name="confidence-instruction">
            <a:extLst xmlns:a="http://schemas.openxmlformats.org/drawingml/2006/main">
              <a:ext uri="{FF2B5EF4-FFF2-40B4-BE49-F238E27FC236}">
                <a16:creationId xmlns:a16="http://schemas.microsoft.com/office/drawing/2014/main" id="{9E90E0CF-2348-40CB-81F4-A1931051FA66}"/>
              </a:ext>
            </a:extLst>
          </p:cNvPr>
          <p:cNvSpPr>
            <a:spLocks xmlns:a="http://schemas.openxmlformats.org/drawingml/2006/main" noGrp="1"/>
          </p:cNvSpPr>
          <p:nvPr/>
        </p:nvSpPr>
        <p:spPr>
          <a:xfrm xmlns:a="http://schemas.openxmlformats.org/drawingml/2006/main">
            <a:off x="704850" y="1571625"/>
            <a:ext cx="104775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526174"/>
                </a:solidFill>
                <a:latin typeface="DejaVu Sans"/>
                <a:ea typeface="DejaVu Sans"/>
                <a:cs typeface="DejaVu Sans"/>
              </a:defRPr>
            </a:pPr>
            <a:r>
              <a:rPr sz="1800" b="0">
                <a:solidFill>
                  <a:srgbClr val="526174"/>
                </a:solidFill>
                <a:latin typeface="DejaVu Sans"/>
                <a:ea typeface="DejaVu Sans"/>
                <a:cs typeface="DejaVu Sans"/>
              </a:rPr>
              <a:t>On the worksheet, select Not yet, Getting there or Confident for each objective.</a:t>
            </a:r>
          </a:p>
        </p:txBody>
      </p:sp>
      <p:sp>
        <p:nvSpPr>
          <p:cNvPr id="7" name="number-1">
            <a:extLst xmlns:a="http://schemas.openxmlformats.org/drawingml/2006/main">
              <a:ext uri="{FF2B5EF4-FFF2-40B4-BE49-F238E27FC236}">
                <a16:creationId xmlns:a16="http://schemas.microsoft.com/office/drawing/2014/main" id="{30150A30-9271-4FFB-AEEF-1BB78A92727A}"/>
              </a:ext>
            </a:extLst>
          </p:cNvPr>
          <p:cNvSpPr>
            <a:spLocks xmlns:a="http://schemas.openxmlformats.org/drawingml/2006/main" noGrp="1"/>
          </p:cNvSpPr>
          <p:nvPr/>
        </p:nvSpPr>
        <p:spPr>
          <a:xfrm xmlns:a="http://schemas.openxmlformats.org/drawingml/2006/main">
            <a:off x="723900" y="25146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1.</a:t>
            </a:r>
          </a:p>
        </p:txBody>
      </p:sp>
      <p:sp>
        <p:nvSpPr>
          <p:cNvPr id="8" name="item-1">
            <a:extLst xmlns:a="http://schemas.openxmlformats.org/drawingml/2006/main">
              <a:ext uri="{FF2B5EF4-FFF2-40B4-BE49-F238E27FC236}">
                <a16:creationId xmlns:a16="http://schemas.microsoft.com/office/drawing/2014/main" id="{7A3EEE3E-0E68-47CC-9C72-1E811A290C83}"/>
              </a:ext>
            </a:extLst>
          </p:cNvPr>
          <p:cNvSpPr>
            <a:spLocks xmlns:a="http://schemas.openxmlformats.org/drawingml/2006/main" noGrp="1"/>
          </p:cNvSpPr>
          <p:nvPr/>
        </p:nvSpPr>
        <p:spPr>
          <a:xfrm xmlns:a="http://schemas.openxmlformats.org/drawingml/2006/main">
            <a:off x="1352550" y="25146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von Neumann architecture</a:t>
            </a:r>
          </a:p>
        </p:txBody>
      </p:sp>
      <p:sp>
        <p:nvSpPr>
          <p:cNvPr id="9" name="number-2">
            <a:extLst xmlns:a="http://schemas.openxmlformats.org/drawingml/2006/main">
              <a:ext uri="{FF2B5EF4-FFF2-40B4-BE49-F238E27FC236}">
                <a16:creationId xmlns:a16="http://schemas.microsoft.com/office/drawing/2014/main" id="{060A77A8-43B2-46ED-BF2F-A8ECDA3C7E4D}"/>
              </a:ext>
            </a:extLst>
          </p:cNvPr>
          <p:cNvSpPr>
            <a:spLocks xmlns:a="http://schemas.openxmlformats.org/drawingml/2006/main" noGrp="1"/>
          </p:cNvSpPr>
          <p:nvPr/>
        </p:nvSpPr>
        <p:spPr>
          <a:xfrm xmlns:a="http://schemas.openxmlformats.org/drawingml/2006/main">
            <a:off x="723900" y="352425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2.</a:t>
            </a:r>
          </a:p>
        </p:txBody>
      </p:sp>
      <p:sp>
        <p:nvSpPr>
          <p:cNvPr id="10" name="item-2">
            <a:extLst xmlns:a="http://schemas.openxmlformats.org/drawingml/2006/main">
              <a:ext uri="{FF2B5EF4-FFF2-40B4-BE49-F238E27FC236}">
                <a16:creationId xmlns:a16="http://schemas.microsoft.com/office/drawing/2014/main" id="{153F05A8-2361-44D9-988E-89B7B045A971}"/>
              </a:ext>
            </a:extLst>
          </p:cNvPr>
          <p:cNvSpPr>
            <a:spLocks xmlns:a="http://schemas.openxmlformats.org/drawingml/2006/main" noGrp="1"/>
          </p:cNvSpPr>
          <p:nvPr/>
        </p:nvSpPr>
        <p:spPr>
          <a:xfrm xmlns:a="http://schemas.openxmlformats.org/drawingml/2006/main">
            <a:off x="1352550" y="352425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The PC, MAR, MDR and accumulator</a:t>
            </a:r>
          </a:p>
        </p:txBody>
      </p:sp>
      <p:sp>
        <p:nvSpPr>
          <p:cNvPr id="11" name="number-3">
            <a:extLst xmlns:a="http://schemas.openxmlformats.org/drawingml/2006/main">
              <a:ext uri="{FF2B5EF4-FFF2-40B4-BE49-F238E27FC236}">
                <a16:creationId xmlns:a16="http://schemas.microsoft.com/office/drawing/2014/main" id="{D8DB6C69-DE09-4038-99E3-1F323B697551}"/>
              </a:ext>
            </a:extLst>
          </p:cNvPr>
          <p:cNvSpPr>
            <a:spLocks xmlns:a="http://schemas.openxmlformats.org/drawingml/2006/main" noGrp="1"/>
          </p:cNvSpPr>
          <p:nvPr/>
        </p:nvSpPr>
        <p:spPr>
          <a:xfrm xmlns:a="http://schemas.openxmlformats.org/drawingml/2006/main">
            <a:off x="723900" y="4533900"/>
            <a:ext cx="5905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1">
                <a:solidFill>
                  <a:srgbClr val="2D63FF"/>
                </a:solidFill>
                <a:latin typeface="DejaVu Sans"/>
                <a:ea typeface="DejaVu Sans"/>
                <a:cs typeface="DejaVu Sans"/>
              </a:defRPr>
            </a:pPr>
            <a:r>
              <a:rPr sz="2025" b="1">
                <a:solidFill>
                  <a:srgbClr val="2D63FF"/>
                </a:solidFill>
                <a:latin typeface="DejaVu Sans"/>
                <a:ea typeface="DejaVu Sans"/>
                <a:cs typeface="DejaVu Sans"/>
              </a:rPr>
              <a:t>3.</a:t>
            </a:r>
          </a:p>
        </p:txBody>
      </p:sp>
      <p:sp>
        <p:nvSpPr>
          <p:cNvPr id="12" name="item-3">
            <a:extLst xmlns:a="http://schemas.openxmlformats.org/drawingml/2006/main">
              <a:ext uri="{FF2B5EF4-FFF2-40B4-BE49-F238E27FC236}">
                <a16:creationId xmlns:a16="http://schemas.microsoft.com/office/drawing/2014/main" id="{4331DD36-6D6E-44A0-98ED-8FD7E5097309}"/>
              </a:ext>
            </a:extLst>
          </p:cNvPr>
          <p:cNvSpPr>
            <a:spLocks xmlns:a="http://schemas.openxmlformats.org/drawingml/2006/main" noGrp="1"/>
          </p:cNvSpPr>
          <p:nvPr/>
        </p:nvSpPr>
        <p:spPr>
          <a:xfrm xmlns:a="http://schemas.openxmlformats.org/drawingml/2006/main">
            <a:off x="1352550" y="4533900"/>
            <a:ext cx="99250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01828"/>
                </a:solidFill>
                <a:latin typeface="DejaVu Sans"/>
                <a:ea typeface="DejaVu Sans"/>
                <a:cs typeface="DejaVu Sans"/>
              </a:defRPr>
            </a:pPr>
            <a:r>
              <a:rPr sz="2025" b="0">
                <a:solidFill>
                  <a:srgbClr val="101828"/>
                </a:solidFill>
                <a:latin typeface="DejaVu Sans"/>
                <a:ea typeface="DejaVu Sans"/>
                <a:cs typeface="DejaVu Sans"/>
              </a:rPr>
              <a:t>What a keyword is</a:t>
            </a:r>
          </a:p>
        </p:txBody>
      </p:sp>
    </p:spTree>
    <p:extLst>
      <p:ext uri="{BB962C8B-B14F-4D97-AF65-F5344CB8AC3E}">
        <p14:creationId xmlns:p14="http://schemas.microsoft.com/office/powerpoint/2010/main" val="8634061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2026-09-25T12:41:49.8290000Z</dcterms:created>
  <dcterms:modified xsi:type="dcterms:W3CDTF">2026-09-25T12:41:49.8290000Z</dcterms:modified>
</coreProperties>
</file>