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b4e90e486f458e" /><Relationship Type="http://schemas.openxmlformats.org/officeDocument/2006/relationships/extended-properties" Target="/docProps/app.xml" Id="R996cab7b3a5e44bf" /><Relationship Type="http://schemas.openxmlformats.org/officeDocument/2006/relationships/officeDocument" Target="/ppt/presentation.xml" Id="R73079726ba354f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03fec941bf493d"/>
  </p:sldMasterIdLst>
  <p:notesMasterIdLst>
    <p:notesMasterId xmlns:r="http://schemas.openxmlformats.org/officeDocument/2006/relationships" r:id="R018dc14b6b0446b8"/>
  </p:notesMasterIdLst>
  <p:sldIdLst>
    <p:sldId xmlns:r="http://schemas.openxmlformats.org/officeDocument/2006/relationships" id="256" r:id="Rd7a2e5271e744cc0"/>
    <p:sldId xmlns:r="http://schemas.openxmlformats.org/officeDocument/2006/relationships" id="257" r:id="R6a974a0a5ce146bd"/>
    <p:sldId xmlns:r="http://schemas.openxmlformats.org/officeDocument/2006/relationships" id="258" r:id="R40c4367ccc9e4dfd"/>
    <p:sldId xmlns:r="http://schemas.openxmlformats.org/officeDocument/2006/relationships" id="259" r:id="R5d52cd31b7c44ee5"/>
    <p:sldId xmlns:r="http://schemas.openxmlformats.org/officeDocument/2006/relationships" id="260" r:id="R149c160392ac4194"/>
    <p:sldId xmlns:r="http://schemas.openxmlformats.org/officeDocument/2006/relationships" id="261" r:id="R284f68c830df42c5"/>
    <p:sldId xmlns:r="http://schemas.openxmlformats.org/officeDocument/2006/relationships" id="262" r:id="R185844567fa045c3"/>
    <p:sldId xmlns:r="http://schemas.openxmlformats.org/officeDocument/2006/relationships" id="263" r:id="Rb0475f5a1d584bf3"/>
    <p:sldId xmlns:r="http://schemas.openxmlformats.org/officeDocument/2006/relationships" id="264" r:id="R66e982e6a06e4e5e"/>
    <p:sldId xmlns:r="http://schemas.openxmlformats.org/officeDocument/2006/relationships" id="265" r:id="R8df8e057f7f043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5d49fd8a5a4321" /><Relationship Type="http://schemas.openxmlformats.org/officeDocument/2006/relationships/slideMaster" Target="/ppt/slideMasters/slideMaster1.xml" Id="Rfa03fec941bf493d" /><Relationship Type="http://schemas.openxmlformats.org/officeDocument/2006/relationships/notesMaster" Target="/ppt/notesMasters/notesMaster1.xml" Id="R018dc14b6b0446b8" /><Relationship Type="http://schemas.openxmlformats.org/officeDocument/2006/relationships/presProps" Target="/ppt/presProps.xml" Id="R1f934f695be94c4f" /><Relationship Type="http://schemas.openxmlformats.org/officeDocument/2006/relationships/tableStyles" Target="/ppt/tableStyles.xml" Id="R3b0491835b144b1c" /><Relationship Type="http://schemas.openxmlformats.org/officeDocument/2006/relationships/slide" Target="/ppt/slides/slide1.xml" Id="Rd7a2e5271e744cc0" /><Relationship Type="http://schemas.openxmlformats.org/officeDocument/2006/relationships/slide" Target="/ppt/slides/slide2.xml" Id="R6a974a0a5ce146bd" /><Relationship Type="http://schemas.openxmlformats.org/officeDocument/2006/relationships/slide" Target="/ppt/slides/slide3.xml" Id="R40c4367ccc9e4dfd" /><Relationship Type="http://schemas.openxmlformats.org/officeDocument/2006/relationships/slide" Target="/ppt/slides/slide4.xml" Id="R5d52cd31b7c44ee5" /><Relationship Type="http://schemas.openxmlformats.org/officeDocument/2006/relationships/slide" Target="/ppt/slides/slide5.xml" Id="R149c160392ac4194" /><Relationship Type="http://schemas.openxmlformats.org/officeDocument/2006/relationships/slide" Target="/ppt/slides/slide6.xml" Id="R284f68c830df42c5" /><Relationship Type="http://schemas.openxmlformats.org/officeDocument/2006/relationships/slide" Target="/ppt/slides/slide7.xml" Id="R185844567fa045c3" /><Relationship Type="http://schemas.openxmlformats.org/officeDocument/2006/relationships/slide" Target="/ppt/slides/slide8.xml" Id="Rb0475f5a1d584bf3" /><Relationship Type="http://schemas.openxmlformats.org/officeDocument/2006/relationships/slide" Target="/ppt/slides/slide9.xml" Id="R66e982e6a06e4e5e" /><Relationship Type="http://schemas.openxmlformats.org/officeDocument/2006/relationships/slide" Target="/ppt/slides/slide10.xml" Id="R8df8e057f7f043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a54cd0179b49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2183b50fea49ec" /><Relationship Type="http://schemas.openxmlformats.org/officeDocument/2006/relationships/notesMaster" Target="/ppt/notesMasters/notesMaster1.xml" Id="Rcf6052019acb42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33271d960c4899" /><Relationship Type="http://schemas.openxmlformats.org/officeDocument/2006/relationships/notesMaster" Target="/ppt/notesMasters/notesMaster1.xml" Id="R56cf2c9016c64f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eec8b0db044692" /><Relationship Type="http://schemas.openxmlformats.org/officeDocument/2006/relationships/notesMaster" Target="/ppt/notesMasters/notesMaster1.xml" Id="R75fb85796d8442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761dd4b51e4e04" /><Relationship Type="http://schemas.openxmlformats.org/officeDocument/2006/relationships/notesMaster" Target="/ppt/notesMasters/notesMaster1.xml" Id="Ra2e5371534f04c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e32464a58940f2" /><Relationship Type="http://schemas.openxmlformats.org/officeDocument/2006/relationships/notesMaster" Target="/ppt/notesMasters/notesMaster1.xml" Id="Rc4eaa9810f3541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7c84bfcdbd4d73" /><Relationship Type="http://schemas.openxmlformats.org/officeDocument/2006/relationships/notesMaster" Target="/ppt/notesMasters/notesMaster1.xml" Id="Ra85d931131444b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0075ce5a054afe" /><Relationship Type="http://schemas.openxmlformats.org/officeDocument/2006/relationships/notesMaster" Target="/ppt/notesMasters/notesMaster1.xml" Id="R9fd2bcb30d8c43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cec6bc0c8b4490" /><Relationship Type="http://schemas.openxmlformats.org/officeDocument/2006/relationships/notesMaster" Target="/ppt/notesMasters/notesMaster1.xml" Id="R6a9ecee8bcee4e2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1b954c21124f16" /><Relationship Type="http://schemas.openxmlformats.org/officeDocument/2006/relationships/notesMaster" Target="/ppt/notesMasters/notesMaster1.xml" Id="Rcfd2485f38f849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84924160ae4f38" /><Relationship Type="http://schemas.openxmlformats.org/officeDocument/2006/relationships/notesMaster" Target="/ppt/notesMasters/notesMaster1.xml" Id="R22f7926c6dfb41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lesson. Open the matching worksheet and experience from Topic 1.1. Use the deck in order, revealing starter answers only after pupils have attempted the quiz.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about five minutes. Students can write the four terms in their books or on the worksheet. Ask them to justify one answer before showing the next slide.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 close equivalents where the technical meaning is intact. The starter prompt printed in the worksheet can serve as a short discussion before the experience.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Directions in every experience: turn right for stations 1 and 2, around for 3 and 4, left for 5 and 6, and down for the star. Students should record notes before attempting each badge.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extension. Invite a worked explanation, not a one-word answer. Students can discuss in pairs after writing first.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for students who finish the experience before the class plenary. If time is short, move the whole class to the quiz.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first two exam-practice questions from the lesson worksheet. Give writing time and avoid displaying answers until all students have attempted them.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question c from the worksheet. Let students complete it independently, then reveal the indicative answer points.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annotate one improvement in a different colour.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 equivalent descriptions. The experience also covers Harvard architecture and Python keywords; the exam questions on the worksheet focus on registers and the cycle. Ask students to revise one sentence after self-check.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170fecb2094e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2cda1ab4e34ddd" /><Relationship Type="http://schemas.openxmlformats.org/officeDocument/2006/relationships/slideLayout" Target="/ppt/slideLayouts/slideLayout1.xml" Id="R61c916471c954c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c916471c954c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76f5dd28a4b80" /><Relationship Type="http://schemas.openxmlformats.org/officeDocument/2006/relationships/image" Target="/ppt/media/image.jpeg" Id="R427b12872e7748e8" /><Relationship Type="http://schemas.openxmlformats.org/officeDocument/2006/relationships/notesSlide" Target="/ppt/notesSlides/notesSlide1.xml" Id="Rac63326ddc994c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df064625cd4d10" /><Relationship Type="http://schemas.openxmlformats.org/officeDocument/2006/relationships/notesSlide" Target="/ppt/notesSlides/notesSlide2.xml" Id="Rcac505032c9a43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39aa955924afb" /><Relationship Type="http://schemas.openxmlformats.org/officeDocument/2006/relationships/notesSlide" Target="/ppt/notesSlides/notesSlide3.xml" Id="R47667401d5a840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55339098d4a6d" /><Relationship Type="http://schemas.openxmlformats.org/officeDocument/2006/relationships/hyperlink" Target="https://mrp-cs.github.io/Revise360/experience.html?id=sa-l02" TargetMode="External" Id="R13070948c0b34d6c" /><Relationship Type="http://schemas.openxmlformats.org/officeDocument/2006/relationships/notesSlide" Target="/ppt/notesSlides/notesSlide4.xml" Id="R60eab40d7e2b42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95b491b454885" /><Relationship Type="http://schemas.openxmlformats.org/officeDocument/2006/relationships/notesSlide" Target="/ppt/notesSlides/notesSlide5.xml" Id="Rc74cc9275a544e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24ffaad6e4e50" /><Relationship Type="http://schemas.openxmlformats.org/officeDocument/2006/relationships/notesSlide" Target="/ppt/notesSlides/notesSlide6.xml" Id="R07521406a2eb48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21393cf9734d11" /><Relationship Type="http://schemas.openxmlformats.org/officeDocument/2006/relationships/notesSlide" Target="/ppt/notesSlides/notesSlide7.xml" Id="R8b6c6ac6b13d49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56c653f064dab" /><Relationship Type="http://schemas.openxmlformats.org/officeDocument/2006/relationships/notesSlide" Target="/ppt/notesSlides/notesSlide8.xml" Id="Racb55ddb36ae42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284ebd90d4c58" /><Relationship Type="http://schemas.openxmlformats.org/officeDocument/2006/relationships/notesSlide" Target="/ppt/notesSlides/notesSlide9.xml" Id="Ra33d044c40274b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5ed1269224c51" /><Relationship Type="http://schemas.openxmlformats.org/officeDocument/2006/relationships/notesSlide" Target="/ppt/notesSlides/notesSlide10.xml" Id="Rb74443d439f748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0EC41095-80D7-4FD4-81CE-973D0259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DD53ED8B-68A4-4814-A135-7408376B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VON NEUMANN HQ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BCF6B63-6600-4D1C-843B-5A79C915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109DC6A-1BBD-45BF-AE44-D0F1820F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10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C44A8B5B-27F6-4113-8379-AE26BC37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Architecture of the CPU</a:t>
            </a:r>
          </a:p>
        </p:txBody>
      </p:sp>
      <p:sp>
        <p:nvSpPr>
          <p:cNvPr id="6" name="sequence">
            <a:extLst xmlns:a="http://schemas.openxmlformats.org/drawingml/2006/main">
              <a:ext uri="{FF2B5EF4-FFF2-40B4-BE49-F238E27FC236}">
                <a16:creationId xmlns:a16="http://schemas.microsoft.com/office/drawing/2014/main" id="{DF7F750E-F117-4318-A164-B12C9B7F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50482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Starter quiz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360° experience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Plenary exam quiz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b12872e7748e8"/>
          <a:srcRect xmlns:a="http://schemas.openxmlformats.org/drawingml/2006/main" l="5297" t="0" r="5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5575" y="1809750"/>
            <a:ext cx="5000625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5429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8C785328-DE14-401A-A26C-3A3833B1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51FAC83-D002-47FF-8FAC-5026EC21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key terms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C5ED900-ACD4-4B59-A90D-E3BE3F5B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4AED95A-66FF-49E3-9282-C211D8A0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10</a:t>
            </a:r>
          </a:p>
        </p:txBody>
      </p:sp>
      <p:sp>
        <p:nvSpPr>
          <p:cNvPr id="5" name="starter-instruction">
            <a:extLst xmlns:a="http://schemas.openxmlformats.org/drawingml/2006/main">
              <a:ext uri="{FF2B5EF4-FFF2-40B4-BE49-F238E27FC236}">
                <a16:creationId xmlns:a16="http://schemas.microsoft.com/office/drawing/2014/main" id="{45FAE9B4-9A29-47F4-97A6-0632B6A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Write the key term that matches each definition. Work from memory.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39AF45F0-4262-4CC2-9E31-6A5C527F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6C984D4E-1B84-42D8-85CE-C0F844F3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design with instructions and data in shared main memory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AFE59F2F-7151-4966-A247-522E9182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207C493F-614C-4D94-B235-2563A3EC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register with the address of the next instruction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B85994EC-D809-4403-A1EE-94C20489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8B037E9A-1FA2-4C37-B6BA-E57604E3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register carrying data to or from main memory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4737A47C-F8C0-4879-B7D7-E6855356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30298435-18BE-4205-B940-5D2C9898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reserved word with special meaning in a language</a:t>
            </a:r>
          </a:p>
        </p:txBody>
      </p:sp>
    </p:spTree>
    <p:extLst>
      <p:ext uri="{BB962C8B-B14F-4D97-AF65-F5344CB8AC3E}">
        <p14:creationId xmlns:p14="http://schemas.microsoft.com/office/powerpoint/2010/main" val="8296814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76CA0C2E-039E-42BA-B148-8E5B7537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0D42877-E4BC-4441-8CE7-3A6A724F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2BD0BBC-C089-402F-860D-82C235D6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8F21791-AAAE-4857-B11B-E1EFAD3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10</a:t>
            </a:r>
          </a:p>
        </p:txBody>
      </p:sp>
      <p:sp>
        <p:nvSpPr>
          <p:cNvPr id="5" name="check">
            <a:extLst xmlns:a="http://schemas.openxmlformats.org/drawingml/2006/main">
              <a:ext uri="{FF2B5EF4-FFF2-40B4-BE49-F238E27FC236}">
                <a16:creationId xmlns:a16="http://schemas.microsoft.com/office/drawing/2014/main" id="{1943E16F-58C7-48FF-9531-43D8CBFA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the term and correct any gaps in your definition.</a:t>
            </a:r>
          </a:p>
        </p:txBody>
      </p:sp>
      <p:sp>
        <p:nvSpPr>
          <p:cNvPr id="6" name="answer-0">
            <a:extLst xmlns:a="http://schemas.openxmlformats.org/drawingml/2006/main">
              <a:ext uri="{FF2B5EF4-FFF2-40B4-BE49-F238E27FC236}">
                <a16:creationId xmlns:a16="http://schemas.microsoft.com/office/drawing/2014/main" id="{7D6E373A-4793-46DB-81EE-99741793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 Von Neumann architecture</a:t>
            </a:r>
          </a:p>
        </p:txBody>
      </p:sp>
      <p:sp>
        <p:nvSpPr>
          <p:cNvPr id="7" name="meaning-0">
            <a:extLst xmlns:a="http://schemas.openxmlformats.org/drawingml/2006/main">
              <a:ext uri="{FF2B5EF4-FFF2-40B4-BE49-F238E27FC236}">
                <a16:creationId xmlns:a16="http://schemas.microsoft.com/office/drawing/2014/main" id="{B541DD65-F75A-431C-BE3E-D7F3DDED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7647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design with instructions and data in shared main memory</a:t>
            </a:r>
          </a:p>
        </p:txBody>
      </p:sp>
      <p:sp>
        <p:nvSpPr>
          <p:cNvPr id="8" name="answer-1">
            <a:extLst xmlns:a="http://schemas.openxmlformats.org/drawingml/2006/main">
              <a:ext uri="{FF2B5EF4-FFF2-40B4-BE49-F238E27FC236}">
                <a16:creationId xmlns:a16="http://schemas.microsoft.com/office/drawing/2014/main" id="{489BDA82-799B-4D23-AEED-DAF6DEBE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 Program counter (PC)</a:t>
            </a:r>
          </a:p>
        </p:txBody>
      </p:sp>
      <p:sp>
        <p:nvSpPr>
          <p:cNvPr id="9" name="meaning-1">
            <a:extLst xmlns:a="http://schemas.openxmlformats.org/drawingml/2006/main">
              <a:ext uri="{FF2B5EF4-FFF2-40B4-BE49-F238E27FC236}">
                <a16:creationId xmlns:a16="http://schemas.microsoft.com/office/drawing/2014/main" id="{B6D5693A-05E2-4DBB-9641-DCD65B19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14325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register with the address of the next instruction</a:t>
            </a:r>
          </a:p>
        </p:txBody>
      </p:sp>
      <p:sp>
        <p:nvSpPr>
          <p:cNvPr id="10" name="answer-2">
            <a:extLst xmlns:a="http://schemas.openxmlformats.org/drawingml/2006/main">
              <a:ext uri="{FF2B5EF4-FFF2-40B4-BE49-F238E27FC236}">
                <a16:creationId xmlns:a16="http://schemas.microsoft.com/office/drawing/2014/main" id="{967FE7BC-4905-4EC1-BCCD-42B7FF1F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 Memory data register (MDR)</a:t>
            </a:r>
          </a:p>
        </p:txBody>
      </p:sp>
      <p:sp>
        <p:nvSpPr>
          <p:cNvPr id="11" name="meaning-2">
            <a:extLst xmlns:a="http://schemas.openxmlformats.org/drawingml/2006/main">
              <a:ext uri="{FF2B5EF4-FFF2-40B4-BE49-F238E27FC236}">
                <a16:creationId xmlns:a16="http://schemas.microsoft.com/office/drawing/2014/main" id="{48140D77-2B3B-4DC1-9721-3AC13DFB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1002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register carrying data to or from main memory</a:t>
            </a:r>
          </a:p>
        </p:txBody>
      </p:sp>
      <p:sp>
        <p:nvSpPr>
          <p:cNvPr id="12" name="answer-3">
            <a:extLst xmlns:a="http://schemas.openxmlformats.org/drawingml/2006/main">
              <a:ext uri="{FF2B5EF4-FFF2-40B4-BE49-F238E27FC236}">
                <a16:creationId xmlns:a16="http://schemas.microsoft.com/office/drawing/2014/main" id="{B46925AE-490E-42BF-A4F9-21804134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 Keyword</a:t>
            </a:r>
          </a:p>
        </p:txBody>
      </p:sp>
      <p:sp>
        <p:nvSpPr>
          <p:cNvPr id="13" name="meaning-3">
            <a:extLst xmlns:a="http://schemas.openxmlformats.org/drawingml/2006/main">
              <a:ext uri="{FF2B5EF4-FFF2-40B4-BE49-F238E27FC236}">
                <a16:creationId xmlns:a16="http://schemas.microsoft.com/office/drawing/2014/main" id="{0315B7CD-7A90-4163-B5DF-62B952BA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87680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reserved word with special meaning in a language</a:t>
            </a:r>
          </a:p>
        </p:txBody>
      </p:sp>
    </p:spTree>
    <p:extLst>
      <p:ext uri="{BB962C8B-B14F-4D97-AF65-F5344CB8AC3E}">
        <p14:creationId xmlns:p14="http://schemas.microsoft.com/office/powerpoint/2010/main" val="572281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388E4988-6AEA-4DB9-A658-89F21FEC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BFE1C2D8-5312-46F6-833B-A22400D9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experience task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7006848-8C91-4676-BFFE-491531CF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C987182-4CA1-4083-BEA4-7625EB15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10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EFD88661-62EB-4077-8E7C-55C21720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2EAD0A03-0A6A-41D6-BEA8-AAACEC0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Von Neumann HQ from Topic 1.1. Keep your lesson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EE25D377-02FC-4A17-829D-70F76FEF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DACDF783-47A6-4CF9-A4A6-064F1B71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19375"/>
            <a:ext cx="99250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numbered station, read the panel and write its key fact and challenge response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2CB02F60-297E-4AF4-927B-6C33D9AA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56D93026-9A10-4927-9861-64629CD5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671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Answer the on-screen questions. Your first answer counts. Finish the star challenge by looking down.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98E2B345-F633-4571-8861-F653875A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B8F5B979-970A-45D8-AAC4-60E7B021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148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Copy the score from the results screen into your worksheet (out of 19). Review any station you found hard.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D10E3B6F-C04E-40CA-A4E5-5CFA5AFC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13070948c0b34d6c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4257420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E873AA78-90BD-45A0-AAEC-EF3C80C5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EB6BA9C-D151-4053-A88A-A86E4F11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F745E85-7BC4-42A9-ABB7-9AA2683A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3AD3F14-A83C-4778-A08A-CC995717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10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D68F6F7C-A233-402E-A06C-F61EB474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F794ECC1-3BCC-4C57-AEF1-DCFDEC27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runs a game, then a spreadsheet. Explain how a stored program makes this possible without rewiring the computer.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B22A0FAC-03F2-463C-B75A-76BC8AA9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Compare shared memory with the separate instruction and data memories in Harvard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0022387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71B8F958-7B92-42CC-B190-6090EE13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D762BA40-DE4D-4A9D-8499-19C3FDC9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F81B78A-B9F7-4C7C-A827-2BBF8B1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F841A0D-CF44-452C-B934-0B5EF898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10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1C6824E5-DCA0-40BE-8E03-3907020A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your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7E664C58-5E1E-4439-A053-35CB1CDB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MAR and MDR in one sentence each. Then describe what the control unit does during decode.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6ABD61C1-F499-48AE-B46A-C4806908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Then answer the plenary exam quiz on the next slides and your worksheet.</a:t>
            </a:r>
          </a:p>
        </p:txBody>
      </p:sp>
    </p:spTree>
    <p:extLst>
      <p:ext uri="{BB962C8B-B14F-4D97-AF65-F5344CB8AC3E}">
        <p14:creationId xmlns:p14="http://schemas.microsoft.com/office/powerpoint/2010/main" val="19127063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81D44641-4D55-41E2-B00B-4D269F4A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96B0C665-6E09-4936-A232-5E385BF0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5027387-D447-4D46-8D84-0D42C429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6EF9954-DEC7-4353-8F68-82684249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10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8BD641E9-D937-47DB-AA6A-52E1CB20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Answer from memory before checking your notes.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AFE034E0-9E14-4BEE-A7F9-782CD9D8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37F73225-88EE-48D6-842E-3AFEBDB8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48602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Name the register that holds the address of the next instruction to be fetched. [1]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C4FE5041-F535-426A-BEFD-03280480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767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1FB9B24B-850E-4332-B8FD-31548065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076700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what the memory data register holds and when it is used. [2]</a:t>
            </a:r>
          </a:p>
        </p:txBody>
      </p:sp>
    </p:spTree>
    <p:extLst>
      <p:ext uri="{BB962C8B-B14F-4D97-AF65-F5344CB8AC3E}">
        <p14:creationId xmlns:p14="http://schemas.microsoft.com/office/powerpoint/2010/main" val="6240159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55965E85-CEF1-46D8-9711-96721172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C3DCE1F1-A696-4F17-87AD-AC332098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A011A6B-D77C-4D21-BF01-28478C8B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CBBEF15-5864-44CA-8AFF-6CA5337D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10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0461BC34-FCA4-4A36-B5F2-B488F510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F691C051-2A8F-4E4D-8337-1525F97E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0F770F81-DD7A-4461-873D-FC35DD71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what happens during each of the three stages of the fetch-decode-execute cycle. [6]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EE154425-2AFC-4D9D-B1C2-0056F276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10524656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9027AD04-A419-4DC7-BF6E-3033ED77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EAD0BEE-761C-4F78-84D4-5CECA4F3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4FA2150-BCE8-42BA-B34C-E84D2D3B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2D15257-072B-4F6F-87DA-C680AE3B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734BBB4D-5756-4A02-9B6C-4B7BCF1D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FDDD4EAD-6DC1-4218-9C7A-8E569552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Program counter (PC).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1C1655C9-1CEF-42D6-9307-EA221DEA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The MDR holds data or an instruction fetched from memory, or data waiting to be written. It is used during transfer between main memory and the CPU.</a:t>
            </a:r>
          </a:p>
        </p:txBody>
      </p:sp>
    </p:spTree>
    <p:extLst>
      <p:ext uri="{BB962C8B-B14F-4D97-AF65-F5344CB8AC3E}">
        <p14:creationId xmlns:p14="http://schemas.microsoft.com/office/powerpoint/2010/main" val="3667338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1EE45949-F81B-43CB-AA96-96CABCCF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9983781-1401-4BA6-82FC-2830E8D1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1882E1A-683C-4E6E-81C3-A98E06A8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7280EC5-8BF0-4C4A-A7A1-AB08444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138C7713-3330-4D93-845E-890A1C26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D37C2B5C-A607-4C8F-805D-9E72A37A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9CA4E22D-98A0-4C74-A70E-76D62036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Fetch: the PC address goes to the MAR; the instruction arrives from RAM in the MDR; the PC increments.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4B3C9839-791D-4DCC-9F7F-A5B0880A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C1F82EAA-EAF4-4034-B3EE-ACEC7FBA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Decode: the control unit interprets the instruction and decides the required operation.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BF8CB254-7DC0-4825-806F-211FA22C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5BBD956F-4148-4C8A-B423-469E9C8F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Execute: the CPU carries it out, for example an ALU calculation whose result is held in the accumulator.</a:t>
            </a:r>
          </a:p>
        </p:txBody>
      </p:sp>
    </p:spTree>
    <p:extLst>
      <p:ext uri="{BB962C8B-B14F-4D97-AF65-F5344CB8AC3E}">
        <p14:creationId xmlns:p14="http://schemas.microsoft.com/office/powerpoint/2010/main" val="14215979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2026-09-25T10:42:33.7770000Z</dcterms:created>
  <dcterms:modified xsi:type="dcterms:W3CDTF">2026-09-25T10:42:33.7770000Z</dcterms:modified>
</coreProperties>
</file>