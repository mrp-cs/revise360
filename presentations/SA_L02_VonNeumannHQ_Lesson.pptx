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fee72f4cc2542ab" /><Relationship Type="http://schemas.openxmlformats.org/officeDocument/2006/relationships/extended-properties" Target="/docProps/app.xml" Id="R47c0feaad6c54d6a" /><Relationship Type="http://schemas.openxmlformats.org/officeDocument/2006/relationships/officeDocument" Target="/ppt/presentation.xml" Id="Rf8a54a5c30c84fc9" /></Relationships>
</file>

<file path=ppt/presentation.xml><?xml version="1.0" encoding="utf-8"?>
<p:presentation xmlns:p="http://schemas.openxmlformats.org/presentationml/2006/main">
  <p:sldMasterIdLst>
    <p:sldMasterId xmlns:r="http://schemas.openxmlformats.org/officeDocument/2006/relationships" id="2147483648" r:id="Rbbc51aedec6145c5"/>
  </p:sldMasterIdLst>
  <p:notesMasterIdLst>
    <p:notesMasterId xmlns:r="http://schemas.openxmlformats.org/officeDocument/2006/relationships" r:id="R19904fc29a4c4675"/>
  </p:notesMasterIdLst>
  <p:sldIdLst>
    <p:sldId xmlns:r="http://schemas.openxmlformats.org/officeDocument/2006/relationships" id="256" r:id="R2e83bb7af1c1428e"/>
    <p:sldId xmlns:r="http://schemas.openxmlformats.org/officeDocument/2006/relationships" id="257" r:id="R9312cb78411240cc"/>
    <p:sldId xmlns:r="http://schemas.openxmlformats.org/officeDocument/2006/relationships" id="258" r:id="R0cccde5188ab467f"/>
    <p:sldId xmlns:r="http://schemas.openxmlformats.org/officeDocument/2006/relationships" id="259" r:id="R9b05da825ee94188"/>
    <p:sldId xmlns:r="http://schemas.openxmlformats.org/officeDocument/2006/relationships" id="260" r:id="R6a5e09b1cc00483b"/>
    <p:sldId xmlns:r="http://schemas.openxmlformats.org/officeDocument/2006/relationships" id="261" r:id="R90d5bdacf8a64654"/>
    <p:sldId xmlns:r="http://schemas.openxmlformats.org/officeDocument/2006/relationships" id="262" r:id="Rb6649664988a42a8"/>
    <p:sldId xmlns:r="http://schemas.openxmlformats.org/officeDocument/2006/relationships" id="263" r:id="R59f0564b564e415b"/>
    <p:sldId xmlns:r="http://schemas.openxmlformats.org/officeDocument/2006/relationships" id="264" r:id="Rd62c31c3be364072"/>
    <p:sldId xmlns:r="http://schemas.openxmlformats.org/officeDocument/2006/relationships" id="265" r:id="R701ddf75a9cb4142"/>
    <p:sldId xmlns:r="http://schemas.openxmlformats.org/officeDocument/2006/relationships" id="266" r:id="Rbd4208d103ea417a"/>
    <p:sldId xmlns:r="http://schemas.openxmlformats.org/officeDocument/2006/relationships" id="267" r:id="Rf748e6b148564387"/>
    <p:sldId xmlns:r="http://schemas.openxmlformats.org/officeDocument/2006/relationships" id="268" r:id="Raee33439c0e444eb"/>
    <p:sldId xmlns:r="http://schemas.openxmlformats.org/officeDocument/2006/relationships" id="269" r:id="Rd19c527bb6a9472a"/>
    <p:sldId xmlns:r="http://schemas.openxmlformats.org/officeDocument/2006/relationships" id="270" r:id="R50476bec08174ff5"/>
    <p:sldId xmlns:r="http://schemas.openxmlformats.org/officeDocument/2006/relationships" id="271" r:id="R62d8d94429f44826"/>
    <p:sldId xmlns:r="http://schemas.openxmlformats.org/officeDocument/2006/relationships" id="272" r:id="R96ffb11391d84e67"/>
    <p:sldId xmlns:r="http://schemas.openxmlformats.org/officeDocument/2006/relationships" id="273" r:id="R925e7bcdff324b27"/>
    <p:sldId xmlns:r="http://schemas.openxmlformats.org/officeDocument/2006/relationships" id="274" r:id="R5dbde0a6a03c4f0f"/>
    <p:sldId xmlns:r="http://schemas.openxmlformats.org/officeDocument/2006/relationships" id="275" r:id="R2b99ae2bc8e643b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2e575efe7f14053" /><Relationship Type="http://schemas.openxmlformats.org/officeDocument/2006/relationships/slideMaster" Target="/ppt/slideMasters/slideMaster1.xml" Id="Rbbc51aedec6145c5" /><Relationship Type="http://schemas.openxmlformats.org/officeDocument/2006/relationships/notesMaster" Target="/ppt/notesMasters/notesMaster1.xml" Id="R19904fc29a4c4675" /><Relationship Type="http://schemas.openxmlformats.org/officeDocument/2006/relationships/presProps" Target="/ppt/presProps.xml" Id="R61937b5fbd334eeb" /><Relationship Type="http://schemas.openxmlformats.org/officeDocument/2006/relationships/tableStyles" Target="/ppt/tableStyles.xml" Id="R7a843f4a706b4e0a" /><Relationship Type="http://schemas.openxmlformats.org/officeDocument/2006/relationships/slide" Target="/ppt/slides/slide1.xml" Id="R2e83bb7af1c1428e" /><Relationship Type="http://schemas.openxmlformats.org/officeDocument/2006/relationships/slide" Target="/ppt/slides/slide2.xml" Id="R9312cb78411240cc" /><Relationship Type="http://schemas.openxmlformats.org/officeDocument/2006/relationships/slide" Target="/ppt/slides/slide3.xml" Id="R0cccde5188ab467f" /><Relationship Type="http://schemas.openxmlformats.org/officeDocument/2006/relationships/slide" Target="/ppt/slides/slide4.xml" Id="R9b05da825ee94188" /><Relationship Type="http://schemas.openxmlformats.org/officeDocument/2006/relationships/slide" Target="/ppt/slides/slide5.xml" Id="R6a5e09b1cc00483b" /><Relationship Type="http://schemas.openxmlformats.org/officeDocument/2006/relationships/slide" Target="/ppt/slides/slide6.xml" Id="R90d5bdacf8a64654" /><Relationship Type="http://schemas.openxmlformats.org/officeDocument/2006/relationships/slide" Target="/ppt/slides/slide7.xml" Id="Rb6649664988a42a8" /><Relationship Type="http://schemas.openxmlformats.org/officeDocument/2006/relationships/slide" Target="/ppt/slides/slide8.xml" Id="R59f0564b564e415b" /><Relationship Type="http://schemas.openxmlformats.org/officeDocument/2006/relationships/slide" Target="/ppt/slides/slide9.xml" Id="Rd62c31c3be364072" /><Relationship Type="http://schemas.openxmlformats.org/officeDocument/2006/relationships/slide" Target="/ppt/slides/slide10.xml" Id="R701ddf75a9cb4142" /><Relationship Type="http://schemas.openxmlformats.org/officeDocument/2006/relationships/slide" Target="/ppt/slides/slide11.xml" Id="Rbd4208d103ea417a" /><Relationship Type="http://schemas.openxmlformats.org/officeDocument/2006/relationships/slide" Target="/ppt/slides/slide12.xml" Id="Rf748e6b148564387" /><Relationship Type="http://schemas.openxmlformats.org/officeDocument/2006/relationships/slide" Target="/ppt/slides/slide13.xml" Id="Raee33439c0e444eb" /><Relationship Type="http://schemas.openxmlformats.org/officeDocument/2006/relationships/slide" Target="/ppt/slides/slide14.xml" Id="Rd19c527bb6a9472a" /><Relationship Type="http://schemas.openxmlformats.org/officeDocument/2006/relationships/slide" Target="/ppt/slides/slide15.xml" Id="R50476bec08174ff5" /><Relationship Type="http://schemas.openxmlformats.org/officeDocument/2006/relationships/slide" Target="/ppt/slides/slide16.xml" Id="R62d8d94429f44826" /><Relationship Type="http://schemas.openxmlformats.org/officeDocument/2006/relationships/slide" Target="/ppt/slides/slide17.xml" Id="R96ffb11391d84e67" /><Relationship Type="http://schemas.openxmlformats.org/officeDocument/2006/relationships/slide" Target="/ppt/slides/slide18.xml" Id="R925e7bcdff324b27" /><Relationship Type="http://schemas.openxmlformats.org/officeDocument/2006/relationships/slide" Target="/ppt/slides/slide19.xml" Id="R5dbde0a6a03c4f0f" /><Relationship Type="http://schemas.openxmlformats.org/officeDocument/2006/relationships/slide" Target="/ppt/slides/slide20.xml" Id="R2b99ae2bc8e643b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e17f04c80a4496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34b0a06214e4406" /><Relationship Type="http://schemas.openxmlformats.org/officeDocument/2006/relationships/notesMaster" Target="/ppt/notesMasters/notesMaster1.xml" Id="R7b1a363e96834050" /></Relationships>
</file>

<file path=ppt/notesSlides/_rels/notesSlide2.xml.rels>&#65279;<?xml version="1.0" encoding="utf-8"?><Relationships xmlns="http://schemas.openxmlformats.org/package/2006/relationships"><Relationship Type="http://schemas.openxmlformats.org/officeDocument/2006/relationships/slide" Target="/ppt/slides/slide2.xml" Id="R7f2fa00e7f79412b" /><Relationship Type="http://schemas.openxmlformats.org/officeDocument/2006/relationships/notesMaster" Target="/ppt/notesMasters/notesMaster1.xml" Id="R6db8dbc410ac437a" /></Relationships>
</file>

<file path=ppt/notesSlides/_rels/notesSlide3.xml.rels>&#65279;<?xml version="1.0" encoding="utf-8"?><Relationships xmlns="http://schemas.openxmlformats.org/package/2006/relationships"><Relationship Type="http://schemas.openxmlformats.org/officeDocument/2006/relationships/slide" Target="/ppt/slides/slide3.xml" Id="R1c726d515d864aa3" /><Relationship Type="http://schemas.openxmlformats.org/officeDocument/2006/relationships/notesMaster" Target="/ppt/notesMasters/notesMaster1.xml" Id="R3d2b8a7c69e74a70" /></Relationships>
</file>

<file path=ppt/notesSlides/_rels/notesSlide4.xml.rels>&#65279;<?xml version="1.0" encoding="utf-8"?><Relationships xmlns="http://schemas.openxmlformats.org/package/2006/relationships"><Relationship Type="http://schemas.openxmlformats.org/officeDocument/2006/relationships/slide" Target="/ppt/slides/slide4.xml" Id="Rfe3490e677f84ecc" /><Relationship Type="http://schemas.openxmlformats.org/officeDocument/2006/relationships/notesMaster" Target="/ppt/notesMasters/notesMaster1.xml" Id="R6b7240510cab4897" /></Relationships>
</file>

<file path=ppt/notesSlides/_rels/notesSlide5.xml.rels>&#65279;<?xml version="1.0" encoding="utf-8"?><Relationships xmlns="http://schemas.openxmlformats.org/package/2006/relationships"><Relationship Type="http://schemas.openxmlformats.org/officeDocument/2006/relationships/slide" Target="/ppt/slides/slide5.xml" Id="Rd19582396e1749a1" /><Relationship Type="http://schemas.openxmlformats.org/officeDocument/2006/relationships/notesMaster" Target="/ppt/notesMasters/notesMaster1.xml" Id="Rd496f336cc60441a" /></Relationships>
</file>

<file path=ppt/notesSlides/_rels/notesSlide6.xml.rels>&#65279;<?xml version="1.0" encoding="utf-8"?><Relationships xmlns="http://schemas.openxmlformats.org/package/2006/relationships"><Relationship Type="http://schemas.openxmlformats.org/officeDocument/2006/relationships/slide" Target="/ppt/slides/slide6.xml" Id="R7f368f4c8e844410" /><Relationship Type="http://schemas.openxmlformats.org/officeDocument/2006/relationships/notesMaster" Target="/ppt/notesMasters/notesMaster1.xml" Id="R0f3f4a8ece624665" /></Relationships>
</file>

<file path=ppt/notesSlides/_rels/notesSlide7.xml.rels>&#65279;<?xml version="1.0" encoding="utf-8"?><Relationships xmlns="http://schemas.openxmlformats.org/package/2006/relationships"><Relationship Type="http://schemas.openxmlformats.org/officeDocument/2006/relationships/slide" Target="/ppt/slides/slide7.xml" Id="R644bbddaf4d444f6" /><Relationship Type="http://schemas.openxmlformats.org/officeDocument/2006/relationships/notesMaster" Target="/ppt/notesMasters/notesMaster1.xml" Id="R34b2ca9cf1234db7" /></Relationships>
</file>

<file path=ppt/notesSlides/_rels/notesSlide8.xml.rels>&#65279;<?xml version="1.0" encoding="utf-8"?><Relationships xmlns="http://schemas.openxmlformats.org/package/2006/relationships"><Relationship Type="http://schemas.openxmlformats.org/officeDocument/2006/relationships/slide" Target="/ppt/slides/slide8.xml" Id="R83599c9b3a434127" /><Relationship Type="http://schemas.openxmlformats.org/officeDocument/2006/relationships/notesMaster" Target="/ppt/notesMasters/notesMaster1.xml" Id="R8c447846f5c8447b" /></Relationships>
</file>

<file path=ppt/notesSlides/_rels/notesSlide9.xml.rels>&#65279;<?xml version="1.0" encoding="utf-8"?><Relationships xmlns="http://schemas.openxmlformats.org/package/2006/relationships"><Relationship Type="http://schemas.openxmlformats.org/officeDocument/2006/relationships/slide" Target="/ppt/slides/slide9.xml" Id="Rb5c21a32fcab4819" /><Relationship Type="http://schemas.openxmlformats.org/officeDocument/2006/relationships/notesMaster" Target="/ppt/notesMasters/notesMaster1.xml" Id="R2b8297f7a8814c7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917dee85d954643" /><Relationship Type="http://schemas.openxmlformats.org/officeDocument/2006/relationships/notesMaster" Target="/ppt/notesMasters/notesMaster1.xml" Id="R7ec56377a5a24bb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2d0095436404eea" /><Relationship Type="http://schemas.openxmlformats.org/officeDocument/2006/relationships/notesMaster" Target="/ppt/notesMasters/notesMaster1.xml" Id="Rb9dab0d9c6b2454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9f639f5aeb14b00" /><Relationship Type="http://schemas.openxmlformats.org/officeDocument/2006/relationships/notesMaster" Target="/ppt/notesMasters/notesMaster1.xml" Id="R58343a81a1e24fb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35624d978f34ad7" /><Relationship Type="http://schemas.openxmlformats.org/officeDocument/2006/relationships/notesMaster" Target="/ppt/notesMasters/notesMaster1.xml" Id="R067efb262628486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3bc85f4cc87484c" /><Relationship Type="http://schemas.openxmlformats.org/officeDocument/2006/relationships/notesMaster" Target="/ppt/notesMasters/notesMaster1.xml" Id="Rbef28495431b46b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36ca9825cab4573" /><Relationship Type="http://schemas.openxmlformats.org/officeDocument/2006/relationships/notesMaster" Target="/ppt/notesMasters/notesMaster1.xml" Id="Rc14c9fbb24c0490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5024d28f37847d8" /><Relationship Type="http://schemas.openxmlformats.org/officeDocument/2006/relationships/notesMaster" Target="/ppt/notesMasters/notesMaster1.xml" Id="Rbeeb47357879487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a77115c81c94dc7" /><Relationship Type="http://schemas.openxmlformats.org/officeDocument/2006/relationships/notesMaster" Target="/ppt/notesMasters/notesMaster1.xml" Id="Rdaa2e1cecea04b9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2e00c2c055244e1" /><Relationship Type="http://schemas.openxmlformats.org/officeDocument/2006/relationships/notesMaster" Target="/ppt/notesMasters/notesMaster1.xml" Id="R4bc8d352c8854cd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4aa520eef954d9c" /><Relationship Type="http://schemas.openxmlformats.org/officeDocument/2006/relationships/notesMaster" Target="/ppt/notesMasters/notesMaster1.xml" Id="R24c585892d394db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8a8798e1f66408b" /><Relationship Type="http://schemas.openxmlformats.org/officeDocument/2006/relationships/notesMaster" Target="/ppt/notesMasters/notesMaster1.xml" Id="R94f9dc99667e44b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picture shows a straight-on perspective view of the actual 360 experience opening scene. Students should keep the experience closed until slide 7.</a:t>
            </a:r>
          </a:p>
          <a:p xmlns:a="http://schemas.openxmlformats.org/drawingml/2006/main">
            <a:r>
              <a:t>Sources: Revise360 experiences/sa-l02.json and worksheets/SA_L02_VonNeumannHQ_Worksheet.docx. Indicative answers are for discussion and self-check, not an official exam-board mark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outcomes with the class. They follow the wording of the lesson worksheet.</a:t>
            </a:r>
          </a:p>
          <a:p xmlns:a="http://schemas.openxmlformats.org/drawingml/2006/main">
            <a:r>
              <a:t>Sources: Revise360 experiences/sa-l02.json and worksheets/SA_L02_VonNeumannHQ_Worksheet.docx. Indicative answers are for discussion and self-check, not an official exam-board mark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pupils to attempt the exact starter question printed on the worksheet. Take a few suggestions before showing the model answer.</a:t>
            </a:r>
          </a:p>
          <a:p xmlns:a="http://schemas.openxmlformats.org/drawingml/2006/main">
            <a:r>
              <a:t>Sources: Revise360 experiences/sa-l02.json and worksheets/SA_L02_VonNeumannHQ_Worksheet.docx. Indicative answers are for discussion and self-check, not an official exam-board mark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sample answers to the exact worksheet starter question. Accept other correct examples and explanations.</a:t>
            </a:r>
          </a:p>
          <a:p xmlns:a="http://schemas.openxmlformats.org/drawingml/2006/main">
            <a:r>
              <a:t>Sources: Revise360 experiences/sa-l02.json and worksheets/SA_L02_VonNeumannHQ_Worksheet.docx. Indicative answers are for discussion and self-check, not an official exam-board mark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Students write definitions from memory. These two terms are the worksheet’s exact key terminology entries, including the recap terms in Lesson 4.</a:t>
            </a:r>
          </a:p>
          <a:p xmlns:a="http://schemas.openxmlformats.org/drawingml/2006/main">
            <a:r>
              <a:t>Sources: Revise360 experiences/sa-l02.json and worksheets/SA_L02_VonNeumannHQ_Worksheet.docx. Indicative answers are for discussion and self-check, not an official exam-board mark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term definitions are visible for pupils to correct their quiz. Reveal this slide after attempts.</a:t>
            </a:r>
          </a:p>
          <a:p xmlns:a="http://schemas.openxmlformats.org/drawingml/2006/main">
            <a:r>
              <a:t>Sources: Revise360 experiences/sa-l02.json and worksheets/SA_L02_VonNeumannHQ_Worksheet.docx. Indicative answers are for discussion and self-check, not an official exam-board mark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first slide where students open the experience file. Leave it visible while they get set up. The link opens the matching experience.</a:t>
            </a:r>
          </a:p>
          <a:p xmlns:a="http://schemas.openxmlformats.org/drawingml/2006/main">
            <a:r>
              <a:t>Sources: Revise360 experiences/sa-l02.json and worksheets/SA_L02_VonNeumannHQ_Worksheet.docx. Indicative answers are for discussion and self-check, not an official exam-board mark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image is a straight-on perspective view of stations 1 and 2 in the actual experience. Students should record the key fact and their own answer before selecting each badge.</a:t>
            </a:r>
          </a:p>
          <a:p xmlns:a="http://schemas.openxmlformats.org/drawingml/2006/main">
            <a:r>
              <a:t>Sources: Revise360 experiences/sa-l02.json and worksheets/SA_L02_VonNeumannHQ_Worksheet.docx. Indicative answers are for discussion and self-check, not an official exam-board mark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Once students have reached the score screen, they copy the mark straight away. The key question is printed on the worksheet after the score box.</a:t>
            </a:r>
          </a:p>
          <a:p xmlns:a="http://schemas.openxmlformats.org/drawingml/2006/main">
            <a:r>
              <a:t>Sources: Revise360 experiences/sa-l02.json and worksheets/SA_L02_VonNeumannHQ_Worksheet.docx. Indicative answers are for discussion and self-check, not an official exam-board mark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extension is optional and comes after the experience. Give students time to reason in full sentences.</a:t>
            </a:r>
          </a:p>
          <a:p xmlns:a="http://schemas.openxmlformats.org/drawingml/2006/main">
            <a:r>
              <a:t>Sources: Revise360 experiences/sa-l02.json and worksheets/SA_L02_VonNeumannHQ_Worksheet.docx. Indicative answers are for discussion and self-check, not an official exam-board mark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work after the experience has been completed. Move the whole class to the plenary knowledge check near the end of the lesson. Do not reveal station answers until pupils have completed the experience.</a:t>
            </a:r>
          </a:p>
          <a:p xmlns:a="http://schemas.openxmlformats.org/drawingml/2006/main">
            <a:r>
              <a:t>Sources: Revise360 experiences/sa-l02.json and worksheets/SA_L02_VonNeumannHQ_Worksheet.docx. Indicative answers are for discussion and self-check, not an official exam-board mark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sample answers after students have attempted the two application prompts. These are examples rather than a single required wording.</a:t>
            </a:r>
          </a:p>
          <a:p xmlns:a="http://schemas.openxmlformats.org/drawingml/2006/main">
            <a:r>
              <a:t>Sources: Revise360 experiences/sa-l02.json and worksheets/SA_L02_VonNeumannHQ_Worksheet.docx. Indicative answers are for discussion and self-check, not an official exam-board mark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concise answers to the worksheet station prompts, shared only after pupils complete the experience. Correct wording can vary.</a:t>
            </a:r>
          </a:p>
          <a:p xmlns:a="http://schemas.openxmlformats.org/drawingml/2006/main">
            <a:r>
              <a:t>Sources: Revise360 experiences/sa-l02.json and worksheets/SA_L02_VonNeumannHQ_Worksheet.docx. Indicative answers are for discussion and self-check, not an official exam-board mark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concise answers to the worksheet station prompts, shared only after pupils complete the experience. Correct wording can vary.</a:t>
            </a:r>
          </a:p>
          <a:p xmlns:a="http://schemas.openxmlformats.org/drawingml/2006/main">
            <a:r>
              <a:t>Sources: Revise360 experiences/sa-l02.json and worksheets/SA_L02_VonNeumannHQ_Worksheet.docx. Indicative answers are for discussion and self-check, not an official exam-board mark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answers follow the final challenge in the interactive experience and the worksheet. Students should correct their table before the exam questions.</a:t>
            </a:r>
          </a:p>
          <a:p xmlns:a="http://schemas.openxmlformats.org/drawingml/2006/main">
            <a:r>
              <a:t>Sources: Revise360 experiences/sa-l02.json and worksheets/SA_L02_VonNeumannHQ_Worksheet.docx. Indicative answers are for discussion and self-check, not an official exam-board mark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exact exam-practice questions a and b from the worksheet. Give independent writing time before revealing the answers.</a:t>
            </a:r>
          </a:p>
          <a:p xmlns:a="http://schemas.openxmlformats.org/drawingml/2006/main">
            <a:r>
              <a:t>Sources: Revise360 experiences/sa-l02.json and worksheets/SA_L02_VonNeumannHQ_Worksheet.docx. Indicative answers are for discussion and self-check, not an official exam-board mark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exact worksheet exam-practice question c. Let students answer independently.</a:t>
            </a:r>
          </a:p>
          <a:p xmlns:a="http://schemas.openxmlformats.org/drawingml/2006/main">
            <a:r>
              <a:t>Sources: Revise360 experiences/sa-l02.json and worksheets/SA_L02_VonNeumannHQ_Worksheet.docx. Indicative answers are for discussion and self-check, not an official exam-board mark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classroom answer points, not an official OCR mark scheme. Ask students to improve one response in a different colour.</a:t>
            </a:r>
          </a:p>
          <a:p xmlns:a="http://schemas.openxmlformats.org/drawingml/2006/main">
            <a:r>
              <a:t>Sources: Revise360 experiences/sa-l02.json and worksheets/SA_L02_VonNeumannHQ_Worksheet.docx. Indicative answers are for discussion and self-check, not an official exam-board mark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Accept equivalent descriptions. The experience also covers Harvard architecture and Python keywords; the exam questions on the worksheet focus on registers and the cycle. Ask students to revise one sentence after self-check.</a:t>
            </a:r>
          </a:p>
          <a:p xmlns:a="http://schemas.openxmlformats.org/drawingml/2006/main">
            <a:r>
              <a:t>Sources: Revise360 experiences/sa-l02.json and worksheets/SA_L02_VonNeumannHQ_Worksheet.docx. Indicative answers are for discussion and self-check, not an official exam-board mark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 with the exact confidence objectives listed in the worksheet. Ask students to identify one item to revisit next time.</a:t>
            </a:r>
          </a:p>
          <a:p xmlns:a="http://schemas.openxmlformats.org/drawingml/2006/main">
            <a:r>
              <a:t>Sources: Revise360 experiences/sa-l02.json and worksheets/SA_L02_VonNeumannHQ_Worksheet.docx. Indicative answers are for discussion and self-check, not an official exam-board mark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db2398fc6e4413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2ee01bbef2c483b" /><Relationship Type="http://schemas.openxmlformats.org/officeDocument/2006/relationships/slideLayout" Target="/ppt/slideLayouts/slideLayout1.xml" Id="R540e301851f3453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40e301851f3453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047b11ddc164f20" /><Relationship Type="http://schemas.openxmlformats.org/officeDocument/2006/relationships/image" Target="/ppt/media/image.jpeg" Id="R8b2a7abaaca54bee" /><Relationship Type="http://schemas.openxmlformats.org/officeDocument/2006/relationships/notesSlide" Target="/ppt/notesSlides/notesSlide1.xml" Id="Rc2d4eee2882f4eb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13aa2010dab4651" /><Relationship Type="http://schemas.openxmlformats.org/officeDocument/2006/relationships/notesSlide" Target="/ppt/notesSlides/notesSlide2.xml" Id="R7ffc12e5e1de49d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df403ccc8574336" /><Relationship Type="http://schemas.openxmlformats.org/officeDocument/2006/relationships/notesSlide" Target="/ppt/notesSlides/notesSlide3.xml" Id="R8aacee0f94fa4e0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00b1f643cdc40e2" /><Relationship Type="http://schemas.openxmlformats.org/officeDocument/2006/relationships/notesSlide" Target="/ppt/notesSlides/notesSlide4.xml" Id="R6891b8fe76d549c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7bd96c22edc47d0" /><Relationship Type="http://schemas.openxmlformats.org/officeDocument/2006/relationships/notesSlide" Target="/ppt/notesSlides/notesSlide5.xml" Id="R6da5805af1fd456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c8034de91ad4175" /><Relationship Type="http://schemas.openxmlformats.org/officeDocument/2006/relationships/notesSlide" Target="/ppt/notesSlides/notesSlide6.xml" Id="R4007da05fd20446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c867cce0b0146d8" /><Relationship Type="http://schemas.openxmlformats.org/officeDocument/2006/relationships/hyperlink" Target="https://mrp-cs.github.io/Revise360/experience.html?id=sa-l02" TargetMode="External" Id="R31e0405c6e0a496d" /><Relationship Type="http://schemas.openxmlformats.org/officeDocument/2006/relationships/notesSlide" Target="/ppt/notesSlides/notesSlide7.xml" Id="R8257842fe88b461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0fcf82b29bc4dc3" /><Relationship Type="http://schemas.openxmlformats.org/officeDocument/2006/relationships/image" Target="/ppt/media/image2.jpeg" Id="Rb66ce3ccaaea4e23" /><Relationship Type="http://schemas.openxmlformats.org/officeDocument/2006/relationships/notesSlide" Target="/ppt/notesSlides/notesSlide8.xml" Id="R28fa121c61b74d3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b493260b4dc409e" /><Relationship Type="http://schemas.openxmlformats.org/officeDocument/2006/relationships/notesSlide" Target="/ppt/notesSlides/notesSlide9.xml" Id="R4908024cca80461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f18bf75509c4e90" /><Relationship Type="http://schemas.openxmlformats.org/officeDocument/2006/relationships/notesSlide" Target="/ppt/notesSlides/notesSlide10.xml" Id="Rae0908b516ad42c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715a17397ed4309" /><Relationship Type="http://schemas.openxmlformats.org/officeDocument/2006/relationships/notesSlide" Target="/ppt/notesSlides/notesSlide11.xml" Id="R0e0569df4321496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a33291bd1134622" /><Relationship Type="http://schemas.openxmlformats.org/officeDocument/2006/relationships/notesSlide" Target="/ppt/notesSlides/notesSlide12.xml" Id="R4906de4259244b7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24ef8b48ce94f93" /><Relationship Type="http://schemas.openxmlformats.org/officeDocument/2006/relationships/notesSlide" Target="/ppt/notesSlides/notesSlide13.xml" Id="Rfdfdc42ad91544d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f916f4438124124" /><Relationship Type="http://schemas.openxmlformats.org/officeDocument/2006/relationships/notesSlide" Target="/ppt/notesSlides/notesSlide14.xml" Id="R3dae7eb74fe24c7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5c21ccec1c14538" /><Relationship Type="http://schemas.openxmlformats.org/officeDocument/2006/relationships/notesSlide" Target="/ppt/notesSlides/notesSlide15.xml" Id="Rb535478d8a3b4cf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c03df98bb744818" /><Relationship Type="http://schemas.openxmlformats.org/officeDocument/2006/relationships/notesSlide" Target="/ppt/notesSlides/notesSlide16.xml" Id="R20b8823ed0ea4ca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053f6c434dd43fe" /><Relationship Type="http://schemas.openxmlformats.org/officeDocument/2006/relationships/notesSlide" Target="/ppt/notesSlides/notesSlide17.xml" Id="Rd25798908d274af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a67ecfea3fa4f79" /><Relationship Type="http://schemas.openxmlformats.org/officeDocument/2006/relationships/notesSlide" Target="/ppt/notesSlides/notesSlide18.xml" Id="R47ba6680033c45d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81322726d764f4c" /><Relationship Type="http://schemas.openxmlformats.org/officeDocument/2006/relationships/notesSlide" Target="/ppt/notesSlides/notesSlide19.xml" Id="R51007a2c4013479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48915b1629848cd" /><Relationship Type="http://schemas.openxmlformats.org/officeDocument/2006/relationships/notesSlide" Target="/ppt/notesSlides/notesSlide20.xml" Id="R5c942f8bd90646a6" /></Relationships>
</file>

<file path=ppt/slides/slide1.xml><?xml version="1.0" encoding="utf-8"?>
<p:sld xmlns:p="http://schemas.openxmlformats.org/presentationml/2006/main">
  <p:cSld>
    <p:bg>
      <p:bgPr>
        <a:solidFill xmlns:a="http://schemas.openxmlformats.org/drawingml/2006/main">
          <a:srgbClr val="122448"/>
        </a:solidFill>
      </p:bgPr>
    </p:bg>
    <p:spTree>
      <p:nvGrpSpPr>
        <p:cNvPr id="1" name=""/>
        <p:cNvGrpSpPr/>
        <p:nvPr/>
      </p:nvGrpSpPr>
      <p:grpSpPr>
        <a:xfrm xmlns:a="http://schemas.openxmlformats.org/drawingml/2006/main"/>
      </p:grpSpPr>
      <p:sp>
        <p:nvSpPr>
          <p:cNvPr id="8" name="topic">
            <a:extLst xmlns:a="http://schemas.openxmlformats.org/drawingml/2006/main">
              <a:ext uri="{FF2B5EF4-FFF2-40B4-BE49-F238E27FC236}">
                <a16:creationId xmlns:a16="http://schemas.microsoft.com/office/drawing/2014/main" id="{AAE47A5D-E8C8-4F1E-A954-C478DF5812C3}"/>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77D8FF"/>
                </a:solidFill>
                <a:latin typeface="DejaVu Sans"/>
                <a:ea typeface="DejaVu Sans"/>
                <a:cs typeface="DejaVu Sans"/>
              </a:defRPr>
            </a:pPr>
            <a:r>
              <a:rPr sz="1125" b="1">
                <a:solidFill>
                  <a:srgbClr val="77D8FF"/>
                </a:solidFill>
                <a:latin typeface="DejaVu Sans"/>
                <a:ea typeface="DejaVu Sans"/>
                <a:cs typeface="DejaVu Sans"/>
              </a:rPr>
              <a:t>TOPIC 1.1   /   LESSON 02</a:t>
            </a:r>
          </a:p>
        </p:txBody>
      </p:sp>
      <p:sp>
        <p:nvSpPr>
          <p:cNvPr id="2" name="heading">
            <a:extLst xmlns:a="http://schemas.openxmlformats.org/drawingml/2006/main">
              <a:ext uri="{FF2B5EF4-FFF2-40B4-BE49-F238E27FC236}">
                <a16:creationId xmlns:a16="http://schemas.microsoft.com/office/drawing/2014/main" id="{A49DFFDD-59B2-4B10-B8A6-B602F59324F0}"/>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FFFFFF"/>
                </a:solidFill>
                <a:latin typeface="DejaVu Sans"/>
                <a:ea typeface="DejaVu Sans"/>
                <a:cs typeface="DejaVu Sans"/>
              </a:defRPr>
            </a:pPr>
            <a:r>
              <a:rPr sz="3225" b="1">
                <a:solidFill>
                  <a:srgbClr val="FFFFFF"/>
                </a:solidFill>
                <a:latin typeface="DejaVu Sans"/>
                <a:ea typeface="DejaVu Sans"/>
                <a:cs typeface="DejaVu Sans"/>
              </a:rPr>
              <a:t>VON NEUMANN HQ</a:t>
            </a:r>
          </a:p>
        </p:txBody>
      </p:sp>
      <p:sp>
        <p:nvSpPr>
          <p:cNvPr id="3" name="footer">
            <a:extLst xmlns:a="http://schemas.openxmlformats.org/drawingml/2006/main">
              <a:ext uri="{FF2B5EF4-FFF2-40B4-BE49-F238E27FC236}">
                <a16:creationId xmlns:a16="http://schemas.microsoft.com/office/drawing/2014/main" id="{1B39FFD1-4D3C-4131-9809-93179B833FC9}"/>
              </a:ext>
            </a:extLst>
          </p:cNvPr>
          <p:cNvSpPr>
            <a:spLocks xmlns:a="http://schemas.openxmlformats.org/drawingml/2006/main" noGrp="1"/>
          </p:cNvSpPr>
          <p:nvPr/>
        </p:nvSpPr>
        <p:spPr>
          <a:xfrm xmlns:a="http://schemas.openxmlformats.org/drawingml/2006/main">
            <a:off x="666750" y="6400800"/>
            <a:ext cx="981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D7E4F3"/>
                </a:solidFill>
                <a:latin typeface="DejaVu Sans"/>
                <a:ea typeface="DejaVu Sans"/>
                <a:cs typeface="DejaVu Sans"/>
              </a:defRPr>
            </a:pPr>
            <a:r>
              <a:rPr sz="1050" b="0">
                <a:solidFill>
                  <a:srgbClr val="D7E4F3"/>
                </a:solidFill>
                <a:latin typeface="DejaVu Sans"/>
                <a:ea typeface="DejaVu Sans"/>
                <a:cs typeface="DejaVu Sans"/>
              </a:rPr>
              <a:t>Revise 360    OCR J277 1.1 Systems architecture</a:t>
            </a:r>
          </a:p>
        </p:txBody>
      </p:sp>
      <p:sp>
        <p:nvSpPr>
          <p:cNvPr id="4" name="page">
            <a:extLst xmlns:a="http://schemas.openxmlformats.org/drawingml/2006/main">
              <a:ext uri="{FF2B5EF4-FFF2-40B4-BE49-F238E27FC236}">
                <a16:creationId xmlns:a16="http://schemas.microsoft.com/office/drawing/2014/main" id="{53A33EDB-89D8-41F5-9B4D-1E9B33B93348}"/>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D7E4F3"/>
                </a:solidFill>
                <a:latin typeface="DejaVu Sans"/>
                <a:ea typeface="DejaVu Sans"/>
                <a:cs typeface="DejaVu Sans"/>
              </a:defRPr>
            </a:pPr>
            <a:r>
              <a:rPr sz="1050" b="0">
                <a:solidFill>
                  <a:srgbClr val="D7E4F3"/>
                </a:solidFill>
                <a:latin typeface="DejaVu Sans"/>
                <a:ea typeface="DejaVu Sans"/>
                <a:cs typeface="DejaVu Sans"/>
              </a:rPr>
              <a:t>1 / 20</a:t>
            </a:r>
          </a:p>
        </p:txBody>
      </p:sp>
      <p:sp>
        <p:nvSpPr>
          <p:cNvPr id="5" name="subject">
            <a:extLst xmlns:a="http://schemas.openxmlformats.org/drawingml/2006/main">
              <a:ext uri="{FF2B5EF4-FFF2-40B4-BE49-F238E27FC236}">
                <a16:creationId xmlns:a16="http://schemas.microsoft.com/office/drawing/2014/main" id="{DBB1FB3A-B351-4AB7-8329-883C48E42D37}"/>
              </a:ext>
            </a:extLst>
          </p:cNvPr>
          <p:cNvSpPr>
            <a:spLocks xmlns:a="http://schemas.openxmlformats.org/drawingml/2006/main" noGrp="1"/>
          </p:cNvSpPr>
          <p:nvPr/>
        </p:nvSpPr>
        <p:spPr>
          <a:xfrm xmlns:a="http://schemas.openxmlformats.org/drawingml/2006/main">
            <a:off x="685800" y="1762125"/>
            <a:ext cx="5143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77D8FF"/>
                </a:solidFill>
                <a:latin typeface="DejaVu Sans"/>
                <a:ea typeface="DejaVu Sans"/>
                <a:cs typeface="DejaVu Sans"/>
              </a:defRPr>
            </a:pPr>
            <a:r>
              <a:rPr sz="2325" b="0">
                <a:solidFill>
                  <a:srgbClr val="77D8FF"/>
                </a:solidFill>
                <a:latin typeface="DejaVu Sans"/>
                <a:ea typeface="DejaVu Sans"/>
                <a:cs typeface="DejaVu Sans"/>
              </a:rPr>
              <a:t>Architecture of the CPU</a:t>
            </a:r>
          </a:p>
        </p:txBody>
      </p:sp>
      <p:sp>
        <p:nvSpPr>
          <p:cNvPr id="6" name="cover-note">
            <a:extLst xmlns:a="http://schemas.openxmlformats.org/drawingml/2006/main">
              <a:ext uri="{FF2B5EF4-FFF2-40B4-BE49-F238E27FC236}">
                <a16:creationId xmlns:a16="http://schemas.microsoft.com/office/drawing/2014/main" id="{5C1B0A68-7E42-4C61-A10B-E9ED83191628}"/>
              </a:ext>
            </a:extLst>
          </p:cNvPr>
          <p:cNvSpPr>
            <a:spLocks xmlns:a="http://schemas.openxmlformats.org/drawingml/2006/main" noGrp="1"/>
          </p:cNvSpPr>
          <p:nvPr/>
        </p:nvSpPr>
        <p:spPr>
          <a:xfrm xmlns:a="http://schemas.openxmlformats.org/drawingml/2006/main">
            <a:off x="685800" y="3267075"/>
            <a:ext cx="51435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8000"/>
              </a:lnSpc>
              <a:buNone/>
              <a:defRPr sz="1950" b="0">
                <a:solidFill>
                  <a:srgbClr val="FFFFFF"/>
                </a:solidFill>
                <a:latin typeface="DejaVu Sans"/>
                <a:ea typeface="DejaVu Sans"/>
                <a:cs typeface="DejaVu Sans"/>
              </a:defRPr>
            </a:pPr>
            <a:r>
              <a:rPr sz="1950" b="0">
                <a:solidFill>
                  <a:srgbClr val="FFFFFF"/>
                </a:solidFill>
                <a:latin typeface="DejaVu Sans"/>
                <a:ea typeface="DejaVu Sans"/>
                <a:cs typeface="DejaVu Sans"/>
              </a:rPr>
              <a:t>Start with your worksheet.</a:t>
            </a:r>
          </a:p>
          <a:p xmlns:a="http://schemas.openxmlformats.org/drawingml/2006/main">
            <a:pPr>
              <a:lnSpc>
                <a:spcPct val="118000"/>
              </a:lnSpc>
              <a:buNone/>
              <a:defRPr sz="1950" b="0">
                <a:solidFill>
                  <a:srgbClr val="FFFFFF"/>
                </a:solidFill>
                <a:latin typeface="DejaVu Sans"/>
                <a:ea typeface="DejaVu Sans"/>
                <a:cs typeface="DejaVu Sans"/>
              </a:defRPr>
            </a:pPr>
            <a:r>
              <a:rPr sz="1950" b="0">
                <a:solidFill>
                  <a:srgbClr val="FFFFFF"/>
                </a:solidFill>
                <a:latin typeface="DejaVu Sans"/>
                <a:ea typeface="DejaVu Sans"/>
                <a:cs typeface="DejaVu Sans"/>
              </a:rPr>
              <a:t>Open the experience after the starter and key terms have been marked.</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b2a7abaaca54bee"/>
          <a:stretch xmlns:a="http://schemas.openxmlformats.org/drawingml/2006/main"/>
        </p:blipFill>
        <p:spPr>
          <a:xfrm xmlns:a="http://schemas.openxmlformats.org/drawingml/2006/main">
            <a:off x="6076950" y="1819275"/>
            <a:ext cx="5400675" cy="3600450"/>
          </a:xfrm>
          <a:prstGeom xmlns:a="http://schemas.openxmlformats.org/drawingml/2006/main" prst="rect">
            <a:avLst/>
          </a:prstGeom>
        </p:spPr>
      </p:pic>
    </p:spTree>
    <p:extLst>
      <p:ext uri="{BB962C8B-B14F-4D97-AF65-F5344CB8AC3E}">
        <p14:creationId xmlns:p14="http://schemas.microsoft.com/office/powerpoint/2010/main" val="130180847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opic">
            <a:extLst xmlns:a="http://schemas.openxmlformats.org/drawingml/2006/main">
              <a:ext uri="{FF2B5EF4-FFF2-40B4-BE49-F238E27FC236}">
                <a16:creationId xmlns:a16="http://schemas.microsoft.com/office/drawing/2014/main" id="{3A77B38A-43F0-48DF-9B49-8CDD092ECAB6}"/>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1.1   /   LESSON 02   /   WORKSHEET</a:t>
            </a:r>
          </a:p>
        </p:txBody>
      </p:sp>
      <p:sp>
        <p:nvSpPr>
          <p:cNvPr id="2" name="heading">
            <a:extLst xmlns:a="http://schemas.openxmlformats.org/drawingml/2006/main">
              <a:ext uri="{FF2B5EF4-FFF2-40B4-BE49-F238E27FC236}">
                <a16:creationId xmlns:a16="http://schemas.microsoft.com/office/drawing/2014/main" id="{DBE01073-F18D-4D8A-89AA-B0A772FBABEE}"/>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By the end of this lesson</a:t>
            </a:r>
          </a:p>
        </p:txBody>
      </p:sp>
      <p:sp>
        <p:nvSpPr>
          <p:cNvPr id="3" name="footer">
            <a:extLst xmlns:a="http://schemas.openxmlformats.org/drawingml/2006/main">
              <a:ext uri="{FF2B5EF4-FFF2-40B4-BE49-F238E27FC236}">
                <a16:creationId xmlns:a16="http://schemas.microsoft.com/office/drawing/2014/main" id="{19440CCC-B26D-492F-B700-919267747D80}"/>
              </a:ext>
            </a:extLst>
          </p:cNvPr>
          <p:cNvSpPr>
            <a:spLocks xmlns:a="http://schemas.openxmlformats.org/drawingml/2006/main" noGrp="1"/>
          </p:cNvSpPr>
          <p:nvPr/>
        </p:nvSpPr>
        <p:spPr>
          <a:xfrm xmlns:a="http://schemas.openxmlformats.org/drawingml/2006/main">
            <a:off x="666750" y="6400800"/>
            <a:ext cx="981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Revise 360    OCR J277 1.1 Systems architecture</a:t>
            </a:r>
          </a:p>
        </p:txBody>
      </p:sp>
      <p:sp>
        <p:nvSpPr>
          <p:cNvPr id="4" name="page">
            <a:extLst xmlns:a="http://schemas.openxmlformats.org/drawingml/2006/main">
              <a:ext uri="{FF2B5EF4-FFF2-40B4-BE49-F238E27FC236}">
                <a16:creationId xmlns:a16="http://schemas.microsoft.com/office/drawing/2014/main" id="{508FBFBF-197D-494A-8F89-38812351A2C6}"/>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2 / 20</a:t>
            </a:r>
          </a:p>
        </p:txBody>
      </p:sp>
      <p:sp>
        <p:nvSpPr>
          <p:cNvPr id="5" name="outcome-intro">
            <a:extLst xmlns:a="http://schemas.openxmlformats.org/drawingml/2006/main">
              <a:ext uri="{FF2B5EF4-FFF2-40B4-BE49-F238E27FC236}">
                <a16:creationId xmlns:a16="http://schemas.microsoft.com/office/drawing/2014/main" id="{14453A41-1880-455A-AB96-0BFE1987D32B}"/>
              </a:ext>
            </a:extLst>
          </p:cNvPr>
          <p:cNvSpPr>
            <a:spLocks xmlns:a="http://schemas.openxmlformats.org/drawingml/2006/main" noGrp="1"/>
          </p:cNvSpPr>
          <p:nvPr/>
        </p:nvSpPr>
        <p:spPr>
          <a:xfrm xmlns:a="http://schemas.openxmlformats.org/drawingml/2006/main">
            <a:off x="704850" y="158115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174"/>
                </a:solidFill>
                <a:latin typeface="DejaVu Sans"/>
                <a:ea typeface="DejaVu Sans"/>
                <a:cs typeface="DejaVu Sans"/>
              </a:defRPr>
            </a:pPr>
            <a:r>
              <a:rPr sz="1875" b="0">
                <a:solidFill>
                  <a:srgbClr val="526174"/>
                </a:solidFill>
                <a:latin typeface="DejaVu Sans"/>
                <a:ea typeface="DejaVu Sans"/>
                <a:cs typeface="DejaVu Sans"/>
              </a:rPr>
              <a:t>Your worksheet lists these learning outcomes:</a:t>
            </a:r>
          </a:p>
        </p:txBody>
      </p:sp>
      <p:sp>
        <p:nvSpPr>
          <p:cNvPr id="6" name="number-1">
            <a:extLst xmlns:a="http://schemas.openxmlformats.org/drawingml/2006/main">
              <a:ext uri="{FF2B5EF4-FFF2-40B4-BE49-F238E27FC236}">
                <a16:creationId xmlns:a16="http://schemas.microsoft.com/office/drawing/2014/main" id="{AAE658C9-8DD0-4BFA-919E-0D59DDE05609}"/>
              </a:ext>
            </a:extLst>
          </p:cNvPr>
          <p:cNvSpPr>
            <a:spLocks xmlns:a="http://schemas.openxmlformats.org/drawingml/2006/main" noGrp="1"/>
          </p:cNvSpPr>
          <p:nvPr/>
        </p:nvSpPr>
        <p:spPr>
          <a:xfrm xmlns:a="http://schemas.openxmlformats.org/drawingml/2006/main">
            <a:off x="723900" y="2266950"/>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2D63FF"/>
                </a:solidFill>
                <a:latin typeface="DejaVu Sans"/>
                <a:ea typeface="DejaVu Sans"/>
                <a:cs typeface="DejaVu Sans"/>
              </a:defRPr>
            </a:pPr>
            <a:r>
              <a:rPr sz="2025" b="1">
                <a:solidFill>
                  <a:srgbClr val="2D63FF"/>
                </a:solidFill>
                <a:latin typeface="DejaVu Sans"/>
                <a:ea typeface="DejaVu Sans"/>
                <a:cs typeface="DejaVu Sans"/>
              </a:rPr>
              <a:t>1.</a:t>
            </a:r>
          </a:p>
        </p:txBody>
      </p:sp>
      <p:sp>
        <p:nvSpPr>
          <p:cNvPr id="7" name="item-1">
            <a:extLst xmlns:a="http://schemas.openxmlformats.org/drawingml/2006/main">
              <a:ext uri="{FF2B5EF4-FFF2-40B4-BE49-F238E27FC236}">
                <a16:creationId xmlns:a16="http://schemas.microsoft.com/office/drawing/2014/main" id="{2D3B7133-727C-4F25-A6D4-81C654B9E020}"/>
              </a:ext>
            </a:extLst>
          </p:cNvPr>
          <p:cNvSpPr>
            <a:spLocks xmlns:a="http://schemas.openxmlformats.org/drawingml/2006/main" noGrp="1"/>
          </p:cNvSpPr>
          <p:nvPr/>
        </p:nvSpPr>
        <p:spPr>
          <a:xfrm xmlns:a="http://schemas.openxmlformats.org/drawingml/2006/main">
            <a:off x="1352550" y="2266950"/>
            <a:ext cx="99250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01828"/>
                </a:solidFill>
                <a:latin typeface="DejaVu Sans"/>
                <a:ea typeface="DejaVu Sans"/>
                <a:cs typeface="DejaVu Sans"/>
              </a:defRPr>
            </a:pPr>
            <a:r>
              <a:rPr sz="2025" b="0">
                <a:solidFill>
                  <a:srgbClr val="101828"/>
                </a:solidFill>
                <a:latin typeface="DejaVu Sans"/>
                <a:ea typeface="DejaVu Sans"/>
                <a:cs typeface="DejaVu Sans"/>
              </a:rPr>
              <a:t>Describe the von Neumann architecture</a:t>
            </a:r>
          </a:p>
        </p:txBody>
      </p:sp>
      <p:sp>
        <p:nvSpPr>
          <p:cNvPr id="8" name="number-2">
            <a:extLst xmlns:a="http://schemas.openxmlformats.org/drawingml/2006/main">
              <a:ext uri="{FF2B5EF4-FFF2-40B4-BE49-F238E27FC236}">
                <a16:creationId xmlns:a16="http://schemas.microsoft.com/office/drawing/2014/main" id="{A6DA6C28-7957-481E-BABE-CCFBD9D34AEA}"/>
              </a:ext>
            </a:extLst>
          </p:cNvPr>
          <p:cNvSpPr>
            <a:spLocks xmlns:a="http://schemas.openxmlformats.org/drawingml/2006/main" noGrp="1"/>
          </p:cNvSpPr>
          <p:nvPr/>
        </p:nvSpPr>
        <p:spPr>
          <a:xfrm xmlns:a="http://schemas.openxmlformats.org/drawingml/2006/main">
            <a:off x="723900" y="3362325"/>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2D63FF"/>
                </a:solidFill>
                <a:latin typeface="DejaVu Sans"/>
                <a:ea typeface="DejaVu Sans"/>
                <a:cs typeface="DejaVu Sans"/>
              </a:defRPr>
            </a:pPr>
            <a:r>
              <a:rPr sz="2025" b="1">
                <a:solidFill>
                  <a:srgbClr val="2D63FF"/>
                </a:solidFill>
                <a:latin typeface="DejaVu Sans"/>
                <a:ea typeface="DejaVu Sans"/>
                <a:cs typeface="DejaVu Sans"/>
              </a:rPr>
              <a:t>2.</a:t>
            </a:r>
          </a:p>
        </p:txBody>
      </p:sp>
      <p:sp>
        <p:nvSpPr>
          <p:cNvPr id="9" name="item-2">
            <a:extLst xmlns:a="http://schemas.openxmlformats.org/drawingml/2006/main">
              <a:ext uri="{FF2B5EF4-FFF2-40B4-BE49-F238E27FC236}">
                <a16:creationId xmlns:a16="http://schemas.microsoft.com/office/drawing/2014/main" id="{109DD3B6-3513-4380-AAF3-B5B10106B645}"/>
              </a:ext>
            </a:extLst>
          </p:cNvPr>
          <p:cNvSpPr>
            <a:spLocks xmlns:a="http://schemas.openxmlformats.org/drawingml/2006/main" noGrp="1"/>
          </p:cNvSpPr>
          <p:nvPr/>
        </p:nvSpPr>
        <p:spPr>
          <a:xfrm xmlns:a="http://schemas.openxmlformats.org/drawingml/2006/main">
            <a:off x="1352550" y="3362325"/>
            <a:ext cx="99250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01828"/>
                </a:solidFill>
                <a:latin typeface="DejaVu Sans"/>
                <a:ea typeface="DejaVu Sans"/>
                <a:cs typeface="DejaVu Sans"/>
              </a:defRPr>
            </a:pPr>
            <a:r>
              <a:rPr sz="2025" b="0">
                <a:solidFill>
                  <a:srgbClr val="101828"/>
                </a:solidFill>
                <a:latin typeface="DejaVu Sans"/>
                <a:ea typeface="DejaVu Sans"/>
                <a:cs typeface="DejaVu Sans"/>
              </a:rPr>
              <a:t>Know the components of the von Neumann architecture</a:t>
            </a:r>
          </a:p>
        </p:txBody>
      </p:sp>
      <p:sp>
        <p:nvSpPr>
          <p:cNvPr id="10" name="number-3">
            <a:extLst xmlns:a="http://schemas.openxmlformats.org/drawingml/2006/main">
              <a:ext uri="{FF2B5EF4-FFF2-40B4-BE49-F238E27FC236}">
                <a16:creationId xmlns:a16="http://schemas.microsoft.com/office/drawing/2014/main" id="{7AF4C9BC-8663-4127-8F71-AE571615839B}"/>
              </a:ext>
            </a:extLst>
          </p:cNvPr>
          <p:cNvSpPr>
            <a:spLocks xmlns:a="http://schemas.openxmlformats.org/drawingml/2006/main" noGrp="1"/>
          </p:cNvSpPr>
          <p:nvPr/>
        </p:nvSpPr>
        <p:spPr>
          <a:xfrm xmlns:a="http://schemas.openxmlformats.org/drawingml/2006/main">
            <a:off x="723900" y="4457700"/>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2D63FF"/>
                </a:solidFill>
                <a:latin typeface="DejaVu Sans"/>
                <a:ea typeface="DejaVu Sans"/>
                <a:cs typeface="DejaVu Sans"/>
              </a:defRPr>
            </a:pPr>
            <a:r>
              <a:rPr sz="2025" b="1">
                <a:solidFill>
                  <a:srgbClr val="2D63FF"/>
                </a:solidFill>
                <a:latin typeface="DejaVu Sans"/>
                <a:ea typeface="DejaVu Sans"/>
                <a:cs typeface="DejaVu Sans"/>
              </a:rPr>
              <a:t>3.</a:t>
            </a:r>
          </a:p>
        </p:txBody>
      </p:sp>
      <p:sp>
        <p:nvSpPr>
          <p:cNvPr id="11" name="item-3">
            <a:extLst xmlns:a="http://schemas.openxmlformats.org/drawingml/2006/main">
              <a:ext uri="{FF2B5EF4-FFF2-40B4-BE49-F238E27FC236}">
                <a16:creationId xmlns:a16="http://schemas.microsoft.com/office/drawing/2014/main" id="{B29CC5FA-458B-44D6-A17E-1FDD5222C499}"/>
              </a:ext>
            </a:extLst>
          </p:cNvPr>
          <p:cNvSpPr>
            <a:spLocks xmlns:a="http://schemas.openxmlformats.org/drawingml/2006/main" noGrp="1"/>
          </p:cNvSpPr>
          <p:nvPr/>
        </p:nvSpPr>
        <p:spPr>
          <a:xfrm xmlns:a="http://schemas.openxmlformats.org/drawingml/2006/main">
            <a:off x="1352550" y="4457700"/>
            <a:ext cx="99250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01828"/>
                </a:solidFill>
                <a:latin typeface="DejaVu Sans"/>
                <a:ea typeface="DejaVu Sans"/>
                <a:cs typeface="DejaVu Sans"/>
              </a:defRPr>
            </a:pPr>
            <a:r>
              <a:rPr sz="2025" b="0">
                <a:solidFill>
                  <a:srgbClr val="101828"/>
                </a:solidFill>
                <a:latin typeface="DejaVu Sans"/>
                <a:ea typeface="DejaVu Sans"/>
                <a:cs typeface="DejaVu Sans"/>
              </a:rPr>
              <a:t>Understand what a keyword is</a:t>
            </a:r>
          </a:p>
        </p:txBody>
      </p:sp>
      <p:sp>
        <p:nvSpPr>
          <p:cNvPr id="12" name="starter-next">
            <a:extLst xmlns:a="http://schemas.openxmlformats.org/drawingml/2006/main">
              <a:ext uri="{FF2B5EF4-FFF2-40B4-BE49-F238E27FC236}">
                <a16:creationId xmlns:a16="http://schemas.microsoft.com/office/drawing/2014/main" id="{4EA8AFD2-3EF8-45BA-AC1F-E2961A16E31A}"/>
              </a:ext>
            </a:extLst>
          </p:cNvPr>
          <p:cNvSpPr>
            <a:spLocks xmlns:a="http://schemas.openxmlformats.org/drawingml/2006/main" noGrp="1"/>
          </p:cNvSpPr>
          <p:nvPr/>
        </p:nvSpPr>
        <p:spPr>
          <a:xfrm xmlns:a="http://schemas.openxmlformats.org/drawingml/2006/main">
            <a:off x="704850" y="578167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2D63FF"/>
                </a:solidFill>
                <a:latin typeface="DejaVu Sans"/>
                <a:ea typeface="DejaVu Sans"/>
                <a:cs typeface="DejaVu Sans"/>
              </a:defRPr>
            </a:pPr>
            <a:r>
              <a:rPr sz="1650" b="1">
                <a:solidFill>
                  <a:srgbClr val="2D63FF"/>
                </a:solidFill>
                <a:latin typeface="DejaVu Sans"/>
                <a:ea typeface="DejaVu Sans"/>
                <a:cs typeface="DejaVu Sans"/>
              </a:rPr>
              <a:t>Complete the experience in this lesson; finish with the plenary knowledge check.</a:t>
            </a:r>
          </a:p>
        </p:txBody>
      </p:sp>
    </p:spTree>
    <p:extLst>
      <p:ext uri="{BB962C8B-B14F-4D97-AF65-F5344CB8AC3E}">
        <p14:creationId xmlns:p14="http://schemas.microsoft.com/office/powerpoint/2010/main" val="1097357726"/>
      </p:ext>
    </p:extLst>
  </p:cSld>
</p:sld>
</file>

<file path=ppt/slides/slide3.xml><?xml version="1.0" encoding="utf-8"?>
<p:sld xmlns:p="http://schemas.openxmlformats.org/presentationml/2006/main">
  <p:cSld>
    <p:bg>
      <p:bgPr>
        <a:solidFill xmlns:a="http://schemas.openxmlformats.org/drawingml/2006/main">
          <a:srgbClr val="FFF8E9"/>
        </a:solidFill>
      </p:bgPr>
    </p:bg>
    <p:spTree>
      <p:nvGrpSpPr>
        <p:cNvPr id="1" name=""/>
        <p:cNvGrpSpPr/>
        <p:nvPr/>
      </p:nvGrpSpPr>
      <p:grpSpPr>
        <a:xfrm xmlns:a="http://schemas.openxmlformats.org/drawingml/2006/main"/>
      </p:grpSpPr>
      <p:sp>
        <p:nvSpPr>
          <p:cNvPr id="8" name="topic">
            <a:extLst xmlns:a="http://schemas.openxmlformats.org/drawingml/2006/main">
              <a:ext uri="{FF2B5EF4-FFF2-40B4-BE49-F238E27FC236}">
                <a16:creationId xmlns:a16="http://schemas.microsoft.com/office/drawing/2014/main" id="{31A9A90B-5D4C-4706-8259-F0DC50576BDA}"/>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1.1   /   LESSON 02   /   WORKSHEET STARTER</a:t>
            </a:r>
          </a:p>
        </p:txBody>
      </p:sp>
      <p:sp>
        <p:nvSpPr>
          <p:cNvPr id="2" name="heading">
            <a:extLst xmlns:a="http://schemas.openxmlformats.org/drawingml/2006/main">
              <a:ext uri="{FF2B5EF4-FFF2-40B4-BE49-F238E27FC236}">
                <a16:creationId xmlns:a16="http://schemas.microsoft.com/office/drawing/2014/main" id="{9B8F3276-D6B5-41B9-8B97-35EA9685F35A}"/>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Starter: before the experience</a:t>
            </a:r>
          </a:p>
        </p:txBody>
      </p:sp>
      <p:sp>
        <p:nvSpPr>
          <p:cNvPr id="3" name="footer">
            <a:extLst xmlns:a="http://schemas.openxmlformats.org/drawingml/2006/main">
              <a:ext uri="{FF2B5EF4-FFF2-40B4-BE49-F238E27FC236}">
                <a16:creationId xmlns:a16="http://schemas.microsoft.com/office/drawing/2014/main" id="{A1F44D83-EC6B-4814-86E3-6D201AF1D4FA}"/>
              </a:ext>
            </a:extLst>
          </p:cNvPr>
          <p:cNvSpPr>
            <a:spLocks xmlns:a="http://schemas.openxmlformats.org/drawingml/2006/main" noGrp="1"/>
          </p:cNvSpPr>
          <p:nvPr/>
        </p:nvSpPr>
        <p:spPr>
          <a:xfrm xmlns:a="http://schemas.openxmlformats.org/drawingml/2006/main">
            <a:off x="666750" y="6400800"/>
            <a:ext cx="981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Revise 360    OCR J277 1.1 Systems architecture</a:t>
            </a:r>
          </a:p>
        </p:txBody>
      </p:sp>
      <p:sp>
        <p:nvSpPr>
          <p:cNvPr id="4" name="page">
            <a:extLst xmlns:a="http://schemas.openxmlformats.org/drawingml/2006/main">
              <a:ext uri="{FF2B5EF4-FFF2-40B4-BE49-F238E27FC236}">
                <a16:creationId xmlns:a16="http://schemas.microsoft.com/office/drawing/2014/main" id="{D57A2C35-A60E-4E16-992E-029B7F86D0EC}"/>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3 / 20</a:t>
            </a:r>
          </a:p>
        </p:txBody>
      </p:sp>
      <p:sp>
        <p:nvSpPr>
          <p:cNvPr id="5" name="write-first">
            <a:extLst xmlns:a="http://schemas.openxmlformats.org/drawingml/2006/main">
              <a:ext uri="{FF2B5EF4-FFF2-40B4-BE49-F238E27FC236}">
                <a16:creationId xmlns:a16="http://schemas.microsoft.com/office/drawing/2014/main" id="{881CFB7A-9ABD-4CEB-90E5-21012E29552D}"/>
              </a:ext>
            </a:extLst>
          </p:cNvPr>
          <p:cNvSpPr>
            <a:spLocks xmlns:a="http://schemas.openxmlformats.org/drawingml/2006/main" noGrp="1"/>
          </p:cNvSpPr>
          <p:nvPr/>
        </p:nvSpPr>
        <p:spPr>
          <a:xfrm xmlns:a="http://schemas.openxmlformats.org/drawingml/2006/main">
            <a:off x="704850" y="156210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174"/>
                </a:solidFill>
                <a:latin typeface="DejaVu Sans"/>
                <a:ea typeface="DejaVu Sans"/>
                <a:cs typeface="DejaVu Sans"/>
              </a:defRPr>
            </a:pPr>
            <a:r>
              <a:rPr sz="1875" b="0">
                <a:solidFill>
                  <a:srgbClr val="526174"/>
                </a:solidFill>
                <a:latin typeface="DejaVu Sans"/>
                <a:ea typeface="DejaVu Sans"/>
                <a:cs typeface="DejaVu Sans"/>
              </a:rPr>
              <a:t>Answer the starter question in the box on your worksheet.</a:t>
            </a:r>
          </a:p>
        </p:txBody>
      </p:sp>
      <p:sp>
        <p:nvSpPr>
          <p:cNvPr id="6" name="worksheet-starter">
            <a:extLst xmlns:a="http://schemas.openxmlformats.org/drawingml/2006/main">
              <a:ext uri="{FF2B5EF4-FFF2-40B4-BE49-F238E27FC236}">
                <a16:creationId xmlns:a16="http://schemas.microsoft.com/office/drawing/2014/main" id="{6C20149C-4EBB-4352-9440-522B7E174582}"/>
              </a:ext>
            </a:extLst>
          </p:cNvPr>
          <p:cNvSpPr>
            <a:spLocks xmlns:a="http://schemas.openxmlformats.org/drawingml/2006/main" noGrp="1"/>
          </p:cNvSpPr>
          <p:nvPr/>
        </p:nvSpPr>
        <p:spPr>
          <a:xfrm xmlns:a="http://schemas.openxmlformats.org/drawingml/2006/main">
            <a:off x="704850" y="2438400"/>
            <a:ext cx="10572750" cy="2609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01828"/>
                </a:solidFill>
                <a:latin typeface="DejaVu Sans"/>
                <a:ea typeface="DejaVu Sans"/>
                <a:cs typeface="DejaVu Sans"/>
              </a:defRPr>
            </a:pPr>
            <a:r>
              <a:rPr sz="2550" b="1">
                <a:solidFill>
                  <a:srgbClr val="101828"/>
                </a:solidFill>
                <a:latin typeface="DejaVu Sans"/>
                <a:ea typeface="DejaVu Sans"/>
                <a:cs typeface="DejaVu Sans"/>
              </a:rPr>
              <a:t>The same laptop can run a game, then a word processor, then a browser, with no hardware changed. What makes that possible?</a:t>
            </a:r>
          </a:p>
        </p:txBody>
      </p:sp>
      <p:sp>
        <p:nvSpPr>
          <p:cNvPr id="7" name="no-open">
            <a:extLst xmlns:a="http://schemas.openxmlformats.org/drawingml/2006/main">
              <a:ext uri="{FF2B5EF4-FFF2-40B4-BE49-F238E27FC236}">
                <a16:creationId xmlns:a16="http://schemas.microsoft.com/office/drawing/2014/main" id="{50EF14F9-045F-47C0-B281-AFCE1579A4EC}"/>
              </a:ext>
            </a:extLst>
          </p:cNvPr>
          <p:cNvSpPr>
            <a:spLocks xmlns:a="http://schemas.openxmlformats.org/drawingml/2006/main" noGrp="1"/>
          </p:cNvSpPr>
          <p:nvPr/>
        </p:nvSpPr>
        <p:spPr>
          <a:xfrm xmlns:a="http://schemas.openxmlformats.org/drawingml/2006/main">
            <a:off x="704850" y="5476875"/>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2D63FF"/>
                </a:solidFill>
                <a:latin typeface="DejaVu Sans"/>
                <a:ea typeface="DejaVu Sans"/>
                <a:cs typeface="DejaVu Sans"/>
              </a:defRPr>
            </a:pPr>
            <a:r>
              <a:rPr sz="1725" b="0">
                <a:solidFill>
                  <a:srgbClr val="2D63FF"/>
                </a:solidFill>
                <a:latin typeface="DejaVu Sans"/>
                <a:ea typeface="DejaVu Sans"/>
                <a:cs typeface="DejaVu Sans"/>
              </a:rPr>
              <a:t>Keep the experience closed until the starter and key terms are checked.</a:t>
            </a:r>
          </a:p>
        </p:txBody>
      </p:sp>
    </p:spTree>
    <p:extLst>
      <p:ext uri="{BB962C8B-B14F-4D97-AF65-F5344CB8AC3E}">
        <p14:creationId xmlns:p14="http://schemas.microsoft.com/office/powerpoint/2010/main" val="1326605191"/>
      </p:ext>
    </p:extLst>
  </p:cSld>
</p:sld>
</file>

<file path=ppt/slides/slide4.xml><?xml version="1.0" encoding="utf-8"?>
<p:sld xmlns:p="http://schemas.openxmlformats.org/presentationml/2006/main">
  <p:cSld>
    <p:bg>
      <p:bgPr>
        <a:solidFill xmlns:a="http://schemas.openxmlformats.org/drawingml/2006/main">
          <a:srgbClr val="EAF3FF"/>
        </a:solidFill>
      </p:bgPr>
    </p:bg>
    <p:spTree>
      <p:nvGrpSpPr>
        <p:cNvPr id="1" name=""/>
        <p:cNvGrpSpPr/>
        <p:nvPr/>
      </p:nvGrpSpPr>
      <p:grpSpPr>
        <a:xfrm xmlns:a="http://schemas.openxmlformats.org/drawingml/2006/main"/>
      </p:grpSpPr>
      <p:sp>
        <p:nvSpPr>
          <p:cNvPr id="10" name="topic">
            <a:extLst xmlns:a="http://schemas.openxmlformats.org/drawingml/2006/main">
              <a:ext uri="{FF2B5EF4-FFF2-40B4-BE49-F238E27FC236}">
                <a16:creationId xmlns:a16="http://schemas.microsoft.com/office/drawing/2014/main" id="{FD48A2FE-274D-41F0-8041-3B128698F9BB}"/>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1.1   /   LESSON 02   /   CHECK</a:t>
            </a:r>
          </a:p>
        </p:txBody>
      </p:sp>
      <p:sp>
        <p:nvSpPr>
          <p:cNvPr id="2" name="heading">
            <a:extLst xmlns:a="http://schemas.openxmlformats.org/drawingml/2006/main">
              <a:ext uri="{FF2B5EF4-FFF2-40B4-BE49-F238E27FC236}">
                <a16:creationId xmlns:a16="http://schemas.microsoft.com/office/drawing/2014/main" id="{E12991E3-5933-4534-93BD-0BB632F71B5E}"/>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Starter: sample answers</a:t>
            </a:r>
          </a:p>
        </p:txBody>
      </p:sp>
      <p:sp>
        <p:nvSpPr>
          <p:cNvPr id="3" name="footer">
            <a:extLst xmlns:a="http://schemas.openxmlformats.org/drawingml/2006/main">
              <a:ext uri="{FF2B5EF4-FFF2-40B4-BE49-F238E27FC236}">
                <a16:creationId xmlns:a16="http://schemas.microsoft.com/office/drawing/2014/main" id="{7289E402-64D1-418A-87D0-30D2D9C57E72}"/>
              </a:ext>
            </a:extLst>
          </p:cNvPr>
          <p:cNvSpPr>
            <a:spLocks xmlns:a="http://schemas.openxmlformats.org/drawingml/2006/main" noGrp="1"/>
          </p:cNvSpPr>
          <p:nvPr/>
        </p:nvSpPr>
        <p:spPr>
          <a:xfrm xmlns:a="http://schemas.openxmlformats.org/drawingml/2006/main">
            <a:off x="666750" y="6400800"/>
            <a:ext cx="981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Revise 360    OCR J277 1.1 Systems architecture</a:t>
            </a:r>
          </a:p>
        </p:txBody>
      </p:sp>
      <p:sp>
        <p:nvSpPr>
          <p:cNvPr id="4" name="page">
            <a:extLst xmlns:a="http://schemas.openxmlformats.org/drawingml/2006/main">
              <a:ext uri="{FF2B5EF4-FFF2-40B4-BE49-F238E27FC236}">
                <a16:creationId xmlns:a16="http://schemas.microsoft.com/office/drawing/2014/main" id="{E6466A0A-4175-4703-926A-E69452E23630}"/>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4 / 20</a:t>
            </a:r>
          </a:p>
        </p:txBody>
      </p:sp>
      <p:sp>
        <p:nvSpPr>
          <p:cNvPr id="5" name="sample-note">
            <a:extLst xmlns:a="http://schemas.openxmlformats.org/drawingml/2006/main">
              <a:ext uri="{FF2B5EF4-FFF2-40B4-BE49-F238E27FC236}">
                <a16:creationId xmlns:a16="http://schemas.microsoft.com/office/drawing/2014/main" id="{F352C15A-E9B5-49BC-988B-97F363BF1485}"/>
              </a:ext>
            </a:extLst>
          </p:cNvPr>
          <p:cNvSpPr>
            <a:spLocks xmlns:a="http://schemas.openxmlformats.org/drawingml/2006/main" noGrp="1"/>
          </p:cNvSpPr>
          <p:nvPr/>
        </p:nvSpPr>
        <p:spPr>
          <a:xfrm xmlns:a="http://schemas.openxmlformats.org/drawingml/2006/main">
            <a:off x="704850" y="1562100"/>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26174"/>
                </a:solidFill>
                <a:latin typeface="DejaVu Sans"/>
                <a:ea typeface="DejaVu Sans"/>
                <a:cs typeface="DejaVu Sans"/>
              </a:defRPr>
            </a:pPr>
            <a:r>
              <a:rPr sz="1800" b="0">
                <a:solidFill>
                  <a:srgbClr val="526174"/>
                </a:solidFill>
                <a:latin typeface="DejaVu Sans"/>
                <a:ea typeface="DejaVu Sans"/>
                <a:cs typeface="DejaVu Sans"/>
              </a:rPr>
              <a:t>Compare your worksheet answer with these examples. Other accurate examples count.</a:t>
            </a:r>
          </a:p>
        </p:txBody>
      </p:sp>
      <p:sp>
        <p:nvSpPr>
          <p:cNvPr id="6" name="number-1">
            <a:extLst xmlns:a="http://schemas.openxmlformats.org/drawingml/2006/main">
              <a:ext uri="{FF2B5EF4-FFF2-40B4-BE49-F238E27FC236}">
                <a16:creationId xmlns:a16="http://schemas.microsoft.com/office/drawing/2014/main" id="{0A3F183D-5B41-40ED-B50A-530A480B7398}"/>
              </a:ext>
            </a:extLst>
          </p:cNvPr>
          <p:cNvSpPr>
            <a:spLocks xmlns:a="http://schemas.openxmlformats.org/drawingml/2006/main" noGrp="1"/>
          </p:cNvSpPr>
          <p:nvPr/>
        </p:nvSpPr>
        <p:spPr>
          <a:xfrm xmlns:a="http://schemas.openxmlformats.org/drawingml/2006/main">
            <a:off x="723900" y="2476500"/>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2D63FF"/>
                </a:solidFill>
                <a:latin typeface="DejaVu Sans"/>
                <a:ea typeface="DejaVu Sans"/>
                <a:cs typeface="DejaVu Sans"/>
              </a:defRPr>
            </a:pPr>
            <a:r>
              <a:rPr sz="2175" b="1">
                <a:solidFill>
                  <a:srgbClr val="2D63FF"/>
                </a:solidFill>
                <a:latin typeface="DejaVu Sans"/>
                <a:ea typeface="DejaVu Sans"/>
                <a:cs typeface="DejaVu Sans"/>
              </a:rPr>
              <a:t>1.</a:t>
            </a:r>
          </a:p>
        </p:txBody>
      </p:sp>
      <p:sp>
        <p:nvSpPr>
          <p:cNvPr id="7" name="item-1">
            <a:extLst xmlns:a="http://schemas.openxmlformats.org/drawingml/2006/main">
              <a:ext uri="{FF2B5EF4-FFF2-40B4-BE49-F238E27FC236}">
                <a16:creationId xmlns:a16="http://schemas.microsoft.com/office/drawing/2014/main" id="{BF379B82-2994-4148-A4E5-460B4CC6DDB1}"/>
              </a:ext>
            </a:extLst>
          </p:cNvPr>
          <p:cNvSpPr>
            <a:spLocks xmlns:a="http://schemas.openxmlformats.org/drawingml/2006/main" noGrp="1"/>
          </p:cNvSpPr>
          <p:nvPr/>
        </p:nvSpPr>
        <p:spPr>
          <a:xfrm xmlns:a="http://schemas.openxmlformats.org/drawingml/2006/main">
            <a:off x="1352550" y="2476500"/>
            <a:ext cx="992505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01828"/>
                </a:solidFill>
                <a:latin typeface="DejaVu Sans"/>
                <a:ea typeface="DejaVu Sans"/>
                <a:cs typeface="DejaVu Sans"/>
              </a:defRPr>
            </a:pPr>
            <a:r>
              <a:rPr sz="2175" b="0">
                <a:solidFill>
                  <a:srgbClr val="101828"/>
                </a:solidFill>
                <a:latin typeface="DejaVu Sans"/>
                <a:ea typeface="DejaVu Sans"/>
                <a:cs typeface="DejaVu Sans"/>
              </a:rPr>
              <a:t>The CPU can run different stored programs loaded into main memory.</a:t>
            </a:r>
          </a:p>
        </p:txBody>
      </p:sp>
      <p:sp>
        <p:nvSpPr>
          <p:cNvPr id="8" name="number-2">
            <a:extLst xmlns:a="http://schemas.openxmlformats.org/drawingml/2006/main">
              <a:ext uri="{FF2B5EF4-FFF2-40B4-BE49-F238E27FC236}">
                <a16:creationId xmlns:a16="http://schemas.microsoft.com/office/drawing/2014/main" id="{3E440798-F8AF-40F0-B587-AF3DD3D87976}"/>
              </a:ext>
            </a:extLst>
          </p:cNvPr>
          <p:cNvSpPr>
            <a:spLocks xmlns:a="http://schemas.openxmlformats.org/drawingml/2006/main" noGrp="1"/>
          </p:cNvSpPr>
          <p:nvPr/>
        </p:nvSpPr>
        <p:spPr>
          <a:xfrm xmlns:a="http://schemas.openxmlformats.org/drawingml/2006/main">
            <a:off x="723900" y="4000500"/>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2D63FF"/>
                </a:solidFill>
                <a:latin typeface="DejaVu Sans"/>
                <a:ea typeface="DejaVu Sans"/>
                <a:cs typeface="DejaVu Sans"/>
              </a:defRPr>
            </a:pPr>
            <a:r>
              <a:rPr sz="2175" b="1">
                <a:solidFill>
                  <a:srgbClr val="2D63FF"/>
                </a:solidFill>
                <a:latin typeface="DejaVu Sans"/>
                <a:ea typeface="DejaVu Sans"/>
                <a:cs typeface="DejaVu Sans"/>
              </a:rPr>
              <a:t>2.</a:t>
            </a:r>
          </a:p>
        </p:txBody>
      </p:sp>
      <p:sp>
        <p:nvSpPr>
          <p:cNvPr id="9" name="item-2">
            <a:extLst xmlns:a="http://schemas.openxmlformats.org/drawingml/2006/main">
              <a:ext uri="{FF2B5EF4-FFF2-40B4-BE49-F238E27FC236}">
                <a16:creationId xmlns:a16="http://schemas.microsoft.com/office/drawing/2014/main" id="{38745B9C-B43D-434B-A3F5-DDE45B48FC06}"/>
              </a:ext>
            </a:extLst>
          </p:cNvPr>
          <p:cNvSpPr>
            <a:spLocks xmlns:a="http://schemas.openxmlformats.org/drawingml/2006/main" noGrp="1"/>
          </p:cNvSpPr>
          <p:nvPr/>
        </p:nvSpPr>
        <p:spPr>
          <a:xfrm xmlns:a="http://schemas.openxmlformats.org/drawingml/2006/main">
            <a:off x="1352550" y="4000500"/>
            <a:ext cx="992505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01828"/>
                </a:solidFill>
                <a:latin typeface="DejaVu Sans"/>
                <a:ea typeface="DejaVu Sans"/>
                <a:cs typeface="DejaVu Sans"/>
              </a:defRPr>
            </a:pPr>
            <a:r>
              <a:rPr sz="2175" b="0">
                <a:solidFill>
                  <a:srgbClr val="101828"/>
                </a:solidFill>
                <a:latin typeface="DejaVu Sans"/>
                <a:ea typeface="DejaVu Sans"/>
                <a:cs typeface="DejaVu Sans"/>
              </a:rPr>
              <a:t>New instructions change the task without rewiring the hardware.</a:t>
            </a:r>
          </a:p>
        </p:txBody>
      </p:sp>
    </p:spTree>
    <p:extLst>
      <p:ext uri="{BB962C8B-B14F-4D97-AF65-F5344CB8AC3E}">
        <p14:creationId xmlns:p14="http://schemas.microsoft.com/office/powerpoint/2010/main" val="1829268422"/>
      </p:ext>
    </p:extLst>
  </p:cSld>
</p:sld>
</file>

<file path=ppt/slides/slide5.xml><?xml version="1.0" encoding="utf-8"?>
<p:sld xmlns:p="http://schemas.openxmlformats.org/presentationml/2006/main">
  <p:cSld>
    <p:bg>
      <p:bgPr>
        <a:solidFill xmlns:a="http://schemas.openxmlformats.org/drawingml/2006/main">
          <a:srgbClr val="FFF8E9"/>
        </a:solidFill>
      </p:bgPr>
    </p:bg>
    <p:spTree>
      <p:nvGrpSpPr>
        <p:cNvPr id="1" name=""/>
        <p:cNvGrpSpPr/>
        <p:nvPr/>
      </p:nvGrpSpPr>
      <p:grpSpPr>
        <a:xfrm xmlns:a="http://schemas.openxmlformats.org/drawingml/2006/main"/>
      </p:grpSpPr>
      <p:sp>
        <p:nvSpPr>
          <p:cNvPr id="10" name="topic">
            <a:extLst xmlns:a="http://schemas.openxmlformats.org/drawingml/2006/main">
              <a:ext uri="{FF2B5EF4-FFF2-40B4-BE49-F238E27FC236}">
                <a16:creationId xmlns:a16="http://schemas.microsoft.com/office/drawing/2014/main" id="{324B6548-57AD-4E9F-B68B-CFDD9EC8A38D}"/>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1.1   /   LESSON 02   /   WORKSHEET KEY TERMS</a:t>
            </a:r>
          </a:p>
        </p:txBody>
      </p:sp>
      <p:sp>
        <p:nvSpPr>
          <p:cNvPr id="2" name="heading">
            <a:extLst xmlns:a="http://schemas.openxmlformats.org/drawingml/2006/main">
              <a:ext uri="{FF2B5EF4-FFF2-40B4-BE49-F238E27FC236}">
                <a16:creationId xmlns:a16="http://schemas.microsoft.com/office/drawing/2014/main" id="{0963E6D6-275F-4836-9957-34A928230A32}"/>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Key terminology quiz</a:t>
            </a:r>
          </a:p>
        </p:txBody>
      </p:sp>
      <p:sp>
        <p:nvSpPr>
          <p:cNvPr id="3" name="footer">
            <a:extLst xmlns:a="http://schemas.openxmlformats.org/drawingml/2006/main">
              <a:ext uri="{FF2B5EF4-FFF2-40B4-BE49-F238E27FC236}">
                <a16:creationId xmlns:a16="http://schemas.microsoft.com/office/drawing/2014/main" id="{26ED8DAD-2566-478D-A855-D9DD1FF499BC}"/>
              </a:ext>
            </a:extLst>
          </p:cNvPr>
          <p:cNvSpPr>
            <a:spLocks xmlns:a="http://schemas.openxmlformats.org/drawingml/2006/main" noGrp="1"/>
          </p:cNvSpPr>
          <p:nvPr/>
        </p:nvSpPr>
        <p:spPr>
          <a:xfrm xmlns:a="http://schemas.openxmlformats.org/drawingml/2006/main">
            <a:off x="666750" y="6400800"/>
            <a:ext cx="981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Revise 360    OCR J277 1.1 Systems architecture</a:t>
            </a:r>
          </a:p>
        </p:txBody>
      </p:sp>
      <p:sp>
        <p:nvSpPr>
          <p:cNvPr id="4" name="page">
            <a:extLst xmlns:a="http://schemas.openxmlformats.org/drawingml/2006/main">
              <a:ext uri="{FF2B5EF4-FFF2-40B4-BE49-F238E27FC236}">
                <a16:creationId xmlns:a16="http://schemas.microsoft.com/office/drawing/2014/main" id="{F5362EEE-37E4-43F1-9295-DB94EAC812C4}"/>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5 / 20</a:t>
            </a:r>
          </a:p>
        </p:txBody>
      </p:sp>
      <p:sp>
        <p:nvSpPr>
          <p:cNvPr id="5" name="define-first">
            <a:extLst xmlns:a="http://schemas.openxmlformats.org/drawingml/2006/main">
              <a:ext uri="{FF2B5EF4-FFF2-40B4-BE49-F238E27FC236}">
                <a16:creationId xmlns:a16="http://schemas.microsoft.com/office/drawing/2014/main" id="{5FE26E8D-53EF-433F-9B1E-CCF5F07F62C1}"/>
              </a:ext>
            </a:extLst>
          </p:cNvPr>
          <p:cNvSpPr>
            <a:spLocks xmlns:a="http://schemas.openxmlformats.org/drawingml/2006/main" noGrp="1"/>
          </p:cNvSpPr>
          <p:nvPr/>
        </p:nvSpPr>
        <p:spPr>
          <a:xfrm xmlns:a="http://schemas.openxmlformats.org/drawingml/2006/main">
            <a:off x="704850" y="156210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174"/>
                </a:solidFill>
                <a:latin typeface="DejaVu Sans"/>
                <a:ea typeface="DejaVu Sans"/>
                <a:cs typeface="DejaVu Sans"/>
              </a:defRPr>
            </a:pPr>
            <a:r>
              <a:rPr sz="1875" b="0">
                <a:solidFill>
                  <a:srgbClr val="526174"/>
                </a:solidFill>
                <a:latin typeface="DejaVu Sans"/>
                <a:ea typeface="DejaVu Sans"/>
                <a:cs typeface="DejaVu Sans"/>
              </a:rPr>
              <a:t>Define the two terms listed in the key terminology section of your worksheet.</a:t>
            </a:r>
          </a:p>
        </p:txBody>
      </p:sp>
      <p:sp>
        <p:nvSpPr>
          <p:cNvPr id="6" name="term-number-0">
            <a:extLst xmlns:a="http://schemas.openxmlformats.org/drawingml/2006/main">
              <a:ext uri="{FF2B5EF4-FFF2-40B4-BE49-F238E27FC236}">
                <a16:creationId xmlns:a16="http://schemas.microsoft.com/office/drawing/2014/main" id="{0016B751-B325-4485-BA43-E0087171977F}"/>
              </a:ext>
            </a:extLst>
          </p:cNvPr>
          <p:cNvSpPr>
            <a:spLocks xmlns:a="http://schemas.openxmlformats.org/drawingml/2006/main" noGrp="1"/>
          </p:cNvSpPr>
          <p:nvPr/>
        </p:nvSpPr>
        <p:spPr>
          <a:xfrm xmlns:a="http://schemas.openxmlformats.org/drawingml/2006/main">
            <a:off x="723900" y="2686050"/>
            <a:ext cx="59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2D63FF"/>
                </a:solidFill>
                <a:latin typeface="DejaVu Sans"/>
                <a:ea typeface="DejaVu Sans"/>
                <a:cs typeface="DejaVu Sans"/>
              </a:defRPr>
            </a:pPr>
            <a:r>
              <a:rPr sz="2625" b="1">
                <a:solidFill>
                  <a:srgbClr val="2D63FF"/>
                </a:solidFill>
                <a:latin typeface="DejaVu Sans"/>
                <a:ea typeface="DejaVu Sans"/>
                <a:cs typeface="DejaVu Sans"/>
              </a:rPr>
              <a:t>1.</a:t>
            </a:r>
          </a:p>
        </p:txBody>
      </p:sp>
      <p:sp>
        <p:nvSpPr>
          <p:cNvPr id="7" name="term-0">
            <a:extLst xmlns:a="http://schemas.openxmlformats.org/drawingml/2006/main">
              <a:ext uri="{FF2B5EF4-FFF2-40B4-BE49-F238E27FC236}">
                <a16:creationId xmlns:a16="http://schemas.microsoft.com/office/drawing/2014/main" id="{7E54DE2C-10DA-4C06-9953-4F396267E4B7}"/>
              </a:ext>
            </a:extLst>
          </p:cNvPr>
          <p:cNvSpPr>
            <a:spLocks xmlns:a="http://schemas.openxmlformats.org/drawingml/2006/main" noGrp="1"/>
          </p:cNvSpPr>
          <p:nvPr/>
        </p:nvSpPr>
        <p:spPr>
          <a:xfrm xmlns:a="http://schemas.openxmlformats.org/drawingml/2006/main">
            <a:off x="1371600" y="2686050"/>
            <a:ext cx="9667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101828"/>
                </a:solidFill>
                <a:latin typeface="DejaVu Sans"/>
                <a:ea typeface="DejaVu Sans"/>
                <a:cs typeface="DejaVu Sans"/>
              </a:defRPr>
            </a:pPr>
            <a:r>
              <a:rPr sz="2700" b="1">
                <a:solidFill>
                  <a:srgbClr val="101828"/>
                </a:solidFill>
                <a:latin typeface="DejaVu Sans"/>
                <a:ea typeface="DejaVu Sans"/>
                <a:cs typeface="DejaVu Sans"/>
              </a:rPr>
              <a:t>ALU</a:t>
            </a:r>
          </a:p>
        </p:txBody>
      </p:sp>
      <p:sp>
        <p:nvSpPr>
          <p:cNvPr id="8" name="term-number-1">
            <a:extLst xmlns:a="http://schemas.openxmlformats.org/drawingml/2006/main">
              <a:ext uri="{FF2B5EF4-FFF2-40B4-BE49-F238E27FC236}">
                <a16:creationId xmlns:a16="http://schemas.microsoft.com/office/drawing/2014/main" id="{ACBBF1B2-0EF7-49BC-9DD4-583038DD831B}"/>
              </a:ext>
            </a:extLst>
          </p:cNvPr>
          <p:cNvSpPr>
            <a:spLocks xmlns:a="http://schemas.openxmlformats.org/drawingml/2006/main" noGrp="1"/>
          </p:cNvSpPr>
          <p:nvPr/>
        </p:nvSpPr>
        <p:spPr>
          <a:xfrm xmlns:a="http://schemas.openxmlformats.org/drawingml/2006/main">
            <a:off x="723900" y="4324350"/>
            <a:ext cx="59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2D63FF"/>
                </a:solidFill>
                <a:latin typeface="DejaVu Sans"/>
                <a:ea typeface="DejaVu Sans"/>
                <a:cs typeface="DejaVu Sans"/>
              </a:defRPr>
            </a:pPr>
            <a:r>
              <a:rPr sz="2625" b="1">
                <a:solidFill>
                  <a:srgbClr val="2D63FF"/>
                </a:solidFill>
                <a:latin typeface="DejaVu Sans"/>
                <a:ea typeface="DejaVu Sans"/>
                <a:cs typeface="DejaVu Sans"/>
              </a:rPr>
              <a:t>2.</a:t>
            </a:r>
          </a:p>
        </p:txBody>
      </p:sp>
      <p:sp>
        <p:nvSpPr>
          <p:cNvPr id="9" name="term-1">
            <a:extLst xmlns:a="http://schemas.openxmlformats.org/drawingml/2006/main">
              <a:ext uri="{FF2B5EF4-FFF2-40B4-BE49-F238E27FC236}">
                <a16:creationId xmlns:a16="http://schemas.microsoft.com/office/drawing/2014/main" id="{CCC5FFE9-B3AA-4DC6-90C2-F752F6C3C9A9}"/>
              </a:ext>
            </a:extLst>
          </p:cNvPr>
          <p:cNvSpPr>
            <a:spLocks xmlns:a="http://schemas.openxmlformats.org/drawingml/2006/main" noGrp="1"/>
          </p:cNvSpPr>
          <p:nvPr/>
        </p:nvSpPr>
        <p:spPr>
          <a:xfrm xmlns:a="http://schemas.openxmlformats.org/drawingml/2006/main">
            <a:off x="1371600" y="4324350"/>
            <a:ext cx="9667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101828"/>
                </a:solidFill>
                <a:latin typeface="DejaVu Sans"/>
                <a:ea typeface="DejaVu Sans"/>
                <a:cs typeface="DejaVu Sans"/>
              </a:defRPr>
            </a:pPr>
            <a:r>
              <a:rPr sz="2700" b="1">
                <a:solidFill>
                  <a:srgbClr val="101828"/>
                </a:solidFill>
                <a:latin typeface="DejaVu Sans"/>
                <a:ea typeface="DejaVu Sans"/>
                <a:cs typeface="DejaVu Sans"/>
              </a:rPr>
              <a:t>CU (control unit)</a:t>
            </a:r>
          </a:p>
        </p:txBody>
      </p:sp>
    </p:spTree>
    <p:extLst>
      <p:ext uri="{BB962C8B-B14F-4D97-AF65-F5344CB8AC3E}">
        <p14:creationId xmlns:p14="http://schemas.microsoft.com/office/powerpoint/2010/main" val="672878099"/>
      </p:ext>
    </p:extLst>
  </p:cSld>
</p:sld>
</file>

<file path=ppt/slides/slide6.xml><?xml version="1.0" encoding="utf-8"?>
<p:sld xmlns:p="http://schemas.openxmlformats.org/presentationml/2006/main">
  <p:cSld>
    <p:bg>
      <p:bgPr>
        <a:solidFill xmlns:a="http://schemas.openxmlformats.org/drawingml/2006/main">
          <a:srgbClr val="EAF3FF"/>
        </a:solidFill>
      </p:bgPr>
    </p:bg>
    <p:spTree>
      <p:nvGrpSpPr>
        <p:cNvPr id="1" name=""/>
        <p:cNvGrpSpPr/>
        <p:nvPr/>
      </p:nvGrpSpPr>
      <p:grpSpPr>
        <a:xfrm xmlns:a="http://schemas.openxmlformats.org/drawingml/2006/main"/>
      </p:grpSpPr>
      <p:sp>
        <p:nvSpPr>
          <p:cNvPr id="10" name="topic">
            <a:extLst xmlns:a="http://schemas.openxmlformats.org/drawingml/2006/main">
              <a:ext uri="{FF2B5EF4-FFF2-40B4-BE49-F238E27FC236}">
                <a16:creationId xmlns:a16="http://schemas.microsoft.com/office/drawing/2014/main" id="{45D18151-8BCD-47F3-B48C-E358933F715C}"/>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1.1   /   LESSON 02   /   CHECK</a:t>
            </a:r>
          </a:p>
        </p:txBody>
      </p:sp>
      <p:sp>
        <p:nvSpPr>
          <p:cNvPr id="2" name="heading">
            <a:extLst xmlns:a="http://schemas.openxmlformats.org/drawingml/2006/main">
              <a:ext uri="{FF2B5EF4-FFF2-40B4-BE49-F238E27FC236}">
                <a16:creationId xmlns:a16="http://schemas.microsoft.com/office/drawing/2014/main" id="{0B01EC3A-4676-4687-8FE6-EB98849F0C7E}"/>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Key terminology: answers</a:t>
            </a:r>
          </a:p>
        </p:txBody>
      </p:sp>
      <p:sp>
        <p:nvSpPr>
          <p:cNvPr id="3" name="footer">
            <a:extLst xmlns:a="http://schemas.openxmlformats.org/drawingml/2006/main">
              <a:ext uri="{FF2B5EF4-FFF2-40B4-BE49-F238E27FC236}">
                <a16:creationId xmlns:a16="http://schemas.microsoft.com/office/drawing/2014/main" id="{41141775-D441-458A-AC23-80E5ECD6A22C}"/>
              </a:ext>
            </a:extLst>
          </p:cNvPr>
          <p:cNvSpPr>
            <a:spLocks xmlns:a="http://schemas.openxmlformats.org/drawingml/2006/main" noGrp="1"/>
          </p:cNvSpPr>
          <p:nvPr/>
        </p:nvSpPr>
        <p:spPr>
          <a:xfrm xmlns:a="http://schemas.openxmlformats.org/drawingml/2006/main">
            <a:off x="666750" y="6400800"/>
            <a:ext cx="981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Revise 360    OCR J277 1.1 Systems architecture</a:t>
            </a:r>
          </a:p>
        </p:txBody>
      </p:sp>
      <p:sp>
        <p:nvSpPr>
          <p:cNvPr id="4" name="page">
            <a:extLst xmlns:a="http://schemas.openxmlformats.org/drawingml/2006/main">
              <a:ext uri="{FF2B5EF4-FFF2-40B4-BE49-F238E27FC236}">
                <a16:creationId xmlns:a16="http://schemas.microsoft.com/office/drawing/2014/main" id="{5BF9E8A1-3891-45EC-883A-83922168CA93}"/>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6 / 20</a:t>
            </a:r>
          </a:p>
        </p:txBody>
      </p:sp>
      <p:sp>
        <p:nvSpPr>
          <p:cNvPr id="5" name="terms-note">
            <a:extLst xmlns:a="http://schemas.openxmlformats.org/drawingml/2006/main">
              <a:ext uri="{FF2B5EF4-FFF2-40B4-BE49-F238E27FC236}">
                <a16:creationId xmlns:a16="http://schemas.microsoft.com/office/drawing/2014/main" id="{0AAA7703-D0A6-4593-B97E-81604C51B53B}"/>
              </a:ext>
            </a:extLst>
          </p:cNvPr>
          <p:cNvSpPr>
            <a:spLocks xmlns:a="http://schemas.openxmlformats.org/drawingml/2006/main" noGrp="1"/>
          </p:cNvSpPr>
          <p:nvPr/>
        </p:nvSpPr>
        <p:spPr>
          <a:xfrm xmlns:a="http://schemas.openxmlformats.org/drawingml/2006/main">
            <a:off x="704850" y="1562100"/>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26174"/>
                </a:solidFill>
                <a:latin typeface="DejaVu Sans"/>
                <a:ea typeface="DejaVu Sans"/>
                <a:cs typeface="DejaVu Sans"/>
              </a:defRPr>
            </a:pPr>
            <a:r>
              <a:rPr sz="1800" b="0">
                <a:solidFill>
                  <a:srgbClr val="526174"/>
                </a:solidFill>
                <a:latin typeface="DejaVu Sans"/>
                <a:ea typeface="DejaVu Sans"/>
                <a:cs typeface="DejaVu Sans"/>
              </a:rPr>
              <a:t>Correct or improve your two definitions before opening the experience.</a:t>
            </a:r>
          </a:p>
        </p:txBody>
      </p:sp>
      <p:sp>
        <p:nvSpPr>
          <p:cNvPr id="6" name="answer-term-0">
            <a:extLst xmlns:a="http://schemas.openxmlformats.org/drawingml/2006/main">
              <a:ext uri="{FF2B5EF4-FFF2-40B4-BE49-F238E27FC236}">
                <a16:creationId xmlns:a16="http://schemas.microsoft.com/office/drawing/2014/main" id="{643D9A90-FDA2-4603-829F-4E7102E073FD}"/>
              </a:ext>
            </a:extLst>
          </p:cNvPr>
          <p:cNvSpPr>
            <a:spLocks xmlns:a="http://schemas.openxmlformats.org/drawingml/2006/main" noGrp="1"/>
          </p:cNvSpPr>
          <p:nvPr/>
        </p:nvSpPr>
        <p:spPr>
          <a:xfrm xmlns:a="http://schemas.openxmlformats.org/drawingml/2006/main">
            <a:off x="723900" y="24765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2D63FF"/>
                </a:solidFill>
                <a:latin typeface="DejaVu Sans"/>
                <a:ea typeface="DejaVu Sans"/>
                <a:cs typeface="DejaVu Sans"/>
              </a:defRPr>
            </a:pPr>
            <a:r>
              <a:rPr sz="2550" b="1">
                <a:solidFill>
                  <a:srgbClr val="2D63FF"/>
                </a:solidFill>
                <a:latin typeface="DejaVu Sans"/>
                <a:ea typeface="DejaVu Sans"/>
                <a:cs typeface="DejaVu Sans"/>
              </a:rPr>
              <a:t>ALU</a:t>
            </a:r>
          </a:p>
        </p:txBody>
      </p:sp>
      <p:sp>
        <p:nvSpPr>
          <p:cNvPr id="7" name="answer-definition-0">
            <a:extLst xmlns:a="http://schemas.openxmlformats.org/drawingml/2006/main">
              <a:ext uri="{FF2B5EF4-FFF2-40B4-BE49-F238E27FC236}">
                <a16:creationId xmlns:a16="http://schemas.microsoft.com/office/drawing/2014/main" id="{DF143F52-B5AF-458C-B2C2-F4B4D60533DC}"/>
              </a:ext>
            </a:extLst>
          </p:cNvPr>
          <p:cNvSpPr>
            <a:spLocks xmlns:a="http://schemas.openxmlformats.org/drawingml/2006/main" noGrp="1"/>
          </p:cNvSpPr>
          <p:nvPr/>
        </p:nvSpPr>
        <p:spPr>
          <a:xfrm xmlns:a="http://schemas.openxmlformats.org/drawingml/2006/main">
            <a:off x="723900" y="3057525"/>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01828"/>
                </a:solidFill>
                <a:latin typeface="DejaVu Sans"/>
                <a:ea typeface="DejaVu Sans"/>
                <a:cs typeface="DejaVu Sans"/>
              </a:defRPr>
            </a:pPr>
            <a:r>
              <a:rPr sz="2025" b="0">
                <a:solidFill>
                  <a:srgbClr val="101828"/>
                </a:solidFill>
                <a:latin typeface="DejaVu Sans"/>
                <a:ea typeface="DejaVu Sans"/>
                <a:cs typeface="DejaVu Sans"/>
              </a:rPr>
              <a:t>The arithmetic logic unit performs calculations and logical operations.</a:t>
            </a:r>
          </a:p>
        </p:txBody>
      </p:sp>
      <p:sp>
        <p:nvSpPr>
          <p:cNvPr id="8" name="answer-term-1">
            <a:extLst xmlns:a="http://schemas.openxmlformats.org/drawingml/2006/main">
              <a:ext uri="{FF2B5EF4-FFF2-40B4-BE49-F238E27FC236}">
                <a16:creationId xmlns:a16="http://schemas.microsoft.com/office/drawing/2014/main" id="{C313D66F-135C-4996-8146-60B7BC076FEF}"/>
              </a:ext>
            </a:extLst>
          </p:cNvPr>
          <p:cNvSpPr>
            <a:spLocks xmlns:a="http://schemas.openxmlformats.org/drawingml/2006/main" noGrp="1"/>
          </p:cNvSpPr>
          <p:nvPr/>
        </p:nvSpPr>
        <p:spPr>
          <a:xfrm xmlns:a="http://schemas.openxmlformats.org/drawingml/2006/main">
            <a:off x="723900" y="43338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2D63FF"/>
                </a:solidFill>
                <a:latin typeface="DejaVu Sans"/>
                <a:ea typeface="DejaVu Sans"/>
                <a:cs typeface="DejaVu Sans"/>
              </a:defRPr>
            </a:pPr>
            <a:r>
              <a:rPr sz="2550" b="1">
                <a:solidFill>
                  <a:srgbClr val="2D63FF"/>
                </a:solidFill>
                <a:latin typeface="DejaVu Sans"/>
                <a:ea typeface="DejaVu Sans"/>
                <a:cs typeface="DejaVu Sans"/>
              </a:rPr>
              <a:t>CU (control unit)</a:t>
            </a:r>
          </a:p>
        </p:txBody>
      </p:sp>
      <p:sp>
        <p:nvSpPr>
          <p:cNvPr id="9" name="answer-definition-1">
            <a:extLst xmlns:a="http://schemas.openxmlformats.org/drawingml/2006/main">
              <a:ext uri="{FF2B5EF4-FFF2-40B4-BE49-F238E27FC236}">
                <a16:creationId xmlns:a16="http://schemas.microsoft.com/office/drawing/2014/main" id="{BAD539AB-4A2B-4C6B-8CFB-5A56932394BB}"/>
              </a:ext>
            </a:extLst>
          </p:cNvPr>
          <p:cNvSpPr>
            <a:spLocks xmlns:a="http://schemas.openxmlformats.org/drawingml/2006/main" noGrp="1"/>
          </p:cNvSpPr>
          <p:nvPr/>
        </p:nvSpPr>
        <p:spPr>
          <a:xfrm xmlns:a="http://schemas.openxmlformats.org/drawingml/2006/main">
            <a:off x="723900" y="4914900"/>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01828"/>
                </a:solidFill>
                <a:latin typeface="DejaVu Sans"/>
                <a:ea typeface="DejaVu Sans"/>
                <a:cs typeface="DejaVu Sans"/>
              </a:defRPr>
            </a:pPr>
            <a:r>
              <a:rPr sz="2025" b="0">
                <a:solidFill>
                  <a:srgbClr val="101828"/>
                </a:solidFill>
                <a:latin typeface="DejaVu Sans"/>
                <a:ea typeface="DejaVu Sans"/>
                <a:cs typeface="DejaVu Sans"/>
              </a:rPr>
              <a:t>The control unit decodes instructions and sends control signals.</a:t>
            </a:r>
          </a:p>
        </p:txBody>
      </p:sp>
    </p:spTree>
    <p:extLst>
      <p:ext uri="{BB962C8B-B14F-4D97-AF65-F5344CB8AC3E}">
        <p14:creationId xmlns:p14="http://schemas.microsoft.com/office/powerpoint/2010/main" val="2040757112"/>
      </p:ext>
    </p:extLst>
  </p:cSld>
</p:sld>
</file>

<file path=ppt/slides/slide7.xml><?xml version="1.0" encoding="utf-8"?>
<p:sld xmlns:p="http://schemas.openxmlformats.org/presentationml/2006/main">
  <p:cSld>
    <p:bg>
      <p:bgPr>
        <a:solidFill xmlns:a="http://schemas.openxmlformats.org/drawingml/2006/main">
          <a:srgbClr val="122448"/>
        </a:solidFill>
      </p:bgPr>
    </p:bg>
    <p:spTree>
      <p:nvGrpSpPr>
        <p:cNvPr id="1" name=""/>
        <p:cNvGrpSpPr/>
        <p:nvPr/>
      </p:nvGrpSpPr>
      <p:grpSpPr>
        <a:xfrm xmlns:a="http://schemas.openxmlformats.org/drawingml/2006/main"/>
      </p:grpSpPr>
      <p:sp>
        <p:nvSpPr>
          <p:cNvPr id="12" name="topic">
            <a:extLst xmlns:a="http://schemas.openxmlformats.org/drawingml/2006/main">
              <a:ext uri="{FF2B5EF4-FFF2-40B4-BE49-F238E27FC236}">
                <a16:creationId xmlns:a16="http://schemas.microsoft.com/office/drawing/2014/main" id="{4AED4D85-E365-4AE6-A70A-99863B462C94}"/>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77D8FF"/>
                </a:solidFill>
                <a:latin typeface="DejaVu Sans"/>
                <a:ea typeface="DejaVu Sans"/>
                <a:cs typeface="DejaVu Sans"/>
              </a:defRPr>
            </a:pPr>
            <a:r>
              <a:rPr sz="1125" b="1">
                <a:solidFill>
                  <a:srgbClr val="77D8FF"/>
                </a:solidFill>
                <a:latin typeface="DejaVu Sans"/>
                <a:ea typeface="DejaVu Sans"/>
                <a:cs typeface="DejaVu Sans"/>
              </a:rPr>
              <a:t>TOPIC 1.1   /   LESSON 02   /   EXPERIENCE</a:t>
            </a:r>
          </a:p>
        </p:txBody>
      </p:sp>
      <p:sp>
        <p:nvSpPr>
          <p:cNvPr id="2" name="heading">
            <a:extLst xmlns:a="http://schemas.openxmlformats.org/drawingml/2006/main">
              <a:ext uri="{FF2B5EF4-FFF2-40B4-BE49-F238E27FC236}">
                <a16:creationId xmlns:a16="http://schemas.microsoft.com/office/drawing/2014/main" id="{DEAFD5D7-5280-4AE5-A1FB-14F583FE6747}"/>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FFFFFF"/>
                </a:solidFill>
                <a:latin typeface="DejaVu Sans"/>
                <a:ea typeface="DejaVu Sans"/>
                <a:cs typeface="DejaVu Sans"/>
              </a:defRPr>
            </a:pPr>
            <a:r>
              <a:rPr sz="3225" b="1">
                <a:solidFill>
                  <a:srgbClr val="FFFFFF"/>
                </a:solidFill>
                <a:latin typeface="DejaVu Sans"/>
                <a:ea typeface="DejaVu Sans"/>
                <a:cs typeface="DejaVu Sans"/>
              </a:rPr>
              <a:t>Open the experience now</a:t>
            </a:r>
          </a:p>
        </p:txBody>
      </p:sp>
      <p:sp>
        <p:nvSpPr>
          <p:cNvPr id="3" name="footer">
            <a:extLst xmlns:a="http://schemas.openxmlformats.org/drawingml/2006/main">
              <a:ext uri="{FF2B5EF4-FFF2-40B4-BE49-F238E27FC236}">
                <a16:creationId xmlns:a16="http://schemas.microsoft.com/office/drawing/2014/main" id="{F138641C-9136-4A60-A34E-86A3598E4BF5}"/>
              </a:ext>
            </a:extLst>
          </p:cNvPr>
          <p:cNvSpPr>
            <a:spLocks xmlns:a="http://schemas.openxmlformats.org/drawingml/2006/main" noGrp="1"/>
          </p:cNvSpPr>
          <p:nvPr/>
        </p:nvSpPr>
        <p:spPr>
          <a:xfrm xmlns:a="http://schemas.openxmlformats.org/drawingml/2006/main">
            <a:off x="666750" y="6400800"/>
            <a:ext cx="981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D7E4F3"/>
                </a:solidFill>
                <a:latin typeface="DejaVu Sans"/>
                <a:ea typeface="DejaVu Sans"/>
                <a:cs typeface="DejaVu Sans"/>
              </a:defRPr>
            </a:pPr>
            <a:r>
              <a:rPr sz="1050" b="0">
                <a:solidFill>
                  <a:srgbClr val="D7E4F3"/>
                </a:solidFill>
                <a:latin typeface="DejaVu Sans"/>
                <a:ea typeface="DejaVu Sans"/>
                <a:cs typeface="DejaVu Sans"/>
              </a:rPr>
              <a:t>Revise 360    OCR J277 1.1 Systems architecture</a:t>
            </a:r>
          </a:p>
        </p:txBody>
      </p:sp>
      <p:sp>
        <p:nvSpPr>
          <p:cNvPr id="4" name="page">
            <a:extLst xmlns:a="http://schemas.openxmlformats.org/drawingml/2006/main">
              <a:ext uri="{FF2B5EF4-FFF2-40B4-BE49-F238E27FC236}">
                <a16:creationId xmlns:a16="http://schemas.microsoft.com/office/drawing/2014/main" id="{9118A5EC-9F5F-4A06-B496-13A178B02974}"/>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D7E4F3"/>
                </a:solidFill>
                <a:latin typeface="DejaVu Sans"/>
                <a:ea typeface="DejaVu Sans"/>
                <a:cs typeface="DejaVu Sans"/>
              </a:defRPr>
            </a:pPr>
            <a:r>
              <a:rPr sz="1050" b="0">
                <a:solidFill>
                  <a:srgbClr val="D7E4F3"/>
                </a:solidFill>
                <a:latin typeface="DejaVu Sans"/>
                <a:ea typeface="DejaVu Sans"/>
                <a:cs typeface="DejaVu Sans"/>
              </a:rPr>
              <a:t>7 / 20</a:t>
            </a:r>
          </a:p>
        </p:txBody>
      </p:sp>
      <p:sp>
        <p:nvSpPr>
          <p:cNvPr id="5" name="start-label">
            <a:extLst xmlns:a="http://schemas.openxmlformats.org/drawingml/2006/main">
              <a:ext uri="{FF2B5EF4-FFF2-40B4-BE49-F238E27FC236}">
                <a16:creationId xmlns:a16="http://schemas.microsoft.com/office/drawing/2014/main" id="{648F7BB5-9563-4FFF-9D7A-23CFAA6C55D8}"/>
              </a:ext>
            </a:extLst>
          </p:cNvPr>
          <p:cNvSpPr>
            <a:spLocks xmlns:a="http://schemas.openxmlformats.org/drawingml/2006/main" noGrp="1"/>
          </p:cNvSpPr>
          <p:nvPr/>
        </p:nvSpPr>
        <p:spPr>
          <a:xfrm xmlns:a="http://schemas.openxmlformats.org/drawingml/2006/main">
            <a:off x="723900" y="1657350"/>
            <a:ext cx="1428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77D8FF"/>
                </a:solidFill>
                <a:latin typeface="DejaVu Sans"/>
                <a:ea typeface="DejaVu Sans"/>
                <a:cs typeface="DejaVu Sans"/>
              </a:defRPr>
            </a:pPr>
            <a:r>
              <a:rPr sz="1575" b="1">
                <a:solidFill>
                  <a:srgbClr val="77D8FF"/>
                </a:solidFill>
                <a:latin typeface="DejaVu Sans"/>
                <a:ea typeface="DejaVu Sans"/>
                <a:cs typeface="DejaVu Sans"/>
              </a:rPr>
              <a:t>START</a:t>
            </a:r>
          </a:p>
        </p:txBody>
      </p:sp>
      <p:sp>
        <p:nvSpPr>
          <p:cNvPr id="6" name="start">
            <a:extLst xmlns:a="http://schemas.openxmlformats.org/drawingml/2006/main">
              <a:ext uri="{FF2B5EF4-FFF2-40B4-BE49-F238E27FC236}">
                <a16:creationId xmlns:a16="http://schemas.microsoft.com/office/drawing/2014/main" id="{BBEF982F-C720-4BB8-B220-AB8BCAD1E51C}"/>
              </a:ext>
            </a:extLst>
          </p:cNvPr>
          <p:cNvSpPr>
            <a:spLocks xmlns:a="http://schemas.openxmlformats.org/drawingml/2006/main" noGrp="1"/>
          </p:cNvSpPr>
          <p:nvPr/>
        </p:nvSpPr>
        <p:spPr>
          <a:xfrm xmlns:a="http://schemas.openxmlformats.org/drawingml/2006/main">
            <a:off x="723900" y="1990725"/>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FFFFFF"/>
                </a:solidFill>
                <a:latin typeface="DejaVu Sans"/>
                <a:ea typeface="DejaVu Sans"/>
                <a:cs typeface="DejaVu Sans"/>
              </a:defRPr>
            </a:pPr>
            <a:r>
              <a:rPr sz="1950" b="0">
                <a:solidFill>
                  <a:srgbClr val="FFFFFF"/>
                </a:solidFill>
                <a:latin typeface="DejaVu Sans"/>
                <a:ea typeface="DejaVu Sans"/>
                <a:cs typeface="DejaVu Sans"/>
              </a:rPr>
              <a:t>Select Von Neumann HQ from Topic 1.1 and keep your worksheet beside you.</a:t>
            </a:r>
          </a:p>
        </p:txBody>
      </p:sp>
      <p:sp>
        <p:nvSpPr>
          <p:cNvPr id="7" name="own-words-label">
            <a:extLst xmlns:a="http://schemas.openxmlformats.org/drawingml/2006/main">
              <a:ext uri="{FF2B5EF4-FFF2-40B4-BE49-F238E27FC236}">
                <a16:creationId xmlns:a16="http://schemas.microsoft.com/office/drawing/2014/main" id="{43B86DA8-3430-4287-82A0-8FEBCA210918}"/>
              </a:ext>
            </a:extLst>
          </p:cNvPr>
          <p:cNvSpPr>
            <a:spLocks xmlns:a="http://schemas.openxmlformats.org/drawingml/2006/main" noGrp="1"/>
          </p:cNvSpPr>
          <p:nvPr/>
        </p:nvSpPr>
        <p:spPr>
          <a:xfrm xmlns:a="http://schemas.openxmlformats.org/drawingml/2006/main">
            <a:off x="723900" y="2924175"/>
            <a:ext cx="4000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77D8FF"/>
                </a:solidFill>
                <a:latin typeface="DejaVu Sans"/>
                <a:ea typeface="DejaVu Sans"/>
                <a:cs typeface="DejaVu Sans"/>
              </a:defRPr>
            </a:pPr>
            <a:r>
              <a:rPr sz="1575" b="1">
                <a:solidFill>
                  <a:srgbClr val="77D8FF"/>
                </a:solidFill>
                <a:latin typeface="DejaVu Sans"/>
                <a:ea typeface="DejaVu Sans"/>
                <a:cs typeface="DejaVu Sans"/>
              </a:rPr>
              <a:t>AT EVERY STATION</a:t>
            </a:r>
          </a:p>
        </p:txBody>
      </p:sp>
      <p:sp>
        <p:nvSpPr>
          <p:cNvPr id="8" name="own-words">
            <a:extLst xmlns:a="http://schemas.openxmlformats.org/drawingml/2006/main">
              <a:ext uri="{FF2B5EF4-FFF2-40B4-BE49-F238E27FC236}">
                <a16:creationId xmlns:a16="http://schemas.microsoft.com/office/drawing/2014/main" id="{82CFCD2E-CCC7-4430-9756-1671A020E41D}"/>
              </a:ext>
            </a:extLst>
          </p:cNvPr>
          <p:cNvSpPr>
            <a:spLocks xmlns:a="http://schemas.openxmlformats.org/drawingml/2006/main" noGrp="1"/>
          </p:cNvSpPr>
          <p:nvPr/>
        </p:nvSpPr>
        <p:spPr>
          <a:xfrm xmlns:a="http://schemas.openxmlformats.org/drawingml/2006/main">
            <a:off x="723900" y="3276600"/>
            <a:ext cx="10572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FFFFFF"/>
                </a:solidFill>
                <a:latin typeface="DejaVu Sans"/>
                <a:ea typeface="DejaVu Sans"/>
                <a:cs typeface="DejaVu Sans"/>
              </a:defRPr>
            </a:pPr>
            <a:r>
              <a:rPr sz="2250" b="1">
                <a:solidFill>
                  <a:srgbClr val="FFFFFF"/>
                </a:solidFill>
                <a:latin typeface="DejaVu Sans"/>
                <a:ea typeface="DejaVu Sans"/>
                <a:cs typeface="DejaVu Sans"/>
              </a:rPr>
              <a:t>Write the key fact IN YOUR OWN WORDS and answer the worksheet challenge before tapping the badge.</a:t>
            </a:r>
          </a:p>
        </p:txBody>
      </p:sp>
      <p:sp>
        <p:nvSpPr>
          <p:cNvPr id="9" name="finish-label">
            <a:extLst xmlns:a="http://schemas.openxmlformats.org/drawingml/2006/main">
              <a:ext uri="{FF2B5EF4-FFF2-40B4-BE49-F238E27FC236}">
                <a16:creationId xmlns:a16="http://schemas.microsoft.com/office/drawing/2014/main" id="{73BE3FA3-10E1-42CD-95F8-495006EC0AD0}"/>
              </a:ext>
            </a:extLst>
          </p:cNvPr>
          <p:cNvSpPr>
            <a:spLocks xmlns:a="http://schemas.openxmlformats.org/drawingml/2006/main" noGrp="1"/>
          </p:cNvSpPr>
          <p:nvPr/>
        </p:nvSpPr>
        <p:spPr>
          <a:xfrm xmlns:a="http://schemas.openxmlformats.org/drawingml/2006/main">
            <a:off x="723900" y="4638675"/>
            <a:ext cx="1428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77D8FF"/>
                </a:solidFill>
                <a:latin typeface="DejaVu Sans"/>
                <a:ea typeface="DejaVu Sans"/>
                <a:cs typeface="DejaVu Sans"/>
              </a:defRPr>
            </a:pPr>
            <a:r>
              <a:rPr sz="1575" b="1">
                <a:solidFill>
                  <a:srgbClr val="77D8FF"/>
                </a:solidFill>
                <a:latin typeface="DejaVu Sans"/>
                <a:ea typeface="DejaVu Sans"/>
                <a:cs typeface="DejaVu Sans"/>
              </a:rPr>
              <a:t>FINISH</a:t>
            </a:r>
          </a:p>
        </p:txBody>
      </p:sp>
      <p:sp>
        <p:nvSpPr>
          <p:cNvPr id="10" name="finish">
            <a:extLst xmlns:a="http://schemas.openxmlformats.org/drawingml/2006/main">
              <a:ext uri="{FF2B5EF4-FFF2-40B4-BE49-F238E27FC236}">
                <a16:creationId xmlns:a16="http://schemas.microsoft.com/office/drawing/2014/main" id="{D00A0E47-2820-42B5-BFC0-452213686829}"/>
              </a:ext>
            </a:extLst>
          </p:cNvPr>
          <p:cNvSpPr>
            <a:spLocks xmlns:a="http://schemas.openxmlformats.org/drawingml/2006/main" noGrp="1"/>
          </p:cNvSpPr>
          <p:nvPr/>
        </p:nvSpPr>
        <p:spPr>
          <a:xfrm xmlns:a="http://schemas.openxmlformats.org/drawingml/2006/main">
            <a:off x="723900" y="497205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FFFFFF"/>
                </a:solidFill>
                <a:latin typeface="DejaVu Sans"/>
                <a:ea typeface="DejaVu Sans"/>
                <a:cs typeface="DejaVu Sans"/>
              </a:defRPr>
            </a:pPr>
            <a:r>
              <a:rPr sz="1950" b="0">
                <a:solidFill>
                  <a:srgbClr val="FFFFFF"/>
                </a:solidFill>
                <a:latin typeface="DejaVu Sans"/>
                <a:ea typeface="DejaVu Sans"/>
                <a:cs typeface="DejaVu Sans"/>
              </a:rPr>
              <a:t>Answer on screen, then copy your score into the yellow worksheet box (out of 19).</a:t>
            </a:r>
          </a:p>
        </p:txBody>
      </p:sp>
      <p:sp>
        <p:nvSpPr>
          <p:cNvPr id="11" name="open-link">
            <a:extLst xmlns:a="http://schemas.openxmlformats.org/drawingml/2006/main">
              <a:ext uri="{FF2B5EF4-FFF2-40B4-BE49-F238E27FC236}">
                <a16:creationId xmlns:a16="http://schemas.microsoft.com/office/drawing/2014/main" id="{6E4B6B21-B25A-4E43-A8DC-BF2639E2B148}"/>
              </a:ext>
            </a:extLst>
          </p:cNvPr>
          <p:cNvSpPr>
            <a:spLocks xmlns:a="http://schemas.openxmlformats.org/drawingml/2006/main" noGrp="1"/>
          </p:cNvSpPr>
          <p:nvPr/>
        </p:nvSpPr>
        <p:spPr>
          <a:xfrm xmlns:a="http://schemas.openxmlformats.org/drawingml/2006/main">
            <a:off x="723900" y="5838825"/>
            <a:ext cx="571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77D8FF"/>
                </a:solidFill>
                <a:latin typeface="DejaVu Sans"/>
                <a:ea typeface="DejaVu Sans"/>
                <a:cs typeface="DejaVu Sans"/>
              </a:defRPr>
            </a:pPr>
            <a:r>
              <a:rPr sz="1725" b="1">
                <a:solidFill>
                  <a:srgbClr val="77D8FF"/>
                </a:solidFill>
                <a:latin typeface="DejaVu Sans"/>
                <a:ea typeface="DejaVu Sans"/>
                <a:cs typeface="DejaVu Sans"/>
                <a:hlinkClick xmlns:r="http://schemas.openxmlformats.org/officeDocument/2006/relationships" r:id="R31e0405c6e0a496d"/>
              </a:rPr>
              <a:t>Open the experience online</a:t>
            </a:r>
            <a:r>
              <a:rPr sz="1725" b="1">
                <a:solidFill>
                  <a:srgbClr val="77D8FF"/>
                </a:solidFill>
                <a:latin typeface="DejaVu Sans"/>
                <a:ea typeface="DejaVu Sans"/>
                <a:cs typeface="DejaVu Sans"/>
              </a:rPr>
              <a:t>  ↗</a:t>
            </a:r>
          </a:p>
        </p:txBody>
      </p:sp>
    </p:spTree>
    <p:extLst>
      <p:ext uri="{BB962C8B-B14F-4D97-AF65-F5344CB8AC3E}">
        <p14:creationId xmlns:p14="http://schemas.microsoft.com/office/powerpoint/2010/main" val="168718807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opic">
            <a:extLst xmlns:a="http://schemas.openxmlformats.org/drawingml/2006/main">
              <a:ext uri="{FF2B5EF4-FFF2-40B4-BE49-F238E27FC236}">
                <a16:creationId xmlns:a16="http://schemas.microsoft.com/office/drawing/2014/main" id="{6AA622AA-0539-41A3-946A-CF115A2F606B}"/>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1.1   /   LESSON 02   /   EXPERIENCE</a:t>
            </a:r>
          </a:p>
        </p:txBody>
      </p:sp>
      <p:sp>
        <p:nvSpPr>
          <p:cNvPr id="2" name="heading">
            <a:extLst xmlns:a="http://schemas.openxmlformats.org/drawingml/2006/main">
              <a:ext uri="{FF2B5EF4-FFF2-40B4-BE49-F238E27FC236}">
                <a16:creationId xmlns:a16="http://schemas.microsoft.com/office/drawing/2014/main" id="{A63ACDEE-7E75-42B5-B391-FAE05A4920A3}"/>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The stations in your worksheet</a:t>
            </a:r>
          </a:p>
        </p:txBody>
      </p:sp>
      <p:sp>
        <p:nvSpPr>
          <p:cNvPr id="3" name="footer">
            <a:extLst xmlns:a="http://schemas.openxmlformats.org/drawingml/2006/main">
              <a:ext uri="{FF2B5EF4-FFF2-40B4-BE49-F238E27FC236}">
                <a16:creationId xmlns:a16="http://schemas.microsoft.com/office/drawing/2014/main" id="{729CE05C-E468-4DDE-AA95-A2A18B369DEC}"/>
              </a:ext>
            </a:extLst>
          </p:cNvPr>
          <p:cNvSpPr>
            <a:spLocks xmlns:a="http://schemas.openxmlformats.org/drawingml/2006/main" noGrp="1"/>
          </p:cNvSpPr>
          <p:nvPr/>
        </p:nvSpPr>
        <p:spPr>
          <a:xfrm xmlns:a="http://schemas.openxmlformats.org/drawingml/2006/main">
            <a:off x="666750" y="6400800"/>
            <a:ext cx="981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Revise 360    OCR J277 1.1 Systems architecture</a:t>
            </a:r>
          </a:p>
        </p:txBody>
      </p:sp>
      <p:sp>
        <p:nvSpPr>
          <p:cNvPr id="4" name="page">
            <a:extLst xmlns:a="http://schemas.openxmlformats.org/drawingml/2006/main">
              <a:ext uri="{FF2B5EF4-FFF2-40B4-BE49-F238E27FC236}">
                <a16:creationId xmlns:a16="http://schemas.microsoft.com/office/drawing/2014/main" id="{6A5C2497-7153-40BD-ABC9-1C323A918FB7}"/>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8 / 20</a:t>
            </a:r>
          </a:p>
        </p:txBody>
      </p:sp>
      <p:sp>
        <p:nvSpPr>
          <p:cNvPr id="5" name="route-intro">
            <a:extLst xmlns:a="http://schemas.openxmlformats.org/drawingml/2006/main">
              <a:ext uri="{FF2B5EF4-FFF2-40B4-BE49-F238E27FC236}">
                <a16:creationId xmlns:a16="http://schemas.microsoft.com/office/drawing/2014/main" id="{58D2F116-CE3B-4C43-8F4E-464726D63A51}"/>
              </a:ext>
            </a:extLst>
          </p:cNvPr>
          <p:cNvSpPr>
            <a:spLocks xmlns:a="http://schemas.openxmlformats.org/drawingml/2006/main" noGrp="1"/>
          </p:cNvSpPr>
          <p:nvPr/>
        </p:nvSpPr>
        <p:spPr>
          <a:xfrm xmlns:a="http://schemas.openxmlformats.org/drawingml/2006/main">
            <a:off x="704850" y="1533525"/>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174"/>
                </a:solidFill>
                <a:latin typeface="DejaVu Sans"/>
                <a:ea typeface="DejaVu Sans"/>
                <a:cs typeface="DejaVu Sans"/>
              </a:defRPr>
            </a:pPr>
            <a:r>
              <a:rPr sz="1875" b="0">
                <a:solidFill>
                  <a:srgbClr val="526174"/>
                </a:solidFill>
                <a:latin typeface="DejaVu Sans"/>
                <a:ea typeface="DejaVu Sans"/>
                <a:cs typeface="DejaVu Sans"/>
              </a:rPr>
              <a:t>Follow your worksheet route. Write key facts in your own words before tapping each badge.</a:t>
            </a:r>
          </a:p>
        </p:txBody>
      </p:sp>
      <p:sp>
        <p:nvSpPr>
          <p:cNvPr id="6" name="route-direction-0">
            <a:extLst xmlns:a="http://schemas.openxmlformats.org/drawingml/2006/main">
              <a:ext uri="{FF2B5EF4-FFF2-40B4-BE49-F238E27FC236}">
                <a16:creationId xmlns:a16="http://schemas.microsoft.com/office/drawing/2014/main" id="{3D00CD27-AC54-423B-B0CA-01699D476AE9}"/>
              </a:ext>
            </a:extLst>
          </p:cNvPr>
          <p:cNvSpPr>
            <a:spLocks xmlns:a="http://schemas.openxmlformats.org/drawingml/2006/main" noGrp="1"/>
          </p:cNvSpPr>
          <p:nvPr/>
        </p:nvSpPr>
        <p:spPr>
          <a:xfrm xmlns:a="http://schemas.openxmlformats.org/drawingml/2006/main">
            <a:off x="704850" y="2266950"/>
            <a:ext cx="1066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D63FF"/>
                </a:solidFill>
                <a:latin typeface="DejaVu Sans"/>
                <a:ea typeface="DejaVu Sans"/>
                <a:cs typeface="DejaVu Sans"/>
              </a:defRPr>
            </a:pPr>
            <a:r>
              <a:rPr sz="1500" b="1">
                <a:solidFill>
                  <a:srgbClr val="2D63FF"/>
                </a:solidFill>
                <a:latin typeface="DejaVu Sans"/>
                <a:ea typeface="DejaVu Sans"/>
                <a:cs typeface="DejaVu Sans"/>
              </a:rPr>
              <a:t>RIGHT</a:t>
            </a:r>
          </a:p>
        </p:txBody>
      </p:sp>
      <p:sp>
        <p:nvSpPr>
          <p:cNvPr id="7" name="route-names-0">
            <a:extLst xmlns:a="http://schemas.openxmlformats.org/drawingml/2006/main">
              <a:ext uri="{FF2B5EF4-FFF2-40B4-BE49-F238E27FC236}">
                <a16:creationId xmlns:a16="http://schemas.microsoft.com/office/drawing/2014/main" id="{BA337F7D-3309-4225-8876-039795B32069}"/>
              </a:ext>
            </a:extLst>
          </p:cNvPr>
          <p:cNvSpPr>
            <a:spLocks xmlns:a="http://schemas.openxmlformats.org/drawingml/2006/main" noGrp="1"/>
          </p:cNvSpPr>
          <p:nvPr/>
        </p:nvSpPr>
        <p:spPr>
          <a:xfrm xmlns:a="http://schemas.openxmlformats.org/drawingml/2006/main">
            <a:off x="1809750" y="2266950"/>
            <a:ext cx="44386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01828"/>
                </a:solidFill>
                <a:latin typeface="DejaVu Sans"/>
                <a:ea typeface="DejaVu Sans"/>
                <a:cs typeface="DejaVu Sans"/>
              </a:defRPr>
            </a:pPr>
            <a:r>
              <a:rPr sz="1725" b="0">
                <a:solidFill>
                  <a:srgbClr val="101828"/>
                </a:solidFill>
                <a:latin typeface="DejaVu Sans"/>
                <a:ea typeface="DejaVu Sans"/>
                <a:cs typeface="DejaVu Sans"/>
              </a:rPr>
              <a:t>1 John von Neumann</a:t>
            </a:r>
          </a:p>
          <a:p xmlns:a="http://schemas.openxmlformats.org/drawingml/2006/main">
            <a:pPr>
              <a:defRPr sz="1725" b="0">
                <a:solidFill>
                  <a:srgbClr val="101828"/>
                </a:solidFill>
                <a:latin typeface="DejaVu Sans"/>
                <a:ea typeface="DejaVu Sans"/>
                <a:cs typeface="DejaVu Sans"/>
              </a:defRPr>
            </a:pPr>
            <a:r>
              <a:rPr sz="1725" b="0">
                <a:solidFill>
                  <a:srgbClr val="101828"/>
                </a:solidFill>
                <a:latin typeface="DejaVu Sans"/>
                <a:ea typeface="DejaVu Sans"/>
                <a:cs typeface="DejaVu Sans"/>
              </a:rPr>
              <a:t>2 The stored-program concept</a:t>
            </a:r>
          </a:p>
        </p:txBody>
      </p:sp>
      <p:sp>
        <p:nvSpPr>
          <p:cNvPr id="8" name="route-direction-1">
            <a:extLst xmlns:a="http://schemas.openxmlformats.org/drawingml/2006/main">
              <a:ext uri="{FF2B5EF4-FFF2-40B4-BE49-F238E27FC236}">
                <a16:creationId xmlns:a16="http://schemas.microsoft.com/office/drawing/2014/main" id="{64831450-330B-4577-8278-8A249DAACB22}"/>
              </a:ext>
            </a:extLst>
          </p:cNvPr>
          <p:cNvSpPr>
            <a:spLocks xmlns:a="http://schemas.openxmlformats.org/drawingml/2006/main" noGrp="1"/>
          </p:cNvSpPr>
          <p:nvPr/>
        </p:nvSpPr>
        <p:spPr>
          <a:xfrm xmlns:a="http://schemas.openxmlformats.org/drawingml/2006/main">
            <a:off x="704850" y="3209925"/>
            <a:ext cx="1066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D63FF"/>
                </a:solidFill>
                <a:latin typeface="DejaVu Sans"/>
                <a:ea typeface="DejaVu Sans"/>
                <a:cs typeface="DejaVu Sans"/>
              </a:defRPr>
            </a:pPr>
            <a:r>
              <a:rPr sz="1500" b="1">
                <a:solidFill>
                  <a:srgbClr val="2D63FF"/>
                </a:solidFill>
                <a:latin typeface="DejaVu Sans"/>
                <a:ea typeface="DejaVu Sans"/>
                <a:cs typeface="DejaVu Sans"/>
              </a:rPr>
              <a:t>AROUND</a:t>
            </a:r>
          </a:p>
        </p:txBody>
      </p:sp>
      <p:sp>
        <p:nvSpPr>
          <p:cNvPr id="9" name="route-names-1">
            <a:extLst xmlns:a="http://schemas.openxmlformats.org/drawingml/2006/main">
              <a:ext uri="{FF2B5EF4-FFF2-40B4-BE49-F238E27FC236}">
                <a16:creationId xmlns:a16="http://schemas.microsoft.com/office/drawing/2014/main" id="{2E829E40-8AE5-4546-B9E7-21D0FDF44015}"/>
              </a:ext>
            </a:extLst>
          </p:cNvPr>
          <p:cNvSpPr>
            <a:spLocks xmlns:a="http://schemas.openxmlformats.org/drawingml/2006/main" noGrp="1"/>
          </p:cNvSpPr>
          <p:nvPr/>
        </p:nvSpPr>
        <p:spPr>
          <a:xfrm xmlns:a="http://schemas.openxmlformats.org/drawingml/2006/main">
            <a:off x="1809750" y="3209925"/>
            <a:ext cx="44386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01828"/>
                </a:solidFill>
                <a:latin typeface="DejaVu Sans"/>
                <a:ea typeface="DejaVu Sans"/>
                <a:cs typeface="DejaVu Sans"/>
              </a:defRPr>
            </a:pPr>
            <a:r>
              <a:rPr sz="1725" b="0">
                <a:solidFill>
                  <a:srgbClr val="101828"/>
                </a:solidFill>
                <a:latin typeface="DejaVu Sans"/>
                <a:ea typeface="DejaVu Sans"/>
                <a:cs typeface="DejaVu Sans"/>
              </a:rPr>
              <a:t>3 Program counter and accumulator</a:t>
            </a:r>
          </a:p>
          <a:p xmlns:a="http://schemas.openxmlformats.org/drawingml/2006/main">
            <a:pPr>
              <a:defRPr sz="1725" b="0">
                <a:solidFill>
                  <a:srgbClr val="101828"/>
                </a:solidFill>
                <a:latin typeface="DejaVu Sans"/>
                <a:ea typeface="DejaVu Sans"/>
                <a:cs typeface="DejaVu Sans"/>
              </a:defRPr>
            </a:pPr>
            <a:r>
              <a:rPr sz="1725" b="0">
                <a:solidFill>
                  <a:srgbClr val="101828"/>
                </a:solidFill>
                <a:latin typeface="DejaVu Sans"/>
                <a:ea typeface="DejaVu Sans"/>
                <a:cs typeface="DejaVu Sans"/>
              </a:rPr>
              <a:t>4 MAR and MDR</a:t>
            </a:r>
          </a:p>
        </p:txBody>
      </p:sp>
      <p:sp>
        <p:nvSpPr>
          <p:cNvPr id="10" name="route-direction-2">
            <a:extLst xmlns:a="http://schemas.openxmlformats.org/drawingml/2006/main">
              <a:ext uri="{FF2B5EF4-FFF2-40B4-BE49-F238E27FC236}">
                <a16:creationId xmlns:a16="http://schemas.microsoft.com/office/drawing/2014/main" id="{3D808C60-6698-4E2A-8D64-293A2A150DC8}"/>
              </a:ext>
            </a:extLst>
          </p:cNvPr>
          <p:cNvSpPr>
            <a:spLocks xmlns:a="http://schemas.openxmlformats.org/drawingml/2006/main" noGrp="1"/>
          </p:cNvSpPr>
          <p:nvPr/>
        </p:nvSpPr>
        <p:spPr>
          <a:xfrm xmlns:a="http://schemas.openxmlformats.org/drawingml/2006/main">
            <a:off x="704850" y="4162425"/>
            <a:ext cx="1066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D63FF"/>
                </a:solidFill>
                <a:latin typeface="DejaVu Sans"/>
                <a:ea typeface="DejaVu Sans"/>
                <a:cs typeface="DejaVu Sans"/>
              </a:defRPr>
            </a:pPr>
            <a:r>
              <a:rPr sz="1500" b="1">
                <a:solidFill>
                  <a:srgbClr val="2D63FF"/>
                </a:solidFill>
                <a:latin typeface="DejaVu Sans"/>
                <a:ea typeface="DejaVu Sans"/>
                <a:cs typeface="DejaVu Sans"/>
              </a:rPr>
              <a:t>LEFT</a:t>
            </a:r>
          </a:p>
        </p:txBody>
      </p:sp>
      <p:sp>
        <p:nvSpPr>
          <p:cNvPr id="11" name="route-names-2">
            <a:extLst xmlns:a="http://schemas.openxmlformats.org/drawingml/2006/main">
              <a:ext uri="{FF2B5EF4-FFF2-40B4-BE49-F238E27FC236}">
                <a16:creationId xmlns:a16="http://schemas.microsoft.com/office/drawing/2014/main" id="{B597A969-651C-4E2D-A63A-0C9AB20AA224}"/>
              </a:ext>
            </a:extLst>
          </p:cNvPr>
          <p:cNvSpPr>
            <a:spLocks xmlns:a="http://schemas.openxmlformats.org/drawingml/2006/main" noGrp="1"/>
          </p:cNvSpPr>
          <p:nvPr/>
        </p:nvSpPr>
        <p:spPr>
          <a:xfrm xmlns:a="http://schemas.openxmlformats.org/drawingml/2006/main">
            <a:off x="1809750" y="4162425"/>
            <a:ext cx="44386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01828"/>
                </a:solidFill>
                <a:latin typeface="DejaVu Sans"/>
                <a:ea typeface="DejaVu Sans"/>
                <a:cs typeface="DejaVu Sans"/>
              </a:defRPr>
            </a:pPr>
            <a:r>
              <a:rPr sz="1725" b="0">
                <a:solidFill>
                  <a:srgbClr val="101828"/>
                </a:solidFill>
                <a:latin typeface="DejaVu Sans"/>
                <a:ea typeface="DejaVu Sans"/>
                <a:cs typeface="DejaVu Sans"/>
              </a:rPr>
              <a:t>5 Other architectures</a:t>
            </a:r>
          </a:p>
          <a:p xmlns:a="http://schemas.openxmlformats.org/drawingml/2006/main">
            <a:pPr>
              <a:defRPr sz="1725" b="0">
                <a:solidFill>
                  <a:srgbClr val="101828"/>
                </a:solidFill>
                <a:latin typeface="DejaVu Sans"/>
                <a:ea typeface="DejaVu Sans"/>
                <a:cs typeface="DejaVu Sans"/>
              </a:defRPr>
            </a:pPr>
            <a:r>
              <a:rPr sz="1725" b="0">
                <a:solidFill>
                  <a:srgbClr val="101828"/>
                </a:solidFill>
                <a:latin typeface="DejaVu Sans"/>
                <a:ea typeface="DejaVu Sans"/>
                <a:cs typeface="DejaVu Sans"/>
              </a:rPr>
              <a:t>6 Keywords</a:t>
            </a:r>
          </a:p>
        </p:txBody>
      </p:sp>
      <p:sp>
        <p:nvSpPr>
          <p:cNvPr id="12" name="route-direction-3">
            <a:extLst xmlns:a="http://schemas.openxmlformats.org/drawingml/2006/main">
              <a:ext uri="{FF2B5EF4-FFF2-40B4-BE49-F238E27FC236}">
                <a16:creationId xmlns:a16="http://schemas.microsoft.com/office/drawing/2014/main" id="{28FBC4B2-C3E5-47CC-BBE4-782B82C0A933}"/>
              </a:ext>
            </a:extLst>
          </p:cNvPr>
          <p:cNvSpPr>
            <a:spLocks xmlns:a="http://schemas.openxmlformats.org/drawingml/2006/main" noGrp="1"/>
          </p:cNvSpPr>
          <p:nvPr/>
        </p:nvSpPr>
        <p:spPr>
          <a:xfrm xmlns:a="http://schemas.openxmlformats.org/drawingml/2006/main">
            <a:off x="704850" y="5314950"/>
            <a:ext cx="1066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D63FF"/>
                </a:solidFill>
                <a:latin typeface="DejaVu Sans"/>
                <a:ea typeface="DejaVu Sans"/>
                <a:cs typeface="DejaVu Sans"/>
              </a:defRPr>
            </a:pPr>
            <a:r>
              <a:rPr sz="1500" b="1">
                <a:solidFill>
                  <a:srgbClr val="2D63FF"/>
                </a:solidFill>
                <a:latin typeface="DejaVu Sans"/>
                <a:ea typeface="DejaVu Sans"/>
                <a:cs typeface="DejaVu Sans"/>
              </a:rPr>
              <a:t>DOWN</a:t>
            </a:r>
          </a:p>
        </p:txBody>
      </p:sp>
      <p:sp>
        <p:nvSpPr>
          <p:cNvPr id="13" name="route-names-3">
            <a:extLst xmlns:a="http://schemas.openxmlformats.org/drawingml/2006/main">
              <a:ext uri="{FF2B5EF4-FFF2-40B4-BE49-F238E27FC236}">
                <a16:creationId xmlns:a16="http://schemas.microsoft.com/office/drawing/2014/main" id="{F248298A-CE42-4E8A-AB0F-8C99404B0188}"/>
              </a:ext>
            </a:extLst>
          </p:cNvPr>
          <p:cNvSpPr>
            <a:spLocks xmlns:a="http://schemas.openxmlformats.org/drawingml/2006/main" noGrp="1"/>
          </p:cNvSpPr>
          <p:nvPr/>
        </p:nvSpPr>
        <p:spPr>
          <a:xfrm xmlns:a="http://schemas.openxmlformats.org/drawingml/2006/main">
            <a:off x="1809750" y="5314950"/>
            <a:ext cx="4438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101828"/>
                </a:solidFill>
                <a:latin typeface="DejaVu Sans"/>
                <a:ea typeface="DejaVu Sans"/>
                <a:cs typeface="DejaVu Sans"/>
              </a:defRPr>
            </a:pPr>
            <a:r>
              <a:rPr sz="1875" b="1">
                <a:solidFill>
                  <a:srgbClr val="101828"/>
                </a:solidFill>
                <a:latin typeface="DejaVu Sans"/>
                <a:ea typeface="DejaVu Sans"/>
                <a:cs typeface="DejaVu Sans"/>
              </a:rPr>
              <a:t>★ Final challenge</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b66ce3ccaaea4e23"/>
          <a:stretch xmlns:a="http://schemas.openxmlformats.org/drawingml/2006/main"/>
        </p:blipFill>
        <p:spPr>
          <a:xfrm xmlns:a="http://schemas.openxmlformats.org/drawingml/2006/main">
            <a:off x="6505575" y="2241550"/>
            <a:ext cx="4933950" cy="3289300"/>
          </a:xfrm>
          <a:prstGeom xmlns:a="http://schemas.openxmlformats.org/drawingml/2006/main" prst="rect">
            <a:avLst/>
          </a:prstGeom>
        </p:spPr>
      </p:pic>
    </p:spTree>
    <p:extLst>
      <p:ext uri="{BB962C8B-B14F-4D97-AF65-F5344CB8AC3E}">
        <p14:creationId xmlns:p14="http://schemas.microsoft.com/office/powerpoint/2010/main" val="198025186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opic">
            <a:extLst xmlns:a="http://schemas.openxmlformats.org/drawingml/2006/main">
              <a:ext uri="{FF2B5EF4-FFF2-40B4-BE49-F238E27FC236}">
                <a16:creationId xmlns:a16="http://schemas.microsoft.com/office/drawing/2014/main" id="{C5652513-46F6-411A-8D5E-1CC3612AD001}"/>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1.1   /   LESSON 02   /   WORKSHEET</a:t>
            </a:r>
          </a:p>
        </p:txBody>
      </p:sp>
      <p:sp>
        <p:nvSpPr>
          <p:cNvPr id="2" name="heading">
            <a:extLst xmlns:a="http://schemas.openxmlformats.org/drawingml/2006/main">
              <a:ext uri="{FF2B5EF4-FFF2-40B4-BE49-F238E27FC236}">
                <a16:creationId xmlns:a16="http://schemas.microsoft.com/office/drawing/2014/main" id="{D9A2AC6B-FC33-4D57-B1D8-D2E7C15BE016}"/>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Final challenge, score and key question</a:t>
            </a:r>
          </a:p>
        </p:txBody>
      </p:sp>
      <p:sp>
        <p:nvSpPr>
          <p:cNvPr id="3" name="footer">
            <a:extLst xmlns:a="http://schemas.openxmlformats.org/drawingml/2006/main">
              <a:ext uri="{FF2B5EF4-FFF2-40B4-BE49-F238E27FC236}">
                <a16:creationId xmlns:a16="http://schemas.microsoft.com/office/drawing/2014/main" id="{3D09A1D1-FC52-4F4B-A5D8-BECD6D2BA47D}"/>
              </a:ext>
            </a:extLst>
          </p:cNvPr>
          <p:cNvSpPr>
            <a:spLocks xmlns:a="http://schemas.openxmlformats.org/drawingml/2006/main" noGrp="1"/>
          </p:cNvSpPr>
          <p:nvPr/>
        </p:nvSpPr>
        <p:spPr>
          <a:xfrm xmlns:a="http://schemas.openxmlformats.org/drawingml/2006/main">
            <a:off x="666750" y="6400800"/>
            <a:ext cx="981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Revise 360    OCR J277 1.1 Systems architecture</a:t>
            </a:r>
          </a:p>
        </p:txBody>
      </p:sp>
      <p:sp>
        <p:nvSpPr>
          <p:cNvPr id="4" name="page">
            <a:extLst xmlns:a="http://schemas.openxmlformats.org/drawingml/2006/main">
              <a:ext uri="{FF2B5EF4-FFF2-40B4-BE49-F238E27FC236}">
                <a16:creationId xmlns:a16="http://schemas.microsoft.com/office/drawing/2014/main" id="{7577FD2C-463E-41B4-A54E-113D76CF5699}"/>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9 / 20</a:t>
            </a:r>
          </a:p>
        </p:txBody>
      </p:sp>
      <p:sp>
        <p:nvSpPr>
          <p:cNvPr id="5" name="star">
            <a:extLst xmlns:a="http://schemas.openxmlformats.org/drawingml/2006/main">
              <a:ext uri="{FF2B5EF4-FFF2-40B4-BE49-F238E27FC236}">
                <a16:creationId xmlns:a16="http://schemas.microsoft.com/office/drawing/2014/main" id="{A514ECC0-4ABC-45FE-B12F-A6FC260D7295}"/>
              </a:ext>
            </a:extLst>
          </p:cNvPr>
          <p:cNvSpPr>
            <a:spLocks xmlns:a="http://schemas.openxmlformats.org/drawingml/2006/main" noGrp="1"/>
          </p:cNvSpPr>
          <p:nvPr/>
        </p:nvSpPr>
        <p:spPr>
          <a:xfrm xmlns:a="http://schemas.openxmlformats.org/drawingml/2006/main">
            <a:off x="704850" y="1676400"/>
            <a:ext cx="10572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01828"/>
                </a:solidFill>
                <a:latin typeface="DejaVu Sans"/>
                <a:ea typeface="DejaVu Sans"/>
                <a:cs typeface="DejaVu Sans"/>
              </a:defRPr>
            </a:pPr>
            <a:r>
              <a:rPr sz="2175" b="1">
                <a:solidFill>
                  <a:srgbClr val="101828"/>
                </a:solidFill>
                <a:latin typeface="DejaVu Sans"/>
                <a:ea typeface="DejaVu Sans"/>
                <a:cs typeface="DejaVu Sans"/>
              </a:rPr>
              <a:t>Look down. Complete the ★ final challenge table on your worksheet before tapping the star.</a:t>
            </a:r>
          </a:p>
        </p:txBody>
      </p:sp>
      <p:sp>
        <p:nvSpPr>
          <p:cNvPr id="6" name="score">
            <a:extLst xmlns:a="http://schemas.openxmlformats.org/drawingml/2006/main">
              <a:ext uri="{FF2B5EF4-FFF2-40B4-BE49-F238E27FC236}">
                <a16:creationId xmlns:a16="http://schemas.microsoft.com/office/drawing/2014/main" id="{19C47702-13BA-4FC2-A2EE-40F4A41D171C}"/>
              </a:ext>
            </a:extLst>
          </p:cNvPr>
          <p:cNvSpPr>
            <a:spLocks xmlns:a="http://schemas.openxmlformats.org/drawingml/2006/main" noGrp="1"/>
          </p:cNvSpPr>
          <p:nvPr/>
        </p:nvSpPr>
        <p:spPr>
          <a:xfrm xmlns:a="http://schemas.openxmlformats.org/drawingml/2006/main">
            <a:off x="704850" y="31623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2D63FF"/>
                </a:solidFill>
                <a:latin typeface="DejaVu Sans"/>
                <a:ea typeface="DejaVu Sans"/>
                <a:cs typeface="DejaVu Sans"/>
              </a:defRPr>
            </a:pPr>
            <a:r>
              <a:rPr sz="2175" b="1">
                <a:solidFill>
                  <a:srgbClr val="2D63FF"/>
                </a:solidFill>
                <a:latin typeface="DejaVu Sans"/>
                <a:ea typeface="DejaVu Sans"/>
                <a:cs typeface="DejaVu Sans"/>
              </a:rPr>
              <a:t>Copy the result from the score screen:  ______ / 19</a:t>
            </a:r>
          </a:p>
        </p:txBody>
      </p:sp>
      <p:sp>
        <p:nvSpPr>
          <p:cNvPr id="7" name="key-label">
            <a:extLst xmlns:a="http://schemas.openxmlformats.org/drawingml/2006/main">
              <a:ext uri="{FF2B5EF4-FFF2-40B4-BE49-F238E27FC236}">
                <a16:creationId xmlns:a16="http://schemas.microsoft.com/office/drawing/2014/main" id="{2D449A24-FB04-4719-9BD7-82A40B7873DE}"/>
              </a:ext>
            </a:extLst>
          </p:cNvPr>
          <p:cNvSpPr>
            <a:spLocks xmlns:a="http://schemas.openxmlformats.org/drawingml/2006/main" noGrp="1"/>
          </p:cNvSpPr>
          <p:nvPr/>
        </p:nvSpPr>
        <p:spPr>
          <a:xfrm xmlns:a="http://schemas.openxmlformats.org/drawingml/2006/main">
            <a:off x="704850" y="435292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2D63FF"/>
                </a:solidFill>
                <a:latin typeface="DejaVu Sans"/>
                <a:ea typeface="DejaVu Sans"/>
                <a:cs typeface="DejaVu Sans"/>
              </a:defRPr>
            </a:pPr>
            <a:r>
              <a:rPr sz="1425" b="1">
                <a:solidFill>
                  <a:srgbClr val="2D63FF"/>
                </a:solidFill>
                <a:latin typeface="DejaVu Sans"/>
                <a:ea typeface="DejaVu Sans"/>
                <a:cs typeface="DejaVu Sans"/>
              </a:rPr>
              <a:t>KEY QUESTION</a:t>
            </a:r>
          </a:p>
        </p:txBody>
      </p:sp>
      <p:sp>
        <p:nvSpPr>
          <p:cNvPr id="8" name="key-question">
            <a:extLst xmlns:a="http://schemas.openxmlformats.org/drawingml/2006/main">
              <a:ext uri="{FF2B5EF4-FFF2-40B4-BE49-F238E27FC236}">
                <a16:creationId xmlns:a16="http://schemas.microsoft.com/office/drawing/2014/main" id="{F7022AE0-D5EA-4B7D-85A5-D0C70B0BAFCF}"/>
              </a:ext>
            </a:extLst>
          </p:cNvPr>
          <p:cNvSpPr>
            <a:spLocks xmlns:a="http://schemas.openxmlformats.org/drawingml/2006/main" noGrp="1"/>
          </p:cNvSpPr>
          <p:nvPr/>
        </p:nvSpPr>
        <p:spPr>
          <a:xfrm xmlns:a="http://schemas.openxmlformats.org/drawingml/2006/main">
            <a:off x="704850" y="4867275"/>
            <a:ext cx="10572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01828"/>
                </a:solidFill>
                <a:latin typeface="DejaVu Sans"/>
                <a:ea typeface="DejaVu Sans"/>
                <a:cs typeface="DejaVu Sans"/>
              </a:defRPr>
            </a:pPr>
            <a:r>
              <a:rPr sz="2550" b="1">
                <a:solidFill>
                  <a:srgbClr val="101828"/>
                </a:solidFill>
                <a:latin typeface="DejaVu Sans"/>
                <a:ea typeface="DejaVu Sans"/>
                <a:cs typeface="DejaVu Sans"/>
              </a:rPr>
              <a:t>What other architectures exist and where are they used?</a:t>
            </a:r>
          </a:p>
        </p:txBody>
      </p:sp>
    </p:spTree>
    <p:extLst>
      <p:ext uri="{BB962C8B-B14F-4D97-AF65-F5344CB8AC3E}">
        <p14:creationId xmlns:p14="http://schemas.microsoft.com/office/powerpoint/2010/main" val="204131938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opic">
            <a:extLst xmlns:a="http://schemas.openxmlformats.org/drawingml/2006/main">
              <a:ext uri="{FF2B5EF4-FFF2-40B4-BE49-F238E27FC236}">
                <a16:creationId xmlns:a16="http://schemas.microsoft.com/office/drawing/2014/main" id="{9DAF4CBB-0AA6-4116-BA73-A318949CEA54}"/>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1.1   /   LESSON 02   /   EXTENSION</a:t>
            </a:r>
          </a:p>
        </p:txBody>
      </p:sp>
      <p:sp>
        <p:nvSpPr>
          <p:cNvPr id="2" name="heading">
            <a:extLst xmlns:a="http://schemas.openxmlformats.org/drawingml/2006/main">
              <a:ext uri="{FF2B5EF4-FFF2-40B4-BE49-F238E27FC236}">
                <a16:creationId xmlns:a16="http://schemas.microsoft.com/office/drawing/2014/main" id="{BF1B29A8-16A7-436B-907E-25838450BE8B}"/>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Apply your learning</a:t>
            </a:r>
          </a:p>
        </p:txBody>
      </p:sp>
      <p:sp>
        <p:nvSpPr>
          <p:cNvPr id="3" name="footer">
            <a:extLst xmlns:a="http://schemas.openxmlformats.org/drawingml/2006/main">
              <a:ext uri="{FF2B5EF4-FFF2-40B4-BE49-F238E27FC236}">
                <a16:creationId xmlns:a16="http://schemas.microsoft.com/office/drawing/2014/main" id="{5F603D0F-FEB8-4914-9417-6454A9B55454}"/>
              </a:ext>
            </a:extLst>
          </p:cNvPr>
          <p:cNvSpPr>
            <a:spLocks xmlns:a="http://schemas.openxmlformats.org/drawingml/2006/main" noGrp="1"/>
          </p:cNvSpPr>
          <p:nvPr/>
        </p:nvSpPr>
        <p:spPr>
          <a:xfrm xmlns:a="http://schemas.openxmlformats.org/drawingml/2006/main">
            <a:off x="666750" y="6400800"/>
            <a:ext cx="981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Revise 360    OCR J277 1.1 Systems architecture</a:t>
            </a:r>
          </a:p>
        </p:txBody>
      </p:sp>
      <p:sp>
        <p:nvSpPr>
          <p:cNvPr id="4" name="page">
            <a:extLst xmlns:a="http://schemas.openxmlformats.org/drawingml/2006/main">
              <a:ext uri="{FF2B5EF4-FFF2-40B4-BE49-F238E27FC236}">
                <a16:creationId xmlns:a16="http://schemas.microsoft.com/office/drawing/2014/main" id="{118ED463-6BE1-42BC-AC4E-91A4B1BDF0BB}"/>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10 / 20</a:t>
            </a:r>
          </a:p>
        </p:txBody>
      </p:sp>
      <p:sp>
        <p:nvSpPr>
          <p:cNvPr id="5" name="extension-lead">
            <a:extLst xmlns:a="http://schemas.openxmlformats.org/drawingml/2006/main">
              <a:ext uri="{FF2B5EF4-FFF2-40B4-BE49-F238E27FC236}">
                <a16:creationId xmlns:a16="http://schemas.microsoft.com/office/drawing/2014/main" id="{80C01013-D3F5-403E-A036-E65AA7735772}"/>
              </a:ext>
            </a:extLst>
          </p:cNvPr>
          <p:cNvSpPr>
            <a:spLocks xmlns:a="http://schemas.openxmlformats.org/drawingml/2006/main" noGrp="1"/>
          </p:cNvSpPr>
          <p:nvPr/>
        </p:nvSpPr>
        <p:spPr>
          <a:xfrm xmlns:a="http://schemas.openxmlformats.org/drawingml/2006/main">
            <a:off x="704850" y="1628775"/>
            <a:ext cx="107346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174"/>
                </a:solidFill>
                <a:latin typeface="DejaVu Sans"/>
                <a:ea typeface="DejaVu Sans"/>
                <a:cs typeface="DejaVu Sans"/>
              </a:defRPr>
            </a:pPr>
            <a:r>
              <a:rPr sz="1875" b="0">
                <a:solidFill>
                  <a:srgbClr val="526174"/>
                </a:solidFill>
                <a:latin typeface="DejaVu Sans"/>
                <a:ea typeface="DejaVu Sans"/>
                <a:cs typeface="DejaVu Sans"/>
              </a:rPr>
              <a:t>Once you have completed the experience, use your worksheet to reason further.</a:t>
            </a:r>
          </a:p>
        </p:txBody>
      </p:sp>
      <p:sp>
        <p:nvSpPr>
          <p:cNvPr id="6" name="extension-prompt">
            <a:extLst xmlns:a="http://schemas.openxmlformats.org/drawingml/2006/main">
              <a:ext uri="{FF2B5EF4-FFF2-40B4-BE49-F238E27FC236}">
                <a16:creationId xmlns:a16="http://schemas.microsoft.com/office/drawing/2014/main" id="{1E4AB2B5-D5D7-4457-A3A2-D1E3DA38C449}"/>
              </a:ext>
            </a:extLst>
          </p:cNvPr>
          <p:cNvSpPr>
            <a:spLocks xmlns:a="http://schemas.openxmlformats.org/drawingml/2006/main" noGrp="1"/>
          </p:cNvSpPr>
          <p:nvPr/>
        </p:nvSpPr>
        <p:spPr>
          <a:xfrm xmlns:a="http://schemas.openxmlformats.org/drawingml/2006/main">
            <a:off x="714375" y="2419350"/>
            <a:ext cx="1057275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101828"/>
                </a:solidFill>
                <a:latin typeface="DejaVu Sans"/>
                <a:ea typeface="DejaVu Sans"/>
                <a:cs typeface="DejaVu Sans"/>
              </a:defRPr>
            </a:pPr>
            <a:r>
              <a:rPr sz="2400" b="1">
                <a:solidFill>
                  <a:srgbClr val="101828"/>
                </a:solidFill>
                <a:latin typeface="DejaVu Sans"/>
                <a:ea typeface="DejaVu Sans"/>
                <a:cs typeface="DejaVu Sans"/>
              </a:rPr>
              <a:t>A laptop runs a game, then a spreadsheet. Explain how a stored program makes this possible without rewiring the computer.</a:t>
            </a:r>
          </a:p>
        </p:txBody>
      </p:sp>
      <p:sp>
        <p:nvSpPr>
          <p:cNvPr id="7" name="extension-follow">
            <a:extLst xmlns:a="http://schemas.openxmlformats.org/drawingml/2006/main">
              <a:ext uri="{FF2B5EF4-FFF2-40B4-BE49-F238E27FC236}">
                <a16:creationId xmlns:a16="http://schemas.microsoft.com/office/drawing/2014/main" id="{DD04F18B-56DA-496B-9E2C-FE91E343B0BD}"/>
              </a:ext>
            </a:extLst>
          </p:cNvPr>
          <p:cNvSpPr>
            <a:spLocks xmlns:a="http://schemas.openxmlformats.org/drawingml/2006/main" noGrp="1"/>
          </p:cNvSpPr>
          <p:nvPr/>
        </p:nvSpPr>
        <p:spPr>
          <a:xfrm xmlns:a="http://schemas.openxmlformats.org/drawingml/2006/main">
            <a:off x="714375" y="4648200"/>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2D63FF"/>
                </a:solidFill>
                <a:latin typeface="DejaVu Sans"/>
                <a:ea typeface="DejaVu Sans"/>
                <a:cs typeface="DejaVu Sans"/>
              </a:defRPr>
            </a:pPr>
            <a:r>
              <a:rPr sz="1950" b="0">
                <a:solidFill>
                  <a:srgbClr val="2D63FF"/>
                </a:solidFill>
                <a:latin typeface="DejaVu Sans"/>
                <a:ea typeface="DejaVu Sans"/>
                <a:cs typeface="DejaVu Sans"/>
              </a:rPr>
              <a:t>Compare shared memory with the separate instruction and data memories in Harvard architecture.</a:t>
            </a:r>
          </a:p>
        </p:txBody>
      </p:sp>
    </p:spTree>
    <p:extLst>
      <p:ext uri="{BB962C8B-B14F-4D97-AF65-F5344CB8AC3E}">
        <p14:creationId xmlns:p14="http://schemas.microsoft.com/office/powerpoint/2010/main" val="63977659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opic">
            <a:extLst xmlns:a="http://schemas.openxmlformats.org/drawingml/2006/main">
              <a:ext uri="{FF2B5EF4-FFF2-40B4-BE49-F238E27FC236}">
                <a16:creationId xmlns:a16="http://schemas.microsoft.com/office/drawing/2014/main" id="{6594FFB1-D8BB-4199-A299-FC6C4612418F}"/>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1.1   /   LESSON 02   /   EXTENSION</a:t>
            </a:r>
          </a:p>
        </p:txBody>
      </p:sp>
      <p:sp>
        <p:nvSpPr>
          <p:cNvPr id="2" name="heading">
            <a:extLst xmlns:a="http://schemas.openxmlformats.org/drawingml/2006/main">
              <a:ext uri="{FF2B5EF4-FFF2-40B4-BE49-F238E27FC236}">
                <a16:creationId xmlns:a16="http://schemas.microsoft.com/office/drawing/2014/main" id="{906178D0-16F9-4CD8-8FAD-CBC401685897}"/>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Check and improve</a:t>
            </a:r>
          </a:p>
        </p:txBody>
      </p:sp>
      <p:sp>
        <p:nvSpPr>
          <p:cNvPr id="3" name="footer">
            <a:extLst xmlns:a="http://schemas.openxmlformats.org/drawingml/2006/main">
              <a:ext uri="{FF2B5EF4-FFF2-40B4-BE49-F238E27FC236}">
                <a16:creationId xmlns:a16="http://schemas.microsoft.com/office/drawing/2014/main" id="{818761FD-8366-4185-9A90-378E7E76CEFD}"/>
              </a:ext>
            </a:extLst>
          </p:cNvPr>
          <p:cNvSpPr>
            <a:spLocks xmlns:a="http://schemas.openxmlformats.org/drawingml/2006/main" noGrp="1"/>
          </p:cNvSpPr>
          <p:nvPr/>
        </p:nvSpPr>
        <p:spPr>
          <a:xfrm xmlns:a="http://schemas.openxmlformats.org/drawingml/2006/main">
            <a:off x="666750" y="6400800"/>
            <a:ext cx="981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Revise 360    OCR J277 1.1 Systems architecture</a:t>
            </a:r>
          </a:p>
        </p:txBody>
      </p:sp>
      <p:sp>
        <p:nvSpPr>
          <p:cNvPr id="4" name="page">
            <a:extLst xmlns:a="http://schemas.openxmlformats.org/drawingml/2006/main">
              <a:ext uri="{FF2B5EF4-FFF2-40B4-BE49-F238E27FC236}">
                <a16:creationId xmlns:a16="http://schemas.microsoft.com/office/drawing/2014/main" id="{D03290A4-A5BF-4F5E-8C5E-0D6DF8C8A9E8}"/>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11 / 20</a:t>
            </a:r>
          </a:p>
        </p:txBody>
      </p:sp>
      <p:sp>
        <p:nvSpPr>
          <p:cNvPr id="5" name="review">
            <a:extLst xmlns:a="http://schemas.openxmlformats.org/drawingml/2006/main">
              <a:ext uri="{FF2B5EF4-FFF2-40B4-BE49-F238E27FC236}">
                <a16:creationId xmlns:a16="http://schemas.microsoft.com/office/drawing/2014/main" id="{46358BAB-1113-4C72-82FE-7D7742332488}"/>
              </a:ext>
            </a:extLst>
          </p:cNvPr>
          <p:cNvSpPr>
            <a:spLocks xmlns:a="http://schemas.openxmlformats.org/drawingml/2006/main" noGrp="1"/>
          </p:cNvSpPr>
          <p:nvPr/>
        </p:nvSpPr>
        <p:spPr>
          <a:xfrm xmlns:a="http://schemas.openxmlformats.org/drawingml/2006/main">
            <a:off x="704850" y="1724025"/>
            <a:ext cx="10715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174"/>
                </a:solidFill>
                <a:latin typeface="DejaVu Sans"/>
                <a:ea typeface="DejaVu Sans"/>
                <a:cs typeface="DejaVu Sans"/>
              </a:defRPr>
            </a:pPr>
            <a:r>
              <a:rPr sz="1875" b="0">
                <a:solidFill>
                  <a:srgbClr val="526174"/>
                </a:solidFill>
                <a:latin typeface="DejaVu Sans"/>
                <a:ea typeface="DejaVu Sans"/>
                <a:cs typeface="DejaVu Sans"/>
              </a:rPr>
              <a:t>Use your worksheet notes and the experience feedback.</a:t>
            </a:r>
          </a:p>
        </p:txBody>
      </p:sp>
      <p:sp>
        <p:nvSpPr>
          <p:cNvPr id="6" name="extension-two">
            <a:extLst xmlns:a="http://schemas.openxmlformats.org/drawingml/2006/main">
              <a:ext uri="{FF2B5EF4-FFF2-40B4-BE49-F238E27FC236}">
                <a16:creationId xmlns:a16="http://schemas.microsoft.com/office/drawing/2014/main" id="{EFB90E93-F5B0-4D7F-A5DD-824A51D53B61}"/>
              </a:ext>
            </a:extLst>
          </p:cNvPr>
          <p:cNvSpPr>
            <a:spLocks xmlns:a="http://schemas.openxmlformats.org/drawingml/2006/main" noGrp="1"/>
          </p:cNvSpPr>
          <p:nvPr/>
        </p:nvSpPr>
        <p:spPr>
          <a:xfrm xmlns:a="http://schemas.openxmlformats.org/drawingml/2006/main">
            <a:off x="704850" y="2676525"/>
            <a:ext cx="10620375"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101828"/>
                </a:solidFill>
                <a:latin typeface="DejaVu Sans"/>
                <a:ea typeface="DejaVu Sans"/>
                <a:cs typeface="DejaVu Sans"/>
              </a:defRPr>
            </a:pPr>
            <a:r>
              <a:rPr sz="2400" b="1">
                <a:solidFill>
                  <a:srgbClr val="101828"/>
                </a:solidFill>
                <a:latin typeface="DejaVu Sans"/>
                <a:ea typeface="DejaVu Sans"/>
                <a:cs typeface="DejaVu Sans"/>
              </a:rPr>
              <a:t>Explain MAR and MDR in one sentence each. Then describe what the control unit does during decode.</a:t>
            </a:r>
          </a:p>
        </p:txBody>
      </p:sp>
      <p:sp>
        <p:nvSpPr>
          <p:cNvPr id="7" name="handoff">
            <a:extLst xmlns:a="http://schemas.openxmlformats.org/drawingml/2006/main">
              <a:ext uri="{FF2B5EF4-FFF2-40B4-BE49-F238E27FC236}">
                <a16:creationId xmlns:a16="http://schemas.microsoft.com/office/drawing/2014/main" id="{44940194-BF82-4A0F-9358-F542A29F7530}"/>
              </a:ext>
            </a:extLst>
          </p:cNvPr>
          <p:cNvSpPr>
            <a:spLocks xmlns:a="http://schemas.openxmlformats.org/drawingml/2006/main" noGrp="1"/>
          </p:cNvSpPr>
          <p:nvPr/>
        </p:nvSpPr>
        <p:spPr>
          <a:xfrm xmlns:a="http://schemas.openxmlformats.org/drawingml/2006/main">
            <a:off x="704850" y="5334000"/>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2D63FF"/>
                </a:solidFill>
                <a:latin typeface="DejaVu Sans"/>
                <a:ea typeface="DejaVu Sans"/>
                <a:cs typeface="DejaVu Sans"/>
              </a:defRPr>
            </a:pPr>
            <a:r>
              <a:rPr sz="1875" b="0">
                <a:solidFill>
                  <a:srgbClr val="2D63FF"/>
                </a:solidFill>
                <a:latin typeface="DejaVu Sans"/>
                <a:ea typeface="DejaVu Sans"/>
                <a:cs typeface="DejaVu Sans"/>
              </a:rPr>
              <a:t>Near the end of the lesson, close the experience for the plenary knowledge check.</a:t>
            </a:r>
          </a:p>
        </p:txBody>
      </p:sp>
    </p:spTree>
    <p:extLst>
      <p:ext uri="{BB962C8B-B14F-4D97-AF65-F5344CB8AC3E}">
        <p14:creationId xmlns:p14="http://schemas.microsoft.com/office/powerpoint/2010/main" val="570214652"/>
      </p:ext>
    </p:extLst>
  </p:cSld>
</p:sld>
</file>

<file path=ppt/slides/slide12.xml><?xml version="1.0" encoding="utf-8"?>
<p:sld xmlns:p="http://schemas.openxmlformats.org/presentationml/2006/main">
  <p:cSld>
    <p:bg>
      <p:bgPr>
        <a:solidFill xmlns:a="http://schemas.openxmlformats.org/drawingml/2006/main">
          <a:srgbClr val="EAF3FF"/>
        </a:solidFill>
      </p:bgPr>
    </p:bg>
    <p:spTree>
      <p:nvGrpSpPr>
        <p:cNvPr id="1" name=""/>
        <p:cNvGrpSpPr/>
        <p:nvPr/>
      </p:nvGrpSpPr>
      <p:grpSpPr>
        <a:xfrm xmlns:a="http://schemas.openxmlformats.org/drawingml/2006/main"/>
      </p:grpSpPr>
      <p:sp>
        <p:nvSpPr>
          <p:cNvPr id="10" name="topic">
            <a:extLst xmlns:a="http://schemas.openxmlformats.org/drawingml/2006/main">
              <a:ext uri="{FF2B5EF4-FFF2-40B4-BE49-F238E27FC236}">
                <a16:creationId xmlns:a16="http://schemas.microsoft.com/office/drawing/2014/main" id="{FA890BA8-CE48-492C-B61C-EA5CF302B47F}"/>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1.1   /   LESSON 02   /   CHECK</a:t>
            </a:r>
          </a:p>
        </p:txBody>
      </p:sp>
      <p:sp>
        <p:nvSpPr>
          <p:cNvPr id="2" name="heading">
            <a:extLst xmlns:a="http://schemas.openxmlformats.org/drawingml/2006/main">
              <a:ext uri="{FF2B5EF4-FFF2-40B4-BE49-F238E27FC236}">
                <a16:creationId xmlns:a16="http://schemas.microsoft.com/office/drawing/2014/main" id="{EF2251D5-D55F-4706-A4ED-E7A18EFF7767}"/>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Application: sample answers</a:t>
            </a:r>
          </a:p>
        </p:txBody>
      </p:sp>
      <p:sp>
        <p:nvSpPr>
          <p:cNvPr id="3" name="footer">
            <a:extLst xmlns:a="http://schemas.openxmlformats.org/drawingml/2006/main">
              <a:ext uri="{FF2B5EF4-FFF2-40B4-BE49-F238E27FC236}">
                <a16:creationId xmlns:a16="http://schemas.microsoft.com/office/drawing/2014/main" id="{DF09307E-EABE-4A47-9397-AA507B32EB21}"/>
              </a:ext>
            </a:extLst>
          </p:cNvPr>
          <p:cNvSpPr>
            <a:spLocks xmlns:a="http://schemas.openxmlformats.org/drawingml/2006/main" noGrp="1"/>
          </p:cNvSpPr>
          <p:nvPr/>
        </p:nvSpPr>
        <p:spPr>
          <a:xfrm xmlns:a="http://schemas.openxmlformats.org/drawingml/2006/main">
            <a:off x="666750" y="6400800"/>
            <a:ext cx="981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Revise 360    OCR J277 1.1 Systems architecture</a:t>
            </a:r>
          </a:p>
        </p:txBody>
      </p:sp>
      <p:sp>
        <p:nvSpPr>
          <p:cNvPr id="4" name="page">
            <a:extLst xmlns:a="http://schemas.openxmlformats.org/drawingml/2006/main">
              <a:ext uri="{FF2B5EF4-FFF2-40B4-BE49-F238E27FC236}">
                <a16:creationId xmlns:a16="http://schemas.microsoft.com/office/drawing/2014/main" id="{C55E566C-391F-470A-A634-CB36641CDF21}"/>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12 / 20</a:t>
            </a:r>
          </a:p>
        </p:txBody>
      </p:sp>
      <p:sp>
        <p:nvSpPr>
          <p:cNvPr id="5" name="extension-check">
            <a:extLst xmlns:a="http://schemas.openxmlformats.org/drawingml/2006/main">
              <a:ext uri="{FF2B5EF4-FFF2-40B4-BE49-F238E27FC236}">
                <a16:creationId xmlns:a16="http://schemas.microsoft.com/office/drawing/2014/main" id="{E18BF358-9E3C-46C6-A9FF-2F181418D7F8}"/>
              </a:ext>
            </a:extLst>
          </p:cNvPr>
          <p:cNvSpPr>
            <a:spLocks xmlns:a="http://schemas.openxmlformats.org/drawingml/2006/main" noGrp="1"/>
          </p:cNvSpPr>
          <p:nvPr/>
        </p:nvSpPr>
        <p:spPr>
          <a:xfrm xmlns:a="http://schemas.openxmlformats.org/drawingml/2006/main">
            <a:off x="704850" y="1533525"/>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26174"/>
                </a:solidFill>
                <a:latin typeface="DejaVu Sans"/>
                <a:ea typeface="DejaVu Sans"/>
                <a:cs typeface="DejaVu Sans"/>
              </a:defRPr>
            </a:pPr>
            <a:r>
              <a:rPr sz="1800" b="0">
                <a:solidFill>
                  <a:srgbClr val="526174"/>
                </a:solidFill>
                <a:latin typeface="DejaVu Sans"/>
                <a:ea typeface="DejaVu Sans"/>
                <a:cs typeface="DejaVu Sans"/>
              </a:rPr>
              <a:t>Compare your reasoning, then improve one sentence on your worksheet.</a:t>
            </a:r>
          </a:p>
        </p:txBody>
      </p:sp>
      <p:sp>
        <p:nvSpPr>
          <p:cNvPr id="6" name="answer-application">
            <a:extLst xmlns:a="http://schemas.openxmlformats.org/drawingml/2006/main">
              <a:ext uri="{FF2B5EF4-FFF2-40B4-BE49-F238E27FC236}">
                <a16:creationId xmlns:a16="http://schemas.microsoft.com/office/drawing/2014/main" id="{B59BA52F-2A90-4420-A904-D231042E2327}"/>
              </a:ext>
            </a:extLst>
          </p:cNvPr>
          <p:cNvSpPr>
            <a:spLocks xmlns:a="http://schemas.openxmlformats.org/drawingml/2006/main" noGrp="1"/>
          </p:cNvSpPr>
          <p:nvPr/>
        </p:nvSpPr>
        <p:spPr>
          <a:xfrm xmlns:a="http://schemas.openxmlformats.org/drawingml/2006/main">
            <a:off x="723900" y="23050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2D63FF"/>
                </a:solidFill>
                <a:latin typeface="DejaVu Sans"/>
                <a:ea typeface="DejaVu Sans"/>
                <a:cs typeface="DejaVu Sans"/>
              </a:defRPr>
            </a:pPr>
            <a:r>
              <a:rPr sz="1875" b="1">
                <a:solidFill>
                  <a:srgbClr val="2D63FF"/>
                </a:solidFill>
                <a:latin typeface="DejaVu Sans"/>
                <a:ea typeface="DejaVu Sans"/>
                <a:cs typeface="DejaVu Sans"/>
              </a:rPr>
              <a:t>Application</a:t>
            </a:r>
          </a:p>
        </p:txBody>
      </p:sp>
      <p:sp>
        <p:nvSpPr>
          <p:cNvPr id="7" name="answer-application-body">
            <a:extLst xmlns:a="http://schemas.openxmlformats.org/drawingml/2006/main">
              <a:ext uri="{FF2B5EF4-FFF2-40B4-BE49-F238E27FC236}">
                <a16:creationId xmlns:a16="http://schemas.microsoft.com/office/drawing/2014/main" id="{7CF9A207-4DE8-4922-B14B-6C32ED3A9ABE}"/>
              </a:ext>
            </a:extLst>
          </p:cNvPr>
          <p:cNvSpPr>
            <a:spLocks xmlns:a="http://schemas.openxmlformats.org/drawingml/2006/main" noGrp="1"/>
          </p:cNvSpPr>
          <p:nvPr/>
        </p:nvSpPr>
        <p:spPr>
          <a:xfrm xmlns:a="http://schemas.openxmlformats.org/drawingml/2006/main">
            <a:off x="723900" y="2771775"/>
            <a:ext cx="104775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01828"/>
                </a:solidFill>
                <a:latin typeface="DejaVu Sans"/>
                <a:ea typeface="DejaVu Sans"/>
                <a:cs typeface="DejaVu Sans"/>
              </a:defRPr>
            </a:pPr>
            <a:r>
              <a:rPr sz="1950" b="0">
                <a:solidFill>
                  <a:srgbClr val="101828"/>
                </a:solidFill>
                <a:latin typeface="DejaVu Sans"/>
                <a:ea typeface="DejaVu Sans"/>
                <a:cs typeface="DejaVu Sans"/>
              </a:rPr>
              <a:t>Loading a new stored program into main memory lets the same CPU run a new task. Harvard architecture separates instruction and data memories.</a:t>
            </a:r>
          </a:p>
        </p:txBody>
      </p:sp>
      <p:sp>
        <p:nvSpPr>
          <p:cNvPr id="8" name="answer-stretch">
            <a:extLst xmlns:a="http://schemas.openxmlformats.org/drawingml/2006/main">
              <a:ext uri="{FF2B5EF4-FFF2-40B4-BE49-F238E27FC236}">
                <a16:creationId xmlns:a16="http://schemas.microsoft.com/office/drawing/2014/main" id="{9B1462FC-BF18-4DB5-B6E1-0BAA3660EECC}"/>
              </a:ext>
            </a:extLst>
          </p:cNvPr>
          <p:cNvSpPr>
            <a:spLocks xmlns:a="http://schemas.openxmlformats.org/drawingml/2006/main" noGrp="1"/>
          </p:cNvSpPr>
          <p:nvPr/>
        </p:nvSpPr>
        <p:spPr>
          <a:xfrm xmlns:a="http://schemas.openxmlformats.org/drawingml/2006/main">
            <a:off x="723900" y="4352925"/>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2D63FF"/>
                </a:solidFill>
                <a:latin typeface="DejaVu Sans"/>
                <a:ea typeface="DejaVu Sans"/>
                <a:cs typeface="DejaVu Sans"/>
              </a:defRPr>
            </a:pPr>
            <a:r>
              <a:rPr sz="1875" b="1">
                <a:solidFill>
                  <a:srgbClr val="2D63FF"/>
                </a:solidFill>
                <a:latin typeface="DejaVu Sans"/>
                <a:ea typeface="DejaVu Sans"/>
                <a:cs typeface="DejaVu Sans"/>
              </a:rPr>
              <a:t>Check and stretch</a:t>
            </a:r>
          </a:p>
        </p:txBody>
      </p:sp>
      <p:sp>
        <p:nvSpPr>
          <p:cNvPr id="9" name="answer-stretch-body">
            <a:extLst xmlns:a="http://schemas.openxmlformats.org/drawingml/2006/main">
              <a:ext uri="{FF2B5EF4-FFF2-40B4-BE49-F238E27FC236}">
                <a16:creationId xmlns:a16="http://schemas.microsoft.com/office/drawing/2014/main" id="{28A22205-652F-4610-8810-88493319C0A2}"/>
              </a:ext>
            </a:extLst>
          </p:cNvPr>
          <p:cNvSpPr>
            <a:spLocks xmlns:a="http://schemas.openxmlformats.org/drawingml/2006/main" noGrp="1"/>
          </p:cNvSpPr>
          <p:nvPr/>
        </p:nvSpPr>
        <p:spPr>
          <a:xfrm xmlns:a="http://schemas.openxmlformats.org/drawingml/2006/main">
            <a:off x="723900" y="4810125"/>
            <a:ext cx="10477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01828"/>
                </a:solidFill>
                <a:latin typeface="DejaVu Sans"/>
                <a:ea typeface="DejaVu Sans"/>
                <a:cs typeface="DejaVu Sans"/>
              </a:defRPr>
            </a:pPr>
            <a:r>
              <a:rPr sz="1875" b="0">
                <a:solidFill>
                  <a:srgbClr val="101828"/>
                </a:solidFill>
                <a:latin typeface="DejaVu Sans"/>
                <a:ea typeface="DejaVu Sans"/>
                <a:cs typeface="DejaVu Sans"/>
              </a:rPr>
              <a:t>MAR holds the memory address. MDR holds data or an instruction moving to or from memory. The control unit interprets the instruction during decode.</a:t>
            </a:r>
          </a:p>
        </p:txBody>
      </p:sp>
    </p:spTree>
    <p:extLst>
      <p:ext uri="{BB962C8B-B14F-4D97-AF65-F5344CB8AC3E}">
        <p14:creationId xmlns:p14="http://schemas.microsoft.com/office/powerpoint/2010/main" val="625076548"/>
      </p:ext>
    </p:extLst>
  </p:cSld>
</p:sld>
</file>

<file path=ppt/slides/slide13.xml><?xml version="1.0" encoding="utf-8"?>
<p:sld xmlns:p="http://schemas.openxmlformats.org/presentationml/2006/main">
  <p:cSld>
    <p:bg>
      <p:bgPr>
        <a:solidFill xmlns:a="http://schemas.openxmlformats.org/drawingml/2006/main">
          <a:srgbClr val="EAF3FF"/>
        </a:solidFill>
      </p:bgPr>
    </p:bg>
    <p:spTree>
      <p:nvGrpSpPr>
        <p:cNvPr id="1" name=""/>
        <p:cNvGrpSpPr/>
        <p:nvPr/>
      </p:nvGrpSpPr>
      <p:grpSpPr>
        <a:xfrm xmlns:a="http://schemas.openxmlformats.org/drawingml/2006/main"/>
      </p:grpSpPr>
      <p:sp>
        <p:nvSpPr>
          <p:cNvPr id="12" name="topic">
            <a:extLst xmlns:a="http://schemas.openxmlformats.org/drawingml/2006/main">
              <a:ext uri="{FF2B5EF4-FFF2-40B4-BE49-F238E27FC236}">
                <a16:creationId xmlns:a16="http://schemas.microsoft.com/office/drawing/2014/main" id="{93F8C0C0-CD90-42C1-8549-737B03D839D9}"/>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1.1   /   LESSON 02   /   ANSWERS</a:t>
            </a:r>
          </a:p>
        </p:txBody>
      </p:sp>
      <p:sp>
        <p:nvSpPr>
          <p:cNvPr id="2" name="heading">
            <a:extLst xmlns:a="http://schemas.openxmlformats.org/drawingml/2006/main">
              <a:ext uri="{FF2B5EF4-FFF2-40B4-BE49-F238E27FC236}">
                <a16:creationId xmlns:a16="http://schemas.microsoft.com/office/drawing/2014/main" id="{70A4A5A8-42AF-47CF-AA93-1766445CC77F}"/>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After the experience: stations 1–3</a:t>
            </a:r>
          </a:p>
        </p:txBody>
      </p:sp>
      <p:sp>
        <p:nvSpPr>
          <p:cNvPr id="3" name="footer">
            <a:extLst xmlns:a="http://schemas.openxmlformats.org/drawingml/2006/main">
              <a:ext uri="{FF2B5EF4-FFF2-40B4-BE49-F238E27FC236}">
                <a16:creationId xmlns:a16="http://schemas.microsoft.com/office/drawing/2014/main" id="{7FBF4728-3349-4BAA-9BB4-73CF1FCBA3E9}"/>
              </a:ext>
            </a:extLst>
          </p:cNvPr>
          <p:cNvSpPr>
            <a:spLocks xmlns:a="http://schemas.openxmlformats.org/drawingml/2006/main" noGrp="1"/>
          </p:cNvSpPr>
          <p:nvPr/>
        </p:nvSpPr>
        <p:spPr>
          <a:xfrm xmlns:a="http://schemas.openxmlformats.org/drawingml/2006/main">
            <a:off x="666750" y="6400800"/>
            <a:ext cx="981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Revise 360    OCR J277 1.1 Systems architecture</a:t>
            </a:r>
          </a:p>
        </p:txBody>
      </p:sp>
      <p:sp>
        <p:nvSpPr>
          <p:cNvPr id="4" name="page">
            <a:extLst xmlns:a="http://schemas.openxmlformats.org/drawingml/2006/main">
              <a:ext uri="{FF2B5EF4-FFF2-40B4-BE49-F238E27FC236}">
                <a16:creationId xmlns:a16="http://schemas.microsoft.com/office/drawing/2014/main" id="{E9A8B943-31FA-41B5-9645-68D081DE058F}"/>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13 / 20</a:t>
            </a:r>
          </a:p>
        </p:txBody>
      </p:sp>
      <p:sp>
        <p:nvSpPr>
          <p:cNvPr id="5" name="check-stations">
            <a:extLst xmlns:a="http://schemas.openxmlformats.org/drawingml/2006/main">
              <a:ext uri="{FF2B5EF4-FFF2-40B4-BE49-F238E27FC236}">
                <a16:creationId xmlns:a16="http://schemas.microsoft.com/office/drawing/2014/main" id="{3A53B236-04BF-4751-8229-933F6D7B33A0}"/>
              </a:ext>
            </a:extLst>
          </p:cNvPr>
          <p:cNvSpPr>
            <a:spLocks xmlns:a="http://schemas.openxmlformats.org/drawingml/2006/main" noGrp="1"/>
          </p:cNvSpPr>
          <p:nvPr/>
        </p:nvSpPr>
        <p:spPr>
          <a:xfrm xmlns:a="http://schemas.openxmlformats.org/drawingml/2006/main">
            <a:off x="704850" y="15430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26174"/>
                </a:solidFill>
                <a:latin typeface="DejaVu Sans"/>
                <a:ea typeface="DejaVu Sans"/>
                <a:cs typeface="DejaVu Sans"/>
              </a:defRPr>
            </a:pPr>
            <a:r>
              <a:rPr sz="1800" b="0">
                <a:solidFill>
                  <a:srgbClr val="526174"/>
                </a:solidFill>
                <a:latin typeface="DejaVu Sans"/>
                <a:ea typeface="DejaVu Sans"/>
                <a:cs typeface="DejaVu Sans"/>
              </a:rPr>
              <a:t>Close the experience. Check your key facts and challenge responses.</a:t>
            </a:r>
          </a:p>
        </p:txBody>
      </p:sp>
      <p:sp>
        <p:nvSpPr>
          <p:cNvPr id="6" name="station-name-0">
            <a:extLst xmlns:a="http://schemas.openxmlformats.org/drawingml/2006/main">
              <a:ext uri="{FF2B5EF4-FFF2-40B4-BE49-F238E27FC236}">
                <a16:creationId xmlns:a16="http://schemas.microsoft.com/office/drawing/2014/main" id="{3BB96505-3981-447A-86AD-4EC9F0120585}"/>
              </a:ext>
            </a:extLst>
          </p:cNvPr>
          <p:cNvSpPr>
            <a:spLocks xmlns:a="http://schemas.openxmlformats.org/drawingml/2006/main" noGrp="1"/>
          </p:cNvSpPr>
          <p:nvPr/>
        </p:nvSpPr>
        <p:spPr>
          <a:xfrm xmlns:a="http://schemas.openxmlformats.org/drawingml/2006/main">
            <a:off x="723900" y="22098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D63FF"/>
                </a:solidFill>
                <a:latin typeface="DejaVu Sans"/>
                <a:ea typeface="DejaVu Sans"/>
                <a:cs typeface="DejaVu Sans"/>
              </a:defRPr>
            </a:pPr>
            <a:r>
              <a:rPr sz="1950" b="1">
                <a:solidFill>
                  <a:srgbClr val="2D63FF"/>
                </a:solidFill>
                <a:latin typeface="DejaVu Sans"/>
                <a:ea typeface="DejaVu Sans"/>
                <a:cs typeface="DejaVu Sans"/>
              </a:rPr>
              <a:t>1  John von Neumann</a:t>
            </a:r>
          </a:p>
        </p:txBody>
      </p:sp>
      <p:sp>
        <p:nvSpPr>
          <p:cNvPr id="7" name="station-answer-0">
            <a:extLst xmlns:a="http://schemas.openxmlformats.org/drawingml/2006/main">
              <a:ext uri="{FF2B5EF4-FFF2-40B4-BE49-F238E27FC236}">
                <a16:creationId xmlns:a16="http://schemas.microsoft.com/office/drawing/2014/main" id="{C691D108-C106-4831-9984-FF4869C938E5}"/>
              </a:ext>
            </a:extLst>
          </p:cNvPr>
          <p:cNvSpPr>
            <a:spLocks xmlns:a="http://schemas.openxmlformats.org/drawingml/2006/main" noGrp="1"/>
          </p:cNvSpPr>
          <p:nvPr/>
        </p:nvSpPr>
        <p:spPr>
          <a:xfrm xmlns:a="http://schemas.openxmlformats.org/drawingml/2006/main">
            <a:off x="723900" y="2638425"/>
            <a:ext cx="1047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01828"/>
                </a:solidFill>
                <a:latin typeface="DejaVu Sans"/>
                <a:ea typeface="DejaVu Sans"/>
                <a:cs typeface="DejaVu Sans"/>
              </a:defRPr>
            </a:pPr>
            <a:r>
              <a:rPr sz="1800" b="0">
                <a:solidFill>
                  <a:srgbClr val="101828"/>
                </a:solidFill>
                <a:latin typeface="DejaVu Sans"/>
                <a:ea typeface="DejaVu Sans"/>
                <a:cs typeface="DejaVu Sans"/>
              </a:rPr>
              <a:t>John von Neumann described a stored-program computer design in 1945.</a:t>
            </a:r>
          </a:p>
        </p:txBody>
      </p:sp>
      <p:sp>
        <p:nvSpPr>
          <p:cNvPr id="8" name="station-name-1">
            <a:extLst xmlns:a="http://schemas.openxmlformats.org/drawingml/2006/main">
              <a:ext uri="{FF2B5EF4-FFF2-40B4-BE49-F238E27FC236}">
                <a16:creationId xmlns:a16="http://schemas.microsoft.com/office/drawing/2014/main" id="{31FD21F6-E1F6-4D6A-8930-592A505C906A}"/>
              </a:ext>
            </a:extLst>
          </p:cNvPr>
          <p:cNvSpPr>
            <a:spLocks xmlns:a="http://schemas.openxmlformats.org/drawingml/2006/main" noGrp="1"/>
          </p:cNvSpPr>
          <p:nvPr/>
        </p:nvSpPr>
        <p:spPr>
          <a:xfrm xmlns:a="http://schemas.openxmlformats.org/drawingml/2006/main">
            <a:off x="723900" y="3533775"/>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D63FF"/>
                </a:solidFill>
                <a:latin typeface="DejaVu Sans"/>
                <a:ea typeface="DejaVu Sans"/>
                <a:cs typeface="DejaVu Sans"/>
              </a:defRPr>
            </a:pPr>
            <a:r>
              <a:rPr sz="1950" b="1">
                <a:solidFill>
                  <a:srgbClr val="2D63FF"/>
                </a:solidFill>
                <a:latin typeface="DejaVu Sans"/>
                <a:ea typeface="DejaVu Sans"/>
                <a:cs typeface="DejaVu Sans"/>
              </a:rPr>
              <a:t>2  The stored-program concept</a:t>
            </a:r>
          </a:p>
        </p:txBody>
      </p:sp>
      <p:sp>
        <p:nvSpPr>
          <p:cNvPr id="9" name="station-answer-1">
            <a:extLst xmlns:a="http://schemas.openxmlformats.org/drawingml/2006/main">
              <a:ext uri="{FF2B5EF4-FFF2-40B4-BE49-F238E27FC236}">
                <a16:creationId xmlns:a16="http://schemas.microsoft.com/office/drawing/2014/main" id="{EE2C7DCB-12F2-4B64-B5CC-B88162B22D2A}"/>
              </a:ext>
            </a:extLst>
          </p:cNvPr>
          <p:cNvSpPr>
            <a:spLocks xmlns:a="http://schemas.openxmlformats.org/drawingml/2006/main" noGrp="1"/>
          </p:cNvSpPr>
          <p:nvPr/>
        </p:nvSpPr>
        <p:spPr>
          <a:xfrm xmlns:a="http://schemas.openxmlformats.org/drawingml/2006/main">
            <a:off x="723900" y="3962400"/>
            <a:ext cx="1047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01828"/>
                </a:solidFill>
                <a:latin typeface="DejaVu Sans"/>
                <a:ea typeface="DejaVu Sans"/>
                <a:cs typeface="DejaVu Sans"/>
              </a:defRPr>
            </a:pPr>
            <a:r>
              <a:rPr sz="1800" b="0">
                <a:solidFill>
                  <a:srgbClr val="101828"/>
                </a:solidFill>
                <a:latin typeface="DejaVu Sans"/>
                <a:ea typeface="DejaVu Sans"/>
                <a:cs typeface="DejaVu Sans"/>
              </a:rPr>
              <a:t>Instructions and data share main memory. Loading a different program changes what the computer does.</a:t>
            </a:r>
          </a:p>
        </p:txBody>
      </p:sp>
      <p:sp>
        <p:nvSpPr>
          <p:cNvPr id="10" name="station-name-2">
            <a:extLst xmlns:a="http://schemas.openxmlformats.org/drawingml/2006/main">
              <a:ext uri="{FF2B5EF4-FFF2-40B4-BE49-F238E27FC236}">
                <a16:creationId xmlns:a16="http://schemas.microsoft.com/office/drawing/2014/main" id="{0960312C-887E-4FD9-A707-85BAD32AA0B2}"/>
              </a:ext>
            </a:extLst>
          </p:cNvPr>
          <p:cNvSpPr>
            <a:spLocks xmlns:a="http://schemas.openxmlformats.org/drawingml/2006/main" noGrp="1"/>
          </p:cNvSpPr>
          <p:nvPr/>
        </p:nvSpPr>
        <p:spPr>
          <a:xfrm xmlns:a="http://schemas.openxmlformats.org/drawingml/2006/main">
            <a:off x="723900" y="48577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D63FF"/>
                </a:solidFill>
                <a:latin typeface="DejaVu Sans"/>
                <a:ea typeface="DejaVu Sans"/>
                <a:cs typeface="DejaVu Sans"/>
              </a:defRPr>
            </a:pPr>
            <a:r>
              <a:rPr sz="1950" b="1">
                <a:solidFill>
                  <a:srgbClr val="2D63FF"/>
                </a:solidFill>
                <a:latin typeface="DejaVu Sans"/>
                <a:ea typeface="DejaVu Sans"/>
                <a:cs typeface="DejaVu Sans"/>
              </a:rPr>
              <a:t>3  Program counter and accumulator</a:t>
            </a:r>
          </a:p>
        </p:txBody>
      </p:sp>
      <p:sp>
        <p:nvSpPr>
          <p:cNvPr id="11" name="station-answer-2">
            <a:extLst xmlns:a="http://schemas.openxmlformats.org/drawingml/2006/main">
              <a:ext uri="{FF2B5EF4-FFF2-40B4-BE49-F238E27FC236}">
                <a16:creationId xmlns:a16="http://schemas.microsoft.com/office/drawing/2014/main" id="{651424E3-ACEA-4BDF-9EF9-0BCE330E3549}"/>
              </a:ext>
            </a:extLst>
          </p:cNvPr>
          <p:cNvSpPr>
            <a:spLocks xmlns:a="http://schemas.openxmlformats.org/drawingml/2006/main" noGrp="1"/>
          </p:cNvSpPr>
          <p:nvPr/>
        </p:nvSpPr>
        <p:spPr>
          <a:xfrm xmlns:a="http://schemas.openxmlformats.org/drawingml/2006/main">
            <a:off x="723900" y="5286375"/>
            <a:ext cx="1047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01828"/>
                </a:solidFill>
                <a:latin typeface="DejaVu Sans"/>
                <a:ea typeface="DejaVu Sans"/>
                <a:cs typeface="DejaVu Sans"/>
              </a:defRPr>
            </a:pPr>
            <a:r>
              <a:rPr sz="1800" b="0">
                <a:solidFill>
                  <a:srgbClr val="101828"/>
                </a:solidFill>
                <a:latin typeface="DejaVu Sans"/>
                <a:ea typeface="DejaVu Sans"/>
                <a:cs typeface="DejaVu Sans"/>
              </a:rPr>
              <a:t>PC holds the next instruction address and increments; accumulator holds calculation results.</a:t>
            </a:r>
          </a:p>
        </p:txBody>
      </p:sp>
    </p:spTree>
    <p:extLst>
      <p:ext uri="{BB962C8B-B14F-4D97-AF65-F5344CB8AC3E}">
        <p14:creationId xmlns:p14="http://schemas.microsoft.com/office/powerpoint/2010/main" val="2043318265"/>
      </p:ext>
    </p:extLst>
  </p:cSld>
</p:sld>
</file>

<file path=ppt/slides/slide14.xml><?xml version="1.0" encoding="utf-8"?>
<p:sld xmlns:p="http://schemas.openxmlformats.org/presentationml/2006/main">
  <p:cSld>
    <p:bg>
      <p:bgPr>
        <a:solidFill xmlns:a="http://schemas.openxmlformats.org/drawingml/2006/main">
          <a:srgbClr val="EAF3FF"/>
        </a:solidFill>
      </p:bgPr>
    </p:bg>
    <p:spTree>
      <p:nvGrpSpPr>
        <p:cNvPr id="1" name=""/>
        <p:cNvGrpSpPr/>
        <p:nvPr/>
      </p:nvGrpSpPr>
      <p:grpSpPr>
        <a:xfrm xmlns:a="http://schemas.openxmlformats.org/drawingml/2006/main"/>
      </p:grpSpPr>
      <p:sp>
        <p:nvSpPr>
          <p:cNvPr id="12" name="topic">
            <a:extLst xmlns:a="http://schemas.openxmlformats.org/drawingml/2006/main">
              <a:ext uri="{FF2B5EF4-FFF2-40B4-BE49-F238E27FC236}">
                <a16:creationId xmlns:a16="http://schemas.microsoft.com/office/drawing/2014/main" id="{5E6EF333-F35C-43F3-9D76-8B95BDBB2D52}"/>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1.1   /   LESSON 02   /   ANSWERS</a:t>
            </a:r>
          </a:p>
        </p:txBody>
      </p:sp>
      <p:sp>
        <p:nvSpPr>
          <p:cNvPr id="2" name="heading">
            <a:extLst xmlns:a="http://schemas.openxmlformats.org/drawingml/2006/main">
              <a:ext uri="{FF2B5EF4-FFF2-40B4-BE49-F238E27FC236}">
                <a16:creationId xmlns:a16="http://schemas.microsoft.com/office/drawing/2014/main" id="{C5B4CB67-A0BB-479A-AD7C-D1598437062B}"/>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After the experience: stations 4–6</a:t>
            </a:r>
          </a:p>
        </p:txBody>
      </p:sp>
      <p:sp>
        <p:nvSpPr>
          <p:cNvPr id="3" name="footer">
            <a:extLst xmlns:a="http://schemas.openxmlformats.org/drawingml/2006/main">
              <a:ext uri="{FF2B5EF4-FFF2-40B4-BE49-F238E27FC236}">
                <a16:creationId xmlns:a16="http://schemas.microsoft.com/office/drawing/2014/main" id="{3FE24ED4-BFFD-44EE-900D-4D3A786B776D}"/>
              </a:ext>
            </a:extLst>
          </p:cNvPr>
          <p:cNvSpPr>
            <a:spLocks xmlns:a="http://schemas.openxmlformats.org/drawingml/2006/main" noGrp="1"/>
          </p:cNvSpPr>
          <p:nvPr/>
        </p:nvSpPr>
        <p:spPr>
          <a:xfrm xmlns:a="http://schemas.openxmlformats.org/drawingml/2006/main">
            <a:off x="666750" y="6400800"/>
            <a:ext cx="981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Revise 360    OCR J277 1.1 Systems architecture</a:t>
            </a:r>
          </a:p>
        </p:txBody>
      </p:sp>
      <p:sp>
        <p:nvSpPr>
          <p:cNvPr id="4" name="page">
            <a:extLst xmlns:a="http://schemas.openxmlformats.org/drawingml/2006/main">
              <a:ext uri="{FF2B5EF4-FFF2-40B4-BE49-F238E27FC236}">
                <a16:creationId xmlns:a16="http://schemas.microsoft.com/office/drawing/2014/main" id="{A866E1AC-A1B7-4DD5-9AB7-80BBCA46E460}"/>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14 / 20</a:t>
            </a:r>
          </a:p>
        </p:txBody>
      </p:sp>
      <p:sp>
        <p:nvSpPr>
          <p:cNvPr id="5" name="check-stations">
            <a:extLst xmlns:a="http://schemas.openxmlformats.org/drawingml/2006/main">
              <a:ext uri="{FF2B5EF4-FFF2-40B4-BE49-F238E27FC236}">
                <a16:creationId xmlns:a16="http://schemas.microsoft.com/office/drawing/2014/main" id="{0C613F62-04AD-493A-9153-DE2C996949EC}"/>
              </a:ext>
            </a:extLst>
          </p:cNvPr>
          <p:cNvSpPr>
            <a:spLocks xmlns:a="http://schemas.openxmlformats.org/drawingml/2006/main" noGrp="1"/>
          </p:cNvSpPr>
          <p:nvPr/>
        </p:nvSpPr>
        <p:spPr>
          <a:xfrm xmlns:a="http://schemas.openxmlformats.org/drawingml/2006/main">
            <a:off x="704850" y="15430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26174"/>
                </a:solidFill>
                <a:latin typeface="DejaVu Sans"/>
                <a:ea typeface="DejaVu Sans"/>
                <a:cs typeface="DejaVu Sans"/>
              </a:defRPr>
            </a:pPr>
            <a:r>
              <a:rPr sz="1800" b="0">
                <a:solidFill>
                  <a:srgbClr val="526174"/>
                </a:solidFill>
                <a:latin typeface="DejaVu Sans"/>
                <a:ea typeface="DejaVu Sans"/>
                <a:cs typeface="DejaVu Sans"/>
              </a:rPr>
              <a:t>Continue checking the station notes on your worksheet.</a:t>
            </a:r>
          </a:p>
        </p:txBody>
      </p:sp>
      <p:sp>
        <p:nvSpPr>
          <p:cNvPr id="6" name="station-name-3">
            <a:extLst xmlns:a="http://schemas.openxmlformats.org/drawingml/2006/main">
              <a:ext uri="{FF2B5EF4-FFF2-40B4-BE49-F238E27FC236}">
                <a16:creationId xmlns:a16="http://schemas.microsoft.com/office/drawing/2014/main" id="{77E1FB8C-F49C-4C5F-84F8-5AF0C11B84D9}"/>
              </a:ext>
            </a:extLst>
          </p:cNvPr>
          <p:cNvSpPr>
            <a:spLocks xmlns:a="http://schemas.openxmlformats.org/drawingml/2006/main" noGrp="1"/>
          </p:cNvSpPr>
          <p:nvPr/>
        </p:nvSpPr>
        <p:spPr>
          <a:xfrm xmlns:a="http://schemas.openxmlformats.org/drawingml/2006/main">
            <a:off x="723900" y="22098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D63FF"/>
                </a:solidFill>
                <a:latin typeface="DejaVu Sans"/>
                <a:ea typeface="DejaVu Sans"/>
                <a:cs typeface="DejaVu Sans"/>
              </a:defRPr>
            </a:pPr>
            <a:r>
              <a:rPr sz="1950" b="1">
                <a:solidFill>
                  <a:srgbClr val="2D63FF"/>
                </a:solidFill>
                <a:latin typeface="DejaVu Sans"/>
                <a:ea typeface="DejaVu Sans"/>
                <a:cs typeface="DejaVu Sans"/>
              </a:rPr>
              <a:t>4  MAR and MDR</a:t>
            </a:r>
          </a:p>
        </p:txBody>
      </p:sp>
      <p:sp>
        <p:nvSpPr>
          <p:cNvPr id="7" name="station-answer-3">
            <a:extLst xmlns:a="http://schemas.openxmlformats.org/drawingml/2006/main">
              <a:ext uri="{FF2B5EF4-FFF2-40B4-BE49-F238E27FC236}">
                <a16:creationId xmlns:a16="http://schemas.microsoft.com/office/drawing/2014/main" id="{DE973D8E-5F86-4B11-9D8B-B6EC22469B51}"/>
              </a:ext>
            </a:extLst>
          </p:cNvPr>
          <p:cNvSpPr>
            <a:spLocks xmlns:a="http://schemas.openxmlformats.org/drawingml/2006/main" noGrp="1"/>
          </p:cNvSpPr>
          <p:nvPr/>
        </p:nvSpPr>
        <p:spPr>
          <a:xfrm xmlns:a="http://schemas.openxmlformats.org/drawingml/2006/main">
            <a:off x="723900" y="2638425"/>
            <a:ext cx="1047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01828"/>
                </a:solidFill>
                <a:latin typeface="DejaVu Sans"/>
                <a:ea typeface="DejaVu Sans"/>
                <a:cs typeface="DejaVu Sans"/>
              </a:defRPr>
            </a:pPr>
            <a:r>
              <a:rPr sz="1800" b="0">
                <a:solidFill>
                  <a:srgbClr val="101828"/>
                </a:solidFill>
                <a:latin typeface="DejaVu Sans"/>
                <a:ea typeface="DejaVu Sans"/>
                <a:cs typeface="DejaVu Sans"/>
              </a:rPr>
              <a:t>MAR holds the memory address. MDR holds data or an instruction moving between CPU and main memory.</a:t>
            </a:r>
          </a:p>
        </p:txBody>
      </p:sp>
      <p:sp>
        <p:nvSpPr>
          <p:cNvPr id="8" name="station-name-4">
            <a:extLst xmlns:a="http://schemas.openxmlformats.org/drawingml/2006/main">
              <a:ext uri="{FF2B5EF4-FFF2-40B4-BE49-F238E27FC236}">
                <a16:creationId xmlns:a16="http://schemas.microsoft.com/office/drawing/2014/main" id="{35169C20-D98C-45BB-8953-9C236BC7C511}"/>
              </a:ext>
            </a:extLst>
          </p:cNvPr>
          <p:cNvSpPr>
            <a:spLocks xmlns:a="http://schemas.openxmlformats.org/drawingml/2006/main" noGrp="1"/>
          </p:cNvSpPr>
          <p:nvPr/>
        </p:nvSpPr>
        <p:spPr>
          <a:xfrm xmlns:a="http://schemas.openxmlformats.org/drawingml/2006/main">
            <a:off x="723900" y="3533775"/>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D63FF"/>
                </a:solidFill>
                <a:latin typeface="DejaVu Sans"/>
                <a:ea typeface="DejaVu Sans"/>
                <a:cs typeface="DejaVu Sans"/>
              </a:defRPr>
            </a:pPr>
            <a:r>
              <a:rPr sz="1950" b="1">
                <a:solidFill>
                  <a:srgbClr val="2D63FF"/>
                </a:solidFill>
                <a:latin typeface="DejaVu Sans"/>
                <a:ea typeface="DejaVu Sans"/>
                <a:cs typeface="DejaVu Sans"/>
              </a:rPr>
              <a:t>5  Other architectures</a:t>
            </a:r>
          </a:p>
        </p:txBody>
      </p:sp>
      <p:sp>
        <p:nvSpPr>
          <p:cNvPr id="9" name="station-answer-4">
            <a:extLst xmlns:a="http://schemas.openxmlformats.org/drawingml/2006/main">
              <a:ext uri="{FF2B5EF4-FFF2-40B4-BE49-F238E27FC236}">
                <a16:creationId xmlns:a16="http://schemas.microsoft.com/office/drawing/2014/main" id="{BBF44FC7-BEC4-460D-B4CB-1613597B212D}"/>
              </a:ext>
            </a:extLst>
          </p:cNvPr>
          <p:cNvSpPr>
            <a:spLocks xmlns:a="http://schemas.openxmlformats.org/drawingml/2006/main" noGrp="1"/>
          </p:cNvSpPr>
          <p:nvPr/>
        </p:nvSpPr>
        <p:spPr>
          <a:xfrm xmlns:a="http://schemas.openxmlformats.org/drawingml/2006/main">
            <a:off x="723900" y="3962400"/>
            <a:ext cx="1047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01828"/>
                </a:solidFill>
                <a:latin typeface="DejaVu Sans"/>
                <a:ea typeface="DejaVu Sans"/>
                <a:cs typeface="DejaVu Sans"/>
              </a:defRPr>
            </a:pPr>
            <a:r>
              <a:rPr sz="1800" b="0">
                <a:solidFill>
                  <a:srgbClr val="101828"/>
                </a:solidFill>
                <a:latin typeface="DejaVu Sans"/>
                <a:ea typeface="DejaVu Sans"/>
                <a:cs typeface="DejaVu Sans"/>
              </a:rPr>
              <a:t>Harvard architecture keeps instructions and data in separate memories; microcontrollers often use it.</a:t>
            </a:r>
          </a:p>
        </p:txBody>
      </p:sp>
      <p:sp>
        <p:nvSpPr>
          <p:cNvPr id="10" name="station-name-5">
            <a:extLst xmlns:a="http://schemas.openxmlformats.org/drawingml/2006/main">
              <a:ext uri="{FF2B5EF4-FFF2-40B4-BE49-F238E27FC236}">
                <a16:creationId xmlns:a16="http://schemas.microsoft.com/office/drawing/2014/main" id="{68D3BE72-9F59-4EA9-80C2-976F2B6B87DA}"/>
              </a:ext>
            </a:extLst>
          </p:cNvPr>
          <p:cNvSpPr>
            <a:spLocks xmlns:a="http://schemas.openxmlformats.org/drawingml/2006/main" noGrp="1"/>
          </p:cNvSpPr>
          <p:nvPr/>
        </p:nvSpPr>
        <p:spPr>
          <a:xfrm xmlns:a="http://schemas.openxmlformats.org/drawingml/2006/main">
            <a:off x="723900" y="48577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D63FF"/>
                </a:solidFill>
                <a:latin typeface="DejaVu Sans"/>
                <a:ea typeface="DejaVu Sans"/>
                <a:cs typeface="DejaVu Sans"/>
              </a:defRPr>
            </a:pPr>
            <a:r>
              <a:rPr sz="1950" b="1">
                <a:solidFill>
                  <a:srgbClr val="2D63FF"/>
                </a:solidFill>
                <a:latin typeface="DejaVu Sans"/>
                <a:ea typeface="DejaVu Sans"/>
                <a:cs typeface="DejaVu Sans"/>
              </a:rPr>
              <a:t>6  Keywords</a:t>
            </a:r>
          </a:p>
        </p:txBody>
      </p:sp>
      <p:sp>
        <p:nvSpPr>
          <p:cNvPr id="11" name="station-answer-5">
            <a:extLst xmlns:a="http://schemas.openxmlformats.org/drawingml/2006/main">
              <a:ext uri="{FF2B5EF4-FFF2-40B4-BE49-F238E27FC236}">
                <a16:creationId xmlns:a16="http://schemas.microsoft.com/office/drawing/2014/main" id="{CA257237-2A33-4FE6-8E24-51FD0AF7489C}"/>
              </a:ext>
            </a:extLst>
          </p:cNvPr>
          <p:cNvSpPr>
            <a:spLocks xmlns:a="http://schemas.openxmlformats.org/drawingml/2006/main" noGrp="1"/>
          </p:cNvSpPr>
          <p:nvPr/>
        </p:nvSpPr>
        <p:spPr>
          <a:xfrm xmlns:a="http://schemas.openxmlformats.org/drawingml/2006/main">
            <a:off x="723900" y="5286375"/>
            <a:ext cx="1047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01828"/>
                </a:solidFill>
                <a:latin typeface="DejaVu Sans"/>
                <a:ea typeface="DejaVu Sans"/>
                <a:cs typeface="DejaVu Sans"/>
              </a:defRPr>
            </a:pPr>
            <a:r>
              <a:rPr sz="1800" b="0">
                <a:solidFill>
                  <a:srgbClr val="101828"/>
                </a:solidFill>
                <a:latin typeface="DejaVu Sans"/>
                <a:ea typeface="DejaVu Sans"/>
                <a:cs typeface="DejaVu Sans"/>
              </a:rPr>
              <a:t>For example, while repeats a loop, if tests a condition, and for iterates. Keywords are reserved.</a:t>
            </a:r>
          </a:p>
        </p:txBody>
      </p:sp>
    </p:spTree>
    <p:extLst>
      <p:ext uri="{BB962C8B-B14F-4D97-AF65-F5344CB8AC3E}">
        <p14:creationId xmlns:p14="http://schemas.microsoft.com/office/powerpoint/2010/main" val="1564735746"/>
      </p:ext>
    </p:extLst>
  </p:cSld>
</p:sld>
</file>

<file path=ppt/slides/slide15.xml><?xml version="1.0" encoding="utf-8"?>
<p:sld xmlns:p="http://schemas.openxmlformats.org/presentationml/2006/main">
  <p:cSld>
    <p:bg>
      <p:bgPr>
        <a:solidFill xmlns:a="http://schemas.openxmlformats.org/drawingml/2006/main">
          <a:srgbClr val="EAF3FF"/>
        </a:solidFill>
      </p:bgPr>
    </p:bg>
    <p:spTree>
      <p:nvGrpSpPr>
        <p:cNvPr id="1" name=""/>
        <p:cNvGrpSpPr/>
        <p:nvPr/>
      </p:nvGrpSpPr>
      <p:grpSpPr>
        <a:xfrm xmlns:a="http://schemas.openxmlformats.org/drawingml/2006/main"/>
      </p:grpSpPr>
      <p:sp>
        <p:nvSpPr>
          <p:cNvPr id="20" name="topic">
            <a:extLst xmlns:a="http://schemas.openxmlformats.org/drawingml/2006/main">
              <a:ext uri="{FF2B5EF4-FFF2-40B4-BE49-F238E27FC236}">
                <a16:creationId xmlns:a16="http://schemas.microsoft.com/office/drawing/2014/main" id="{B597C584-AA77-44A8-95C9-E01CC6B6314E}"/>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1.1   /   LESSON 02   /   CHECK</a:t>
            </a:r>
          </a:p>
        </p:txBody>
      </p:sp>
      <p:sp>
        <p:nvSpPr>
          <p:cNvPr id="2" name="heading">
            <a:extLst xmlns:a="http://schemas.openxmlformats.org/drawingml/2006/main">
              <a:ext uri="{FF2B5EF4-FFF2-40B4-BE49-F238E27FC236}">
                <a16:creationId xmlns:a16="http://schemas.microsoft.com/office/drawing/2014/main" id="{859C1869-8D66-4C46-AA2E-6A9FD49C504A}"/>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Final challenge: answers</a:t>
            </a:r>
          </a:p>
        </p:txBody>
      </p:sp>
      <p:sp>
        <p:nvSpPr>
          <p:cNvPr id="3" name="footer">
            <a:extLst xmlns:a="http://schemas.openxmlformats.org/drawingml/2006/main">
              <a:ext uri="{FF2B5EF4-FFF2-40B4-BE49-F238E27FC236}">
                <a16:creationId xmlns:a16="http://schemas.microsoft.com/office/drawing/2014/main" id="{5D628C0E-6066-435C-8CAB-B5BD1354211D}"/>
              </a:ext>
            </a:extLst>
          </p:cNvPr>
          <p:cNvSpPr>
            <a:spLocks xmlns:a="http://schemas.openxmlformats.org/drawingml/2006/main" noGrp="1"/>
          </p:cNvSpPr>
          <p:nvPr/>
        </p:nvSpPr>
        <p:spPr>
          <a:xfrm xmlns:a="http://schemas.openxmlformats.org/drawingml/2006/main">
            <a:off x="666750" y="6400800"/>
            <a:ext cx="981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Revise 360    OCR J277 1.1 Systems architecture</a:t>
            </a:r>
          </a:p>
        </p:txBody>
      </p:sp>
      <p:sp>
        <p:nvSpPr>
          <p:cNvPr id="4" name="page">
            <a:extLst xmlns:a="http://schemas.openxmlformats.org/drawingml/2006/main">
              <a:ext uri="{FF2B5EF4-FFF2-40B4-BE49-F238E27FC236}">
                <a16:creationId xmlns:a16="http://schemas.microsoft.com/office/drawing/2014/main" id="{DFB16698-1DB3-4E04-9F9B-44DF2E97F426}"/>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15 / 20</a:t>
            </a:r>
          </a:p>
        </p:txBody>
      </p:sp>
      <p:sp>
        <p:nvSpPr>
          <p:cNvPr id="5" name="star-key">
            <a:extLst xmlns:a="http://schemas.openxmlformats.org/drawingml/2006/main">
              <a:ext uri="{FF2B5EF4-FFF2-40B4-BE49-F238E27FC236}">
                <a16:creationId xmlns:a16="http://schemas.microsoft.com/office/drawing/2014/main" id="{B9E152E2-1BEC-4409-8755-B59F7515BCD6}"/>
              </a:ext>
            </a:extLst>
          </p:cNvPr>
          <p:cNvSpPr>
            <a:spLocks xmlns:a="http://schemas.openxmlformats.org/drawingml/2006/main" noGrp="1"/>
          </p:cNvSpPr>
          <p:nvPr/>
        </p:nvSpPr>
        <p:spPr>
          <a:xfrm xmlns:a="http://schemas.openxmlformats.org/drawingml/2006/main">
            <a:off x="704850" y="15240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26174"/>
                </a:solidFill>
                <a:latin typeface="DejaVu Sans"/>
                <a:ea typeface="DejaVu Sans"/>
                <a:cs typeface="DejaVu Sans"/>
              </a:defRPr>
            </a:pPr>
            <a:r>
              <a:rPr sz="1800" b="0">
                <a:solidFill>
                  <a:srgbClr val="526174"/>
                </a:solidFill>
                <a:latin typeface="DejaVu Sans"/>
                <a:ea typeface="DejaVu Sans"/>
                <a:cs typeface="DejaVu Sans"/>
              </a:rPr>
              <a:t>Compare your star challenge table with the answers below.</a:t>
            </a:r>
          </a:p>
        </p:txBody>
      </p:sp>
      <p:sp>
        <p:nvSpPr>
          <p:cNvPr id="6" name="number-1">
            <a:extLst xmlns:a="http://schemas.openxmlformats.org/drawingml/2006/main">
              <a:ext uri="{FF2B5EF4-FFF2-40B4-BE49-F238E27FC236}">
                <a16:creationId xmlns:a16="http://schemas.microsoft.com/office/drawing/2014/main" id="{8D19C682-6892-4B60-AACF-9387080EF616}"/>
              </a:ext>
            </a:extLst>
          </p:cNvPr>
          <p:cNvSpPr>
            <a:spLocks xmlns:a="http://schemas.openxmlformats.org/drawingml/2006/main" noGrp="1"/>
          </p:cNvSpPr>
          <p:nvPr/>
        </p:nvSpPr>
        <p:spPr>
          <a:xfrm xmlns:a="http://schemas.openxmlformats.org/drawingml/2006/main">
            <a:off x="723900" y="2105025"/>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2D63FF"/>
                </a:solidFill>
                <a:latin typeface="DejaVu Sans"/>
                <a:ea typeface="DejaVu Sans"/>
                <a:cs typeface="DejaVu Sans"/>
              </a:defRPr>
            </a:pPr>
            <a:r>
              <a:rPr sz="1875" b="1">
                <a:solidFill>
                  <a:srgbClr val="2D63FF"/>
                </a:solidFill>
                <a:latin typeface="DejaVu Sans"/>
                <a:ea typeface="DejaVu Sans"/>
                <a:cs typeface="DejaVu Sans"/>
              </a:rPr>
              <a:t>1.</a:t>
            </a:r>
          </a:p>
        </p:txBody>
      </p:sp>
      <p:sp>
        <p:nvSpPr>
          <p:cNvPr id="7" name="item-1">
            <a:extLst xmlns:a="http://schemas.openxmlformats.org/drawingml/2006/main">
              <a:ext uri="{FF2B5EF4-FFF2-40B4-BE49-F238E27FC236}">
                <a16:creationId xmlns:a16="http://schemas.microsoft.com/office/drawing/2014/main" id="{909EC5B9-EF59-4A1B-A165-0D5F1616F4ED}"/>
              </a:ext>
            </a:extLst>
          </p:cNvPr>
          <p:cNvSpPr>
            <a:spLocks xmlns:a="http://schemas.openxmlformats.org/drawingml/2006/main" noGrp="1"/>
          </p:cNvSpPr>
          <p:nvPr/>
        </p:nvSpPr>
        <p:spPr>
          <a:xfrm xmlns:a="http://schemas.openxmlformats.org/drawingml/2006/main">
            <a:off x="1352550" y="2105025"/>
            <a:ext cx="99250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01828"/>
                </a:solidFill>
                <a:latin typeface="DejaVu Sans"/>
                <a:ea typeface="DejaVu Sans"/>
                <a:cs typeface="DejaVu Sans"/>
              </a:defRPr>
            </a:pPr>
            <a:r>
              <a:rPr sz="1875" b="0">
                <a:solidFill>
                  <a:srgbClr val="101828"/>
                </a:solidFill>
                <a:latin typeface="DejaVu Sans"/>
                <a:ea typeface="DejaVu Sans"/>
                <a:cs typeface="DejaVu Sans"/>
              </a:rPr>
              <a:t>Program counter: next instruction address</a:t>
            </a:r>
          </a:p>
        </p:txBody>
      </p:sp>
      <p:sp>
        <p:nvSpPr>
          <p:cNvPr id="8" name="number-2">
            <a:extLst xmlns:a="http://schemas.openxmlformats.org/drawingml/2006/main">
              <a:ext uri="{FF2B5EF4-FFF2-40B4-BE49-F238E27FC236}">
                <a16:creationId xmlns:a16="http://schemas.microsoft.com/office/drawing/2014/main" id="{A54A0A0B-6412-4295-888D-6BB8A277EB39}"/>
              </a:ext>
            </a:extLst>
          </p:cNvPr>
          <p:cNvSpPr>
            <a:spLocks xmlns:a="http://schemas.openxmlformats.org/drawingml/2006/main" noGrp="1"/>
          </p:cNvSpPr>
          <p:nvPr/>
        </p:nvSpPr>
        <p:spPr>
          <a:xfrm xmlns:a="http://schemas.openxmlformats.org/drawingml/2006/main">
            <a:off x="723900" y="2667000"/>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2D63FF"/>
                </a:solidFill>
                <a:latin typeface="DejaVu Sans"/>
                <a:ea typeface="DejaVu Sans"/>
                <a:cs typeface="DejaVu Sans"/>
              </a:defRPr>
            </a:pPr>
            <a:r>
              <a:rPr sz="1875" b="1">
                <a:solidFill>
                  <a:srgbClr val="2D63FF"/>
                </a:solidFill>
                <a:latin typeface="DejaVu Sans"/>
                <a:ea typeface="DejaVu Sans"/>
                <a:cs typeface="DejaVu Sans"/>
              </a:rPr>
              <a:t>2.</a:t>
            </a:r>
          </a:p>
        </p:txBody>
      </p:sp>
      <p:sp>
        <p:nvSpPr>
          <p:cNvPr id="9" name="item-2">
            <a:extLst xmlns:a="http://schemas.openxmlformats.org/drawingml/2006/main">
              <a:ext uri="{FF2B5EF4-FFF2-40B4-BE49-F238E27FC236}">
                <a16:creationId xmlns:a16="http://schemas.microsoft.com/office/drawing/2014/main" id="{659A8C26-FC45-4730-91F4-8F93EB30005C}"/>
              </a:ext>
            </a:extLst>
          </p:cNvPr>
          <p:cNvSpPr>
            <a:spLocks xmlns:a="http://schemas.openxmlformats.org/drawingml/2006/main" noGrp="1"/>
          </p:cNvSpPr>
          <p:nvPr/>
        </p:nvSpPr>
        <p:spPr>
          <a:xfrm xmlns:a="http://schemas.openxmlformats.org/drawingml/2006/main">
            <a:off x="1352550" y="2667000"/>
            <a:ext cx="99250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01828"/>
                </a:solidFill>
                <a:latin typeface="DejaVu Sans"/>
                <a:ea typeface="DejaVu Sans"/>
                <a:cs typeface="DejaVu Sans"/>
              </a:defRPr>
            </a:pPr>
            <a:r>
              <a:rPr sz="1875" b="0">
                <a:solidFill>
                  <a:srgbClr val="101828"/>
                </a:solidFill>
                <a:latin typeface="DejaVu Sans"/>
                <a:ea typeface="DejaVu Sans"/>
                <a:cs typeface="DejaVu Sans"/>
              </a:rPr>
              <a:t>Control unit: decodes and controls</a:t>
            </a:r>
          </a:p>
        </p:txBody>
      </p:sp>
      <p:sp>
        <p:nvSpPr>
          <p:cNvPr id="10" name="number-3">
            <a:extLst xmlns:a="http://schemas.openxmlformats.org/drawingml/2006/main">
              <a:ext uri="{FF2B5EF4-FFF2-40B4-BE49-F238E27FC236}">
                <a16:creationId xmlns:a16="http://schemas.microsoft.com/office/drawing/2014/main" id="{68EBA25E-6DBF-4FBD-9A26-58DCCF28A232}"/>
              </a:ext>
            </a:extLst>
          </p:cNvPr>
          <p:cNvSpPr>
            <a:spLocks xmlns:a="http://schemas.openxmlformats.org/drawingml/2006/main" noGrp="1"/>
          </p:cNvSpPr>
          <p:nvPr/>
        </p:nvSpPr>
        <p:spPr>
          <a:xfrm xmlns:a="http://schemas.openxmlformats.org/drawingml/2006/main">
            <a:off x="723900" y="3228975"/>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2D63FF"/>
                </a:solidFill>
                <a:latin typeface="DejaVu Sans"/>
                <a:ea typeface="DejaVu Sans"/>
                <a:cs typeface="DejaVu Sans"/>
              </a:defRPr>
            </a:pPr>
            <a:r>
              <a:rPr sz="1875" b="1">
                <a:solidFill>
                  <a:srgbClr val="2D63FF"/>
                </a:solidFill>
                <a:latin typeface="DejaVu Sans"/>
                <a:ea typeface="DejaVu Sans"/>
                <a:cs typeface="DejaVu Sans"/>
              </a:rPr>
              <a:t>3.</a:t>
            </a:r>
          </a:p>
        </p:txBody>
      </p:sp>
      <p:sp>
        <p:nvSpPr>
          <p:cNvPr id="11" name="item-3">
            <a:extLst xmlns:a="http://schemas.openxmlformats.org/drawingml/2006/main">
              <a:ext uri="{FF2B5EF4-FFF2-40B4-BE49-F238E27FC236}">
                <a16:creationId xmlns:a16="http://schemas.microsoft.com/office/drawing/2014/main" id="{01DA0B70-7B6E-44D0-87D1-DCC62784C858}"/>
              </a:ext>
            </a:extLst>
          </p:cNvPr>
          <p:cNvSpPr>
            <a:spLocks xmlns:a="http://schemas.openxmlformats.org/drawingml/2006/main" noGrp="1"/>
          </p:cNvSpPr>
          <p:nvPr/>
        </p:nvSpPr>
        <p:spPr>
          <a:xfrm xmlns:a="http://schemas.openxmlformats.org/drawingml/2006/main">
            <a:off x="1352550" y="3228975"/>
            <a:ext cx="99250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01828"/>
                </a:solidFill>
                <a:latin typeface="DejaVu Sans"/>
                <a:ea typeface="DejaVu Sans"/>
                <a:cs typeface="DejaVu Sans"/>
              </a:defRPr>
            </a:pPr>
            <a:r>
              <a:rPr sz="1875" b="0">
                <a:solidFill>
                  <a:srgbClr val="101828"/>
                </a:solidFill>
                <a:latin typeface="DejaVu Sans"/>
                <a:ea typeface="DejaVu Sans"/>
                <a:cs typeface="DejaVu Sans"/>
              </a:rPr>
              <a:t>MAR: memory address</a:t>
            </a:r>
          </a:p>
        </p:txBody>
      </p:sp>
      <p:sp>
        <p:nvSpPr>
          <p:cNvPr id="12" name="number-4">
            <a:extLst xmlns:a="http://schemas.openxmlformats.org/drawingml/2006/main">
              <a:ext uri="{FF2B5EF4-FFF2-40B4-BE49-F238E27FC236}">
                <a16:creationId xmlns:a16="http://schemas.microsoft.com/office/drawing/2014/main" id="{5723BBF0-CD2A-45E6-86DE-B846DF879BA0}"/>
              </a:ext>
            </a:extLst>
          </p:cNvPr>
          <p:cNvSpPr>
            <a:spLocks xmlns:a="http://schemas.openxmlformats.org/drawingml/2006/main" noGrp="1"/>
          </p:cNvSpPr>
          <p:nvPr/>
        </p:nvSpPr>
        <p:spPr>
          <a:xfrm xmlns:a="http://schemas.openxmlformats.org/drawingml/2006/main">
            <a:off x="723900" y="3790950"/>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2D63FF"/>
                </a:solidFill>
                <a:latin typeface="DejaVu Sans"/>
                <a:ea typeface="DejaVu Sans"/>
                <a:cs typeface="DejaVu Sans"/>
              </a:defRPr>
            </a:pPr>
            <a:r>
              <a:rPr sz="1875" b="1">
                <a:solidFill>
                  <a:srgbClr val="2D63FF"/>
                </a:solidFill>
                <a:latin typeface="DejaVu Sans"/>
                <a:ea typeface="DejaVu Sans"/>
                <a:cs typeface="DejaVu Sans"/>
              </a:rPr>
              <a:t>4.</a:t>
            </a:r>
          </a:p>
        </p:txBody>
      </p:sp>
      <p:sp>
        <p:nvSpPr>
          <p:cNvPr id="13" name="item-4">
            <a:extLst xmlns:a="http://schemas.openxmlformats.org/drawingml/2006/main">
              <a:ext uri="{FF2B5EF4-FFF2-40B4-BE49-F238E27FC236}">
                <a16:creationId xmlns:a16="http://schemas.microsoft.com/office/drawing/2014/main" id="{0052AB49-DEE9-48D0-8501-2CC34E2CE9D7}"/>
              </a:ext>
            </a:extLst>
          </p:cNvPr>
          <p:cNvSpPr>
            <a:spLocks xmlns:a="http://schemas.openxmlformats.org/drawingml/2006/main" noGrp="1"/>
          </p:cNvSpPr>
          <p:nvPr/>
        </p:nvSpPr>
        <p:spPr>
          <a:xfrm xmlns:a="http://schemas.openxmlformats.org/drawingml/2006/main">
            <a:off x="1352550" y="3790950"/>
            <a:ext cx="99250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01828"/>
                </a:solidFill>
                <a:latin typeface="DejaVu Sans"/>
                <a:ea typeface="DejaVu Sans"/>
                <a:cs typeface="DejaVu Sans"/>
              </a:defRPr>
            </a:pPr>
            <a:r>
              <a:rPr sz="1875" b="0">
                <a:solidFill>
                  <a:srgbClr val="101828"/>
                </a:solidFill>
                <a:latin typeface="DejaVu Sans"/>
                <a:ea typeface="DejaVu Sans"/>
                <a:cs typeface="DejaVu Sans"/>
              </a:rPr>
              <a:t>ALU: arithmetic and logic</a:t>
            </a:r>
          </a:p>
        </p:txBody>
      </p:sp>
      <p:sp>
        <p:nvSpPr>
          <p:cNvPr id="14" name="number-5">
            <a:extLst xmlns:a="http://schemas.openxmlformats.org/drawingml/2006/main">
              <a:ext uri="{FF2B5EF4-FFF2-40B4-BE49-F238E27FC236}">
                <a16:creationId xmlns:a16="http://schemas.microsoft.com/office/drawing/2014/main" id="{5F909000-EC47-4AC5-B75A-EADB88798E5F}"/>
              </a:ext>
            </a:extLst>
          </p:cNvPr>
          <p:cNvSpPr>
            <a:spLocks xmlns:a="http://schemas.openxmlformats.org/drawingml/2006/main" noGrp="1"/>
          </p:cNvSpPr>
          <p:nvPr/>
        </p:nvSpPr>
        <p:spPr>
          <a:xfrm xmlns:a="http://schemas.openxmlformats.org/drawingml/2006/main">
            <a:off x="723900" y="4352925"/>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2D63FF"/>
                </a:solidFill>
                <a:latin typeface="DejaVu Sans"/>
                <a:ea typeface="DejaVu Sans"/>
                <a:cs typeface="DejaVu Sans"/>
              </a:defRPr>
            </a:pPr>
            <a:r>
              <a:rPr sz="1875" b="1">
                <a:solidFill>
                  <a:srgbClr val="2D63FF"/>
                </a:solidFill>
                <a:latin typeface="DejaVu Sans"/>
                <a:ea typeface="DejaVu Sans"/>
                <a:cs typeface="DejaVu Sans"/>
              </a:rPr>
              <a:t>5.</a:t>
            </a:r>
          </a:p>
        </p:txBody>
      </p:sp>
      <p:sp>
        <p:nvSpPr>
          <p:cNvPr id="15" name="item-5">
            <a:extLst xmlns:a="http://schemas.openxmlformats.org/drawingml/2006/main">
              <a:ext uri="{FF2B5EF4-FFF2-40B4-BE49-F238E27FC236}">
                <a16:creationId xmlns:a16="http://schemas.microsoft.com/office/drawing/2014/main" id="{7A96BE48-2B6F-4FC2-A1C7-A45C8665158D}"/>
              </a:ext>
            </a:extLst>
          </p:cNvPr>
          <p:cNvSpPr>
            <a:spLocks xmlns:a="http://schemas.openxmlformats.org/drawingml/2006/main" noGrp="1"/>
          </p:cNvSpPr>
          <p:nvPr/>
        </p:nvSpPr>
        <p:spPr>
          <a:xfrm xmlns:a="http://schemas.openxmlformats.org/drawingml/2006/main">
            <a:off x="1352550" y="4352925"/>
            <a:ext cx="99250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01828"/>
                </a:solidFill>
                <a:latin typeface="DejaVu Sans"/>
                <a:ea typeface="DejaVu Sans"/>
                <a:cs typeface="DejaVu Sans"/>
              </a:defRPr>
            </a:pPr>
            <a:r>
              <a:rPr sz="1875" b="0">
                <a:solidFill>
                  <a:srgbClr val="101828"/>
                </a:solidFill>
                <a:latin typeface="DejaVu Sans"/>
                <a:ea typeface="DejaVu Sans"/>
                <a:cs typeface="DejaVu Sans"/>
              </a:rPr>
              <a:t>MDR: data to or from memory</a:t>
            </a:r>
          </a:p>
        </p:txBody>
      </p:sp>
      <p:sp>
        <p:nvSpPr>
          <p:cNvPr id="16" name="number-6">
            <a:extLst xmlns:a="http://schemas.openxmlformats.org/drawingml/2006/main">
              <a:ext uri="{FF2B5EF4-FFF2-40B4-BE49-F238E27FC236}">
                <a16:creationId xmlns:a16="http://schemas.microsoft.com/office/drawing/2014/main" id="{C8CEA505-099E-48EE-9148-C7E18FF8F456}"/>
              </a:ext>
            </a:extLst>
          </p:cNvPr>
          <p:cNvSpPr>
            <a:spLocks xmlns:a="http://schemas.openxmlformats.org/drawingml/2006/main" noGrp="1"/>
          </p:cNvSpPr>
          <p:nvPr/>
        </p:nvSpPr>
        <p:spPr>
          <a:xfrm xmlns:a="http://schemas.openxmlformats.org/drawingml/2006/main">
            <a:off x="723900" y="4914900"/>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2D63FF"/>
                </a:solidFill>
                <a:latin typeface="DejaVu Sans"/>
                <a:ea typeface="DejaVu Sans"/>
                <a:cs typeface="DejaVu Sans"/>
              </a:defRPr>
            </a:pPr>
            <a:r>
              <a:rPr sz="1875" b="1">
                <a:solidFill>
                  <a:srgbClr val="2D63FF"/>
                </a:solidFill>
                <a:latin typeface="DejaVu Sans"/>
                <a:ea typeface="DejaVu Sans"/>
                <a:cs typeface="DejaVu Sans"/>
              </a:rPr>
              <a:t>6.</a:t>
            </a:r>
          </a:p>
        </p:txBody>
      </p:sp>
      <p:sp>
        <p:nvSpPr>
          <p:cNvPr id="17" name="item-6">
            <a:extLst xmlns:a="http://schemas.openxmlformats.org/drawingml/2006/main">
              <a:ext uri="{FF2B5EF4-FFF2-40B4-BE49-F238E27FC236}">
                <a16:creationId xmlns:a16="http://schemas.microsoft.com/office/drawing/2014/main" id="{B6FD188B-81DC-4261-AEFF-BE9D42CFC2C9}"/>
              </a:ext>
            </a:extLst>
          </p:cNvPr>
          <p:cNvSpPr>
            <a:spLocks xmlns:a="http://schemas.openxmlformats.org/drawingml/2006/main" noGrp="1"/>
          </p:cNvSpPr>
          <p:nvPr/>
        </p:nvSpPr>
        <p:spPr>
          <a:xfrm xmlns:a="http://schemas.openxmlformats.org/drawingml/2006/main">
            <a:off x="1352550" y="4914900"/>
            <a:ext cx="99250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01828"/>
                </a:solidFill>
                <a:latin typeface="DejaVu Sans"/>
                <a:ea typeface="DejaVu Sans"/>
                <a:cs typeface="DejaVu Sans"/>
              </a:defRPr>
            </a:pPr>
            <a:r>
              <a:rPr sz="1875" b="0">
                <a:solidFill>
                  <a:srgbClr val="101828"/>
                </a:solidFill>
                <a:latin typeface="DejaVu Sans"/>
                <a:ea typeface="DejaVu Sans"/>
                <a:cs typeface="DejaVu Sans"/>
              </a:rPr>
              <a:t>Accumulator: calculation results</a:t>
            </a:r>
          </a:p>
        </p:txBody>
      </p:sp>
      <p:sp>
        <p:nvSpPr>
          <p:cNvPr id="18" name="number-7">
            <a:extLst xmlns:a="http://schemas.openxmlformats.org/drawingml/2006/main">
              <a:ext uri="{FF2B5EF4-FFF2-40B4-BE49-F238E27FC236}">
                <a16:creationId xmlns:a16="http://schemas.microsoft.com/office/drawing/2014/main" id="{F3BBAF69-F358-4647-B7F6-B2064B7F4734}"/>
              </a:ext>
            </a:extLst>
          </p:cNvPr>
          <p:cNvSpPr>
            <a:spLocks xmlns:a="http://schemas.openxmlformats.org/drawingml/2006/main" noGrp="1"/>
          </p:cNvSpPr>
          <p:nvPr/>
        </p:nvSpPr>
        <p:spPr>
          <a:xfrm xmlns:a="http://schemas.openxmlformats.org/drawingml/2006/main">
            <a:off x="723900" y="5476875"/>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2D63FF"/>
                </a:solidFill>
                <a:latin typeface="DejaVu Sans"/>
                <a:ea typeface="DejaVu Sans"/>
                <a:cs typeface="DejaVu Sans"/>
              </a:defRPr>
            </a:pPr>
            <a:r>
              <a:rPr sz="1875" b="1">
                <a:solidFill>
                  <a:srgbClr val="2D63FF"/>
                </a:solidFill>
                <a:latin typeface="DejaVu Sans"/>
                <a:ea typeface="DejaVu Sans"/>
                <a:cs typeface="DejaVu Sans"/>
              </a:rPr>
              <a:t>7.</a:t>
            </a:r>
          </a:p>
        </p:txBody>
      </p:sp>
      <p:sp>
        <p:nvSpPr>
          <p:cNvPr id="19" name="item-7">
            <a:extLst xmlns:a="http://schemas.openxmlformats.org/drawingml/2006/main">
              <a:ext uri="{FF2B5EF4-FFF2-40B4-BE49-F238E27FC236}">
                <a16:creationId xmlns:a16="http://schemas.microsoft.com/office/drawing/2014/main" id="{96D5F031-6272-435B-8403-835E6F727772}"/>
              </a:ext>
            </a:extLst>
          </p:cNvPr>
          <p:cNvSpPr>
            <a:spLocks xmlns:a="http://schemas.openxmlformats.org/drawingml/2006/main" noGrp="1"/>
          </p:cNvSpPr>
          <p:nvPr/>
        </p:nvSpPr>
        <p:spPr>
          <a:xfrm xmlns:a="http://schemas.openxmlformats.org/drawingml/2006/main">
            <a:off x="1352550" y="5476875"/>
            <a:ext cx="99250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01828"/>
                </a:solidFill>
                <a:latin typeface="DejaVu Sans"/>
                <a:ea typeface="DejaVu Sans"/>
                <a:cs typeface="DejaVu Sans"/>
              </a:defRPr>
            </a:pPr>
            <a:r>
              <a:rPr sz="1875" b="0">
                <a:solidFill>
                  <a:srgbClr val="101828"/>
                </a:solidFill>
                <a:latin typeface="DejaVu Sans"/>
                <a:ea typeface="DejaVu Sans"/>
                <a:cs typeface="DejaVu Sans"/>
              </a:rPr>
              <a:t>Cache: frequently used data and instructions</a:t>
            </a:r>
          </a:p>
        </p:txBody>
      </p:sp>
    </p:spTree>
    <p:extLst>
      <p:ext uri="{BB962C8B-B14F-4D97-AF65-F5344CB8AC3E}">
        <p14:creationId xmlns:p14="http://schemas.microsoft.com/office/powerpoint/2010/main" val="127283529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opic">
            <a:extLst xmlns:a="http://schemas.openxmlformats.org/drawingml/2006/main">
              <a:ext uri="{FF2B5EF4-FFF2-40B4-BE49-F238E27FC236}">
                <a16:creationId xmlns:a16="http://schemas.microsoft.com/office/drawing/2014/main" id="{EE75E23C-C150-4CBF-8E5D-40C8E094D5C6}"/>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1.1   /   LESSON 02   /   PLENARY</a:t>
            </a:r>
          </a:p>
        </p:txBody>
      </p:sp>
      <p:sp>
        <p:nvSpPr>
          <p:cNvPr id="2" name="heading">
            <a:extLst xmlns:a="http://schemas.openxmlformats.org/drawingml/2006/main">
              <a:ext uri="{FF2B5EF4-FFF2-40B4-BE49-F238E27FC236}">
                <a16:creationId xmlns:a16="http://schemas.microsoft.com/office/drawing/2014/main" id="{7DAC5194-B01E-43EB-8718-F6ACE0A4B76B}"/>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Plenary: questions (a–b)</a:t>
            </a:r>
          </a:p>
        </p:txBody>
      </p:sp>
      <p:sp>
        <p:nvSpPr>
          <p:cNvPr id="3" name="footer">
            <a:extLst xmlns:a="http://schemas.openxmlformats.org/drawingml/2006/main">
              <a:ext uri="{FF2B5EF4-FFF2-40B4-BE49-F238E27FC236}">
                <a16:creationId xmlns:a16="http://schemas.microsoft.com/office/drawing/2014/main" id="{6D04FED0-39DC-4558-8E8F-5C41A8A82AB7}"/>
              </a:ext>
            </a:extLst>
          </p:cNvPr>
          <p:cNvSpPr>
            <a:spLocks xmlns:a="http://schemas.openxmlformats.org/drawingml/2006/main" noGrp="1"/>
          </p:cNvSpPr>
          <p:nvPr/>
        </p:nvSpPr>
        <p:spPr>
          <a:xfrm xmlns:a="http://schemas.openxmlformats.org/drawingml/2006/main">
            <a:off x="666750" y="6400800"/>
            <a:ext cx="981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Revise 360    OCR J277 1.1 Systems architecture</a:t>
            </a:r>
          </a:p>
        </p:txBody>
      </p:sp>
      <p:sp>
        <p:nvSpPr>
          <p:cNvPr id="4" name="page">
            <a:extLst xmlns:a="http://schemas.openxmlformats.org/drawingml/2006/main">
              <a:ext uri="{FF2B5EF4-FFF2-40B4-BE49-F238E27FC236}">
                <a16:creationId xmlns:a16="http://schemas.microsoft.com/office/drawing/2014/main" id="{4CC3F769-170F-49EF-92F5-A97A518C8267}"/>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16 / 20</a:t>
            </a:r>
          </a:p>
        </p:txBody>
      </p:sp>
      <p:sp>
        <p:nvSpPr>
          <p:cNvPr id="5" name="plenary-instruction">
            <a:extLst xmlns:a="http://schemas.openxmlformats.org/drawingml/2006/main">
              <a:ext uri="{FF2B5EF4-FFF2-40B4-BE49-F238E27FC236}">
                <a16:creationId xmlns:a16="http://schemas.microsoft.com/office/drawing/2014/main" id="{C0673370-79DB-4620-9047-C63C69AE5CDE}"/>
              </a:ext>
            </a:extLst>
          </p:cNvPr>
          <p:cNvSpPr>
            <a:spLocks xmlns:a="http://schemas.openxmlformats.org/drawingml/2006/main" noGrp="1"/>
          </p:cNvSpPr>
          <p:nvPr/>
        </p:nvSpPr>
        <p:spPr>
          <a:xfrm xmlns:a="http://schemas.openxmlformats.org/drawingml/2006/main">
            <a:off x="704850" y="156210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174"/>
                </a:solidFill>
                <a:latin typeface="DejaVu Sans"/>
                <a:ea typeface="DejaVu Sans"/>
                <a:cs typeface="DejaVu Sans"/>
              </a:defRPr>
            </a:pPr>
            <a:r>
              <a:rPr sz="1875" b="0">
                <a:solidFill>
                  <a:srgbClr val="526174"/>
                </a:solidFill>
                <a:latin typeface="DejaVu Sans"/>
                <a:ea typeface="DejaVu Sans"/>
                <a:cs typeface="DejaVu Sans"/>
              </a:rPr>
              <a:t>Take the headset off or close the page. Answer from memory on the worksheet.</a:t>
            </a:r>
          </a:p>
        </p:txBody>
      </p:sp>
      <p:sp>
        <p:nvSpPr>
          <p:cNvPr id="6" name="a">
            <a:extLst xmlns:a="http://schemas.openxmlformats.org/drawingml/2006/main">
              <a:ext uri="{FF2B5EF4-FFF2-40B4-BE49-F238E27FC236}">
                <a16:creationId xmlns:a16="http://schemas.microsoft.com/office/drawing/2014/main" id="{D9C8BA45-C6E9-4EAF-A8B0-BB53845A65B9}"/>
              </a:ext>
            </a:extLst>
          </p:cNvPr>
          <p:cNvSpPr>
            <a:spLocks xmlns:a="http://schemas.openxmlformats.org/drawingml/2006/main" noGrp="1"/>
          </p:cNvSpPr>
          <p:nvPr/>
        </p:nvSpPr>
        <p:spPr>
          <a:xfrm xmlns:a="http://schemas.openxmlformats.org/drawingml/2006/main">
            <a:off x="733425" y="2581275"/>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2D63FF"/>
                </a:solidFill>
                <a:latin typeface="DejaVu Sans"/>
                <a:ea typeface="DejaVu Sans"/>
                <a:cs typeface="DejaVu Sans"/>
              </a:defRPr>
            </a:pPr>
            <a:r>
              <a:rPr sz="2250" b="1">
                <a:solidFill>
                  <a:srgbClr val="2D63FF"/>
                </a:solidFill>
                <a:latin typeface="DejaVu Sans"/>
                <a:ea typeface="DejaVu Sans"/>
                <a:cs typeface="DejaVu Sans"/>
              </a:rPr>
              <a:t>a)</a:t>
            </a:r>
          </a:p>
        </p:txBody>
      </p:sp>
      <p:sp>
        <p:nvSpPr>
          <p:cNvPr id="7" name="question-a">
            <a:extLst xmlns:a="http://schemas.openxmlformats.org/drawingml/2006/main">
              <a:ext uri="{FF2B5EF4-FFF2-40B4-BE49-F238E27FC236}">
                <a16:creationId xmlns:a16="http://schemas.microsoft.com/office/drawing/2014/main" id="{68BEB1E8-303F-4264-90FB-ABCB09898371}"/>
              </a:ext>
            </a:extLst>
          </p:cNvPr>
          <p:cNvSpPr>
            <a:spLocks xmlns:a="http://schemas.openxmlformats.org/drawingml/2006/main" noGrp="1"/>
          </p:cNvSpPr>
          <p:nvPr/>
        </p:nvSpPr>
        <p:spPr>
          <a:xfrm xmlns:a="http://schemas.openxmlformats.org/drawingml/2006/main">
            <a:off x="1343025" y="2581275"/>
            <a:ext cx="99441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01828"/>
                </a:solidFill>
                <a:latin typeface="DejaVu Sans"/>
                <a:ea typeface="DejaVu Sans"/>
                <a:cs typeface="DejaVu Sans"/>
              </a:defRPr>
            </a:pPr>
            <a:r>
              <a:rPr sz="2175" b="0">
                <a:solidFill>
                  <a:srgbClr val="101828"/>
                </a:solidFill>
                <a:latin typeface="DejaVu Sans"/>
                <a:ea typeface="DejaVu Sans"/>
                <a:cs typeface="DejaVu Sans"/>
              </a:rPr>
              <a:t>Name the register that holds the address of the next instruction to be fetched. [1]</a:t>
            </a:r>
          </a:p>
        </p:txBody>
      </p:sp>
      <p:sp>
        <p:nvSpPr>
          <p:cNvPr id="8" name="b">
            <a:extLst xmlns:a="http://schemas.openxmlformats.org/drawingml/2006/main">
              <a:ext uri="{FF2B5EF4-FFF2-40B4-BE49-F238E27FC236}">
                <a16:creationId xmlns:a16="http://schemas.microsoft.com/office/drawing/2014/main" id="{35FEB3BC-601A-4E40-9C5C-ADC72E557AE9}"/>
              </a:ext>
            </a:extLst>
          </p:cNvPr>
          <p:cNvSpPr>
            <a:spLocks xmlns:a="http://schemas.openxmlformats.org/drawingml/2006/main" noGrp="1"/>
          </p:cNvSpPr>
          <p:nvPr/>
        </p:nvSpPr>
        <p:spPr>
          <a:xfrm xmlns:a="http://schemas.openxmlformats.org/drawingml/2006/main">
            <a:off x="733425" y="4143375"/>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2D63FF"/>
                </a:solidFill>
                <a:latin typeface="DejaVu Sans"/>
                <a:ea typeface="DejaVu Sans"/>
                <a:cs typeface="DejaVu Sans"/>
              </a:defRPr>
            </a:pPr>
            <a:r>
              <a:rPr sz="2250" b="1">
                <a:solidFill>
                  <a:srgbClr val="2D63FF"/>
                </a:solidFill>
                <a:latin typeface="DejaVu Sans"/>
                <a:ea typeface="DejaVu Sans"/>
                <a:cs typeface="DejaVu Sans"/>
              </a:rPr>
              <a:t>b)</a:t>
            </a:r>
          </a:p>
        </p:txBody>
      </p:sp>
      <p:sp>
        <p:nvSpPr>
          <p:cNvPr id="9" name="question-b">
            <a:extLst xmlns:a="http://schemas.openxmlformats.org/drawingml/2006/main">
              <a:ext uri="{FF2B5EF4-FFF2-40B4-BE49-F238E27FC236}">
                <a16:creationId xmlns:a16="http://schemas.microsoft.com/office/drawing/2014/main" id="{DF776C3A-DEB0-4974-9DE2-32B4943FD4F9}"/>
              </a:ext>
            </a:extLst>
          </p:cNvPr>
          <p:cNvSpPr>
            <a:spLocks xmlns:a="http://schemas.openxmlformats.org/drawingml/2006/main" noGrp="1"/>
          </p:cNvSpPr>
          <p:nvPr/>
        </p:nvSpPr>
        <p:spPr>
          <a:xfrm xmlns:a="http://schemas.openxmlformats.org/drawingml/2006/main">
            <a:off x="1343025" y="4143375"/>
            <a:ext cx="99441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01828"/>
                </a:solidFill>
                <a:latin typeface="DejaVu Sans"/>
                <a:ea typeface="DejaVu Sans"/>
                <a:cs typeface="DejaVu Sans"/>
              </a:defRPr>
            </a:pPr>
            <a:r>
              <a:rPr sz="2175" b="0">
                <a:solidFill>
                  <a:srgbClr val="101828"/>
                </a:solidFill>
                <a:latin typeface="DejaVu Sans"/>
                <a:ea typeface="DejaVu Sans"/>
                <a:cs typeface="DejaVu Sans"/>
              </a:rPr>
              <a:t>Describe what the memory data register holds and when it is used. [2]</a:t>
            </a:r>
          </a:p>
        </p:txBody>
      </p:sp>
    </p:spTree>
    <p:extLst>
      <p:ext uri="{BB962C8B-B14F-4D97-AF65-F5344CB8AC3E}">
        <p14:creationId xmlns:p14="http://schemas.microsoft.com/office/powerpoint/2010/main" val="125489016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opic">
            <a:extLst xmlns:a="http://schemas.openxmlformats.org/drawingml/2006/main">
              <a:ext uri="{FF2B5EF4-FFF2-40B4-BE49-F238E27FC236}">
                <a16:creationId xmlns:a16="http://schemas.microsoft.com/office/drawing/2014/main" id="{5F4B1E46-0BEA-4F23-9C99-585260C7F45B}"/>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1.1   /   LESSON 02   /   PLENARY</a:t>
            </a:r>
          </a:p>
        </p:txBody>
      </p:sp>
      <p:sp>
        <p:nvSpPr>
          <p:cNvPr id="2" name="heading">
            <a:extLst xmlns:a="http://schemas.openxmlformats.org/drawingml/2006/main">
              <a:ext uri="{FF2B5EF4-FFF2-40B4-BE49-F238E27FC236}">
                <a16:creationId xmlns:a16="http://schemas.microsoft.com/office/drawing/2014/main" id="{4890A64A-129C-40FB-856F-E36AC5D7B4B5}"/>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Plenary: question (c)</a:t>
            </a:r>
          </a:p>
        </p:txBody>
      </p:sp>
      <p:sp>
        <p:nvSpPr>
          <p:cNvPr id="3" name="footer">
            <a:extLst xmlns:a="http://schemas.openxmlformats.org/drawingml/2006/main">
              <a:ext uri="{FF2B5EF4-FFF2-40B4-BE49-F238E27FC236}">
                <a16:creationId xmlns:a16="http://schemas.microsoft.com/office/drawing/2014/main" id="{67EC1C3C-FD3D-4518-B68B-7798BFD3E5C8}"/>
              </a:ext>
            </a:extLst>
          </p:cNvPr>
          <p:cNvSpPr>
            <a:spLocks xmlns:a="http://schemas.openxmlformats.org/drawingml/2006/main" noGrp="1"/>
          </p:cNvSpPr>
          <p:nvPr/>
        </p:nvSpPr>
        <p:spPr>
          <a:xfrm xmlns:a="http://schemas.openxmlformats.org/drawingml/2006/main">
            <a:off x="666750" y="6400800"/>
            <a:ext cx="981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Revise 360    OCR J277 1.1 Systems architecture</a:t>
            </a:r>
          </a:p>
        </p:txBody>
      </p:sp>
      <p:sp>
        <p:nvSpPr>
          <p:cNvPr id="4" name="page">
            <a:extLst xmlns:a="http://schemas.openxmlformats.org/drawingml/2006/main">
              <a:ext uri="{FF2B5EF4-FFF2-40B4-BE49-F238E27FC236}">
                <a16:creationId xmlns:a16="http://schemas.microsoft.com/office/drawing/2014/main" id="{B619AB49-CF47-4E62-BAFE-C1D4BD2E0034}"/>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17 / 20</a:t>
            </a:r>
          </a:p>
        </p:txBody>
      </p:sp>
      <p:sp>
        <p:nvSpPr>
          <p:cNvPr id="5" name="from-memory">
            <a:extLst xmlns:a="http://schemas.openxmlformats.org/drawingml/2006/main">
              <a:ext uri="{FF2B5EF4-FFF2-40B4-BE49-F238E27FC236}">
                <a16:creationId xmlns:a16="http://schemas.microsoft.com/office/drawing/2014/main" id="{A73C7ABB-0210-477F-A3FE-36A41075873E}"/>
              </a:ext>
            </a:extLst>
          </p:cNvPr>
          <p:cNvSpPr>
            <a:spLocks xmlns:a="http://schemas.openxmlformats.org/drawingml/2006/main" noGrp="1"/>
          </p:cNvSpPr>
          <p:nvPr/>
        </p:nvSpPr>
        <p:spPr>
          <a:xfrm xmlns:a="http://schemas.openxmlformats.org/drawingml/2006/main">
            <a:off x="704850" y="1600200"/>
            <a:ext cx="10715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174"/>
                </a:solidFill>
                <a:latin typeface="DejaVu Sans"/>
                <a:ea typeface="DejaVu Sans"/>
                <a:cs typeface="DejaVu Sans"/>
              </a:defRPr>
            </a:pPr>
            <a:r>
              <a:rPr sz="1875" b="0">
                <a:solidFill>
                  <a:srgbClr val="526174"/>
                </a:solidFill>
                <a:latin typeface="DejaVu Sans"/>
                <a:ea typeface="DejaVu Sans"/>
                <a:cs typeface="DejaVu Sans"/>
              </a:rPr>
              <a:t>Keep the experience closed. Explain your reasoning in full sentences.</a:t>
            </a:r>
          </a:p>
        </p:txBody>
      </p:sp>
      <p:sp>
        <p:nvSpPr>
          <p:cNvPr id="6" name="c">
            <a:extLst xmlns:a="http://schemas.openxmlformats.org/drawingml/2006/main">
              <a:ext uri="{FF2B5EF4-FFF2-40B4-BE49-F238E27FC236}">
                <a16:creationId xmlns:a16="http://schemas.microsoft.com/office/drawing/2014/main" id="{5F34D69E-2F9B-4A3A-B3D8-29F5D5AD8672}"/>
              </a:ext>
            </a:extLst>
          </p:cNvPr>
          <p:cNvSpPr>
            <a:spLocks xmlns:a="http://schemas.openxmlformats.org/drawingml/2006/main" noGrp="1"/>
          </p:cNvSpPr>
          <p:nvPr/>
        </p:nvSpPr>
        <p:spPr>
          <a:xfrm xmlns:a="http://schemas.openxmlformats.org/drawingml/2006/main">
            <a:off x="733425" y="2781300"/>
            <a:ext cx="6096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2D63FF"/>
                </a:solidFill>
                <a:latin typeface="DejaVu Sans"/>
                <a:ea typeface="DejaVu Sans"/>
                <a:cs typeface="DejaVu Sans"/>
              </a:defRPr>
            </a:pPr>
            <a:r>
              <a:rPr sz="2400" b="1">
                <a:solidFill>
                  <a:srgbClr val="2D63FF"/>
                </a:solidFill>
                <a:latin typeface="DejaVu Sans"/>
                <a:ea typeface="DejaVu Sans"/>
                <a:cs typeface="DejaVu Sans"/>
              </a:rPr>
              <a:t>c)</a:t>
            </a:r>
          </a:p>
        </p:txBody>
      </p:sp>
      <p:sp>
        <p:nvSpPr>
          <p:cNvPr id="7" name="question-c">
            <a:extLst xmlns:a="http://schemas.openxmlformats.org/drawingml/2006/main">
              <a:ext uri="{FF2B5EF4-FFF2-40B4-BE49-F238E27FC236}">
                <a16:creationId xmlns:a16="http://schemas.microsoft.com/office/drawing/2014/main" id="{632C5B30-7B54-46F6-B5D4-42C6B1CB4B7F}"/>
              </a:ext>
            </a:extLst>
          </p:cNvPr>
          <p:cNvSpPr>
            <a:spLocks xmlns:a="http://schemas.openxmlformats.org/drawingml/2006/main" noGrp="1"/>
          </p:cNvSpPr>
          <p:nvPr/>
        </p:nvSpPr>
        <p:spPr>
          <a:xfrm xmlns:a="http://schemas.openxmlformats.org/drawingml/2006/main">
            <a:off x="1381125" y="2781300"/>
            <a:ext cx="98679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0">
                <a:solidFill>
                  <a:srgbClr val="101828"/>
                </a:solidFill>
                <a:latin typeface="DejaVu Sans"/>
                <a:ea typeface="DejaVu Sans"/>
                <a:cs typeface="DejaVu Sans"/>
              </a:defRPr>
            </a:pPr>
            <a:r>
              <a:rPr sz="2475" b="0">
                <a:solidFill>
                  <a:srgbClr val="101828"/>
                </a:solidFill>
                <a:latin typeface="DejaVu Sans"/>
                <a:ea typeface="DejaVu Sans"/>
                <a:cs typeface="DejaVu Sans"/>
              </a:rPr>
              <a:t>Explain what happens during each of the three stages of the fetch-decode-execute cycle. [6]</a:t>
            </a:r>
          </a:p>
        </p:txBody>
      </p:sp>
      <p:sp>
        <p:nvSpPr>
          <p:cNvPr id="8" name="marks">
            <a:extLst xmlns:a="http://schemas.openxmlformats.org/drawingml/2006/main">
              <a:ext uri="{FF2B5EF4-FFF2-40B4-BE49-F238E27FC236}">
                <a16:creationId xmlns:a16="http://schemas.microsoft.com/office/drawing/2014/main" id="{8FCC74CA-5C8D-4F63-BB04-39F7A3DBFB60}"/>
              </a:ext>
            </a:extLst>
          </p:cNvPr>
          <p:cNvSpPr>
            <a:spLocks xmlns:a="http://schemas.openxmlformats.org/drawingml/2006/main" noGrp="1"/>
          </p:cNvSpPr>
          <p:nvPr/>
        </p:nvSpPr>
        <p:spPr>
          <a:xfrm xmlns:a="http://schemas.openxmlformats.org/drawingml/2006/main">
            <a:off x="733425" y="5438775"/>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26174"/>
                </a:solidFill>
                <a:latin typeface="DejaVu Sans"/>
                <a:ea typeface="DejaVu Sans"/>
                <a:cs typeface="DejaVu Sans"/>
              </a:defRPr>
            </a:pPr>
            <a:r>
              <a:rPr sz="1800" b="0">
                <a:solidFill>
                  <a:srgbClr val="526174"/>
                </a:solidFill>
                <a:latin typeface="DejaVu Sans"/>
                <a:ea typeface="DejaVu Sans"/>
                <a:cs typeface="DejaVu Sans"/>
              </a:rPr>
              <a:t>Use the marks in brackets to judge how much detail to include.</a:t>
            </a:r>
          </a:p>
        </p:txBody>
      </p:sp>
    </p:spTree>
    <p:extLst>
      <p:ext uri="{BB962C8B-B14F-4D97-AF65-F5344CB8AC3E}">
        <p14:creationId xmlns:p14="http://schemas.microsoft.com/office/powerpoint/2010/main" val="2050877173"/>
      </p:ext>
    </p:extLst>
  </p:cSld>
</p:sld>
</file>

<file path=ppt/slides/slide18.xml><?xml version="1.0" encoding="utf-8"?>
<p:sld xmlns:p="http://schemas.openxmlformats.org/presentationml/2006/main">
  <p:cSld>
    <p:bg>
      <p:bgPr>
        <a:solidFill xmlns:a="http://schemas.openxmlformats.org/drawingml/2006/main">
          <a:srgbClr val="EAF3FF"/>
        </a:solidFill>
      </p:bgPr>
    </p:bg>
    <p:spTree>
      <p:nvGrpSpPr>
        <p:cNvPr id="1" name=""/>
        <p:cNvGrpSpPr/>
        <p:nvPr/>
      </p:nvGrpSpPr>
      <p:grpSpPr>
        <a:xfrm xmlns:a="http://schemas.openxmlformats.org/drawingml/2006/main"/>
      </p:grpSpPr>
      <p:sp>
        <p:nvSpPr>
          <p:cNvPr id="8" name="topic">
            <a:extLst xmlns:a="http://schemas.openxmlformats.org/drawingml/2006/main">
              <a:ext uri="{FF2B5EF4-FFF2-40B4-BE49-F238E27FC236}">
                <a16:creationId xmlns:a16="http://schemas.microsoft.com/office/drawing/2014/main" id="{5E00059E-19B2-49E4-91EA-70EC6809BFDB}"/>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1.1   /   LESSON 02   /   CHECK</a:t>
            </a:r>
          </a:p>
        </p:txBody>
      </p:sp>
      <p:sp>
        <p:nvSpPr>
          <p:cNvPr id="2" name="heading">
            <a:extLst xmlns:a="http://schemas.openxmlformats.org/drawingml/2006/main">
              <a:ext uri="{FF2B5EF4-FFF2-40B4-BE49-F238E27FC236}">
                <a16:creationId xmlns:a16="http://schemas.microsoft.com/office/drawing/2014/main" id="{17D21BB1-4FD3-41AD-ABDD-433A0F0AEDA0}"/>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Plenary: answers (a–b)</a:t>
            </a:r>
          </a:p>
        </p:txBody>
      </p:sp>
      <p:sp>
        <p:nvSpPr>
          <p:cNvPr id="3" name="footer">
            <a:extLst xmlns:a="http://schemas.openxmlformats.org/drawingml/2006/main">
              <a:ext uri="{FF2B5EF4-FFF2-40B4-BE49-F238E27FC236}">
                <a16:creationId xmlns:a16="http://schemas.microsoft.com/office/drawing/2014/main" id="{C4D1CBE0-12D4-445B-93C7-2A60AD705554}"/>
              </a:ext>
            </a:extLst>
          </p:cNvPr>
          <p:cNvSpPr>
            <a:spLocks xmlns:a="http://schemas.openxmlformats.org/drawingml/2006/main" noGrp="1"/>
          </p:cNvSpPr>
          <p:nvPr/>
        </p:nvSpPr>
        <p:spPr>
          <a:xfrm xmlns:a="http://schemas.openxmlformats.org/drawingml/2006/main">
            <a:off x="666750" y="6400800"/>
            <a:ext cx="981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Revise 360    OCR J277 1.1 Systems architecture</a:t>
            </a:r>
          </a:p>
        </p:txBody>
      </p:sp>
      <p:sp>
        <p:nvSpPr>
          <p:cNvPr id="4" name="page">
            <a:extLst xmlns:a="http://schemas.openxmlformats.org/drawingml/2006/main">
              <a:ext uri="{FF2B5EF4-FFF2-40B4-BE49-F238E27FC236}">
                <a16:creationId xmlns:a16="http://schemas.microsoft.com/office/drawing/2014/main" id="{AF74688D-6931-443D-911B-31D8DB6EF6B8}"/>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18 / 20</a:t>
            </a:r>
          </a:p>
        </p:txBody>
      </p:sp>
      <p:sp>
        <p:nvSpPr>
          <p:cNvPr id="5" name="scheme-intro">
            <a:extLst xmlns:a="http://schemas.openxmlformats.org/drawingml/2006/main">
              <a:ext uri="{FF2B5EF4-FFF2-40B4-BE49-F238E27FC236}">
                <a16:creationId xmlns:a16="http://schemas.microsoft.com/office/drawing/2014/main" id="{8EF8BADD-2409-400D-A485-F7CEEBE14F5D}"/>
              </a:ext>
            </a:extLst>
          </p:cNvPr>
          <p:cNvSpPr>
            <a:spLocks xmlns:a="http://schemas.openxmlformats.org/drawingml/2006/main" noGrp="1"/>
          </p:cNvSpPr>
          <p:nvPr/>
        </p:nvSpPr>
        <p:spPr>
          <a:xfrm xmlns:a="http://schemas.openxmlformats.org/drawingml/2006/main">
            <a:off x="704850" y="1543050"/>
            <a:ext cx="10715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26174"/>
                </a:solidFill>
                <a:latin typeface="DejaVu Sans"/>
                <a:ea typeface="DejaVu Sans"/>
                <a:cs typeface="DejaVu Sans"/>
              </a:defRPr>
            </a:pPr>
            <a:r>
              <a:rPr sz="1800" b="0">
                <a:solidFill>
                  <a:srgbClr val="526174"/>
                </a:solidFill>
                <a:latin typeface="DejaVu Sans"/>
                <a:ea typeface="DejaVu Sans"/>
                <a:cs typeface="DejaVu Sans"/>
              </a:rPr>
              <a:t>Indicative points. Credit accurate answers in students’ own words.</a:t>
            </a:r>
          </a:p>
        </p:txBody>
      </p:sp>
      <p:sp>
        <p:nvSpPr>
          <p:cNvPr id="6" name="scheme-a">
            <a:extLst xmlns:a="http://schemas.openxmlformats.org/drawingml/2006/main">
              <a:ext uri="{FF2B5EF4-FFF2-40B4-BE49-F238E27FC236}">
                <a16:creationId xmlns:a16="http://schemas.microsoft.com/office/drawing/2014/main" id="{860FE0D0-6C74-4875-9F00-C812F2E6B4A5}"/>
              </a:ext>
            </a:extLst>
          </p:cNvPr>
          <p:cNvSpPr>
            <a:spLocks xmlns:a="http://schemas.openxmlformats.org/drawingml/2006/main" noGrp="1"/>
          </p:cNvSpPr>
          <p:nvPr/>
        </p:nvSpPr>
        <p:spPr>
          <a:xfrm xmlns:a="http://schemas.openxmlformats.org/drawingml/2006/main">
            <a:off x="723900" y="2457450"/>
            <a:ext cx="105727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01828"/>
                </a:solidFill>
                <a:latin typeface="DejaVu Sans"/>
                <a:ea typeface="DejaVu Sans"/>
                <a:cs typeface="DejaVu Sans"/>
              </a:defRPr>
            </a:pPr>
            <a:r>
              <a:rPr sz="2025" b="0">
                <a:solidFill>
                  <a:srgbClr val="101828"/>
                </a:solidFill>
                <a:latin typeface="DejaVu Sans"/>
                <a:ea typeface="DejaVu Sans"/>
                <a:cs typeface="DejaVu Sans"/>
              </a:rPr>
              <a:t>a  Program counter (PC).</a:t>
            </a:r>
          </a:p>
        </p:txBody>
      </p:sp>
      <p:sp>
        <p:nvSpPr>
          <p:cNvPr id="7" name="scheme-b">
            <a:extLst xmlns:a="http://schemas.openxmlformats.org/drawingml/2006/main">
              <a:ext uri="{FF2B5EF4-FFF2-40B4-BE49-F238E27FC236}">
                <a16:creationId xmlns:a16="http://schemas.microsoft.com/office/drawing/2014/main" id="{0F0F57F0-982F-45C9-96C5-BDDFE0257EFE}"/>
              </a:ext>
            </a:extLst>
          </p:cNvPr>
          <p:cNvSpPr>
            <a:spLocks xmlns:a="http://schemas.openxmlformats.org/drawingml/2006/main" noGrp="1"/>
          </p:cNvSpPr>
          <p:nvPr/>
        </p:nvSpPr>
        <p:spPr>
          <a:xfrm xmlns:a="http://schemas.openxmlformats.org/drawingml/2006/main">
            <a:off x="723900" y="4086225"/>
            <a:ext cx="10572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01828"/>
                </a:solidFill>
                <a:latin typeface="DejaVu Sans"/>
                <a:ea typeface="DejaVu Sans"/>
                <a:cs typeface="DejaVu Sans"/>
              </a:defRPr>
            </a:pPr>
            <a:r>
              <a:rPr sz="1950" b="0">
                <a:solidFill>
                  <a:srgbClr val="101828"/>
                </a:solidFill>
                <a:latin typeface="DejaVu Sans"/>
                <a:ea typeface="DejaVu Sans"/>
                <a:cs typeface="DejaVu Sans"/>
              </a:rPr>
              <a:t>b  The MDR holds data or an instruction fetched from memory, or data waiting to be written. It is used during transfer between main memory and the CPU.</a:t>
            </a:r>
          </a:p>
        </p:txBody>
      </p:sp>
    </p:spTree>
    <p:extLst>
      <p:ext uri="{BB962C8B-B14F-4D97-AF65-F5344CB8AC3E}">
        <p14:creationId xmlns:p14="http://schemas.microsoft.com/office/powerpoint/2010/main" val="1119938275"/>
      </p:ext>
    </p:extLst>
  </p:cSld>
</p:sld>
</file>

<file path=ppt/slides/slide19.xml><?xml version="1.0" encoding="utf-8"?>
<p:sld xmlns:p="http://schemas.openxmlformats.org/presentationml/2006/main">
  <p:cSld>
    <p:bg>
      <p:bgPr>
        <a:solidFill xmlns:a="http://schemas.openxmlformats.org/drawingml/2006/main">
          <a:srgbClr val="EAF3FF"/>
        </a:solidFill>
      </p:bgPr>
    </p:bg>
    <p:spTree>
      <p:nvGrpSpPr>
        <p:cNvPr id="1" name=""/>
        <p:cNvGrpSpPr/>
        <p:nvPr/>
      </p:nvGrpSpPr>
      <p:grpSpPr>
        <a:xfrm xmlns:a="http://schemas.openxmlformats.org/drawingml/2006/main"/>
      </p:grpSpPr>
      <p:sp>
        <p:nvSpPr>
          <p:cNvPr id="12" name="topic">
            <a:extLst xmlns:a="http://schemas.openxmlformats.org/drawingml/2006/main">
              <a:ext uri="{FF2B5EF4-FFF2-40B4-BE49-F238E27FC236}">
                <a16:creationId xmlns:a16="http://schemas.microsoft.com/office/drawing/2014/main" id="{02E6C70A-67F3-435A-BDDA-1F68AF983142}"/>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1.1   /   LESSON 02   /   CHECK</a:t>
            </a:r>
          </a:p>
        </p:txBody>
      </p:sp>
      <p:sp>
        <p:nvSpPr>
          <p:cNvPr id="2" name="heading">
            <a:extLst xmlns:a="http://schemas.openxmlformats.org/drawingml/2006/main">
              <a:ext uri="{FF2B5EF4-FFF2-40B4-BE49-F238E27FC236}">
                <a16:creationId xmlns:a16="http://schemas.microsoft.com/office/drawing/2014/main" id="{61F1C04D-F220-4953-BF81-2FE28BEE9EAC}"/>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Plenary: answer (c)</a:t>
            </a:r>
          </a:p>
        </p:txBody>
      </p:sp>
      <p:sp>
        <p:nvSpPr>
          <p:cNvPr id="3" name="footer">
            <a:extLst xmlns:a="http://schemas.openxmlformats.org/drawingml/2006/main">
              <a:ext uri="{FF2B5EF4-FFF2-40B4-BE49-F238E27FC236}">
                <a16:creationId xmlns:a16="http://schemas.microsoft.com/office/drawing/2014/main" id="{27D5F509-879A-4D6F-93AE-659E665C19E0}"/>
              </a:ext>
            </a:extLst>
          </p:cNvPr>
          <p:cNvSpPr>
            <a:spLocks xmlns:a="http://schemas.openxmlformats.org/drawingml/2006/main" noGrp="1"/>
          </p:cNvSpPr>
          <p:nvPr/>
        </p:nvSpPr>
        <p:spPr>
          <a:xfrm xmlns:a="http://schemas.openxmlformats.org/drawingml/2006/main">
            <a:off x="666750" y="6400800"/>
            <a:ext cx="981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Revise 360    OCR J277 1.1 Systems architecture</a:t>
            </a:r>
          </a:p>
        </p:txBody>
      </p:sp>
      <p:sp>
        <p:nvSpPr>
          <p:cNvPr id="4" name="page">
            <a:extLst xmlns:a="http://schemas.openxmlformats.org/drawingml/2006/main">
              <a:ext uri="{FF2B5EF4-FFF2-40B4-BE49-F238E27FC236}">
                <a16:creationId xmlns:a16="http://schemas.microsoft.com/office/drawing/2014/main" id="{9D3CDBA6-46DA-46C3-8826-8958F98F988A}"/>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19 / 20</a:t>
            </a:r>
          </a:p>
        </p:txBody>
      </p:sp>
      <p:sp>
        <p:nvSpPr>
          <p:cNvPr id="5" name="scheme-intro">
            <a:extLst xmlns:a="http://schemas.openxmlformats.org/drawingml/2006/main">
              <a:ext uri="{FF2B5EF4-FFF2-40B4-BE49-F238E27FC236}">
                <a16:creationId xmlns:a16="http://schemas.microsoft.com/office/drawing/2014/main" id="{3D170219-5D58-4532-80CB-A6A353376115}"/>
              </a:ext>
            </a:extLst>
          </p:cNvPr>
          <p:cNvSpPr>
            <a:spLocks xmlns:a="http://schemas.openxmlformats.org/drawingml/2006/main" noGrp="1"/>
          </p:cNvSpPr>
          <p:nvPr/>
        </p:nvSpPr>
        <p:spPr>
          <a:xfrm xmlns:a="http://schemas.openxmlformats.org/drawingml/2006/main">
            <a:off x="704850" y="1533525"/>
            <a:ext cx="10715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26174"/>
                </a:solidFill>
                <a:latin typeface="DejaVu Sans"/>
                <a:ea typeface="DejaVu Sans"/>
                <a:cs typeface="DejaVu Sans"/>
              </a:defRPr>
            </a:pPr>
            <a:r>
              <a:rPr sz="1800" b="0">
                <a:solidFill>
                  <a:srgbClr val="526174"/>
                </a:solidFill>
                <a:latin typeface="DejaVu Sans"/>
                <a:ea typeface="DejaVu Sans"/>
                <a:cs typeface="DejaVu Sans"/>
              </a:rPr>
              <a:t>Indicative points for the final question.</a:t>
            </a:r>
          </a:p>
        </p:txBody>
      </p:sp>
      <p:sp>
        <p:nvSpPr>
          <p:cNvPr id="6" name="number-1">
            <a:extLst xmlns:a="http://schemas.openxmlformats.org/drawingml/2006/main">
              <a:ext uri="{FF2B5EF4-FFF2-40B4-BE49-F238E27FC236}">
                <a16:creationId xmlns:a16="http://schemas.microsoft.com/office/drawing/2014/main" id="{3020FF74-0F77-493B-9CCB-257ED4C4FD7B}"/>
              </a:ext>
            </a:extLst>
          </p:cNvPr>
          <p:cNvSpPr>
            <a:spLocks xmlns:a="http://schemas.openxmlformats.org/drawingml/2006/main" noGrp="1"/>
          </p:cNvSpPr>
          <p:nvPr/>
        </p:nvSpPr>
        <p:spPr>
          <a:xfrm xmlns:a="http://schemas.openxmlformats.org/drawingml/2006/main">
            <a:off x="723900" y="2486025"/>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D63FF"/>
                </a:solidFill>
                <a:latin typeface="DejaVu Sans"/>
                <a:ea typeface="DejaVu Sans"/>
                <a:cs typeface="DejaVu Sans"/>
              </a:defRPr>
            </a:pPr>
            <a:r>
              <a:rPr sz="1950" b="1">
                <a:solidFill>
                  <a:srgbClr val="2D63FF"/>
                </a:solidFill>
                <a:latin typeface="DejaVu Sans"/>
                <a:ea typeface="DejaVu Sans"/>
                <a:cs typeface="DejaVu Sans"/>
              </a:rPr>
              <a:t>1.</a:t>
            </a:r>
          </a:p>
        </p:txBody>
      </p:sp>
      <p:sp>
        <p:nvSpPr>
          <p:cNvPr id="7" name="item-1">
            <a:extLst xmlns:a="http://schemas.openxmlformats.org/drawingml/2006/main">
              <a:ext uri="{FF2B5EF4-FFF2-40B4-BE49-F238E27FC236}">
                <a16:creationId xmlns:a16="http://schemas.microsoft.com/office/drawing/2014/main" id="{4061704D-A5C1-44A2-8D21-6D23CE3BB22D}"/>
              </a:ext>
            </a:extLst>
          </p:cNvPr>
          <p:cNvSpPr>
            <a:spLocks xmlns:a="http://schemas.openxmlformats.org/drawingml/2006/main" noGrp="1"/>
          </p:cNvSpPr>
          <p:nvPr/>
        </p:nvSpPr>
        <p:spPr>
          <a:xfrm xmlns:a="http://schemas.openxmlformats.org/drawingml/2006/main">
            <a:off x="1352550" y="2486025"/>
            <a:ext cx="99250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01828"/>
                </a:solidFill>
                <a:latin typeface="DejaVu Sans"/>
                <a:ea typeface="DejaVu Sans"/>
                <a:cs typeface="DejaVu Sans"/>
              </a:defRPr>
            </a:pPr>
            <a:r>
              <a:rPr sz="1950" b="0">
                <a:solidFill>
                  <a:srgbClr val="101828"/>
                </a:solidFill>
                <a:latin typeface="DejaVu Sans"/>
                <a:ea typeface="DejaVu Sans"/>
                <a:cs typeface="DejaVu Sans"/>
              </a:rPr>
              <a:t>Fetch: the PC address goes to the MAR; the instruction arrives from RAM in the MDR; the PC increments.</a:t>
            </a:r>
          </a:p>
        </p:txBody>
      </p:sp>
      <p:sp>
        <p:nvSpPr>
          <p:cNvPr id="8" name="number-2">
            <a:extLst xmlns:a="http://schemas.openxmlformats.org/drawingml/2006/main">
              <a:ext uri="{FF2B5EF4-FFF2-40B4-BE49-F238E27FC236}">
                <a16:creationId xmlns:a16="http://schemas.microsoft.com/office/drawing/2014/main" id="{1F1FA1A2-36CE-492C-BBA9-C9D296ACC433}"/>
              </a:ext>
            </a:extLst>
          </p:cNvPr>
          <p:cNvSpPr>
            <a:spLocks xmlns:a="http://schemas.openxmlformats.org/drawingml/2006/main" noGrp="1"/>
          </p:cNvSpPr>
          <p:nvPr/>
        </p:nvSpPr>
        <p:spPr>
          <a:xfrm xmlns:a="http://schemas.openxmlformats.org/drawingml/2006/main">
            <a:off x="723900" y="3590925"/>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D63FF"/>
                </a:solidFill>
                <a:latin typeface="DejaVu Sans"/>
                <a:ea typeface="DejaVu Sans"/>
                <a:cs typeface="DejaVu Sans"/>
              </a:defRPr>
            </a:pPr>
            <a:r>
              <a:rPr sz="1950" b="1">
                <a:solidFill>
                  <a:srgbClr val="2D63FF"/>
                </a:solidFill>
                <a:latin typeface="DejaVu Sans"/>
                <a:ea typeface="DejaVu Sans"/>
                <a:cs typeface="DejaVu Sans"/>
              </a:rPr>
              <a:t>2.</a:t>
            </a:r>
          </a:p>
        </p:txBody>
      </p:sp>
      <p:sp>
        <p:nvSpPr>
          <p:cNvPr id="9" name="item-2">
            <a:extLst xmlns:a="http://schemas.openxmlformats.org/drawingml/2006/main">
              <a:ext uri="{FF2B5EF4-FFF2-40B4-BE49-F238E27FC236}">
                <a16:creationId xmlns:a16="http://schemas.microsoft.com/office/drawing/2014/main" id="{5245C775-F309-4A3E-915D-90148621B91C}"/>
              </a:ext>
            </a:extLst>
          </p:cNvPr>
          <p:cNvSpPr>
            <a:spLocks xmlns:a="http://schemas.openxmlformats.org/drawingml/2006/main" noGrp="1"/>
          </p:cNvSpPr>
          <p:nvPr/>
        </p:nvSpPr>
        <p:spPr>
          <a:xfrm xmlns:a="http://schemas.openxmlformats.org/drawingml/2006/main">
            <a:off x="1352550" y="3590925"/>
            <a:ext cx="99250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01828"/>
                </a:solidFill>
                <a:latin typeface="DejaVu Sans"/>
                <a:ea typeface="DejaVu Sans"/>
                <a:cs typeface="DejaVu Sans"/>
              </a:defRPr>
            </a:pPr>
            <a:r>
              <a:rPr sz="1950" b="0">
                <a:solidFill>
                  <a:srgbClr val="101828"/>
                </a:solidFill>
                <a:latin typeface="DejaVu Sans"/>
                <a:ea typeface="DejaVu Sans"/>
                <a:cs typeface="DejaVu Sans"/>
              </a:rPr>
              <a:t>Decode: the control unit interprets the instruction and decides the required operation.</a:t>
            </a:r>
          </a:p>
        </p:txBody>
      </p:sp>
      <p:sp>
        <p:nvSpPr>
          <p:cNvPr id="10" name="number-3">
            <a:extLst xmlns:a="http://schemas.openxmlformats.org/drawingml/2006/main">
              <a:ext uri="{FF2B5EF4-FFF2-40B4-BE49-F238E27FC236}">
                <a16:creationId xmlns:a16="http://schemas.microsoft.com/office/drawing/2014/main" id="{FEDD0C3D-1F05-4F5C-8871-C657A8009740}"/>
              </a:ext>
            </a:extLst>
          </p:cNvPr>
          <p:cNvSpPr>
            <a:spLocks xmlns:a="http://schemas.openxmlformats.org/drawingml/2006/main" noGrp="1"/>
          </p:cNvSpPr>
          <p:nvPr/>
        </p:nvSpPr>
        <p:spPr>
          <a:xfrm xmlns:a="http://schemas.openxmlformats.org/drawingml/2006/main">
            <a:off x="723900" y="4695825"/>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D63FF"/>
                </a:solidFill>
                <a:latin typeface="DejaVu Sans"/>
                <a:ea typeface="DejaVu Sans"/>
                <a:cs typeface="DejaVu Sans"/>
              </a:defRPr>
            </a:pPr>
            <a:r>
              <a:rPr sz="1950" b="1">
                <a:solidFill>
                  <a:srgbClr val="2D63FF"/>
                </a:solidFill>
                <a:latin typeface="DejaVu Sans"/>
                <a:ea typeface="DejaVu Sans"/>
                <a:cs typeface="DejaVu Sans"/>
              </a:rPr>
              <a:t>3.</a:t>
            </a:r>
          </a:p>
        </p:txBody>
      </p:sp>
      <p:sp>
        <p:nvSpPr>
          <p:cNvPr id="11" name="item-3">
            <a:extLst xmlns:a="http://schemas.openxmlformats.org/drawingml/2006/main">
              <a:ext uri="{FF2B5EF4-FFF2-40B4-BE49-F238E27FC236}">
                <a16:creationId xmlns:a16="http://schemas.microsoft.com/office/drawing/2014/main" id="{6D8D4790-A1DD-4B57-BD94-89CAF3A61B9E}"/>
              </a:ext>
            </a:extLst>
          </p:cNvPr>
          <p:cNvSpPr>
            <a:spLocks xmlns:a="http://schemas.openxmlformats.org/drawingml/2006/main" noGrp="1"/>
          </p:cNvSpPr>
          <p:nvPr/>
        </p:nvSpPr>
        <p:spPr>
          <a:xfrm xmlns:a="http://schemas.openxmlformats.org/drawingml/2006/main">
            <a:off x="1352550" y="4695825"/>
            <a:ext cx="99250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01828"/>
                </a:solidFill>
                <a:latin typeface="DejaVu Sans"/>
                <a:ea typeface="DejaVu Sans"/>
                <a:cs typeface="DejaVu Sans"/>
              </a:defRPr>
            </a:pPr>
            <a:r>
              <a:rPr sz="1950" b="0">
                <a:solidFill>
                  <a:srgbClr val="101828"/>
                </a:solidFill>
                <a:latin typeface="DejaVu Sans"/>
                <a:ea typeface="DejaVu Sans"/>
                <a:cs typeface="DejaVu Sans"/>
              </a:rPr>
              <a:t>Execute: the CPU carries it out, for example an ALU calculation whose result is held in the accumulator.</a:t>
            </a:r>
          </a:p>
        </p:txBody>
      </p:sp>
    </p:spTree>
    <p:extLst>
      <p:ext uri="{BB962C8B-B14F-4D97-AF65-F5344CB8AC3E}">
        <p14:creationId xmlns:p14="http://schemas.microsoft.com/office/powerpoint/2010/main" val="18890275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opic">
            <a:extLst xmlns:a="http://schemas.openxmlformats.org/drawingml/2006/main">
              <a:ext uri="{FF2B5EF4-FFF2-40B4-BE49-F238E27FC236}">
                <a16:creationId xmlns:a16="http://schemas.microsoft.com/office/drawing/2014/main" id="{F7FBAFF4-0AC8-4D12-9EF9-65FA9743D8C4}"/>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1.1   /   LESSON 02   /   SELF-CHECK</a:t>
            </a:r>
          </a:p>
        </p:txBody>
      </p:sp>
      <p:sp>
        <p:nvSpPr>
          <p:cNvPr id="2" name="heading">
            <a:extLst xmlns:a="http://schemas.openxmlformats.org/drawingml/2006/main">
              <a:ext uri="{FF2B5EF4-FFF2-40B4-BE49-F238E27FC236}">
                <a16:creationId xmlns:a16="http://schemas.microsoft.com/office/drawing/2014/main" id="{1368E48E-62F1-4E51-91FE-A35CC5DEBB2F}"/>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How confident am I?</a:t>
            </a:r>
          </a:p>
        </p:txBody>
      </p:sp>
      <p:sp>
        <p:nvSpPr>
          <p:cNvPr id="3" name="footer">
            <a:extLst xmlns:a="http://schemas.openxmlformats.org/drawingml/2006/main">
              <a:ext uri="{FF2B5EF4-FFF2-40B4-BE49-F238E27FC236}">
                <a16:creationId xmlns:a16="http://schemas.microsoft.com/office/drawing/2014/main" id="{DA092F2B-6076-40F7-B499-5BAFEAB81B4C}"/>
              </a:ext>
            </a:extLst>
          </p:cNvPr>
          <p:cNvSpPr>
            <a:spLocks xmlns:a="http://schemas.openxmlformats.org/drawingml/2006/main" noGrp="1"/>
          </p:cNvSpPr>
          <p:nvPr/>
        </p:nvSpPr>
        <p:spPr>
          <a:xfrm xmlns:a="http://schemas.openxmlformats.org/drawingml/2006/main">
            <a:off x="666750" y="6400800"/>
            <a:ext cx="981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Revise 360    OCR J277 1.1 Systems architecture</a:t>
            </a:r>
          </a:p>
        </p:txBody>
      </p:sp>
      <p:sp>
        <p:nvSpPr>
          <p:cNvPr id="4" name="page">
            <a:extLst xmlns:a="http://schemas.openxmlformats.org/drawingml/2006/main">
              <a:ext uri="{FF2B5EF4-FFF2-40B4-BE49-F238E27FC236}">
                <a16:creationId xmlns:a16="http://schemas.microsoft.com/office/drawing/2014/main" id="{07FD70FA-5C76-4A00-B7E0-2649842FA041}"/>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20 / 20</a:t>
            </a:r>
          </a:p>
        </p:txBody>
      </p:sp>
      <p:sp>
        <p:nvSpPr>
          <p:cNvPr id="5" name="confidence-instruction">
            <a:extLst xmlns:a="http://schemas.openxmlformats.org/drawingml/2006/main">
              <a:ext uri="{FF2B5EF4-FFF2-40B4-BE49-F238E27FC236}">
                <a16:creationId xmlns:a16="http://schemas.microsoft.com/office/drawing/2014/main" id="{042C08E8-96D3-4C60-9A3F-CBD2707FC8C9}"/>
              </a:ext>
            </a:extLst>
          </p:cNvPr>
          <p:cNvSpPr>
            <a:spLocks xmlns:a="http://schemas.openxmlformats.org/drawingml/2006/main" noGrp="1"/>
          </p:cNvSpPr>
          <p:nvPr/>
        </p:nvSpPr>
        <p:spPr>
          <a:xfrm xmlns:a="http://schemas.openxmlformats.org/drawingml/2006/main">
            <a:off x="704850" y="1571625"/>
            <a:ext cx="10477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26174"/>
                </a:solidFill>
                <a:latin typeface="DejaVu Sans"/>
                <a:ea typeface="DejaVu Sans"/>
                <a:cs typeface="DejaVu Sans"/>
              </a:defRPr>
            </a:pPr>
            <a:r>
              <a:rPr sz="1800" b="0">
                <a:solidFill>
                  <a:srgbClr val="526174"/>
                </a:solidFill>
                <a:latin typeface="DejaVu Sans"/>
                <a:ea typeface="DejaVu Sans"/>
                <a:cs typeface="DejaVu Sans"/>
              </a:rPr>
              <a:t>On the worksheet, select Not yet, Getting there or Confident for each objective.</a:t>
            </a:r>
          </a:p>
        </p:txBody>
      </p:sp>
      <p:sp>
        <p:nvSpPr>
          <p:cNvPr id="6" name="number-1">
            <a:extLst xmlns:a="http://schemas.openxmlformats.org/drawingml/2006/main">
              <a:ext uri="{FF2B5EF4-FFF2-40B4-BE49-F238E27FC236}">
                <a16:creationId xmlns:a16="http://schemas.microsoft.com/office/drawing/2014/main" id="{753D8EE8-9323-4C6E-A94B-77E2CB03AA6C}"/>
              </a:ext>
            </a:extLst>
          </p:cNvPr>
          <p:cNvSpPr>
            <a:spLocks xmlns:a="http://schemas.openxmlformats.org/drawingml/2006/main" noGrp="1"/>
          </p:cNvSpPr>
          <p:nvPr/>
        </p:nvSpPr>
        <p:spPr>
          <a:xfrm xmlns:a="http://schemas.openxmlformats.org/drawingml/2006/main">
            <a:off x="723900" y="2514600"/>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2D63FF"/>
                </a:solidFill>
                <a:latin typeface="DejaVu Sans"/>
                <a:ea typeface="DejaVu Sans"/>
                <a:cs typeface="DejaVu Sans"/>
              </a:defRPr>
            </a:pPr>
            <a:r>
              <a:rPr sz="2025" b="1">
                <a:solidFill>
                  <a:srgbClr val="2D63FF"/>
                </a:solidFill>
                <a:latin typeface="DejaVu Sans"/>
                <a:ea typeface="DejaVu Sans"/>
                <a:cs typeface="DejaVu Sans"/>
              </a:rPr>
              <a:t>1.</a:t>
            </a:r>
          </a:p>
        </p:txBody>
      </p:sp>
      <p:sp>
        <p:nvSpPr>
          <p:cNvPr id="7" name="item-1">
            <a:extLst xmlns:a="http://schemas.openxmlformats.org/drawingml/2006/main">
              <a:ext uri="{FF2B5EF4-FFF2-40B4-BE49-F238E27FC236}">
                <a16:creationId xmlns:a16="http://schemas.microsoft.com/office/drawing/2014/main" id="{14E14442-6D73-4065-8FC4-2E227D447D13}"/>
              </a:ext>
            </a:extLst>
          </p:cNvPr>
          <p:cNvSpPr>
            <a:spLocks xmlns:a="http://schemas.openxmlformats.org/drawingml/2006/main" noGrp="1"/>
          </p:cNvSpPr>
          <p:nvPr/>
        </p:nvSpPr>
        <p:spPr>
          <a:xfrm xmlns:a="http://schemas.openxmlformats.org/drawingml/2006/main">
            <a:off x="1352550" y="2514600"/>
            <a:ext cx="99250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01828"/>
                </a:solidFill>
                <a:latin typeface="DejaVu Sans"/>
                <a:ea typeface="DejaVu Sans"/>
                <a:cs typeface="DejaVu Sans"/>
              </a:defRPr>
            </a:pPr>
            <a:r>
              <a:rPr sz="2025" b="0">
                <a:solidFill>
                  <a:srgbClr val="101828"/>
                </a:solidFill>
                <a:latin typeface="DejaVu Sans"/>
                <a:ea typeface="DejaVu Sans"/>
                <a:cs typeface="DejaVu Sans"/>
              </a:rPr>
              <a:t>The von Neumann architecture</a:t>
            </a:r>
          </a:p>
        </p:txBody>
      </p:sp>
      <p:sp>
        <p:nvSpPr>
          <p:cNvPr id="8" name="number-2">
            <a:extLst xmlns:a="http://schemas.openxmlformats.org/drawingml/2006/main">
              <a:ext uri="{FF2B5EF4-FFF2-40B4-BE49-F238E27FC236}">
                <a16:creationId xmlns:a16="http://schemas.microsoft.com/office/drawing/2014/main" id="{6E670EC9-7C52-4E0E-AA8F-7E3C0B51D296}"/>
              </a:ext>
            </a:extLst>
          </p:cNvPr>
          <p:cNvSpPr>
            <a:spLocks xmlns:a="http://schemas.openxmlformats.org/drawingml/2006/main" noGrp="1"/>
          </p:cNvSpPr>
          <p:nvPr/>
        </p:nvSpPr>
        <p:spPr>
          <a:xfrm xmlns:a="http://schemas.openxmlformats.org/drawingml/2006/main">
            <a:off x="723900" y="3524250"/>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2D63FF"/>
                </a:solidFill>
                <a:latin typeface="DejaVu Sans"/>
                <a:ea typeface="DejaVu Sans"/>
                <a:cs typeface="DejaVu Sans"/>
              </a:defRPr>
            </a:pPr>
            <a:r>
              <a:rPr sz="2025" b="1">
                <a:solidFill>
                  <a:srgbClr val="2D63FF"/>
                </a:solidFill>
                <a:latin typeface="DejaVu Sans"/>
                <a:ea typeface="DejaVu Sans"/>
                <a:cs typeface="DejaVu Sans"/>
              </a:rPr>
              <a:t>2.</a:t>
            </a:r>
          </a:p>
        </p:txBody>
      </p:sp>
      <p:sp>
        <p:nvSpPr>
          <p:cNvPr id="9" name="item-2">
            <a:extLst xmlns:a="http://schemas.openxmlformats.org/drawingml/2006/main">
              <a:ext uri="{FF2B5EF4-FFF2-40B4-BE49-F238E27FC236}">
                <a16:creationId xmlns:a16="http://schemas.microsoft.com/office/drawing/2014/main" id="{DFB0406D-FD47-4AEC-A1FC-501482C4D541}"/>
              </a:ext>
            </a:extLst>
          </p:cNvPr>
          <p:cNvSpPr>
            <a:spLocks xmlns:a="http://schemas.openxmlformats.org/drawingml/2006/main" noGrp="1"/>
          </p:cNvSpPr>
          <p:nvPr/>
        </p:nvSpPr>
        <p:spPr>
          <a:xfrm xmlns:a="http://schemas.openxmlformats.org/drawingml/2006/main">
            <a:off x="1352550" y="3524250"/>
            <a:ext cx="99250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01828"/>
                </a:solidFill>
                <a:latin typeface="DejaVu Sans"/>
                <a:ea typeface="DejaVu Sans"/>
                <a:cs typeface="DejaVu Sans"/>
              </a:defRPr>
            </a:pPr>
            <a:r>
              <a:rPr sz="2025" b="0">
                <a:solidFill>
                  <a:srgbClr val="101828"/>
                </a:solidFill>
                <a:latin typeface="DejaVu Sans"/>
                <a:ea typeface="DejaVu Sans"/>
                <a:cs typeface="DejaVu Sans"/>
              </a:rPr>
              <a:t>The PC, MAR, MDR and accumulator</a:t>
            </a:r>
          </a:p>
        </p:txBody>
      </p:sp>
      <p:sp>
        <p:nvSpPr>
          <p:cNvPr id="10" name="number-3">
            <a:extLst xmlns:a="http://schemas.openxmlformats.org/drawingml/2006/main">
              <a:ext uri="{FF2B5EF4-FFF2-40B4-BE49-F238E27FC236}">
                <a16:creationId xmlns:a16="http://schemas.microsoft.com/office/drawing/2014/main" id="{840B06DC-1E18-4709-AED1-F2C94D6E2FF2}"/>
              </a:ext>
            </a:extLst>
          </p:cNvPr>
          <p:cNvSpPr>
            <a:spLocks xmlns:a="http://schemas.openxmlformats.org/drawingml/2006/main" noGrp="1"/>
          </p:cNvSpPr>
          <p:nvPr/>
        </p:nvSpPr>
        <p:spPr>
          <a:xfrm xmlns:a="http://schemas.openxmlformats.org/drawingml/2006/main">
            <a:off x="723900" y="4533900"/>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2D63FF"/>
                </a:solidFill>
                <a:latin typeface="DejaVu Sans"/>
                <a:ea typeface="DejaVu Sans"/>
                <a:cs typeface="DejaVu Sans"/>
              </a:defRPr>
            </a:pPr>
            <a:r>
              <a:rPr sz="2025" b="1">
                <a:solidFill>
                  <a:srgbClr val="2D63FF"/>
                </a:solidFill>
                <a:latin typeface="DejaVu Sans"/>
                <a:ea typeface="DejaVu Sans"/>
                <a:cs typeface="DejaVu Sans"/>
              </a:rPr>
              <a:t>3.</a:t>
            </a:r>
          </a:p>
        </p:txBody>
      </p:sp>
      <p:sp>
        <p:nvSpPr>
          <p:cNvPr id="11" name="item-3">
            <a:extLst xmlns:a="http://schemas.openxmlformats.org/drawingml/2006/main">
              <a:ext uri="{FF2B5EF4-FFF2-40B4-BE49-F238E27FC236}">
                <a16:creationId xmlns:a16="http://schemas.microsoft.com/office/drawing/2014/main" id="{247B306F-1512-4365-9F14-132B628C1E41}"/>
              </a:ext>
            </a:extLst>
          </p:cNvPr>
          <p:cNvSpPr>
            <a:spLocks xmlns:a="http://schemas.openxmlformats.org/drawingml/2006/main" noGrp="1"/>
          </p:cNvSpPr>
          <p:nvPr/>
        </p:nvSpPr>
        <p:spPr>
          <a:xfrm xmlns:a="http://schemas.openxmlformats.org/drawingml/2006/main">
            <a:off x="1352550" y="4533900"/>
            <a:ext cx="99250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01828"/>
                </a:solidFill>
                <a:latin typeface="DejaVu Sans"/>
                <a:ea typeface="DejaVu Sans"/>
                <a:cs typeface="DejaVu Sans"/>
              </a:defRPr>
            </a:pPr>
            <a:r>
              <a:rPr sz="2025" b="0">
                <a:solidFill>
                  <a:srgbClr val="101828"/>
                </a:solidFill>
                <a:latin typeface="DejaVu Sans"/>
                <a:ea typeface="DejaVu Sans"/>
                <a:cs typeface="DejaVu Sans"/>
              </a:rPr>
              <a:t>What a keyword is</a:t>
            </a:r>
          </a:p>
        </p:txBody>
      </p:sp>
    </p:spTree>
    <p:extLst>
      <p:ext uri="{BB962C8B-B14F-4D97-AF65-F5344CB8AC3E}">
        <p14:creationId xmlns:p14="http://schemas.microsoft.com/office/powerpoint/2010/main" val="11922230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2026-09-25T12:17:36.5550000Z</dcterms:created>
  <dcterms:modified xsi:type="dcterms:W3CDTF">2026-09-25T12:17:36.5550000Z</dcterms:modified>
</coreProperties>
</file>