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 Printing and variables.
Open the experience at revise360.co.uk and hand out PR_L01_PrintingAndVariables_Worksheet.docx.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Printing output.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Variables.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Reading input.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Numbers and text.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Casting.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Putting it together.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Python programming  |  Lesson 1</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Printing and variables</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Every program you will ever write starts here: putting something on the screen, keeping a value under a name and asking the user for one. Work through the six stations and you will have written your first real programs.</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Revise 360 Python course  |  Beyond the OCR J277 specification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Why must a program decide the data type of a value before it can do anything useful with it?</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how to print lines of output in the order a task asks for</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how to hold a value in a variable or a constant, and how to read one with input()</a:t>
            </a:r>
            <a:endParaRPr lang="en-US" sz="1900" dirty="0"/>
          </a:p>
        </p:txBody>
      </p:sp>
      <p:sp>
        <p:nvSpPr>
          <p:cNvPr id="13" name="Shape 11"/>
          <p:cNvSpPr/>
          <p:nvPr/>
        </p:nvSpPr>
        <p:spPr>
          <a:xfrm>
            <a:off x="548640" y="3831336"/>
            <a:ext cx="566928" cy="566928"/>
          </a:xfrm>
          <a:prstGeom prst="ellipse">
            <a:avLst/>
          </a:prstGeom>
          <a:solidFill>
            <a:srgbClr val="2D63FF"/>
          </a:solidFill>
          <a:ln/>
        </p:spPr>
      </p:sp>
      <p:sp>
        <p:nvSpPr>
          <p:cNvPr id="14" name="Text 12"/>
          <p:cNvSpPr txBox="1"/>
          <p:nvPr/>
        </p:nvSpPr>
        <p:spPr>
          <a:xfrm>
            <a:off x="548640" y="3831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5" name="Text 13"/>
          <p:cNvSpPr txBox="1"/>
          <p:nvPr/>
        </p:nvSpPr>
        <p:spPr>
          <a:xfrm>
            <a:off x="1325880" y="3831336"/>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why a value that has been typed in must be cast before it can be calculated with</a:t>
            </a:r>
            <a:endParaRPr lang="en-US" sz="1900" dirty="0"/>
          </a:p>
        </p:txBody>
      </p:sp>
      <p:sp>
        <p:nvSpPr>
          <p:cNvPr id="16" name="Text 14"/>
          <p:cNvSpPr txBox="1"/>
          <p:nvPr/>
        </p:nvSpPr>
        <p:spPr>
          <a:xfrm>
            <a:off x="548640" y="5084064"/>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7" name="Shape 15"/>
          <p:cNvSpPr/>
          <p:nvPr/>
        </p:nvSpPr>
        <p:spPr>
          <a:xfrm>
            <a:off x="548640" y="5468112"/>
            <a:ext cx="1188720"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548640" y="5468112"/>
            <a:ext cx="118872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print</a:t>
            </a:r>
            <a:endParaRPr lang="en-US" sz="1200" dirty="0"/>
          </a:p>
        </p:txBody>
      </p:sp>
      <p:sp>
        <p:nvSpPr>
          <p:cNvPr id="19" name="Shape 17"/>
          <p:cNvSpPr/>
          <p:nvPr/>
        </p:nvSpPr>
        <p:spPr>
          <a:xfrm>
            <a:off x="1865376" y="5468112"/>
            <a:ext cx="1627632"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1865376" y="5468112"/>
            <a:ext cx="162763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Variable</a:t>
            </a:r>
            <a:endParaRPr lang="en-US" sz="1200" dirty="0"/>
          </a:p>
        </p:txBody>
      </p:sp>
      <p:sp>
        <p:nvSpPr>
          <p:cNvPr id="21" name="Shape 19"/>
          <p:cNvSpPr/>
          <p:nvPr/>
        </p:nvSpPr>
        <p:spPr>
          <a:xfrm>
            <a:off x="3621024" y="5468112"/>
            <a:ext cx="1627632" cy="402336"/>
          </a:xfrm>
          <a:prstGeom prst="roundRect">
            <a:avLst>
              <a:gd name="adj" fmla="val 50000"/>
            </a:avLst>
          </a:prstGeom>
          <a:solidFill>
            <a:srgbClr val="FFFFFF"/>
          </a:solidFill>
          <a:ln w="12700">
            <a:solidFill>
              <a:srgbClr val="2D63FF"/>
            </a:solidFill>
            <a:prstDash val="solid"/>
          </a:ln>
        </p:spPr>
      </p:sp>
      <p:sp>
        <p:nvSpPr>
          <p:cNvPr id="22" name="Text 20"/>
          <p:cNvSpPr txBox="1"/>
          <p:nvPr/>
        </p:nvSpPr>
        <p:spPr>
          <a:xfrm>
            <a:off x="3621024" y="5468112"/>
            <a:ext cx="162763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Constant</a:t>
            </a:r>
            <a:endParaRPr lang="en-US" sz="1200" dirty="0"/>
          </a:p>
        </p:txBody>
      </p:sp>
      <p:sp>
        <p:nvSpPr>
          <p:cNvPr id="23" name="Shape 21"/>
          <p:cNvSpPr/>
          <p:nvPr/>
        </p:nvSpPr>
        <p:spPr>
          <a:xfrm>
            <a:off x="5376672" y="5468112"/>
            <a:ext cx="1188720" cy="402336"/>
          </a:xfrm>
          <a:prstGeom prst="roundRect">
            <a:avLst>
              <a:gd name="adj" fmla="val 50000"/>
            </a:avLst>
          </a:prstGeom>
          <a:solidFill>
            <a:srgbClr val="FFFFFF"/>
          </a:solidFill>
          <a:ln w="12700">
            <a:solidFill>
              <a:srgbClr val="2D63FF"/>
            </a:solidFill>
            <a:prstDash val="solid"/>
          </a:ln>
        </p:spPr>
      </p:sp>
      <p:sp>
        <p:nvSpPr>
          <p:cNvPr id="24" name="Text 22"/>
          <p:cNvSpPr txBox="1"/>
          <p:nvPr/>
        </p:nvSpPr>
        <p:spPr>
          <a:xfrm>
            <a:off x="5376672" y="5468112"/>
            <a:ext cx="118872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input</a:t>
            </a:r>
            <a:endParaRPr lang="en-US" sz="1200" dirty="0"/>
          </a:p>
        </p:txBody>
      </p:sp>
      <p:sp>
        <p:nvSpPr>
          <p:cNvPr id="25" name="Shape 23"/>
          <p:cNvSpPr/>
          <p:nvPr/>
        </p:nvSpPr>
        <p:spPr>
          <a:xfrm>
            <a:off x="6693408" y="5468112"/>
            <a:ext cx="1335024" cy="402336"/>
          </a:xfrm>
          <a:prstGeom prst="roundRect">
            <a:avLst>
              <a:gd name="adj" fmla="val 50000"/>
            </a:avLst>
          </a:prstGeom>
          <a:solidFill>
            <a:srgbClr val="FFFFFF"/>
          </a:solidFill>
          <a:ln w="12700">
            <a:solidFill>
              <a:srgbClr val="2D63FF"/>
            </a:solidFill>
            <a:prstDash val="solid"/>
          </a:ln>
        </p:spPr>
      </p:sp>
      <p:sp>
        <p:nvSpPr>
          <p:cNvPr id="26" name="Text 24"/>
          <p:cNvSpPr txBox="1"/>
          <p:nvPr/>
        </p:nvSpPr>
        <p:spPr>
          <a:xfrm>
            <a:off x="6693408" y="5468112"/>
            <a:ext cx="133502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String</a:t>
            </a:r>
            <a:endParaRPr lang="en-US" sz="1200" dirty="0"/>
          </a:p>
        </p:txBody>
      </p:sp>
      <p:sp>
        <p:nvSpPr>
          <p:cNvPr id="27" name="Shape 25"/>
          <p:cNvSpPr/>
          <p:nvPr/>
        </p:nvSpPr>
        <p:spPr>
          <a:xfrm>
            <a:off x="8156448" y="5468112"/>
            <a:ext cx="1481328" cy="402336"/>
          </a:xfrm>
          <a:prstGeom prst="roundRect">
            <a:avLst>
              <a:gd name="adj" fmla="val 50000"/>
            </a:avLst>
          </a:prstGeom>
          <a:solidFill>
            <a:srgbClr val="FFFFFF"/>
          </a:solidFill>
          <a:ln w="12700">
            <a:solidFill>
              <a:srgbClr val="2D63FF"/>
            </a:solidFill>
            <a:prstDash val="solid"/>
          </a:ln>
        </p:spPr>
      </p:sp>
      <p:sp>
        <p:nvSpPr>
          <p:cNvPr id="28" name="Text 26"/>
          <p:cNvSpPr txBox="1"/>
          <p:nvPr/>
        </p:nvSpPr>
        <p:spPr>
          <a:xfrm>
            <a:off x="8156448" y="5468112"/>
            <a:ext cx="1481328"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Integer</a:t>
            </a:r>
            <a:endParaRPr lang="en-US" sz="1200" dirty="0"/>
          </a:p>
        </p:txBody>
      </p:sp>
      <p:sp>
        <p:nvSpPr>
          <p:cNvPr id="29" name="Shape 27"/>
          <p:cNvSpPr/>
          <p:nvPr/>
        </p:nvSpPr>
        <p:spPr>
          <a:xfrm>
            <a:off x="9765792" y="5468112"/>
            <a:ext cx="1481328" cy="402336"/>
          </a:xfrm>
          <a:prstGeom prst="roundRect">
            <a:avLst>
              <a:gd name="adj" fmla="val 50000"/>
            </a:avLst>
          </a:prstGeom>
          <a:solidFill>
            <a:srgbClr val="FFFFFF"/>
          </a:solidFill>
          <a:ln w="12700">
            <a:solidFill>
              <a:srgbClr val="2D63FF"/>
            </a:solidFill>
            <a:prstDash val="solid"/>
          </a:ln>
        </p:spPr>
      </p:sp>
      <p:sp>
        <p:nvSpPr>
          <p:cNvPr id="30" name="Text 28"/>
          <p:cNvSpPr txBox="1"/>
          <p:nvPr/>
        </p:nvSpPr>
        <p:spPr>
          <a:xfrm>
            <a:off x="9765792" y="5468112"/>
            <a:ext cx="1481328"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Casting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Three lines run in this order: a = 40, then a = 65, then print(a). Write down exactly what is printed, and explain in one sentence what became of the first value.</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Printing and variables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Plan before you type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task and its brief. Work out the inputs, what happens to them, and exactly what is printed.</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Write it and run it</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Type the program in the editor and press Run to see what it does. Then press Check to mark it against the tests.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 failures</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A test that fails tells you what was expected and what came out. Fix and run it again - that is what programmers do.</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Printing output</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print() puts one value on the screen and then moves down to the next line.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Text to be shown exactly as written goes inside quotation marks, and one print() gives one line of output.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leaving the quotation marks off, so Python hunts for a variable with that name instead.</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does Python treat ready and "ready" as two completely different things?</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Each print() shows one value and then moves on to...</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Variables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variable is a named box in memory holding one value, and the name always goes on the left of the equals sign.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constant is a value the program never changes once it is set, and its name is written in capitals.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a second assignment replaces the value, it does not add to it.</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What becomes of the first value when the same variable is given a second one?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In programming = means 'put this in here', so a second assignment does not add to the value, it...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Reading input</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input() stops the program, waits for a line to be typed and hands that line back.</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Store what comes back in a variable, or the value the user typed is thrown away.</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reading two answers into the same variable, so the first one is lost.</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can a program print its answers in a different order from the one it asked the questions in?</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input() is patient: a program will sit on that line until...</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Numbers and text</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Integers count whole things, floats hold decimals, strings hold text and booleans hold True or False.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 adds two numbers but joins two strings end to end, so the data type decides what + means.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joining a number to a string with +, which Python refuses to do.</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Which data type would you choose for a value of 1.50, and why?</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Joining two strings end to end has its own name:...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Casting</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Casting changes a value from one data type into another.</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int() and float() turn text into a number, and str() turns a number into text.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adding to what input() handed back without casting it first, which joins the digits on the end instead.</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does int(input()) appear in so many programs?</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Cast is borrowed from metalwork: the value is poured into...</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Putting it together</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whole program reads its values, works something out and then prints the lines it was asked for.</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Decide the data type each value needs before you write a single line.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printing the lines in a different order from the one the task asked for.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Which parts of a program have to happen before anything can be printed?</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Input, process, output is such a common pattern that it is shortened to...</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Name the data type</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Eight values are waiting on the floor below you. Tap the star and sort each one into the data type Python would store it as.</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Start here: how this course works</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Python is a language for writing instructions a computer follows, one line at a time. You write them in the editor on the right of a task window. Run follows your instructions and shows whatever they display in the panel underneath, labelled Program output. Check my answer is different: it marks your program against the task. So run as often as you like while you are trying things out, and check when you think it is right. You can check as many times as you like too, and your best mark is the one that is kept. If you are stuck, the Hint button gives you one step at a time, starting with the idea and never with the answer, and Syntax reminder lists every Python command the course has taught so far. Errors are a normal part of programming. Everyone writing Python sees them all day, and reading the message is how you find out what to change. Work round this room through the six numbered badges in order, then tap the star for the final challenge. Your progress saves after every answer.</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Naming rules</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 Python variable name can hold letters, digits and underscores, but it cannot start with a digit or contain a space. Capitals are used for the name of a constant, so a reader can see at a glance that the value is not meant to change.</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Why it waits</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input() reads one whole line, so the program only carries on once the Enter key has been pressed. Nothing else happens while it waits.</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One bit each</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 boolean has only two possible values, so it needs just one bit of storage - the smallest piece of data there is.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A pupil writes two lines to add 1 to a number that has been typed in: n = input() and then print(n + 1). State what Python does when these two lines run, and rewrite them so that they work.</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[3]</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Write a program that reads a word and then a whole number, adds 1 to the number, and prints the word on one line and the new number on the next line.</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[4]</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Write a program that reads a number which may have a decimal point, and prints one line in the form Value is 4.0, with the number shown as a real number.</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[3]</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Printing lines of output in the right order</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Holding values in variables and constants</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Casting between text and numbers</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Printing and variables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programming  |  Lesson 1 — Printing and variables</dc:title>
  <dc:subject>OCR J277 GCSE Computer Science</dc:subject>
  <dc:creator>Revise 360 Ltd</dc:creator>
  <cp:lastModifiedBy>Revise 360 Ltd</cp:lastModifiedBy>
  <cp:revision>1</cp:revision>
  <dcterms:created xsi:type="dcterms:W3CDTF">2026-10-02T20:44:10Z</dcterms:created>
  <dcterms:modified xsi:type="dcterms:W3CDTF">2026-10-02T20:44:10Z</dcterms:modified>
</cp:coreProperties>
</file>