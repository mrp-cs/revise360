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9: Subprograms.
Open the experience at revise360.co.uk and hand out PR_L09_Subprograms_Worksheet.docx.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Writing a procedure.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Parameters.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Returning a value.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Functions and procedures.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Local and global.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Putting it together.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Python programming  |  Lesson 9</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Subprograms</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Long programs are built out of small named parts, each one written once and called whenever it is wanted. Work through the six stations and you will write procedures and functions, pass values into them with parameters and get answers back out with return.</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Revise 360 Python course  |  Beyond the OCR J277 specification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When should a subprogram return a value rather than print one?</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how to define a subprogram with def and how to call it</a:t>
            </a:r>
            <a:endParaRPr lang="en-US" sz="1900" dirty="0"/>
          </a:p>
        </p:txBody>
      </p:sp>
      <p:sp>
        <p:nvSpPr>
          <p:cNvPr id="10" name="Shape 8"/>
          <p:cNvSpPr/>
          <p:nvPr/>
        </p:nvSpPr>
        <p:spPr>
          <a:xfrm>
            <a:off x="548640" y="2898648"/>
            <a:ext cx="566928" cy="566928"/>
          </a:xfrm>
          <a:prstGeom prst="ellipse">
            <a:avLst/>
          </a:prstGeom>
          <a:solidFill>
            <a:srgbClr val="2D63FF"/>
          </a:solidFill>
          <a:ln/>
        </p:spPr>
      </p:sp>
      <p:sp>
        <p:nvSpPr>
          <p:cNvPr id="11" name="Text 9"/>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2" name="Text 10"/>
          <p:cNvSpPr txBox="1"/>
          <p:nvPr/>
        </p:nvSpPr>
        <p:spPr>
          <a:xfrm>
            <a:off x="1325880" y="2898648"/>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how a parameter carries a value into a subprogram and how return carries one back out</a:t>
            </a:r>
            <a:endParaRPr lang="en-US" sz="1900" dirty="0"/>
          </a:p>
        </p:txBody>
      </p:sp>
      <p:sp>
        <p:nvSpPr>
          <p:cNvPr id="13" name="Shape 11"/>
          <p:cNvSpPr/>
          <p:nvPr/>
        </p:nvSpPr>
        <p:spPr>
          <a:xfrm>
            <a:off x="548640" y="3831336"/>
            <a:ext cx="566928" cy="566928"/>
          </a:xfrm>
          <a:prstGeom prst="ellipse">
            <a:avLst/>
          </a:prstGeom>
          <a:solidFill>
            <a:srgbClr val="2D63FF"/>
          </a:solidFill>
          <a:ln/>
        </p:spPr>
      </p:sp>
      <p:sp>
        <p:nvSpPr>
          <p:cNvPr id="14" name="Text 12"/>
          <p:cNvSpPr txBox="1"/>
          <p:nvPr/>
        </p:nvSpPr>
        <p:spPr>
          <a:xfrm>
            <a:off x="548640" y="38313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5" name="Text 13"/>
          <p:cNvSpPr txBox="1"/>
          <p:nvPr/>
        </p:nvSpPr>
        <p:spPr>
          <a:xfrm>
            <a:off x="1325880" y="3831336"/>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how to write a subprogram that uses a variable of its own, and one that changes a shared variable</a:t>
            </a:r>
            <a:endParaRPr lang="en-US" sz="1900" dirty="0"/>
          </a:p>
        </p:txBody>
      </p:sp>
      <p:sp>
        <p:nvSpPr>
          <p:cNvPr id="16" name="Text 14"/>
          <p:cNvSpPr txBox="1"/>
          <p:nvPr/>
        </p:nvSpPr>
        <p:spPr>
          <a:xfrm>
            <a:off x="548640" y="5084064"/>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7" name="Shape 15"/>
          <p:cNvSpPr/>
          <p:nvPr/>
        </p:nvSpPr>
        <p:spPr>
          <a:xfrm>
            <a:off x="548640" y="5468112"/>
            <a:ext cx="1920240" cy="402336"/>
          </a:xfrm>
          <a:prstGeom prst="roundRect">
            <a:avLst>
              <a:gd name="adj" fmla="val 50000"/>
            </a:avLst>
          </a:prstGeom>
          <a:solidFill>
            <a:srgbClr val="FFFFFF"/>
          </a:solidFill>
          <a:ln w="12700">
            <a:solidFill>
              <a:srgbClr val="2D63FF"/>
            </a:solidFill>
            <a:prstDash val="solid"/>
          </a:ln>
        </p:spPr>
      </p:sp>
      <p:sp>
        <p:nvSpPr>
          <p:cNvPr id="18" name="Text 16"/>
          <p:cNvSpPr txBox="1"/>
          <p:nvPr/>
        </p:nvSpPr>
        <p:spPr>
          <a:xfrm>
            <a:off x="548640" y="5468112"/>
            <a:ext cx="192024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Subprogram</a:t>
            </a:r>
            <a:endParaRPr lang="en-US" sz="1200" dirty="0"/>
          </a:p>
        </p:txBody>
      </p:sp>
      <p:sp>
        <p:nvSpPr>
          <p:cNvPr id="19" name="Shape 17"/>
          <p:cNvSpPr/>
          <p:nvPr/>
        </p:nvSpPr>
        <p:spPr>
          <a:xfrm>
            <a:off x="2596896" y="5468112"/>
            <a:ext cx="1773936" cy="402336"/>
          </a:xfrm>
          <a:prstGeom prst="roundRect">
            <a:avLst>
              <a:gd name="adj" fmla="val 50000"/>
            </a:avLst>
          </a:prstGeom>
          <a:solidFill>
            <a:srgbClr val="FFFFFF"/>
          </a:solidFill>
          <a:ln w="12700">
            <a:solidFill>
              <a:srgbClr val="2D63FF"/>
            </a:solidFill>
            <a:prstDash val="solid"/>
          </a:ln>
        </p:spPr>
      </p:sp>
      <p:sp>
        <p:nvSpPr>
          <p:cNvPr id="20" name="Text 18"/>
          <p:cNvSpPr txBox="1"/>
          <p:nvPr/>
        </p:nvSpPr>
        <p:spPr>
          <a:xfrm>
            <a:off x="2596896" y="5468112"/>
            <a:ext cx="1773936"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Procedure</a:t>
            </a:r>
            <a:endParaRPr lang="en-US" sz="1200" dirty="0"/>
          </a:p>
        </p:txBody>
      </p:sp>
      <p:sp>
        <p:nvSpPr>
          <p:cNvPr id="21" name="Shape 19"/>
          <p:cNvSpPr/>
          <p:nvPr/>
        </p:nvSpPr>
        <p:spPr>
          <a:xfrm>
            <a:off x="4498848" y="5468112"/>
            <a:ext cx="1627632" cy="402336"/>
          </a:xfrm>
          <a:prstGeom prst="roundRect">
            <a:avLst>
              <a:gd name="adj" fmla="val 50000"/>
            </a:avLst>
          </a:prstGeom>
          <a:solidFill>
            <a:srgbClr val="FFFFFF"/>
          </a:solidFill>
          <a:ln w="12700">
            <a:solidFill>
              <a:srgbClr val="2D63FF"/>
            </a:solidFill>
            <a:prstDash val="solid"/>
          </a:ln>
        </p:spPr>
      </p:sp>
      <p:sp>
        <p:nvSpPr>
          <p:cNvPr id="22" name="Text 20"/>
          <p:cNvSpPr txBox="1"/>
          <p:nvPr/>
        </p:nvSpPr>
        <p:spPr>
          <a:xfrm>
            <a:off x="4498848" y="5468112"/>
            <a:ext cx="1627632"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Function</a:t>
            </a:r>
            <a:endParaRPr lang="en-US" sz="1200" dirty="0"/>
          </a:p>
        </p:txBody>
      </p:sp>
      <p:sp>
        <p:nvSpPr>
          <p:cNvPr id="23" name="Shape 21"/>
          <p:cNvSpPr/>
          <p:nvPr/>
        </p:nvSpPr>
        <p:spPr>
          <a:xfrm>
            <a:off x="6254496" y="5468112"/>
            <a:ext cx="1773936" cy="402336"/>
          </a:xfrm>
          <a:prstGeom prst="roundRect">
            <a:avLst>
              <a:gd name="adj" fmla="val 50000"/>
            </a:avLst>
          </a:prstGeom>
          <a:solidFill>
            <a:srgbClr val="FFFFFF"/>
          </a:solidFill>
          <a:ln w="12700">
            <a:solidFill>
              <a:srgbClr val="2D63FF"/>
            </a:solidFill>
            <a:prstDash val="solid"/>
          </a:ln>
        </p:spPr>
      </p:sp>
      <p:sp>
        <p:nvSpPr>
          <p:cNvPr id="24" name="Text 22"/>
          <p:cNvSpPr txBox="1"/>
          <p:nvPr/>
        </p:nvSpPr>
        <p:spPr>
          <a:xfrm>
            <a:off x="6254496" y="5468112"/>
            <a:ext cx="1773936"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Parameter</a:t>
            </a:r>
            <a:endParaRPr lang="en-US" sz="1200" dirty="0"/>
          </a:p>
        </p:txBody>
      </p:sp>
      <p:sp>
        <p:nvSpPr>
          <p:cNvPr id="25" name="Shape 23"/>
          <p:cNvSpPr/>
          <p:nvPr/>
        </p:nvSpPr>
        <p:spPr>
          <a:xfrm>
            <a:off x="8156448" y="5468112"/>
            <a:ext cx="1627632" cy="402336"/>
          </a:xfrm>
          <a:prstGeom prst="roundRect">
            <a:avLst>
              <a:gd name="adj" fmla="val 50000"/>
            </a:avLst>
          </a:prstGeom>
          <a:solidFill>
            <a:srgbClr val="FFFFFF"/>
          </a:solidFill>
          <a:ln w="12700">
            <a:solidFill>
              <a:srgbClr val="2D63FF"/>
            </a:solidFill>
            <a:prstDash val="solid"/>
          </a:ln>
        </p:spPr>
      </p:sp>
      <p:sp>
        <p:nvSpPr>
          <p:cNvPr id="26" name="Text 24"/>
          <p:cNvSpPr txBox="1"/>
          <p:nvPr/>
        </p:nvSpPr>
        <p:spPr>
          <a:xfrm>
            <a:off x="8156448" y="5468112"/>
            <a:ext cx="1627632"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Argument</a:t>
            </a:r>
            <a:endParaRPr lang="en-US" sz="1200" dirty="0"/>
          </a:p>
        </p:txBody>
      </p:sp>
      <p:sp>
        <p:nvSpPr>
          <p:cNvPr id="27" name="Shape 25"/>
          <p:cNvSpPr/>
          <p:nvPr/>
        </p:nvSpPr>
        <p:spPr>
          <a:xfrm>
            <a:off x="9912096" y="5468112"/>
            <a:ext cx="1335024" cy="402336"/>
          </a:xfrm>
          <a:prstGeom prst="roundRect">
            <a:avLst>
              <a:gd name="adj" fmla="val 50000"/>
            </a:avLst>
          </a:prstGeom>
          <a:solidFill>
            <a:srgbClr val="FFFFFF"/>
          </a:solidFill>
          <a:ln w="12700">
            <a:solidFill>
              <a:srgbClr val="2D63FF"/>
            </a:solidFill>
            <a:prstDash val="solid"/>
          </a:ln>
        </p:spPr>
      </p:sp>
      <p:sp>
        <p:nvSpPr>
          <p:cNvPr id="28" name="Text 26"/>
          <p:cNvSpPr txBox="1"/>
          <p:nvPr/>
        </p:nvSpPr>
        <p:spPr>
          <a:xfrm>
            <a:off x="9912096" y="5468112"/>
            <a:ext cx="133502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return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A program defines a subprogram called banner with one print line inside it, and then stops. Nothing is printed when it runs. Explain why, and write down the line that has been left out.</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Subprograms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Plan before you type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task and its brief. Work out the inputs, what happens to them, and exactly what is printed.</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Write it and run it</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Type the program in the editor and press Run to see what it does. Then press Check to mark it against the tests.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 failures</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A test that fails tells you what was expected and what came out. Fix and run it again - that is what programmers do.</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Writing a procedure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def names a subprogram, and the indented block below it is what that subprogram does.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Nothing happens until the name is called, with brackets after it.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defining a procedure and never calling it, so none of it ever runs.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What is the difference between defining a procedure and calling it?</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Writing a job once and then calling it as often as you like is known as...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Parameters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parameter in the brackets lets whoever calls the subprogram pass a value in.</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value handed over is the argument, and inside it is used like any other variable.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giving the arguments in a different order from the parameters.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Why is a procedure with a parameter more useful than one without?</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The names in the brackets of the definition are the parameters, and the values handed over at the call are the...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Returning a value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return hands a value back to whatever called the subprogram.</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call can then be stored in a variable, printed, or used inside a bigger sum.</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printing inside when the task says return, so nothing is handed back.</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Why would a task insist a subprogram returns a value rather than prints it?</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return hands the value back and ends the subprogram on the spot, so a line written after it...</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Functions and procedures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function returns a value; a procedure just does a job and returns nothing.</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Both are subprograms, and in Python both are written with def.</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calling something a function when all it does is print.</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Decide whether each subprogram in your program is a function or a procedure.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The one thing that makes a subprogram a function rather than a procedure is that it...</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Local and global</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variable made inside a subprogram is local: it exists only while that subprogram runs.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global variable belongs to the main program, and global lets a subprogram change it.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expecting a local variable's value to survive after the subprogram ends.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Why can two subprograms both use a variable called total without clashing?</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Keeping a variable local stops one part of a program quietly breaking...</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Putting it together</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subprogram may call another one, so a big job splits into small named steps.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Calling a function inside a loop lets one piece of code answer the same question many times.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repeating the same lines instead of writing one subprogram and calling it.</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Which parts of a long program are worth turning into subprograms, and which must return a value?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Breaking a problem down into small named parts has a name you met in topic 2.1:...</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Function or procedure?</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Eight subprograms are described on the floor below you. Tap the star and decide whether each one is a function or a procedure.</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Why bother</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A job written once and called from four places is tested once and fixed once. The same lines copied four times are four bugs waiting to happen.</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Default values</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A parameter can be given a default value in the definition, so the subprogram still runs when the caller leaves that argument out. The default is used only when no value is handed over.</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Returning more</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return can hand back several values at once, separated by commas, and the caller unpacks them.</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Already written</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len(), int() and round() are functions somebody else wrote: you call them exactly the way you call your own.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A function called double holds one line, print(n * 2). The main program writes answer = double(7) and then prints answer, which shows None. Explain why None is printed, and write the line inside double corrected.</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[3]</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Write a function that takes two whole numbers and returns the larger of them, and a main program that reads two numbers and prints the value the function hands back.</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[5]</a:t>
            </a:r>
            <a:endParaRPr lang="en-US" sz="1500" dirty="0"/>
          </a:p>
        </p:txBody>
      </p:sp>
      <p:sp>
        <p:nvSpPr>
          <p:cNvPr id="15" name="Shape 13"/>
          <p:cNvSpPr/>
          <p:nvPr/>
        </p:nvSpPr>
        <p:spPr>
          <a:xfrm>
            <a:off x="502920" y="4425696"/>
            <a:ext cx="11155680" cy="1097280"/>
          </a:xfrm>
          <a:prstGeom prst="roundRect">
            <a:avLst>
              <a:gd name="adj" fmla="val 10000"/>
            </a:avLst>
          </a:prstGeom>
          <a:solidFill>
            <a:srgbClr val="FFFFFF"/>
          </a:solidFill>
          <a:ln w="15875">
            <a:solidFill>
              <a:srgbClr val="D9DEE7"/>
            </a:solidFill>
            <a:prstDash val="solid"/>
          </a:ln>
        </p:spPr>
      </p:sp>
      <p:sp>
        <p:nvSpPr>
          <p:cNvPr id="16" name="Text 14"/>
          <p:cNvSpPr txBox="1"/>
          <p:nvPr/>
        </p:nvSpPr>
        <p:spPr>
          <a:xfrm>
            <a:off x="914400" y="4535424"/>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Write a procedure that takes a word and a whole number and prints them on one line with a single space between them, then call it for three different pairs of values.</a:t>
            </a:r>
            <a:endParaRPr lang="en-US" sz="1700" dirty="0"/>
          </a:p>
        </p:txBody>
      </p:sp>
      <p:sp>
        <p:nvSpPr>
          <p:cNvPr id="17" name="Shape 15"/>
          <p:cNvSpPr/>
          <p:nvPr/>
        </p:nvSpPr>
        <p:spPr>
          <a:xfrm>
            <a:off x="10515600" y="4727448"/>
            <a:ext cx="868680" cy="493776"/>
          </a:xfrm>
          <a:prstGeom prst="roundRect">
            <a:avLst>
              <a:gd name="adj" fmla="val 18519"/>
            </a:avLst>
          </a:prstGeom>
          <a:solidFill>
            <a:srgbClr val="EEF2FB"/>
          </a:solidFill>
          <a:ln/>
        </p:spPr>
      </p:sp>
      <p:sp>
        <p:nvSpPr>
          <p:cNvPr id="18" name="Text 16"/>
          <p:cNvSpPr txBox="1"/>
          <p:nvPr/>
        </p:nvSpPr>
        <p:spPr>
          <a:xfrm>
            <a:off x="10515600" y="4727448"/>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[4]</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Defining a subprogram and calling it</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Passing values in with parameters and back with return</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Telling a local variable from a global one</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Subprograms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programming  |  Lesson 9 — Subprograms</dc:title>
  <dc:subject>OCR J277 GCSE Computer Science</dc:subject>
  <dc:creator>Revise 360 Ltd</dc:creator>
  <cp:lastModifiedBy>Revise 360 Ltd</cp:lastModifiedBy>
  <cp:revision>1</cp:revision>
  <dcterms:created xsi:type="dcterms:W3CDTF">2026-10-02T16:28:29Z</dcterms:created>
  <dcterms:modified xsi:type="dcterms:W3CDTF">2026-10-02T16:28:29Z</dcterms:modified>
</cp:coreProperties>
</file>