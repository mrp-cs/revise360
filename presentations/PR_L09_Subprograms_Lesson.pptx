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9: Subprograms.
Open the experience at revise360.co.uk and hand out PR_L09_Subprograms_Worksheet.docx.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 the objectives, then go straight into the starter. Devices stay away for the first five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Silent start. Take two or three answers before moving on: this is where misconceptions surface.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 on writing before tapping. That single rule is the difference between revision and a quiz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1: Writing a procedure.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2: Parameters.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3: Returning a value.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4: Functions and procedures.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5: Local and global.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6: Putting it together.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answer is B: 5
None.
Do not say it yet. Every pupil commits first - fingers, whiteboards or a show of hands on each letter in turn - and you count the split before anyone can change their mind.
IF MOST OF THE CLASS IS RIGHT: say why it is right in one sentence and go straight on to the independent work.
IF A SIGNIFICANT GROUP IS ON ONE WRONG LETTER: that option is the misconception to teach against before anyone goes on. Go back to station 4, Functions and procedures, and work through its example again, aloud, with the class watching, then re-ask this question.
The course's own response to a wrong answer here: The 5 on screen came from the print inside total. Nothing was handed back, so answer holds None. This is the mistake to watch for all lesson.
A limitation, stated rather than papered over: one response covers every wrong option; it does not say what to revisit for each one. The course does not record what each separate wrong option means, and this slide does not invent it. Decide your own reteach for each option before the lesson; the options above are the start of it.
This is a real activity from the experience (pr-l09-s4-c2), so the wording here is the wording a pupil will see.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them commit to an answer on paper before they tap the star. Guessing first costs them the learning.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these as a settler, or as something for early finishers to read in the experience.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Timed and silent. Mark against the answer sheet, then ask students to record their weakest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copy their score-screen breakdown onto the worksheet, then rate themselves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1828"/>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822960" y="1417320"/>
            <a:ext cx="10515600" cy="411480"/>
          </a:xfrm>
          <a:prstGeom prst="rect">
            <a:avLst/>
          </a:prstGeom>
          <a:noFill/>
          <a:ln/>
        </p:spPr>
        <p:txBody>
          <a:bodyPr wrap="square" lIns="0" tIns="0" rIns="0" bIns="0" rtlCol="0" anchor="ctr"/>
          <a:lstStyle/>
          <a:p>
            <a:pPr indent="0" marL="0">
              <a:buNone/>
            </a:pPr>
            <a:r>
              <a:rPr lang="en-US" sz="1500" dirty="0">
                <a:solidFill>
                  <a:srgbClr val="F4B942"/>
                </a:solidFill>
                <a:latin typeface="IBM Plex Mono" pitchFamily="34" charset="0"/>
                <a:ea typeface="IBM Plex Mono" pitchFamily="34" charset="-122"/>
                <a:cs typeface="IBM Plex Mono" pitchFamily="34" charset="-120"/>
              </a:rPr>
              <a:t>Python programming  |  Lesson 9</a:t>
            </a:r>
            <a:endParaRPr lang="en-US" sz="1500" dirty="0"/>
          </a:p>
        </p:txBody>
      </p:sp>
      <p:sp>
        <p:nvSpPr>
          <p:cNvPr id="4" name="Text 2"/>
          <p:cNvSpPr txBox="1"/>
          <p:nvPr/>
        </p:nvSpPr>
        <p:spPr>
          <a:xfrm>
            <a:off x="822960" y="1920240"/>
            <a:ext cx="10515600" cy="1280160"/>
          </a:xfrm>
          <a:prstGeom prst="rect">
            <a:avLst/>
          </a:prstGeom>
          <a:noFill/>
          <a:ln/>
        </p:spPr>
        <p:txBody>
          <a:bodyPr wrap="square" lIns="0" tIns="0" rIns="0" bIns="0" rtlCol="0" anchor="ctr"/>
          <a:lstStyle/>
          <a:p>
            <a:pPr indent="0" marL="0">
              <a:buNone/>
            </a:pPr>
            <a:r>
              <a:rPr lang="en-US" sz="6000" b="1" dirty="0">
                <a:solidFill>
                  <a:srgbClr val="FFFFFF"/>
                </a:solidFill>
                <a:latin typeface="IBM Plex Sans" pitchFamily="34" charset="0"/>
                <a:ea typeface="IBM Plex Sans" pitchFamily="34" charset="-122"/>
                <a:cs typeface="IBM Plex Sans" pitchFamily="34" charset="-120"/>
              </a:rPr>
              <a:t>Subprograms</a:t>
            </a:r>
            <a:endParaRPr lang="en-US" sz="6000" dirty="0"/>
          </a:p>
        </p:txBody>
      </p:sp>
      <p:sp>
        <p:nvSpPr>
          <p:cNvPr id="5" name="Text 3"/>
          <p:cNvSpPr txBox="1"/>
          <p:nvPr/>
        </p:nvSpPr>
        <p:spPr>
          <a:xfrm>
            <a:off x="822960" y="3291840"/>
            <a:ext cx="9509760" cy="1371600"/>
          </a:xfrm>
          <a:prstGeom prst="rect">
            <a:avLst/>
          </a:prstGeom>
          <a:noFill/>
          <a:ln/>
        </p:spPr>
        <p:txBody>
          <a:bodyPr wrap="square" lIns="0" tIns="0" rIns="0" bIns="0" rtlCol="0" anchor="ctr"/>
          <a:lstStyle/>
          <a:p>
            <a:pPr indent="0" marL="0">
              <a:lnSpc>
                <a:spcPct val="125000"/>
              </a:lnSpc>
              <a:buNone/>
            </a:pPr>
            <a:r>
              <a:rPr lang="en-US" sz="1800" dirty="0">
                <a:solidFill>
                  <a:srgbClr val="C7CDD9"/>
                </a:solidFill>
                <a:latin typeface="IBM Plex Sans" pitchFamily="34" charset="0"/>
                <a:ea typeface="IBM Plex Sans" pitchFamily="34" charset="-122"/>
                <a:cs typeface="IBM Plex Sans" pitchFamily="34" charset="-120"/>
              </a:rPr>
              <a:t>Long programs are built out of small named parts, each one written once and called whenever it is wanted. Work through the six stations and you will write procedures and functions, pass values into them with parameters and get answers back out with return.</a:t>
            </a:r>
            <a:endParaRPr lang="en-US" sz="1800" dirty="0"/>
          </a:p>
        </p:txBody>
      </p:sp>
      <p:sp>
        <p:nvSpPr>
          <p:cNvPr id="6" name="Shape 4"/>
          <p:cNvSpPr/>
          <p:nvPr/>
        </p:nvSpPr>
        <p:spPr>
          <a:xfrm>
            <a:off x="822960" y="4846320"/>
            <a:ext cx="2926080" cy="0"/>
          </a:xfrm>
          <a:prstGeom prst="line">
            <a:avLst/>
          </a:prstGeom>
          <a:noFill/>
          <a:ln w="31750">
            <a:solidFill>
              <a:srgbClr val="2D63FF"/>
            </a:solidFill>
            <a:prstDash val="solid"/>
          </a:ln>
        </p:spPr>
      </p:sp>
      <p:sp>
        <p:nvSpPr>
          <p:cNvPr id="7" name="Text 5"/>
          <p:cNvSpPr txBox="1"/>
          <p:nvPr/>
        </p:nvSpPr>
        <p:spPr>
          <a:xfrm>
            <a:off x="822960" y="5029200"/>
            <a:ext cx="10515600" cy="365760"/>
          </a:xfrm>
          <a:prstGeom prst="rect">
            <a:avLst/>
          </a:prstGeom>
          <a:noFill/>
          <a:ln/>
        </p:spPr>
        <p:txBody>
          <a:bodyPr wrap="square" lIns="0" tIns="0" rIns="0" bIns="0" rtlCol="0" anchor="ctr"/>
          <a:lstStyle/>
          <a:p>
            <a:pPr indent="0" marL="0">
              <a:buNone/>
            </a:pPr>
            <a:r>
              <a:rPr lang="en-US" sz="1300" dirty="0">
                <a:solidFill>
                  <a:srgbClr val="667085"/>
                </a:solidFill>
                <a:latin typeface="IBM Plex Mono" pitchFamily="34" charset="0"/>
                <a:ea typeface="IBM Plex Mono" pitchFamily="34" charset="-122"/>
                <a:cs typeface="IBM Plex Mono" pitchFamily="34" charset="-120"/>
              </a:rPr>
              <a:t>Revise 360 Python course  |  Beyond the OCR J277 specification</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9</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By the end of this lesson</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When should a subprogram return a value rather than print one?</a:t>
            </a:r>
            <a:endParaRPr lang="en-US" sz="1500" dirty="0"/>
          </a:p>
        </p:txBody>
      </p:sp>
      <p:sp>
        <p:nvSpPr>
          <p:cNvPr id="7" name="Shape 5"/>
          <p:cNvSpPr/>
          <p:nvPr/>
        </p:nvSpPr>
        <p:spPr>
          <a:xfrm>
            <a:off x="548640" y="1965960"/>
            <a:ext cx="566928" cy="566928"/>
          </a:xfrm>
          <a:prstGeom prst="ellipse">
            <a:avLst/>
          </a:prstGeom>
          <a:solidFill>
            <a:srgbClr val="2D63FF"/>
          </a:solidFill>
          <a:ln/>
        </p:spPr>
      </p:sp>
      <p:sp>
        <p:nvSpPr>
          <p:cNvPr id="8" name="Text 6"/>
          <p:cNvSpPr txBox="1"/>
          <p:nvPr/>
        </p:nvSpPr>
        <p:spPr>
          <a:xfrm>
            <a:off x="548640" y="196596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9" name="Text 7"/>
          <p:cNvSpPr txBox="1"/>
          <p:nvPr/>
        </p:nvSpPr>
        <p:spPr>
          <a:xfrm>
            <a:off x="1325880" y="1965960"/>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Know how to define a subprogram with def and how to call it</a:t>
            </a:r>
            <a:endParaRPr lang="en-US" sz="1900" dirty="0"/>
          </a:p>
        </p:txBody>
      </p:sp>
      <p:sp>
        <p:nvSpPr>
          <p:cNvPr id="10" name="Shape 8"/>
          <p:cNvSpPr/>
          <p:nvPr/>
        </p:nvSpPr>
        <p:spPr>
          <a:xfrm>
            <a:off x="548640" y="2898648"/>
            <a:ext cx="566928" cy="566928"/>
          </a:xfrm>
          <a:prstGeom prst="ellipse">
            <a:avLst/>
          </a:prstGeom>
          <a:solidFill>
            <a:srgbClr val="2D63FF"/>
          </a:solidFill>
          <a:ln/>
        </p:spPr>
      </p:sp>
      <p:sp>
        <p:nvSpPr>
          <p:cNvPr id="11" name="Text 9"/>
          <p:cNvSpPr txBox="1"/>
          <p:nvPr/>
        </p:nvSpPr>
        <p:spPr>
          <a:xfrm>
            <a:off x="548640" y="28986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12" name="Text 10"/>
          <p:cNvSpPr txBox="1"/>
          <p:nvPr/>
        </p:nvSpPr>
        <p:spPr>
          <a:xfrm>
            <a:off x="1325880" y="2898648"/>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Understand how a parameter carries a value into a subprogram and how return carries one back out</a:t>
            </a:r>
            <a:endParaRPr lang="en-US" sz="1900" dirty="0"/>
          </a:p>
        </p:txBody>
      </p:sp>
      <p:sp>
        <p:nvSpPr>
          <p:cNvPr id="13" name="Shape 11"/>
          <p:cNvSpPr/>
          <p:nvPr/>
        </p:nvSpPr>
        <p:spPr>
          <a:xfrm>
            <a:off x="548640" y="3831336"/>
            <a:ext cx="566928" cy="566928"/>
          </a:xfrm>
          <a:prstGeom prst="ellipse">
            <a:avLst/>
          </a:prstGeom>
          <a:solidFill>
            <a:srgbClr val="2D63FF"/>
          </a:solidFill>
          <a:ln/>
        </p:spPr>
      </p:sp>
      <p:sp>
        <p:nvSpPr>
          <p:cNvPr id="14" name="Text 12"/>
          <p:cNvSpPr txBox="1"/>
          <p:nvPr/>
        </p:nvSpPr>
        <p:spPr>
          <a:xfrm>
            <a:off x="548640" y="383133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15" name="Text 13"/>
          <p:cNvSpPr txBox="1"/>
          <p:nvPr/>
        </p:nvSpPr>
        <p:spPr>
          <a:xfrm>
            <a:off x="1325880" y="3831336"/>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Know how to write a subprogram that uses a variable of its own, and one that changes a shared variable</a:t>
            </a:r>
            <a:endParaRPr lang="en-US" sz="1900" dirty="0"/>
          </a:p>
        </p:txBody>
      </p:sp>
      <p:sp>
        <p:nvSpPr>
          <p:cNvPr id="16" name="Text 14"/>
          <p:cNvSpPr txBox="1"/>
          <p:nvPr/>
        </p:nvSpPr>
        <p:spPr>
          <a:xfrm>
            <a:off x="548640" y="5084064"/>
            <a:ext cx="2743200" cy="320040"/>
          </a:xfrm>
          <a:prstGeom prst="rect">
            <a:avLst/>
          </a:prstGeom>
          <a:noFill/>
          <a:ln/>
        </p:spPr>
        <p:txBody>
          <a:bodyPr wrap="square" lIns="0" tIns="0" rIns="0" bIns="0" rtlCol="0" anchor="ctr"/>
          <a:lstStyle/>
          <a:p>
            <a:pPr indent="0" marL="0">
              <a:buNone/>
            </a:pPr>
            <a:r>
              <a:rPr lang="en-US" sz="1200" dirty="0">
                <a:solidFill>
                  <a:srgbClr val="667085"/>
                </a:solidFill>
                <a:latin typeface="IBM Plex Mono" pitchFamily="34" charset="0"/>
                <a:ea typeface="IBM Plex Mono" pitchFamily="34" charset="-122"/>
                <a:cs typeface="IBM Plex Mono" pitchFamily="34" charset="-120"/>
              </a:rPr>
              <a:t>Key words</a:t>
            </a:r>
            <a:endParaRPr lang="en-US" sz="1200" dirty="0"/>
          </a:p>
        </p:txBody>
      </p:sp>
      <p:sp>
        <p:nvSpPr>
          <p:cNvPr id="17" name="Shape 15"/>
          <p:cNvSpPr/>
          <p:nvPr/>
        </p:nvSpPr>
        <p:spPr>
          <a:xfrm>
            <a:off x="548640" y="5468112"/>
            <a:ext cx="1920240" cy="402336"/>
          </a:xfrm>
          <a:prstGeom prst="roundRect">
            <a:avLst>
              <a:gd name="adj" fmla="val 50000"/>
            </a:avLst>
          </a:prstGeom>
          <a:solidFill>
            <a:srgbClr val="FFFFFF"/>
          </a:solidFill>
          <a:ln w="12700">
            <a:solidFill>
              <a:srgbClr val="2D63FF"/>
            </a:solidFill>
            <a:prstDash val="solid"/>
          </a:ln>
        </p:spPr>
      </p:sp>
      <p:sp>
        <p:nvSpPr>
          <p:cNvPr id="18" name="Text 16"/>
          <p:cNvSpPr txBox="1"/>
          <p:nvPr/>
        </p:nvSpPr>
        <p:spPr>
          <a:xfrm>
            <a:off x="548640" y="5468112"/>
            <a:ext cx="1920240"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Subprogram</a:t>
            </a:r>
            <a:endParaRPr lang="en-US" sz="1200" dirty="0"/>
          </a:p>
        </p:txBody>
      </p:sp>
      <p:sp>
        <p:nvSpPr>
          <p:cNvPr id="19" name="Shape 17"/>
          <p:cNvSpPr/>
          <p:nvPr/>
        </p:nvSpPr>
        <p:spPr>
          <a:xfrm>
            <a:off x="2596896" y="5468112"/>
            <a:ext cx="1773936" cy="402336"/>
          </a:xfrm>
          <a:prstGeom prst="roundRect">
            <a:avLst>
              <a:gd name="adj" fmla="val 50000"/>
            </a:avLst>
          </a:prstGeom>
          <a:solidFill>
            <a:srgbClr val="FFFFFF"/>
          </a:solidFill>
          <a:ln w="12700">
            <a:solidFill>
              <a:srgbClr val="2D63FF"/>
            </a:solidFill>
            <a:prstDash val="solid"/>
          </a:ln>
        </p:spPr>
      </p:sp>
      <p:sp>
        <p:nvSpPr>
          <p:cNvPr id="20" name="Text 18"/>
          <p:cNvSpPr txBox="1"/>
          <p:nvPr/>
        </p:nvSpPr>
        <p:spPr>
          <a:xfrm>
            <a:off x="2596896" y="5468112"/>
            <a:ext cx="1773936"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Procedure</a:t>
            </a:r>
            <a:endParaRPr lang="en-US" sz="1200" dirty="0"/>
          </a:p>
        </p:txBody>
      </p:sp>
      <p:sp>
        <p:nvSpPr>
          <p:cNvPr id="21" name="Shape 19"/>
          <p:cNvSpPr/>
          <p:nvPr/>
        </p:nvSpPr>
        <p:spPr>
          <a:xfrm>
            <a:off x="4498848" y="5468112"/>
            <a:ext cx="1627632" cy="402336"/>
          </a:xfrm>
          <a:prstGeom prst="roundRect">
            <a:avLst>
              <a:gd name="adj" fmla="val 50000"/>
            </a:avLst>
          </a:prstGeom>
          <a:solidFill>
            <a:srgbClr val="FFFFFF"/>
          </a:solidFill>
          <a:ln w="12700">
            <a:solidFill>
              <a:srgbClr val="2D63FF"/>
            </a:solidFill>
            <a:prstDash val="solid"/>
          </a:ln>
        </p:spPr>
      </p:sp>
      <p:sp>
        <p:nvSpPr>
          <p:cNvPr id="22" name="Text 20"/>
          <p:cNvSpPr txBox="1"/>
          <p:nvPr/>
        </p:nvSpPr>
        <p:spPr>
          <a:xfrm>
            <a:off x="4498848" y="5468112"/>
            <a:ext cx="1627632"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Function</a:t>
            </a:r>
            <a:endParaRPr lang="en-US" sz="1200" dirty="0"/>
          </a:p>
        </p:txBody>
      </p:sp>
      <p:sp>
        <p:nvSpPr>
          <p:cNvPr id="23" name="Shape 21"/>
          <p:cNvSpPr/>
          <p:nvPr/>
        </p:nvSpPr>
        <p:spPr>
          <a:xfrm>
            <a:off x="6254496" y="5468112"/>
            <a:ext cx="1773936" cy="402336"/>
          </a:xfrm>
          <a:prstGeom prst="roundRect">
            <a:avLst>
              <a:gd name="adj" fmla="val 50000"/>
            </a:avLst>
          </a:prstGeom>
          <a:solidFill>
            <a:srgbClr val="FFFFFF"/>
          </a:solidFill>
          <a:ln w="12700">
            <a:solidFill>
              <a:srgbClr val="2D63FF"/>
            </a:solidFill>
            <a:prstDash val="solid"/>
          </a:ln>
        </p:spPr>
      </p:sp>
      <p:sp>
        <p:nvSpPr>
          <p:cNvPr id="24" name="Text 22"/>
          <p:cNvSpPr txBox="1"/>
          <p:nvPr/>
        </p:nvSpPr>
        <p:spPr>
          <a:xfrm>
            <a:off x="6254496" y="5468112"/>
            <a:ext cx="1773936"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Parameter</a:t>
            </a:r>
            <a:endParaRPr lang="en-US" sz="1200" dirty="0"/>
          </a:p>
        </p:txBody>
      </p:sp>
      <p:sp>
        <p:nvSpPr>
          <p:cNvPr id="25" name="Shape 23"/>
          <p:cNvSpPr/>
          <p:nvPr/>
        </p:nvSpPr>
        <p:spPr>
          <a:xfrm>
            <a:off x="8156448" y="5468112"/>
            <a:ext cx="1627632" cy="402336"/>
          </a:xfrm>
          <a:prstGeom prst="roundRect">
            <a:avLst>
              <a:gd name="adj" fmla="val 50000"/>
            </a:avLst>
          </a:prstGeom>
          <a:solidFill>
            <a:srgbClr val="FFFFFF"/>
          </a:solidFill>
          <a:ln w="12700">
            <a:solidFill>
              <a:srgbClr val="2D63FF"/>
            </a:solidFill>
            <a:prstDash val="solid"/>
          </a:ln>
        </p:spPr>
      </p:sp>
      <p:sp>
        <p:nvSpPr>
          <p:cNvPr id="26" name="Text 24"/>
          <p:cNvSpPr txBox="1"/>
          <p:nvPr/>
        </p:nvSpPr>
        <p:spPr>
          <a:xfrm>
            <a:off x="8156448" y="5468112"/>
            <a:ext cx="1627632"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Argument</a:t>
            </a:r>
            <a:endParaRPr lang="en-US" sz="1200" dirty="0"/>
          </a:p>
        </p:txBody>
      </p:sp>
      <p:sp>
        <p:nvSpPr>
          <p:cNvPr id="27" name="Shape 25"/>
          <p:cNvSpPr/>
          <p:nvPr/>
        </p:nvSpPr>
        <p:spPr>
          <a:xfrm>
            <a:off x="9912096" y="5468112"/>
            <a:ext cx="1335024" cy="402336"/>
          </a:xfrm>
          <a:prstGeom prst="roundRect">
            <a:avLst>
              <a:gd name="adj" fmla="val 50000"/>
            </a:avLst>
          </a:prstGeom>
          <a:solidFill>
            <a:srgbClr val="FFFFFF"/>
          </a:solidFill>
          <a:ln w="12700">
            <a:solidFill>
              <a:srgbClr val="2D63FF"/>
            </a:solidFill>
            <a:prstDash val="solid"/>
          </a:ln>
        </p:spPr>
      </p:sp>
      <p:sp>
        <p:nvSpPr>
          <p:cNvPr id="28" name="Text 26"/>
          <p:cNvSpPr txBox="1"/>
          <p:nvPr/>
        </p:nvSpPr>
        <p:spPr>
          <a:xfrm>
            <a:off x="9912096" y="5468112"/>
            <a:ext cx="1335024"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return</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9</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57200"/>
            <a:ext cx="2103120" cy="457200"/>
          </a:xfrm>
          <a:prstGeom prst="roundRect">
            <a:avLst>
              <a:gd name="adj" fmla="val 20000"/>
            </a:avLst>
          </a:prstGeom>
          <a:solidFill>
            <a:srgbClr val="F4B942"/>
          </a:solidFill>
          <a:ln/>
        </p:spPr>
      </p:sp>
      <p:sp>
        <p:nvSpPr>
          <p:cNvPr id="6" name="Text 4"/>
          <p:cNvSpPr txBox="1"/>
          <p:nvPr/>
        </p:nvSpPr>
        <p:spPr>
          <a:xfrm>
            <a:off x="502920" y="457200"/>
            <a:ext cx="2103120" cy="457200"/>
          </a:xfrm>
          <a:prstGeom prst="rect">
            <a:avLst/>
          </a:prstGeom>
          <a:noFill/>
          <a:ln/>
        </p:spPr>
        <p:txBody>
          <a:bodyPr wrap="square" lIns="0" tIns="0" rIns="0" bIns="0" rtlCol="0" anchor="ctr"/>
          <a:lstStyle/>
          <a:p>
            <a:pPr algn="ctr" indent="0" marL="0">
              <a:buNone/>
            </a:pPr>
            <a:r>
              <a:rPr lang="en-US" sz="1300" b="1" dirty="0">
                <a:solidFill>
                  <a:srgbClr val="101828"/>
                </a:solidFill>
                <a:latin typeface="IBM Plex Mono" pitchFamily="34" charset="0"/>
                <a:ea typeface="IBM Plex Mono" pitchFamily="34" charset="-122"/>
                <a:cs typeface="IBM Plex Mono" pitchFamily="34" charset="-120"/>
              </a:rPr>
              <a:t>STARTER</a:t>
            </a:r>
            <a:endParaRPr lang="en-US" sz="1300" dirty="0"/>
          </a:p>
        </p:txBody>
      </p:sp>
      <p:sp>
        <p:nvSpPr>
          <p:cNvPr id="7" name="Text 5"/>
          <p:cNvSpPr txBox="1"/>
          <p:nvPr/>
        </p:nvSpPr>
        <p:spPr>
          <a:xfrm>
            <a:off x="2788920" y="457200"/>
            <a:ext cx="5486400" cy="457200"/>
          </a:xfrm>
          <a:prstGeom prst="rect">
            <a:avLst/>
          </a:prstGeom>
          <a:noFill/>
          <a:ln/>
        </p:spPr>
        <p:txBody>
          <a:bodyPr wrap="square" lIns="0" tIns="0" rIns="0" bIns="0" rtlCol="0" anchor="ctr"/>
          <a:lstStyle/>
          <a:p>
            <a:pPr indent="0" marL="0">
              <a:buNone/>
            </a:pPr>
            <a:r>
              <a:rPr lang="en-US" sz="1400" dirty="0">
                <a:solidFill>
                  <a:srgbClr val="667085"/>
                </a:solidFill>
                <a:latin typeface="IBM Plex Sans" pitchFamily="34" charset="0"/>
                <a:ea typeface="IBM Plex Sans" pitchFamily="34" charset="-122"/>
                <a:cs typeface="IBM Plex Sans" pitchFamily="34" charset="-120"/>
              </a:rPr>
              <a:t>Five minutes, on paper</a:t>
            </a:r>
            <a:endParaRPr lang="en-US" sz="1400" dirty="0"/>
          </a:p>
        </p:txBody>
      </p:sp>
      <p:sp>
        <p:nvSpPr>
          <p:cNvPr id="8" name="Shape 6"/>
          <p:cNvSpPr/>
          <p:nvPr/>
        </p:nvSpPr>
        <p:spPr>
          <a:xfrm>
            <a:off x="502920" y="1234440"/>
            <a:ext cx="11155680" cy="3200400"/>
          </a:xfrm>
          <a:prstGeom prst="roundRect">
            <a:avLst>
              <a:gd name="adj" fmla="val 3429"/>
            </a:avLst>
          </a:prstGeom>
          <a:solidFill>
            <a:srgbClr val="FFFFFF"/>
          </a:solidFill>
          <a:ln w="15875">
            <a:solidFill>
              <a:srgbClr val="2D63FF"/>
            </a:solidFill>
            <a:prstDash val="solid"/>
          </a:ln>
        </p:spPr>
      </p:sp>
      <p:sp>
        <p:nvSpPr>
          <p:cNvPr id="9" name="Text 7"/>
          <p:cNvSpPr txBox="1"/>
          <p:nvPr/>
        </p:nvSpPr>
        <p:spPr>
          <a:xfrm>
            <a:off x="1005840" y="1645920"/>
            <a:ext cx="10149840" cy="2377440"/>
          </a:xfrm>
          <a:prstGeom prst="rect">
            <a:avLst/>
          </a:prstGeom>
          <a:noFill/>
          <a:ln/>
        </p:spPr>
        <p:txBody>
          <a:bodyPr wrap="square" lIns="0" tIns="0" rIns="0" bIns="0" rtlCol="0" anchor="ctr"/>
          <a:lstStyle/>
          <a:p>
            <a:pPr indent="0" marL="0">
              <a:lnSpc>
                <a:spcPct val="130000"/>
              </a:lnSpc>
              <a:buNone/>
            </a:pPr>
            <a:r>
              <a:rPr lang="en-US" sz="2600" dirty="0">
                <a:solidFill>
                  <a:srgbClr val="101828"/>
                </a:solidFill>
                <a:latin typeface="IBM Plex Sans" pitchFamily="34" charset="0"/>
                <a:ea typeface="IBM Plex Sans" pitchFamily="34" charset="-122"/>
                <a:cs typeface="IBM Plex Sans" pitchFamily="34" charset="-120"/>
              </a:rPr>
              <a:t>A program defines a subprogram called banner with one print line inside it, and then stops. Nothing is printed when it runs. Explain why, and write down the line that has been left out.</a:t>
            </a:r>
            <a:endParaRPr lang="en-US" sz="2600" dirty="0"/>
          </a:p>
        </p:txBody>
      </p:sp>
      <p:sp>
        <p:nvSpPr>
          <p:cNvPr id="10" name="Text 8"/>
          <p:cNvSpPr txBox="1"/>
          <p:nvPr/>
        </p:nvSpPr>
        <p:spPr>
          <a:xfrm>
            <a:off x="502920" y="4709160"/>
            <a:ext cx="11155680" cy="45720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No devices yet. Write your answer on the worksheet before anyone talks.</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9</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Into the experience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Open Subprograms on revise360.co.uk</a:t>
            </a:r>
            <a:endParaRPr lang="en-US" sz="1500" dirty="0"/>
          </a:p>
        </p:txBody>
      </p:sp>
      <p:sp>
        <p:nvSpPr>
          <p:cNvPr id="7" name="Shape 5"/>
          <p:cNvSpPr/>
          <p:nvPr/>
        </p:nvSpPr>
        <p:spPr>
          <a:xfrm>
            <a:off x="548640" y="1874520"/>
            <a:ext cx="566928" cy="566928"/>
          </a:xfrm>
          <a:prstGeom prst="ellipse">
            <a:avLst/>
          </a:prstGeom>
          <a:solidFill>
            <a:srgbClr val="08A6A6"/>
          </a:solidFill>
          <a:ln/>
        </p:spPr>
      </p:sp>
      <p:sp>
        <p:nvSpPr>
          <p:cNvPr id="8" name="Text 6"/>
          <p:cNvSpPr txBox="1"/>
          <p:nvPr/>
        </p:nvSpPr>
        <p:spPr>
          <a:xfrm>
            <a:off x="548640" y="187452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9" name="Text 7"/>
          <p:cNvSpPr txBox="1"/>
          <p:nvPr/>
        </p:nvSpPr>
        <p:spPr>
          <a:xfrm>
            <a:off x="1325880" y="1856232"/>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Look around</a:t>
            </a:r>
            <a:endParaRPr lang="en-US" sz="1700" dirty="0"/>
          </a:p>
        </p:txBody>
      </p:sp>
      <p:sp>
        <p:nvSpPr>
          <p:cNvPr id="10" name="Text 8"/>
          <p:cNvSpPr txBox="1"/>
          <p:nvPr/>
        </p:nvSpPr>
        <p:spPr>
          <a:xfrm>
            <a:off x="1325880" y="2148840"/>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Six numbered stations are arranged around you. Turn right for 1 and 2, around for 3 and 4, left for 5 and 6.</a:t>
            </a:r>
            <a:endParaRPr lang="en-US" sz="1400" dirty="0"/>
          </a:p>
        </p:txBody>
      </p:sp>
      <p:sp>
        <p:nvSpPr>
          <p:cNvPr id="11" name="Shape 9"/>
          <p:cNvSpPr/>
          <p:nvPr/>
        </p:nvSpPr>
        <p:spPr>
          <a:xfrm>
            <a:off x="548640" y="2898648"/>
            <a:ext cx="566928" cy="566928"/>
          </a:xfrm>
          <a:prstGeom prst="ellipse">
            <a:avLst/>
          </a:prstGeom>
          <a:solidFill>
            <a:srgbClr val="08A6A6"/>
          </a:solidFill>
          <a:ln/>
        </p:spPr>
      </p:sp>
      <p:sp>
        <p:nvSpPr>
          <p:cNvPr id="12" name="Text 10"/>
          <p:cNvSpPr txBox="1"/>
          <p:nvPr/>
        </p:nvSpPr>
        <p:spPr>
          <a:xfrm>
            <a:off x="548640" y="28986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13" name="Text 11"/>
          <p:cNvSpPr txBox="1"/>
          <p:nvPr/>
        </p:nvSpPr>
        <p:spPr>
          <a:xfrm>
            <a:off x="1325880" y="2880360"/>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Plan before you type</a:t>
            </a:r>
            <a:endParaRPr lang="en-US" sz="1700" dirty="0"/>
          </a:p>
        </p:txBody>
      </p:sp>
      <p:sp>
        <p:nvSpPr>
          <p:cNvPr id="14" name="Text 12"/>
          <p:cNvSpPr txBox="1"/>
          <p:nvPr/>
        </p:nvSpPr>
        <p:spPr>
          <a:xfrm>
            <a:off x="1325880" y="3172968"/>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Read the task and its brief. Work out the inputs, what happens to them, and exactly what is printed.</a:t>
            </a:r>
            <a:endParaRPr lang="en-US" sz="1400" dirty="0"/>
          </a:p>
        </p:txBody>
      </p:sp>
      <p:sp>
        <p:nvSpPr>
          <p:cNvPr id="15" name="Shape 13"/>
          <p:cNvSpPr/>
          <p:nvPr/>
        </p:nvSpPr>
        <p:spPr>
          <a:xfrm>
            <a:off x="548640" y="3922776"/>
            <a:ext cx="566928" cy="566928"/>
          </a:xfrm>
          <a:prstGeom prst="ellipse">
            <a:avLst/>
          </a:prstGeom>
          <a:solidFill>
            <a:srgbClr val="08A6A6"/>
          </a:solidFill>
          <a:ln/>
        </p:spPr>
      </p:sp>
      <p:sp>
        <p:nvSpPr>
          <p:cNvPr id="16" name="Text 14"/>
          <p:cNvSpPr txBox="1"/>
          <p:nvPr/>
        </p:nvSpPr>
        <p:spPr>
          <a:xfrm>
            <a:off x="548640" y="392277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17" name="Text 15"/>
          <p:cNvSpPr txBox="1"/>
          <p:nvPr/>
        </p:nvSpPr>
        <p:spPr>
          <a:xfrm>
            <a:off x="1325880" y="3904488"/>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Write it and run it</a:t>
            </a:r>
            <a:endParaRPr lang="en-US" sz="1700" dirty="0"/>
          </a:p>
        </p:txBody>
      </p:sp>
      <p:sp>
        <p:nvSpPr>
          <p:cNvPr id="18" name="Text 16"/>
          <p:cNvSpPr txBox="1"/>
          <p:nvPr/>
        </p:nvSpPr>
        <p:spPr>
          <a:xfrm>
            <a:off x="1325880" y="4197096"/>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Type the program in the editor and press Run to see what it does. Then press Check to mark it against the tests.</a:t>
            </a:r>
            <a:endParaRPr lang="en-US" sz="1400" dirty="0"/>
          </a:p>
        </p:txBody>
      </p:sp>
      <p:sp>
        <p:nvSpPr>
          <p:cNvPr id="19" name="Shape 17"/>
          <p:cNvSpPr/>
          <p:nvPr/>
        </p:nvSpPr>
        <p:spPr>
          <a:xfrm>
            <a:off x="548640" y="4946904"/>
            <a:ext cx="566928" cy="566928"/>
          </a:xfrm>
          <a:prstGeom prst="ellipse">
            <a:avLst/>
          </a:prstGeom>
          <a:solidFill>
            <a:srgbClr val="F4B942"/>
          </a:solidFill>
          <a:ln/>
        </p:spPr>
      </p:sp>
      <p:sp>
        <p:nvSpPr>
          <p:cNvPr id="20" name="Text 18"/>
          <p:cNvSpPr txBox="1"/>
          <p:nvPr/>
        </p:nvSpPr>
        <p:spPr>
          <a:xfrm>
            <a:off x="548640" y="4946904"/>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4</a:t>
            </a:r>
            <a:endParaRPr lang="en-US" sz="2000" dirty="0"/>
          </a:p>
        </p:txBody>
      </p:sp>
      <p:sp>
        <p:nvSpPr>
          <p:cNvPr id="21" name="Text 19"/>
          <p:cNvSpPr txBox="1"/>
          <p:nvPr/>
        </p:nvSpPr>
        <p:spPr>
          <a:xfrm>
            <a:off x="1325880" y="4928616"/>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Read the failures</a:t>
            </a:r>
            <a:endParaRPr lang="en-US" sz="1700" dirty="0"/>
          </a:p>
        </p:txBody>
      </p:sp>
      <p:sp>
        <p:nvSpPr>
          <p:cNvPr id="22" name="Text 20"/>
          <p:cNvSpPr txBox="1"/>
          <p:nvPr/>
        </p:nvSpPr>
        <p:spPr>
          <a:xfrm>
            <a:off x="1325880" y="5221224"/>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A test that fails tells you what was expected and what came out. Fix and run it again - that is what programmers do.</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9</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1</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Writing a procedure</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def names a subprogram, and the indented block below it is what that subprogram does.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Nothing happens until the name is called, with brackets after it.</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defining a procedure and never calling it, so none of it ever runs.</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What is the difference between defining a procedure and calling it?</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Writing a job once and then calling it as often as you like is known as...</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9</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2</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Parameters</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parameter in the brackets lets whoever calls the subprogram pass a value in.</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The value handed over is the argument, and inside it is used like any other variable.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giving the arguments in a different order from the parameters.</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Why is a procedure with a parameter more useful than one without?</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The names in the brackets of the definition are the parameters, and the values handed over at the call are the...</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9</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3</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Returning a value</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return hands a value back to whatever called the subprogram.</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The call can then be stored in a variable, printed, or used inside a bigger sum.</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printing inside when the task says return, so nothing is handed back.</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Why would a task insist a subprogram returns a value rather than prints it?</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return hands the value back and ends the subprogram on the spot, so a line written after it...</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9</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4</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4</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Functions and procedures</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function returns a value; a procedure just does a job and returns nothing.</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Both are subprograms, and in Python both are written with def.</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calling something a function when all it does is print.</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Decide whether each subprogram in your program is a function or a procedure.</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The one thing that makes a subprogram a function rather than a procedure is that it...</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9</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5</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5</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Local and global</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variable made inside a subprogram is local: it exists only while that subprogram runs.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global variable belongs to the main program, and global lets a subprogram change it.</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expecting a local variable's value to survive after the subprogram ends.</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Why can two subprograms both use a variable called total without clashing?</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Keeping a variable local stops one part of a program quietly breaking...</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9</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6</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6</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Putting it together</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subprogram may call another one, so a big job splits into small named steps.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Calling a function inside a loop lets one piece of code answer the same question many times.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repeating the same lines instead of writing one subprogram and calling it.</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Which parts of a long program are worth turning into subprograms, and which must return a value?</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Breaking a problem down into small named parts has a name you met in topic 2.1:...</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9</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57200"/>
            <a:ext cx="1051560" cy="420624"/>
          </a:xfrm>
          <a:prstGeom prst="roundRect">
            <a:avLst>
              <a:gd name="adj" fmla="val 21739"/>
            </a:avLst>
          </a:prstGeom>
          <a:solidFill>
            <a:srgbClr val="F4B942"/>
          </a:solidFill>
          <a:ln/>
        </p:spPr>
      </p:sp>
      <p:sp>
        <p:nvSpPr>
          <p:cNvPr id="6" name="Text 4"/>
          <p:cNvSpPr txBox="1"/>
          <p:nvPr/>
        </p:nvSpPr>
        <p:spPr>
          <a:xfrm>
            <a:off x="502920" y="457200"/>
            <a:ext cx="1051560" cy="420624"/>
          </a:xfrm>
          <a:prstGeom prst="rect">
            <a:avLst/>
          </a:prstGeom>
          <a:noFill/>
          <a:ln/>
        </p:spPr>
        <p:txBody>
          <a:bodyPr wrap="square" lIns="0" tIns="0" rIns="0" bIns="0" rtlCol="0" anchor="ctr"/>
          <a:lstStyle/>
          <a:p>
            <a:pPr algn="ctr" indent="0" marL="0">
              <a:buNone/>
            </a:pPr>
            <a:r>
              <a:rPr lang="en-US" sz="1200" b="1" dirty="0">
                <a:solidFill>
                  <a:srgbClr val="101828"/>
                </a:solidFill>
                <a:latin typeface="IBM Plex Mono" pitchFamily="34" charset="0"/>
                <a:ea typeface="IBM Plex Mono" pitchFamily="34" charset="-122"/>
                <a:cs typeface="IBM Plex Mono" pitchFamily="34" charset="-120"/>
              </a:rPr>
              <a:t>CHECK</a:t>
            </a:r>
            <a:endParaRPr lang="en-US" sz="1200" dirty="0"/>
          </a:p>
        </p:txBody>
      </p:sp>
      <p:sp>
        <p:nvSpPr>
          <p:cNvPr id="7" name="Text 5"/>
          <p:cNvSpPr txBox="1"/>
          <p:nvPr/>
        </p:nvSpPr>
        <p:spPr>
          <a:xfrm>
            <a:off x="1737360" y="457200"/>
            <a:ext cx="9875520" cy="420624"/>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Hands down. Everyone commits.</a:t>
            </a:r>
            <a:endParaRPr lang="en-US" sz="1500" dirty="0"/>
          </a:p>
        </p:txBody>
      </p:sp>
      <p:sp>
        <p:nvSpPr>
          <p:cNvPr id="8" name="Text 6"/>
          <p:cNvSpPr txBox="1"/>
          <p:nvPr/>
        </p:nvSpPr>
        <p:spPr>
          <a:xfrm>
            <a:off x="502920" y="1097280"/>
            <a:ext cx="11155680" cy="914400"/>
          </a:xfrm>
          <a:prstGeom prst="rect">
            <a:avLst/>
          </a:prstGeom>
          <a:noFill/>
          <a:ln/>
        </p:spPr>
        <p:txBody>
          <a:bodyPr wrap="square" lIns="0" tIns="0" rIns="0" bIns="0" rtlCol="0" anchor="ctr"/>
          <a:lstStyle/>
          <a:p>
            <a:pPr indent="0" marL="0">
              <a:lnSpc>
                <a:spcPct val="115000"/>
              </a:lnSpc>
              <a:buNone/>
            </a:pPr>
            <a:r>
              <a:rPr lang="en-US" sz="2600" b="1" dirty="0">
                <a:solidFill>
                  <a:srgbClr val="101828"/>
                </a:solidFill>
                <a:latin typeface="IBM Plex Sans" pitchFamily="34" charset="0"/>
                <a:ea typeface="IBM Plex Sans" pitchFamily="34" charset="-122"/>
                <a:cs typeface="IBM Plex Sans" pitchFamily="34" charset="-120"/>
              </a:rPr>
              <a:t>What will this program display?</a:t>
            </a:r>
            <a:endParaRPr lang="en-US" sz="2600" dirty="0"/>
          </a:p>
        </p:txBody>
      </p:sp>
      <p:sp>
        <p:nvSpPr>
          <p:cNvPr id="9" name="Shape 7"/>
          <p:cNvSpPr/>
          <p:nvPr/>
        </p:nvSpPr>
        <p:spPr>
          <a:xfrm>
            <a:off x="502920" y="2148840"/>
            <a:ext cx="5029200" cy="1554480"/>
          </a:xfrm>
          <a:prstGeom prst="roundRect">
            <a:avLst>
              <a:gd name="adj" fmla="val 7059"/>
            </a:avLst>
          </a:prstGeom>
          <a:solidFill>
            <a:srgbClr val="FFFFFF"/>
          </a:solidFill>
          <a:ln w="15875">
            <a:solidFill>
              <a:srgbClr val="D9DEE7"/>
            </a:solidFill>
            <a:prstDash val="solid"/>
          </a:ln>
        </p:spPr>
      </p:sp>
      <p:sp>
        <p:nvSpPr>
          <p:cNvPr id="10" name="Text 8"/>
          <p:cNvSpPr txBox="1"/>
          <p:nvPr/>
        </p:nvSpPr>
        <p:spPr>
          <a:xfrm>
            <a:off x="822960" y="2350008"/>
            <a:ext cx="4480560" cy="1152144"/>
          </a:xfrm>
          <a:prstGeom prst="rect">
            <a:avLst/>
          </a:prstGeom>
          <a:noFill/>
          <a:ln/>
        </p:spPr>
        <p:txBody>
          <a:bodyPr wrap="square" lIns="0" tIns="0" rIns="0" bIns="0" rtlCol="0" anchor="t"/>
          <a:lstStyle/>
          <a:p>
            <a:pPr indent="0" marL="0">
              <a:lnSpc>
                <a:spcPct val="125000"/>
              </a:lnSpc>
              <a:buNone/>
            </a:pPr>
            <a:r>
              <a:rPr lang="en-US" sz="1500" dirty="0">
                <a:solidFill>
                  <a:srgbClr val="101828"/>
                </a:solidFill>
                <a:latin typeface="IBM Plex Mono" pitchFamily="34" charset="0"/>
                <a:ea typeface="IBM Plex Mono" pitchFamily="34" charset="-122"/>
                <a:cs typeface="IBM Plex Mono" pitchFamily="34" charset="-120"/>
              </a:rPr>
              <a:t>def total(a, b):</a:t>
            </a:r>
            <a:endParaRPr lang="en-US" sz="1500" dirty="0"/>
          </a:p>
          <a:p>
            <a:pPr indent="0" marL="0">
              <a:lnSpc>
                <a:spcPct val="125000"/>
              </a:lnSpc>
              <a:buNone/>
            </a:pPr>
            <a:r>
              <a:rPr lang="en-US" sz="1500" dirty="0">
                <a:solidFill>
                  <a:srgbClr val="101828"/>
                </a:solidFill>
                <a:latin typeface="IBM Plex Mono" pitchFamily="34" charset="0"/>
                <a:ea typeface="IBM Plex Mono" pitchFamily="34" charset="-122"/>
                <a:cs typeface="IBM Plex Mono" pitchFamily="34" charset="-120"/>
              </a:rPr>
              <a:t>    print(a + b)</a:t>
            </a:r>
            <a:endParaRPr lang="en-US" sz="1500" dirty="0"/>
          </a:p>
          <a:p>
            <a:pPr indent="0" marL="0">
              <a:lnSpc>
                <a:spcPct val="125000"/>
              </a:lnSpc>
              <a:buNone/>
            </a:pPr>
            <a:r>
              <a:rPr lang="en-US" sz="1500" dirty="0">
                <a:solidFill>
                  <a:srgbClr val="101828"/>
                </a:solidFill>
                <a:latin typeface="IBM Plex Mono" pitchFamily="34" charset="0"/>
                <a:ea typeface="IBM Plex Mono" pitchFamily="34" charset="-122"/>
                <a:cs typeface="IBM Plex Mono" pitchFamily="34" charset="-120"/>
              </a:rPr>
              <a:t>answer = total(2, 3)</a:t>
            </a:r>
            <a:endParaRPr lang="en-US" sz="1500" dirty="0"/>
          </a:p>
          <a:p>
            <a:pPr indent="0" marL="0">
              <a:lnSpc>
                <a:spcPct val="125000"/>
              </a:lnSpc>
              <a:buNone/>
            </a:pPr>
            <a:r>
              <a:rPr lang="en-US" sz="1500" dirty="0">
                <a:solidFill>
                  <a:srgbClr val="101828"/>
                </a:solidFill>
                <a:latin typeface="IBM Plex Mono" pitchFamily="34" charset="0"/>
                <a:ea typeface="IBM Plex Mono" pitchFamily="34" charset="-122"/>
                <a:cs typeface="IBM Plex Mono" pitchFamily="34" charset="-120"/>
              </a:rPr>
              <a:t>print(answer)</a:t>
            </a:r>
            <a:endParaRPr lang="en-US" sz="1500" dirty="0"/>
          </a:p>
        </p:txBody>
      </p:sp>
      <p:sp>
        <p:nvSpPr>
          <p:cNvPr id="11" name="Shape 9"/>
          <p:cNvSpPr/>
          <p:nvPr/>
        </p:nvSpPr>
        <p:spPr>
          <a:xfrm>
            <a:off x="5806440" y="2148840"/>
            <a:ext cx="5852160" cy="731520"/>
          </a:xfrm>
          <a:prstGeom prst="roundRect">
            <a:avLst>
              <a:gd name="adj" fmla="val 15000"/>
            </a:avLst>
          </a:prstGeom>
          <a:solidFill>
            <a:srgbClr val="FFFFFF"/>
          </a:solidFill>
          <a:ln w="15875">
            <a:solidFill>
              <a:srgbClr val="D9DEE7"/>
            </a:solidFill>
            <a:prstDash val="solid"/>
          </a:ln>
        </p:spPr>
      </p:sp>
      <p:sp>
        <p:nvSpPr>
          <p:cNvPr id="12" name="Shape 10"/>
          <p:cNvSpPr/>
          <p:nvPr/>
        </p:nvSpPr>
        <p:spPr>
          <a:xfrm>
            <a:off x="6080760" y="2295144"/>
            <a:ext cx="438912" cy="438912"/>
          </a:xfrm>
          <a:prstGeom prst="roundRect">
            <a:avLst>
              <a:gd name="adj" fmla="val 20833"/>
            </a:avLst>
          </a:prstGeom>
          <a:solidFill>
            <a:srgbClr val="EEF2FB"/>
          </a:solidFill>
          <a:ln/>
        </p:spPr>
      </p:sp>
      <p:sp>
        <p:nvSpPr>
          <p:cNvPr id="13" name="Text 11"/>
          <p:cNvSpPr txBox="1"/>
          <p:nvPr/>
        </p:nvSpPr>
        <p:spPr>
          <a:xfrm>
            <a:off x="6080760" y="2295144"/>
            <a:ext cx="438912" cy="438912"/>
          </a:xfrm>
          <a:prstGeom prst="rect">
            <a:avLst/>
          </a:prstGeom>
          <a:noFill/>
          <a:ln/>
        </p:spPr>
        <p:txBody>
          <a:bodyPr wrap="square" lIns="0" tIns="0" rIns="0" bIns="0" rtlCol="0" anchor="ctr"/>
          <a:lstStyle/>
          <a:p>
            <a:pPr algn="ctr" indent="0" marL="0">
              <a:buNone/>
            </a:pPr>
            <a:r>
              <a:rPr lang="en-US" sz="1300" b="1" dirty="0">
                <a:solidFill>
                  <a:srgbClr val="2D63FF"/>
                </a:solidFill>
                <a:latin typeface="IBM Plex Mono" pitchFamily="34" charset="0"/>
                <a:ea typeface="IBM Plex Mono" pitchFamily="34" charset="-122"/>
                <a:cs typeface="IBM Plex Mono" pitchFamily="34" charset="-120"/>
              </a:rPr>
              <a:t>A</a:t>
            </a:r>
            <a:endParaRPr lang="en-US" sz="1300" dirty="0"/>
          </a:p>
        </p:txBody>
      </p:sp>
      <p:sp>
        <p:nvSpPr>
          <p:cNvPr id="14" name="Text 12"/>
          <p:cNvSpPr txBox="1"/>
          <p:nvPr/>
        </p:nvSpPr>
        <p:spPr>
          <a:xfrm>
            <a:off x="6720840" y="2148840"/>
            <a:ext cx="4754880" cy="731520"/>
          </a:xfrm>
          <a:prstGeom prst="rect">
            <a:avLst/>
          </a:prstGeom>
          <a:noFill/>
          <a:ln/>
        </p:spPr>
        <p:txBody>
          <a:bodyPr wrap="square" lIns="0" tIns="0" rIns="0" bIns="0" rtlCol="0" anchor="ctr"/>
          <a:lstStyle/>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None</a:t>
            </a:r>
            <a:endParaRPr lang="en-US" sz="1700" dirty="0"/>
          </a:p>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5</a:t>
            </a:r>
            <a:endParaRPr lang="en-US" sz="1700" dirty="0"/>
          </a:p>
        </p:txBody>
      </p:sp>
      <p:sp>
        <p:nvSpPr>
          <p:cNvPr id="15" name="Shape 13"/>
          <p:cNvSpPr/>
          <p:nvPr/>
        </p:nvSpPr>
        <p:spPr>
          <a:xfrm>
            <a:off x="5806440" y="3017520"/>
            <a:ext cx="5852160" cy="731520"/>
          </a:xfrm>
          <a:prstGeom prst="roundRect">
            <a:avLst>
              <a:gd name="adj" fmla="val 15000"/>
            </a:avLst>
          </a:prstGeom>
          <a:solidFill>
            <a:srgbClr val="FFFFFF"/>
          </a:solidFill>
          <a:ln w="15875">
            <a:solidFill>
              <a:srgbClr val="D9DEE7"/>
            </a:solidFill>
            <a:prstDash val="solid"/>
          </a:ln>
        </p:spPr>
      </p:sp>
      <p:sp>
        <p:nvSpPr>
          <p:cNvPr id="16" name="Shape 14"/>
          <p:cNvSpPr/>
          <p:nvPr/>
        </p:nvSpPr>
        <p:spPr>
          <a:xfrm>
            <a:off x="6080760" y="3163824"/>
            <a:ext cx="438912" cy="438912"/>
          </a:xfrm>
          <a:prstGeom prst="roundRect">
            <a:avLst>
              <a:gd name="adj" fmla="val 20833"/>
            </a:avLst>
          </a:prstGeom>
          <a:solidFill>
            <a:srgbClr val="EEF2FB"/>
          </a:solidFill>
          <a:ln/>
        </p:spPr>
      </p:sp>
      <p:sp>
        <p:nvSpPr>
          <p:cNvPr id="17" name="Text 15"/>
          <p:cNvSpPr txBox="1"/>
          <p:nvPr/>
        </p:nvSpPr>
        <p:spPr>
          <a:xfrm>
            <a:off x="6080760" y="3163824"/>
            <a:ext cx="438912" cy="438912"/>
          </a:xfrm>
          <a:prstGeom prst="rect">
            <a:avLst/>
          </a:prstGeom>
          <a:noFill/>
          <a:ln/>
        </p:spPr>
        <p:txBody>
          <a:bodyPr wrap="square" lIns="0" tIns="0" rIns="0" bIns="0" rtlCol="0" anchor="ctr"/>
          <a:lstStyle/>
          <a:p>
            <a:pPr algn="ctr" indent="0" marL="0">
              <a:buNone/>
            </a:pPr>
            <a:r>
              <a:rPr lang="en-US" sz="1300" b="1" dirty="0">
                <a:solidFill>
                  <a:srgbClr val="2D63FF"/>
                </a:solidFill>
                <a:latin typeface="IBM Plex Mono" pitchFamily="34" charset="0"/>
                <a:ea typeface="IBM Plex Mono" pitchFamily="34" charset="-122"/>
                <a:cs typeface="IBM Plex Mono" pitchFamily="34" charset="-120"/>
              </a:rPr>
              <a:t>B</a:t>
            </a:r>
            <a:endParaRPr lang="en-US" sz="1300" dirty="0"/>
          </a:p>
        </p:txBody>
      </p:sp>
      <p:sp>
        <p:nvSpPr>
          <p:cNvPr id="18" name="Text 16"/>
          <p:cNvSpPr txBox="1"/>
          <p:nvPr/>
        </p:nvSpPr>
        <p:spPr>
          <a:xfrm>
            <a:off x="6720840" y="3017520"/>
            <a:ext cx="4754880" cy="731520"/>
          </a:xfrm>
          <a:prstGeom prst="rect">
            <a:avLst/>
          </a:prstGeom>
          <a:noFill/>
          <a:ln/>
        </p:spPr>
        <p:txBody>
          <a:bodyPr wrap="square" lIns="0" tIns="0" rIns="0" bIns="0" rtlCol="0" anchor="ctr"/>
          <a:lstStyle/>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5</a:t>
            </a:r>
            <a:endParaRPr lang="en-US" sz="1700" dirty="0"/>
          </a:p>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None</a:t>
            </a:r>
            <a:endParaRPr lang="en-US" sz="1700" dirty="0"/>
          </a:p>
        </p:txBody>
      </p:sp>
      <p:sp>
        <p:nvSpPr>
          <p:cNvPr id="19" name="Shape 17"/>
          <p:cNvSpPr/>
          <p:nvPr/>
        </p:nvSpPr>
        <p:spPr>
          <a:xfrm>
            <a:off x="5806440" y="3886200"/>
            <a:ext cx="5852160" cy="731520"/>
          </a:xfrm>
          <a:prstGeom prst="roundRect">
            <a:avLst>
              <a:gd name="adj" fmla="val 15000"/>
            </a:avLst>
          </a:prstGeom>
          <a:solidFill>
            <a:srgbClr val="FFFFFF"/>
          </a:solidFill>
          <a:ln w="15875">
            <a:solidFill>
              <a:srgbClr val="D9DEE7"/>
            </a:solidFill>
            <a:prstDash val="solid"/>
          </a:ln>
        </p:spPr>
      </p:sp>
      <p:sp>
        <p:nvSpPr>
          <p:cNvPr id="20" name="Shape 18"/>
          <p:cNvSpPr/>
          <p:nvPr/>
        </p:nvSpPr>
        <p:spPr>
          <a:xfrm>
            <a:off x="6080760" y="4032504"/>
            <a:ext cx="438912" cy="438912"/>
          </a:xfrm>
          <a:prstGeom prst="roundRect">
            <a:avLst>
              <a:gd name="adj" fmla="val 20833"/>
            </a:avLst>
          </a:prstGeom>
          <a:solidFill>
            <a:srgbClr val="EEF2FB"/>
          </a:solidFill>
          <a:ln/>
        </p:spPr>
      </p:sp>
      <p:sp>
        <p:nvSpPr>
          <p:cNvPr id="21" name="Text 19"/>
          <p:cNvSpPr txBox="1"/>
          <p:nvPr/>
        </p:nvSpPr>
        <p:spPr>
          <a:xfrm>
            <a:off x="6080760" y="4032504"/>
            <a:ext cx="438912" cy="438912"/>
          </a:xfrm>
          <a:prstGeom prst="rect">
            <a:avLst/>
          </a:prstGeom>
          <a:noFill/>
          <a:ln/>
        </p:spPr>
        <p:txBody>
          <a:bodyPr wrap="square" lIns="0" tIns="0" rIns="0" bIns="0" rtlCol="0" anchor="ctr"/>
          <a:lstStyle/>
          <a:p>
            <a:pPr algn="ctr" indent="0" marL="0">
              <a:buNone/>
            </a:pPr>
            <a:r>
              <a:rPr lang="en-US" sz="1300" b="1" dirty="0">
                <a:solidFill>
                  <a:srgbClr val="2D63FF"/>
                </a:solidFill>
                <a:latin typeface="IBM Plex Mono" pitchFamily="34" charset="0"/>
                <a:ea typeface="IBM Plex Mono" pitchFamily="34" charset="-122"/>
                <a:cs typeface="IBM Plex Mono" pitchFamily="34" charset="-120"/>
              </a:rPr>
              <a:t>C</a:t>
            </a:r>
            <a:endParaRPr lang="en-US" sz="1300" dirty="0"/>
          </a:p>
        </p:txBody>
      </p:sp>
      <p:sp>
        <p:nvSpPr>
          <p:cNvPr id="22" name="Text 20"/>
          <p:cNvSpPr txBox="1"/>
          <p:nvPr/>
        </p:nvSpPr>
        <p:spPr>
          <a:xfrm>
            <a:off x="6720840" y="3886200"/>
            <a:ext cx="4754880" cy="731520"/>
          </a:xfrm>
          <a:prstGeom prst="rect">
            <a:avLst/>
          </a:prstGeom>
          <a:noFill/>
          <a:ln/>
        </p:spPr>
        <p:txBody>
          <a:bodyPr wrap="square" lIns="0" tIns="0" rIns="0" bIns="0" rtlCol="0" anchor="ctr"/>
          <a:lstStyle/>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5</a:t>
            </a:r>
            <a:endParaRPr lang="en-US" sz="1700" dirty="0"/>
          </a:p>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5</a:t>
            </a:r>
            <a:endParaRPr lang="en-US" sz="1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9</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38912"/>
            <a:ext cx="3108960" cy="502920"/>
          </a:xfrm>
          <a:prstGeom prst="roundRect">
            <a:avLst>
              <a:gd name="adj" fmla="val 18182"/>
            </a:avLst>
          </a:prstGeom>
          <a:solidFill>
            <a:srgbClr val="F4B942"/>
          </a:solidFill>
          <a:ln/>
        </p:spPr>
      </p:sp>
      <p:sp>
        <p:nvSpPr>
          <p:cNvPr id="6" name="Text 4"/>
          <p:cNvSpPr txBox="1"/>
          <p:nvPr/>
        </p:nvSpPr>
        <p:spPr>
          <a:xfrm>
            <a:off x="502920" y="438912"/>
            <a:ext cx="3108960" cy="502920"/>
          </a:xfrm>
          <a:prstGeom prst="rect">
            <a:avLst/>
          </a:prstGeom>
          <a:noFill/>
          <a:ln/>
        </p:spPr>
        <p:txBody>
          <a:bodyPr wrap="square" lIns="0" tIns="0" rIns="0" bIns="0" rtlCol="0" anchor="ctr"/>
          <a:lstStyle/>
          <a:p>
            <a:pPr algn="ctr" indent="0" marL="0">
              <a:buNone/>
            </a:pPr>
            <a:r>
              <a:rPr lang="en-US" sz="1300" b="1" dirty="0">
                <a:solidFill>
                  <a:srgbClr val="101828"/>
                </a:solidFill>
                <a:latin typeface="IBM Plex Mono" pitchFamily="34" charset="0"/>
                <a:ea typeface="IBM Plex Mono" pitchFamily="34" charset="-122"/>
                <a:cs typeface="IBM Plex Mono" pitchFamily="34" charset="-120"/>
              </a:rPr>
              <a:t>★  FINAL CHALLENGE</a:t>
            </a:r>
            <a:endParaRPr lang="en-US" sz="1300" dirty="0"/>
          </a:p>
        </p:txBody>
      </p:sp>
      <p:sp>
        <p:nvSpPr>
          <p:cNvPr id="7" name="Text 5"/>
          <p:cNvSpPr txBox="1"/>
          <p:nvPr/>
        </p:nvSpPr>
        <p:spPr>
          <a:xfrm>
            <a:off x="502920" y="1097280"/>
            <a:ext cx="11155680" cy="731520"/>
          </a:xfrm>
          <a:prstGeom prst="rect">
            <a:avLst/>
          </a:prstGeom>
          <a:noFill/>
          <a:ln/>
        </p:spPr>
        <p:txBody>
          <a:bodyPr wrap="square" lIns="0" tIns="0" rIns="0" bIns="0" rtlCol="0" anchor="ctr"/>
          <a:lstStyle/>
          <a:p>
            <a:pPr indent="0" marL="0">
              <a:buNone/>
            </a:pPr>
            <a:r>
              <a:rPr lang="en-US" sz="3400" b="1" dirty="0">
                <a:solidFill>
                  <a:srgbClr val="101828"/>
                </a:solidFill>
                <a:latin typeface="IBM Plex Sans" pitchFamily="34" charset="0"/>
                <a:ea typeface="IBM Plex Sans" pitchFamily="34" charset="-122"/>
                <a:cs typeface="IBM Plex Sans" pitchFamily="34" charset="-120"/>
              </a:rPr>
              <a:t>Function or procedure?</a:t>
            </a:r>
            <a:endParaRPr lang="en-US" sz="3400" dirty="0"/>
          </a:p>
        </p:txBody>
      </p:sp>
      <p:sp>
        <p:nvSpPr>
          <p:cNvPr id="8" name="Shape 6"/>
          <p:cNvSpPr/>
          <p:nvPr/>
        </p:nvSpPr>
        <p:spPr>
          <a:xfrm>
            <a:off x="502920" y="2011680"/>
            <a:ext cx="11155680" cy="2194560"/>
          </a:xfrm>
          <a:prstGeom prst="roundRect">
            <a:avLst>
              <a:gd name="adj" fmla="val 5000"/>
            </a:avLst>
          </a:prstGeom>
          <a:solidFill>
            <a:srgbClr val="FFFFFF"/>
          </a:solidFill>
          <a:ln w="15875">
            <a:solidFill>
              <a:srgbClr val="2D63FF"/>
            </a:solidFill>
            <a:prstDash val="solid"/>
          </a:ln>
        </p:spPr>
      </p:sp>
      <p:sp>
        <p:nvSpPr>
          <p:cNvPr id="9" name="Text 7"/>
          <p:cNvSpPr txBox="1"/>
          <p:nvPr/>
        </p:nvSpPr>
        <p:spPr>
          <a:xfrm>
            <a:off x="1005840" y="2331720"/>
            <a:ext cx="10149840" cy="1554480"/>
          </a:xfrm>
          <a:prstGeom prst="rect">
            <a:avLst/>
          </a:prstGeom>
          <a:noFill/>
          <a:ln/>
        </p:spPr>
        <p:txBody>
          <a:bodyPr wrap="square" lIns="0" tIns="0" rIns="0" bIns="0" rtlCol="0" anchor="ctr"/>
          <a:lstStyle/>
          <a:p>
            <a:pPr indent="0" marL="0">
              <a:lnSpc>
                <a:spcPct val="130000"/>
              </a:lnSpc>
              <a:buNone/>
            </a:pPr>
            <a:r>
              <a:rPr lang="en-US" sz="2200" dirty="0">
                <a:solidFill>
                  <a:srgbClr val="101828"/>
                </a:solidFill>
                <a:latin typeface="IBM Plex Sans" pitchFamily="34" charset="0"/>
                <a:ea typeface="IBM Plex Sans" pitchFamily="34" charset="-122"/>
                <a:cs typeface="IBM Plex Sans" pitchFamily="34" charset="-120"/>
              </a:rPr>
              <a:t>Eight subprograms are described on the floor below you. Tap the star and decide whether each one is a function or a procedure.</a:t>
            </a:r>
            <a:endParaRPr lang="en-US" sz="2200" dirty="0"/>
          </a:p>
        </p:txBody>
      </p:sp>
      <p:sp>
        <p:nvSpPr>
          <p:cNvPr id="10" name="Text 8"/>
          <p:cNvSpPr txBox="1"/>
          <p:nvPr/>
        </p:nvSpPr>
        <p:spPr>
          <a:xfrm>
            <a:off x="502920" y="4526280"/>
            <a:ext cx="11155680" cy="457200"/>
          </a:xfrm>
          <a:prstGeom prst="rect">
            <a:avLst/>
          </a:prstGeom>
          <a:noFill/>
          <a:ln/>
        </p:spPr>
        <p:txBody>
          <a:bodyPr wrap="square" lIns="0" tIns="0" rIns="0" bIns="0" rtlCol="0" anchor="ctr"/>
          <a:lstStyle/>
          <a:p>
            <a:pPr indent="0" marL="0">
              <a:buNone/>
            </a:pPr>
            <a:r>
              <a:rPr lang="en-US" sz="1600" dirty="0">
                <a:solidFill>
                  <a:srgbClr val="667085"/>
                </a:solidFill>
                <a:latin typeface="IBM Plex Sans" pitchFamily="34" charset="0"/>
                <a:ea typeface="IBM Plex Sans" pitchFamily="34" charset="-122"/>
                <a:cs typeface="IBM Plex Sans" pitchFamily="34" charset="-120"/>
              </a:rPr>
              <a:t>Predict on paper first, then look down and test it.</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9</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Worth knowing</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The information markers dotted around the room</a:t>
            </a:r>
            <a:endParaRPr lang="en-US" sz="1500" dirty="0"/>
          </a:p>
        </p:txBody>
      </p:sp>
      <p:sp>
        <p:nvSpPr>
          <p:cNvPr id="7" name="Shape 5"/>
          <p:cNvSpPr/>
          <p:nvPr/>
        </p:nvSpPr>
        <p:spPr>
          <a:xfrm>
            <a:off x="502920" y="1828800"/>
            <a:ext cx="5394960" cy="1737360"/>
          </a:xfrm>
          <a:prstGeom prst="roundRect">
            <a:avLst>
              <a:gd name="adj" fmla="val 6316"/>
            </a:avLst>
          </a:prstGeom>
          <a:solidFill>
            <a:srgbClr val="FFFFFF"/>
          </a:solidFill>
          <a:ln w="15875">
            <a:solidFill>
              <a:srgbClr val="2D63FF"/>
            </a:solidFill>
            <a:prstDash val="solid"/>
          </a:ln>
        </p:spPr>
      </p:sp>
      <p:sp>
        <p:nvSpPr>
          <p:cNvPr id="8" name="Text 6"/>
          <p:cNvSpPr txBox="1"/>
          <p:nvPr/>
        </p:nvSpPr>
        <p:spPr>
          <a:xfrm>
            <a:off x="822960" y="2011680"/>
            <a:ext cx="4754880" cy="36576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Why bother</a:t>
            </a:r>
            <a:endParaRPr lang="en-US" sz="1600" dirty="0"/>
          </a:p>
        </p:txBody>
      </p:sp>
      <p:sp>
        <p:nvSpPr>
          <p:cNvPr id="9" name="Text 7"/>
          <p:cNvSpPr txBox="1"/>
          <p:nvPr/>
        </p:nvSpPr>
        <p:spPr>
          <a:xfrm>
            <a:off x="822960" y="239572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A job written once and called from four places is tested once and fixed once. The same lines copied four times are four bugs waiting to happen.</a:t>
            </a:r>
            <a:endParaRPr lang="en-US" sz="1300" dirty="0"/>
          </a:p>
        </p:txBody>
      </p:sp>
      <p:sp>
        <p:nvSpPr>
          <p:cNvPr id="10" name="Shape 8"/>
          <p:cNvSpPr/>
          <p:nvPr/>
        </p:nvSpPr>
        <p:spPr>
          <a:xfrm>
            <a:off x="6217920" y="1828800"/>
            <a:ext cx="5394960" cy="1737360"/>
          </a:xfrm>
          <a:prstGeom prst="roundRect">
            <a:avLst>
              <a:gd name="adj" fmla="val 6316"/>
            </a:avLst>
          </a:prstGeom>
          <a:solidFill>
            <a:srgbClr val="FFFFFF"/>
          </a:solidFill>
          <a:ln w="15875">
            <a:solidFill>
              <a:srgbClr val="08A6A6"/>
            </a:solidFill>
            <a:prstDash val="solid"/>
          </a:ln>
        </p:spPr>
      </p:sp>
      <p:sp>
        <p:nvSpPr>
          <p:cNvPr id="11" name="Text 9"/>
          <p:cNvSpPr txBox="1"/>
          <p:nvPr/>
        </p:nvSpPr>
        <p:spPr>
          <a:xfrm>
            <a:off x="6537960" y="2011680"/>
            <a:ext cx="4754880" cy="365760"/>
          </a:xfrm>
          <a:prstGeom prst="rect">
            <a:avLst/>
          </a:prstGeom>
          <a:noFill/>
          <a:ln/>
        </p:spPr>
        <p:txBody>
          <a:bodyPr wrap="square" lIns="0" tIns="0" rIns="0" bIns="0" rtlCol="0" anchor="ctr"/>
          <a:lstStyle/>
          <a:p>
            <a:pPr indent="0" marL="0">
              <a:buNone/>
            </a:pPr>
            <a:r>
              <a:rPr lang="en-US" sz="1600" b="1" dirty="0">
                <a:solidFill>
                  <a:srgbClr val="08A6A6"/>
                </a:solidFill>
                <a:latin typeface="IBM Plex Sans" pitchFamily="34" charset="0"/>
                <a:ea typeface="IBM Plex Sans" pitchFamily="34" charset="-122"/>
                <a:cs typeface="IBM Plex Sans" pitchFamily="34" charset="-120"/>
              </a:rPr>
              <a:t>Default values</a:t>
            </a:r>
            <a:endParaRPr lang="en-US" sz="1600" dirty="0"/>
          </a:p>
        </p:txBody>
      </p:sp>
      <p:sp>
        <p:nvSpPr>
          <p:cNvPr id="12" name="Text 10"/>
          <p:cNvSpPr txBox="1"/>
          <p:nvPr/>
        </p:nvSpPr>
        <p:spPr>
          <a:xfrm>
            <a:off x="6537960" y="239572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A parameter can be given a default value in the definition, so the subprogram still runs when the caller leaves that argument out. The default is used only when no value is handed over.</a:t>
            </a:r>
            <a:endParaRPr lang="en-US" sz="1300" dirty="0"/>
          </a:p>
        </p:txBody>
      </p:sp>
      <p:sp>
        <p:nvSpPr>
          <p:cNvPr id="13" name="Shape 11"/>
          <p:cNvSpPr/>
          <p:nvPr/>
        </p:nvSpPr>
        <p:spPr>
          <a:xfrm>
            <a:off x="502920" y="3794760"/>
            <a:ext cx="5394960" cy="1737360"/>
          </a:xfrm>
          <a:prstGeom prst="roundRect">
            <a:avLst>
              <a:gd name="adj" fmla="val 6316"/>
            </a:avLst>
          </a:prstGeom>
          <a:solidFill>
            <a:srgbClr val="FFFFFF"/>
          </a:solidFill>
          <a:ln w="15875">
            <a:solidFill>
              <a:srgbClr val="2D63FF"/>
            </a:solidFill>
            <a:prstDash val="solid"/>
          </a:ln>
        </p:spPr>
      </p:sp>
      <p:sp>
        <p:nvSpPr>
          <p:cNvPr id="14" name="Text 12"/>
          <p:cNvSpPr txBox="1"/>
          <p:nvPr/>
        </p:nvSpPr>
        <p:spPr>
          <a:xfrm>
            <a:off x="822960" y="3977640"/>
            <a:ext cx="4754880" cy="36576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Returning more</a:t>
            </a:r>
            <a:endParaRPr lang="en-US" sz="1600" dirty="0"/>
          </a:p>
        </p:txBody>
      </p:sp>
      <p:sp>
        <p:nvSpPr>
          <p:cNvPr id="15" name="Text 13"/>
          <p:cNvSpPr txBox="1"/>
          <p:nvPr/>
        </p:nvSpPr>
        <p:spPr>
          <a:xfrm>
            <a:off x="822960" y="436168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return can hand back several values at once, separated by commas, and the caller unpacks them.</a:t>
            </a:r>
            <a:endParaRPr lang="en-US" sz="1300" dirty="0"/>
          </a:p>
        </p:txBody>
      </p:sp>
      <p:sp>
        <p:nvSpPr>
          <p:cNvPr id="16" name="Shape 14"/>
          <p:cNvSpPr/>
          <p:nvPr/>
        </p:nvSpPr>
        <p:spPr>
          <a:xfrm>
            <a:off x="6217920" y="3794760"/>
            <a:ext cx="5394960" cy="1737360"/>
          </a:xfrm>
          <a:prstGeom prst="roundRect">
            <a:avLst>
              <a:gd name="adj" fmla="val 6316"/>
            </a:avLst>
          </a:prstGeom>
          <a:solidFill>
            <a:srgbClr val="FFFFFF"/>
          </a:solidFill>
          <a:ln w="15875">
            <a:solidFill>
              <a:srgbClr val="08A6A6"/>
            </a:solidFill>
            <a:prstDash val="solid"/>
          </a:ln>
        </p:spPr>
      </p:sp>
      <p:sp>
        <p:nvSpPr>
          <p:cNvPr id="17" name="Text 15"/>
          <p:cNvSpPr txBox="1"/>
          <p:nvPr/>
        </p:nvSpPr>
        <p:spPr>
          <a:xfrm>
            <a:off x="6537960" y="3977640"/>
            <a:ext cx="4754880" cy="365760"/>
          </a:xfrm>
          <a:prstGeom prst="rect">
            <a:avLst/>
          </a:prstGeom>
          <a:noFill/>
          <a:ln/>
        </p:spPr>
        <p:txBody>
          <a:bodyPr wrap="square" lIns="0" tIns="0" rIns="0" bIns="0" rtlCol="0" anchor="ctr"/>
          <a:lstStyle/>
          <a:p>
            <a:pPr indent="0" marL="0">
              <a:buNone/>
            </a:pPr>
            <a:r>
              <a:rPr lang="en-US" sz="1600" b="1" dirty="0">
                <a:solidFill>
                  <a:srgbClr val="08A6A6"/>
                </a:solidFill>
                <a:latin typeface="IBM Plex Sans" pitchFamily="34" charset="0"/>
                <a:ea typeface="IBM Plex Sans" pitchFamily="34" charset="-122"/>
                <a:cs typeface="IBM Plex Sans" pitchFamily="34" charset="-120"/>
              </a:rPr>
              <a:t>Already written</a:t>
            </a:r>
            <a:endParaRPr lang="en-US" sz="1600" dirty="0"/>
          </a:p>
        </p:txBody>
      </p:sp>
      <p:sp>
        <p:nvSpPr>
          <p:cNvPr id="18" name="Text 16"/>
          <p:cNvSpPr txBox="1"/>
          <p:nvPr/>
        </p:nvSpPr>
        <p:spPr>
          <a:xfrm>
            <a:off x="6537960" y="436168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len(), int() and round() are functions somebody else wrote: you call them exactly the way you call your own.</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9</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Exam practice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Devices away. Answer from memory on the worksheet.</a:t>
            </a:r>
            <a:endParaRPr lang="en-US" sz="1500" dirty="0"/>
          </a:p>
        </p:txBody>
      </p:sp>
      <p:sp>
        <p:nvSpPr>
          <p:cNvPr id="7" name="Shape 5"/>
          <p:cNvSpPr/>
          <p:nvPr/>
        </p:nvSpPr>
        <p:spPr>
          <a:xfrm>
            <a:off x="502920" y="1828800"/>
            <a:ext cx="11155680" cy="1097280"/>
          </a:xfrm>
          <a:prstGeom prst="roundRect">
            <a:avLst>
              <a:gd name="adj" fmla="val 10000"/>
            </a:avLst>
          </a:prstGeom>
          <a:solidFill>
            <a:srgbClr val="FFFFFF"/>
          </a:solidFill>
          <a:ln w="15875">
            <a:solidFill>
              <a:srgbClr val="D9DEE7"/>
            </a:solidFill>
            <a:prstDash val="solid"/>
          </a:ln>
        </p:spPr>
      </p:sp>
      <p:sp>
        <p:nvSpPr>
          <p:cNvPr id="8" name="Text 6"/>
          <p:cNvSpPr txBox="1"/>
          <p:nvPr/>
        </p:nvSpPr>
        <p:spPr>
          <a:xfrm>
            <a:off x="914400" y="1938528"/>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A function called </a:t>
            </a:r>
            <a:pPr indent="0" marL="0">
              <a:lnSpc>
                <a:spcPct val="118000"/>
              </a:lnSpc>
              <a:buNone/>
            </a:pPr>
            <a:r>
              <a:rPr lang="en-US" sz="1700" dirty="0">
                <a:solidFill>
                  <a:srgbClr val="18181B"/>
                </a:solidFill>
                <a:latin typeface="IBM Plex Mono" pitchFamily="34" charset="0"/>
                <a:ea typeface="IBM Plex Mono" pitchFamily="34" charset="-122"/>
                <a:cs typeface="IBM Plex Mono" pitchFamily="34" charset="-120"/>
              </a:rPr>
              <a:t>double</a:t>
            </a:r>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 holds one line, </a:t>
            </a:r>
            <a:pPr indent="0" marL="0">
              <a:lnSpc>
                <a:spcPct val="118000"/>
              </a:lnSpc>
              <a:buNone/>
            </a:pPr>
            <a:r>
              <a:rPr lang="en-US" sz="1700" dirty="0">
                <a:solidFill>
                  <a:srgbClr val="1D4ED8"/>
                </a:solidFill>
                <a:latin typeface="IBM Plex Mono" pitchFamily="34" charset="0"/>
                <a:ea typeface="IBM Plex Mono" pitchFamily="34" charset="-122"/>
                <a:cs typeface="IBM Plex Mono" pitchFamily="34" charset="-120"/>
              </a:rPr>
              <a:t>print</a:t>
            </a:r>
            <a:pPr indent="0" marL="0">
              <a:lnSpc>
                <a:spcPct val="118000"/>
              </a:lnSpc>
              <a:buNone/>
            </a:pPr>
            <a:r>
              <a:rPr lang="en-US" sz="1700" dirty="0">
                <a:solidFill>
                  <a:srgbClr val="3F3F46"/>
                </a:solidFill>
                <a:latin typeface="IBM Plex Mono" pitchFamily="34" charset="0"/>
                <a:ea typeface="IBM Plex Mono" pitchFamily="34" charset="-122"/>
                <a:cs typeface="IBM Plex Mono" pitchFamily="34" charset="-120"/>
              </a:rPr>
              <a:t>(</a:t>
            </a:r>
            <a:pPr indent="0" marL="0">
              <a:lnSpc>
                <a:spcPct val="118000"/>
              </a:lnSpc>
              <a:buNone/>
            </a:pPr>
            <a:r>
              <a:rPr lang="en-US" sz="1700" dirty="0">
                <a:solidFill>
                  <a:srgbClr val="18181B"/>
                </a:solidFill>
                <a:latin typeface="IBM Plex Mono" pitchFamily="34" charset="0"/>
                <a:ea typeface="IBM Plex Mono" pitchFamily="34" charset="-122"/>
                <a:cs typeface="IBM Plex Mono" pitchFamily="34" charset="-120"/>
              </a:rPr>
              <a:t>n</a:t>
            </a:r>
            <a:pPr indent="0" marL="0">
              <a:lnSpc>
                <a:spcPct val="118000"/>
              </a:lnSpc>
              <a:buNone/>
            </a:pPr>
            <a:r>
              <a:rPr lang="en-US" sz="1700" dirty="0">
                <a:solidFill>
                  <a:srgbClr val="18181B"/>
                </a:solidFill>
                <a:latin typeface="IBM Plex Mono" pitchFamily="34" charset="0"/>
                <a:ea typeface="IBM Plex Mono" pitchFamily="34" charset="-122"/>
                <a:cs typeface="IBM Plex Mono" pitchFamily="34" charset="-120"/>
              </a:rPr>
              <a:t> </a:t>
            </a:r>
            <a:pPr indent="0" marL="0">
              <a:lnSpc>
                <a:spcPct val="118000"/>
              </a:lnSpc>
              <a:buNone/>
            </a:pPr>
            <a:r>
              <a:rPr lang="en-US" sz="1700" dirty="0">
                <a:solidFill>
                  <a:srgbClr val="3F3F46"/>
                </a:solidFill>
                <a:latin typeface="IBM Plex Mono" pitchFamily="34" charset="0"/>
                <a:ea typeface="IBM Plex Mono" pitchFamily="34" charset="-122"/>
                <a:cs typeface="IBM Plex Mono" pitchFamily="34" charset="-120"/>
              </a:rPr>
              <a:t>*</a:t>
            </a:r>
            <a:pPr indent="0" marL="0">
              <a:lnSpc>
                <a:spcPct val="118000"/>
              </a:lnSpc>
              <a:buNone/>
            </a:pPr>
            <a:r>
              <a:rPr lang="en-US" sz="1700" dirty="0">
                <a:solidFill>
                  <a:srgbClr val="18181B"/>
                </a:solidFill>
                <a:latin typeface="IBM Plex Mono" pitchFamily="34" charset="0"/>
                <a:ea typeface="IBM Plex Mono" pitchFamily="34" charset="-122"/>
                <a:cs typeface="IBM Plex Mono" pitchFamily="34" charset="-120"/>
              </a:rPr>
              <a:t> </a:t>
            </a:r>
            <a:pPr indent="0" marL="0">
              <a:lnSpc>
                <a:spcPct val="118000"/>
              </a:lnSpc>
              <a:buNone/>
            </a:pPr>
            <a:r>
              <a:rPr lang="en-US" sz="1700" dirty="0">
                <a:solidFill>
                  <a:srgbClr val="9A3412"/>
                </a:solidFill>
                <a:latin typeface="IBM Plex Mono" pitchFamily="34" charset="0"/>
                <a:ea typeface="IBM Plex Mono" pitchFamily="34" charset="-122"/>
                <a:cs typeface="IBM Plex Mono" pitchFamily="34" charset="-120"/>
              </a:rPr>
              <a:t>2</a:t>
            </a:r>
            <a:pPr indent="0" marL="0">
              <a:lnSpc>
                <a:spcPct val="118000"/>
              </a:lnSpc>
              <a:buNone/>
            </a:pPr>
            <a:r>
              <a:rPr lang="en-US" sz="1700" dirty="0">
                <a:solidFill>
                  <a:srgbClr val="3F3F46"/>
                </a:solidFill>
                <a:latin typeface="IBM Plex Mono" pitchFamily="34" charset="0"/>
                <a:ea typeface="IBM Plex Mono" pitchFamily="34" charset="-122"/>
                <a:cs typeface="IBM Plex Mono" pitchFamily="34" charset="-120"/>
              </a:rPr>
              <a:t>)</a:t>
            </a:r>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 The main program writes </a:t>
            </a:r>
            <a:pPr indent="0" marL="0">
              <a:lnSpc>
                <a:spcPct val="118000"/>
              </a:lnSpc>
              <a:buNone/>
            </a:pPr>
            <a:r>
              <a:rPr lang="en-US" sz="1700" dirty="0">
                <a:solidFill>
                  <a:srgbClr val="18181B"/>
                </a:solidFill>
                <a:latin typeface="IBM Plex Mono" pitchFamily="34" charset="0"/>
                <a:ea typeface="IBM Plex Mono" pitchFamily="34" charset="-122"/>
                <a:cs typeface="IBM Plex Mono" pitchFamily="34" charset="-120"/>
              </a:rPr>
              <a:t>answer</a:t>
            </a:r>
            <a:pPr indent="0" marL="0">
              <a:lnSpc>
                <a:spcPct val="118000"/>
              </a:lnSpc>
              <a:buNone/>
            </a:pPr>
            <a:r>
              <a:rPr lang="en-US" sz="1700" dirty="0">
                <a:solidFill>
                  <a:srgbClr val="18181B"/>
                </a:solidFill>
                <a:latin typeface="IBM Plex Mono" pitchFamily="34" charset="0"/>
                <a:ea typeface="IBM Plex Mono" pitchFamily="34" charset="-122"/>
                <a:cs typeface="IBM Plex Mono" pitchFamily="34" charset="-120"/>
              </a:rPr>
              <a:t> </a:t>
            </a:r>
            <a:pPr indent="0" marL="0">
              <a:lnSpc>
                <a:spcPct val="118000"/>
              </a:lnSpc>
              <a:buNone/>
            </a:pPr>
            <a:r>
              <a:rPr lang="en-US" sz="1700" dirty="0">
                <a:solidFill>
                  <a:srgbClr val="3F3F46"/>
                </a:solidFill>
                <a:latin typeface="IBM Plex Mono" pitchFamily="34" charset="0"/>
                <a:ea typeface="IBM Plex Mono" pitchFamily="34" charset="-122"/>
                <a:cs typeface="IBM Plex Mono" pitchFamily="34" charset="-120"/>
              </a:rPr>
              <a:t>=</a:t>
            </a:r>
            <a:pPr indent="0" marL="0">
              <a:lnSpc>
                <a:spcPct val="118000"/>
              </a:lnSpc>
              <a:buNone/>
            </a:pPr>
            <a:r>
              <a:rPr lang="en-US" sz="1700" dirty="0">
                <a:solidFill>
                  <a:srgbClr val="18181B"/>
                </a:solidFill>
                <a:latin typeface="IBM Plex Mono" pitchFamily="34" charset="0"/>
                <a:ea typeface="IBM Plex Mono" pitchFamily="34" charset="-122"/>
                <a:cs typeface="IBM Plex Mono" pitchFamily="34" charset="-120"/>
              </a:rPr>
              <a:t> </a:t>
            </a:r>
            <a:pPr indent="0" marL="0">
              <a:lnSpc>
                <a:spcPct val="118000"/>
              </a:lnSpc>
              <a:buNone/>
            </a:pPr>
            <a:r>
              <a:rPr lang="en-US" sz="1700" dirty="0">
                <a:solidFill>
                  <a:srgbClr val="18181B"/>
                </a:solidFill>
                <a:latin typeface="IBM Plex Mono" pitchFamily="34" charset="0"/>
                <a:ea typeface="IBM Plex Mono" pitchFamily="34" charset="-122"/>
                <a:cs typeface="IBM Plex Mono" pitchFamily="34" charset="-120"/>
              </a:rPr>
              <a:t>double</a:t>
            </a:r>
            <a:pPr indent="0" marL="0">
              <a:lnSpc>
                <a:spcPct val="118000"/>
              </a:lnSpc>
              <a:buNone/>
            </a:pPr>
            <a:r>
              <a:rPr lang="en-US" sz="1700" dirty="0">
                <a:solidFill>
                  <a:srgbClr val="3F3F46"/>
                </a:solidFill>
                <a:latin typeface="IBM Plex Mono" pitchFamily="34" charset="0"/>
                <a:ea typeface="IBM Plex Mono" pitchFamily="34" charset="-122"/>
                <a:cs typeface="IBM Plex Mono" pitchFamily="34" charset="-120"/>
              </a:rPr>
              <a:t>(</a:t>
            </a:r>
            <a:pPr indent="0" marL="0">
              <a:lnSpc>
                <a:spcPct val="118000"/>
              </a:lnSpc>
              <a:buNone/>
            </a:pPr>
            <a:r>
              <a:rPr lang="en-US" sz="1700" dirty="0">
                <a:solidFill>
                  <a:srgbClr val="9A3412"/>
                </a:solidFill>
                <a:latin typeface="IBM Plex Mono" pitchFamily="34" charset="0"/>
                <a:ea typeface="IBM Plex Mono" pitchFamily="34" charset="-122"/>
                <a:cs typeface="IBM Plex Mono" pitchFamily="34" charset="-120"/>
              </a:rPr>
              <a:t>7</a:t>
            </a:r>
            <a:pPr indent="0" marL="0">
              <a:lnSpc>
                <a:spcPct val="118000"/>
              </a:lnSpc>
              <a:buNone/>
            </a:pPr>
            <a:r>
              <a:rPr lang="en-US" sz="1700" dirty="0">
                <a:solidFill>
                  <a:srgbClr val="3F3F46"/>
                </a:solidFill>
                <a:latin typeface="IBM Plex Mono" pitchFamily="34" charset="0"/>
                <a:ea typeface="IBM Plex Mono" pitchFamily="34" charset="-122"/>
                <a:cs typeface="IBM Plex Mono" pitchFamily="34" charset="-120"/>
              </a:rPr>
              <a:t>)</a:t>
            </a:r>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 and then prints </a:t>
            </a:r>
            <a:pPr indent="0" marL="0">
              <a:lnSpc>
                <a:spcPct val="118000"/>
              </a:lnSpc>
              <a:buNone/>
            </a:pPr>
            <a:r>
              <a:rPr lang="en-US" sz="1700" dirty="0">
                <a:solidFill>
                  <a:srgbClr val="18181B"/>
                </a:solidFill>
                <a:latin typeface="IBM Plex Mono" pitchFamily="34" charset="0"/>
                <a:ea typeface="IBM Plex Mono" pitchFamily="34" charset="-122"/>
                <a:cs typeface="IBM Plex Mono" pitchFamily="34" charset="-120"/>
              </a:rPr>
              <a:t>answer</a:t>
            </a:r>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 which shows </a:t>
            </a:r>
            <a:pPr indent="0" marL="0">
              <a:lnSpc>
                <a:spcPct val="118000"/>
              </a:lnSpc>
              <a:buNone/>
            </a:pPr>
            <a:r>
              <a:rPr lang="en-US" sz="1700" dirty="0">
                <a:solidFill>
                  <a:srgbClr val="6B21A8"/>
                </a:solidFill>
                <a:latin typeface="IBM Plex Mono" pitchFamily="34" charset="0"/>
                <a:ea typeface="IBM Plex Mono" pitchFamily="34" charset="-122"/>
                <a:cs typeface="IBM Plex Mono" pitchFamily="34" charset="-120"/>
              </a:rPr>
              <a:t>None</a:t>
            </a:r>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 Explain why </a:t>
            </a:r>
            <a:pPr indent="0" marL="0">
              <a:lnSpc>
                <a:spcPct val="118000"/>
              </a:lnSpc>
              <a:buNone/>
            </a:pPr>
            <a:r>
              <a:rPr lang="en-US" sz="1700" dirty="0">
                <a:solidFill>
                  <a:srgbClr val="6B21A8"/>
                </a:solidFill>
                <a:latin typeface="IBM Plex Mono" pitchFamily="34" charset="0"/>
                <a:ea typeface="IBM Plex Mono" pitchFamily="34" charset="-122"/>
                <a:cs typeface="IBM Plex Mono" pitchFamily="34" charset="-120"/>
              </a:rPr>
              <a:t>None</a:t>
            </a:r>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 is printed, and write the line inside double corrected.</a:t>
            </a:r>
            <a:endParaRPr lang="en-US" sz="1700" dirty="0"/>
          </a:p>
        </p:txBody>
      </p:sp>
      <p:sp>
        <p:nvSpPr>
          <p:cNvPr id="9" name="Shape 7"/>
          <p:cNvSpPr/>
          <p:nvPr/>
        </p:nvSpPr>
        <p:spPr>
          <a:xfrm>
            <a:off x="10515600" y="2130552"/>
            <a:ext cx="868680" cy="493776"/>
          </a:xfrm>
          <a:prstGeom prst="roundRect">
            <a:avLst>
              <a:gd name="adj" fmla="val 18519"/>
            </a:avLst>
          </a:prstGeom>
          <a:solidFill>
            <a:srgbClr val="EEF2FB"/>
          </a:solidFill>
          <a:ln/>
        </p:spPr>
      </p:sp>
      <p:sp>
        <p:nvSpPr>
          <p:cNvPr id="10" name="Text 8"/>
          <p:cNvSpPr txBox="1"/>
          <p:nvPr/>
        </p:nvSpPr>
        <p:spPr>
          <a:xfrm>
            <a:off x="10515600" y="2130552"/>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[3]</a:t>
            </a:r>
            <a:endParaRPr lang="en-US" sz="1500" dirty="0"/>
          </a:p>
        </p:txBody>
      </p:sp>
      <p:sp>
        <p:nvSpPr>
          <p:cNvPr id="11" name="Shape 9"/>
          <p:cNvSpPr/>
          <p:nvPr/>
        </p:nvSpPr>
        <p:spPr>
          <a:xfrm>
            <a:off x="502920" y="3127248"/>
            <a:ext cx="11155680" cy="1097280"/>
          </a:xfrm>
          <a:prstGeom prst="roundRect">
            <a:avLst>
              <a:gd name="adj" fmla="val 10000"/>
            </a:avLst>
          </a:prstGeom>
          <a:solidFill>
            <a:srgbClr val="FFFFFF"/>
          </a:solidFill>
          <a:ln w="15875">
            <a:solidFill>
              <a:srgbClr val="D9DEE7"/>
            </a:solidFill>
            <a:prstDash val="solid"/>
          </a:ln>
        </p:spPr>
      </p:sp>
      <p:sp>
        <p:nvSpPr>
          <p:cNvPr id="12" name="Text 10"/>
          <p:cNvSpPr txBox="1"/>
          <p:nvPr/>
        </p:nvSpPr>
        <p:spPr>
          <a:xfrm>
            <a:off x="914400" y="3236976"/>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Write a function that takes two whole numbers and returns the larger of them, and a main program that reads two numbers and prints the value the function hands back.</a:t>
            </a:r>
            <a:endParaRPr lang="en-US" sz="1700" dirty="0"/>
          </a:p>
        </p:txBody>
      </p:sp>
      <p:sp>
        <p:nvSpPr>
          <p:cNvPr id="13" name="Shape 11"/>
          <p:cNvSpPr/>
          <p:nvPr/>
        </p:nvSpPr>
        <p:spPr>
          <a:xfrm>
            <a:off x="10515600" y="3429000"/>
            <a:ext cx="868680" cy="493776"/>
          </a:xfrm>
          <a:prstGeom prst="roundRect">
            <a:avLst>
              <a:gd name="adj" fmla="val 18519"/>
            </a:avLst>
          </a:prstGeom>
          <a:solidFill>
            <a:srgbClr val="EEF2FB"/>
          </a:solidFill>
          <a:ln/>
        </p:spPr>
      </p:sp>
      <p:sp>
        <p:nvSpPr>
          <p:cNvPr id="14" name="Text 12"/>
          <p:cNvSpPr txBox="1"/>
          <p:nvPr/>
        </p:nvSpPr>
        <p:spPr>
          <a:xfrm>
            <a:off x="10515600" y="3429000"/>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[5]</a:t>
            </a:r>
            <a:endParaRPr lang="en-US" sz="1500" dirty="0"/>
          </a:p>
        </p:txBody>
      </p:sp>
      <p:sp>
        <p:nvSpPr>
          <p:cNvPr id="15" name="Shape 13"/>
          <p:cNvSpPr/>
          <p:nvPr/>
        </p:nvSpPr>
        <p:spPr>
          <a:xfrm>
            <a:off x="502920" y="4425696"/>
            <a:ext cx="11155680" cy="1097280"/>
          </a:xfrm>
          <a:prstGeom prst="roundRect">
            <a:avLst>
              <a:gd name="adj" fmla="val 10000"/>
            </a:avLst>
          </a:prstGeom>
          <a:solidFill>
            <a:srgbClr val="FFFFFF"/>
          </a:solidFill>
          <a:ln w="15875">
            <a:solidFill>
              <a:srgbClr val="D9DEE7"/>
            </a:solidFill>
            <a:prstDash val="solid"/>
          </a:ln>
        </p:spPr>
      </p:sp>
      <p:sp>
        <p:nvSpPr>
          <p:cNvPr id="16" name="Text 14"/>
          <p:cNvSpPr txBox="1"/>
          <p:nvPr/>
        </p:nvSpPr>
        <p:spPr>
          <a:xfrm>
            <a:off x="914400" y="4535424"/>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Write a procedure that takes a word and a whole number and prints them on one line with a single space between them, then call it for three different pairs of values.</a:t>
            </a:r>
            <a:endParaRPr lang="en-US" sz="1700" dirty="0"/>
          </a:p>
        </p:txBody>
      </p:sp>
      <p:sp>
        <p:nvSpPr>
          <p:cNvPr id="17" name="Shape 15"/>
          <p:cNvSpPr/>
          <p:nvPr/>
        </p:nvSpPr>
        <p:spPr>
          <a:xfrm>
            <a:off x="10515600" y="4727448"/>
            <a:ext cx="868680" cy="493776"/>
          </a:xfrm>
          <a:prstGeom prst="roundRect">
            <a:avLst>
              <a:gd name="adj" fmla="val 18519"/>
            </a:avLst>
          </a:prstGeom>
          <a:solidFill>
            <a:srgbClr val="EEF2FB"/>
          </a:solidFill>
          <a:ln/>
        </p:spPr>
      </p:sp>
      <p:sp>
        <p:nvSpPr>
          <p:cNvPr id="18" name="Text 16"/>
          <p:cNvSpPr txBox="1"/>
          <p:nvPr/>
        </p:nvSpPr>
        <p:spPr>
          <a:xfrm>
            <a:off x="10515600" y="4727448"/>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[4]</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9</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Before you go</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Rate yourself on each of these</a:t>
            </a:r>
            <a:endParaRPr lang="en-US" sz="1500" dirty="0"/>
          </a:p>
        </p:txBody>
      </p:sp>
      <p:sp>
        <p:nvSpPr>
          <p:cNvPr id="7" name="Shape 5"/>
          <p:cNvSpPr/>
          <p:nvPr/>
        </p:nvSpPr>
        <p:spPr>
          <a:xfrm>
            <a:off x="502920" y="1920240"/>
            <a:ext cx="7863840" cy="777240"/>
          </a:xfrm>
          <a:prstGeom prst="roundRect">
            <a:avLst>
              <a:gd name="adj" fmla="val 14118"/>
            </a:avLst>
          </a:prstGeom>
          <a:solidFill>
            <a:srgbClr val="FFFFFF"/>
          </a:solidFill>
          <a:ln w="15875">
            <a:solidFill>
              <a:srgbClr val="D9DEE7"/>
            </a:solidFill>
            <a:prstDash val="solid"/>
          </a:ln>
        </p:spPr>
      </p:sp>
      <p:sp>
        <p:nvSpPr>
          <p:cNvPr id="8" name="Text 6"/>
          <p:cNvSpPr txBox="1"/>
          <p:nvPr/>
        </p:nvSpPr>
        <p:spPr>
          <a:xfrm>
            <a:off x="914400" y="192024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Defining a subprogram and calling it</a:t>
            </a:r>
            <a:endParaRPr lang="en-US" sz="1800" dirty="0"/>
          </a:p>
        </p:txBody>
      </p:sp>
      <p:sp>
        <p:nvSpPr>
          <p:cNvPr id="9" name="Shape 7"/>
          <p:cNvSpPr/>
          <p:nvPr/>
        </p:nvSpPr>
        <p:spPr>
          <a:xfrm>
            <a:off x="8595360" y="2066544"/>
            <a:ext cx="987552" cy="484632"/>
          </a:xfrm>
          <a:prstGeom prst="roundRect">
            <a:avLst>
              <a:gd name="adj" fmla="val 18868"/>
            </a:avLst>
          </a:prstGeom>
          <a:solidFill>
            <a:srgbClr val="FFFFFF"/>
          </a:solidFill>
          <a:ln w="15875">
            <a:solidFill>
              <a:srgbClr val="08A6A6"/>
            </a:solidFill>
            <a:prstDash val="solid"/>
          </a:ln>
        </p:spPr>
      </p:sp>
      <p:sp>
        <p:nvSpPr>
          <p:cNvPr id="10" name="Text 8"/>
          <p:cNvSpPr txBox="1"/>
          <p:nvPr/>
        </p:nvSpPr>
        <p:spPr>
          <a:xfrm>
            <a:off x="8595360" y="206654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11" name="Shape 9"/>
          <p:cNvSpPr/>
          <p:nvPr/>
        </p:nvSpPr>
        <p:spPr>
          <a:xfrm>
            <a:off x="9674352" y="2066544"/>
            <a:ext cx="987552" cy="484632"/>
          </a:xfrm>
          <a:prstGeom prst="roundRect">
            <a:avLst>
              <a:gd name="adj" fmla="val 18868"/>
            </a:avLst>
          </a:prstGeom>
          <a:solidFill>
            <a:srgbClr val="FFFFFF"/>
          </a:solidFill>
          <a:ln w="15875">
            <a:solidFill>
              <a:srgbClr val="F4B942"/>
            </a:solidFill>
            <a:prstDash val="solid"/>
          </a:ln>
        </p:spPr>
      </p:sp>
      <p:sp>
        <p:nvSpPr>
          <p:cNvPr id="12" name="Text 10"/>
          <p:cNvSpPr txBox="1"/>
          <p:nvPr/>
        </p:nvSpPr>
        <p:spPr>
          <a:xfrm>
            <a:off x="9674352" y="206654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13" name="Shape 11"/>
          <p:cNvSpPr/>
          <p:nvPr/>
        </p:nvSpPr>
        <p:spPr>
          <a:xfrm>
            <a:off x="10753344" y="2066544"/>
            <a:ext cx="987552" cy="484632"/>
          </a:xfrm>
          <a:prstGeom prst="roundRect">
            <a:avLst>
              <a:gd name="adj" fmla="val 18868"/>
            </a:avLst>
          </a:prstGeom>
          <a:solidFill>
            <a:srgbClr val="FFFFFF"/>
          </a:solidFill>
          <a:ln w="15875">
            <a:solidFill>
              <a:srgbClr val="E2574C"/>
            </a:solidFill>
            <a:prstDash val="solid"/>
          </a:ln>
        </p:spPr>
      </p:sp>
      <p:sp>
        <p:nvSpPr>
          <p:cNvPr id="14" name="Text 12"/>
          <p:cNvSpPr txBox="1"/>
          <p:nvPr/>
        </p:nvSpPr>
        <p:spPr>
          <a:xfrm>
            <a:off x="10753344" y="206654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15" name="Shape 13"/>
          <p:cNvSpPr/>
          <p:nvPr/>
        </p:nvSpPr>
        <p:spPr>
          <a:xfrm>
            <a:off x="502920" y="2880360"/>
            <a:ext cx="7863840" cy="777240"/>
          </a:xfrm>
          <a:prstGeom prst="roundRect">
            <a:avLst>
              <a:gd name="adj" fmla="val 14118"/>
            </a:avLst>
          </a:prstGeom>
          <a:solidFill>
            <a:srgbClr val="FFFFFF"/>
          </a:solidFill>
          <a:ln w="15875">
            <a:solidFill>
              <a:srgbClr val="D9DEE7"/>
            </a:solidFill>
            <a:prstDash val="solid"/>
          </a:ln>
        </p:spPr>
      </p:sp>
      <p:sp>
        <p:nvSpPr>
          <p:cNvPr id="16" name="Text 14"/>
          <p:cNvSpPr txBox="1"/>
          <p:nvPr/>
        </p:nvSpPr>
        <p:spPr>
          <a:xfrm>
            <a:off x="914400" y="288036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Passing values in with parameters and back with return</a:t>
            </a:r>
            <a:endParaRPr lang="en-US" sz="1800" dirty="0"/>
          </a:p>
        </p:txBody>
      </p:sp>
      <p:sp>
        <p:nvSpPr>
          <p:cNvPr id="17" name="Shape 15"/>
          <p:cNvSpPr/>
          <p:nvPr/>
        </p:nvSpPr>
        <p:spPr>
          <a:xfrm>
            <a:off x="8595360" y="3026664"/>
            <a:ext cx="987552" cy="484632"/>
          </a:xfrm>
          <a:prstGeom prst="roundRect">
            <a:avLst>
              <a:gd name="adj" fmla="val 18868"/>
            </a:avLst>
          </a:prstGeom>
          <a:solidFill>
            <a:srgbClr val="FFFFFF"/>
          </a:solidFill>
          <a:ln w="15875">
            <a:solidFill>
              <a:srgbClr val="08A6A6"/>
            </a:solidFill>
            <a:prstDash val="solid"/>
          </a:ln>
        </p:spPr>
      </p:sp>
      <p:sp>
        <p:nvSpPr>
          <p:cNvPr id="18" name="Text 16"/>
          <p:cNvSpPr txBox="1"/>
          <p:nvPr/>
        </p:nvSpPr>
        <p:spPr>
          <a:xfrm>
            <a:off x="8595360" y="302666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19" name="Shape 17"/>
          <p:cNvSpPr/>
          <p:nvPr/>
        </p:nvSpPr>
        <p:spPr>
          <a:xfrm>
            <a:off x="9674352" y="3026664"/>
            <a:ext cx="987552" cy="484632"/>
          </a:xfrm>
          <a:prstGeom prst="roundRect">
            <a:avLst>
              <a:gd name="adj" fmla="val 18868"/>
            </a:avLst>
          </a:prstGeom>
          <a:solidFill>
            <a:srgbClr val="FFFFFF"/>
          </a:solidFill>
          <a:ln w="15875">
            <a:solidFill>
              <a:srgbClr val="F4B942"/>
            </a:solidFill>
            <a:prstDash val="solid"/>
          </a:ln>
        </p:spPr>
      </p:sp>
      <p:sp>
        <p:nvSpPr>
          <p:cNvPr id="20" name="Text 18"/>
          <p:cNvSpPr txBox="1"/>
          <p:nvPr/>
        </p:nvSpPr>
        <p:spPr>
          <a:xfrm>
            <a:off x="9674352" y="302666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21" name="Shape 19"/>
          <p:cNvSpPr/>
          <p:nvPr/>
        </p:nvSpPr>
        <p:spPr>
          <a:xfrm>
            <a:off x="10753344" y="3026664"/>
            <a:ext cx="987552" cy="484632"/>
          </a:xfrm>
          <a:prstGeom prst="roundRect">
            <a:avLst>
              <a:gd name="adj" fmla="val 18868"/>
            </a:avLst>
          </a:prstGeom>
          <a:solidFill>
            <a:srgbClr val="FFFFFF"/>
          </a:solidFill>
          <a:ln w="15875">
            <a:solidFill>
              <a:srgbClr val="E2574C"/>
            </a:solidFill>
            <a:prstDash val="solid"/>
          </a:ln>
        </p:spPr>
      </p:sp>
      <p:sp>
        <p:nvSpPr>
          <p:cNvPr id="22" name="Text 20"/>
          <p:cNvSpPr txBox="1"/>
          <p:nvPr/>
        </p:nvSpPr>
        <p:spPr>
          <a:xfrm>
            <a:off x="10753344" y="302666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23" name="Shape 21"/>
          <p:cNvSpPr/>
          <p:nvPr/>
        </p:nvSpPr>
        <p:spPr>
          <a:xfrm>
            <a:off x="502920" y="3840480"/>
            <a:ext cx="7863840" cy="777240"/>
          </a:xfrm>
          <a:prstGeom prst="roundRect">
            <a:avLst>
              <a:gd name="adj" fmla="val 14118"/>
            </a:avLst>
          </a:prstGeom>
          <a:solidFill>
            <a:srgbClr val="FFFFFF"/>
          </a:solidFill>
          <a:ln w="15875">
            <a:solidFill>
              <a:srgbClr val="D9DEE7"/>
            </a:solidFill>
            <a:prstDash val="solid"/>
          </a:ln>
        </p:spPr>
      </p:sp>
      <p:sp>
        <p:nvSpPr>
          <p:cNvPr id="24" name="Text 22"/>
          <p:cNvSpPr txBox="1"/>
          <p:nvPr/>
        </p:nvSpPr>
        <p:spPr>
          <a:xfrm>
            <a:off x="914400" y="384048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Telling a local variable from a global one</a:t>
            </a:r>
            <a:endParaRPr lang="en-US" sz="1800" dirty="0"/>
          </a:p>
        </p:txBody>
      </p:sp>
      <p:sp>
        <p:nvSpPr>
          <p:cNvPr id="25" name="Shape 23"/>
          <p:cNvSpPr/>
          <p:nvPr/>
        </p:nvSpPr>
        <p:spPr>
          <a:xfrm>
            <a:off x="8595360" y="3986784"/>
            <a:ext cx="987552" cy="484632"/>
          </a:xfrm>
          <a:prstGeom prst="roundRect">
            <a:avLst>
              <a:gd name="adj" fmla="val 18868"/>
            </a:avLst>
          </a:prstGeom>
          <a:solidFill>
            <a:srgbClr val="FFFFFF"/>
          </a:solidFill>
          <a:ln w="15875">
            <a:solidFill>
              <a:srgbClr val="08A6A6"/>
            </a:solidFill>
            <a:prstDash val="solid"/>
          </a:ln>
        </p:spPr>
      </p:sp>
      <p:sp>
        <p:nvSpPr>
          <p:cNvPr id="26" name="Text 24"/>
          <p:cNvSpPr txBox="1"/>
          <p:nvPr/>
        </p:nvSpPr>
        <p:spPr>
          <a:xfrm>
            <a:off x="8595360" y="398678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27" name="Shape 25"/>
          <p:cNvSpPr/>
          <p:nvPr/>
        </p:nvSpPr>
        <p:spPr>
          <a:xfrm>
            <a:off x="9674352" y="3986784"/>
            <a:ext cx="987552" cy="484632"/>
          </a:xfrm>
          <a:prstGeom prst="roundRect">
            <a:avLst>
              <a:gd name="adj" fmla="val 18868"/>
            </a:avLst>
          </a:prstGeom>
          <a:solidFill>
            <a:srgbClr val="FFFFFF"/>
          </a:solidFill>
          <a:ln w="15875">
            <a:solidFill>
              <a:srgbClr val="F4B942"/>
            </a:solidFill>
            <a:prstDash val="solid"/>
          </a:ln>
        </p:spPr>
      </p:sp>
      <p:sp>
        <p:nvSpPr>
          <p:cNvPr id="28" name="Text 26"/>
          <p:cNvSpPr txBox="1"/>
          <p:nvPr/>
        </p:nvSpPr>
        <p:spPr>
          <a:xfrm>
            <a:off x="9674352" y="398678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29" name="Shape 27"/>
          <p:cNvSpPr/>
          <p:nvPr/>
        </p:nvSpPr>
        <p:spPr>
          <a:xfrm>
            <a:off x="10753344" y="3986784"/>
            <a:ext cx="987552" cy="484632"/>
          </a:xfrm>
          <a:prstGeom prst="roundRect">
            <a:avLst>
              <a:gd name="adj" fmla="val 18868"/>
            </a:avLst>
          </a:prstGeom>
          <a:solidFill>
            <a:srgbClr val="FFFFFF"/>
          </a:solidFill>
          <a:ln w="15875">
            <a:solidFill>
              <a:srgbClr val="E2574C"/>
            </a:solidFill>
            <a:prstDash val="solid"/>
          </a:ln>
        </p:spPr>
      </p:sp>
      <p:sp>
        <p:nvSpPr>
          <p:cNvPr id="30" name="Text 28"/>
          <p:cNvSpPr txBox="1"/>
          <p:nvPr/>
        </p:nvSpPr>
        <p:spPr>
          <a:xfrm>
            <a:off x="10753344" y="398678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31" name="Text 29"/>
          <p:cNvSpPr txBox="1"/>
          <p:nvPr/>
        </p:nvSpPr>
        <p:spPr>
          <a:xfrm>
            <a:off x="502920" y="5074920"/>
            <a:ext cx="11155680" cy="54864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Anything marked Focus here: reopen Subprograms and use review mode on the questions you got wrong.</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Revise 360 Ltd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Python programming  |  Lesson 9 — Subprograms</dc:title>
  <dc:subject>OCR J277 GCSE Computer Science</dc:subject>
  <dc:creator>Revise 360 Ltd</dc:creator>
  <cp:lastModifiedBy>Revise 360 Ltd</cp:lastModifiedBy>
  <cp:revision>1</cp:revision>
  <dcterms:created xsi:type="dcterms:W3CDTF">2026-10-03T17:08:51Z</dcterms:created>
  <dcterms:modified xsi:type="dcterms:W3CDTF">2026-10-03T17:08:51Z</dcterms:modified>
</cp:coreProperties>
</file>