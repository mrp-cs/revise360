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3e611349a846eb" /><Relationship Type="http://schemas.openxmlformats.org/officeDocument/2006/relationships/extended-properties" Target="/docProps/app.xml" Id="R27c2b2381760461e" /><Relationship Type="http://schemas.openxmlformats.org/officeDocument/2006/relationships/officeDocument" Target="/ppt/presentation.xml" Id="Rbb3381c1046646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10ffa1add94ca9"/>
  </p:sldMasterIdLst>
  <p:notesMasterIdLst>
    <p:notesMasterId xmlns:r="http://schemas.openxmlformats.org/officeDocument/2006/relationships" r:id="R6b2f44d7bc7b468e"/>
  </p:notesMasterIdLst>
  <p:sldIdLst>
    <p:sldId xmlns:r="http://schemas.openxmlformats.org/officeDocument/2006/relationships" id="256" r:id="R96a86b8d7c784954"/>
    <p:sldId xmlns:r="http://schemas.openxmlformats.org/officeDocument/2006/relationships" id="257" r:id="Rc54359912f094daa"/>
    <p:sldId xmlns:r="http://schemas.openxmlformats.org/officeDocument/2006/relationships" id="258" r:id="R430e902732044b85"/>
    <p:sldId xmlns:r="http://schemas.openxmlformats.org/officeDocument/2006/relationships" id="259" r:id="R826c9fb51a3a4f2a"/>
    <p:sldId xmlns:r="http://schemas.openxmlformats.org/officeDocument/2006/relationships" id="260" r:id="R39033f9c7bbb4d5a"/>
    <p:sldId xmlns:r="http://schemas.openxmlformats.org/officeDocument/2006/relationships" id="261" r:id="R406c617d02a64e91"/>
    <p:sldId xmlns:r="http://schemas.openxmlformats.org/officeDocument/2006/relationships" id="262" r:id="R22ae6a3eb8094145"/>
    <p:sldId xmlns:r="http://schemas.openxmlformats.org/officeDocument/2006/relationships" id="263" r:id="R69eff07f5e124141"/>
    <p:sldId xmlns:r="http://schemas.openxmlformats.org/officeDocument/2006/relationships" id="264" r:id="Rf5f094f92c1e4ad9"/>
    <p:sldId xmlns:r="http://schemas.openxmlformats.org/officeDocument/2006/relationships" id="265" r:id="Rdf83480f55b143d8"/>
    <p:sldId xmlns:r="http://schemas.openxmlformats.org/officeDocument/2006/relationships" id="266" r:id="R1ed2d9620d8546a1"/>
    <p:sldId xmlns:r="http://schemas.openxmlformats.org/officeDocument/2006/relationships" id="267" r:id="Rcf1d905e69b34a2c"/>
    <p:sldId xmlns:r="http://schemas.openxmlformats.org/officeDocument/2006/relationships" id="268" r:id="R8e50c64379004314"/>
    <p:sldId xmlns:r="http://schemas.openxmlformats.org/officeDocument/2006/relationships" id="269" r:id="R5a54359b0f584fff"/>
    <p:sldId xmlns:r="http://schemas.openxmlformats.org/officeDocument/2006/relationships" id="270" r:id="R2b7ad83b1e774bbc"/>
    <p:sldId xmlns:r="http://schemas.openxmlformats.org/officeDocument/2006/relationships" id="271" r:id="R21421fdb52fd4f59"/>
    <p:sldId xmlns:r="http://schemas.openxmlformats.org/officeDocument/2006/relationships" id="272" r:id="Re155ccdf7c2a499a"/>
    <p:sldId xmlns:r="http://schemas.openxmlformats.org/officeDocument/2006/relationships" id="273" r:id="R400c67a02ae0434c"/>
    <p:sldId xmlns:r="http://schemas.openxmlformats.org/officeDocument/2006/relationships" id="274" r:id="R4a049004f2344f8d"/>
    <p:sldId xmlns:r="http://schemas.openxmlformats.org/officeDocument/2006/relationships" id="275" r:id="Rdaa8bad5edc148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b15f6bb78747bf" /><Relationship Type="http://schemas.openxmlformats.org/officeDocument/2006/relationships/slideMaster" Target="/ppt/slideMasters/slideMaster1.xml" Id="Rba10ffa1add94ca9" /><Relationship Type="http://schemas.openxmlformats.org/officeDocument/2006/relationships/notesMaster" Target="/ppt/notesMasters/notesMaster1.xml" Id="R6b2f44d7bc7b468e" /><Relationship Type="http://schemas.openxmlformats.org/officeDocument/2006/relationships/presProps" Target="/ppt/presProps.xml" Id="Rfc6126db449f4eb0" /><Relationship Type="http://schemas.openxmlformats.org/officeDocument/2006/relationships/tableStyles" Target="/ppt/tableStyles.xml" Id="R9f91c216731b430a" /><Relationship Type="http://schemas.openxmlformats.org/officeDocument/2006/relationships/slide" Target="/ppt/slides/slide1.xml" Id="R96a86b8d7c784954" /><Relationship Type="http://schemas.openxmlformats.org/officeDocument/2006/relationships/slide" Target="/ppt/slides/slide2.xml" Id="Rc54359912f094daa" /><Relationship Type="http://schemas.openxmlformats.org/officeDocument/2006/relationships/slide" Target="/ppt/slides/slide3.xml" Id="R430e902732044b85" /><Relationship Type="http://schemas.openxmlformats.org/officeDocument/2006/relationships/slide" Target="/ppt/slides/slide4.xml" Id="R826c9fb51a3a4f2a" /><Relationship Type="http://schemas.openxmlformats.org/officeDocument/2006/relationships/slide" Target="/ppt/slides/slide5.xml" Id="R39033f9c7bbb4d5a" /><Relationship Type="http://schemas.openxmlformats.org/officeDocument/2006/relationships/slide" Target="/ppt/slides/slide6.xml" Id="R406c617d02a64e91" /><Relationship Type="http://schemas.openxmlformats.org/officeDocument/2006/relationships/slide" Target="/ppt/slides/slide7.xml" Id="R22ae6a3eb8094145" /><Relationship Type="http://schemas.openxmlformats.org/officeDocument/2006/relationships/slide" Target="/ppt/slides/slide8.xml" Id="R69eff07f5e124141" /><Relationship Type="http://schemas.openxmlformats.org/officeDocument/2006/relationships/slide" Target="/ppt/slides/slide9.xml" Id="Rf5f094f92c1e4ad9" /><Relationship Type="http://schemas.openxmlformats.org/officeDocument/2006/relationships/slide" Target="/ppt/slides/slide10.xml" Id="Rdf83480f55b143d8" /><Relationship Type="http://schemas.openxmlformats.org/officeDocument/2006/relationships/slide" Target="/ppt/slides/slide11.xml" Id="R1ed2d9620d8546a1" /><Relationship Type="http://schemas.openxmlformats.org/officeDocument/2006/relationships/slide" Target="/ppt/slides/slide12.xml" Id="Rcf1d905e69b34a2c" /><Relationship Type="http://schemas.openxmlformats.org/officeDocument/2006/relationships/slide" Target="/ppt/slides/slide13.xml" Id="R8e50c64379004314" /><Relationship Type="http://schemas.openxmlformats.org/officeDocument/2006/relationships/slide" Target="/ppt/slides/slide14.xml" Id="R5a54359b0f584fff" /><Relationship Type="http://schemas.openxmlformats.org/officeDocument/2006/relationships/slide" Target="/ppt/slides/slide15.xml" Id="R2b7ad83b1e774bbc" /><Relationship Type="http://schemas.openxmlformats.org/officeDocument/2006/relationships/slide" Target="/ppt/slides/slide16.xml" Id="R21421fdb52fd4f59" /><Relationship Type="http://schemas.openxmlformats.org/officeDocument/2006/relationships/slide" Target="/ppt/slides/slide17.xml" Id="Re155ccdf7c2a499a" /><Relationship Type="http://schemas.openxmlformats.org/officeDocument/2006/relationships/slide" Target="/ppt/slides/slide18.xml" Id="R400c67a02ae0434c" /><Relationship Type="http://schemas.openxmlformats.org/officeDocument/2006/relationships/slide" Target="/ppt/slides/slide19.xml" Id="R4a049004f2344f8d" /><Relationship Type="http://schemas.openxmlformats.org/officeDocument/2006/relationships/slide" Target="/ppt/slides/slide20.xml" Id="Rdaa8bad5edc148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a5c0e7808148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6910266f6143d7" /><Relationship Type="http://schemas.openxmlformats.org/officeDocument/2006/relationships/notesMaster" Target="/ppt/notesMasters/notesMaster1.xml" Id="R40e7c047cecb49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ac014433f94ce2" /><Relationship Type="http://schemas.openxmlformats.org/officeDocument/2006/relationships/notesMaster" Target="/ppt/notesMasters/notesMaster1.xml" Id="Rc656f092701d4f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8bdfcaa11245ee" /><Relationship Type="http://schemas.openxmlformats.org/officeDocument/2006/relationships/notesMaster" Target="/ppt/notesMasters/notesMaster1.xml" Id="R6f2f71b2fa9f4d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77a11b37f7463a" /><Relationship Type="http://schemas.openxmlformats.org/officeDocument/2006/relationships/notesMaster" Target="/ppt/notesMasters/notesMaster1.xml" Id="R684ae79ec22e45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cd3eebad6e4105" /><Relationship Type="http://schemas.openxmlformats.org/officeDocument/2006/relationships/notesMaster" Target="/ppt/notesMasters/notesMaster1.xml" Id="R8edb7dc4c3da4b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362f9b83ec4126" /><Relationship Type="http://schemas.openxmlformats.org/officeDocument/2006/relationships/notesMaster" Target="/ppt/notesMasters/notesMaster1.xml" Id="R0f29be8745d842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422bf14a2941f7" /><Relationship Type="http://schemas.openxmlformats.org/officeDocument/2006/relationships/notesMaster" Target="/ppt/notesMasters/notesMaster1.xml" Id="R2332af7954134e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0e2e11ab434208" /><Relationship Type="http://schemas.openxmlformats.org/officeDocument/2006/relationships/notesMaster" Target="/ppt/notesMasters/notesMaster1.xml" Id="Rf95617c1d3f44e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3491cc4bb145b6" /><Relationship Type="http://schemas.openxmlformats.org/officeDocument/2006/relationships/notesMaster" Target="/ppt/notesMasters/notesMaster1.xml" Id="Rec027a8de53c4c3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fdcd0008f845c0" /><Relationship Type="http://schemas.openxmlformats.org/officeDocument/2006/relationships/notesMaster" Target="/ppt/notesMasters/notesMaster1.xml" Id="Rc73afbffbf0343f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c3f0e24858742b0" /><Relationship Type="http://schemas.openxmlformats.org/officeDocument/2006/relationships/notesMaster" Target="/ppt/notesMasters/notesMaster1.xml" Id="Rfd15c8fd485344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56037544f004b37" /><Relationship Type="http://schemas.openxmlformats.org/officeDocument/2006/relationships/notesMaster" Target="/ppt/notesMasters/notesMaster1.xml" Id="R2ae0eaf16917411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92e0d7e4d36406f" /><Relationship Type="http://schemas.openxmlformats.org/officeDocument/2006/relationships/notesMaster" Target="/ppt/notesMasters/notesMaster1.xml" Id="R9a7f44b855ca434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b4e359a70be4618" /><Relationship Type="http://schemas.openxmlformats.org/officeDocument/2006/relationships/notesMaster" Target="/ppt/notesMasters/notesMaster1.xml" Id="R5740ac402982404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5539002b3eb4590" /><Relationship Type="http://schemas.openxmlformats.org/officeDocument/2006/relationships/notesMaster" Target="/ppt/notesMasters/notesMaster1.xml" Id="Rce0201a9f24b4d6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5f880293bc2457e" /><Relationship Type="http://schemas.openxmlformats.org/officeDocument/2006/relationships/notesMaster" Target="/ppt/notesMasters/notesMaster1.xml" Id="Rc84e672c7f464b1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41a2f406ec5466c" /><Relationship Type="http://schemas.openxmlformats.org/officeDocument/2006/relationships/notesMaster" Target="/ppt/notesMasters/notesMaster1.xml" Id="R5a146200a9234ef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f4627fbfa004f02" /><Relationship Type="http://schemas.openxmlformats.org/officeDocument/2006/relationships/notesMaster" Target="/ppt/notesMasters/notesMaster1.xml" Id="R63e6949f6843462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c8dc52a7ce84cfb" /><Relationship Type="http://schemas.openxmlformats.org/officeDocument/2006/relationships/notesMaster" Target="/ppt/notesMasters/notesMaster1.xml" Id="Rb09b3bf241f147b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7628c4bc551475e" /><Relationship Type="http://schemas.openxmlformats.org/officeDocument/2006/relationships/notesMaster" Target="/ppt/notesMasters/notesMaster1.xml" Id="R5256569e76ca4d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image shows the actual opening scene of the experience. Begin with the worksheet starter, or the brief opening question for lessons without one.</a:t>
            </a:r>
          </a:p>
          <a:p xmlns:a="http://schemas.openxmlformats.org/drawingml/2006/main">
            <a:r>
              <a:t>Sources: Revise 360 experiences/nw-l06.json and worksheets/NW_L06_StarAndMeshNetworks_Worksheet.docx.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learning outcomes follow the lesson worksheet.</a:t>
            </a:r>
          </a:p>
          <a:p xmlns:a="http://schemas.openxmlformats.org/drawingml/2006/main">
            <a:r>
              <a:t>Sources: Revise 360 experiences/nw-l06.json and worksheets/NW_L06_StarAndMeshNetworks_Worksheet.docx.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brief spoken warm-up drawn from the worksheet content; the worksheet has no written starter.</a:t>
            </a:r>
          </a:p>
          <a:p xmlns:a="http://schemas.openxmlformats.org/drawingml/2006/main">
            <a:r>
              <a:t>Sources: Revise 360 experiences/nw-l06.json and worksheets/NW_L06_StarAndMeshNetworks_Worksheet.docx.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Accept equivalent correct explanations. Reveal after the question so it can be marked as students go.</a:t>
            </a:r>
          </a:p>
          <a:p xmlns:a="http://schemas.openxmlformats.org/drawingml/2006/main">
            <a:r>
              <a:t>Sources: Revise 360 experiences/nw-l06.json and worksheets/NW_L06_StarAndMeshNetworks_Worksheet.docx.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Leave this combined worksheet and experience instruction slide on the board. The OPEN EXPERIENCE label is a clickable link. Students should complete the experience and reach the plenary near the end of the lesson. First on-screen answers count.</a:t>
            </a:r>
          </a:p>
          <a:p xmlns:a="http://schemas.openxmlformats.org/drawingml/2006/main">
            <a:r>
              <a:t>Sources: Revise 360 experiences/nw-l06.json and worksheets/NW_L06_StarAndMeshNetworks_Worksheet.docx.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this scene transition after the previous part. The image is the actual opening view of this part, not a flat crop of the 360 photo.</a:t>
            </a:r>
          </a:p>
          <a:p xmlns:a="http://schemas.openxmlformats.org/drawingml/2006/main">
            <a:r>
              <a:t>Sources: Revise 360 experiences/nw-l06.json and worksheets/NW_L06_StarAndMeshNetworks_Worksheet.docx.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follows the post-experience task, key question or revision results on the worksheet.</a:t>
            </a:r>
          </a:p>
          <a:p xmlns:a="http://schemas.openxmlformats.org/drawingml/2006/main">
            <a:r>
              <a:t>Sources: Revise 360 experiences/nw-l06.json and worksheets/NW_L06_StarAndMeshNetworks_Worksheet.docx.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question to extend or improve an explanation before the plenary.</a:t>
            </a:r>
          </a:p>
          <a:p xmlns:a="http://schemas.openxmlformats.org/drawingml/2006/main">
            <a:r>
              <a:t>Sources: Revise 360 experiences/nw-l06.json and worksheets/NW_L06_StarAndMeshNetworks_Worksheet.docx.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indicative answers. Credit other accurate examples or justified choices.</a:t>
            </a:r>
          </a:p>
          <a:p xmlns:a="http://schemas.openxmlformats.org/drawingml/2006/main">
            <a:r>
              <a:t>Sources: Revise 360 experiences/nw-l06.json and worksheets/NW_L06_StarAndMeshNetworks_Worksheet.docx.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after completion. These concise points address the worksheet station challenges and help students improve their own wording.</a:t>
            </a:r>
          </a:p>
          <a:p xmlns:a="http://schemas.openxmlformats.org/drawingml/2006/main">
            <a:r>
              <a:t>Sources: Revise 360 experiences/nw-l06.json and worksheets/NW_L06_StarAndMeshNetworks_Worksheet.docx.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after completion. These concise points address the worksheet station challenges and help students improve their own wording.</a:t>
            </a:r>
          </a:p>
          <a:p xmlns:a="http://schemas.openxmlformats.org/drawingml/2006/main">
            <a:r>
              <a:t>Sources: Revise 360 experiences/nw-l06.json and worksheets/NW_L06_StarAndMeshNetworks_Worksheet.docx.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after completion. These concise points address the worksheet station challenges and help students improve their own wording.</a:t>
            </a:r>
          </a:p>
          <a:p xmlns:a="http://schemas.openxmlformats.org/drawingml/2006/main">
            <a:r>
              <a:t>Sources: Revise 360 experiences/nw-l06.json and worksheets/NW_L06_StarAndMeshNetworks_Worksheet.docx.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after completion. These concise points address the worksheet station challenges and help students improve their own wording.</a:t>
            </a:r>
          </a:p>
          <a:p xmlns:a="http://schemas.openxmlformats.org/drawingml/2006/main">
            <a:r>
              <a:t>Sources: Revise 360 experiences/nw-l06.json and worksheets/NW_L06_StarAndMeshNetworks_Worksheet.docx.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matches, sort categories or ordered steps from the interactive experience task. Use them to check the corresponding worksheet work.</a:t>
            </a:r>
          </a:p>
          <a:p xmlns:a="http://schemas.openxmlformats.org/drawingml/2006/main">
            <a:r>
              <a:t>Sources: Revise 360 experiences/nw-l06.json and worksheets/NW_L06_StarAndMeshNetworks_Worksheet.docx.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matches, sort categories or ordered steps from the interactive experience task. Use them to check the corresponding worksheet work.</a:t>
            </a:r>
          </a:p>
          <a:p xmlns:a="http://schemas.openxmlformats.org/drawingml/2006/main">
            <a:r>
              <a:t>Sources: Revise 360 experiences/nw-l06.json and worksheets/NW_L06_StarAndMeshNetworks_Worksheet.docx.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exit, exam-practice or test-ready questions from the worksheet. Allow independent writing before the answers.</a:t>
            </a:r>
          </a:p>
          <a:p xmlns:a="http://schemas.openxmlformats.org/drawingml/2006/main">
            <a:r>
              <a:t>Sources: Revise 360 experiences/nw-l06.json and worksheets/NW_L06_StarAndMeshNetworks_Worksheet.docx.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exit, exam-practice or test-ready questions from the worksheet. Allow independent writing before the answers.</a:t>
            </a:r>
          </a:p>
          <a:p xmlns:a="http://schemas.openxmlformats.org/drawingml/2006/main">
            <a:r>
              <a:t>Sources: Revise 360 experiences/nw-l06.json and worksheets/NW_L06_StarAndMeshNetworks_Worksheet.docx.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answer points, not an official OCR mark scheme. Ask students to improve one answer.</a:t>
            </a:r>
          </a:p>
          <a:p xmlns:a="http://schemas.openxmlformats.org/drawingml/2006/main">
            <a:r>
              <a:t>Sources: Revise 360 experiences/nw-l06.json and worksheets/NW_L06_StarAndMeshNetworks_Worksheet.docx.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answer points, not an official OCR mark scheme. Ask students to improve one answer.</a:t>
            </a:r>
          </a:p>
          <a:p xmlns:a="http://schemas.openxmlformats.org/drawingml/2006/main">
            <a:r>
              <a:t>Sources: Revise 360 experiences/nw-l06.json and worksheets/NW_L06_StarAndMeshNetworks_Worksheet.docx.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confidence objectives from the worksheet. Students identify one area to revisit.</a:t>
            </a:r>
          </a:p>
          <a:p xmlns:a="http://schemas.openxmlformats.org/drawingml/2006/main">
            <a:r>
              <a:t>Sources: Revise 360 experiences/nw-l06.json and worksheets/NW_L06_StarAndMeshNetworks_Worksheet.docx.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a6af2576bd4c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94ce96ad4b49f0" /><Relationship Type="http://schemas.openxmlformats.org/officeDocument/2006/relationships/slideLayout" Target="/ppt/slideLayouts/slideLayout1.xml" Id="R4fc20cb5c57f4b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c20cb5c57f4b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91aa1c6bc4793" /><Relationship Type="http://schemas.openxmlformats.org/officeDocument/2006/relationships/image" Target="/ppt/media/image.png" Id="Rd9382530d47a4f5b" /><Relationship Type="http://schemas.openxmlformats.org/officeDocument/2006/relationships/image" Target="/ppt/media/image.jpeg" Id="Rfcc3f3107435454e" /><Relationship Type="http://schemas.openxmlformats.org/officeDocument/2006/relationships/notesSlide" Target="/ppt/notesSlides/notesSlide1.xml" Id="R1e12647c6a7f4d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eff354fe34386" /><Relationship Type="http://schemas.openxmlformats.org/officeDocument/2006/relationships/image" Target="/ppt/media/image2.png" Id="R91ce00992533440b" /><Relationship Type="http://schemas.openxmlformats.org/officeDocument/2006/relationships/notesSlide" Target="/ppt/notesSlides/notesSlide2.xml" Id="Rc83b337191c046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9037004e6458c" /><Relationship Type="http://schemas.openxmlformats.org/officeDocument/2006/relationships/image" Target="/ppt/media/image3.png" Id="Rab0e733e4f4a4f36" /><Relationship Type="http://schemas.openxmlformats.org/officeDocument/2006/relationships/notesSlide" Target="/ppt/notesSlides/notesSlide3.xml" Id="R6a4391c2fe0a4a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71d3e8a6c54088" /><Relationship Type="http://schemas.openxmlformats.org/officeDocument/2006/relationships/image" Target="/ppt/media/image4.png" Id="Rad9f51124e434c86" /><Relationship Type="http://schemas.openxmlformats.org/officeDocument/2006/relationships/notesSlide" Target="/ppt/notesSlides/notesSlide4.xml" Id="R05f611c817fa4c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1fd6f0426420a" /><Relationship Type="http://schemas.openxmlformats.org/officeDocument/2006/relationships/image" Target="/ppt/media/image5.png" Id="Rc1e26b965ddf4820" /><Relationship Type="http://schemas.openxmlformats.org/officeDocument/2006/relationships/hyperlink" Target="https://mrp-cs.github.io/Revise360/experience.html?id=nw-l06" TargetMode="External" Id="R4c42ff70fc334fb6" /><Relationship Type="http://schemas.openxmlformats.org/officeDocument/2006/relationships/notesSlide" Target="/ppt/notesSlides/notesSlide5.xml" Id="R42224caf50ea43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df85510e084c30" /><Relationship Type="http://schemas.openxmlformats.org/officeDocument/2006/relationships/image" Target="/ppt/media/image6.png" Id="Re2f96727cd534801" /><Relationship Type="http://schemas.openxmlformats.org/officeDocument/2006/relationships/image" Target="/ppt/media/image2.jpeg" Id="Ra0339a8718aa462f" /><Relationship Type="http://schemas.openxmlformats.org/officeDocument/2006/relationships/notesSlide" Target="/ppt/notesSlides/notesSlide6.xml" Id="Rcdd12d02f68748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6a6875ad74cf8" /><Relationship Type="http://schemas.openxmlformats.org/officeDocument/2006/relationships/image" Target="/ppt/media/image7.png" Id="R6efe44eb4a8c45c8" /><Relationship Type="http://schemas.openxmlformats.org/officeDocument/2006/relationships/notesSlide" Target="/ppt/notesSlides/notesSlide7.xml" Id="R016de084b74d4c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3b24d961143c9" /><Relationship Type="http://schemas.openxmlformats.org/officeDocument/2006/relationships/image" Target="/ppt/media/image8.png" Id="Rcb6c7c3661c74968" /><Relationship Type="http://schemas.openxmlformats.org/officeDocument/2006/relationships/notesSlide" Target="/ppt/notesSlides/notesSlide8.xml" Id="R718845485b4240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d46f17e022485e" /><Relationship Type="http://schemas.openxmlformats.org/officeDocument/2006/relationships/image" Target="/ppt/media/image9.png" Id="Re2778aebed074956" /><Relationship Type="http://schemas.openxmlformats.org/officeDocument/2006/relationships/notesSlide" Target="/ppt/notesSlides/notesSlide9.xml" Id="Rdc2b61d6a17a47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f36b6fc5e44fd" /><Relationship Type="http://schemas.openxmlformats.org/officeDocument/2006/relationships/image" Target="/ppt/media/image10.png" Id="Re9306ed1e93d487b" /><Relationship Type="http://schemas.openxmlformats.org/officeDocument/2006/relationships/notesSlide" Target="/ppt/notesSlides/notesSlide10.xml" Id="R8c49edbeab884f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6cbe0d17c455c" /><Relationship Type="http://schemas.openxmlformats.org/officeDocument/2006/relationships/image" Target="/ppt/media/image11.png" Id="Ra07df10578a04819" /><Relationship Type="http://schemas.openxmlformats.org/officeDocument/2006/relationships/notesSlide" Target="/ppt/notesSlides/notesSlide11.xml" Id="Rfb53b4506d984f3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92e1ea04c4fcd" /><Relationship Type="http://schemas.openxmlformats.org/officeDocument/2006/relationships/image" Target="/ppt/media/image12.png" Id="R9c4d7b9127194357" /><Relationship Type="http://schemas.openxmlformats.org/officeDocument/2006/relationships/notesSlide" Target="/ppt/notesSlides/notesSlide12.xml" Id="Rbbc0b043dd8f4e0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b02aa27cb4718" /><Relationship Type="http://schemas.openxmlformats.org/officeDocument/2006/relationships/image" Target="/ppt/media/image13.png" Id="R36469445b79942be" /><Relationship Type="http://schemas.openxmlformats.org/officeDocument/2006/relationships/notesSlide" Target="/ppt/notesSlides/notesSlide13.xml" Id="R07fa3e88d16b425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f7100e8d47425e" /><Relationship Type="http://schemas.openxmlformats.org/officeDocument/2006/relationships/image" Target="/ppt/media/image14.png" Id="R34cecbc0fdd44db7" /><Relationship Type="http://schemas.openxmlformats.org/officeDocument/2006/relationships/notesSlide" Target="/ppt/notesSlides/notesSlide14.xml" Id="R4c330a4b64944dd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9066cd50d444c" /><Relationship Type="http://schemas.openxmlformats.org/officeDocument/2006/relationships/image" Target="/ppt/media/image15.png" Id="R1c8f2fb820d3489c" /><Relationship Type="http://schemas.openxmlformats.org/officeDocument/2006/relationships/notesSlide" Target="/ppt/notesSlides/notesSlide15.xml" Id="R2a4769dbfb96488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37e93ed2534797" /><Relationship Type="http://schemas.openxmlformats.org/officeDocument/2006/relationships/image" Target="/ppt/media/image16.png" Id="R21ffd02991264c7e" /><Relationship Type="http://schemas.openxmlformats.org/officeDocument/2006/relationships/notesSlide" Target="/ppt/notesSlides/notesSlide16.xml" Id="R9c254d2d396d458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b1fe509ccf4850" /><Relationship Type="http://schemas.openxmlformats.org/officeDocument/2006/relationships/image" Target="/ppt/media/image17.png" Id="R65eed237e895455b" /><Relationship Type="http://schemas.openxmlformats.org/officeDocument/2006/relationships/notesSlide" Target="/ppt/notesSlides/notesSlide17.xml" Id="R320d1bdeb64b4c8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f4ea03820a4a25" /><Relationship Type="http://schemas.openxmlformats.org/officeDocument/2006/relationships/image" Target="/ppt/media/image18.png" Id="Rfdbd24fe412e42fe" /><Relationship Type="http://schemas.openxmlformats.org/officeDocument/2006/relationships/notesSlide" Target="/ppt/notesSlides/notesSlide18.xml" Id="R436626efe0b144c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036ff32ee44b11" /><Relationship Type="http://schemas.openxmlformats.org/officeDocument/2006/relationships/image" Target="/ppt/media/image19.png" Id="R95486fd4c9a546d8" /><Relationship Type="http://schemas.openxmlformats.org/officeDocument/2006/relationships/notesSlide" Target="/ppt/notesSlides/notesSlide19.xml" Id="Rbdb515b7640c409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6e57aa7174403" /><Relationship Type="http://schemas.openxmlformats.org/officeDocument/2006/relationships/image" Target="/ppt/media/image20.png" Id="Rdb6f7c45a27f4783" /><Relationship Type="http://schemas.openxmlformats.org/officeDocument/2006/relationships/notesSlide" Target="/ppt/notesSlides/notesSlide20.xml" Id="R564ab2f6ab2d49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FA44E09F-795B-4E66-9CE7-DED0AFC2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7EC048A-3064-4E41-8BCF-8F5550C1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1.3   /   LESSON 06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F2DAB0F-64F2-4D86-BC11-79C452B8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STAR AND MESH NETWORKS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382530d47a4f5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4B7584C-E4ED-4430-B841-985E8425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 / 20</a:t>
            </a:r>
          </a:p>
        </p:txBody>
      </p:sp>
      <p:sp>
        <p:nvSpPr>
          <p:cNvPr id="6" name="subject">
            <a:extLst xmlns:a="http://schemas.openxmlformats.org/drawingml/2006/main">
              <a:ext uri="{FF2B5EF4-FFF2-40B4-BE49-F238E27FC236}">
                <a16:creationId xmlns:a16="http://schemas.microsoft.com/office/drawing/2014/main" id="{C846F32C-F26F-47D2-BB8A-E2431375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Star and mesh topologies</a:t>
            </a:r>
          </a:p>
        </p:txBody>
      </p:sp>
      <p:sp>
        <p:nvSpPr>
          <p:cNvPr id="7" name="cover-key-label">
            <a:extLst xmlns:a="http://schemas.openxmlformats.org/drawingml/2006/main">
              <a:ext uri="{FF2B5EF4-FFF2-40B4-BE49-F238E27FC236}">
                <a16:creationId xmlns:a16="http://schemas.microsoft.com/office/drawing/2014/main" id="{FBEAB657-3224-46CF-9AA4-2121967E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KEY QUESTION</a:t>
            </a:r>
          </a:p>
        </p:txBody>
      </p:sp>
      <p:sp>
        <p:nvSpPr>
          <p:cNvPr id="8" name="cover-key-question">
            <a:extLst xmlns:a="http://schemas.openxmlformats.org/drawingml/2006/main">
              <a:ext uri="{FF2B5EF4-FFF2-40B4-BE49-F238E27FC236}">
                <a16:creationId xmlns:a16="http://schemas.microsoft.com/office/drawing/2014/main" id="{1DA4AFD7-2D72-43CA-B45E-800BDCF0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How do star and mesh networks compare?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c3f3107435454e"/>
          <a:stretch xmlns:a="http://schemas.openxmlformats.org/drawingml/2006/main"/>
        </p:blipFill>
        <p:spPr>
          <a:xfrm xmlns:a="http://schemas.openxmlformats.org/drawingml/2006/main">
            <a:off x="6076950" y="1819275"/>
            <a:ext cx="5400675" cy="3600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4052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B02ECFB4-6B9C-40A0-B8A7-EE364626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45715779-07A5-4100-BCF4-CD84F1B9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06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3076E90-E7E1-4476-9E65-67421AEA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By the end of this lesson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ce00992533440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055A60B-C54C-49C8-86BB-2E5F21E0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 / 20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1753C67E-3DFE-40D8-A7BD-93A95DBA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978C7A90-38B7-4C1C-87D3-A5201A7F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know what a star network is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490643A3-2E8F-4785-B352-B0327916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D1343494-D69A-4208-A7AD-5BC5CBFF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05125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know what a mesh network is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F4892C1B-DD5E-462C-9039-ACF1437D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35A69AA8-020B-422A-8293-950FD734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understand that the internet is an example of a partial mesh network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0CAF9982-D6AC-461B-92FB-A09AD475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8818222E-6362-40F0-B7B3-410E5B3F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29175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know the advantages and disadvantages of star and mesh networks</a:t>
            </a:r>
          </a:p>
        </p:txBody>
      </p:sp>
    </p:spTree>
    <p:extLst>
      <p:ext uri="{BB962C8B-B14F-4D97-AF65-F5344CB8AC3E}">
        <p14:creationId xmlns:p14="http://schemas.microsoft.com/office/powerpoint/2010/main" val="6522154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FCE72C72-4AEF-4F62-8A47-F25FB9EE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C9F7B312-9298-4609-8268-EF6C2F97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06   /   WORKSHEET STARTER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DEB7EB82-06F0-45E1-A5D5-AFE0DCB6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Opening question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0e733e4f4a4f3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6EF770A-6A5A-48FC-90CC-6F1B7D01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3 / 20</a:t>
            </a:r>
          </a:p>
        </p:txBody>
      </p:sp>
      <p:sp>
        <p:nvSpPr>
          <p:cNvPr id="6" name="starter">
            <a:extLst xmlns:a="http://schemas.openxmlformats.org/drawingml/2006/main">
              <a:ext uri="{FF2B5EF4-FFF2-40B4-BE49-F238E27FC236}">
                <a16:creationId xmlns:a16="http://schemas.microsoft.com/office/drawing/2014/main" id="{E9A7490B-0FB7-4189-8765-E7B72776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57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What happens if the one switch at the centre of a star network fails?</a:t>
            </a:r>
          </a:p>
        </p:txBody>
      </p:sp>
    </p:spTree>
    <p:extLst>
      <p:ext uri="{BB962C8B-B14F-4D97-AF65-F5344CB8AC3E}">
        <p14:creationId xmlns:p14="http://schemas.microsoft.com/office/powerpoint/2010/main" val="3722480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809F5D7A-4C4D-444A-B77D-6FEEAC60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56B435A0-9AAA-45E1-B9B8-800BDD8B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06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31A7CAD-1FF2-4953-AE2D-637B612A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Opening question: answers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9f51124e434c8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AE91A53-20B9-4EFC-84A2-296A4352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4 / 20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46AE081F-C387-47D2-A46E-8F085F06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EA88F2E0-1086-4FA5-8ECB-A4074FDE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336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Devices connected through that switch lose their path to one another.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C7F3BCD6-AD04-44A4-B652-DCFF1B18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504B1B76-098A-4E96-83E1-063B9C02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338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broken cable to one computer would usually disconnect only that computer.</a:t>
            </a:r>
          </a:p>
        </p:txBody>
      </p:sp>
    </p:spTree>
    <p:extLst>
      <p:ext uri="{BB962C8B-B14F-4D97-AF65-F5344CB8AC3E}">
        <p14:creationId xmlns:p14="http://schemas.microsoft.com/office/powerpoint/2010/main" val="13391580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6BB8122-938C-4EB9-AFC5-EE57766C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CA80283-FC50-4EA7-A28D-B1CA8E4B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1.3   /   LESSON 06   /   EXPERIENCE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ED1255C-573D-4229-BC06-1E3569D0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Worksheet + experience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e26b965ddf482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95B394F-6F3C-4C2D-8277-8F96EFF0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5 / 20</a:t>
            </a:r>
          </a:p>
        </p:txBody>
      </p:sp>
      <p:sp>
        <p:nvSpPr>
          <p:cNvPr id="6" name="open-label">
            <a:extLst xmlns:a="http://schemas.openxmlformats.org/drawingml/2006/main">
              <a:ext uri="{FF2B5EF4-FFF2-40B4-BE49-F238E27FC236}">
                <a16:creationId xmlns:a16="http://schemas.microsoft.com/office/drawing/2014/main" id="{1FE01BD4-38BA-4E1F-8EC0-88B99FAC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01   </a:t>
            </a: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4c42ff70fc334fb6"/>
              </a:rPr>
              <a:t>OPEN EXPERIENCE ↗</a:t>
            </a:r>
          </a:p>
        </p:txBody>
      </p:sp>
      <p:sp>
        <p:nvSpPr>
          <p:cNvPr id="7" name="open-body">
            <a:extLst xmlns:a="http://schemas.openxmlformats.org/drawingml/2006/main">
              <a:ext uri="{FF2B5EF4-FFF2-40B4-BE49-F238E27FC236}">
                <a16:creationId xmlns:a16="http://schemas.microsoft.com/office/drawing/2014/main" id="{92FFC1A4-4A33-4722-929F-4C8596BE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Open Star and mesh networks in Topic 1.3. Keep the worksheet beside you.</a:t>
            </a:r>
          </a:p>
        </p:txBody>
      </p:sp>
      <p:sp>
        <p:nvSpPr>
          <p:cNvPr id="8" name="station-label">
            <a:extLst xmlns:a="http://schemas.openxmlformats.org/drawingml/2006/main">
              <a:ext uri="{FF2B5EF4-FFF2-40B4-BE49-F238E27FC236}">
                <a16:creationId xmlns:a16="http://schemas.microsoft.com/office/drawing/2014/main" id="{FE74F4AD-ED97-4E56-A67A-81CBDEDC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02   WORK THROUGH EACH PART</a:t>
            </a:r>
          </a:p>
        </p:txBody>
      </p:sp>
      <p:sp>
        <p:nvSpPr>
          <p:cNvPr id="9" name="station-body">
            <a:extLst xmlns:a="http://schemas.openxmlformats.org/drawingml/2006/main">
              <a:ext uri="{FF2B5EF4-FFF2-40B4-BE49-F238E27FC236}">
                <a16:creationId xmlns:a16="http://schemas.microsoft.com/office/drawing/2014/main" id="{6066ECAC-24EA-4B8A-BFD5-E269419A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Read each panel. Write the key fact IN YOUR OWN WORDS and answer the worksheet challenge before tapping its badge.</a:t>
            </a:r>
          </a:p>
        </p:txBody>
      </p:sp>
      <p:sp>
        <p:nvSpPr>
          <p:cNvPr id="10" name="finish-label">
            <a:extLst xmlns:a="http://schemas.openxmlformats.org/drawingml/2006/main">
              <a:ext uri="{FF2B5EF4-FFF2-40B4-BE49-F238E27FC236}">
                <a16:creationId xmlns:a16="http://schemas.microsoft.com/office/drawing/2014/main" id="{E663FBC6-B2D9-477B-A9A6-BB8D2B33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03   SCORES BY PART</a:t>
            </a:r>
          </a:p>
        </p:txBody>
      </p:sp>
      <p:sp>
        <p:nvSpPr>
          <p:cNvPr id="11" name="finish-body">
            <a:extLst xmlns:a="http://schemas.openxmlformats.org/drawingml/2006/main">
              <a:ext uri="{FF2B5EF4-FFF2-40B4-BE49-F238E27FC236}">
                <a16:creationId xmlns:a16="http://schemas.microsoft.com/office/drawing/2014/main" id="{EEA844BC-2227-450B-BE39-CD0E7FB1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Complete 2 parts in order and copy each score (12 / 14) into its worksheet box. Finish the comparison or prediction tasks.</a:t>
            </a:r>
          </a:p>
        </p:txBody>
      </p:sp>
      <p:sp>
        <p:nvSpPr>
          <p:cNvPr id="12" name="plenary-label">
            <a:extLst xmlns:a="http://schemas.openxmlformats.org/drawingml/2006/main">
              <a:ext uri="{FF2B5EF4-FFF2-40B4-BE49-F238E27FC236}">
                <a16:creationId xmlns:a16="http://schemas.microsoft.com/office/drawing/2014/main" id="{6BB4001A-1554-40AB-BE65-2A90A48D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04   PLENARY</a:t>
            </a:r>
          </a:p>
        </p:txBody>
      </p:sp>
      <p:sp>
        <p:nvSpPr>
          <p:cNvPr id="13" name="plenary-body">
            <a:extLst xmlns:a="http://schemas.openxmlformats.org/drawingml/2006/main">
              <a:ext uri="{FF2B5EF4-FFF2-40B4-BE49-F238E27FC236}">
                <a16:creationId xmlns:a16="http://schemas.microsoft.com/office/drawing/2014/main" id="{89711EE8-3F0A-4C8E-B2F7-04D4BCC4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Finish the experience in this lesson. Near the end, close it for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1786930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C3AD4F6D-E3F3-4F0A-8509-A2EBBB2A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338612B-7F79-454E-9E81-80533452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1.3   /   LESSON 06   /   EXPERIENCE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D02A6B88-8590-44DF-8633-9122D263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Part 2: Mesh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f96727cd534801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76A2D19-AB06-4858-9CC3-DEB7B986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6 / 20</a:t>
            </a:r>
          </a:p>
        </p:txBody>
      </p:sp>
      <p:sp>
        <p:nvSpPr>
          <p:cNvPr id="6" name="scene-label">
            <a:extLst xmlns:a="http://schemas.openxmlformats.org/drawingml/2006/main">
              <a:ext uri="{FF2B5EF4-FFF2-40B4-BE49-F238E27FC236}">
                <a16:creationId xmlns:a16="http://schemas.microsoft.com/office/drawing/2014/main" id="{60BBE307-281D-4D8D-ADF6-4B844496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PART 2 OF 2</a:t>
            </a:r>
          </a:p>
        </p:txBody>
      </p:sp>
      <p:sp>
        <p:nvSpPr>
          <p:cNvPr id="7" name="scene-body">
            <a:extLst xmlns:a="http://schemas.openxmlformats.org/drawingml/2006/main">
              <a:ext uri="{FF2B5EF4-FFF2-40B4-BE49-F238E27FC236}">
                <a16:creationId xmlns:a16="http://schemas.microsoft.com/office/drawing/2014/main" id="{D79ABDA1-3254-44B3-886A-7F3CDD57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45720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Continue to Part 2: Mesh. Fill in the next worksheet section and record this part's score (out of 14).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339a8718aa462f"/>
          <a:stretch xmlns:a="http://schemas.openxmlformats.org/drawingml/2006/main"/>
        </p:blipFill>
        <p:spPr>
          <a:xfrm xmlns:a="http://schemas.openxmlformats.org/drawingml/2006/main">
            <a:off x="6076950" y="1819275"/>
            <a:ext cx="5400675" cy="3600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9260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7DC3402-AEB4-44C7-913B-2E47DA38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58AFD95-B320-4505-BCA5-81F72699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06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27BC9A2-855F-4945-8B78-D7BB7251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Apply your learning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e44eb4a8c45c8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DB3B59C-1599-4A85-9B47-C6802B2C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7 / 20</a:t>
            </a:r>
          </a:p>
        </p:txBody>
      </p:sp>
      <p:sp>
        <p:nvSpPr>
          <p:cNvPr id="6" name="application-prompt">
            <a:extLst xmlns:a="http://schemas.openxmlformats.org/drawingml/2006/main">
              <a:ext uri="{FF2B5EF4-FFF2-40B4-BE49-F238E27FC236}">
                <a16:creationId xmlns:a16="http://schemas.microsoft.com/office/drawing/2014/main" id="{9478DEFA-0F02-4751-B38D-AC2B12A6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95525"/>
            <a:ext cx="105727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Complete the star versus mesh table in Part 2. Compare links, reliability, cost and a suitable use.</a:t>
            </a:r>
          </a:p>
        </p:txBody>
      </p:sp>
      <p:sp>
        <p:nvSpPr>
          <p:cNvPr id="7" name="application-note">
            <a:extLst xmlns:a="http://schemas.openxmlformats.org/drawingml/2006/main">
              <a:ext uri="{FF2B5EF4-FFF2-40B4-BE49-F238E27FC236}">
                <a16:creationId xmlns:a16="http://schemas.microsoft.com/office/drawing/2014/main" id="{EC331E05-0542-45DC-A1D1-0D481920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57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Use the task and table on your worksheet.</a:t>
            </a:r>
          </a:p>
        </p:txBody>
      </p:sp>
    </p:spTree>
    <p:extLst>
      <p:ext uri="{BB962C8B-B14F-4D97-AF65-F5344CB8AC3E}">
        <p14:creationId xmlns:p14="http://schemas.microsoft.com/office/powerpoint/2010/main" val="20609781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F237BECF-1105-4A0E-B23C-C3430A66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04F38E5A-2CA4-4226-A139-909AAAA9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06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F36E0FE-48DE-482C-92BB-B98643F9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and improve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6c7c3661c74968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DF18EEA-7153-4773-BB51-578D1353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8 / 20</a:t>
            </a:r>
          </a:p>
        </p:txBody>
      </p:sp>
      <p:sp>
        <p:nvSpPr>
          <p:cNvPr id="6" name="review-prompt">
            <a:extLst xmlns:a="http://schemas.openxmlformats.org/drawingml/2006/main">
              <a:ext uri="{FF2B5EF4-FFF2-40B4-BE49-F238E27FC236}">
                <a16:creationId xmlns:a16="http://schemas.microsoft.com/office/drawing/2014/main" id="{A7351F48-B821-4AF1-ACC6-CF17110B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105727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Why might a small business choose a star even though a mesh survives some link failures?</a:t>
            </a:r>
          </a:p>
        </p:txBody>
      </p:sp>
    </p:spTree>
    <p:extLst>
      <p:ext uri="{BB962C8B-B14F-4D97-AF65-F5344CB8AC3E}">
        <p14:creationId xmlns:p14="http://schemas.microsoft.com/office/powerpoint/2010/main" val="9035818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F002CEF3-8873-4C81-B9E7-57C98B2C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0CFB7EFB-18DE-415C-9754-DEFDA6EF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06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D96C4571-9ACB-4D15-AF70-32D8E91F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Application: sample answers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778aebed07495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8535C81-F588-47F6-98A4-DCE2E404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9 / 20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73B73E4D-909A-4706-AFBB-A71F22DF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13489CBD-F629-42A3-8C1C-455B0502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47850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 connects each device to one switch. It uses fewer links, costs less and suits a small office.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8B4305DB-1228-415B-917A-C3C299C6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479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284329AE-67E7-415B-BD61-40A4B01E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47975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Mesh gives devices several connections, so traffic can reroute if a link fails.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9ECAA462-3D04-4B93-990E-489D67F6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EF37A0E9-914D-4490-A688-11D4310F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48100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full mesh needs many links, which raises cost and complexity. The internet uses a partial mesh.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9A17A673-DAF4-4DB7-B61C-DB8FD00D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482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B93D8678-2037-42BE-81C6-6698A0D0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48225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star is cheaper and simpler to install and maintain. The business may accept the risk of central switch failure.</a:t>
            </a:r>
          </a:p>
        </p:txBody>
      </p:sp>
    </p:spTree>
    <p:extLst>
      <p:ext uri="{BB962C8B-B14F-4D97-AF65-F5344CB8AC3E}">
        <p14:creationId xmlns:p14="http://schemas.microsoft.com/office/powerpoint/2010/main" val="593906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75787F4-7911-4520-B4BE-CD200D20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64848D2-FB01-4BE0-AD78-DAB9AAE9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06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A2C36402-1025-4CA9-9F1C-B17B9761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Part 1: Star: stations 1–3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306ed1e93d487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2D2DEDD-3DED-43C1-AF66-962B0E12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10 / 20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BCDF1A08-CFE4-4997-89EE-B40DD470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0">
            <a:extLst xmlns:a="http://schemas.openxmlformats.org/drawingml/2006/main">
              <a:ext uri="{FF2B5EF4-FFF2-40B4-BE49-F238E27FC236}">
                <a16:creationId xmlns:a16="http://schemas.microsoft.com/office/drawing/2014/main" id="{6F50B076-DABC-4291-B88C-7DF57EEC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  Star topology</a:t>
            </a:r>
          </a:p>
        </p:txBody>
      </p:sp>
      <p:sp>
        <p:nvSpPr>
          <p:cNvPr id="8" name="station-answer-0">
            <a:extLst xmlns:a="http://schemas.openxmlformats.org/drawingml/2006/main">
              <a:ext uri="{FF2B5EF4-FFF2-40B4-BE49-F238E27FC236}">
                <a16:creationId xmlns:a16="http://schemas.microsoft.com/office/drawing/2014/main" id="{24B7E91A-D294-414C-ADF3-7349BAE0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Each device has its own connection to a central switch, forming spokes around a hub. Sketch five PCs with five separate lines to the switch.</a:t>
            </a:r>
          </a:p>
        </p:txBody>
      </p:sp>
      <p:sp>
        <p:nvSpPr>
          <p:cNvPr id="9" name="station-name-1">
            <a:extLst xmlns:a="http://schemas.openxmlformats.org/drawingml/2006/main">
              <a:ext uri="{FF2B5EF4-FFF2-40B4-BE49-F238E27FC236}">
                <a16:creationId xmlns:a16="http://schemas.microsoft.com/office/drawing/2014/main" id="{453E1A51-C8D3-41AB-853E-BCA8B880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  Advantages of star</a:t>
            </a:r>
          </a:p>
        </p:txBody>
      </p:sp>
      <p:sp>
        <p:nvSpPr>
          <p:cNvPr id="10" name="station-answer-1">
            <a:extLst xmlns:a="http://schemas.openxmlformats.org/drawingml/2006/main">
              <a:ext uri="{FF2B5EF4-FFF2-40B4-BE49-F238E27FC236}">
                <a16:creationId xmlns:a16="http://schemas.microsoft.com/office/drawing/2014/main" id="{BD6B0E6E-3848-49B2-AE0B-54066A54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If one device's cable is cut, only that device loses the network. Star networks are also easy to add to and troubleshoot.</a:t>
            </a:r>
          </a:p>
        </p:txBody>
      </p:sp>
      <p:sp>
        <p:nvSpPr>
          <p:cNvPr id="11" name="station-name-2">
            <a:extLst xmlns:a="http://schemas.openxmlformats.org/drawingml/2006/main">
              <a:ext uri="{FF2B5EF4-FFF2-40B4-BE49-F238E27FC236}">
                <a16:creationId xmlns:a16="http://schemas.microsoft.com/office/drawing/2014/main" id="{2506E38B-D4AC-4919-83F5-D0906F63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  Disadvantages of star</a:t>
            </a:r>
          </a:p>
        </p:txBody>
      </p:sp>
      <p:sp>
        <p:nvSpPr>
          <p:cNvPr id="12" name="station-answer-2">
            <a:extLst xmlns:a="http://schemas.openxmlformats.org/drawingml/2006/main">
              <a:ext uri="{FF2B5EF4-FFF2-40B4-BE49-F238E27FC236}">
                <a16:creationId xmlns:a16="http://schemas.microsoft.com/office/drawing/2014/main" id="{36422339-B5DB-4D8E-9E71-067E0F9D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central switch is a single point of failure. If it breaks, all attached devices lose connectivity.</a:t>
            </a:r>
          </a:p>
        </p:txBody>
      </p:sp>
    </p:spTree>
    <p:extLst>
      <p:ext uri="{BB962C8B-B14F-4D97-AF65-F5344CB8AC3E}">
        <p14:creationId xmlns:p14="http://schemas.microsoft.com/office/powerpoint/2010/main" val="4603203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6BA6E81-EB36-4C6D-8FE9-99C5DCE0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7848B61F-7635-4EEB-A1CE-54527723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06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0FE409D-4EF2-4456-A87D-DB9F4B50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Part 1: Star: stations 4–5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7df10578a04819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FDDBF85-FBA7-4938-BCCB-FBF7B289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11 / 20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398BF5B7-D548-482C-9E8B-3C22B88C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3">
            <a:extLst xmlns:a="http://schemas.openxmlformats.org/drawingml/2006/main">
              <a:ext uri="{FF2B5EF4-FFF2-40B4-BE49-F238E27FC236}">
                <a16:creationId xmlns:a16="http://schemas.microsoft.com/office/drawing/2014/main" id="{E0F667D4-4619-43CD-BDC5-ECA60917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  Joining star networks</a:t>
            </a:r>
          </a:p>
        </p:txBody>
      </p:sp>
      <p:sp>
        <p:nvSpPr>
          <p:cNvPr id="8" name="station-answer-3">
            <a:extLst xmlns:a="http://schemas.openxmlformats.org/drawingml/2006/main">
              <a:ext uri="{FF2B5EF4-FFF2-40B4-BE49-F238E27FC236}">
                <a16:creationId xmlns:a16="http://schemas.microsoft.com/office/drawing/2014/main" id="{D6C11710-6FA0-498D-BA4A-82061A06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Two switches can be linked. If that link fails, devices on each switch still talk locally but not across the link.</a:t>
            </a:r>
          </a:p>
        </p:txBody>
      </p:sp>
      <p:sp>
        <p:nvSpPr>
          <p:cNvPr id="9" name="station-name-4">
            <a:extLst xmlns:a="http://schemas.openxmlformats.org/drawingml/2006/main">
              <a:ext uri="{FF2B5EF4-FFF2-40B4-BE49-F238E27FC236}">
                <a16:creationId xmlns:a16="http://schemas.microsoft.com/office/drawing/2014/main" id="{67D0E742-CD32-42B7-A882-95C0F8F3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  Break it!</a:t>
            </a:r>
          </a:p>
        </p:txBody>
      </p:sp>
      <p:sp>
        <p:nvSpPr>
          <p:cNvPr id="10" name="station-answer-4">
            <a:extLst xmlns:a="http://schemas.openxmlformats.org/drawingml/2006/main">
              <a:ext uri="{FF2B5EF4-FFF2-40B4-BE49-F238E27FC236}">
                <a16:creationId xmlns:a16="http://schemas.microsoft.com/office/drawing/2014/main" id="{CD96A362-E076-4B88-BC46-84CEEF39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Sales PC sends a file through Switch A, the inter-switch link, then Switch B to the server. A cut Sales 2 cable affects only Sales 2.</a:t>
            </a:r>
          </a:p>
        </p:txBody>
      </p:sp>
    </p:spTree>
    <p:extLst>
      <p:ext uri="{BB962C8B-B14F-4D97-AF65-F5344CB8AC3E}">
        <p14:creationId xmlns:p14="http://schemas.microsoft.com/office/powerpoint/2010/main" val="9479091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241CF66-E2BE-477A-A97D-C8CF9C22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5F2C2D0-D71D-49E8-A50E-A2C52FA9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06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CBD32C50-C92B-4DC9-A2DA-364CFE10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Part 2: Mesh: stations 1–3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4d7b912719435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4CF103E-4048-48BB-BC9D-E4733009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12 / 20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C03323DD-5B82-4552-A952-2E253B4D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5">
            <a:extLst xmlns:a="http://schemas.openxmlformats.org/drawingml/2006/main">
              <a:ext uri="{FF2B5EF4-FFF2-40B4-BE49-F238E27FC236}">
                <a16:creationId xmlns:a16="http://schemas.microsoft.com/office/drawing/2014/main" id="{58615643-EA6A-4279-A0C7-DBF76F37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  Full mesh</a:t>
            </a:r>
          </a:p>
        </p:txBody>
      </p:sp>
      <p:sp>
        <p:nvSpPr>
          <p:cNvPr id="8" name="station-answer-5">
            <a:extLst xmlns:a="http://schemas.openxmlformats.org/drawingml/2006/main">
              <a:ext uri="{FF2B5EF4-FFF2-40B4-BE49-F238E27FC236}">
                <a16:creationId xmlns:a16="http://schemas.microsoft.com/office/drawing/2014/main" id="{6EABBC49-BFFA-4DF6-B12C-3A878C91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full mesh directly connects every pair of devices. Four devices need 4 × 3 ÷ 2 = 6 links; six need 6 × 5 ÷ 2 = 15.</a:t>
            </a:r>
          </a:p>
        </p:txBody>
      </p:sp>
      <p:sp>
        <p:nvSpPr>
          <p:cNvPr id="9" name="station-name-6">
            <a:extLst xmlns:a="http://schemas.openxmlformats.org/drawingml/2006/main">
              <a:ext uri="{FF2B5EF4-FFF2-40B4-BE49-F238E27FC236}">
                <a16:creationId xmlns:a16="http://schemas.microsoft.com/office/drawing/2014/main" id="{D2629A53-4EA7-42C2-91AB-D1EBDC88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  Mesh: pros and cons</a:t>
            </a:r>
          </a:p>
        </p:txBody>
      </p:sp>
      <p:sp>
        <p:nvSpPr>
          <p:cNvPr id="10" name="station-answer-6">
            <a:extLst xmlns:a="http://schemas.openxmlformats.org/drawingml/2006/main">
              <a:ext uri="{FF2B5EF4-FFF2-40B4-BE49-F238E27FC236}">
                <a16:creationId xmlns:a16="http://schemas.microsoft.com/office/drawing/2014/main" id="{B94C21CB-7F24-4FCD-B8B4-FFBA87BF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Several routes can keep traffic moving if one link fails, valuable for a bank. Extra links cost more to install and manage.</a:t>
            </a:r>
          </a:p>
        </p:txBody>
      </p:sp>
      <p:sp>
        <p:nvSpPr>
          <p:cNvPr id="11" name="station-name-7">
            <a:extLst xmlns:a="http://schemas.openxmlformats.org/drawingml/2006/main">
              <a:ext uri="{FF2B5EF4-FFF2-40B4-BE49-F238E27FC236}">
                <a16:creationId xmlns:a16="http://schemas.microsoft.com/office/drawing/2014/main" id="{E6FC0081-6978-4E5F-8B57-8B5A0FE0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  Partial mesh: the internet</a:t>
            </a:r>
          </a:p>
        </p:txBody>
      </p:sp>
      <p:sp>
        <p:nvSpPr>
          <p:cNvPr id="12" name="station-answer-7">
            <a:extLst xmlns:a="http://schemas.openxmlformats.org/drawingml/2006/main">
              <a:ext uri="{FF2B5EF4-FFF2-40B4-BE49-F238E27FC236}">
                <a16:creationId xmlns:a16="http://schemas.microsoft.com/office/drawing/2014/main" id="{FEB8266C-3748-4F66-AC4A-74B71062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internet uses a partial mesh because connecting every router directly to every other router would be impractical.</a:t>
            </a:r>
          </a:p>
        </p:txBody>
      </p:sp>
    </p:spTree>
    <p:extLst>
      <p:ext uri="{BB962C8B-B14F-4D97-AF65-F5344CB8AC3E}">
        <p14:creationId xmlns:p14="http://schemas.microsoft.com/office/powerpoint/2010/main" val="14862095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8FDE0FA6-396C-4E2F-B084-475C8661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EDA86018-0381-4DE5-ADA9-2DFE63C7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06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C9627CC9-1965-4A91-B313-FCBF9994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Part 2: Mesh: stations 4–5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469445b79942be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3C0EC92-E9B2-4AD6-A16C-FB748EF0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13 / 20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32D11F2E-2B45-4F2A-9C37-7470FC64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8">
            <a:extLst xmlns:a="http://schemas.openxmlformats.org/drawingml/2006/main">
              <a:ext uri="{FF2B5EF4-FFF2-40B4-BE49-F238E27FC236}">
                <a16:creationId xmlns:a16="http://schemas.microsoft.com/office/drawing/2014/main" id="{8DB0CFD1-BE87-4AF8-A3B3-FB6D0616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  Wireless mesh</a:t>
            </a:r>
          </a:p>
        </p:txBody>
      </p:sp>
      <p:sp>
        <p:nvSpPr>
          <p:cNvPr id="8" name="station-answer-8">
            <a:extLst xmlns:a="http://schemas.openxmlformats.org/drawingml/2006/main">
              <a:ext uri="{FF2B5EF4-FFF2-40B4-BE49-F238E27FC236}">
                <a16:creationId xmlns:a16="http://schemas.microsoft.com/office/drawing/2014/main" id="{08E27197-43A8-4B24-895A-0BF5B0F8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Wireless mesh access points relay traffic along several routes and can cover awkward buildings. Removing one works only if another path remains.</a:t>
            </a:r>
          </a:p>
        </p:txBody>
      </p:sp>
      <p:sp>
        <p:nvSpPr>
          <p:cNvPr id="9" name="station-name-9">
            <a:extLst xmlns:a="http://schemas.openxmlformats.org/drawingml/2006/main">
              <a:ext uri="{FF2B5EF4-FFF2-40B4-BE49-F238E27FC236}">
                <a16:creationId xmlns:a16="http://schemas.microsoft.com/office/drawing/2014/main" id="{74D76645-B86A-43C3-B091-66A785CF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  Star vs mesh</a:t>
            </a:r>
          </a:p>
        </p:txBody>
      </p:sp>
      <p:sp>
        <p:nvSpPr>
          <p:cNvPr id="10" name="station-answer-9">
            <a:extLst xmlns:a="http://schemas.openxmlformats.org/drawingml/2006/main">
              <a:ext uri="{FF2B5EF4-FFF2-40B4-BE49-F238E27FC236}">
                <a16:creationId xmlns:a16="http://schemas.microsoft.com/office/drawing/2014/main" id="{1167A5B1-1DA0-4D10-8C72-38A46701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Star: one central switch, less cable and easy expansion, but one central failure. Mesh: several links and route redundancy, but greater cost and complexity.</a:t>
            </a:r>
          </a:p>
        </p:txBody>
      </p:sp>
    </p:spTree>
    <p:extLst>
      <p:ext uri="{BB962C8B-B14F-4D97-AF65-F5344CB8AC3E}">
        <p14:creationId xmlns:p14="http://schemas.microsoft.com/office/powerpoint/2010/main" val="20200100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A839A92-A6C5-448F-935D-DBEDF671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7BC7FFCF-D377-4080-BBF8-E9AE324C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06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F5C2FFB-1B83-4A79-ADD8-2D7AB616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Part 2: star versus mesh · answers 1–4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cecbc0fdd44db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15219CB-F2DD-4B3E-8154-E89220E8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14 / 20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C7E9899B-62BD-4C4E-A4DE-4BE8A68B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066EAA5D-D2F7-476A-8F57-FB2B42CE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central switch is a single point of failure → Star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BF936F29-F286-4431-AA0B-36B0A058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3C306040-9030-4EC3-AA18-631B133D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81300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Data can be rerouted if a link fails → Mesh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812FC930-BBFF-4912-8509-06E8BC1D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A9E8C98A-4077-4E58-BFDC-7D50CFCB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43325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Uses the least cable of the two → Star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A26AE2F4-3623-4EE8-BAF4-40CD9DA0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763DB2F7-5A96-4BE0-911E-61C952D2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05350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Each device connects to several others → Mesh</a:t>
            </a:r>
          </a:p>
        </p:txBody>
      </p:sp>
    </p:spTree>
    <p:extLst>
      <p:ext uri="{BB962C8B-B14F-4D97-AF65-F5344CB8AC3E}">
        <p14:creationId xmlns:p14="http://schemas.microsoft.com/office/powerpoint/2010/main" val="1154691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DC92695C-B1D8-4836-83BF-99443E38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FE5BE52-6167-4D0C-BDD1-C5B2E9F3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06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DBEBEA14-EEAA-4ED6-B9A9-8AA57D17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Part 2: star versus mesh · answers 5–6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8f2fb820d3489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F24EB17-6B9D-4FFE-AB16-0081A2FF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15 / 20</a:t>
            </a:r>
          </a:p>
        </p:txBody>
      </p:sp>
      <p:sp>
        <p:nvSpPr>
          <p:cNvPr id="6" name="number-5">
            <a:extLst xmlns:a="http://schemas.openxmlformats.org/drawingml/2006/main">
              <a:ext uri="{FF2B5EF4-FFF2-40B4-BE49-F238E27FC236}">
                <a16:creationId xmlns:a16="http://schemas.microsoft.com/office/drawing/2014/main" id="{18DF901A-E8CF-456F-81EB-3CD874F9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5.</a:t>
            </a:r>
          </a:p>
        </p:txBody>
      </p:sp>
      <p:sp>
        <p:nvSpPr>
          <p:cNvPr id="7" name="item-5">
            <a:extLst xmlns:a="http://schemas.openxmlformats.org/drawingml/2006/main">
              <a:ext uri="{FF2B5EF4-FFF2-40B4-BE49-F238E27FC236}">
                <a16:creationId xmlns:a16="http://schemas.microsoft.com/office/drawing/2014/main" id="{304D84B4-1DB7-4B0E-9B26-46AA3930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new device needs just one cable to the switch → Star</a:t>
            </a:r>
          </a:p>
        </p:txBody>
      </p:sp>
      <p:sp>
        <p:nvSpPr>
          <p:cNvPr id="8" name="number-6">
            <a:extLst xmlns:a="http://schemas.openxmlformats.org/drawingml/2006/main">
              <a:ext uri="{FF2B5EF4-FFF2-40B4-BE49-F238E27FC236}">
                <a16:creationId xmlns:a16="http://schemas.microsoft.com/office/drawing/2014/main" id="{F337BFB5-F968-400D-A1CD-66376ACC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6.</a:t>
            </a:r>
          </a:p>
        </p:txBody>
      </p:sp>
      <p:sp>
        <p:nvSpPr>
          <p:cNvPr id="9" name="item-6">
            <a:extLst xmlns:a="http://schemas.openxmlformats.org/drawingml/2006/main">
              <a:ext uri="{FF2B5EF4-FFF2-40B4-BE49-F238E27FC236}">
                <a16:creationId xmlns:a16="http://schemas.microsoft.com/office/drawing/2014/main" id="{3409D098-E709-4D6D-9CC1-43D65D27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33775"/>
            <a:ext cx="99250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internet is an example → Mesh</a:t>
            </a:r>
          </a:p>
        </p:txBody>
      </p:sp>
    </p:spTree>
    <p:extLst>
      <p:ext uri="{BB962C8B-B14F-4D97-AF65-F5344CB8AC3E}">
        <p14:creationId xmlns:p14="http://schemas.microsoft.com/office/powerpoint/2010/main" val="84427356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1B72FFA7-57C6-4B7D-AB1C-D5FCFD5C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44157273-49C9-48B9-8438-FCABC917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06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393ED0C-6977-4669-8385-F260FD95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 1–2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ffd02991264c7e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816127E-D2E5-459C-9CE6-6C7F75DA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16 / 20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388D6DCC-2045-4F0F-A09A-99BD2BC2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Close the experience. Answer from memory on the worksheet.</a:t>
            </a:r>
          </a:p>
        </p:txBody>
      </p:sp>
      <p:sp>
        <p:nvSpPr>
          <p:cNvPr id="7" name="question-0">
            <a:extLst xmlns:a="http://schemas.openxmlformats.org/drawingml/2006/main">
              <a:ext uri="{FF2B5EF4-FFF2-40B4-BE49-F238E27FC236}">
                <a16:creationId xmlns:a16="http://schemas.microsoft.com/office/drawing/2014/main" id="{AADEBD05-7F9E-4E8F-BD8B-63B0B13A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 Explain the biggest weakness of a star network.  [2]</a:t>
            </a:r>
          </a:p>
        </p:txBody>
      </p:sp>
      <p:sp>
        <p:nvSpPr>
          <p:cNvPr id="8" name="question-1">
            <a:extLst xmlns:a="http://schemas.openxmlformats.org/drawingml/2006/main">
              <a:ext uri="{FF2B5EF4-FFF2-40B4-BE49-F238E27FC236}">
                <a16:creationId xmlns:a16="http://schemas.microsoft.com/office/drawing/2014/main" id="{E2916704-6712-4CFB-A320-D02D7ACB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 Explain how a mesh network overcomes this weakness.  [2]</a:t>
            </a:r>
          </a:p>
        </p:txBody>
      </p:sp>
    </p:spTree>
    <p:extLst>
      <p:ext uri="{BB962C8B-B14F-4D97-AF65-F5344CB8AC3E}">
        <p14:creationId xmlns:p14="http://schemas.microsoft.com/office/powerpoint/2010/main" val="103797889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4785569-EF29-48FE-8941-5300606F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00A43E7-92B1-4C50-8DBB-C0C20067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06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C71E86E-18BE-4081-8A73-2D0C4793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 3–4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eed237e895455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8055005-5C6C-4A1F-95F6-3D813A6C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17 / 20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20B64E30-602F-4204-8779-7B33DA90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Close the experience. Answer from memory on the worksheet.</a:t>
            </a:r>
          </a:p>
        </p:txBody>
      </p:sp>
      <p:sp>
        <p:nvSpPr>
          <p:cNvPr id="7" name="question-0">
            <a:extLst xmlns:a="http://schemas.openxmlformats.org/drawingml/2006/main">
              <a:ext uri="{FF2B5EF4-FFF2-40B4-BE49-F238E27FC236}">
                <a16:creationId xmlns:a16="http://schemas.microsoft.com/office/drawing/2014/main" id="{0AD70053-D5CB-4AFA-B709-D97E2721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c)  State one disadvantage of a full mesh network.  [1]</a:t>
            </a:r>
          </a:p>
        </p:txBody>
      </p:sp>
      <p:sp>
        <p:nvSpPr>
          <p:cNvPr id="8" name="question-1">
            <a:extLst xmlns:a="http://schemas.openxmlformats.org/drawingml/2006/main">
              <a:ext uri="{FF2B5EF4-FFF2-40B4-BE49-F238E27FC236}">
                <a16:creationId xmlns:a16="http://schemas.microsoft.com/office/drawing/2014/main" id="{ADA138DD-2352-43BC-8945-337B2EA2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d)  A small business with 15 staff in one building is setting up a wired network. Should it use a star or a full mesh topology? Justify your answer.  [4]</a:t>
            </a:r>
          </a:p>
        </p:txBody>
      </p:sp>
    </p:spTree>
    <p:extLst>
      <p:ext uri="{BB962C8B-B14F-4D97-AF65-F5344CB8AC3E}">
        <p14:creationId xmlns:p14="http://schemas.microsoft.com/office/powerpoint/2010/main" val="68695764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D92F53FF-D5F1-4149-AD2B-68AD1E0C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DDBF385-1C40-4E8A-8A21-EB118A3B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06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FFCF4322-ED28-40C0-9F25-CC156C26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 1–2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d24fe412e42fe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F3E184C-E52E-4E03-9937-5C723E4D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18 / 20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CE99C053-D1BC-4A59-8C9E-363077E3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D368CDB0-1767-4E95-8F4D-1BEC78DE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The central switch is a single point of failure. If it breaks, the devices connected through it cannot communicate.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93460E88-5180-43E9-BB27-63B96FC1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Mesh provides more than one route between devices, so data can take another path when one link fails.</a:t>
            </a:r>
          </a:p>
        </p:txBody>
      </p:sp>
    </p:spTree>
    <p:extLst>
      <p:ext uri="{BB962C8B-B14F-4D97-AF65-F5344CB8AC3E}">
        <p14:creationId xmlns:p14="http://schemas.microsoft.com/office/powerpoint/2010/main" val="208011414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6CD2EB55-6C3B-4792-8E90-36B4EC69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7E759D0-2ECB-4941-AB78-FC167153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06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F70C3F0-484C-4DD3-B93E-B3049F6F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 3–4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486fd4c9a546d8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AFC706D-B75C-4BA1-9034-8A285811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19 / 20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0A6E7C96-9EB1-40D0-A985-983063DF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36F6D403-3336-4FF0-9A0B-26411C65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c) Full mesh requires many cables or connections, increasing cost and complexity.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E75D8787-5130-40FD-979F-248567DE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d) Choose star for a 15-person office: one cable per device to a switch is simpler and cheaper than all the full-mesh links. The switch is a risk, so the business should plan for failure or replacement.</a:t>
            </a:r>
          </a:p>
        </p:txBody>
      </p:sp>
    </p:spTree>
    <p:extLst>
      <p:ext uri="{BB962C8B-B14F-4D97-AF65-F5344CB8AC3E}">
        <p14:creationId xmlns:p14="http://schemas.microsoft.com/office/powerpoint/2010/main" val="147323008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CD0D319-3CCD-4209-BA10-43996769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94B8AE2-60DF-4728-BF66-BD0E817F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06   /   SELF-CHECK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B9C9CC0E-21BF-411E-BC68-21737D2D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confident am I?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6f7c45a27f478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252F56F-7D00-40EF-8780-F8A11B89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20 / 20</a:t>
            </a:r>
          </a:p>
        </p:txBody>
      </p:sp>
      <p:sp>
        <p:nvSpPr>
          <p:cNvPr id="6" name="confidence-intro">
            <a:extLst xmlns:a="http://schemas.openxmlformats.org/drawingml/2006/main">
              <a:ext uri="{FF2B5EF4-FFF2-40B4-BE49-F238E27FC236}">
                <a16:creationId xmlns:a16="http://schemas.microsoft.com/office/drawing/2014/main" id="{E5470FC8-B069-4B13-87F4-3DB56FF0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Select Not yet, Getting there or Confident for each objective on the worksheet.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A674D005-5EF2-4D7C-B98C-84B6FFD9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6A3A5FFD-FCDE-4CDD-8C4A-82993676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What a star network is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74DA7B47-F028-4330-9E7C-6F67D987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242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C1F24650-E327-4896-A074-04F23902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24225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What a mesh network is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FCE22CEA-B79A-4B96-85E0-6C355768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38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C8BD1173-84C1-4E01-88A7-7CCB64BD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3385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Why the internet is a partial mesh</a:t>
            </a:r>
          </a:p>
        </p:txBody>
      </p:sp>
      <p:sp>
        <p:nvSpPr>
          <p:cNvPr id="13" name="number-4">
            <a:extLst xmlns:a="http://schemas.openxmlformats.org/drawingml/2006/main">
              <a:ext uri="{FF2B5EF4-FFF2-40B4-BE49-F238E27FC236}">
                <a16:creationId xmlns:a16="http://schemas.microsoft.com/office/drawing/2014/main" id="{67BB3935-EB36-477A-9A3B-CA0C510E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434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470FA3F6-7708-4D6E-ABDF-A14B9E4A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43475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Advantages and disadvantages of star and mesh</a:t>
            </a:r>
          </a:p>
        </p:txBody>
      </p:sp>
    </p:spTree>
    <p:extLst>
      <p:ext uri="{BB962C8B-B14F-4D97-AF65-F5344CB8AC3E}">
        <p14:creationId xmlns:p14="http://schemas.microsoft.com/office/powerpoint/2010/main" val="5302756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2026-09-25T14:15:33.9610000Z</dcterms:created>
  <dcterms:modified xsi:type="dcterms:W3CDTF">2026-09-25T14:15:33.9610000Z</dcterms:modified>
</coreProperties>
</file>