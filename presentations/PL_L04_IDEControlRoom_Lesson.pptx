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72bdd27a3184000" /><Relationship Type="http://schemas.openxmlformats.org/officeDocument/2006/relationships/extended-properties" Target="/docProps/app.xml" Id="R87d90adf14744552" /><Relationship Type="http://schemas.openxmlformats.org/officeDocument/2006/relationships/officeDocument" Target="/ppt/presentation.xml" Id="R72c71b66fa66496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7a0272d93464800"/>
  </p:sldMasterIdLst>
  <p:notesMasterIdLst>
    <p:notesMasterId xmlns:r="http://schemas.openxmlformats.org/officeDocument/2006/relationships" r:id="Ref2fa4c4dd994fc7"/>
  </p:notesMasterIdLst>
  <p:sldIdLst>
    <p:sldId xmlns:r="http://schemas.openxmlformats.org/officeDocument/2006/relationships" id="256" r:id="R292b9e1116554b9f"/>
    <p:sldId xmlns:r="http://schemas.openxmlformats.org/officeDocument/2006/relationships" id="257" r:id="Rbdaca82e24684c9f"/>
    <p:sldId xmlns:r="http://schemas.openxmlformats.org/officeDocument/2006/relationships" id="258" r:id="R83922d4cae544765"/>
    <p:sldId xmlns:r="http://schemas.openxmlformats.org/officeDocument/2006/relationships" id="259" r:id="R6743f98dbc0e4432"/>
    <p:sldId xmlns:r="http://schemas.openxmlformats.org/officeDocument/2006/relationships" id="260" r:id="Rf1e9332b73004860"/>
    <p:sldId xmlns:r="http://schemas.openxmlformats.org/officeDocument/2006/relationships" id="261" r:id="R9ccb24d6ab8c4837"/>
    <p:sldId xmlns:r="http://schemas.openxmlformats.org/officeDocument/2006/relationships" id="262" r:id="R152bf73b81f54478"/>
    <p:sldId xmlns:r="http://schemas.openxmlformats.org/officeDocument/2006/relationships" id="263" r:id="R6f66a47314c44103"/>
    <p:sldId xmlns:r="http://schemas.openxmlformats.org/officeDocument/2006/relationships" id="264" r:id="R7a0338247a6640f9"/>
    <p:sldId xmlns:r="http://schemas.openxmlformats.org/officeDocument/2006/relationships" id="265" r:id="Rdcb633d9177649ee"/>
    <p:sldId xmlns:r="http://schemas.openxmlformats.org/officeDocument/2006/relationships" id="266" r:id="R0d61d92186d6481d"/>
    <p:sldId xmlns:r="http://schemas.openxmlformats.org/officeDocument/2006/relationships" id="267" r:id="R1cd5269d8fd94ae7"/>
    <p:sldId xmlns:r="http://schemas.openxmlformats.org/officeDocument/2006/relationships" id="268" r:id="R54c5a99213fe47fe"/>
    <p:sldId xmlns:r="http://schemas.openxmlformats.org/officeDocument/2006/relationships" id="269" r:id="R969074fe101448f2"/>
    <p:sldId xmlns:r="http://schemas.openxmlformats.org/officeDocument/2006/relationships" id="270" r:id="R046b9400af04430f"/>
    <p:sldId xmlns:r="http://schemas.openxmlformats.org/officeDocument/2006/relationships" id="271" r:id="Re1dc21c1409e4350"/>
    <p:sldId xmlns:r="http://schemas.openxmlformats.org/officeDocument/2006/relationships" id="272" r:id="Rd3a1eac829ac465c"/>
    <p:sldId xmlns:r="http://schemas.openxmlformats.org/officeDocument/2006/relationships" id="273" r:id="R30670558e4d243f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04a5419eb404a52" /><Relationship Type="http://schemas.openxmlformats.org/officeDocument/2006/relationships/slideMaster" Target="/ppt/slideMasters/slideMaster1.xml" Id="R37a0272d93464800" /><Relationship Type="http://schemas.openxmlformats.org/officeDocument/2006/relationships/notesMaster" Target="/ppt/notesMasters/notesMaster1.xml" Id="Ref2fa4c4dd994fc7" /><Relationship Type="http://schemas.openxmlformats.org/officeDocument/2006/relationships/presProps" Target="/ppt/presProps.xml" Id="R27d8a1d4e63d42f1" /><Relationship Type="http://schemas.openxmlformats.org/officeDocument/2006/relationships/tableStyles" Target="/ppt/tableStyles.xml" Id="R09447a01f77d44ce" /><Relationship Type="http://schemas.openxmlformats.org/officeDocument/2006/relationships/slide" Target="/ppt/slides/slide1.xml" Id="R292b9e1116554b9f" /><Relationship Type="http://schemas.openxmlformats.org/officeDocument/2006/relationships/slide" Target="/ppt/slides/slide2.xml" Id="Rbdaca82e24684c9f" /><Relationship Type="http://schemas.openxmlformats.org/officeDocument/2006/relationships/slide" Target="/ppt/slides/slide3.xml" Id="R83922d4cae544765" /><Relationship Type="http://schemas.openxmlformats.org/officeDocument/2006/relationships/slide" Target="/ppt/slides/slide4.xml" Id="R6743f98dbc0e4432" /><Relationship Type="http://schemas.openxmlformats.org/officeDocument/2006/relationships/slide" Target="/ppt/slides/slide5.xml" Id="Rf1e9332b73004860" /><Relationship Type="http://schemas.openxmlformats.org/officeDocument/2006/relationships/slide" Target="/ppt/slides/slide6.xml" Id="R9ccb24d6ab8c4837" /><Relationship Type="http://schemas.openxmlformats.org/officeDocument/2006/relationships/slide" Target="/ppt/slides/slide7.xml" Id="R152bf73b81f54478" /><Relationship Type="http://schemas.openxmlformats.org/officeDocument/2006/relationships/slide" Target="/ppt/slides/slide8.xml" Id="R6f66a47314c44103" /><Relationship Type="http://schemas.openxmlformats.org/officeDocument/2006/relationships/slide" Target="/ppt/slides/slide9.xml" Id="R7a0338247a6640f9" /><Relationship Type="http://schemas.openxmlformats.org/officeDocument/2006/relationships/slide" Target="/ppt/slides/slide10.xml" Id="Rdcb633d9177649ee" /><Relationship Type="http://schemas.openxmlformats.org/officeDocument/2006/relationships/slide" Target="/ppt/slides/slide11.xml" Id="R0d61d92186d6481d" /><Relationship Type="http://schemas.openxmlformats.org/officeDocument/2006/relationships/slide" Target="/ppt/slides/slide12.xml" Id="R1cd5269d8fd94ae7" /><Relationship Type="http://schemas.openxmlformats.org/officeDocument/2006/relationships/slide" Target="/ppt/slides/slide13.xml" Id="R54c5a99213fe47fe" /><Relationship Type="http://schemas.openxmlformats.org/officeDocument/2006/relationships/slide" Target="/ppt/slides/slide14.xml" Id="R969074fe101448f2" /><Relationship Type="http://schemas.openxmlformats.org/officeDocument/2006/relationships/slide" Target="/ppt/slides/slide15.xml" Id="R046b9400af04430f" /><Relationship Type="http://schemas.openxmlformats.org/officeDocument/2006/relationships/slide" Target="/ppt/slides/slide16.xml" Id="Re1dc21c1409e4350" /><Relationship Type="http://schemas.openxmlformats.org/officeDocument/2006/relationships/slide" Target="/ppt/slides/slide17.xml" Id="Rd3a1eac829ac465c" /><Relationship Type="http://schemas.openxmlformats.org/officeDocument/2006/relationships/slide" Target="/ppt/slides/slide18.xml" Id="R30670558e4d243f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b0d067546c54ab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c1c22a035dd46f3" /><Relationship Type="http://schemas.openxmlformats.org/officeDocument/2006/relationships/notesMaster" Target="/ppt/notesMasters/notesMaster1.xml" Id="Rb65197f6f23f431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8fdb5b147274ddb" /><Relationship Type="http://schemas.openxmlformats.org/officeDocument/2006/relationships/notesMaster" Target="/ppt/notesMasters/notesMaster1.xml" Id="Rb77566c240ba45a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ede77d26cd14a4d" /><Relationship Type="http://schemas.openxmlformats.org/officeDocument/2006/relationships/notesMaster" Target="/ppt/notesMasters/notesMaster1.xml" Id="R5f973065d0064e0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1fc7da6950c4810" /><Relationship Type="http://schemas.openxmlformats.org/officeDocument/2006/relationships/notesMaster" Target="/ppt/notesMasters/notesMaster1.xml" Id="R0e03ffb27cd9449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c7e7d9c0c9a468b" /><Relationship Type="http://schemas.openxmlformats.org/officeDocument/2006/relationships/notesMaster" Target="/ppt/notesMasters/notesMaster1.xml" Id="R8d4bdf193d724e0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e25cc8d05334841" /><Relationship Type="http://schemas.openxmlformats.org/officeDocument/2006/relationships/notesMaster" Target="/ppt/notesMasters/notesMaster1.xml" Id="R458b751180ee44c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bdecaf4fa594705" /><Relationship Type="http://schemas.openxmlformats.org/officeDocument/2006/relationships/notesMaster" Target="/ppt/notesMasters/notesMaster1.xml" Id="R7df2b817d9074f0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0104911f9f641b2" /><Relationship Type="http://schemas.openxmlformats.org/officeDocument/2006/relationships/notesMaster" Target="/ppt/notesMasters/notesMaster1.xml" Id="Re64d4a0f3e6a4ea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408623b22154dc9" /><Relationship Type="http://schemas.openxmlformats.org/officeDocument/2006/relationships/notesMaster" Target="/ppt/notesMasters/notesMaster1.xml" Id="Rc0bf9962a71f475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2d92995391547e2" /><Relationship Type="http://schemas.openxmlformats.org/officeDocument/2006/relationships/notesMaster" Target="/ppt/notesMasters/notesMaster1.xml" Id="Ra6741ac524574ba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c2bec6e11af4fc0" /><Relationship Type="http://schemas.openxmlformats.org/officeDocument/2006/relationships/notesMaster" Target="/ppt/notesMasters/notesMaster1.xml" Id="Rd8dddafa174b4ad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54d0a9ab15b4bb3" /><Relationship Type="http://schemas.openxmlformats.org/officeDocument/2006/relationships/notesMaster" Target="/ppt/notesMasters/notesMaster1.xml" Id="R4119925e0b2c48f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302c1e8853e44c8" /><Relationship Type="http://schemas.openxmlformats.org/officeDocument/2006/relationships/notesMaster" Target="/ppt/notesMasters/notesMaster1.xml" Id="R5baf3e7f9f7344c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479aa0845af4532" /><Relationship Type="http://schemas.openxmlformats.org/officeDocument/2006/relationships/notesMaster" Target="/ppt/notesMasters/notesMaster1.xml" Id="R262a3b6fb4e44c8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76c853056f849e9" /><Relationship Type="http://schemas.openxmlformats.org/officeDocument/2006/relationships/notesMaster" Target="/ppt/notesMasters/notesMaster1.xml" Id="Rec6040f85cc5462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ca9684f0e854d14" /><Relationship Type="http://schemas.openxmlformats.org/officeDocument/2006/relationships/notesMaster" Target="/ppt/notesMasters/notesMaster1.xml" Id="R2c2b41442f044f9b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427a500aa71d45c4" /><Relationship Type="http://schemas.openxmlformats.org/officeDocument/2006/relationships/notesMaster" Target="/ppt/notesMasters/notesMaster1.xml" Id="R372d3ca8e4c84a91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a3f1c75560ff49c6" /><Relationship Type="http://schemas.openxmlformats.org/officeDocument/2006/relationships/notesMaster" Target="/ppt/notesMasters/notesMaster1.xml" Id="Rbc41d0c73e62492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Revise360 original lesson content. Teaching examples support OCR J277 Topic 2.5. The low-level instruction model is explanatory enrichment, not an additional required instruction set.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Revise360 original lesson content. Teaching examples support OCR J277 Topic 2.5. The low-level instruction model is explanatory enrichment, not an additional required instruction set.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Revise360 original lesson content. Teaching examples support OCR J277 Topic 2.5. The low-level instruction model is explanatory enrichment, not an additional required instruction set.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Revise360 original lesson content. Teaching examples support OCR J277 Topic 2.5. The low-level instruction model is explanatory enrichment, not an additional required instruction set.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Revise360 original lesson content. Teaching examples support OCR J277 Topic 2.5. The low-level instruction model is explanatory enrichment, not an additional required instruction set.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Revise360 original lesson content. Teaching examples support OCR J277 Topic 2.5. The low-level instruction model is explanatory enrichment, not an additional required instruction set.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Revise360 original lesson content. Teaching examples support OCR J277 Topic 2.5. The low-level instruction model is explanatory enrichment, not an additional required instruction set.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Revise360 original lesson content. Teaching examples support OCR J277 Topic 2.5. The low-level instruction model is explanatory enrichment, not an additional required instruction set.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Revise360 original lesson content. Teaching examples support OCR J277 Topic 2.5. The low-level instruction model is explanatory enrichment, not an additional required instruction set.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Revise360 original lesson content. Teaching examples support OCR J277 Topic 2.5. The low-level instruction model is explanatory enrichment, not an additional required instruction set.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Revise360 original lesson content. Teaching examples support OCR J277 Topic 2.5. The low-level instruction model is explanatory enrichment, not an additional required instruction set.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Revise360 original lesson content. Teaching examples support OCR J277 Topic 2.5. The low-level instruction model is explanatory enrichment, not an additional required instruction set.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Revise360 original lesson content. Teaching examples support OCR J277 Topic 2.5. The low-level instruction model is explanatory enrichment, not an additional required instruction set.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Revise360 original lesson content. Teaching examples support OCR J277 Topic 2.5. The low-level instruction model is explanatory enrichment, not an additional required instruction set.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Revise360 original lesson content. Teaching examples support OCR J277 Topic 2.5. The low-level instruction model is explanatory enrichment, not an additional required instruction set.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Revise360 original lesson content. Teaching examples support OCR J277 Topic 2.5. The low-level instruction model is explanatory enrichment, not an additional required instruction set.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Revise360 original lesson content. Teaching examples support OCR J277 Topic 2.5. The low-level instruction model is explanatory enrichment, not an additional required instruction set.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Revise360 original lesson content. Teaching examples support OCR J277 Topic 2.5. The low-level instruction model is explanatory enrichment, not an additional required instruction set.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86b80783fa489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ad2cf8cec4242f3" /><Relationship Type="http://schemas.openxmlformats.org/officeDocument/2006/relationships/slideLayout" Target="/ppt/slideLayouts/slideLayout1.xml" Id="R5e78596450cf45e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e78596450cf45e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8179cbb11f4372" /><Relationship Type="http://schemas.openxmlformats.org/officeDocument/2006/relationships/image" Target="/ppt/media/image.png" Id="R04ebff4fae1442c5" /><Relationship Type="http://schemas.openxmlformats.org/officeDocument/2006/relationships/image" Target="/ppt/media/image2.png" Id="R40f6badbc9f141e0" /><Relationship Type="http://schemas.openxmlformats.org/officeDocument/2006/relationships/notesSlide" Target="/ppt/notesSlides/notesSlide1.xml" Id="Raeaed356e80d408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2f9c747bed4dda" /><Relationship Type="http://schemas.openxmlformats.org/officeDocument/2006/relationships/image" Target="/ppt/media/image3.png" Id="R13638f9c68a140d6" /><Relationship Type="http://schemas.openxmlformats.org/officeDocument/2006/relationships/notesSlide" Target="/ppt/notesSlides/notesSlide2.xml" Id="R4803ade2102c4fb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e4204a43b54334" /><Relationship Type="http://schemas.openxmlformats.org/officeDocument/2006/relationships/image" Target="/ppt/media/image4.png" Id="Rd88b39e3e2f3447d" /><Relationship Type="http://schemas.openxmlformats.org/officeDocument/2006/relationships/notesSlide" Target="/ppt/notesSlides/notesSlide3.xml" Id="Rb69cf0c51359457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12ffc8aea642fa" /><Relationship Type="http://schemas.openxmlformats.org/officeDocument/2006/relationships/image" Target="/ppt/media/image5.png" Id="R11f73cbc189b4e52" /><Relationship Type="http://schemas.openxmlformats.org/officeDocument/2006/relationships/notesSlide" Target="/ppt/notesSlides/notesSlide4.xml" Id="R2533deaf6b5b464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4966ee91684c7e" /><Relationship Type="http://schemas.openxmlformats.org/officeDocument/2006/relationships/image" Target="/ppt/media/image6.png" Id="R213dd5e3858e481c" /><Relationship Type="http://schemas.openxmlformats.org/officeDocument/2006/relationships/notesSlide" Target="/ppt/notesSlides/notesSlide5.xml" Id="R860d094f86794a2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ac5566509041e9" /><Relationship Type="http://schemas.openxmlformats.org/officeDocument/2006/relationships/image" Target="/ppt/media/image7.png" Id="R609c568d6ee24224" /><Relationship Type="http://schemas.openxmlformats.org/officeDocument/2006/relationships/notesSlide" Target="/ppt/notesSlides/notesSlide6.xml" Id="Ra3825f0e880a4b9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b19f5f04e54c70" /><Relationship Type="http://schemas.openxmlformats.org/officeDocument/2006/relationships/image" Target="/ppt/media/image8.png" Id="R55cb0c9d23cc43f1" /><Relationship Type="http://schemas.openxmlformats.org/officeDocument/2006/relationships/notesSlide" Target="/ppt/notesSlides/notesSlide7.xml" Id="Rf21d48d16e414b5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6e164b89da441b" /><Relationship Type="http://schemas.openxmlformats.org/officeDocument/2006/relationships/image" Target="/ppt/media/image9.png" Id="Rd7d9d4fb5c6d40c6" /><Relationship Type="http://schemas.openxmlformats.org/officeDocument/2006/relationships/notesSlide" Target="/ppt/notesSlides/notesSlide8.xml" Id="Rc4903ffd88a24c2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71db4eba2248ec" /><Relationship Type="http://schemas.openxmlformats.org/officeDocument/2006/relationships/image" Target="/ppt/media/image10.png" Id="Rbfa77e0d17da4fa8" /><Relationship Type="http://schemas.openxmlformats.org/officeDocument/2006/relationships/notesSlide" Target="/ppt/notesSlides/notesSlide9.xml" Id="R8501cf6bf5574d1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27cd23536e4002" /><Relationship Type="http://schemas.openxmlformats.org/officeDocument/2006/relationships/image" Target="/ppt/media/image11.png" Id="R15ef55aa5d9e4bc7" /><Relationship Type="http://schemas.openxmlformats.org/officeDocument/2006/relationships/notesSlide" Target="/ppt/notesSlides/notesSlide10.xml" Id="R672fbf1bed604d4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0323d3709d446d" /><Relationship Type="http://schemas.openxmlformats.org/officeDocument/2006/relationships/image" Target="/ppt/media/image12.png" Id="R40b370b9ed674279" /><Relationship Type="http://schemas.openxmlformats.org/officeDocument/2006/relationships/notesSlide" Target="/ppt/notesSlides/notesSlide11.xml" Id="R2fc45a46a63c4e9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5361a97ed046f1" /><Relationship Type="http://schemas.openxmlformats.org/officeDocument/2006/relationships/image" Target="/ppt/media/image13.png" Id="R76fc97637fad4185" /><Relationship Type="http://schemas.openxmlformats.org/officeDocument/2006/relationships/notesSlide" Target="/ppt/notesSlides/notesSlide12.xml" Id="Rc4792809ef554b2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a3af0e7283417f" /><Relationship Type="http://schemas.openxmlformats.org/officeDocument/2006/relationships/image" Target="/ppt/media/image14.png" Id="R46452f8f54a246bd" /><Relationship Type="http://schemas.openxmlformats.org/officeDocument/2006/relationships/notesSlide" Target="/ppt/notesSlides/notesSlide13.xml" Id="Rbb52a16f003e488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b5d5f9ff804de9" /><Relationship Type="http://schemas.openxmlformats.org/officeDocument/2006/relationships/image" Target="/ppt/media/image15.png" Id="R4ae38e0690b84c68" /><Relationship Type="http://schemas.openxmlformats.org/officeDocument/2006/relationships/notesSlide" Target="/ppt/notesSlides/notesSlide14.xml" Id="R8066f8c602b349b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41b37b0048415c" /><Relationship Type="http://schemas.openxmlformats.org/officeDocument/2006/relationships/image" Target="/ppt/media/image16.png" Id="Rb6ee9e019c69462e" /><Relationship Type="http://schemas.openxmlformats.org/officeDocument/2006/relationships/notesSlide" Target="/ppt/notesSlides/notesSlide15.xml" Id="Rd60f6d16079a49c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f23076a41b480b" /><Relationship Type="http://schemas.openxmlformats.org/officeDocument/2006/relationships/image" Target="/ppt/media/image17.png" Id="R327503b208f64add" /><Relationship Type="http://schemas.openxmlformats.org/officeDocument/2006/relationships/notesSlide" Target="/ppt/notesSlides/notesSlide16.xml" Id="R0014a44eb2b24b63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f7045274264a8f" /><Relationship Type="http://schemas.openxmlformats.org/officeDocument/2006/relationships/image" Target="/ppt/media/image18.png" Id="Rb87a6d48d9324b51" /><Relationship Type="http://schemas.openxmlformats.org/officeDocument/2006/relationships/notesSlide" Target="/ppt/notesSlides/notesSlide17.xml" Id="R1181f6b26fbd4596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7f07ca57744673" /><Relationship Type="http://schemas.openxmlformats.org/officeDocument/2006/relationships/image" Target="/ppt/media/image19.png" Id="R2c960484c9624cb1" /><Relationship Type="http://schemas.openxmlformats.org/officeDocument/2006/relationships/notesSlide" Target="/ppt/notesSlides/notesSlide18.xml" Id="R7c804b3dfe844b7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2244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7A49B242-0A93-4CAA-A976-B7B854145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7C87B069-4AE3-41FB-8E32-622FAD070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TOPIC 2.5   /   LESSON 04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53815F20-9933-4640-9E82-67A009EF0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IDE CONTROL ROOM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ebff4fae1442c5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248E3C81-C842-45B0-92BB-277816F0B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 / 18</a:t>
            </a:r>
          </a:p>
        </p:txBody>
      </p:sp>
      <p:sp>
        <p:nvSpPr>
          <p:cNvPr id="6" name="subject">
            <a:extLst xmlns:a="http://schemas.openxmlformats.org/drawingml/2006/main">
              <a:ext uri="{FF2B5EF4-FFF2-40B4-BE49-F238E27FC236}">
                <a16:creationId xmlns:a16="http://schemas.microsoft.com/office/drawing/2014/main" id="{1D1867E6-9160-4B7B-B718-C2045EBD6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514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0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IDE tools and debugging</a:t>
            </a:r>
          </a:p>
        </p:txBody>
      </p:sp>
      <p:sp>
        <p:nvSpPr>
          <p:cNvPr id="7" name="cover-key-label">
            <a:extLst xmlns:a="http://schemas.openxmlformats.org/drawingml/2006/main">
              <a:ext uri="{FF2B5EF4-FFF2-40B4-BE49-F238E27FC236}">
                <a16:creationId xmlns:a16="http://schemas.microsoft.com/office/drawing/2014/main" id="{DB6C6EAB-F00F-49E7-BB96-0088CAEA2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38475"/>
            <a:ext cx="4572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DO NOW: RESEARCH AND DISCUSS</a:t>
            </a:r>
          </a:p>
        </p:txBody>
      </p:sp>
      <p:sp>
        <p:nvSpPr>
          <p:cNvPr id="8" name="cover-key-question">
            <a:extLst xmlns:a="http://schemas.openxmlformats.org/drawingml/2006/main">
              <a:ext uri="{FF2B5EF4-FFF2-40B4-BE49-F238E27FC236}">
                <a16:creationId xmlns:a16="http://schemas.microsoft.com/office/drawing/2014/main" id="{00081038-3E7F-400E-8756-EE3640E7E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4762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What help would you want from the software you use to write programs?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f6badbc9f141e0"/>
          <a:stretch xmlns:a="http://schemas.openxmlformats.org/drawingml/2006/main"/>
        </p:blipFill>
        <p:spPr>
          <a:xfrm xmlns:a="http://schemas.openxmlformats.org/drawingml/2006/main">
            <a:off x="6076950" y="1931789"/>
            <a:ext cx="5400675" cy="3375422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105187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729D0D74-D405-4298-8504-19625DD8F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BC94BCC8-515D-47EA-B6E2-2B7D4AC1D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2.5   /   LESSON 04   /   WORKSHEET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EB715B87-24C3-4EB0-A531-09F29276D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By the end of this lesson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638f9c68a140d6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B946EE4D-4656-4BC2-8F50-308BDCE2B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2 / 18</a:t>
            </a:r>
          </a:p>
        </p:txBody>
      </p:sp>
      <p:sp>
        <p:nvSpPr>
          <p:cNvPr id="6" name="number-1">
            <a:extLst xmlns:a="http://schemas.openxmlformats.org/drawingml/2006/main">
              <a:ext uri="{FF2B5EF4-FFF2-40B4-BE49-F238E27FC236}">
                <a16:creationId xmlns:a16="http://schemas.microsoft.com/office/drawing/2014/main" id="{4F21E87F-93E4-451F-AB4E-8822ED379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431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1.</a:t>
            </a:r>
          </a:p>
        </p:txBody>
      </p:sp>
      <p:sp>
        <p:nvSpPr>
          <p:cNvPr id="7" name="item-1">
            <a:extLst xmlns:a="http://schemas.openxmlformats.org/drawingml/2006/main">
              <a:ext uri="{FF2B5EF4-FFF2-40B4-BE49-F238E27FC236}">
                <a16:creationId xmlns:a16="http://schemas.microsoft.com/office/drawing/2014/main" id="{46CD32E7-7220-4C45-83BD-1A75D5222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943100"/>
            <a:ext cx="99250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Identify common IDE facilities.</a:t>
            </a:r>
          </a:p>
        </p:txBody>
      </p:sp>
      <p:sp>
        <p:nvSpPr>
          <p:cNvPr id="8" name="number-2">
            <a:extLst xmlns:a="http://schemas.openxmlformats.org/drawingml/2006/main">
              <a:ext uri="{FF2B5EF4-FFF2-40B4-BE49-F238E27FC236}">
                <a16:creationId xmlns:a16="http://schemas.microsoft.com/office/drawing/2014/main" id="{27D15F66-C79A-48FB-A458-5FCABD710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0512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2.</a:t>
            </a:r>
          </a:p>
        </p:txBody>
      </p:sp>
      <p:sp>
        <p:nvSpPr>
          <p:cNvPr id="9" name="item-2">
            <a:extLst xmlns:a="http://schemas.openxmlformats.org/drawingml/2006/main">
              <a:ext uri="{FF2B5EF4-FFF2-40B4-BE49-F238E27FC236}">
                <a16:creationId xmlns:a16="http://schemas.microsoft.com/office/drawing/2014/main" id="{6D66A0FC-FF53-4CDB-B571-D4D170C6C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905125"/>
            <a:ext cx="99250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Explain how editing and diagnostics support programmers.</a:t>
            </a:r>
          </a:p>
        </p:txBody>
      </p:sp>
      <p:sp>
        <p:nvSpPr>
          <p:cNvPr id="10" name="number-3">
            <a:extLst xmlns:a="http://schemas.openxmlformats.org/drawingml/2006/main">
              <a:ext uri="{FF2B5EF4-FFF2-40B4-BE49-F238E27FC236}">
                <a16:creationId xmlns:a16="http://schemas.microsoft.com/office/drawing/2014/main" id="{214AB879-F5E1-46A1-B3B7-732C3DA05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6715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3.</a:t>
            </a:r>
          </a:p>
        </p:txBody>
      </p:sp>
      <p:sp>
        <p:nvSpPr>
          <p:cNvPr id="11" name="item-3">
            <a:extLst xmlns:a="http://schemas.openxmlformats.org/drawingml/2006/main">
              <a:ext uri="{FF2B5EF4-FFF2-40B4-BE49-F238E27FC236}">
                <a16:creationId xmlns:a16="http://schemas.microsoft.com/office/drawing/2014/main" id="{47E0FF81-472A-4959-B572-95A0EA47C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867150"/>
            <a:ext cx="99250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Use a breakpoint, stepping and variable values to investigate a fault.</a:t>
            </a:r>
          </a:p>
        </p:txBody>
      </p:sp>
      <p:sp>
        <p:nvSpPr>
          <p:cNvPr id="12" name="number-4">
            <a:extLst xmlns:a="http://schemas.openxmlformats.org/drawingml/2006/main">
              <a:ext uri="{FF2B5EF4-FFF2-40B4-BE49-F238E27FC236}">
                <a16:creationId xmlns:a16="http://schemas.microsoft.com/office/drawing/2014/main" id="{43B6C4DF-53E7-4684-A2E0-0FBDE1EFF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2917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13" name="item-4">
            <a:extLst xmlns:a="http://schemas.openxmlformats.org/drawingml/2006/main">
              <a:ext uri="{FF2B5EF4-FFF2-40B4-BE49-F238E27FC236}">
                <a16:creationId xmlns:a16="http://schemas.microsoft.com/office/drawing/2014/main" id="{B7588F05-DB7C-4321-91CF-115D38679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829175"/>
            <a:ext cx="99250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69509320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8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389AE9BD-4456-44D0-A496-4A715994B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3D7E3F66-12BD-4737-B732-CF0625073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2.5   /   LESSON 04   /   WORKSHEET STARTER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62E71EDE-630B-477B-8324-3C6B882C3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Starter: before the experience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8b39e3e2f3447d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D4CED2EF-8770-4B94-8FF7-8186209CB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3 / 18</a:t>
            </a:r>
          </a:p>
        </p:txBody>
      </p:sp>
      <p:sp>
        <p:nvSpPr>
          <p:cNvPr id="6" name="worksheet-starter">
            <a:extLst xmlns:a="http://schemas.openxmlformats.org/drawingml/2006/main">
              <a:ext uri="{FF2B5EF4-FFF2-40B4-BE49-F238E27FC236}">
                <a16:creationId xmlns:a16="http://schemas.microsoft.com/office/drawing/2014/main" id="{4CABB616-5B19-458F-ADE4-F04368684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95500"/>
            <a:ext cx="1057275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 program runs but calculates 3 + 4 as 34. Suggest a cause and one useful piece of evidence to inspect.</a:t>
            </a:r>
          </a:p>
        </p:txBody>
      </p:sp>
    </p:spTree>
    <p:extLst>
      <p:ext uri="{BB962C8B-B14F-4D97-AF65-F5344CB8AC3E}">
        <p14:creationId xmlns:p14="http://schemas.microsoft.com/office/powerpoint/2010/main" val="206125039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0CE6C1A7-1190-46F6-B558-07CF48F64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61A9E94E-2324-4A21-8E1F-53F061811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2.5   /   LESSON 04   /   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42F7C639-9A4F-4B2E-A66B-E7FC7229A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Starter: sample answers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f73cbc189b4e52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6810CE3C-06F6-401D-921D-2679EFD1E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4 / 18</a:t>
            </a:r>
          </a:p>
        </p:txBody>
      </p:sp>
      <p:sp>
        <p:nvSpPr>
          <p:cNvPr id="6" name="number-1">
            <a:extLst xmlns:a="http://schemas.openxmlformats.org/drawingml/2006/main">
              <a:ext uri="{FF2B5EF4-FFF2-40B4-BE49-F238E27FC236}">
                <a16:creationId xmlns:a16="http://schemas.microsoft.com/office/drawing/2014/main" id="{04B18CF0-64CE-463F-A9B8-6A6A21EDE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860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1.</a:t>
            </a:r>
          </a:p>
        </p:txBody>
      </p:sp>
      <p:sp>
        <p:nvSpPr>
          <p:cNvPr id="7" name="item-1">
            <a:extLst xmlns:a="http://schemas.openxmlformats.org/drawingml/2006/main">
              <a:ext uri="{FF2B5EF4-FFF2-40B4-BE49-F238E27FC236}">
                <a16:creationId xmlns:a16="http://schemas.microsoft.com/office/drawing/2014/main" id="{D57E31F4-31D7-4905-A796-BE34CBF25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286000"/>
            <a:ext cx="992505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The inputs may be strings, so + joins them. Inspect the types and values of the inputs before the calculation.</a:t>
            </a:r>
          </a:p>
        </p:txBody>
      </p:sp>
      <p:sp>
        <p:nvSpPr>
          <p:cNvPr id="8" name="number-2">
            <a:extLst xmlns:a="http://schemas.openxmlformats.org/drawingml/2006/main">
              <a:ext uri="{FF2B5EF4-FFF2-40B4-BE49-F238E27FC236}">
                <a16:creationId xmlns:a16="http://schemas.microsoft.com/office/drawing/2014/main" id="{F9E7E19B-3986-45FC-B0B8-7910C783A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6715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9" name="item-2">
            <a:extLst xmlns:a="http://schemas.openxmlformats.org/drawingml/2006/main">
              <a:ext uri="{FF2B5EF4-FFF2-40B4-BE49-F238E27FC236}">
                <a16:creationId xmlns:a16="http://schemas.microsoft.com/office/drawing/2014/main" id="{AA142279-1763-4095-BB35-E7C2790BE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867150"/>
            <a:ext cx="99250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01925613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8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08B0042C-2776-4B77-8450-5D698DB3B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53158093-4E51-4193-8466-193E324E1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2.5   /   LESSON 04   /   WORKSHEET KEY TERMS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18721011-60E3-4A46-ACE7-07BEAB793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Key terminology quiz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3dd5e3858e481c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CFC27DE5-76DC-4F16-881C-303A19162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5 / 18</a:t>
            </a:r>
          </a:p>
        </p:txBody>
      </p:sp>
      <p:sp>
        <p:nvSpPr>
          <p:cNvPr id="6" name="term-number-0">
            <a:extLst xmlns:a="http://schemas.openxmlformats.org/drawingml/2006/main">
              <a:ext uri="{FF2B5EF4-FFF2-40B4-BE49-F238E27FC236}">
                <a16:creationId xmlns:a16="http://schemas.microsoft.com/office/drawing/2014/main" id="{B76E08EA-1329-4F7D-B904-1FFEF4D21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76475"/>
            <a:ext cx="590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1.</a:t>
            </a:r>
          </a:p>
        </p:txBody>
      </p:sp>
      <p:sp>
        <p:nvSpPr>
          <p:cNvPr id="7" name="term-0">
            <a:extLst xmlns:a="http://schemas.openxmlformats.org/drawingml/2006/main">
              <a:ext uri="{FF2B5EF4-FFF2-40B4-BE49-F238E27FC236}">
                <a16:creationId xmlns:a16="http://schemas.microsoft.com/office/drawing/2014/main" id="{072ACAD3-9670-4434-9EBA-05DBFA231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276475"/>
            <a:ext cx="9667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IDE</a:t>
            </a:r>
          </a:p>
        </p:txBody>
      </p:sp>
      <p:sp>
        <p:nvSpPr>
          <p:cNvPr id="8" name="term-number-1">
            <a:extLst xmlns:a="http://schemas.openxmlformats.org/drawingml/2006/main">
              <a:ext uri="{FF2B5EF4-FFF2-40B4-BE49-F238E27FC236}">
                <a16:creationId xmlns:a16="http://schemas.microsoft.com/office/drawing/2014/main" id="{A8F18C87-2E1F-4B72-8996-4CD90B504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86225"/>
            <a:ext cx="590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2.</a:t>
            </a:r>
          </a:p>
        </p:txBody>
      </p:sp>
      <p:sp>
        <p:nvSpPr>
          <p:cNvPr id="9" name="term-1">
            <a:extLst xmlns:a="http://schemas.openxmlformats.org/drawingml/2006/main">
              <a:ext uri="{FF2B5EF4-FFF2-40B4-BE49-F238E27FC236}">
                <a16:creationId xmlns:a16="http://schemas.microsoft.com/office/drawing/2014/main" id="{1C1C0B9C-20D9-4654-9F28-D51D1DA95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086225"/>
            <a:ext cx="9667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Breakpoint</a:t>
            </a:r>
          </a:p>
        </p:txBody>
      </p:sp>
    </p:spTree>
    <p:extLst>
      <p:ext uri="{BB962C8B-B14F-4D97-AF65-F5344CB8AC3E}">
        <p14:creationId xmlns:p14="http://schemas.microsoft.com/office/powerpoint/2010/main" val="94203212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207CAA27-6A33-4D26-8EEC-DDD6F1951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2C8C088F-E4C7-463F-A500-13D695238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2.5   /   LESSON 04   /   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1AF3A2E8-08E7-4B52-8CB0-E9EDFA86C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Key terminology: answers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9c568d6ee24224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71FD2F40-F2E4-4894-A4B9-2F16BF1E3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6 / 18</a:t>
            </a:r>
          </a:p>
        </p:txBody>
      </p:sp>
      <p:sp>
        <p:nvSpPr>
          <p:cNvPr id="6" name="answer-term-0">
            <a:extLst xmlns:a="http://schemas.openxmlformats.org/drawingml/2006/main">
              <a:ext uri="{FF2B5EF4-FFF2-40B4-BE49-F238E27FC236}">
                <a16:creationId xmlns:a16="http://schemas.microsoft.com/office/drawing/2014/main" id="{C05575DA-F440-47EE-AADE-AE15CCD16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478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IDE</a:t>
            </a:r>
          </a:p>
        </p:txBody>
      </p:sp>
      <p:sp>
        <p:nvSpPr>
          <p:cNvPr id="7" name="answer-definition-0">
            <a:extLst xmlns:a="http://schemas.openxmlformats.org/drawingml/2006/main">
              <a:ext uri="{FF2B5EF4-FFF2-40B4-BE49-F238E27FC236}">
                <a16:creationId xmlns:a16="http://schemas.microsoft.com/office/drawing/2014/main" id="{C6F926E0-3B0C-455B-B77A-C8974AE3E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28900"/>
            <a:ext cx="10477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An integrated development environment brings programming tools together in one application.</a:t>
            </a:r>
          </a:p>
        </p:txBody>
      </p:sp>
      <p:sp>
        <p:nvSpPr>
          <p:cNvPr id="8" name="answer-term-1">
            <a:extLst xmlns:a="http://schemas.openxmlformats.org/drawingml/2006/main">
              <a:ext uri="{FF2B5EF4-FFF2-40B4-BE49-F238E27FC236}">
                <a16:creationId xmlns:a16="http://schemas.microsoft.com/office/drawing/2014/main" id="{C9190DB0-181E-4A8A-9E5E-95B19960F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3382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Breakpoint</a:t>
            </a:r>
          </a:p>
        </p:txBody>
      </p:sp>
      <p:sp>
        <p:nvSpPr>
          <p:cNvPr id="9" name="answer-definition-1">
            <a:extLst xmlns:a="http://schemas.openxmlformats.org/drawingml/2006/main">
              <a:ext uri="{FF2B5EF4-FFF2-40B4-BE49-F238E27FC236}">
                <a16:creationId xmlns:a16="http://schemas.microsoft.com/office/drawing/2014/main" id="{B865E412-4386-4ED0-B8E9-05D05365D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14850"/>
            <a:ext cx="10477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 chosen point where a debugger pauses execution for inspection.</a:t>
            </a:r>
          </a:p>
        </p:txBody>
      </p:sp>
    </p:spTree>
    <p:extLst>
      <p:ext uri="{BB962C8B-B14F-4D97-AF65-F5344CB8AC3E}">
        <p14:creationId xmlns:p14="http://schemas.microsoft.com/office/powerpoint/2010/main" val="54434080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2244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4BA66B78-BFDC-4298-A4DA-5CB5A7709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EDA0D920-036D-4124-8F12-38EB1186A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TOPIC 2.5   /   LESSON 04   /   EXPERIENCE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F5191E8A-E142-4BC2-8435-1D8EA13B1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Worksheet + experience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cb0c9d23cc43f1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A0A45757-2C05-40D6-9E75-84F5AEC8F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7 / 18</a:t>
            </a:r>
          </a:p>
        </p:txBody>
      </p:sp>
      <p:sp>
        <p:nvSpPr>
          <p:cNvPr id="6" name="open-label">
            <a:extLst xmlns:a="http://schemas.openxmlformats.org/drawingml/2006/main">
              <a:ext uri="{FF2B5EF4-FFF2-40B4-BE49-F238E27FC236}">
                <a16:creationId xmlns:a16="http://schemas.microsoft.com/office/drawing/2014/main" id="{3B14933E-F008-4A1E-B920-32134F7F6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240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01   OPEN THE EXPERIENCE NOW</a:t>
            </a:r>
          </a:p>
        </p:txBody>
      </p:sp>
      <p:sp>
        <p:nvSpPr>
          <p:cNvPr id="7" name="open-body">
            <a:extLst xmlns:a="http://schemas.openxmlformats.org/drawingml/2006/main">
              <a:ext uri="{FF2B5EF4-FFF2-40B4-BE49-F238E27FC236}">
                <a16:creationId xmlns:a16="http://schemas.microsoft.com/office/drawing/2014/main" id="{7A71894B-6674-45BD-B430-F339D03A0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4785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Open IDE control room in Topic 2.5. Keep the worksheet beside you.</a:t>
            </a:r>
          </a:p>
        </p:txBody>
      </p:sp>
      <p:sp>
        <p:nvSpPr>
          <p:cNvPr id="8" name="station-label">
            <a:extLst xmlns:a="http://schemas.openxmlformats.org/drawingml/2006/main">
              <a:ext uri="{FF2B5EF4-FFF2-40B4-BE49-F238E27FC236}">
                <a16:creationId xmlns:a16="http://schemas.microsoft.com/office/drawing/2014/main" id="{B90E3C20-8F8E-412D-B38A-D521747F0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908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02   SIX STATIONS</a:t>
            </a:r>
          </a:p>
        </p:txBody>
      </p:sp>
      <p:sp>
        <p:nvSpPr>
          <p:cNvPr id="9" name="station-body">
            <a:extLst xmlns:a="http://schemas.openxmlformats.org/drawingml/2006/main">
              <a:ext uri="{FF2B5EF4-FFF2-40B4-BE49-F238E27FC236}">
                <a16:creationId xmlns:a16="http://schemas.microsoft.com/office/drawing/2014/main" id="{B45B51EE-5945-44D5-9C7B-668BC232A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14650"/>
            <a:ext cx="105727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At each station, write key facts IN YOUR OWN WORDS. Answer its worksheet challenge before tapping the badge.</a:t>
            </a:r>
          </a:p>
        </p:txBody>
      </p:sp>
      <p:sp>
        <p:nvSpPr>
          <p:cNvPr id="10" name="finish-label">
            <a:extLst xmlns:a="http://schemas.openxmlformats.org/drawingml/2006/main">
              <a:ext uri="{FF2B5EF4-FFF2-40B4-BE49-F238E27FC236}">
                <a16:creationId xmlns:a16="http://schemas.microsoft.com/office/drawing/2014/main" id="{0B3F37C6-3223-43C3-B5C5-0734100D7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1475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03   FINAL CHALLENGE</a:t>
            </a:r>
          </a:p>
        </p:txBody>
      </p:sp>
      <p:sp>
        <p:nvSpPr>
          <p:cNvPr id="11" name="finish-body">
            <a:extLst xmlns:a="http://schemas.openxmlformats.org/drawingml/2006/main">
              <a:ext uri="{FF2B5EF4-FFF2-40B4-BE49-F238E27FC236}">
                <a16:creationId xmlns:a16="http://schemas.microsoft.com/office/drawing/2014/main" id="{23A69AAC-E055-45B3-BEBA-D02CB8128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48125"/>
            <a:ext cx="10572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Attempt the worksheet final challenge before tapping the star. Record your score, then use review mode to correct mistakes.</a:t>
            </a:r>
          </a:p>
        </p:txBody>
      </p:sp>
      <p:sp>
        <p:nvSpPr>
          <p:cNvPr id="12" name="plenary-label">
            <a:extLst xmlns:a="http://schemas.openxmlformats.org/drawingml/2006/main">
              <a:ext uri="{FF2B5EF4-FFF2-40B4-BE49-F238E27FC236}">
                <a16:creationId xmlns:a16="http://schemas.microsoft.com/office/drawing/2014/main" id="{97D05B46-012B-43E3-B865-D49BCF331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149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04   PLENARY</a:t>
            </a:r>
          </a:p>
        </p:txBody>
      </p:sp>
      <p:sp>
        <p:nvSpPr>
          <p:cNvPr id="13" name="plenary-body">
            <a:extLst xmlns:a="http://schemas.openxmlformats.org/drawingml/2006/main">
              <a:ext uri="{FF2B5EF4-FFF2-40B4-BE49-F238E27FC236}">
                <a16:creationId xmlns:a16="http://schemas.microsoft.com/office/drawing/2014/main" id="{93D16BC3-41C8-47E2-B0D7-08EC3C3CD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387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Finish the experience in this lesson. Near the end, close it for the plenary knowledge checks.</a:t>
            </a:r>
          </a:p>
        </p:txBody>
      </p:sp>
    </p:spTree>
    <p:extLst>
      <p:ext uri="{BB962C8B-B14F-4D97-AF65-F5344CB8AC3E}">
        <p14:creationId xmlns:p14="http://schemas.microsoft.com/office/powerpoint/2010/main" val="872350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58C536E9-5669-4451-9AAB-579BAC1AD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819AAF36-B8DE-4251-8DE6-E6BCCD541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2.5   /   LESSON 04   /   CONSOLIDATION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2722D1D8-2EB7-4550-BC01-C8F4AA1B4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After the experience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d9d4fb5c6d40c6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48D3831D-CA2C-4D2B-8512-1C6B95BF2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8 / 18</a:t>
            </a:r>
          </a:p>
        </p:txBody>
      </p:sp>
      <p:sp>
        <p:nvSpPr>
          <p:cNvPr id="6" name="extension-prompt">
            <a:extLst xmlns:a="http://schemas.openxmlformats.org/drawingml/2006/main">
              <a:ext uri="{FF2B5EF4-FFF2-40B4-BE49-F238E27FC236}">
                <a16:creationId xmlns:a16="http://schemas.microsoft.com/office/drawing/2014/main" id="{3D632867-A970-4622-9F75-EC7929A63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419350"/>
            <a:ext cx="1057275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Return to the Do Now question. Use two things you learned in the room to improve your original answer.</a:t>
            </a:r>
          </a:p>
        </p:txBody>
      </p:sp>
      <p:sp>
        <p:nvSpPr>
          <p:cNvPr id="7" name="extension-follow">
            <a:extLst xmlns:a="http://schemas.openxmlformats.org/drawingml/2006/main">
              <a:ext uri="{FF2B5EF4-FFF2-40B4-BE49-F238E27FC236}">
                <a16:creationId xmlns:a16="http://schemas.microsoft.com/office/drawing/2014/main" id="{0C21F904-CB27-4E5D-A9F7-D13B95D2E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648200"/>
            <a:ext cx="10572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Check that each reason links a specific characteristic or tool to the task.</a:t>
            </a:r>
          </a:p>
        </p:txBody>
      </p:sp>
    </p:spTree>
    <p:extLst>
      <p:ext uri="{BB962C8B-B14F-4D97-AF65-F5344CB8AC3E}">
        <p14:creationId xmlns:p14="http://schemas.microsoft.com/office/powerpoint/2010/main" val="74099791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9B263055-5EA4-4302-98FD-2C08B0E0E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2A5B0DE7-189B-4E0D-AC5D-CF4265922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2.5   /   LESSON 04   /   CONSOLIDATION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641086F9-DF63-4768-BF4E-D1F572BCC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Check and improve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a77e0d17da4fa8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A14C2577-C6E7-49B9-B106-D65BE85AE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9 / 18</a:t>
            </a:r>
          </a:p>
        </p:txBody>
      </p:sp>
      <p:sp>
        <p:nvSpPr>
          <p:cNvPr id="6" name="extension-two">
            <a:extLst xmlns:a="http://schemas.openxmlformats.org/drawingml/2006/main">
              <a:ext uri="{FF2B5EF4-FFF2-40B4-BE49-F238E27FC236}">
                <a16:creationId xmlns:a16="http://schemas.microsoft.com/office/drawing/2014/main" id="{29844E22-D648-40A0-BC22-276A81AE0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76525"/>
            <a:ext cx="10620375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Use review mode to correct any mistakes. Write one correction and explain why the right answer fits. Then move on to the plenary knowledge checks.</a:t>
            </a:r>
          </a:p>
        </p:txBody>
      </p:sp>
    </p:spTree>
    <p:extLst>
      <p:ext uri="{BB962C8B-B14F-4D97-AF65-F5344CB8AC3E}">
        <p14:creationId xmlns:p14="http://schemas.microsoft.com/office/powerpoint/2010/main" val="161066818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078803E9-413E-4B42-B661-1890FAB9A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FF0305E1-8E4B-4FE7-9B7B-B01E262E5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2.5   /   LESSON 04   /   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571FFA7C-71E3-407E-A084-8AAA87346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 stronger explanation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ef55aa5d9e4bc7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C5BD4D03-162B-45A5-AA28-72FD38F49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10 / 18</a:t>
            </a:r>
          </a:p>
        </p:txBody>
      </p:sp>
      <p:sp>
        <p:nvSpPr>
          <p:cNvPr id="6" name="extension-check">
            <a:extLst xmlns:a="http://schemas.openxmlformats.org/drawingml/2006/main">
              <a:ext uri="{FF2B5EF4-FFF2-40B4-BE49-F238E27FC236}">
                <a16:creationId xmlns:a16="http://schemas.microsoft.com/office/drawing/2014/main" id="{06547FB7-89E1-430C-BA4E-A0059FB7D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33525"/>
            <a:ext cx="1047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Compare your reasoning, then improve one sentence on your worksheet.</a:t>
            </a:r>
          </a:p>
        </p:txBody>
      </p:sp>
      <p:sp>
        <p:nvSpPr>
          <p:cNvPr id="7" name="answer-application">
            <a:extLst xmlns:a="http://schemas.openxmlformats.org/drawingml/2006/main">
              <a:ext uri="{FF2B5EF4-FFF2-40B4-BE49-F238E27FC236}">
                <a16:creationId xmlns:a16="http://schemas.microsoft.com/office/drawing/2014/main" id="{7F1A9A78-A783-4735-9B4E-2787A5EE5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0505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Finding a logic error</a:t>
            </a:r>
          </a:p>
        </p:txBody>
      </p:sp>
      <p:sp>
        <p:nvSpPr>
          <p:cNvPr id="8" name="answer-application-body">
            <a:extLst xmlns:a="http://schemas.openxmlformats.org/drawingml/2006/main">
              <a:ext uri="{FF2B5EF4-FFF2-40B4-BE49-F238E27FC236}">
                <a16:creationId xmlns:a16="http://schemas.microsoft.com/office/drawing/2014/main" id="{28087EFB-17A1-4A2B-B86E-2733BD05E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71775"/>
            <a:ext cx="1047750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Replace price + quantity with price * quantity. Test that 6 and 4 produce 24, then try another case.</a:t>
            </a:r>
          </a:p>
        </p:txBody>
      </p:sp>
      <p:sp>
        <p:nvSpPr>
          <p:cNvPr id="9" name="answer-stretch">
            <a:extLst xmlns:a="http://schemas.openxmlformats.org/drawingml/2006/main">
              <a:ext uri="{FF2B5EF4-FFF2-40B4-BE49-F238E27FC236}">
                <a16:creationId xmlns:a16="http://schemas.microsoft.com/office/drawing/2014/main" id="{5A018C42-6685-447F-818E-7126648E8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52925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Review and explain</a:t>
            </a:r>
          </a:p>
        </p:txBody>
      </p:sp>
      <p:sp>
        <p:nvSpPr>
          <p:cNvPr id="10" name="answer-stretch-body">
            <a:extLst xmlns:a="http://schemas.openxmlformats.org/drawingml/2006/main">
              <a:ext uri="{FF2B5EF4-FFF2-40B4-BE49-F238E27FC236}">
                <a16:creationId xmlns:a16="http://schemas.microsoft.com/office/drawing/2014/main" id="{0C0236B0-96D2-4CB9-BE2E-068D8FFE2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10125"/>
            <a:ext cx="10477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Your correction should name the correct idea and explain why it fits the question. Use the experience feedback to check it.</a:t>
            </a:r>
          </a:p>
        </p:txBody>
      </p:sp>
    </p:spTree>
    <p:extLst>
      <p:ext uri="{BB962C8B-B14F-4D97-AF65-F5344CB8AC3E}">
        <p14:creationId xmlns:p14="http://schemas.microsoft.com/office/powerpoint/2010/main" val="107719682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7EF7E645-4366-476F-A5B1-90C7C70AD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159341AF-F465-4757-AC09-3A0C4AF7B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2.5   /   LESSON 04   /   ANSWERS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5EBF8C94-893F-4F9B-8993-606E888EB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After the experience: stations 1–3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b370b9ed674279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9E93BEC9-DC57-4892-87B7-6699B7FBD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11 / 18</a:t>
            </a:r>
          </a:p>
        </p:txBody>
      </p:sp>
      <p:sp>
        <p:nvSpPr>
          <p:cNvPr id="6" name="check-stations">
            <a:extLst xmlns:a="http://schemas.openxmlformats.org/drawingml/2006/main">
              <a:ext uri="{FF2B5EF4-FFF2-40B4-BE49-F238E27FC236}">
                <a16:creationId xmlns:a16="http://schemas.microsoft.com/office/drawing/2014/main" id="{51C9C7E2-F4F1-420D-88E1-62F2A7BC6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4305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Check your key facts and challenge responses.</a:t>
            </a:r>
          </a:p>
        </p:txBody>
      </p:sp>
      <p:sp>
        <p:nvSpPr>
          <p:cNvPr id="7" name="station-name-0">
            <a:extLst xmlns:a="http://schemas.openxmlformats.org/drawingml/2006/main">
              <a:ext uri="{FF2B5EF4-FFF2-40B4-BE49-F238E27FC236}">
                <a16:creationId xmlns:a16="http://schemas.microsoft.com/office/drawing/2014/main" id="{D616DF12-F12D-4F89-BE2A-F5A3C233B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0980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1  Tools in one place</a:t>
            </a:r>
          </a:p>
        </p:txBody>
      </p:sp>
      <p:sp>
        <p:nvSpPr>
          <p:cNvPr id="8" name="station-answer-0">
            <a:extLst xmlns:a="http://schemas.openxmlformats.org/drawingml/2006/main">
              <a:ext uri="{FF2B5EF4-FFF2-40B4-BE49-F238E27FC236}">
                <a16:creationId xmlns:a16="http://schemas.microsoft.com/office/drawing/2014/main" id="{F6BEAF51-6593-4158-B949-6DCAF3DF8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38425"/>
            <a:ext cx="10477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The programmer can edit, run and investigate code in one place, reducing switching between separate tools.</a:t>
            </a:r>
          </a:p>
        </p:txBody>
      </p:sp>
      <p:sp>
        <p:nvSpPr>
          <p:cNvPr id="9" name="station-name-1">
            <a:extLst xmlns:a="http://schemas.openxmlformats.org/drawingml/2006/main">
              <a:ext uri="{FF2B5EF4-FFF2-40B4-BE49-F238E27FC236}">
                <a16:creationId xmlns:a16="http://schemas.microsoft.com/office/drawing/2014/main" id="{1C2437BA-61EC-4CC1-A291-672A28BCB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33775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2  Writing source code</a:t>
            </a:r>
          </a:p>
        </p:txBody>
      </p:sp>
      <p:sp>
        <p:nvSpPr>
          <p:cNvPr id="10" name="station-answer-1">
            <a:extLst xmlns:a="http://schemas.openxmlformats.org/drawingml/2006/main">
              <a:ext uri="{FF2B5EF4-FFF2-40B4-BE49-F238E27FC236}">
                <a16:creationId xmlns:a16="http://schemas.microsoft.com/office/drawing/2014/main" id="{2AD176F9-D05F-473B-8386-F181E623F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62400"/>
            <a:ext cx="10477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It can reduce typing errors in suggested names, but the programmer can still select the wrong name or write the wrong logic.</a:t>
            </a:r>
          </a:p>
        </p:txBody>
      </p:sp>
      <p:sp>
        <p:nvSpPr>
          <p:cNvPr id="11" name="station-name-2">
            <a:extLst xmlns:a="http://schemas.openxmlformats.org/drawingml/2006/main">
              <a:ext uri="{FF2B5EF4-FFF2-40B4-BE49-F238E27FC236}">
                <a16:creationId xmlns:a16="http://schemas.microsoft.com/office/drawing/2014/main" id="{D795BB1C-F6B4-4C53-AB97-8133E2500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5775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3  Translation and execution</a:t>
            </a:r>
          </a:p>
        </p:txBody>
      </p:sp>
      <p:sp>
        <p:nvSpPr>
          <p:cNvPr id="12" name="station-answer-2">
            <a:extLst xmlns:a="http://schemas.openxmlformats.org/drawingml/2006/main">
              <a:ext uri="{FF2B5EF4-FFF2-40B4-BE49-F238E27FC236}">
                <a16:creationId xmlns:a16="http://schemas.microsoft.com/office/drawing/2014/main" id="{36B68946-29BE-4832-BBD8-102C229E4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86375"/>
            <a:ext cx="10477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The editor contains the source being written. The output area shows what happens when the program runs.</a:t>
            </a:r>
          </a:p>
        </p:txBody>
      </p:sp>
    </p:spTree>
    <p:extLst>
      <p:ext uri="{BB962C8B-B14F-4D97-AF65-F5344CB8AC3E}">
        <p14:creationId xmlns:p14="http://schemas.microsoft.com/office/powerpoint/2010/main" val="85359440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E51900B3-0610-4E01-90E0-77DC6FF31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B0525AC8-4A6A-4190-909D-B5EB30CD8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2.5   /   LESSON 04   /   ANSWERS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7AFF9494-BEC4-4AEA-BD48-105C969A5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After the experience: stations 4–6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fc97637fad4185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28FF5AE6-5314-4952-A1CD-C9E9FC07E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12 / 18</a:t>
            </a:r>
          </a:p>
        </p:txBody>
      </p:sp>
      <p:sp>
        <p:nvSpPr>
          <p:cNvPr id="6" name="check-stations">
            <a:extLst xmlns:a="http://schemas.openxmlformats.org/drawingml/2006/main">
              <a:ext uri="{FF2B5EF4-FFF2-40B4-BE49-F238E27FC236}">
                <a16:creationId xmlns:a16="http://schemas.microsoft.com/office/drawing/2014/main" id="{478BE9EE-4B04-4078-A860-876FCD869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4305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Check your key facts and challenge responses.</a:t>
            </a:r>
          </a:p>
        </p:txBody>
      </p:sp>
      <p:sp>
        <p:nvSpPr>
          <p:cNvPr id="7" name="station-name-3">
            <a:extLst xmlns:a="http://schemas.openxmlformats.org/drawingml/2006/main">
              <a:ext uri="{FF2B5EF4-FFF2-40B4-BE49-F238E27FC236}">
                <a16:creationId xmlns:a16="http://schemas.microsoft.com/office/drawing/2014/main" id="{0F0EBA09-E83B-415E-AD99-3550F935C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0980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4  Diagnostic messages</a:t>
            </a:r>
          </a:p>
        </p:txBody>
      </p:sp>
      <p:sp>
        <p:nvSpPr>
          <p:cNvPr id="8" name="station-answer-3">
            <a:extLst xmlns:a="http://schemas.openxmlformats.org/drawingml/2006/main">
              <a:ext uri="{FF2B5EF4-FFF2-40B4-BE49-F238E27FC236}">
                <a16:creationId xmlns:a16="http://schemas.microsoft.com/office/drawing/2014/main" id="{8D150509-4F43-452B-BA18-B44519063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38425"/>
            <a:ext cx="10477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An earlier missing bracket or other error may only become apparent when the tool reaches the next line.</a:t>
            </a:r>
          </a:p>
        </p:txBody>
      </p:sp>
      <p:sp>
        <p:nvSpPr>
          <p:cNvPr id="9" name="station-name-4">
            <a:extLst xmlns:a="http://schemas.openxmlformats.org/drawingml/2006/main">
              <a:ext uri="{FF2B5EF4-FFF2-40B4-BE49-F238E27FC236}">
                <a16:creationId xmlns:a16="http://schemas.microsoft.com/office/drawing/2014/main" id="{F40CAFDA-7B28-4DDD-97A6-7FEB15E5A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33775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5  Pausing and stepping</a:t>
            </a:r>
          </a:p>
        </p:txBody>
      </p:sp>
      <p:sp>
        <p:nvSpPr>
          <p:cNvPr id="10" name="station-answer-4">
            <a:extLst xmlns:a="http://schemas.openxmlformats.org/drawingml/2006/main">
              <a:ext uri="{FF2B5EF4-FFF2-40B4-BE49-F238E27FC236}">
                <a16:creationId xmlns:a16="http://schemas.microsoft.com/office/drawing/2014/main" id="{DF6939EB-FAE7-4750-B799-6DB46BA86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62400"/>
            <a:ext cx="10477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Inspect the current values of price and quantity. Step over the calculation, then inspect total.</a:t>
            </a:r>
          </a:p>
        </p:txBody>
      </p:sp>
      <p:sp>
        <p:nvSpPr>
          <p:cNvPr id="11" name="station-name-5">
            <a:extLst xmlns:a="http://schemas.openxmlformats.org/drawingml/2006/main">
              <a:ext uri="{FF2B5EF4-FFF2-40B4-BE49-F238E27FC236}">
                <a16:creationId xmlns:a16="http://schemas.microsoft.com/office/drawing/2014/main" id="{1F7890C8-2979-416E-AA29-BEE1AB3B0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5775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6  Finding a logic error</a:t>
            </a:r>
          </a:p>
        </p:txBody>
      </p:sp>
      <p:sp>
        <p:nvSpPr>
          <p:cNvPr id="12" name="station-answer-5">
            <a:extLst xmlns:a="http://schemas.openxmlformats.org/drawingml/2006/main">
              <a:ext uri="{FF2B5EF4-FFF2-40B4-BE49-F238E27FC236}">
                <a16:creationId xmlns:a16="http://schemas.microsoft.com/office/drawing/2014/main" id="{07216969-988D-4AF8-B64A-611D4169C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86375"/>
            <a:ext cx="10477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Replace price + quantity with price * quantity. Test that 6 and 4 produce 24, then try another case.</a:t>
            </a:r>
          </a:p>
        </p:txBody>
      </p:sp>
    </p:spTree>
    <p:extLst>
      <p:ext uri="{BB962C8B-B14F-4D97-AF65-F5344CB8AC3E}">
        <p14:creationId xmlns:p14="http://schemas.microsoft.com/office/powerpoint/2010/main" val="80697766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4782CCF1-F8AC-4963-BE7C-39F589ECB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6DA98E84-19B5-4128-9F22-3EF63F2AE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2.5   /   LESSON 04   /   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3D092674-2E5F-4365-B13E-1BCD72393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Final challenge: answers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452f8f54a246bd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C371B726-81B4-4823-AF8C-B2AEE4C1C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13 / 18</a:t>
            </a:r>
          </a:p>
        </p:txBody>
      </p:sp>
      <p:sp>
        <p:nvSpPr>
          <p:cNvPr id="6" name="star-key">
            <a:extLst xmlns:a="http://schemas.openxmlformats.org/drawingml/2006/main">
              <a:ext uri="{FF2B5EF4-FFF2-40B4-BE49-F238E27FC236}">
                <a16:creationId xmlns:a16="http://schemas.microsoft.com/office/drawing/2014/main" id="{4E2C5E58-B348-4B06-A627-247270C07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2400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Check your choices and the reasons you gave.</a:t>
            </a:r>
          </a:p>
        </p:txBody>
      </p:sp>
      <p:sp>
        <p:nvSpPr>
          <p:cNvPr id="7" name="number-1">
            <a:extLst xmlns:a="http://schemas.openxmlformats.org/drawingml/2006/main">
              <a:ext uri="{FF2B5EF4-FFF2-40B4-BE49-F238E27FC236}">
                <a16:creationId xmlns:a16="http://schemas.microsoft.com/office/drawing/2014/main" id="{D13603A8-78DC-40B6-A8F6-04D146FD5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0502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8" name="item-1">
            <a:extLst xmlns:a="http://schemas.openxmlformats.org/drawingml/2006/main">
              <a:ext uri="{FF2B5EF4-FFF2-40B4-BE49-F238E27FC236}">
                <a16:creationId xmlns:a16="http://schemas.microsoft.com/office/drawing/2014/main" id="{DA3F8A68-07AA-4136-A4C5-7B3C68E60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143125"/>
            <a:ext cx="99250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Reduce typing of a long variable name: Auto-completion. Stop just before an incorrect calculation: Breakpoint. Inspect the current total: Variable watch. See a message about a missing bracket: Diagnostics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/>
            </a:r>
          </a:p>
          <a:p xmlns:a="http://schemas.openxmlformats.org/drawingml/2006/main">
            <a:pPr algn="l">
              <a:buNone/>
              <a:def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Inspect that calculation, repair it and retest</a:t>
            </a:r>
          </a:p>
        </p:txBody>
      </p:sp>
      <p:sp>
        <p:nvSpPr>
          <p:cNvPr id="9" name="number-2">
            <a:extLst xmlns:a="http://schemas.openxmlformats.org/drawingml/2006/main">
              <a:ext uri="{FF2B5EF4-FFF2-40B4-BE49-F238E27FC236}">
                <a16:creationId xmlns:a16="http://schemas.microsoft.com/office/drawing/2014/main" id="{D63D0CFC-FB29-4A55-9634-1938AE0CE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432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10" name="item-2">
            <a:extLst xmlns:a="http://schemas.openxmlformats.org/drawingml/2006/main">
              <a:ext uri="{FF2B5EF4-FFF2-40B4-BE49-F238E27FC236}">
                <a16:creationId xmlns:a16="http://schemas.microsoft.com/office/drawing/2014/main" id="{1AF0E8F5-58C1-4699-8D32-68538ACE6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743200"/>
            <a:ext cx="99250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11" name="number-3">
            <a:extLst xmlns:a="http://schemas.openxmlformats.org/drawingml/2006/main">
              <a:ext uri="{FF2B5EF4-FFF2-40B4-BE49-F238E27FC236}">
                <a16:creationId xmlns:a16="http://schemas.microsoft.com/office/drawing/2014/main" id="{64A6377B-270D-4D04-B61F-A116A4C0F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8137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12" name="item-3">
            <a:extLst xmlns:a="http://schemas.openxmlformats.org/drawingml/2006/main">
              <a:ext uri="{FF2B5EF4-FFF2-40B4-BE49-F238E27FC236}">
                <a16:creationId xmlns:a16="http://schemas.microsoft.com/office/drawing/2014/main" id="{B2168BAC-D34D-4D09-BD22-C30743266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381375"/>
            <a:ext cx="99250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13" name="number-4">
            <a:extLst xmlns:a="http://schemas.openxmlformats.org/drawingml/2006/main">
              <a:ext uri="{FF2B5EF4-FFF2-40B4-BE49-F238E27FC236}">
                <a16:creationId xmlns:a16="http://schemas.microsoft.com/office/drawing/2014/main" id="{DAD3008D-DBDD-4EB1-B9E0-42941BDA4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1955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14" name="item-4">
            <a:extLst xmlns:a="http://schemas.openxmlformats.org/drawingml/2006/main">
              <a:ext uri="{FF2B5EF4-FFF2-40B4-BE49-F238E27FC236}">
                <a16:creationId xmlns:a16="http://schemas.microsoft.com/office/drawing/2014/main" id="{072DFA35-D5B3-464A-85A9-266225B79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019550"/>
            <a:ext cx="99250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15" name="number-5">
            <a:extLst xmlns:a="http://schemas.openxmlformats.org/drawingml/2006/main">
              <a:ext uri="{FF2B5EF4-FFF2-40B4-BE49-F238E27FC236}">
                <a16:creationId xmlns:a16="http://schemas.microsoft.com/office/drawing/2014/main" id="{03F791EC-5D9B-433E-96F6-EF44C17A0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5772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16" name="item-5">
            <a:extLst xmlns:a="http://schemas.openxmlformats.org/drawingml/2006/main">
              <a:ext uri="{FF2B5EF4-FFF2-40B4-BE49-F238E27FC236}">
                <a16:creationId xmlns:a16="http://schemas.microsoft.com/office/drawing/2014/main" id="{11146F44-2CCE-4536-BF13-60F44AE22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657725"/>
            <a:ext cx="99250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17" name="number-6">
            <a:extLst xmlns:a="http://schemas.openxmlformats.org/drawingml/2006/main">
              <a:ext uri="{FF2B5EF4-FFF2-40B4-BE49-F238E27FC236}">
                <a16:creationId xmlns:a16="http://schemas.microsoft.com/office/drawing/2014/main" id="{738F10DC-3C3F-4622-9638-0CD9ADB18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959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18" name="item-6">
            <a:extLst xmlns:a="http://schemas.openxmlformats.org/drawingml/2006/main">
              <a:ext uri="{FF2B5EF4-FFF2-40B4-BE49-F238E27FC236}">
                <a16:creationId xmlns:a16="http://schemas.microsoft.com/office/drawing/2014/main" id="{B4AC7286-B492-4B59-A29F-AA4F10A94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295900"/>
            <a:ext cx="99250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22917826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40BB8106-766C-4D11-B62C-A315B1DC9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6E93FE83-8B7D-4ED0-A507-D6DF7BF84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2.5   /   LESSON 04   /   PLENARY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2FAFAE26-D488-4C37-A08D-D8E5A9D05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Plenary: questions (a–b)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e38e0690b84c68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3F7FA607-A51E-4EFD-8772-BFCA4D0AB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14 / 18</a:t>
            </a:r>
          </a:p>
        </p:txBody>
      </p:sp>
      <p:sp>
        <p:nvSpPr>
          <p:cNvPr id="6" name="plenary-instruction">
            <a:extLst xmlns:a="http://schemas.openxmlformats.org/drawingml/2006/main">
              <a:ext uri="{FF2B5EF4-FFF2-40B4-BE49-F238E27FC236}">
                <a16:creationId xmlns:a16="http://schemas.microsoft.com/office/drawing/2014/main" id="{4DD4F8FC-DBBD-4F52-8BC4-1F8B4C279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107156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Take the headset off or close the page. Answer from memory on the worksheet.</a:t>
            </a:r>
          </a:p>
        </p:txBody>
      </p:sp>
      <p:sp>
        <p:nvSpPr>
          <p:cNvPr id="7" name="a">
            <a:extLst xmlns:a="http://schemas.openxmlformats.org/drawingml/2006/main">
              <a:ext uri="{FF2B5EF4-FFF2-40B4-BE49-F238E27FC236}">
                <a16:creationId xmlns:a16="http://schemas.microsoft.com/office/drawing/2014/main" id="{9C6FAEDB-072B-436C-AA9C-D5832563B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58127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a)</a:t>
            </a:r>
          </a:p>
        </p:txBody>
      </p:sp>
      <p:sp>
        <p:nvSpPr>
          <p:cNvPr id="8" name="question-a">
            <a:extLst xmlns:a="http://schemas.openxmlformats.org/drawingml/2006/main">
              <a:ext uri="{FF2B5EF4-FFF2-40B4-BE49-F238E27FC236}">
                <a16:creationId xmlns:a16="http://schemas.microsoft.com/office/drawing/2014/main" id="{6B2BF4EA-272A-415D-B46E-43EF0DF12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2581275"/>
            <a:ext cx="99441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Name two IDE editing facilities and explain how each helps a programmer. [4]</a:t>
            </a:r>
          </a:p>
        </p:txBody>
      </p:sp>
      <p:sp>
        <p:nvSpPr>
          <p:cNvPr id="9" name="b">
            <a:extLst xmlns:a="http://schemas.openxmlformats.org/drawingml/2006/main">
              <a:ext uri="{FF2B5EF4-FFF2-40B4-BE49-F238E27FC236}">
                <a16:creationId xmlns:a16="http://schemas.microsoft.com/office/drawing/2014/main" id="{9509E02A-7E28-413B-8372-24604E287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14337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b)</a:t>
            </a:r>
          </a:p>
        </p:txBody>
      </p:sp>
      <p:sp>
        <p:nvSpPr>
          <p:cNvPr id="10" name="question-b">
            <a:extLst xmlns:a="http://schemas.openxmlformats.org/drawingml/2006/main">
              <a:ext uri="{FF2B5EF4-FFF2-40B4-BE49-F238E27FC236}">
                <a16:creationId xmlns:a16="http://schemas.microsoft.com/office/drawing/2014/main" id="{EA1267F7-E672-4AB5-8CC0-CE07B6205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4143375"/>
            <a:ext cx="99441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Explain how a breakpoint and a variable watch can help investigate a wrong total. [2]</a:t>
            </a:r>
          </a:p>
        </p:txBody>
      </p:sp>
    </p:spTree>
    <p:extLst>
      <p:ext uri="{BB962C8B-B14F-4D97-AF65-F5344CB8AC3E}">
        <p14:creationId xmlns:p14="http://schemas.microsoft.com/office/powerpoint/2010/main" val="16794007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5F1F2C14-4C50-48A4-9B67-A997A2622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DDB8B4A9-62FC-49C3-9E8B-2D9186155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2.5   /   LESSON 04   /   PLENARY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8C7269B5-94FA-4086-8755-DE73995D9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Plenary: question (c)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ee9e019c69462e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A9C331FB-3C6F-4EEC-BBEB-57203449B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15 / 18</a:t>
            </a:r>
          </a:p>
        </p:txBody>
      </p:sp>
      <p:sp>
        <p:nvSpPr>
          <p:cNvPr id="6" name="from-memory">
            <a:extLst xmlns:a="http://schemas.openxmlformats.org/drawingml/2006/main">
              <a:ext uri="{FF2B5EF4-FFF2-40B4-BE49-F238E27FC236}">
                <a16:creationId xmlns:a16="http://schemas.microsoft.com/office/drawing/2014/main" id="{BDF8659F-4B53-45A1-96E8-35452E8FD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00200"/>
            <a:ext cx="107156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Keep the experience closed. Explain your reasoning in full sentences.</a:t>
            </a:r>
          </a:p>
        </p:txBody>
      </p:sp>
      <p:sp>
        <p:nvSpPr>
          <p:cNvPr id="7" name="c">
            <a:extLst xmlns:a="http://schemas.openxmlformats.org/drawingml/2006/main">
              <a:ext uri="{FF2B5EF4-FFF2-40B4-BE49-F238E27FC236}">
                <a16:creationId xmlns:a16="http://schemas.microsoft.com/office/drawing/2014/main" id="{629CF0F4-E195-43D7-9CCA-D8090133C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781300"/>
            <a:ext cx="6096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c)</a:t>
            </a:r>
          </a:p>
        </p:txBody>
      </p:sp>
      <p:sp>
        <p:nvSpPr>
          <p:cNvPr id="8" name="question-c">
            <a:extLst xmlns:a="http://schemas.openxmlformats.org/drawingml/2006/main">
              <a:ext uri="{FF2B5EF4-FFF2-40B4-BE49-F238E27FC236}">
                <a16:creationId xmlns:a16="http://schemas.microsoft.com/office/drawing/2014/main" id="{2397C953-3257-449B-B101-570ACDF66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781300"/>
            <a:ext cx="98679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4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Why must a programmer still test code after all syntax errors have been corrected? [2]</a:t>
            </a:r>
          </a:p>
        </p:txBody>
      </p:sp>
      <p:sp>
        <p:nvSpPr>
          <p:cNvPr id="9" name="marks">
            <a:extLst xmlns:a="http://schemas.openxmlformats.org/drawingml/2006/main">
              <a:ext uri="{FF2B5EF4-FFF2-40B4-BE49-F238E27FC236}">
                <a16:creationId xmlns:a16="http://schemas.microsoft.com/office/drawing/2014/main" id="{B5E43C45-0F63-4BF1-AFCD-45A804E55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438775"/>
            <a:ext cx="10477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Use the marks in brackets to judge how much detail to include.</a:t>
            </a:r>
          </a:p>
        </p:txBody>
      </p:sp>
    </p:spTree>
    <p:extLst>
      <p:ext uri="{BB962C8B-B14F-4D97-AF65-F5344CB8AC3E}">
        <p14:creationId xmlns:p14="http://schemas.microsoft.com/office/powerpoint/2010/main" val="74753174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69886798-8F0F-4B54-BAEC-A0540120C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6D6D98F3-B670-4101-B9A9-2184D5A6E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2.5   /   LESSON 04   /   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16C64587-B8D3-44DA-8AA8-1AB5AE6D8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Plenary: answers (a–b)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7503b208f64add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9EEFA3B3-6527-4E2D-9FE8-B1783E9B1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16 / 18</a:t>
            </a:r>
          </a:p>
        </p:txBody>
      </p:sp>
      <p:sp>
        <p:nvSpPr>
          <p:cNvPr id="6" name="scheme-intro">
            <a:extLst xmlns:a="http://schemas.openxmlformats.org/drawingml/2006/main">
              <a:ext uri="{FF2B5EF4-FFF2-40B4-BE49-F238E27FC236}">
                <a16:creationId xmlns:a16="http://schemas.microsoft.com/office/drawing/2014/main" id="{910FB56C-D13F-443C-831C-7EB54AF5B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43050"/>
            <a:ext cx="10715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Indicative points. Credit accurate answers in students’ own words.</a:t>
            </a:r>
          </a:p>
        </p:txBody>
      </p:sp>
      <p:sp>
        <p:nvSpPr>
          <p:cNvPr id="7" name="scheme-a">
            <a:extLst xmlns:a="http://schemas.openxmlformats.org/drawingml/2006/main">
              <a:ext uri="{FF2B5EF4-FFF2-40B4-BE49-F238E27FC236}">
                <a16:creationId xmlns:a16="http://schemas.microsoft.com/office/drawing/2014/main" id="{41502BD5-C47A-4406-827D-A550F44AB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33625"/>
            <a:ext cx="1057275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  Syntax highlighting makes code elements easier to distinguish. Auto-completion suggests names and can reduce typing errors. Award one mark for each facility and one for its explained benefit. Automatic indentation with a clear benefit is also acceptable.</a:t>
            </a:r>
          </a:p>
        </p:txBody>
      </p:sp>
      <p:sp>
        <p:nvSpPr>
          <p:cNvPr id="8" name="scheme-b">
            <a:extLst xmlns:a="http://schemas.openxmlformats.org/drawingml/2006/main">
              <a:ext uri="{FF2B5EF4-FFF2-40B4-BE49-F238E27FC236}">
                <a16:creationId xmlns:a16="http://schemas.microsoft.com/office/drawing/2014/main" id="{4030A590-8409-4747-8A49-22010C81B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14800"/>
            <a:ext cx="10572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b  A breakpoint pauses near the calculation. The variable watch shows values to compare with the expected inputs or result.</a:t>
            </a:r>
          </a:p>
        </p:txBody>
      </p:sp>
    </p:spTree>
    <p:extLst>
      <p:ext uri="{BB962C8B-B14F-4D97-AF65-F5344CB8AC3E}">
        <p14:creationId xmlns:p14="http://schemas.microsoft.com/office/powerpoint/2010/main" val="144624375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E0081A4B-6AC1-4816-AF79-691B19F4B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8160FA52-8505-4663-AF29-746E3C6A1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2.5   /   LESSON 04   /   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E723C30E-7C0B-4663-9CFD-AEBB0B68C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Plenary: answer (c)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7a6d48d9324b51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BFCDE95E-15E9-4DFC-BCC0-8290133C0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17 / 18</a:t>
            </a:r>
          </a:p>
        </p:txBody>
      </p:sp>
      <p:sp>
        <p:nvSpPr>
          <p:cNvPr id="6" name="scheme-intro">
            <a:extLst xmlns:a="http://schemas.openxmlformats.org/drawingml/2006/main">
              <a:ext uri="{FF2B5EF4-FFF2-40B4-BE49-F238E27FC236}">
                <a16:creationId xmlns:a16="http://schemas.microsoft.com/office/drawing/2014/main" id="{367C08AF-7243-4EE2-AFA0-1DBD0A7CE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33525"/>
            <a:ext cx="10715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Indicative points for the final question.</a:t>
            </a:r>
          </a:p>
        </p:txBody>
      </p:sp>
      <p:sp>
        <p:nvSpPr>
          <p:cNvPr id="7" name="number-1">
            <a:extLst xmlns:a="http://schemas.openxmlformats.org/drawingml/2006/main">
              <a:ext uri="{FF2B5EF4-FFF2-40B4-BE49-F238E27FC236}">
                <a16:creationId xmlns:a16="http://schemas.microsoft.com/office/drawing/2014/main" id="{C971BC91-2C30-4670-9E94-EB7BAD54B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8602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1.</a:t>
            </a:r>
          </a:p>
        </p:txBody>
      </p:sp>
      <p:sp>
        <p:nvSpPr>
          <p:cNvPr id="8" name="item-1">
            <a:extLst xmlns:a="http://schemas.openxmlformats.org/drawingml/2006/main">
              <a:ext uri="{FF2B5EF4-FFF2-40B4-BE49-F238E27FC236}">
                <a16:creationId xmlns:a16="http://schemas.microsoft.com/office/drawing/2014/main" id="{38BA7518-F976-4AA8-9FBD-9CA4E93E3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486025"/>
            <a:ext cx="99250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Valid syntax can still express incorrect logic.</a:t>
            </a:r>
          </a:p>
        </p:txBody>
      </p:sp>
      <p:sp>
        <p:nvSpPr>
          <p:cNvPr id="9" name="number-2">
            <a:extLst xmlns:a="http://schemas.openxmlformats.org/drawingml/2006/main">
              <a:ext uri="{FF2B5EF4-FFF2-40B4-BE49-F238E27FC236}">
                <a16:creationId xmlns:a16="http://schemas.microsoft.com/office/drawing/2014/main" id="{4CE5C16C-95D9-4554-BC9D-0CB5CA0D0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9092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2.</a:t>
            </a:r>
          </a:p>
        </p:txBody>
      </p:sp>
      <p:sp>
        <p:nvSpPr>
          <p:cNvPr id="10" name="item-2">
            <a:extLst xmlns:a="http://schemas.openxmlformats.org/drawingml/2006/main">
              <a:ext uri="{FF2B5EF4-FFF2-40B4-BE49-F238E27FC236}">
                <a16:creationId xmlns:a16="http://schemas.microsoft.com/office/drawing/2014/main" id="{C4346348-B81F-437B-A07E-C9085E2AC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590925"/>
            <a:ext cx="99250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Testing checks actual results against expected results.</a:t>
            </a:r>
          </a:p>
        </p:txBody>
      </p:sp>
      <p:sp>
        <p:nvSpPr>
          <p:cNvPr id="11" name="number-3">
            <a:extLst xmlns:a="http://schemas.openxmlformats.org/drawingml/2006/main">
              <a:ext uri="{FF2B5EF4-FFF2-40B4-BE49-F238E27FC236}">
                <a16:creationId xmlns:a16="http://schemas.microsoft.com/office/drawing/2014/main" id="{DBDD63D3-A34B-4614-BC00-7470B22F2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9582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12" name="item-3">
            <a:extLst xmlns:a="http://schemas.openxmlformats.org/drawingml/2006/main">
              <a:ext uri="{FF2B5EF4-FFF2-40B4-BE49-F238E27FC236}">
                <a16:creationId xmlns:a16="http://schemas.microsoft.com/office/drawing/2014/main" id="{AAD983A1-375A-4785-BE52-216AFD70B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695825"/>
            <a:ext cx="99250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58965231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A368A0EC-80FD-4672-B2B2-DBDF6094D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94A4DF14-4035-4380-8761-948455E2A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2.5   /   LESSON 04   /   SELF-CHECK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86131C61-4DE8-4ADA-AA38-AF5838A84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How confident am I?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960484c9624cb1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6D9F0318-AD5A-451A-9E2A-0B42908DA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18 / 18</a:t>
            </a:r>
          </a:p>
        </p:txBody>
      </p:sp>
      <p:sp>
        <p:nvSpPr>
          <p:cNvPr id="6" name="confidence-instruction">
            <a:extLst xmlns:a="http://schemas.openxmlformats.org/drawingml/2006/main">
              <a:ext uri="{FF2B5EF4-FFF2-40B4-BE49-F238E27FC236}">
                <a16:creationId xmlns:a16="http://schemas.microsoft.com/office/drawing/2014/main" id="{21CCFCB5-9EEF-4D0C-ACC8-C2D3D4C2A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71625"/>
            <a:ext cx="104775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On the worksheet, select Not yet, Getting there or Confident for each objective.</a:t>
            </a:r>
          </a:p>
        </p:txBody>
      </p:sp>
      <p:sp>
        <p:nvSpPr>
          <p:cNvPr id="7" name="number-1">
            <a:extLst xmlns:a="http://schemas.openxmlformats.org/drawingml/2006/main">
              <a:ext uri="{FF2B5EF4-FFF2-40B4-BE49-F238E27FC236}">
                <a16:creationId xmlns:a16="http://schemas.microsoft.com/office/drawing/2014/main" id="{1445CA78-BAE2-4623-A518-59C7169A1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146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1.</a:t>
            </a:r>
          </a:p>
        </p:txBody>
      </p:sp>
      <p:sp>
        <p:nvSpPr>
          <p:cNvPr id="8" name="item-1">
            <a:extLst xmlns:a="http://schemas.openxmlformats.org/drawingml/2006/main">
              <a:ext uri="{FF2B5EF4-FFF2-40B4-BE49-F238E27FC236}">
                <a16:creationId xmlns:a16="http://schemas.microsoft.com/office/drawing/2014/main" id="{B9CB63FA-CF41-41AC-AAF6-A489CFF3B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514600"/>
            <a:ext cx="99250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Identify common IDE facilities.</a:t>
            </a:r>
          </a:p>
        </p:txBody>
      </p:sp>
      <p:sp>
        <p:nvSpPr>
          <p:cNvPr id="9" name="number-2">
            <a:extLst xmlns:a="http://schemas.openxmlformats.org/drawingml/2006/main">
              <a:ext uri="{FF2B5EF4-FFF2-40B4-BE49-F238E27FC236}">
                <a16:creationId xmlns:a16="http://schemas.microsoft.com/office/drawing/2014/main" id="{BF24F2CF-D0BF-433B-A4BD-27BA20302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4327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2.</a:t>
            </a:r>
          </a:p>
        </p:txBody>
      </p:sp>
      <p:sp>
        <p:nvSpPr>
          <p:cNvPr id="10" name="item-2">
            <a:extLst xmlns:a="http://schemas.openxmlformats.org/drawingml/2006/main">
              <a:ext uri="{FF2B5EF4-FFF2-40B4-BE49-F238E27FC236}">
                <a16:creationId xmlns:a16="http://schemas.microsoft.com/office/drawing/2014/main" id="{2EBB092A-60CB-4087-9DD4-5443676B6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343275"/>
            <a:ext cx="99250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Explain how editing and diagnostics support programmers.</a:t>
            </a:r>
          </a:p>
        </p:txBody>
      </p:sp>
      <p:sp>
        <p:nvSpPr>
          <p:cNvPr id="11" name="number-3">
            <a:extLst xmlns:a="http://schemas.openxmlformats.org/drawingml/2006/main">
              <a:ext uri="{FF2B5EF4-FFF2-40B4-BE49-F238E27FC236}">
                <a16:creationId xmlns:a16="http://schemas.microsoft.com/office/drawing/2014/main" id="{43B035FB-801C-4E05-87F1-800820CE7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7195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3.</a:t>
            </a:r>
          </a:p>
        </p:txBody>
      </p:sp>
      <p:sp>
        <p:nvSpPr>
          <p:cNvPr id="12" name="item-3">
            <a:extLst xmlns:a="http://schemas.openxmlformats.org/drawingml/2006/main">
              <a:ext uri="{FF2B5EF4-FFF2-40B4-BE49-F238E27FC236}">
                <a16:creationId xmlns:a16="http://schemas.microsoft.com/office/drawing/2014/main" id="{02E48C22-31AC-4A31-87AE-D3A00B3F1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171950"/>
            <a:ext cx="99250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Use a breakpoint, stepping and variable values to investigate a fault.</a:t>
            </a:r>
          </a:p>
        </p:txBody>
      </p:sp>
      <p:sp>
        <p:nvSpPr>
          <p:cNvPr id="13" name="number-4">
            <a:extLst xmlns:a="http://schemas.openxmlformats.org/drawingml/2006/main">
              <a:ext uri="{FF2B5EF4-FFF2-40B4-BE49-F238E27FC236}">
                <a16:creationId xmlns:a16="http://schemas.microsoft.com/office/drawing/2014/main" id="{CE4EAE46-F751-4F69-9E68-CFF078A99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0062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14" name="item-4">
            <a:extLst xmlns:a="http://schemas.openxmlformats.org/drawingml/2006/main">
              <a:ext uri="{FF2B5EF4-FFF2-40B4-BE49-F238E27FC236}">
                <a16:creationId xmlns:a16="http://schemas.microsoft.com/office/drawing/2014/main" id="{F71661C6-7DB3-4EC1-B1E5-D88C7A612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000625"/>
            <a:ext cx="99250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47992955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2026-09-26T07:59:21.9890000Z</dcterms:created>
  <dcterms:modified xsi:type="dcterms:W3CDTF">2026-09-26T07:59:21.9890000Z</dcterms:modified>
</coreProperties>
</file>