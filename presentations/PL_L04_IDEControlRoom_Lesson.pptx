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bfd2e85bb448af" /><Relationship Type="http://schemas.openxmlformats.org/officeDocument/2006/relationships/extended-properties" Target="/docProps/app.xml" Id="R5d5a1a5ad34e4e44" /><Relationship Type="http://schemas.openxmlformats.org/officeDocument/2006/relationships/officeDocument" Target="/ppt/presentation.xml" Id="R5e6d0d2ad0414f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131c9eaa2f4492"/>
  </p:sldMasterIdLst>
  <p:notesMasterIdLst>
    <p:notesMasterId xmlns:r="http://schemas.openxmlformats.org/officeDocument/2006/relationships" r:id="R809f84c49488447c"/>
  </p:notesMasterIdLst>
  <p:sldIdLst>
    <p:sldId xmlns:r="http://schemas.openxmlformats.org/officeDocument/2006/relationships" id="256" r:id="R31e0329c87f44bb5"/>
    <p:sldId xmlns:r="http://schemas.openxmlformats.org/officeDocument/2006/relationships" id="257" r:id="R203dca536ab64fb0"/>
    <p:sldId xmlns:r="http://schemas.openxmlformats.org/officeDocument/2006/relationships" id="258" r:id="R292d176e60fa4aee"/>
    <p:sldId xmlns:r="http://schemas.openxmlformats.org/officeDocument/2006/relationships" id="259" r:id="R3960b48aec664789"/>
    <p:sldId xmlns:r="http://schemas.openxmlformats.org/officeDocument/2006/relationships" id="260" r:id="R57175771feb246cf"/>
    <p:sldId xmlns:r="http://schemas.openxmlformats.org/officeDocument/2006/relationships" id="261" r:id="Radedca45ba4b4180"/>
    <p:sldId xmlns:r="http://schemas.openxmlformats.org/officeDocument/2006/relationships" id="262" r:id="Ra7b9673e0b734e62"/>
    <p:sldId xmlns:r="http://schemas.openxmlformats.org/officeDocument/2006/relationships" id="263" r:id="Rce2114719b974e46"/>
    <p:sldId xmlns:r="http://schemas.openxmlformats.org/officeDocument/2006/relationships" id="264" r:id="R3592bda8018c447d"/>
    <p:sldId xmlns:r="http://schemas.openxmlformats.org/officeDocument/2006/relationships" id="265" r:id="R23c1fe32f7f846f8"/>
    <p:sldId xmlns:r="http://schemas.openxmlformats.org/officeDocument/2006/relationships" id="266" r:id="R49d1d01654c34dc7"/>
    <p:sldId xmlns:r="http://schemas.openxmlformats.org/officeDocument/2006/relationships" id="267" r:id="R21fed50fedf646e2"/>
    <p:sldId xmlns:r="http://schemas.openxmlformats.org/officeDocument/2006/relationships" id="268" r:id="Rec774417b59548d3"/>
    <p:sldId xmlns:r="http://schemas.openxmlformats.org/officeDocument/2006/relationships" id="269" r:id="Rdb323c9f70aa4c59"/>
    <p:sldId xmlns:r="http://schemas.openxmlformats.org/officeDocument/2006/relationships" id="270" r:id="R5bda2100d5e740ca"/>
    <p:sldId xmlns:r="http://schemas.openxmlformats.org/officeDocument/2006/relationships" id="271" r:id="R1809e5f1a24c40f9"/>
    <p:sldId xmlns:r="http://schemas.openxmlformats.org/officeDocument/2006/relationships" id="272" r:id="R625e3c4b973247ab"/>
    <p:sldId xmlns:r="http://schemas.openxmlformats.org/officeDocument/2006/relationships" id="273" r:id="R99d5073576b14b2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51d2b17c6946ae" /><Relationship Type="http://schemas.openxmlformats.org/officeDocument/2006/relationships/slideMaster" Target="/ppt/slideMasters/slideMaster1.xml" Id="R2c131c9eaa2f4492" /><Relationship Type="http://schemas.openxmlformats.org/officeDocument/2006/relationships/notesMaster" Target="/ppt/notesMasters/notesMaster1.xml" Id="R809f84c49488447c" /><Relationship Type="http://schemas.openxmlformats.org/officeDocument/2006/relationships/presProps" Target="/ppt/presProps.xml" Id="R72970e6f24064d3c" /><Relationship Type="http://schemas.openxmlformats.org/officeDocument/2006/relationships/tableStyles" Target="/ppt/tableStyles.xml" Id="R20d749a0ebd34d26" /><Relationship Type="http://schemas.openxmlformats.org/officeDocument/2006/relationships/slide" Target="/ppt/slides/slide1.xml" Id="R31e0329c87f44bb5" /><Relationship Type="http://schemas.openxmlformats.org/officeDocument/2006/relationships/slide" Target="/ppt/slides/slide2.xml" Id="R203dca536ab64fb0" /><Relationship Type="http://schemas.openxmlformats.org/officeDocument/2006/relationships/slide" Target="/ppt/slides/slide3.xml" Id="R292d176e60fa4aee" /><Relationship Type="http://schemas.openxmlformats.org/officeDocument/2006/relationships/slide" Target="/ppt/slides/slide4.xml" Id="R3960b48aec664789" /><Relationship Type="http://schemas.openxmlformats.org/officeDocument/2006/relationships/slide" Target="/ppt/slides/slide5.xml" Id="R57175771feb246cf" /><Relationship Type="http://schemas.openxmlformats.org/officeDocument/2006/relationships/slide" Target="/ppt/slides/slide6.xml" Id="Radedca45ba4b4180" /><Relationship Type="http://schemas.openxmlformats.org/officeDocument/2006/relationships/slide" Target="/ppt/slides/slide7.xml" Id="Ra7b9673e0b734e62" /><Relationship Type="http://schemas.openxmlformats.org/officeDocument/2006/relationships/slide" Target="/ppt/slides/slide8.xml" Id="Rce2114719b974e46" /><Relationship Type="http://schemas.openxmlformats.org/officeDocument/2006/relationships/slide" Target="/ppt/slides/slide9.xml" Id="R3592bda8018c447d" /><Relationship Type="http://schemas.openxmlformats.org/officeDocument/2006/relationships/slide" Target="/ppt/slides/slide10.xml" Id="R23c1fe32f7f846f8" /><Relationship Type="http://schemas.openxmlformats.org/officeDocument/2006/relationships/slide" Target="/ppt/slides/slide11.xml" Id="R49d1d01654c34dc7" /><Relationship Type="http://schemas.openxmlformats.org/officeDocument/2006/relationships/slide" Target="/ppt/slides/slide12.xml" Id="R21fed50fedf646e2" /><Relationship Type="http://schemas.openxmlformats.org/officeDocument/2006/relationships/slide" Target="/ppt/slides/slide13.xml" Id="Rec774417b59548d3" /><Relationship Type="http://schemas.openxmlformats.org/officeDocument/2006/relationships/slide" Target="/ppt/slides/slide14.xml" Id="Rdb323c9f70aa4c59" /><Relationship Type="http://schemas.openxmlformats.org/officeDocument/2006/relationships/slide" Target="/ppt/slides/slide15.xml" Id="R5bda2100d5e740ca" /><Relationship Type="http://schemas.openxmlformats.org/officeDocument/2006/relationships/slide" Target="/ppt/slides/slide16.xml" Id="R1809e5f1a24c40f9" /><Relationship Type="http://schemas.openxmlformats.org/officeDocument/2006/relationships/slide" Target="/ppt/slides/slide17.xml" Id="R625e3c4b973247ab" /><Relationship Type="http://schemas.openxmlformats.org/officeDocument/2006/relationships/slide" Target="/ppt/slides/slide18.xml" Id="R99d5073576b14b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cc66ae351b4f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5b8af724d045ea" /><Relationship Type="http://schemas.openxmlformats.org/officeDocument/2006/relationships/notesMaster" Target="/ppt/notesMasters/notesMaster1.xml" Id="Rc5ba476755074f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4718a83227c42c5" /><Relationship Type="http://schemas.openxmlformats.org/officeDocument/2006/relationships/notesMaster" Target="/ppt/notesMasters/notesMaster1.xml" Id="R7fa0068b1d744a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480ece120a4cc5" /><Relationship Type="http://schemas.openxmlformats.org/officeDocument/2006/relationships/notesMaster" Target="/ppt/notesMasters/notesMaster1.xml" Id="Rc7dedf113a2845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d892d9922c4c2f" /><Relationship Type="http://schemas.openxmlformats.org/officeDocument/2006/relationships/notesMaster" Target="/ppt/notesMasters/notesMaster1.xml" Id="R4d78c039078f4b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786450a13341bf" /><Relationship Type="http://schemas.openxmlformats.org/officeDocument/2006/relationships/notesMaster" Target="/ppt/notesMasters/notesMaster1.xml" Id="R74e5107a2bb745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5931d8d2014dbc" /><Relationship Type="http://schemas.openxmlformats.org/officeDocument/2006/relationships/notesMaster" Target="/ppt/notesMasters/notesMaster1.xml" Id="R4581edca4af545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1aa620a7924ea4" /><Relationship Type="http://schemas.openxmlformats.org/officeDocument/2006/relationships/notesMaster" Target="/ppt/notesMasters/notesMaster1.xml" Id="R3b6680ed4830498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f2b7e7ea0f40a8" /><Relationship Type="http://schemas.openxmlformats.org/officeDocument/2006/relationships/notesMaster" Target="/ppt/notesMasters/notesMaster1.xml" Id="R5cfebf5a07d747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71a837bf8914b21" /><Relationship Type="http://schemas.openxmlformats.org/officeDocument/2006/relationships/notesMaster" Target="/ppt/notesMasters/notesMaster1.xml" Id="R3a1a963d9d4d43f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79040c805854e1d" /><Relationship Type="http://schemas.openxmlformats.org/officeDocument/2006/relationships/notesMaster" Target="/ppt/notesMasters/notesMaster1.xml" Id="R1924e75a70274f0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6feca970cf2498f" /><Relationship Type="http://schemas.openxmlformats.org/officeDocument/2006/relationships/notesMaster" Target="/ppt/notesMasters/notesMaster1.xml" Id="R61a9f43e43764e7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e197a4d5ce74883" /><Relationship Type="http://schemas.openxmlformats.org/officeDocument/2006/relationships/notesMaster" Target="/ppt/notesMasters/notesMaster1.xml" Id="Ra411f5744db4415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5e4ab83d6274b4a" /><Relationship Type="http://schemas.openxmlformats.org/officeDocument/2006/relationships/notesMaster" Target="/ppt/notesMasters/notesMaster1.xml" Id="Ra4428299785245f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7b1bd08d1ec49e5" /><Relationship Type="http://schemas.openxmlformats.org/officeDocument/2006/relationships/notesMaster" Target="/ppt/notesMasters/notesMaster1.xml" Id="R36c8520392c84ba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f746544dda445b8" /><Relationship Type="http://schemas.openxmlformats.org/officeDocument/2006/relationships/notesMaster" Target="/ppt/notesMasters/notesMaster1.xml" Id="R55e8a17a148a420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53b7d7641c04ca6" /><Relationship Type="http://schemas.openxmlformats.org/officeDocument/2006/relationships/notesMaster" Target="/ppt/notesMasters/notesMaster1.xml" Id="R72544945281f4c1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e7ca92c4421407f" /><Relationship Type="http://schemas.openxmlformats.org/officeDocument/2006/relationships/notesMaster" Target="/ppt/notesMasters/notesMaster1.xml" Id="R1306cfafa6cf480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21f99b689ab4614" /><Relationship Type="http://schemas.openxmlformats.org/officeDocument/2006/relationships/notesMaster" Target="/ppt/notesMasters/notesMaster1.xml" Id="Rf986d46fada049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087f643e3e40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a8310bad084fd6" /><Relationship Type="http://schemas.openxmlformats.org/officeDocument/2006/relationships/slideLayout" Target="/ppt/slideLayouts/slideLayout1.xml" Id="Rbbff23435e7e435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ff23435e7e435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fe2b58e9904294" /><Relationship Type="http://schemas.openxmlformats.org/officeDocument/2006/relationships/image" Target="/ppt/media/image.png" Id="Rf1138e4e974c44ee" /><Relationship Type="http://schemas.openxmlformats.org/officeDocument/2006/relationships/image" Target="/ppt/media/image2.png" Id="R1f3932151def41c5" /><Relationship Type="http://schemas.openxmlformats.org/officeDocument/2006/relationships/notesSlide" Target="/ppt/notesSlides/notesSlide1.xml" Id="R9e1ec599a25049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4a2b08f7443ca" /><Relationship Type="http://schemas.openxmlformats.org/officeDocument/2006/relationships/image" Target="/ppt/media/image3.png" Id="Rdd84ee2284754904" /><Relationship Type="http://schemas.openxmlformats.org/officeDocument/2006/relationships/notesSlide" Target="/ppt/notesSlides/notesSlide2.xml" Id="Rad686963a84d4a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901b2d83ed4e06" /><Relationship Type="http://schemas.openxmlformats.org/officeDocument/2006/relationships/image" Target="/ppt/media/image4.png" Id="Rf7089a7ddd394d33" /><Relationship Type="http://schemas.openxmlformats.org/officeDocument/2006/relationships/notesSlide" Target="/ppt/notesSlides/notesSlide3.xml" Id="R536d3168366847c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a4709967f04613" /><Relationship Type="http://schemas.openxmlformats.org/officeDocument/2006/relationships/image" Target="/ppt/media/image5.png" Id="Ra0ece0f983254977" /><Relationship Type="http://schemas.openxmlformats.org/officeDocument/2006/relationships/notesSlide" Target="/ppt/notesSlides/notesSlide4.xml" Id="Rf52bde738dbb4d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a7c8312baf437f" /><Relationship Type="http://schemas.openxmlformats.org/officeDocument/2006/relationships/image" Target="/ppt/media/image6.png" Id="R025bfbeba80c4a37" /><Relationship Type="http://schemas.openxmlformats.org/officeDocument/2006/relationships/notesSlide" Target="/ppt/notesSlides/notesSlide5.xml" Id="R45263e02928145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a943a0c99453d" /><Relationship Type="http://schemas.openxmlformats.org/officeDocument/2006/relationships/image" Target="/ppt/media/image7.png" Id="R815c7dab27314d05" /><Relationship Type="http://schemas.openxmlformats.org/officeDocument/2006/relationships/notesSlide" Target="/ppt/notesSlides/notesSlide6.xml" Id="R8e9a3f52c3de4b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a42392fd29416d" /><Relationship Type="http://schemas.openxmlformats.org/officeDocument/2006/relationships/image" Target="/ppt/media/image8.png" Id="R22f80f90adda4ed7" /><Relationship Type="http://schemas.openxmlformats.org/officeDocument/2006/relationships/notesSlide" Target="/ppt/notesSlides/notesSlide7.xml" Id="R61cf921a89704c1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6ef35655664596" /><Relationship Type="http://schemas.openxmlformats.org/officeDocument/2006/relationships/image" Target="/ppt/media/image9.png" Id="R6a400aa8fe304d1d" /><Relationship Type="http://schemas.openxmlformats.org/officeDocument/2006/relationships/notesSlide" Target="/ppt/notesSlides/notesSlide8.xml" Id="Rab79f36523dd4b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dad2b9e4e49e7" /><Relationship Type="http://schemas.openxmlformats.org/officeDocument/2006/relationships/image" Target="/ppt/media/image10.png" Id="R51560f071ab94c71" /><Relationship Type="http://schemas.openxmlformats.org/officeDocument/2006/relationships/notesSlide" Target="/ppt/notesSlides/notesSlide9.xml" Id="R8c890c3596814a7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b39048ff604b4b" /><Relationship Type="http://schemas.openxmlformats.org/officeDocument/2006/relationships/image" Target="/ppt/media/image11.png" Id="R9cb8ac4828d44695" /><Relationship Type="http://schemas.openxmlformats.org/officeDocument/2006/relationships/notesSlide" Target="/ppt/notesSlides/notesSlide10.xml" Id="Ra02d142ffb40489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1b7e3f54340d0" /><Relationship Type="http://schemas.openxmlformats.org/officeDocument/2006/relationships/image" Target="/ppt/media/image12.png" Id="Ra042aeb6b4b5499d" /><Relationship Type="http://schemas.openxmlformats.org/officeDocument/2006/relationships/notesSlide" Target="/ppt/notesSlides/notesSlide11.xml" Id="Rc8d7b04c84a44b1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0cf65ca2f1482f" /><Relationship Type="http://schemas.openxmlformats.org/officeDocument/2006/relationships/image" Target="/ppt/media/image13.png" Id="R689db8d64b8b49f4" /><Relationship Type="http://schemas.openxmlformats.org/officeDocument/2006/relationships/notesSlide" Target="/ppt/notesSlides/notesSlide12.xml" Id="R1d65096816e54fb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54cc609ba6451b" /><Relationship Type="http://schemas.openxmlformats.org/officeDocument/2006/relationships/image" Target="/ppt/media/image14.png" Id="Rbb768bb85e1c4c78" /><Relationship Type="http://schemas.openxmlformats.org/officeDocument/2006/relationships/notesSlide" Target="/ppt/notesSlides/notesSlide13.xml" Id="Rf0072bf61e394e3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d2fea633ad4e3f" /><Relationship Type="http://schemas.openxmlformats.org/officeDocument/2006/relationships/image" Target="/ppt/media/image15.png" Id="Rc4a3c86d13604a8b" /><Relationship Type="http://schemas.openxmlformats.org/officeDocument/2006/relationships/notesSlide" Target="/ppt/notesSlides/notesSlide14.xml" Id="R11ec5aca3ed54e7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3baa1423f42dd" /><Relationship Type="http://schemas.openxmlformats.org/officeDocument/2006/relationships/image" Target="/ppt/media/image16.png" Id="R7da8ca6159dd46d3" /><Relationship Type="http://schemas.openxmlformats.org/officeDocument/2006/relationships/notesSlide" Target="/ppt/notesSlides/notesSlide15.xml" Id="R1dff7df4acb3419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74206f44b4b9b" /><Relationship Type="http://schemas.openxmlformats.org/officeDocument/2006/relationships/image" Target="/ppt/media/image17.png" Id="R530906073de948eb" /><Relationship Type="http://schemas.openxmlformats.org/officeDocument/2006/relationships/notesSlide" Target="/ppt/notesSlides/notesSlide16.xml" Id="Rdea4ee432600430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21ebd134bd412a" /><Relationship Type="http://schemas.openxmlformats.org/officeDocument/2006/relationships/image" Target="/ppt/media/image18.png" Id="R76591b38457b45e6" /><Relationship Type="http://schemas.openxmlformats.org/officeDocument/2006/relationships/notesSlide" Target="/ppt/notesSlides/notesSlide17.xml" Id="R452f233a7a514f5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1209e2dadc45c7" /><Relationship Type="http://schemas.openxmlformats.org/officeDocument/2006/relationships/image" Target="/ppt/media/image19.png" Id="R2ffa673005c84481" /><Relationship Type="http://schemas.openxmlformats.org/officeDocument/2006/relationships/notesSlide" Target="/ppt/notesSlides/notesSlide18.xml" Id="R7405c6d2344b46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24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7A49B242-0A93-4CAA-A976-B7B85414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7C87B069-4AE3-41FB-8E32-622FAD07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TOPIC 2.5   /   LESSON 04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53815F20-9933-4640-9E82-67A009EF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IDE CONTROL ROOM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138e4e974c44ee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248E3C81-C842-45B0-92BB-277816F0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 / 18</a:t>
            </a:r>
          </a:p>
        </p:txBody>
      </p:sp>
      <p:sp>
        <p:nvSpPr>
          <p:cNvPr id="6" name="subject">
            <a:extLst xmlns:a="http://schemas.openxmlformats.org/drawingml/2006/main">
              <a:ext uri="{FF2B5EF4-FFF2-40B4-BE49-F238E27FC236}">
                <a16:creationId xmlns:a16="http://schemas.microsoft.com/office/drawing/2014/main" id="{1D1867E6-9160-4B7B-B718-C2045EBD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IDE facilities</a:t>
            </a:r>
          </a:p>
        </p:txBody>
      </p:sp>
      <p:sp>
        <p:nvSpPr>
          <p:cNvPr id="7" name="cover-key-label">
            <a:extLst xmlns:a="http://schemas.openxmlformats.org/drawingml/2006/main">
              <a:ext uri="{FF2B5EF4-FFF2-40B4-BE49-F238E27FC236}">
                <a16:creationId xmlns:a16="http://schemas.microsoft.com/office/drawing/2014/main" id="{DB6C6EAB-F00F-49E7-BB96-0088CAEA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38475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DO NOW: RESEARCH AND DISCUSS</a:t>
            </a:r>
          </a:p>
        </p:txBody>
      </p:sp>
      <p:sp>
        <p:nvSpPr>
          <p:cNvPr id="8" name="cover-key-question">
            <a:extLst xmlns:a="http://schemas.openxmlformats.org/drawingml/2006/main">
              <a:ext uri="{FF2B5EF4-FFF2-40B4-BE49-F238E27FC236}">
                <a16:creationId xmlns:a16="http://schemas.microsoft.com/office/drawing/2014/main" id="{00081038-3E7F-400E-8756-EE3640E7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7625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What help would you want from the software you use to write programs?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3932151def41c5"/>
          <a:stretch xmlns:a="http://schemas.openxmlformats.org/drawingml/2006/main"/>
        </p:blipFill>
        <p:spPr>
          <a:xfrm xmlns:a="http://schemas.openxmlformats.org/drawingml/2006/main">
            <a:off x="6076950" y="1931789"/>
            <a:ext cx="5400675" cy="337542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0518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729D0D74-D405-4298-8504-19625DD8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BC94BCC8-515D-47EA-B6E2-2B7D4AC1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WORKSHEET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EB715B87-24C3-4EB0-A531-09F29276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By the end of this lesson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84ee2284754904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B946EE4D-4656-4BC2-8F50-308BDCE2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 / 18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4F21E87F-93E4-451F-AB4E-8822ED37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46CD32E7-7220-4C45-83BD-1A75D522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43100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Identify the four main IDE facilities.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27D15F66-C79A-48FB-A458-5FCABD71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6D66A0FC-FF53-4CDB-B571-D4D170C6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051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how each facility supports programming.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214AB879-F5E1-46A1-B3B7-732C3DA0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47E0FF81-472A-4959-B572-95A0EA47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Use editing, diagnostics and execution tools in an IDE.</a:t>
            </a:r>
          </a:p>
        </p:txBody>
      </p:sp>
      <p:sp>
        <p:nvSpPr>
          <p:cNvPr id="12" name="number-4">
            <a:extLst xmlns:a="http://schemas.openxmlformats.org/drawingml/2006/main">
              <a:ext uri="{FF2B5EF4-FFF2-40B4-BE49-F238E27FC236}">
                <a16:creationId xmlns:a16="http://schemas.microsoft.com/office/drawing/2014/main" id="{43B6C4DF-53E7-4684-A2E0-0FBDE1EF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3" name="item-4">
            <a:extLst xmlns:a="http://schemas.openxmlformats.org/drawingml/2006/main">
              <a:ext uri="{FF2B5EF4-FFF2-40B4-BE49-F238E27FC236}">
                <a16:creationId xmlns:a16="http://schemas.microsoft.com/office/drawing/2014/main" id="{B7588F05-DB7C-4321-91CF-115D3867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2917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950932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389AE9BD-4456-44D0-A496-4A715994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3D7E3F66-12BD-4737-B732-CF062507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WORKSHEET STARTER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62E71EDE-630B-477B-8324-3C6B882C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before the experience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089a7ddd394d33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D4CED2EF-8770-4B94-8FF7-8186209C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 / 18</a:t>
            </a:r>
          </a:p>
        </p:txBody>
      </p:sp>
      <p:sp>
        <p:nvSpPr>
          <p:cNvPr id="6" name="worksheet-starter">
            <a:extLst xmlns:a="http://schemas.openxmlformats.org/drawingml/2006/main">
              <a:ext uri="{FF2B5EF4-FFF2-40B4-BE49-F238E27FC236}">
                <a16:creationId xmlns:a16="http://schemas.microsoft.com/office/drawing/2014/main" id="{4CABB616-5B19-458F-ADE4-F0436868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10572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programmer needs to write source code and see its output. Name one tool for each job.</a:t>
            </a:r>
          </a:p>
        </p:txBody>
      </p:sp>
    </p:spTree>
    <p:extLst>
      <p:ext uri="{BB962C8B-B14F-4D97-AF65-F5344CB8AC3E}">
        <p14:creationId xmlns:p14="http://schemas.microsoft.com/office/powerpoint/2010/main" val="20612503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0CE6C1A7-1190-46F6-B558-07CF48F6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1A9E94E-2324-4A21-8E1F-53F06181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42F7C639-9A4F-4B2E-A66B-E7FC7229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sample answers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ece0f983254977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6810CE3C-06F6-401D-921D-2679EFD1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4 / 18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04B18CF0-64CE-463F-A9B8-6A6A21ED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D57E31F4-31D7-4905-A796-BE34CBF2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86000"/>
            <a:ext cx="99250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An editor is used to write the source. A run-time environment executes the program and lets the programmer view its output.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F9E7E19B-3986-45FC-B0B8-7910C783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AA142279-1763-4095-BB35-E7C2790B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9925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92561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08B0042C-2776-4B77-8450-5D698DB3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53158093-4E51-4193-8466-193E324E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WORKSHEET KEY TERMS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18721011-60E3-4A46-ACE7-07BEAB79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 quiz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bfbeba80c4a37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FC27DE5-76DC-4F16-881C-303A1916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5 / 18</a:t>
            </a:r>
          </a:p>
        </p:txBody>
      </p:sp>
      <p:sp>
        <p:nvSpPr>
          <p:cNvPr id="6" name="term-number-0">
            <a:extLst xmlns:a="http://schemas.openxmlformats.org/drawingml/2006/main">
              <a:ext uri="{FF2B5EF4-FFF2-40B4-BE49-F238E27FC236}">
                <a16:creationId xmlns:a16="http://schemas.microsoft.com/office/drawing/2014/main" id="{B76E08EA-1329-4F7D-B904-1FFEF4D2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76475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term-0">
            <a:extLst xmlns:a="http://schemas.openxmlformats.org/drawingml/2006/main">
              <a:ext uri="{FF2B5EF4-FFF2-40B4-BE49-F238E27FC236}">
                <a16:creationId xmlns:a16="http://schemas.microsoft.com/office/drawing/2014/main" id="{072ACAD3-9670-4434-9EBA-05DBFA23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76475"/>
            <a:ext cx="966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IDE</a:t>
            </a:r>
          </a:p>
        </p:txBody>
      </p:sp>
      <p:sp>
        <p:nvSpPr>
          <p:cNvPr id="8" name="term-number-1">
            <a:extLst xmlns:a="http://schemas.openxmlformats.org/drawingml/2006/main">
              <a:ext uri="{FF2B5EF4-FFF2-40B4-BE49-F238E27FC236}">
                <a16:creationId xmlns:a16="http://schemas.microsoft.com/office/drawing/2014/main" id="{A8F18C87-2E1F-4B72-8996-4CD90B50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term-1">
            <a:extLst xmlns:a="http://schemas.openxmlformats.org/drawingml/2006/main">
              <a:ext uri="{FF2B5EF4-FFF2-40B4-BE49-F238E27FC236}">
                <a16:creationId xmlns:a16="http://schemas.microsoft.com/office/drawing/2014/main" id="{1C1C0B9C-20D9-4654-9F28-D51D1DA9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86225"/>
            <a:ext cx="966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Error diagnostics</a:t>
            </a:r>
          </a:p>
        </p:txBody>
      </p:sp>
    </p:spTree>
    <p:extLst>
      <p:ext uri="{BB962C8B-B14F-4D97-AF65-F5344CB8AC3E}">
        <p14:creationId xmlns:p14="http://schemas.microsoft.com/office/powerpoint/2010/main" val="9420321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207CAA27-6A33-4D26-8EEC-DDD6F195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2C8C088F-E4C7-463F-A500-13D69523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1AF3A2E8-08E7-4B52-8CB0-E9EDFA86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terminology: answers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5c7dab27314d05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71FD2F40-F2E4-4894-A4B9-2F16BF1E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6 / 18</a:t>
            </a:r>
          </a:p>
        </p:txBody>
      </p:sp>
      <p:sp>
        <p:nvSpPr>
          <p:cNvPr id="6" name="answer-term-0">
            <a:extLst xmlns:a="http://schemas.openxmlformats.org/drawingml/2006/main">
              <a:ext uri="{FF2B5EF4-FFF2-40B4-BE49-F238E27FC236}">
                <a16:creationId xmlns:a16="http://schemas.microsoft.com/office/drawing/2014/main" id="{C05575DA-F440-47EE-AADE-AE15CCD16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IDE</a:t>
            </a:r>
          </a:p>
        </p:txBody>
      </p:sp>
      <p:sp>
        <p:nvSpPr>
          <p:cNvPr id="7" name="answer-definition-0">
            <a:extLst xmlns:a="http://schemas.openxmlformats.org/drawingml/2006/main">
              <a:ext uri="{FF2B5EF4-FFF2-40B4-BE49-F238E27FC236}">
                <a16:creationId xmlns:a16="http://schemas.microsoft.com/office/drawing/2014/main" id="{C6F926E0-3B0C-455B-B77A-C8974AE3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An integrated development environment combines programming tools in one application.</a:t>
            </a:r>
          </a:p>
        </p:txBody>
      </p:sp>
      <p:sp>
        <p:nvSpPr>
          <p:cNvPr id="8" name="answer-term-1">
            <a:extLst xmlns:a="http://schemas.openxmlformats.org/drawingml/2006/main">
              <a:ext uri="{FF2B5EF4-FFF2-40B4-BE49-F238E27FC236}">
                <a16:creationId xmlns:a16="http://schemas.microsoft.com/office/drawing/2014/main" id="{C9190DB0-181E-4A8A-9E5E-95B19960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338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Error diagnostics</a:t>
            </a:r>
          </a:p>
        </p:txBody>
      </p:sp>
      <p:sp>
        <p:nvSpPr>
          <p:cNvPr id="9" name="answer-definition-1">
            <a:extLst xmlns:a="http://schemas.openxmlformats.org/drawingml/2006/main">
              <a:ext uri="{FF2B5EF4-FFF2-40B4-BE49-F238E27FC236}">
                <a16:creationId xmlns:a16="http://schemas.microsoft.com/office/drawing/2014/main" id="{B865E412-4386-4ED0-B8E9-05D05365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Tools that report detected problems to help a programmer locate and correct them.</a:t>
            </a:r>
          </a:p>
        </p:txBody>
      </p:sp>
    </p:spTree>
    <p:extLst>
      <p:ext uri="{BB962C8B-B14F-4D97-AF65-F5344CB8AC3E}">
        <p14:creationId xmlns:p14="http://schemas.microsoft.com/office/powerpoint/2010/main" val="5443408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24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4BA66B78-BFDC-4298-A4DA-5CB5A770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EDA0D920-036D-4124-8F12-38EB1186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TOPIC 2.5   /   LESSON 04   /   EXPERIENCE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F5191E8A-E142-4BC2-8435-1D8EA13B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Worksheet + experience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80f90adda4ed7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A0A45757-2C05-40D6-9E75-84F5AEC8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7 / 18</a:t>
            </a:r>
          </a:p>
        </p:txBody>
      </p:sp>
      <p:sp>
        <p:nvSpPr>
          <p:cNvPr id="6" name="open-label">
            <a:extLst xmlns:a="http://schemas.openxmlformats.org/drawingml/2006/main">
              <a:ext uri="{FF2B5EF4-FFF2-40B4-BE49-F238E27FC236}">
                <a16:creationId xmlns:a16="http://schemas.microsoft.com/office/drawing/2014/main" id="{3B14933E-F008-4A1E-B920-32134F7F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01   OPEN THE EXPERIENCE NOW</a:t>
            </a:r>
          </a:p>
        </p:txBody>
      </p:sp>
      <p:sp>
        <p:nvSpPr>
          <p:cNvPr id="7" name="open-body">
            <a:extLst xmlns:a="http://schemas.openxmlformats.org/drawingml/2006/main">
              <a:ext uri="{FF2B5EF4-FFF2-40B4-BE49-F238E27FC236}">
                <a16:creationId xmlns:a16="http://schemas.microsoft.com/office/drawing/2014/main" id="{7A71894B-6674-45BD-B430-F339D03A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Open IDE control room in Topic 2.5. Keep the worksheet beside you.</a:t>
            </a:r>
          </a:p>
        </p:txBody>
      </p:sp>
      <p:sp>
        <p:nvSpPr>
          <p:cNvPr id="8" name="station-label">
            <a:extLst xmlns:a="http://schemas.openxmlformats.org/drawingml/2006/main">
              <a:ext uri="{FF2B5EF4-FFF2-40B4-BE49-F238E27FC236}">
                <a16:creationId xmlns:a16="http://schemas.microsoft.com/office/drawing/2014/main" id="{B90E3C20-8F8E-412D-B38A-D521747F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02   SIX STATIONS</a:t>
            </a:r>
          </a:p>
        </p:txBody>
      </p:sp>
      <p:sp>
        <p:nvSpPr>
          <p:cNvPr id="9" name="station-body">
            <a:extLst xmlns:a="http://schemas.openxmlformats.org/drawingml/2006/main">
              <a:ext uri="{FF2B5EF4-FFF2-40B4-BE49-F238E27FC236}">
                <a16:creationId xmlns:a16="http://schemas.microsoft.com/office/drawing/2014/main" id="{B45B51EE-5945-44D5-9C7B-668BC232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10572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At each station, write key facts IN YOUR OWN WORDS. Answer its worksheet challenge before tapping the badge.</a:t>
            </a:r>
          </a:p>
        </p:txBody>
      </p:sp>
      <p:sp>
        <p:nvSpPr>
          <p:cNvPr id="10" name="finish-label">
            <a:extLst xmlns:a="http://schemas.openxmlformats.org/drawingml/2006/main">
              <a:ext uri="{FF2B5EF4-FFF2-40B4-BE49-F238E27FC236}">
                <a16:creationId xmlns:a16="http://schemas.microsoft.com/office/drawing/2014/main" id="{0B3F37C6-3223-43C3-B5C5-0734100D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03   FINAL CHALLENGE</a:t>
            </a:r>
          </a:p>
        </p:txBody>
      </p:sp>
      <p:sp>
        <p:nvSpPr>
          <p:cNvPr id="11" name="finish-body">
            <a:extLst xmlns:a="http://schemas.openxmlformats.org/drawingml/2006/main">
              <a:ext uri="{FF2B5EF4-FFF2-40B4-BE49-F238E27FC236}">
                <a16:creationId xmlns:a16="http://schemas.microsoft.com/office/drawing/2014/main" id="{23A69AAC-E055-45B3-BEBA-D02CB812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Attempt the worksheet final challenge before tapping the star. Record your score, then use review mode to correct mistakes.</a:t>
            </a:r>
          </a:p>
        </p:txBody>
      </p:sp>
      <p:sp>
        <p:nvSpPr>
          <p:cNvPr id="12" name="plenary-label">
            <a:extLst xmlns:a="http://schemas.openxmlformats.org/drawingml/2006/main">
              <a:ext uri="{FF2B5EF4-FFF2-40B4-BE49-F238E27FC236}">
                <a16:creationId xmlns:a16="http://schemas.microsoft.com/office/drawing/2014/main" id="{97D05B46-012B-43E3-B865-D49BCF33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04   PLENARY</a:t>
            </a:r>
          </a:p>
        </p:txBody>
      </p:sp>
      <p:sp>
        <p:nvSpPr>
          <p:cNvPr id="13" name="plenary-body">
            <a:extLst xmlns:a="http://schemas.openxmlformats.org/drawingml/2006/main">
              <a:ext uri="{FF2B5EF4-FFF2-40B4-BE49-F238E27FC236}">
                <a16:creationId xmlns:a16="http://schemas.microsoft.com/office/drawing/2014/main" id="{93D16BC3-41C8-47E2-B0D7-08EC3C3C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Finish the experience in this lesson. Near the end, close it for the plenary knowledge checks.</a:t>
            </a:r>
          </a:p>
        </p:txBody>
      </p:sp>
    </p:spTree>
    <p:extLst>
      <p:ext uri="{BB962C8B-B14F-4D97-AF65-F5344CB8AC3E}">
        <p14:creationId xmlns:p14="http://schemas.microsoft.com/office/powerpoint/2010/main" val="87235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58C536E9-5669-4451-9AAB-579BAC1A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819AAF36-B8DE-4251-8DE6-E6BCCD54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CONSOLIDATION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2722D1D8-2EB7-4550-BC01-C8F4AA1B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400aa8fe304d1d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48D3831D-CA2C-4D2B-8512-1C6B95BF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8 / 18</a:t>
            </a:r>
          </a:p>
        </p:txBody>
      </p:sp>
      <p:sp>
        <p:nvSpPr>
          <p:cNvPr id="6" name="extension-prompt">
            <a:extLst xmlns:a="http://schemas.openxmlformats.org/drawingml/2006/main">
              <a:ext uri="{FF2B5EF4-FFF2-40B4-BE49-F238E27FC236}">
                <a16:creationId xmlns:a16="http://schemas.microsoft.com/office/drawing/2014/main" id="{3D632867-A970-4622-9F75-EC7929A6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19350"/>
            <a:ext cx="105727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In your class IDE, run print("Ready"). Change the message and run it again. Remove the closing bracket, read the diagnostic, then restore it and rerun.</a:t>
            </a:r>
          </a:p>
        </p:txBody>
      </p:sp>
      <p:sp>
        <p:nvSpPr>
          <p:cNvPr id="7" name="extension-follow">
            <a:extLst xmlns:a="http://schemas.openxmlformats.org/drawingml/2006/main">
              <a:ext uri="{FF2B5EF4-FFF2-40B4-BE49-F238E27FC236}">
                <a16:creationId xmlns:a16="http://schemas.microsoft.com/office/drawing/2014/main" id="{0C21F904-CB27-4E5D-A9F7-D13B95D2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Identify the editor, diagnostics, translator and run-time environment you used.</a:t>
            </a:r>
          </a:p>
        </p:txBody>
      </p:sp>
    </p:spTree>
    <p:extLst>
      <p:ext uri="{BB962C8B-B14F-4D97-AF65-F5344CB8AC3E}">
        <p14:creationId xmlns:p14="http://schemas.microsoft.com/office/powerpoint/2010/main" val="7409979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9B263055-5EA4-4302-98FD-2C08B0E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2A5B0DE7-189B-4E0D-AC5D-CF426592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CONSOLIDATION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641086F9-DF63-4768-BF4E-D1F572BC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Check and improve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560f071ab94c71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A14C2577-C6E7-49B9-B106-D65BE85A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9 / 18</a:t>
            </a:r>
          </a:p>
        </p:txBody>
      </p:sp>
      <p:sp>
        <p:nvSpPr>
          <p:cNvPr id="6" name="extension-two">
            <a:extLst xmlns:a="http://schemas.openxmlformats.org/drawingml/2006/main">
              <a:ext uri="{FF2B5EF4-FFF2-40B4-BE49-F238E27FC236}">
                <a16:creationId xmlns:a16="http://schemas.microsoft.com/office/drawing/2014/main" id="{29844E22-D648-40A0-BC22-276A81AE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76525"/>
            <a:ext cx="1062037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Use review mode to correct any mistakes. Write one correction and explain why the right answer fits. Then move on to the plenary knowledge checks.</a:t>
            </a:r>
          </a:p>
        </p:txBody>
      </p:sp>
    </p:spTree>
    <p:extLst>
      <p:ext uri="{BB962C8B-B14F-4D97-AF65-F5344CB8AC3E}">
        <p14:creationId xmlns:p14="http://schemas.microsoft.com/office/powerpoint/2010/main" val="16106681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078803E9-413E-4B42-B661-1890FAB9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FF0305E1-8E4B-4FE7-9B7B-B01E262E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571FFA7C-71E3-407E-A084-8AAA8734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stronger explanation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8ac4828d44695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5BD4D03-162B-45A5-AA28-72FD38F4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10 / 18</a:t>
            </a:r>
          </a:p>
        </p:txBody>
      </p:sp>
      <p:sp>
        <p:nvSpPr>
          <p:cNvPr id="6" name="extension-check">
            <a:extLst xmlns:a="http://schemas.openxmlformats.org/drawingml/2006/main">
              <a:ext uri="{FF2B5EF4-FFF2-40B4-BE49-F238E27FC236}">
                <a16:creationId xmlns:a16="http://schemas.microsoft.com/office/drawing/2014/main" id="{06547FB7-89E1-430C-BA4E-A0059FB7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Compare your reasoning, then improve one sentence on your worksheet.</a:t>
            </a:r>
          </a:p>
        </p:txBody>
      </p:sp>
      <p:sp>
        <p:nvSpPr>
          <p:cNvPr id="7" name="answer-application">
            <a:extLst xmlns:a="http://schemas.openxmlformats.org/drawingml/2006/main">
              <a:ext uri="{FF2B5EF4-FFF2-40B4-BE49-F238E27FC236}">
                <a16:creationId xmlns:a16="http://schemas.microsoft.com/office/drawing/2014/main" id="{7F1A9A78-A783-4735-9B4E-2787A5EE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Using your class IDE</a:t>
            </a:r>
          </a:p>
        </p:txBody>
      </p:sp>
      <p:sp>
        <p:nvSpPr>
          <p:cNvPr id="8" name="answer-application-body">
            <a:extLst xmlns:a="http://schemas.openxmlformats.org/drawingml/2006/main">
              <a:ext uri="{FF2B5EF4-FFF2-40B4-BE49-F238E27FC236}">
                <a16:creationId xmlns:a16="http://schemas.microsoft.com/office/drawing/2014/main" id="{28087EFB-17A1-4A2B-B86E-2733BD05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104775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Use the editor to change the source. Use the run-time environment to execute it and view the new message.</a:t>
            </a:r>
          </a:p>
        </p:txBody>
      </p:sp>
      <p:sp>
        <p:nvSpPr>
          <p:cNvPr id="9" name="answer-stretch">
            <a:extLst xmlns:a="http://schemas.openxmlformats.org/drawingml/2006/main">
              <a:ext uri="{FF2B5EF4-FFF2-40B4-BE49-F238E27FC236}">
                <a16:creationId xmlns:a16="http://schemas.microsoft.com/office/drawing/2014/main" id="{5A018C42-6685-447F-818E-7126648E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29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Review and explain</a:t>
            </a:r>
          </a:p>
        </p:txBody>
      </p:sp>
      <p:sp>
        <p:nvSpPr>
          <p:cNvPr id="10" name="answer-stretch-body">
            <a:extLst xmlns:a="http://schemas.openxmlformats.org/drawingml/2006/main">
              <a:ext uri="{FF2B5EF4-FFF2-40B4-BE49-F238E27FC236}">
                <a16:creationId xmlns:a16="http://schemas.microsoft.com/office/drawing/2014/main" id="{0C0236B0-96D2-4CB9-BE2E-068D8FFE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1047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Your correction should name the correct idea and explain why it fits the question. Use the experience feedback to check it.</a:t>
            </a:r>
          </a:p>
        </p:txBody>
      </p:sp>
    </p:spTree>
    <p:extLst>
      <p:ext uri="{BB962C8B-B14F-4D97-AF65-F5344CB8AC3E}">
        <p14:creationId xmlns:p14="http://schemas.microsoft.com/office/powerpoint/2010/main" val="10771968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7EF7E645-4366-476F-A5B1-90C7C70A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159341AF-F465-4757-AC09-3A0C4AF7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ANSWERS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5EBF8C94-893F-4F9B-8993-606E888E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1–3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42aeb6b4b5499d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9E93BEC9-DC57-4892-87B7-6699B7FB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11 / 18</a:t>
            </a:r>
          </a:p>
        </p:txBody>
      </p:sp>
      <p:sp>
        <p:nvSpPr>
          <p:cNvPr id="6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51C9C7E2-F4F1-420D-88E1-62F2A7BC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your key facts and challenge responses.</a:t>
            </a:r>
          </a:p>
        </p:txBody>
      </p:sp>
      <p:sp>
        <p:nvSpPr>
          <p:cNvPr id="7" name="station-name-0">
            <a:extLst xmlns:a="http://schemas.openxmlformats.org/drawingml/2006/main">
              <a:ext uri="{FF2B5EF4-FFF2-40B4-BE49-F238E27FC236}">
                <a16:creationId xmlns:a16="http://schemas.microsoft.com/office/drawing/2014/main" id="{D616DF12-F12D-4F89-BE2A-F5A3C233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  Tools in one place</a:t>
            </a:r>
          </a:p>
        </p:txBody>
      </p:sp>
      <p:sp>
        <p:nvSpPr>
          <p:cNvPr id="8" name="station-answer-0">
            <a:extLst xmlns:a="http://schemas.openxmlformats.org/drawingml/2006/main">
              <a:ext uri="{FF2B5EF4-FFF2-40B4-BE49-F238E27FC236}">
                <a16:creationId xmlns:a16="http://schemas.microsoft.com/office/drawing/2014/main" id="{F6BEAF51-6593-4158-B949-6DCAF3DF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It brings tools for editing, diagnosing errors, translating and running together in one application.</a:t>
            </a:r>
          </a:p>
        </p:txBody>
      </p:sp>
      <p:sp>
        <p:nvSpPr>
          <p:cNvPr id="9" name="station-name-1">
            <a:extLst xmlns:a="http://schemas.openxmlformats.org/drawingml/2006/main">
              <a:ext uri="{FF2B5EF4-FFF2-40B4-BE49-F238E27FC236}">
                <a16:creationId xmlns:a16="http://schemas.microsoft.com/office/drawing/2014/main" id="{1C2437BA-61EC-4CC1-A291-672A28BC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  Writing source code</a:t>
            </a:r>
          </a:p>
        </p:txBody>
      </p:sp>
      <p:sp>
        <p:nvSpPr>
          <p:cNvPr id="10" name="station-answer-1">
            <a:extLst xmlns:a="http://schemas.openxmlformats.org/drawingml/2006/main">
              <a:ext uri="{FF2B5EF4-FFF2-40B4-BE49-F238E27FC236}">
                <a16:creationId xmlns:a16="http://schemas.microsoft.com/office/drawing/2014/main" id="{2AD176F9-D05F-473B-8386-F181E623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It can reduce typing errors in suggested names, but the programmer can still select the wrong name or write the wrong logic.</a:t>
            </a:r>
          </a:p>
        </p:txBody>
      </p:sp>
      <p:sp>
        <p:nvSpPr>
          <p:cNvPr id="11" name="station-name-2">
            <a:extLst xmlns:a="http://schemas.openxmlformats.org/drawingml/2006/main">
              <a:ext uri="{FF2B5EF4-FFF2-40B4-BE49-F238E27FC236}">
                <a16:creationId xmlns:a16="http://schemas.microsoft.com/office/drawing/2014/main" id="{D795BB1C-F6B4-4C53-AB97-8133E250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  The run-time environment</a:t>
            </a:r>
          </a:p>
        </p:txBody>
      </p:sp>
      <p:sp>
        <p:nvSpPr>
          <p:cNvPr id="12" name="station-answer-2">
            <a:extLst xmlns:a="http://schemas.openxmlformats.org/drawingml/2006/main">
              <a:ext uri="{FF2B5EF4-FFF2-40B4-BE49-F238E27FC236}">
                <a16:creationId xmlns:a16="http://schemas.microsoft.com/office/drawing/2014/main" id="{36B68946-29BE-4832-BBD8-102C229E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editor contains the source being written. The output area shows what happens when the program runs.</a:t>
            </a:r>
          </a:p>
        </p:txBody>
      </p:sp>
    </p:spTree>
    <p:extLst>
      <p:ext uri="{BB962C8B-B14F-4D97-AF65-F5344CB8AC3E}">
        <p14:creationId xmlns:p14="http://schemas.microsoft.com/office/powerpoint/2010/main" val="8535944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E51900B3-0610-4E01-90E0-77DC6FF3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B0525AC8-4A6A-4190-909D-B5EB30CD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ANSWERS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7AFF9494-BEC4-4AEA-BD48-105C969A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4–6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db8d64b8b49f4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28FF5AE6-5314-4952-A1CD-C9E9FC07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12 / 18</a:t>
            </a:r>
          </a:p>
        </p:txBody>
      </p:sp>
      <p:sp>
        <p:nvSpPr>
          <p:cNvPr id="6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478BE9EE-4B04-4078-A860-876FCD86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your key facts and challenge responses.</a:t>
            </a:r>
          </a:p>
        </p:txBody>
      </p:sp>
      <p:sp>
        <p:nvSpPr>
          <p:cNvPr id="7" name="station-name-3">
            <a:extLst xmlns:a="http://schemas.openxmlformats.org/drawingml/2006/main">
              <a:ext uri="{FF2B5EF4-FFF2-40B4-BE49-F238E27FC236}">
                <a16:creationId xmlns:a16="http://schemas.microsoft.com/office/drawing/2014/main" id="{0F0EBA09-E83B-415E-AD99-3550F935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  Diagnostic messages</a:t>
            </a:r>
          </a:p>
        </p:txBody>
      </p:sp>
      <p:sp>
        <p:nvSpPr>
          <p:cNvPr id="8" name="station-answer-3">
            <a:extLst xmlns:a="http://schemas.openxmlformats.org/drawingml/2006/main">
              <a:ext uri="{FF2B5EF4-FFF2-40B4-BE49-F238E27FC236}">
                <a16:creationId xmlns:a16="http://schemas.microsoft.com/office/drawing/2014/main" id="{8D150509-4F43-452B-BA18-B4451906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An earlier missing bracket or other error may only become apparent when the tool reaches the next line.</a:t>
            </a:r>
          </a:p>
        </p:txBody>
      </p:sp>
      <p:sp>
        <p:nvSpPr>
          <p:cNvPr id="9" name="station-name-4">
            <a:extLst xmlns:a="http://schemas.openxmlformats.org/drawingml/2006/main">
              <a:ext uri="{FF2B5EF4-FFF2-40B4-BE49-F238E27FC236}">
                <a16:creationId xmlns:a16="http://schemas.microsoft.com/office/drawing/2014/main" id="{F40CAFDA-7B28-4DDD-97A6-7FEB15E5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5  Translators in an IDE</a:t>
            </a:r>
          </a:p>
        </p:txBody>
      </p:sp>
      <p:sp>
        <p:nvSpPr>
          <p:cNvPr id="10" name="station-answer-4">
            <a:extLst xmlns:a="http://schemas.openxmlformats.org/drawingml/2006/main">
              <a:ext uri="{FF2B5EF4-FFF2-40B4-BE49-F238E27FC236}">
                <a16:creationId xmlns:a16="http://schemas.microsoft.com/office/drawing/2014/main" id="{DF6939EB-FAE7-4750-B799-6DB46BA8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CPU cannot execute high-level source directly. The translator enables the instructions to be executed.</a:t>
            </a:r>
          </a:p>
        </p:txBody>
      </p:sp>
      <p:sp>
        <p:nvSpPr>
          <p:cNvPr id="11" name="station-name-5">
            <a:extLst xmlns:a="http://schemas.openxmlformats.org/drawingml/2006/main">
              <a:ext uri="{FF2B5EF4-FFF2-40B4-BE49-F238E27FC236}">
                <a16:creationId xmlns:a16="http://schemas.microsoft.com/office/drawing/2014/main" id="{1F7890C8-2979-416E-AA29-BEE1AB3B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6  Using your class IDE</a:t>
            </a:r>
          </a:p>
        </p:txBody>
      </p:sp>
      <p:sp>
        <p:nvSpPr>
          <p:cNvPr id="12" name="station-answer-5">
            <a:extLst xmlns:a="http://schemas.openxmlformats.org/drawingml/2006/main">
              <a:ext uri="{FF2B5EF4-FFF2-40B4-BE49-F238E27FC236}">
                <a16:creationId xmlns:a16="http://schemas.microsoft.com/office/drawing/2014/main" id="{07216969-988D-4AF8-B64A-611D4169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Use the editor to change the source. Use the run-time environment to execute it and view the new message.</a:t>
            </a:r>
          </a:p>
        </p:txBody>
      </p:sp>
    </p:spTree>
    <p:extLst>
      <p:ext uri="{BB962C8B-B14F-4D97-AF65-F5344CB8AC3E}">
        <p14:creationId xmlns:p14="http://schemas.microsoft.com/office/powerpoint/2010/main" val="80697766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4782CCF1-F8AC-4963-BE7C-39F589EC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DA98E84-19B5-4128-9F22-3EF63F2A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3D092674-2E5F-4365-B13E-1BCD7239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Final challenge: answers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768bb85e1c4c78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371B726-81B4-4823-AF8C-B2AEE4C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13 / 18</a:t>
            </a:r>
          </a:p>
        </p:txBody>
      </p:sp>
      <p:sp>
        <p:nvSpPr>
          <p:cNvPr id="6" name="star-key">
            <a:extLst xmlns:a="http://schemas.openxmlformats.org/drawingml/2006/main">
              <a:ext uri="{FF2B5EF4-FFF2-40B4-BE49-F238E27FC236}">
                <a16:creationId xmlns:a16="http://schemas.microsoft.com/office/drawing/2014/main" id="{4E2C5E58-B348-4B06-A627-247270C0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your choices and the reasons you gave.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D13603A8-78DC-40B6-A8F6-04D146FD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05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8" name="item-1">
            <a:extLst xmlns:a="http://schemas.openxmlformats.org/drawingml/2006/main">
              <a:ext uri="{FF2B5EF4-FFF2-40B4-BE49-F238E27FC236}">
                <a16:creationId xmlns:a16="http://schemas.microsoft.com/office/drawing/2014/main" id="{DA3F8A68-07AA-4136-A4C5-7B3C68E6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43125"/>
            <a:ext cx="99250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Change the source text: Editor. Read a reported error: Error diagnostics. Translate source instructions: Translator. Run the program and see output: Run-time environment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Run-time environment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D63D0CFC-FB29-4A55-9634-1938AE0C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0" name="item-2">
            <a:extLst xmlns:a="http://schemas.openxmlformats.org/drawingml/2006/main">
              <a:ext uri="{FF2B5EF4-FFF2-40B4-BE49-F238E27FC236}">
                <a16:creationId xmlns:a16="http://schemas.microsoft.com/office/drawing/2014/main" id="{1AF0E8F5-58C1-4699-8D32-68538ACE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432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64A6377B-270D-4D04-B61F-A116A4C0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81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2" name="item-3">
            <a:extLst xmlns:a="http://schemas.openxmlformats.org/drawingml/2006/main">
              <a:ext uri="{FF2B5EF4-FFF2-40B4-BE49-F238E27FC236}">
                <a16:creationId xmlns:a16="http://schemas.microsoft.com/office/drawing/2014/main" id="{B2168BAC-D34D-4D09-BD22-C3074326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8137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3" name="number-4">
            <a:extLst xmlns:a="http://schemas.openxmlformats.org/drawingml/2006/main">
              <a:ext uri="{FF2B5EF4-FFF2-40B4-BE49-F238E27FC236}">
                <a16:creationId xmlns:a16="http://schemas.microsoft.com/office/drawing/2014/main" id="{DAD3008D-DBDD-4EB1-B9E0-42941BDA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4" name="item-4">
            <a:extLst xmlns:a="http://schemas.openxmlformats.org/drawingml/2006/main">
              <a:ext uri="{FF2B5EF4-FFF2-40B4-BE49-F238E27FC236}">
                <a16:creationId xmlns:a16="http://schemas.microsoft.com/office/drawing/2014/main" id="{072DFA35-D5B3-464A-85A9-266225B7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5" name="number-5">
            <a:extLst xmlns:a="http://schemas.openxmlformats.org/drawingml/2006/main">
              <a:ext uri="{FF2B5EF4-FFF2-40B4-BE49-F238E27FC236}">
                <a16:creationId xmlns:a16="http://schemas.microsoft.com/office/drawing/2014/main" id="{03F791EC-5D9B-433E-96F6-EF44C17A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577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6" name="item-5">
            <a:extLst xmlns:a="http://schemas.openxmlformats.org/drawingml/2006/main">
              <a:ext uri="{FF2B5EF4-FFF2-40B4-BE49-F238E27FC236}">
                <a16:creationId xmlns:a16="http://schemas.microsoft.com/office/drawing/2014/main" id="{11146F44-2CCE-4536-BF13-60F44AE2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5772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7" name="number-6">
            <a:extLst xmlns:a="http://schemas.openxmlformats.org/drawingml/2006/main">
              <a:ext uri="{FF2B5EF4-FFF2-40B4-BE49-F238E27FC236}">
                <a16:creationId xmlns:a16="http://schemas.microsoft.com/office/drawing/2014/main" id="{738F10DC-3C3F-4622-9638-0CD9ADB1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959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8" name="item-6">
            <a:extLst xmlns:a="http://schemas.openxmlformats.org/drawingml/2006/main">
              <a:ext uri="{FF2B5EF4-FFF2-40B4-BE49-F238E27FC236}">
                <a16:creationId xmlns:a16="http://schemas.microsoft.com/office/drawing/2014/main" id="{B4AC7286-B492-4B59-A29F-AA4F10A9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959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2917826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40BB8106-766C-4D11-B62C-A315B1DC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E93FE83-8B7D-4ED0-A507-D6DF7BF8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PLENARY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2FAFAE26-D488-4C37-A08D-D8E5A9D0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questions (a–b)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a3c86d13604a8b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3F7FA607-A51E-4EFD-8772-BFCA4D0A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14 / 18</a:t>
            </a:r>
          </a:p>
        </p:txBody>
      </p:sp>
      <p:sp>
        <p:nvSpPr>
          <p:cNvPr id="6" name="plenary-instruction">
            <a:extLst xmlns:a="http://schemas.openxmlformats.org/drawingml/2006/main">
              <a:ext uri="{FF2B5EF4-FFF2-40B4-BE49-F238E27FC236}">
                <a16:creationId xmlns:a16="http://schemas.microsoft.com/office/drawing/2014/main" id="{4DD4F8FC-DBBD-4F52-8BC4-1F8B4C27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71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Take the headset off or close the page. Answer from memory on the worksheet.</a:t>
            </a:r>
          </a:p>
        </p:txBody>
      </p:sp>
      <p:sp>
        <p:nvSpPr>
          <p:cNvPr id="7" name="a">
            <a:extLst xmlns:a="http://schemas.openxmlformats.org/drawingml/2006/main">
              <a:ext uri="{FF2B5EF4-FFF2-40B4-BE49-F238E27FC236}">
                <a16:creationId xmlns:a16="http://schemas.microsoft.com/office/drawing/2014/main" id="{9C6FAEDB-072B-436C-AA9C-D5832563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5812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a)</a:t>
            </a:r>
          </a:p>
        </p:txBody>
      </p:sp>
      <p:sp>
        <p:nvSpPr>
          <p:cNvPr id="8" name="question-a">
            <a:extLst xmlns:a="http://schemas.openxmlformats.org/drawingml/2006/main">
              <a:ext uri="{FF2B5EF4-FFF2-40B4-BE49-F238E27FC236}">
                <a16:creationId xmlns:a16="http://schemas.microsoft.com/office/drawing/2014/main" id="{6B2BF4EA-272A-415D-B46E-43EF0DF1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581275"/>
            <a:ext cx="994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Name two IDE editing facilities and explain how each helps a programmer. [4]</a:t>
            </a:r>
          </a:p>
        </p:txBody>
      </p:sp>
      <p:sp>
        <p:nvSpPr>
          <p:cNvPr id="9" name="b">
            <a:extLst xmlns:a="http://schemas.openxmlformats.org/drawingml/2006/main">
              <a:ext uri="{FF2B5EF4-FFF2-40B4-BE49-F238E27FC236}">
                <a16:creationId xmlns:a16="http://schemas.microsoft.com/office/drawing/2014/main" id="{9509E02A-7E28-413B-8372-24604E28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43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b)</a:t>
            </a:r>
          </a:p>
        </p:txBody>
      </p:sp>
      <p:sp>
        <p:nvSpPr>
          <p:cNvPr id="10" name="question-b">
            <a:extLst xmlns:a="http://schemas.openxmlformats.org/drawingml/2006/main">
              <a:ext uri="{FF2B5EF4-FFF2-40B4-BE49-F238E27FC236}">
                <a16:creationId xmlns:a16="http://schemas.microsoft.com/office/drawing/2014/main" id="{EA1267F7-E672-4AB5-8CC0-CE07B620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43375"/>
            <a:ext cx="9944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how an error diagnostic helps a programmer correct a problem. [2]</a:t>
            </a:r>
          </a:p>
        </p:txBody>
      </p:sp>
    </p:spTree>
    <p:extLst>
      <p:ext uri="{BB962C8B-B14F-4D97-AF65-F5344CB8AC3E}">
        <p14:creationId xmlns:p14="http://schemas.microsoft.com/office/powerpoint/2010/main" val="16794007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5F1F2C14-4C50-48A4-9B67-A997A262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DDB8B4A9-62FC-49C3-9E8B-2D9186155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PLENARY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8C7269B5-94FA-4086-8755-DE73995D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question (c)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a8ca6159dd46d3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A9C331FB-3C6F-4EEC-BBEB-57203449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15 / 18</a:t>
            </a:r>
          </a:p>
        </p:txBody>
      </p:sp>
      <p:sp>
        <p:nvSpPr>
          <p:cNvPr id="6" name="from-memory">
            <a:extLst xmlns:a="http://schemas.openxmlformats.org/drawingml/2006/main">
              <a:ext uri="{FF2B5EF4-FFF2-40B4-BE49-F238E27FC236}">
                <a16:creationId xmlns:a16="http://schemas.microsoft.com/office/drawing/2014/main" id="{BDF8659F-4B53-45A1-96E8-35452E8F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10715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Keep the experience closed. Explain your reasoning in full sentences.</a:t>
            </a:r>
          </a:p>
        </p:txBody>
      </p:sp>
      <p:sp>
        <p:nvSpPr>
          <p:cNvPr id="7" name="c">
            <a:extLst xmlns:a="http://schemas.openxmlformats.org/drawingml/2006/main">
              <a:ext uri="{FF2B5EF4-FFF2-40B4-BE49-F238E27FC236}">
                <a16:creationId xmlns:a16="http://schemas.microsoft.com/office/drawing/2014/main" id="{629CF0F4-E195-43D7-9CCA-D8090133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81300"/>
            <a:ext cx="6096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c)</a:t>
            </a:r>
          </a:p>
        </p:txBody>
      </p:sp>
      <p:sp>
        <p:nvSpPr>
          <p:cNvPr id="8" name="question-c">
            <a:extLst xmlns:a="http://schemas.openxmlformats.org/drawingml/2006/main">
              <a:ext uri="{FF2B5EF4-FFF2-40B4-BE49-F238E27FC236}">
                <a16:creationId xmlns:a16="http://schemas.microsoft.com/office/drawing/2014/main" id="{2397C953-3257-449B-B101-570ACDF6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81300"/>
            <a:ext cx="98679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the roles of a translator and a run-time environment in an IDE. [4]</a:t>
            </a:r>
          </a:p>
        </p:txBody>
      </p:sp>
      <p:sp>
        <p:nvSpPr>
          <p:cNvPr id="9" name="marks">
            <a:extLst xmlns:a="http://schemas.openxmlformats.org/drawingml/2006/main">
              <a:ext uri="{FF2B5EF4-FFF2-40B4-BE49-F238E27FC236}">
                <a16:creationId xmlns:a16="http://schemas.microsoft.com/office/drawing/2014/main" id="{B5E43C45-0F63-4BF1-AFCD-45A804E5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438775"/>
            <a:ext cx="1047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marks in brackets to judge how much detail to include.</a:t>
            </a:r>
          </a:p>
        </p:txBody>
      </p:sp>
    </p:spTree>
    <p:extLst>
      <p:ext uri="{BB962C8B-B14F-4D97-AF65-F5344CB8AC3E}">
        <p14:creationId xmlns:p14="http://schemas.microsoft.com/office/powerpoint/2010/main" val="7475317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69886798-8F0F-4B54-BAEC-A0540120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D6D98F3-B670-4101-B9A9-2184D5A6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16C64587-B8D3-44DA-8AA8-1AB5AE6D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answers (a–b)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0906073de948eb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9EEFA3B3-6527-4E2D-9FE8-B1783E9B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16 / 18</a:t>
            </a:r>
          </a:p>
        </p:txBody>
      </p:sp>
      <p:sp>
        <p:nvSpPr>
          <p:cNvPr id="6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910FB56C-D13F-443C-831C-7EB54AF5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points. Credit accurate answers in students’ own words.</a:t>
            </a:r>
          </a:p>
        </p:txBody>
      </p:sp>
      <p:sp>
        <p:nvSpPr>
          <p:cNvPr id="7" name="scheme-a">
            <a:extLst xmlns:a="http://schemas.openxmlformats.org/drawingml/2006/main">
              <a:ext uri="{FF2B5EF4-FFF2-40B4-BE49-F238E27FC236}">
                <a16:creationId xmlns:a16="http://schemas.microsoft.com/office/drawing/2014/main" id="{41502BD5-C47A-4406-827D-A550F44A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33625"/>
            <a:ext cx="10572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 Syntax highlighting makes code elements easier to distinguish. Auto-completion suggests names and can reduce typing errors. Award one mark for each facility and one for its explained benefit. Automatic indentation with a clear benefit is also acceptable.</a:t>
            </a:r>
          </a:p>
        </p:txBody>
      </p:sp>
      <p:sp>
        <p:nvSpPr>
          <p:cNvPr id="8" name="scheme-b">
            <a:extLst xmlns:a="http://schemas.openxmlformats.org/drawingml/2006/main">
              <a:ext uri="{FF2B5EF4-FFF2-40B4-BE49-F238E27FC236}">
                <a16:creationId xmlns:a16="http://schemas.microsoft.com/office/drawing/2014/main" id="{4030A590-8409-4747-8A49-22010C81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10572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  It can identify a location and describe the detected problem. The programmer can use this information to find and correct the source.</a:t>
            </a:r>
          </a:p>
        </p:txBody>
      </p:sp>
    </p:spTree>
    <p:extLst>
      <p:ext uri="{BB962C8B-B14F-4D97-AF65-F5344CB8AC3E}">
        <p14:creationId xmlns:p14="http://schemas.microsoft.com/office/powerpoint/2010/main" val="14462437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E0081A4B-6AC1-4816-AF79-691B19F4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8160FA52-8505-4663-AF29-746E3C6A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E723C30E-7C0B-4663-9CFD-AEBB0B68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answer (c)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591b38457b45e6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BFCDE95E-15E9-4DFC-BCC0-8290133C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17 / 18</a:t>
            </a:r>
          </a:p>
        </p:txBody>
      </p:sp>
      <p:sp>
        <p:nvSpPr>
          <p:cNvPr id="6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367C08AF-7243-4EE2-AFA0-1DBD0A7C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715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 for the final question.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C971BC91-2C30-4670-9E94-EB7BAD54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8" name="item-1">
            <a:extLst xmlns:a="http://schemas.openxmlformats.org/drawingml/2006/main">
              <a:ext uri="{FF2B5EF4-FFF2-40B4-BE49-F238E27FC236}">
                <a16:creationId xmlns:a16="http://schemas.microsoft.com/office/drawing/2014/main" id="{38BA7518-F976-4AA8-9FBD-9CA4E93E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860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translator processes high-level source instructions.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4CE5C16C-95D9-4554-BC9D-0CB5CA0D0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10" name="item-2">
            <a:extLst xmlns:a="http://schemas.openxmlformats.org/drawingml/2006/main">
              <a:ext uri="{FF2B5EF4-FFF2-40B4-BE49-F238E27FC236}">
                <a16:creationId xmlns:a16="http://schemas.microsoft.com/office/drawing/2014/main" id="{C4346348-B81F-437B-A07E-C9085E2A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909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This enables instructions the CPU cannot execute directly to be executed.</a:t>
            </a: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DBDD63D3-A34B-4614-BC00-7470B22F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2" name="item-3">
            <a:extLst xmlns:a="http://schemas.openxmlformats.org/drawingml/2006/main">
              <a:ext uri="{FF2B5EF4-FFF2-40B4-BE49-F238E27FC236}">
                <a16:creationId xmlns:a16="http://schemas.microsoft.com/office/drawing/2014/main" id="{AAD983A1-375A-4785-BE52-216AFD70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958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run-time environment runs the program. It lets the programmer observe output and interact with the running program.</a:t>
            </a:r>
          </a:p>
        </p:txBody>
      </p:sp>
    </p:spTree>
    <p:extLst>
      <p:ext uri="{BB962C8B-B14F-4D97-AF65-F5344CB8AC3E}">
        <p14:creationId xmlns:p14="http://schemas.microsoft.com/office/powerpoint/2010/main" val="58965231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A368A0EC-80FD-4672-B2B2-DBDF6094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94A4DF14-4035-4380-8761-948455E2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04   /   SELF-CHECK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86131C61-4DE8-4ADA-AA38-AF5838A8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How confident am I?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a673005c84481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6D9F0318-AD5A-451A-9E2A-0B42908D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18 / 18</a:t>
            </a:r>
          </a:p>
        </p:txBody>
      </p:sp>
      <p:sp>
        <p:nvSpPr>
          <p:cNvPr id="6" name="confidence-instruction">
            <a:extLst xmlns:a="http://schemas.openxmlformats.org/drawingml/2006/main">
              <a:ext uri="{FF2B5EF4-FFF2-40B4-BE49-F238E27FC236}">
                <a16:creationId xmlns:a16="http://schemas.microsoft.com/office/drawing/2014/main" id="{21CCFCB5-9EEF-4D0C-ACC8-C2D3D4C2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10477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On the worksheet, select Not yet, Getting there or Confident for each objective.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1445CA78-BAE2-4623-A518-59C7169A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8" name="item-1">
            <a:extLst xmlns:a="http://schemas.openxmlformats.org/drawingml/2006/main">
              <a:ext uri="{FF2B5EF4-FFF2-40B4-BE49-F238E27FC236}">
                <a16:creationId xmlns:a16="http://schemas.microsoft.com/office/drawing/2014/main" id="{B9CB63FA-CF41-41AC-AAF6-A489CFF3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1460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Identify the four main IDE facilities.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BF24F2CF-D0BF-433B-A4BD-27BA2030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432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10" name="item-2">
            <a:extLst xmlns:a="http://schemas.openxmlformats.org/drawingml/2006/main">
              <a:ext uri="{FF2B5EF4-FFF2-40B4-BE49-F238E27FC236}">
                <a16:creationId xmlns:a16="http://schemas.microsoft.com/office/drawing/2014/main" id="{2EBB092A-60CB-4087-9DD4-5443676B6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43275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how each facility supports programming.</a:t>
            </a: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43B035FB-801C-4E05-87F1-800820CE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2" name="item-3">
            <a:extLst xmlns:a="http://schemas.openxmlformats.org/drawingml/2006/main">
              <a:ext uri="{FF2B5EF4-FFF2-40B4-BE49-F238E27FC236}">
                <a16:creationId xmlns:a16="http://schemas.microsoft.com/office/drawing/2014/main" id="{02E48C22-31AC-4A31-87AE-D3A00B3F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Use editing, diagnostics and execution tools in an IDE.</a:t>
            </a:r>
          </a:p>
        </p:txBody>
      </p:sp>
      <p:sp>
        <p:nvSpPr>
          <p:cNvPr id="13" name="number-4">
            <a:extLst xmlns:a="http://schemas.openxmlformats.org/drawingml/2006/main">
              <a:ext uri="{FF2B5EF4-FFF2-40B4-BE49-F238E27FC236}">
                <a16:creationId xmlns:a16="http://schemas.microsoft.com/office/drawing/2014/main" id="{CE4EAE46-F751-4F69-9E68-CFF078A9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006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4" name="item-4">
            <a:extLst xmlns:a="http://schemas.openxmlformats.org/drawingml/2006/main">
              <a:ext uri="{FF2B5EF4-FFF2-40B4-BE49-F238E27FC236}">
                <a16:creationId xmlns:a16="http://schemas.microsoft.com/office/drawing/2014/main" id="{F71661C6-7DB3-4EC1-B1E5-D88C7A61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00625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799295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2026-09-26T09:25:12.9070000Z</dcterms:created>
  <dcterms:modified xsi:type="dcterms:W3CDTF">2026-09-26T09:25:12.9070000Z</dcterms:modified>
</coreProperties>
</file>