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3: Circuit workshop.
Open the experience at revise360.co.uk and hand out BL_L03_CircuitWorkshop_Worksheet.docx.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objectives, then go straight into the starter. Devices stay away for the first five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Silent start. Take two or three answers before moving on: this is where misconceptions surface.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 on writing before tapping. That single rule is the difference between revision and a quiz game.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1: From words to logic.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2: Scenario 1: the shop alarm.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3: Scenario 2: the hospital lift.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4: Scenario 3: the greenhouse.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5: Editing a diagram.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Station 6: Reading diagrams. Students read this wall in the experience, write the key fact and the challenge answer, then answer the questions at the badge.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answer is D: When at least one door is open, and the lift is either moving or overloaded.
Do not say it yet. Every pupil commits first - fingers, whiteboards or a show of hands on each letter in turn - and you count the split before anyone can change their mind.
IF MOST OF THE CLASS IS RIGHT: say why it is right in one sentence and go straight on to the independent work.
IF A SIGNIFICANT GROUP IS ON ONE WRONG LETTER: that option is the misconception to teach against before anyone goes on. Go back to station 3, Scenario 2: the hospital lift, and work through its example again, aloud, with the class watching, then re-ask this question.
The course's own response to a wrong answer here: Both OR gates must output 1.
A limitation, stated rather than papered over: one response covers every wrong option; it does not say what to revisit for each one. The course does not record what each separate wrong option means, and this slide does not invent it. Decide your own reteach for each option before the lesson; the options above are the start of it.
This is a real activity from the experience (bl-l03-s3-c2), so the wording here is the wording a pupil will see.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Make them commit to an answer on paper before they tap the star. Guessing first costs them the learning.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these as a settler, or as something for early finishers to read in the experience.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Timed and silent. Mark against the answer sheet, then ask students to record their weakest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copy their score-screen breakdown onto the worksheet, then rate themselves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01828"/>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822960" y="1417320"/>
            <a:ext cx="10515600" cy="411480"/>
          </a:xfrm>
          <a:prstGeom prst="rect">
            <a:avLst/>
          </a:prstGeom>
          <a:noFill/>
          <a:ln/>
        </p:spPr>
        <p:txBody>
          <a:bodyPr wrap="square" lIns="0" tIns="0" rIns="0" bIns="0" rtlCol="0" anchor="ctr"/>
          <a:lstStyle/>
          <a:p>
            <a:pPr indent="0" marL="0">
              <a:buNone/>
            </a:pPr>
            <a:r>
              <a:rPr lang="en-US" sz="1500" dirty="0">
                <a:solidFill>
                  <a:srgbClr val="F4B942"/>
                </a:solidFill>
                <a:latin typeface="IBM Plex Mono" pitchFamily="34" charset="0"/>
                <a:ea typeface="IBM Plex Mono" pitchFamily="34" charset="-122"/>
                <a:cs typeface="IBM Plex Mono" pitchFamily="34" charset="-120"/>
              </a:rPr>
              <a:t>2.4 Boolean logic  |  Lesson 3</a:t>
            </a:r>
            <a:endParaRPr lang="en-US" sz="1500" dirty="0"/>
          </a:p>
        </p:txBody>
      </p:sp>
      <p:sp>
        <p:nvSpPr>
          <p:cNvPr id="4" name="Text 2"/>
          <p:cNvSpPr txBox="1"/>
          <p:nvPr/>
        </p:nvSpPr>
        <p:spPr>
          <a:xfrm>
            <a:off x="822960" y="1920240"/>
            <a:ext cx="10515600" cy="1280160"/>
          </a:xfrm>
          <a:prstGeom prst="rect">
            <a:avLst/>
          </a:prstGeom>
          <a:noFill/>
          <a:ln/>
        </p:spPr>
        <p:txBody>
          <a:bodyPr wrap="square" lIns="0" tIns="0" rIns="0" bIns="0" rtlCol="0" anchor="ctr"/>
          <a:lstStyle/>
          <a:p>
            <a:pPr indent="0" marL="0">
              <a:buNone/>
            </a:pPr>
            <a:r>
              <a:rPr lang="en-US" sz="6000" b="1" dirty="0">
                <a:solidFill>
                  <a:srgbClr val="FFFFFF"/>
                </a:solidFill>
                <a:latin typeface="IBM Plex Sans" pitchFamily="34" charset="0"/>
                <a:ea typeface="IBM Plex Sans" pitchFamily="34" charset="-122"/>
                <a:cs typeface="IBM Plex Sans" pitchFamily="34" charset="-120"/>
              </a:rPr>
              <a:t>Circuit workshop</a:t>
            </a:r>
            <a:endParaRPr lang="en-US" sz="6000" dirty="0"/>
          </a:p>
        </p:txBody>
      </p:sp>
      <p:sp>
        <p:nvSpPr>
          <p:cNvPr id="5" name="Text 3"/>
          <p:cNvSpPr txBox="1"/>
          <p:nvPr/>
        </p:nvSpPr>
        <p:spPr>
          <a:xfrm>
            <a:off x="822960" y="3291840"/>
            <a:ext cx="9509760" cy="1371600"/>
          </a:xfrm>
          <a:prstGeom prst="rect">
            <a:avLst/>
          </a:prstGeom>
          <a:noFill/>
          <a:ln/>
        </p:spPr>
        <p:txBody>
          <a:bodyPr wrap="square" lIns="0" tIns="0" rIns="0" bIns="0" rtlCol="0" anchor="ctr"/>
          <a:lstStyle/>
          <a:p>
            <a:pPr indent="0" marL="0">
              <a:lnSpc>
                <a:spcPct val="125000"/>
              </a:lnSpc>
              <a:buNone/>
            </a:pPr>
            <a:r>
              <a:rPr lang="en-US" sz="1800" dirty="0">
                <a:solidFill>
                  <a:srgbClr val="C7CDD9"/>
                </a:solidFill>
                <a:latin typeface="IBM Plex Sans" pitchFamily="34" charset="0"/>
                <a:ea typeface="IBM Plex Sans" pitchFamily="34" charset="-122"/>
                <a:cs typeface="IBM Plex Sans" pitchFamily="34" charset="-120"/>
              </a:rPr>
              <a:t>Engineers turn real problems into logic. In the workshop you'll read three scenarios, build the circuit for each one, and complete its truth table.</a:t>
            </a:r>
            <a:endParaRPr lang="en-US" sz="1800" dirty="0"/>
          </a:p>
        </p:txBody>
      </p:sp>
      <p:sp>
        <p:nvSpPr>
          <p:cNvPr id="6" name="Shape 4"/>
          <p:cNvSpPr/>
          <p:nvPr/>
        </p:nvSpPr>
        <p:spPr>
          <a:xfrm>
            <a:off x="822960" y="4846320"/>
            <a:ext cx="2926080" cy="0"/>
          </a:xfrm>
          <a:prstGeom prst="line">
            <a:avLst/>
          </a:prstGeom>
          <a:noFill/>
          <a:ln w="31750">
            <a:solidFill>
              <a:srgbClr val="2D63FF"/>
            </a:solidFill>
            <a:prstDash val="solid"/>
          </a:ln>
        </p:spPr>
      </p:sp>
      <p:sp>
        <p:nvSpPr>
          <p:cNvPr id="7" name="Text 5"/>
          <p:cNvSpPr txBox="1"/>
          <p:nvPr/>
        </p:nvSpPr>
        <p:spPr>
          <a:xfrm>
            <a:off x="822960" y="5029200"/>
            <a:ext cx="10515600" cy="365760"/>
          </a:xfrm>
          <a:prstGeom prst="rect">
            <a:avLst/>
          </a:prstGeom>
          <a:noFill/>
          <a:ln/>
        </p:spPr>
        <p:txBody>
          <a:bodyPr wrap="square" lIns="0" tIns="0" rIns="0" bIns="0" rtlCol="0" anchor="ctr"/>
          <a:lstStyle/>
          <a:p>
            <a:pPr indent="0" marL="0">
              <a:buNone/>
            </a:pPr>
            <a:r>
              <a:rPr lang="en-US" sz="1300" dirty="0">
                <a:solidFill>
                  <a:srgbClr val="667085"/>
                </a:solidFill>
                <a:latin typeface="IBM Plex Mono" pitchFamily="34" charset="0"/>
                <a:ea typeface="IBM Plex Mono" pitchFamily="34" charset="-122"/>
                <a:cs typeface="IBM Plex Mono" pitchFamily="34" charset="-120"/>
              </a:rPr>
              <a:t>OCR J277 Paper 2  |  Computational thinking, algorithms and programming</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By the end of this lesson</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How do you create logic diagrams from truth tables?</a:t>
            </a:r>
            <a:endParaRPr lang="en-US" sz="1500" dirty="0"/>
          </a:p>
        </p:txBody>
      </p:sp>
      <p:sp>
        <p:nvSpPr>
          <p:cNvPr id="7" name="Shape 5"/>
          <p:cNvSpPr/>
          <p:nvPr/>
        </p:nvSpPr>
        <p:spPr>
          <a:xfrm>
            <a:off x="548640" y="1965960"/>
            <a:ext cx="566928" cy="566928"/>
          </a:xfrm>
          <a:prstGeom prst="ellipse">
            <a:avLst/>
          </a:prstGeom>
          <a:solidFill>
            <a:srgbClr val="2D63FF"/>
          </a:solidFill>
          <a:ln/>
        </p:spPr>
      </p:sp>
      <p:sp>
        <p:nvSpPr>
          <p:cNvPr id="8" name="Text 6"/>
          <p:cNvSpPr txBox="1"/>
          <p:nvPr/>
        </p:nvSpPr>
        <p:spPr>
          <a:xfrm>
            <a:off x="548640" y="196596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965960"/>
            <a:ext cx="10332720" cy="566928"/>
          </a:xfrm>
          <a:prstGeom prst="rect">
            <a:avLst/>
          </a:prstGeom>
          <a:noFill/>
          <a:ln/>
        </p:spPr>
        <p:txBody>
          <a:bodyPr wrap="square" lIns="0" tIns="0" rIns="0" bIns="0" rtlCol="0" anchor="ctr"/>
          <a:lstStyle/>
          <a:p>
            <a:pPr indent="0" marL="0">
              <a:buNone/>
            </a:pPr>
            <a:r>
              <a:rPr lang="en-US" sz="1900" dirty="0">
                <a:solidFill>
                  <a:srgbClr val="101828"/>
                </a:solidFill>
                <a:latin typeface="IBM Plex Sans" pitchFamily="34" charset="0"/>
                <a:ea typeface="IBM Plex Sans" pitchFamily="34" charset="-122"/>
                <a:cs typeface="IBM Plex Sans" pitchFamily="34" charset="-120"/>
              </a:rPr>
              <a:t>Understand how to create, complete or edit logic diagrams and truth tables for given scenarios</a:t>
            </a:r>
            <a:endParaRPr lang="en-US" sz="1900" dirty="0"/>
          </a:p>
        </p:txBody>
      </p:sp>
      <p:sp>
        <p:nvSpPr>
          <p:cNvPr id="10" name="Text 8"/>
          <p:cNvSpPr txBox="1"/>
          <p:nvPr/>
        </p:nvSpPr>
        <p:spPr>
          <a:xfrm>
            <a:off x="548640" y="3218688"/>
            <a:ext cx="2743200" cy="320040"/>
          </a:xfrm>
          <a:prstGeom prst="rect">
            <a:avLst/>
          </a:prstGeom>
          <a:noFill/>
          <a:ln/>
        </p:spPr>
        <p:txBody>
          <a:bodyPr wrap="square" lIns="0" tIns="0" rIns="0" bIns="0" rtlCol="0" anchor="ctr"/>
          <a:lstStyle/>
          <a:p>
            <a:pPr indent="0" marL="0">
              <a:buNone/>
            </a:pPr>
            <a:r>
              <a:rPr lang="en-US" sz="1200" dirty="0">
                <a:solidFill>
                  <a:srgbClr val="667085"/>
                </a:solidFill>
                <a:latin typeface="IBM Plex Mono" pitchFamily="34" charset="0"/>
                <a:ea typeface="IBM Plex Mono" pitchFamily="34" charset="-122"/>
                <a:cs typeface="IBM Plex Mono" pitchFamily="34" charset="-120"/>
              </a:rPr>
              <a:t>Key words</a:t>
            </a:r>
            <a:endParaRPr lang="en-US" sz="1200" dirty="0"/>
          </a:p>
        </p:txBody>
      </p:sp>
      <p:sp>
        <p:nvSpPr>
          <p:cNvPr id="11" name="Shape 9"/>
          <p:cNvSpPr/>
          <p:nvPr/>
        </p:nvSpPr>
        <p:spPr>
          <a:xfrm>
            <a:off x="548640" y="3602736"/>
            <a:ext cx="1627632" cy="402336"/>
          </a:xfrm>
          <a:prstGeom prst="roundRect">
            <a:avLst>
              <a:gd name="adj" fmla="val 50000"/>
            </a:avLst>
          </a:prstGeom>
          <a:solidFill>
            <a:srgbClr val="FFFFFF"/>
          </a:solidFill>
          <a:ln w="12700">
            <a:solidFill>
              <a:srgbClr val="2D63FF"/>
            </a:solidFill>
            <a:prstDash val="solid"/>
          </a:ln>
        </p:spPr>
      </p:sp>
      <p:sp>
        <p:nvSpPr>
          <p:cNvPr id="12" name="Text 10"/>
          <p:cNvSpPr txBox="1"/>
          <p:nvPr/>
        </p:nvSpPr>
        <p:spPr>
          <a:xfrm>
            <a:off x="548640" y="3602736"/>
            <a:ext cx="162763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Scenario</a:t>
            </a:r>
            <a:endParaRPr lang="en-US" sz="1200" dirty="0"/>
          </a:p>
        </p:txBody>
      </p:sp>
      <p:sp>
        <p:nvSpPr>
          <p:cNvPr id="13" name="Shape 11"/>
          <p:cNvSpPr/>
          <p:nvPr/>
        </p:nvSpPr>
        <p:spPr>
          <a:xfrm>
            <a:off x="2304288" y="3602736"/>
            <a:ext cx="2359152" cy="402336"/>
          </a:xfrm>
          <a:prstGeom prst="roundRect">
            <a:avLst>
              <a:gd name="adj" fmla="val 50000"/>
            </a:avLst>
          </a:prstGeom>
          <a:solidFill>
            <a:srgbClr val="FFFFFF"/>
          </a:solidFill>
          <a:ln w="12700">
            <a:solidFill>
              <a:srgbClr val="2D63FF"/>
            </a:solidFill>
            <a:prstDash val="solid"/>
          </a:ln>
        </p:spPr>
      </p:sp>
      <p:sp>
        <p:nvSpPr>
          <p:cNvPr id="14" name="Text 12"/>
          <p:cNvSpPr txBox="1"/>
          <p:nvPr/>
        </p:nvSpPr>
        <p:spPr>
          <a:xfrm>
            <a:off x="2304288" y="3602736"/>
            <a:ext cx="2359152"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Logic diagram</a:t>
            </a:r>
            <a:endParaRPr lang="en-US" sz="1200" dirty="0"/>
          </a:p>
        </p:txBody>
      </p:sp>
      <p:sp>
        <p:nvSpPr>
          <p:cNvPr id="15" name="Shape 13"/>
          <p:cNvSpPr/>
          <p:nvPr/>
        </p:nvSpPr>
        <p:spPr>
          <a:xfrm>
            <a:off x="4791456" y="3602736"/>
            <a:ext cx="2066544" cy="402336"/>
          </a:xfrm>
          <a:prstGeom prst="roundRect">
            <a:avLst>
              <a:gd name="adj" fmla="val 50000"/>
            </a:avLst>
          </a:prstGeom>
          <a:solidFill>
            <a:srgbClr val="FFFFFF"/>
          </a:solidFill>
          <a:ln w="12700">
            <a:solidFill>
              <a:srgbClr val="2D63FF"/>
            </a:solidFill>
            <a:prstDash val="solid"/>
          </a:ln>
        </p:spPr>
      </p:sp>
      <p:sp>
        <p:nvSpPr>
          <p:cNvPr id="16" name="Text 14"/>
          <p:cNvSpPr txBox="1"/>
          <p:nvPr/>
        </p:nvSpPr>
        <p:spPr>
          <a:xfrm>
            <a:off x="4791456" y="3602736"/>
            <a:ext cx="2066544"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Truth table</a:t>
            </a:r>
            <a:endParaRPr lang="en-US" sz="1200" dirty="0"/>
          </a:p>
        </p:txBody>
      </p:sp>
      <p:sp>
        <p:nvSpPr>
          <p:cNvPr id="17" name="Shape 15"/>
          <p:cNvSpPr/>
          <p:nvPr/>
        </p:nvSpPr>
        <p:spPr>
          <a:xfrm>
            <a:off x="6986016" y="3602736"/>
            <a:ext cx="3236976" cy="402336"/>
          </a:xfrm>
          <a:prstGeom prst="roundRect">
            <a:avLst>
              <a:gd name="adj" fmla="val 50000"/>
            </a:avLst>
          </a:prstGeom>
          <a:solidFill>
            <a:srgbClr val="FFFFFF"/>
          </a:solidFill>
          <a:ln w="12700">
            <a:solidFill>
              <a:srgbClr val="2D63FF"/>
            </a:solidFill>
            <a:prstDash val="solid"/>
          </a:ln>
        </p:spPr>
      </p:sp>
      <p:sp>
        <p:nvSpPr>
          <p:cNvPr id="18" name="Text 16"/>
          <p:cNvSpPr txBox="1"/>
          <p:nvPr/>
        </p:nvSpPr>
        <p:spPr>
          <a:xfrm>
            <a:off x="6986016" y="3602736"/>
            <a:ext cx="3236976"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Intermediate output</a:t>
            </a:r>
            <a:endParaRPr lang="en-US" sz="1200" dirty="0"/>
          </a:p>
        </p:txBody>
      </p:sp>
      <p:sp>
        <p:nvSpPr>
          <p:cNvPr id="19" name="Shape 17"/>
          <p:cNvSpPr/>
          <p:nvPr/>
        </p:nvSpPr>
        <p:spPr>
          <a:xfrm>
            <a:off x="10351008" y="3602736"/>
            <a:ext cx="1005840" cy="402336"/>
          </a:xfrm>
          <a:prstGeom prst="roundRect">
            <a:avLst>
              <a:gd name="adj" fmla="val 50000"/>
            </a:avLst>
          </a:prstGeom>
          <a:solidFill>
            <a:srgbClr val="FFFFFF"/>
          </a:solidFill>
          <a:ln w="12700">
            <a:solidFill>
              <a:srgbClr val="2D63FF"/>
            </a:solidFill>
            <a:prstDash val="solid"/>
          </a:ln>
        </p:spPr>
      </p:sp>
      <p:sp>
        <p:nvSpPr>
          <p:cNvPr id="20" name="Text 18"/>
          <p:cNvSpPr txBox="1"/>
          <p:nvPr/>
        </p:nvSpPr>
        <p:spPr>
          <a:xfrm>
            <a:off x="10351008" y="3602736"/>
            <a:ext cx="1005840" cy="402336"/>
          </a:xfrm>
          <a:prstGeom prst="rect">
            <a:avLst/>
          </a:prstGeom>
          <a:noFill/>
          <a:ln/>
        </p:spPr>
        <p:txBody>
          <a:bodyPr wrap="square" lIns="0" tIns="0" rIns="0" bIns="0" rtlCol="0" anchor="ctr"/>
          <a:lstStyle/>
          <a:p>
            <a:pPr algn="ctr" indent="0" marL="0">
              <a:buNone/>
            </a:pPr>
            <a:r>
              <a:rPr lang="en-US" sz="1200" dirty="0">
                <a:solidFill>
                  <a:srgbClr val="2D63FF"/>
                </a:solidFill>
                <a:latin typeface="IBM Plex Sans" pitchFamily="34" charset="0"/>
                <a:ea typeface="IBM Plex Sans" pitchFamily="34" charset="-122"/>
                <a:cs typeface="IBM Plex Sans" pitchFamily="34" charset="-120"/>
              </a:rPr>
              <a:t>AND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2103120" cy="457200"/>
          </a:xfrm>
          <a:prstGeom prst="roundRect">
            <a:avLst>
              <a:gd name="adj" fmla="val 20000"/>
            </a:avLst>
          </a:prstGeom>
          <a:solidFill>
            <a:srgbClr val="F4B942"/>
          </a:solidFill>
          <a:ln/>
        </p:spPr>
      </p:sp>
      <p:sp>
        <p:nvSpPr>
          <p:cNvPr id="6" name="Text 4"/>
          <p:cNvSpPr txBox="1"/>
          <p:nvPr/>
        </p:nvSpPr>
        <p:spPr>
          <a:xfrm>
            <a:off x="502920" y="457200"/>
            <a:ext cx="2103120" cy="45720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STARTER</a:t>
            </a:r>
            <a:endParaRPr lang="en-US" sz="1300" dirty="0"/>
          </a:p>
        </p:txBody>
      </p:sp>
      <p:sp>
        <p:nvSpPr>
          <p:cNvPr id="7" name="Text 5"/>
          <p:cNvSpPr txBox="1"/>
          <p:nvPr/>
        </p:nvSpPr>
        <p:spPr>
          <a:xfrm>
            <a:off x="2788920" y="457200"/>
            <a:ext cx="5486400" cy="457200"/>
          </a:xfrm>
          <a:prstGeom prst="rect">
            <a:avLst/>
          </a:prstGeom>
          <a:noFill/>
          <a:ln/>
        </p:spPr>
        <p:txBody>
          <a:bodyPr wrap="square" lIns="0" tIns="0" rIns="0" bIns="0" rtlCol="0" anchor="ctr"/>
          <a:lstStyle/>
          <a:p>
            <a:pPr indent="0" marL="0">
              <a:buNone/>
            </a:pPr>
            <a:r>
              <a:rPr lang="en-US" sz="1400" dirty="0">
                <a:solidFill>
                  <a:srgbClr val="667085"/>
                </a:solidFill>
                <a:latin typeface="IBM Plex Sans" pitchFamily="34" charset="0"/>
                <a:ea typeface="IBM Plex Sans" pitchFamily="34" charset="-122"/>
                <a:cs typeface="IBM Plex Sans" pitchFamily="34" charset="-120"/>
              </a:rPr>
              <a:t>Five minutes, on paper</a:t>
            </a:r>
            <a:endParaRPr lang="en-US" sz="1400" dirty="0"/>
          </a:p>
        </p:txBody>
      </p:sp>
      <p:sp>
        <p:nvSpPr>
          <p:cNvPr id="8" name="Shape 6"/>
          <p:cNvSpPr/>
          <p:nvPr/>
        </p:nvSpPr>
        <p:spPr>
          <a:xfrm>
            <a:off x="502920" y="1234440"/>
            <a:ext cx="11155680" cy="3200400"/>
          </a:xfrm>
          <a:prstGeom prst="roundRect">
            <a:avLst>
              <a:gd name="adj" fmla="val 3429"/>
            </a:avLst>
          </a:prstGeom>
          <a:solidFill>
            <a:srgbClr val="FFFFFF"/>
          </a:solidFill>
          <a:ln w="15875">
            <a:solidFill>
              <a:srgbClr val="2D63FF"/>
            </a:solidFill>
            <a:prstDash val="solid"/>
          </a:ln>
        </p:spPr>
      </p:sp>
      <p:sp>
        <p:nvSpPr>
          <p:cNvPr id="9" name="Text 7"/>
          <p:cNvSpPr txBox="1"/>
          <p:nvPr/>
        </p:nvSpPr>
        <p:spPr>
          <a:xfrm>
            <a:off x="1005840" y="1645920"/>
            <a:ext cx="10149840" cy="2377440"/>
          </a:xfrm>
          <a:prstGeom prst="rect">
            <a:avLst/>
          </a:prstGeom>
          <a:noFill/>
          <a:ln/>
        </p:spPr>
        <p:txBody>
          <a:bodyPr wrap="square" lIns="0" tIns="0" rIns="0" bIns="0" rtlCol="0" anchor="ctr"/>
          <a:lstStyle/>
          <a:p>
            <a:pPr indent="0" marL="0">
              <a:lnSpc>
                <a:spcPct val="130000"/>
              </a:lnSpc>
              <a:buNone/>
            </a:pPr>
            <a:r>
              <a:rPr lang="en-US" sz="2600" dirty="0">
                <a:solidFill>
                  <a:srgbClr val="101828"/>
                </a:solidFill>
                <a:latin typeface="IBM Plex Sans" pitchFamily="34" charset="0"/>
                <a:ea typeface="IBM Plex Sans" pitchFamily="34" charset="-122"/>
                <a:cs typeface="IBM Plex Sans" pitchFamily="34" charset="-120"/>
              </a:rPr>
              <a:t>A security light should come on when it is dark AND movement is detected, unless the test switch is on. Write that rule in your own words, then underline the logic words.</a:t>
            </a:r>
            <a:endParaRPr lang="en-US" sz="2600" dirty="0"/>
          </a:p>
        </p:txBody>
      </p:sp>
      <p:sp>
        <p:nvSpPr>
          <p:cNvPr id="10" name="Text 8"/>
          <p:cNvSpPr txBox="1"/>
          <p:nvPr/>
        </p:nvSpPr>
        <p:spPr>
          <a:xfrm>
            <a:off x="502920" y="4709160"/>
            <a:ext cx="11155680" cy="45720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No devices yet. Write your answer on the worksheet before anyone talks.</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Into the experience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Open Circuit workshop on revise360.co.uk</a:t>
            </a:r>
            <a:endParaRPr lang="en-US" sz="1500" dirty="0"/>
          </a:p>
        </p:txBody>
      </p:sp>
      <p:sp>
        <p:nvSpPr>
          <p:cNvPr id="7" name="Shape 5"/>
          <p:cNvSpPr/>
          <p:nvPr/>
        </p:nvSpPr>
        <p:spPr>
          <a:xfrm>
            <a:off x="548640" y="1874520"/>
            <a:ext cx="566928" cy="566928"/>
          </a:xfrm>
          <a:prstGeom prst="ellipse">
            <a:avLst/>
          </a:prstGeom>
          <a:solidFill>
            <a:srgbClr val="08A6A6"/>
          </a:solidFill>
          <a:ln/>
        </p:spPr>
      </p:sp>
      <p:sp>
        <p:nvSpPr>
          <p:cNvPr id="8" name="Text 6"/>
          <p:cNvSpPr txBox="1"/>
          <p:nvPr/>
        </p:nvSpPr>
        <p:spPr>
          <a:xfrm>
            <a:off x="548640" y="1874520"/>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9" name="Text 7"/>
          <p:cNvSpPr txBox="1"/>
          <p:nvPr/>
        </p:nvSpPr>
        <p:spPr>
          <a:xfrm>
            <a:off x="1325880" y="1856232"/>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around</a:t>
            </a:r>
            <a:endParaRPr lang="en-US" sz="1700" dirty="0"/>
          </a:p>
        </p:txBody>
      </p:sp>
      <p:sp>
        <p:nvSpPr>
          <p:cNvPr id="10" name="Text 8"/>
          <p:cNvSpPr txBox="1"/>
          <p:nvPr/>
        </p:nvSpPr>
        <p:spPr>
          <a:xfrm>
            <a:off x="1325880" y="2148840"/>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Six numbered stations are arranged around you. Turn right for 1 and 2, around for 3 and 4, left for 5 and 6.</a:t>
            </a:r>
            <a:endParaRPr lang="en-US" sz="1400" dirty="0"/>
          </a:p>
        </p:txBody>
      </p:sp>
      <p:sp>
        <p:nvSpPr>
          <p:cNvPr id="11" name="Shape 9"/>
          <p:cNvSpPr/>
          <p:nvPr/>
        </p:nvSpPr>
        <p:spPr>
          <a:xfrm>
            <a:off x="548640" y="2898648"/>
            <a:ext cx="566928" cy="566928"/>
          </a:xfrm>
          <a:prstGeom prst="ellipse">
            <a:avLst/>
          </a:prstGeom>
          <a:solidFill>
            <a:srgbClr val="08A6A6"/>
          </a:solidFill>
          <a:ln/>
        </p:spPr>
      </p:sp>
      <p:sp>
        <p:nvSpPr>
          <p:cNvPr id="12" name="Text 10"/>
          <p:cNvSpPr txBox="1"/>
          <p:nvPr/>
        </p:nvSpPr>
        <p:spPr>
          <a:xfrm>
            <a:off x="548640" y="2898648"/>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13" name="Text 11"/>
          <p:cNvSpPr txBox="1"/>
          <p:nvPr/>
        </p:nvSpPr>
        <p:spPr>
          <a:xfrm>
            <a:off x="1325880" y="2880360"/>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Read, then write</a:t>
            </a:r>
            <a:endParaRPr lang="en-US" sz="1700" dirty="0"/>
          </a:p>
        </p:txBody>
      </p:sp>
      <p:sp>
        <p:nvSpPr>
          <p:cNvPr id="14" name="Text 12"/>
          <p:cNvSpPr txBox="1"/>
          <p:nvPr/>
        </p:nvSpPr>
        <p:spPr>
          <a:xfrm>
            <a:off x="1325880" y="3172968"/>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Read the wall, write the key fact and your answer to the challenge on the worksheet.</a:t>
            </a:r>
            <a:endParaRPr lang="en-US" sz="1400" dirty="0"/>
          </a:p>
        </p:txBody>
      </p:sp>
      <p:sp>
        <p:nvSpPr>
          <p:cNvPr id="15" name="Shape 13"/>
          <p:cNvSpPr/>
          <p:nvPr/>
        </p:nvSpPr>
        <p:spPr>
          <a:xfrm>
            <a:off x="548640" y="3922776"/>
            <a:ext cx="566928" cy="566928"/>
          </a:xfrm>
          <a:prstGeom prst="ellipse">
            <a:avLst/>
          </a:prstGeom>
          <a:solidFill>
            <a:srgbClr val="08A6A6"/>
          </a:solidFill>
          <a:ln/>
        </p:spPr>
      </p:sp>
      <p:sp>
        <p:nvSpPr>
          <p:cNvPr id="16" name="Text 14"/>
          <p:cNvSpPr txBox="1"/>
          <p:nvPr/>
        </p:nvSpPr>
        <p:spPr>
          <a:xfrm>
            <a:off x="548640" y="3922776"/>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17" name="Text 15"/>
          <p:cNvSpPr txBox="1"/>
          <p:nvPr/>
        </p:nvSpPr>
        <p:spPr>
          <a:xfrm>
            <a:off x="1325880" y="3904488"/>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Then tap the badge</a:t>
            </a:r>
            <a:endParaRPr lang="en-US" sz="1700" dirty="0"/>
          </a:p>
        </p:txBody>
      </p:sp>
      <p:sp>
        <p:nvSpPr>
          <p:cNvPr id="18" name="Text 16"/>
          <p:cNvSpPr txBox="1"/>
          <p:nvPr/>
        </p:nvSpPr>
        <p:spPr>
          <a:xfrm>
            <a:off x="1325880" y="4197096"/>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Only answer the questions once you have written. Your first answer is the one that counts.</a:t>
            </a:r>
            <a:endParaRPr lang="en-US" sz="1400" dirty="0"/>
          </a:p>
        </p:txBody>
      </p:sp>
      <p:sp>
        <p:nvSpPr>
          <p:cNvPr id="19" name="Shape 17"/>
          <p:cNvSpPr/>
          <p:nvPr/>
        </p:nvSpPr>
        <p:spPr>
          <a:xfrm>
            <a:off x="548640" y="4946904"/>
            <a:ext cx="566928" cy="566928"/>
          </a:xfrm>
          <a:prstGeom prst="ellipse">
            <a:avLst/>
          </a:prstGeom>
          <a:solidFill>
            <a:srgbClr val="F4B942"/>
          </a:solidFill>
          <a:ln/>
        </p:spPr>
      </p:sp>
      <p:sp>
        <p:nvSpPr>
          <p:cNvPr id="20" name="Text 18"/>
          <p:cNvSpPr txBox="1"/>
          <p:nvPr/>
        </p:nvSpPr>
        <p:spPr>
          <a:xfrm>
            <a:off x="548640" y="4946904"/>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21" name="Text 19"/>
          <p:cNvSpPr txBox="1"/>
          <p:nvPr/>
        </p:nvSpPr>
        <p:spPr>
          <a:xfrm>
            <a:off x="1325880" y="4928616"/>
            <a:ext cx="3017520" cy="320040"/>
          </a:xfrm>
          <a:prstGeom prst="rect">
            <a:avLst/>
          </a:prstGeom>
          <a:noFill/>
          <a:ln/>
        </p:spPr>
        <p:txBody>
          <a:bodyPr wrap="square" lIns="0" tIns="0" rIns="0" bIns="0" rtlCol="0" anchor="ctr"/>
          <a:lstStyle/>
          <a:p>
            <a:pPr indent="0" marL="0">
              <a:buNone/>
            </a:pPr>
            <a:r>
              <a:rPr lang="en-US" sz="1700" b="1" dirty="0">
                <a:solidFill>
                  <a:srgbClr val="101828"/>
                </a:solidFill>
                <a:latin typeface="IBM Plex Sans" pitchFamily="34" charset="0"/>
                <a:ea typeface="IBM Plex Sans" pitchFamily="34" charset="-122"/>
                <a:cs typeface="IBM Plex Sans" pitchFamily="34" charset="-120"/>
              </a:rPr>
              <a:t>Look down at the end</a:t>
            </a:r>
            <a:endParaRPr lang="en-US" sz="1700" dirty="0"/>
          </a:p>
        </p:txBody>
      </p:sp>
      <p:sp>
        <p:nvSpPr>
          <p:cNvPr id="22" name="Text 20"/>
          <p:cNvSpPr txBox="1"/>
          <p:nvPr/>
        </p:nvSpPr>
        <p:spPr>
          <a:xfrm>
            <a:off x="1325880" y="5221224"/>
            <a:ext cx="10241280" cy="457200"/>
          </a:xfrm>
          <a:prstGeom prst="rect">
            <a:avLst/>
          </a:prstGeom>
          <a:noFill/>
          <a:ln/>
        </p:spPr>
        <p:txBody>
          <a:bodyPr wrap="square" lIns="0" tIns="0" rIns="0" bIns="0" rtlCol="0" anchor="t"/>
          <a:lstStyle/>
          <a:p>
            <a:pPr indent="0" marL="0">
              <a:buNone/>
            </a:pPr>
            <a:r>
              <a:rPr lang="en-US" sz="1400" dirty="0">
                <a:solidFill>
                  <a:srgbClr val="667085"/>
                </a:solidFill>
                <a:latin typeface="IBM Plex Sans" pitchFamily="34" charset="0"/>
                <a:ea typeface="IBM Plex Sans" pitchFamily="34" charset="-122"/>
                <a:cs typeface="IBM Plex Sans" pitchFamily="34" charset="-120"/>
              </a:rPr>
              <a:t>The starred final challenge is on the floor. Predict on paper first.</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1</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1</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From words to logic</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Find the inputs and the output in the scenario.</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Look for the words 'and', 'or', 'not', 'either' and 'regardless'.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Decide which parts go in brackets, then build from the inputs to the output.</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How do you create a logic diagram from a scenario?</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turn a scenario into logic...</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2</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2</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Scenario 1: the shop alarm</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shop alarm sounds (X) if the door sensor is triggered (A) AND the shop is closed (B).</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Whatever the sensors say, it always sounds if the panic button is pressed (C).</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Build the shop alarm circuit, then complete its truth table.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shop alarm expression is...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3</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3</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Scenario 2: the hospital lift</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hospital lift has two doors (A and B). An alarm sounds (X)...</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if either door is still open,</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AND either the lift is moving (C) OR it is overloaded (D).</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do both halves of this circuit use OR gates?</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hospital lift expression is...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4</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4</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Scenario 3: the greenhouse</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greenhouse heater runs (X) if the gardener switches it on (A) OR the timer starts it (B).</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A window sensor (C) normally sends 0.</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When a window is opened it sends 1, and the heater must switch off.</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Why does the window sensor need a NOT gate?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The greenhouse expression is...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5</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5</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Editing a diagram</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Sometimes a diagram needs changing to match a new rule.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Check each gate against the scenario, one at a time.</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Test your change with a truth table.</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The shop alarm should now need the panic button AND the shop to be closed. How would the circuit change?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edit a logic diagram...</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8321040" y="6236208"/>
            <a:ext cx="914400" cy="365760"/>
          </a:xfrm>
          <a:prstGeom prst="rect">
            <a:avLst/>
          </a:prstGeom>
          <a:noFill/>
          <a:ln/>
        </p:spPr>
        <p:txBody>
          <a:bodyPr wrap="square" lIns="0" tIns="0" rIns="0" bIns="0" rtlCol="0" anchor="ctr"/>
          <a:lstStyle/>
          <a:p>
            <a:pPr algn="r" indent="0" marL="0">
              <a:buNone/>
            </a:pPr>
            <a:r>
              <a:rPr lang="en-US" sz="1100" dirty="0">
                <a:solidFill>
                  <a:srgbClr val="D9DEE7"/>
                </a:solidFill>
                <a:latin typeface="IBM Plex Mono" pitchFamily="34" charset="0"/>
                <a:ea typeface="IBM Plex Mono" pitchFamily="34" charset="-122"/>
                <a:cs typeface="IBM Plex Mono" pitchFamily="34" charset="-120"/>
              </a:rPr>
              <a:t>Station 6</a:t>
            </a:r>
            <a:endParaRPr lang="en-US" sz="1100" dirty="0"/>
          </a:p>
        </p:txBody>
      </p:sp>
      <p:sp>
        <p:nvSpPr>
          <p:cNvPr id="6" name="Shape 4"/>
          <p:cNvSpPr/>
          <p:nvPr/>
        </p:nvSpPr>
        <p:spPr>
          <a:xfrm>
            <a:off x="502920" y="438912"/>
            <a:ext cx="566928" cy="566928"/>
          </a:xfrm>
          <a:prstGeom prst="ellipse">
            <a:avLst/>
          </a:prstGeom>
          <a:solidFill>
            <a:srgbClr val="2D63FF"/>
          </a:solidFill>
          <a:ln/>
        </p:spPr>
      </p:sp>
      <p:sp>
        <p:nvSpPr>
          <p:cNvPr id="7" name="Text 5"/>
          <p:cNvSpPr txBox="1"/>
          <p:nvPr/>
        </p:nvSpPr>
        <p:spPr>
          <a:xfrm>
            <a:off x="502920" y="438912"/>
            <a:ext cx="566928" cy="566928"/>
          </a:xfrm>
          <a:prstGeom prst="rect">
            <a:avLst/>
          </a:prstGeom>
          <a:noFill/>
          <a:ln/>
        </p:spPr>
        <p:txBody>
          <a:bodyPr wrap="square" lIns="0" tIns="0" rIns="0" bIns="0" rtlCol="0" anchor="ctr"/>
          <a:lstStyle/>
          <a:p>
            <a:pPr algn="ctr" indent="0" marL="0">
              <a:buNone/>
            </a:pPr>
            <a:r>
              <a:rPr lang="en-US" sz="2000" b="1" dirty="0">
                <a:solidFill>
                  <a:srgbClr val="FFFFFF"/>
                </a:solidFill>
                <a:latin typeface="IBM Plex Mono" pitchFamily="34" charset="0"/>
                <a:ea typeface="IBM Plex Mono" pitchFamily="34" charset="-122"/>
                <a:cs typeface="IBM Plex Mono" pitchFamily="34" charset="-120"/>
              </a:rPr>
              <a:t>6</a:t>
            </a:r>
            <a:endParaRPr lang="en-US" sz="2000" dirty="0"/>
          </a:p>
        </p:txBody>
      </p:sp>
      <p:sp>
        <p:nvSpPr>
          <p:cNvPr id="8" name="Text 6"/>
          <p:cNvSpPr txBox="1"/>
          <p:nvPr/>
        </p:nvSpPr>
        <p:spPr>
          <a:xfrm>
            <a:off x="1234440" y="411480"/>
            <a:ext cx="10424160" cy="621792"/>
          </a:xfrm>
          <a:prstGeom prst="rect">
            <a:avLst/>
          </a:prstGeom>
          <a:noFill/>
          <a:ln/>
        </p:spPr>
        <p:txBody>
          <a:bodyPr wrap="square" lIns="0" tIns="0" rIns="0" bIns="0" rtlCol="0" anchor="ctr"/>
          <a:lstStyle/>
          <a:p>
            <a:pPr indent="0" marL="0">
              <a:buNone/>
            </a:pPr>
            <a:r>
              <a:rPr lang="en-US" sz="3000" b="1" dirty="0">
                <a:solidFill>
                  <a:srgbClr val="101828"/>
                </a:solidFill>
                <a:latin typeface="IBM Plex Sans" pitchFamily="34" charset="0"/>
                <a:ea typeface="IBM Plex Sans" pitchFamily="34" charset="-122"/>
                <a:cs typeface="IBM Plex Sans" pitchFamily="34" charset="-120"/>
              </a:rPr>
              <a:t>Reading diagrams</a:t>
            </a:r>
            <a:endParaRPr lang="en-US" sz="3000" dirty="0"/>
          </a:p>
        </p:txBody>
      </p:sp>
      <p:sp>
        <p:nvSpPr>
          <p:cNvPr id="9" name="Shape 7"/>
          <p:cNvSpPr/>
          <p:nvPr/>
        </p:nvSpPr>
        <p:spPr>
          <a:xfrm>
            <a:off x="502920" y="1280160"/>
            <a:ext cx="7040880" cy="3246120"/>
          </a:xfrm>
          <a:prstGeom prst="roundRect">
            <a:avLst>
              <a:gd name="adj" fmla="val 3380"/>
            </a:avLst>
          </a:prstGeom>
          <a:solidFill>
            <a:srgbClr val="FFFFFF"/>
          </a:solidFill>
          <a:ln w="15875">
            <a:solidFill>
              <a:srgbClr val="D9DEE7"/>
            </a:solidFill>
            <a:prstDash val="solid"/>
          </a:ln>
        </p:spPr>
      </p:sp>
      <p:sp>
        <p:nvSpPr>
          <p:cNvPr id="10" name="Text 8"/>
          <p:cNvSpPr txBox="1"/>
          <p:nvPr/>
        </p:nvSpPr>
        <p:spPr>
          <a:xfrm>
            <a:off x="914400" y="1600200"/>
            <a:ext cx="6309360" cy="2651760"/>
          </a:xfrm>
          <a:prstGeom prst="rect">
            <a:avLst/>
          </a:prstGeom>
          <a:noFill/>
          <a:ln/>
        </p:spPr>
        <p:txBody>
          <a:bodyPr wrap="square" lIns="0" tIns="0" rIns="0" bIns="0" rtlCol="0" anchor="t"/>
          <a:lstStyle/>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To write an expression from a diagram, start at the output and work backwards.</a:t>
            </a:r>
            <a:endParaRPr lang="en-US" sz="1700" dirty="0"/>
          </a:p>
          <a:p>
            <a:pPr marL="342900" indent="-342900">
              <a:lnSpc>
                <a:spcPct val="120000"/>
              </a:lnSpc>
              <a:spcAft>
                <a:spcPts val="1200"/>
              </a:spcAft>
              <a:buSzPct val="100000"/>
              <a:buChar char="•"/>
            </a:pPr>
            <a:r>
              <a:rPr lang="en-US" sz="1700" dirty="0">
                <a:solidFill>
                  <a:srgbClr val="101828"/>
                </a:solidFill>
                <a:latin typeface="IBM Plex Sans" pitchFamily="34" charset="0"/>
                <a:ea typeface="IBM Plex Sans" pitchFamily="34" charset="-122"/>
                <a:cs typeface="IBM Plex Sans" pitchFamily="34" charset="-120"/>
              </a:rPr>
              <a:t>Each gate becomes an operator, and each gate feeding another becomes brackets.</a:t>
            </a:r>
            <a:endParaRPr lang="en-US" sz="1700" dirty="0"/>
          </a:p>
        </p:txBody>
      </p:sp>
      <p:sp>
        <p:nvSpPr>
          <p:cNvPr id="11" name="Shape 9"/>
          <p:cNvSpPr/>
          <p:nvPr/>
        </p:nvSpPr>
        <p:spPr>
          <a:xfrm>
            <a:off x="7818120" y="1280160"/>
            <a:ext cx="3840480" cy="3246120"/>
          </a:xfrm>
          <a:prstGeom prst="roundRect">
            <a:avLst>
              <a:gd name="adj" fmla="val 3380"/>
            </a:avLst>
          </a:prstGeom>
          <a:solidFill>
            <a:srgbClr val="FFFFFF"/>
          </a:solidFill>
          <a:ln w="15875">
            <a:solidFill>
              <a:srgbClr val="F4B942"/>
            </a:solidFill>
            <a:prstDash val="solid"/>
          </a:ln>
        </p:spPr>
      </p:sp>
      <p:sp>
        <p:nvSpPr>
          <p:cNvPr id="12" name="Text 10"/>
          <p:cNvSpPr txBox="1"/>
          <p:nvPr/>
        </p:nvSpPr>
        <p:spPr>
          <a:xfrm>
            <a:off x="8183880" y="1508760"/>
            <a:ext cx="3200400" cy="320040"/>
          </a:xfrm>
          <a:prstGeom prst="rect">
            <a:avLst/>
          </a:prstGeom>
          <a:noFill/>
          <a:ln/>
        </p:spPr>
        <p:txBody>
          <a:bodyPr wrap="square" lIns="0" tIns="0" rIns="0" bIns="0" rtlCol="0" anchor="ctr"/>
          <a:lstStyle/>
          <a:p>
            <a:pPr indent="0" marL="0">
              <a:buNone/>
            </a:pPr>
            <a:r>
              <a:rPr lang="en-US" sz="1200" b="1" dirty="0">
                <a:solidFill>
                  <a:srgbClr val="667085"/>
                </a:solidFill>
                <a:latin typeface="IBM Plex Mono" pitchFamily="34" charset="0"/>
                <a:ea typeface="IBM Plex Mono" pitchFamily="34" charset="-122"/>
                <a:cs typeface="IBM Plex Mono" pitchFamily="34" charset="-120"/>
              </a:rPr>
              <a:t>CHALLENGE</a:t>
            </a:r>
            <a:endParaRPr lang="en-US" sz="1200" dirty="0"/>
          </a:p>
        </p:txBody>
      </p:sp>
      <p:sp>
        <p:nvSpPr>
          <p:cNvPr id="13" name="Text 11"/>
          <p:cNvSpPr txBox="1"/>
          <p:nvPr/>
        </p:nvSpPr>
        <p:spPr>
          <a:xfrm>
            <a:off x="8183880" y="1874520"/>
            <a:ext cx="3154680" cy="2377440"/>
          </a:xfrm>
          <a:prstGeom prst="rect">
            <a:avLst/>
          </a:prstGeom>
          <a:noFill/>
          <a:ln/>
        </p:spPr>
        <p:txBody>
          <a:bodyPr wrap="square" lIns="0" tIns="0" rIns="0" bIns="0" rtlCol="0" anchor="t"/>
          <a:lstStyle/>
          <a:p>
            <a:pPr indent="0" marL="0">
              <a:lnSpc>
                <a:spcPct val="125000"/>
              </a:lnSpc>
              <a:buNone/>
            </a:pPr>
            <a:r>
              <a:rPr lang="en-US" sz="1600" dirty="0">
                <a:solidFill>
                  <a:srgbClr val="101828"/>
                </a:solidFill>
                <a:latin typeface="IBM Plex Sans" pitchFamily="34" charset="0"/>
                <a:ea typeface="IBM Plex Sans" pitchFamily="34" charset="-122"/>
                <a:cs typeface="IBM Plex Sans" pitchFamily="34" charset="-120"/>
              </a:rPr>
              <a:t>Write the expression for the diagram in the experience.</a:t>
            </a:r>
            <a:endParaRPr lang="en-US" sz="1600" dirty="0"/>
          </a:p>
        </p:txBody>
      </p:sp>
      <p:sp>
        <p:nvSpPr>
          <p:cNvPr id="14" name="Shape 12"/>
          <p:cNvSpPr/>
          <p:nvPr/>
        </p:nvSpPr>
        <p:spPr>
          <a:xfrm>
            <a:off x="502920" y="4754880"/>
            <a:ext cx="11155680" cy="777240"/>
          </a:xfrm>
          <a:prstGeom prst="roundRect">
            <a:avLst>
              <a:gd name="adj" fmla="val 11765"/>
            </a:avLst>
          </a:prstGeom>
          <a:solidFill>
            <a:srgbClr val="EEF2FB"/>
          </a:solidFill>
          <a:ln w="12700">
            <a:solidFill>
              <a:srgbClr val="2D63FF"/>
            </a:solidFill>
            <a:prstDash val="solid"/>
          </a:ln>
        </p:spPr>
      </p:sp>
      <p:sp>
        <p:nvSpPr>
          <p:cNvPr id="15" name="Text 13"/>
          <p:cNvSpPr txBox="1"/>
          <p:nvPr/>
        </p:nvSpPr>
        <p:spPr>
          <a:xfrm>
            <a:off x="914400" y="4754880"/>
            <a:ext cx="10332720" cy="77724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On your worksheet:  </a:t>
            </a:r>
            <a:pPr indent="0" marL="0">
              <a:buNone/>
            </a:pPr>
            <a:r>
              <a:rPr lang="en-US" sz="1600" dirty="0">
                <a:solidFill>
                  <a:srgbClr val="101828"/>
                </a:solidFill>
                <a:latin typeface="IBM Plex Sans" pitchFamily="34" charset="0"/>
                <a:ea typeface="IBM Plex Sans" pitchFamily="34" charset="-122"/>
                <a:cs typeface="IBM Plex Sans" pitchFamily="34" charset="-120"/>
              </a:rPr>
              <a:t>To write an expression from a diagram...</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57200"/>
            <a:ext cx="1051560" cy="420624"/>
          </a:xfrm>
          <a:prstGeom prst="roundRect">
            <a:avLst>
              <a:gd name="adj" fmla="val 21739"/>
            </a:avLst>
          </a:prstGeom>
          <a:solidFill>
            <a:srgbClr val="F4B942"/>
          </a:solidFill>
          <a:ln/>
        </p:spPr>
      </p:sp>
      <p:sp>
        <p:nvSpPr>
          <p:cNvPr id="6" name="Text 4"/>
          <p:cNvSpPr txBox="1"/>
          <p:nvPr/>
        </p:nvSpPr>
        <p:spPr>
          <a:xfrm>
            <a:off x="502920" y="457200"/>
            <a:ext cx="1051560" cy="420624"/>
          </a:xfrm>
          <a:prstGeom prst="rect">
            <a:avLst/>
          </a:prstGeom>
          <a:noFill/>
          <a:ln/>
        </p:spPr>
        <p:txBody>
          <a:bodyPr wrap="square" lIns="0" tIns="0" rIns="0" bIns="0" rtlCol="0" anchor="ctr"/>
          <a:lstStyle/>
          <a:p>
            <a:pPr algn="ctr" indent="0" marL="0">
              <a:buNone/>
            </a:pPr>
            <a:r>
              <a:rPr lang="en-US" sz="1200" b="1" dirty="0">
                <a:solidFill>
                  <a:srgbClr val="101828"/>
                </a:solidFill>
                <a:latin typeface="IBM Plex Mono" pitchFamily="34" charset="0"/>
                <a:ea typeface="IBM Plex Mono" pitchFamily="34" charset="-122"/>
                <a:cs typeface="IBM Plex Mono" pitchFamily="34" charset="-120"/>
              </a:rPr>
              <a:t>CHECK</a:t>
            </a:r>
            <a:endParaRPr lang="en-US" sz="1200" dirty="0"/>
          </a:p>
        </p:txBody>
      </p:sp>
      <p:sp>
        <p:nvSpPr>
          <p:cNvPr id="7" name="Text 5"/>
          <p:cNvSpPr txBox="1"/>
          <p:nvPr/>
        </p:nvSpPr>
        <p:spPr>
          <a:xfrm>
            <a:off x="1737360" y="457200"/>
            <a:ext cx="9875520" cy="420624"/>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Hands down. Everyone commits.</a:t>
            </a:r>
            <a:endParaRPr lang="en-US" sz="1500" dirty="0"/>
          </a:p>
        </p:txBody>
      </p:sp>
      <p:sp>
        <p:nvSpPr>
          <p:cNvPr id="8" name="Text 6"/>
          <p:cNvSpPr txBox="1"/>
          <p:nvPr/>
        </p:nvSpPr>
        <p:spPr>
          <a:xfrm>
            <a:off x="502920" y="1097280"/>
            <a:ext cx="11155680" cy="914400"/>
          </a:xfrm>
          <a:prstGeom prst="rect">
            <a:avLst/>
          </a:prstGeom>
          <a:noFill/>
          <a:ln/>
        </p:spPr>
        <p:txBody>
          <a:bodyPr wrap="square" lIns="0" tIns="0" rIns="0" bIns="0" rtlCol="0" anchor="ctr"/>
          <a:lstStyle/>
          <a:p>
            <a:pPr indent="0" marL="0">
              <a:lnSpc>
                <a:spcPct val="115000"/>
              </a:lnSpc>
              <a:buNone/>
            </a:pPr>
            <a:r>
              <a:rPr lang="en-US" sz="2600" b="1" dirty="0">
                <a:solidFill>
                  <a:srgbClr val="101828"/>
                </a:solidFill>
                <a:latin typeface="IBM Plex Sans" pitchFamily="34" charset="0"/>
                <a:ea typeface="IBM Plex Sans" pitchFamily="34" charset="-122"/>
                <a:cs typeface="IBM Plex Sans" pitchFamily="34" charset="-120"/>
              </a:rPr>
              <a:t>In the hospital lift, when does the alarm sound?</a:t>
            </a:r>
            <a:endParaRPr lang="en-US" sz="2600" dirty="0"/>
          </a:p>
        </p:txBody>
      </p:sp>
      <p:sp>
        <p:nvSpPr>
          <p:cNvPr id="9" name="Shape 7"/>
          <p:cNvSpPr/>
          <p:nvPr/>
        </p:nvSpPr>
        <p:spPr>
          <a:xfrm>
            <a:off x="502920" y="2148840"/>
            <a:ext cx="11155680" cy="731520"/>
          </a:xfrm>
          <a:prstGeom prst="roundRect">
            <a:avLst>
              <a:gd name="adj" fmla="val 15000"/>
            </a:avLst>
          </a:prstGeom>
          <a:solidFill>
            <a:srgbClr val="FFFFFF"/>
          </a:solidFill>
          <a:ln w="15875">
            <a:solidFill>
              <a:srgbClr val="D9DEE7"/>
            </a:solidFill>
            <a:prstDash val="solid"/>
          </a:ln>
        </p:spPr>
      </p:sp>
      <p:sp>
        <p:nvSpPr>
          <p:cNvPr id="10" name="Shape 8"/>
          <p:cNvSpPr/>
          <p:nvPr/>
        </p:nvSpPr>
        <p:spPr>
          <a:xfrm>
            <a:off x="777240" y="2295144"/>
            <a:ext cx="438912" cy="438912"/>
          </a:xfrm>
          <a:prstGeom prst="roundRect">
            <a:avLst>
              <a:gd name="adj" fmla="val 20833"/>
            </a:avLst>
          </a:prstGeom>
          <a:solidFill>
            <a:srgbClr val="EEF2FB"/>
          </a:solidFill>
          <a:ln/>
        </p:spPr>
      </p:sp>
      <p:sp>
        <p:nvSpPr>
          <p:cNvPr id="11" name="Text 9"/>
          <p:cNvSpPr txBox="1"/>
          <p:nvPr/>
        </p:nvSpPr>
        <p:spPr>
          <a:xfrm>
            <a:off x="777240" y="229514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A</a:t>
            </a:r>
            <a:endParaRPr lang="en-US" sz="1300" dirty="0"/>
          </a:p>
        </p:txBody>
      </p:sp>
      <p:sp>
        <p:nvSpPr>
          <p:cNvPr id="12" name="Text 10"/>
          <p:cNvSpPr txBox="1"/>
          <p:nvPr/>
        </p:nvSpPr>
        <p:spPr>
          <a:xfrm>
            <a:off x="1417320" y="214884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Only when both doors are open</a:t>
            </a:r>
            <a:endParaRPr lang="en-US" sz="1700" dirty="0"/>
          </a:p>
        </p:txBody>
      </p:sp>
      <p:sp>
        <p:nvSpPr>
          <p:cNvPr id="13" name="Shape 11"/>
          <p:cNvSpPr/>
          <p:nvPr/>
        </p:nvSpPr>
        <p:spPr>
          <a:xfrm>
            <a:off x="502920" y="3017520"/>
            <a:ext cx="11155680" cy="731520"/>
          </a:xfrm>
          <a:prstGeom prst="roundRect">
            <a:avLst>
              <a:gd name="adj" fmla="val 15000"/>
            </a:avLst>
          </a:prstGeom>
          <a:solidFill>
            <a:srgbClr val="FFFFFF"/>
          </a:solidFill>
          <a:ln w="15875">
            <a:solidFill>
              <a:srgbClr val="D9DEE7"/>
            </a:solidFill>
            <a:prstDash val="solid"/>
          </a:ln>
        </p:spPr>
      </p:sp>
      <p:sp>
        <p:nvSpPr>
          <p:cNvPr id="14" name="Shape 12"/>
          <p:cNvSpPr/>
          <p:nvPr/>
        </p:nvSpPr>
        <p:spPr>
          <a:xfrm>
            <a:off x="777240" y="3163824"/>
            <a:ext cx="438912" cy="438912"/>
          </a:xfrm>
          <a:prstGeom prst="roundRect">
            <a:avLst>
              <a:gd name="adj" fmla="val 20833"/>
            </a:avLst>
          </a:prstGeom>
          <a:solidFill>
            <a:srgbClr val="EEF2FB"/>
          </a:solidFill>
          <a:ln/>
        </p:spPr>
      </p:sp>
      <p:sp>
        <p:nvSpPr>
          <p:cNvPr id="15" name="Text 13"/>
          <p:cNvSpPr txBox="1"/>
          <p:nvPr/>
        </p:nvSpPr>
        <p:spPr>
          <a:xfrm>
            <a:off x="777240" y="316382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B</a:t>
            </a:r>
            <a:endParaRPr lang="en-US" sz="1300" dirty="0"/>
          </a:p>
        </p:txBody>
      </p:sp>
      <p:sp>
        <p:nvSpPr>
          <p:cNvPr id="16" name="Text 14"/>
          <p:cNvSpPr txBox="1"/>
          <p:nvPr/>
        </p:nvSpPr>
        <p:spPr>
          <a:xfrm>
            <a:off x="1417320" y="301752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Whenever the lift moves</a:t>
            </a:r>
            <a:endParaRPr lang="en-US" sz="1700" dirty="0"/>
          </a:p>
        </p:txBody>
      </p:sp>
      <p:sp>
        <p:nvSpPr>
          <p:cNvPr id="17" name="Shape 15"/>
          <p:cNvSpPr/>
          <p:nvPr/>
        </p:nvSpPr>
        <p:spPr>
          <a:xfrm>
            <a:off x="502920" y="3886200"/>
            <a:ext cx="11155680" cy="731520"/>
          </a:xfrm>
          <a:prstGeom prst="roundRect">
            <a:avLst>
              <a:gd name="adj" fmla="val 15000"/>
            </a:avLst>
          </a:prstGeom>
          <a:solidFill>
            <a:srgbClr val="FFFFFF"/>
          </a:solidFill>
          <a:ln w="15875">
            <a:solidFill>
              <a:srgbClr val="D9DEE7"/>
            </a:solidFill>
            <a:prstDash val="solid"/>
          </a:ln>
        </p:spPr>
      </p:sp>
      <p:sp>
        <p:nvSpPr>
          <p:cNvPr id="18" name="Shape 16"/>
          <p:cNvSpPr/>
          <p:nvPr/>
        </p:nvSpPr>
        <p:spPr>
          <a:xfrm>
            <a:off x="777240" y="4032504"/>
            <a:ext cx="438912" cy="438912"/>
          </a:xfrm>
          <a:prstGeom prst="roundRect">
            <a:avLst>
              <a:gd name="adj" fmla="val 20833"/>
            </a:avLst>
          </a:prstGeom>
          <a:solidFill>
            <a:srgbClr val="EEF2FB"/>
          </a:solidFill>
          <a:ln/>
        </p:spPr>
      </p:sp>
      <p:sp>
        <p:nvSpPr>
          <p:cNvPr id="19" name="Text 17"/>
          <p:cNvSpPr txBox="1"/>
          <p:nvPr/>
        </p:nvSpPr>
        <p:spPr>
          <a:xfrm>
            <a:off x="777240" y="403250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C</a:t>
            </a:r>
            <a:endParaRPr lang="en-US" sz="1300" dirty="0"/>
          </a:p>
        </p:txBody>
      </p:sp>
      <p:sp>
        <p:nvSpPr>
          <p:cNvPr id="20" name="Text 18"/>
          <p:cNvSpPr txBox="1"/>
          <p:nvPr/>
        </p:nvSpPr>
        <p:spPr>
          <a:xfrm>
            <a:off x="1417320" y="388620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Never</a:t>
            </a:r>
            <a:endParaRPr lang="en-US" sz="1700" dirty="0"/>
          </a:p>
        </p:txBody>
      </p:sp>
      <p:sp>
        <p:nvSpPr>
          <p:cNvPr id="21" name="Shape 19"/>
          <p:cNvSpPr/>
          <p:nvPr/>
        </p:nvSpPr>
        <p:spPr>
          <a:xfrm>
            <a:off x="502920" y="4754880"/>
            <a:ext cx="11155680" cy="731520"/>
          </a:xfrm>
          <a:prstGeom prst="roundRect">
            <a:avLst>
              <a:gd name="adj" fmla="val 15000"/>
            </a:avLst>
          </a:prstGeom>
          <a:solidFill>
            <a:srgbClr val="FFFFFF"/>
          </a:solidFill>
          <a:ln w="15875">
            <a:solidFill>
              <a:srgbClr val="D9DEE7"/>
            </a:solidFill>
            <a:prstDash val="solid"/>
          </a:ln>
        </p:spPr>
      </p:sp>
      <p:sp>
        <p:nvSpPr>
          <p:cNvPr id="22" name="Shape 20"/>
          <p:cNvSpPr/>
          <p:nvPr/>
        </p:nvSpPr>
        <p:spPr>
          <a:xfrm>
            <a:off x="777240" y="4901184"/>
            <a:ext cx="438912" cy="438912"/>
          </a:xfrm>
          <a:prstGeom prst="roundRect">
            <a:avLst>
              <a:gd name="adj" fmla="val 20833"/>
            </a:avLst>
          </a:prstGeom>
          <a:solidFill>
            <a:srgbClr val="EEF2FB"/>
          </a:solidFill>
          <a:ln/>
        </p:spPr>
      </p:sp>
      <p:sp>
        <p:nvSpPr>
          <p:cNvPr id="23" name="Text 21"/>
          <p:cNvSpPr txBox="1"/>
          <p:nvPr/>
        </p:nvSpPr>
        <p:spPr>
          <a:xfrm>
            <a:off x="777240" y="4901184"/>
            <a:ext cx="438912" cy="438912"/>
          </a:xfrm>
          <a:prstGeom prst="rect">
            <a:avLst/>
          </a:prstGeom>
          <a:noFill/>
          <a:ln/>
        </p:spPr>
        <p:txBody>
          <a:bodyPr wrap="square" lIns="0" tIns="0" rIns="0" bIns="0" rtlCol="0" anchor="ctr"/>
          <a:lstStyle/>
          <a:p>
            <a:pPr algn="ctr" indent="0" marL="0">
              <a:buNone/>
            </a:pPr>
            <a:r>
              <a:rPr lang="en-US" sz="1300" b="1" dirty="0">
                <a:solidFill>
                  <a:srgbClr val="2D63FF"/>
                </a:solidFill>
                <a:latin typeface="IBM Plex Mono" pitchFamily="34" charset="0"/>
                <a:ea typeface="IBM Plex Mono" pitchFamily="34" charset="-122"/>
                <a:cs typeface="IBM Plex Mono" pitchFamily="34" charset="-120"/>
              </a:rPr>
              <a:t>D</a:t>
            </a:r>
            <a:endParaRPr lang="en-US" sz="1300" dirty="0"/>
          </a:p>
        </p:txBody>
      </p:sp>
      <p:sp>
        <p:nvSpPr>
          <p:cNvPr id="24" name="Text 22"/>
          <p:cNvSpPr txBox="1"/>
          <p:nvPr/>
        </p:nvSpPr>
        <p:spPr>
          <a:xfrm>
            <a:off x="1417320" y="4754880"/>
            <a:ext cx="10058400" cy="731520"/>
          </a:xfrm>
          <a:prstGeom prst="rect">
            <a:avLst/>
          </a:prstGeom>
          <a:noFill/>
          <a:ln/>
        </p:spPr>
        <p:txBody>
          <a:bodyPr wrap="square" lIns="0" tIns="0" rIns="0" bIns="0" rtlCol="0" anchor="ctr"/>
          <a:lstStyle/>
          <a:p>
            <a:pPr indent="0" marL="0">
              <a:lnSpc>
                <a:spcPct val="115000"/>
              </a:lnSpc>
              <a:buNone/>
            </a:pPr>
            <a:r>
              <a:rPr lang="en-US" sz="1700" dirty="0">
                <a:solidFill>
                  <a:srgbClr val="101828"/>
                </a:solidFill>
                <a:latin typeface="IBM Plex Sans" pitchFamily="34" charset="0"/>
                <a:ea typeface="IBM Plex Sans" pitchFamily="34" charset="-122"/>
                <a:cs typeface="IBM Plex Sans" pitchFamily="34" charset="-120"/>
              </a:rPr>
              <a:t>When at least one door is open, and the lift is either moving or overloaded</a:t>
            </a:r>
            <a:endParaRPr lang="en-US" sz="1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Shape 3"/>
          <p:cNvSpPr/>
          <p:nvPr/>
        </p:nvSpPr>
        <p:spPr>
          <a:xfrm>
            <a:off x="502920" y="438912"/>
            <a:ext cx="3108960" cy="502920"/>
          </a:xfrm>
          <a:prstGeom prst="roundRect">
            <a:avLst>
              <a:gd name="adj" fmla="val 18182"/>
            </a:avLst>
          </a:prstGeom>
          <a:solidFill>
            <a:srgbClr val="F4B942"/>
          </a:solidFill>
          <a:ln/>
        </p:spPr>
      </p:sp>
      <p:sp>
        <p:nvSpPr>
          <p:cNvPr id="6" name="Text 4"/>
          <p:cNvSpPr txBox="1"/>
          <p:nvPr/>
        </p:nvSpPr>
        <p:spPr>
          <a:xfrm>
            <a:off x="502920" y="438912"/>
            <a:ext cx="3108960" cy="502920"/>
          </a:xfrm>
          <a:prstGeom prst="rect">
            <a:avLst/>
          </a:prstGeom>
          <a:noFill/>
          <a:ln/>
        </p:spPr>
        <p:txBody>
          <a:bodyPr wrap="square" lIns="0" tIns="0" rIns="0" bIns="0" rtlCol="0" anchor="ctr"/>
          <a:lstStyle/>
          <a:p>
            <a:pPr algn="ctr" indent="0" marL="0">
              <a:buNone/>
            </a:pPr>
            <a:r>
              <a:rPr lang="en-US" sz="1300" b="1" dirty="0">
                <a:solidFill>
                  <a:srgbClr val="101828"/>
                </a:solidFill>
                <a:latin typeface="IBM Plex Mono" pitchFamily="34" charset="0"/>
                <a:ea typeface="IBM Plex Mono" pitchFamily="34" charset="-122"/>
                <a:cs typeface="IBM Plex Mono" pitchFamily="34" charset="-120"/>
              </a:rPr>
              <a:t>★  FINAL CHALLENGE</a:t>
            </a:r>
            <a:endParaRPr lang="en-US" sz="1300" dirty="0"/>
          </a:p>
        </p:txBody>
      </p:sp>
      <p:sp>
        <p:nvSpPr>
          <p:cNvPr id="7" name="Text 5"/>
          <p:cNvSpPr txBox="1"/>
          <p:nvPr/>
        </p:nvSpPr>
        <p:spPr>
          <a:xfrm>
            <a:off x="502920" y="1097280"/>
            <a:ext cx="11155680" cy="731520"/>
          </a:xfrm>
          <a:prstGeom prst="rect">
            <a:avLst/>
          </a:prstGeom>
          <a:noFill/>
          <a:ln/>
        </p:spPr>
        <p:txBody>
          <a:bodyPr wrap="square" lIns="0" tIns="0" rIns="0" bIns="0" rtlCol="0" anchor="ctr"/>
          <a:lstStyle/>
          <a:p>
            <a:pPr indent="0" marL="0">
              <a:buNone/>
            </a:pPr>
            <a:r>
              <a:rPr lang="en-US" sz="3400" b="1" dirty="0">
                <a:solidFill>
                  <a:srgbClr val="101828"/>
                </a:solidFill>
                <a:latin typeface="IBM Plex Sans" pitchFamily="34" charset="0"/>
                <a:ea typeface="IBM Plex Sans" pitchFamily="34" charset="-122"/>
                <a:cs typeface="IBM Plex Sans" pitchFamily="34" charset="-120"/>
              </a:rPr>
              <a:t>Design and test</a:t>
            </a:r>
            <a:endParaRPr lang="en-US" sz="3400" dirty="0"/>
          </a:p>
        </p:txBody>
      </p:sp>
      <p:sp>
        <p:nvSpPr>
          <p:cNvPr id="8" name="Shape 6"/>
          <p:cNvSpPr/>
          <p:nvPr/>
        </p:nvSpPr>
        <p:spPr>
          <a:xfrm>
            <a:off x="502920" y="2011680"/>
            <a:ext cx="11155680" cy="2194560"/>
          </a:xfrm>
          <a:prstGeom prst="roundRect">
            <a:avLst>
              <a:gd name="adj" fmla="val 5000"/>
            </a:avLst>
          </a:prstGeom>
          <a:solidFill>
            <a:srgbClr val="FFFFFF"/>
          </a:solidFill>
          <a:ln w="15875">
            <a:solidFill>
              <a:srgbClr val="2D63FF"/>
            </a:solidFill>
            <a:prstDash val="solid"/>
          </a:ln>
        </p:spPr>
      </p:sp>
      <p:sp>
        <p:nvSpPr>
          <p:cNvPr id="9" name="Text 7"/>
          <p:cNvSpPr txBox="1"/>
          <p:nvPr/>
        </p:nvSpPr>
        <p:spPr>
          <a:xfrm>
            <a:off x="1005840" y="2331720"/>
            <a:ext cx="10149840" cy="1554480"/>
          </a:xfrm>
          <a:prstGeom prst="rect">
            <a:avLst/>
          </a:prstGeom>
          <a:noFill/>
          <a:ln/>
        </p:spPr>
        <p:txBody>
          <a:bodyPr wrap="square" lIns="0" tIns="0" rIns="0" bIns="0" rtlCol="0" anchor="ctr"/>
          <a:lstStyle/>
          <a:p>
            <a:pPr indent="0" marL="0">
              <a:lnSpc>
                <a:spcPct val="130000"/>
              </a:lnSpc>
              <a:buNone/>
            </a:pPr>
            <a:r>
              <a:rPr lang="en-US" sz="2200" dirty="0">
                <a:solidFill>
                  <a:srgbClr val="101828"/>
                </a:solidFill>
                <a:latin typeface="IBM Plex Sans" pitchFamily="34" charset="0"/>
                <a:ea typeface="IBM Plex Sans" pitchFamily="34" charset="-122"/>
                <a:cs typeface="IBM Plex Sans" pitchFamily="34" charset="-120"/>
              </a:rPr>
              <a:t>A security light turns on (Q) if it's dark (A) AND movement is detected (B), unless the test switch (C) is on. Build it, then complete its truth table.</a:t>
            </a:r>
            <a:endParaRPr lang="en-US" sz="2200" dirty="0"/>
          </a:p>
        </p:txBody>
      </p:sp>
      <p:sp>
        <p:nvSpPr>
          <p:cNvPr id="10" name="Text 8"/>
          <p:cNvSpPr txBox="1"/>
          <p:nvPr/>
        </p:nvSpPr>
        <p:spPr>
          <a:xfrm>
            <a:off x="502920" y="4526280"/>
            <a:ext cx="11155680" cy="457200"/>
          </a:xfrm>
          <a:prstGeom prst="rect">
            <a:avLst/>
          </a:prstGeom>
          <a:noFill/>
          <a:ln/>
        </p:spPr>
        <p:txBody>
          <a:bodyPr wrap="square" lIns="0" tIns="0" rIns="0" bIns="0" rtlCol="0" anchor="ctr"/>
          <a:lstStyle/>
          <a:p>
            <a:pPr indent="0" marL="0">
              <a:buNone/>
            </a:pPr>
            <a:r>
              <a:rPr lang="en-US" sz="1600" dirty="0">
                <a:solidFill>
                  <a:srgbClr val="667085"/>
                </a:solidFill>
                <a:latin typeface="IBM Plex Sans" pitchFamily="34" charset="0"/>
                <a:ea typeface="IBM Plex Sans" pitchFamily="34" charset="-122"/>
                <a:cs typeface="IBM Plex Sans" pitchFamily="34" charset="-120"/>
              </a:rPr>
              <a:t>Predict on paper first, then look down and test it.</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Worth knowing</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The information markers dotted around the room</a:t>
            </a:r>
            <a:endParaRPr lang="en-US" sz="1500" dirty="0"/>
          </a:p>
        </p:txBody>
      </p:sp>
      <p:sp>
        <p:nvSpPr>
          <p:cNvPr id="7" name="Shape 5"/>
          <p:cNvSpPr/>
          <p:nvPr/>
        </p:nvSpPr>
        <p:spPr>
          <a:xfrm>
            <a:off x="502920" y="1828800"/>
            <a:ext cx="5394960" cy="1737360"/>
          </a:xfrm>
          <a:prstGeom prst="roundRect">
            <a:avLst>
              <a:gd name="adj" fmla="val 6316"/>
            </a:avLst>
          </a:prstGeom>
          <a:solidFill>
            <a:srgbClr val="FFFFFF"/>
          </a:solidFill>
          <a:ln w="15875">
            <a:solidFill>
              <a:srgbClr val="2D63FF"/>
            </a:solidFill>
            <a:prstDash val="solid"/>
          </a:ln>
        </p:spPr>
      </p:sp>
      <p:sp>
        <p:nvSpPr>
          <p:cNvPr id="8" name="Text 6"/>
          <p:cNvSpPr txBox="1"/>
          <p:nvPr/>
        </p:nvSpPr>
        <p:spPr>
          <a:xfrm>
            <a:off x="822960" y="201168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Logic in everyday rules</a:t>
            </a:r>
            <a:endParaRPr lang="en-US" sz="1600" dirty="0"/>
          </a:p>
        </p:txBody>
      </p:sp>
      <p:sp>
        <p:nvSpPr>
          <p:cNvPr id="9" name="Text 7"/>
          <p:cNvSpPr txBox="1"/>
          <p:nvPr/>
        </p:nvSpPr>
        <p:spPr>
          <a:xfrm>
            <a:off x="822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Nearly every automatic device hides a logic expression: a boiler, a lift, a car alarm. Reading the rule and underlining the words and, or and not is most of the work.</a:t>
            </a:r>
            <a:endParaRPr lang="en-US" sz="1300" dirty="0"/>
          </a:p>
        </p:txBody>
      </p:sp>
      <p:sp>
        <p:nvSpPr>
          <p:cNvPr id="10" name="Shape 8"/>
          <p:cNvSpPr/>
          <p:nvPr/>
        </p:nvSpPr>
        <p:spPr>
          <a:xfrm>
            <a:off x="6217920" y="1828800"/>
            <a:ext cx="5394960" cy="1737360"/>
          </a:xfrm>
          <a:prstGeom prst="roundRect">
            <a:avLst>
              <a:gd name="adj" fmla="val 6316"/>
            </a:avLst>
          </a:prstGeom>
          <a:solidFill>
            <a:srgbClr val="FFFFFF"/>
          </a:solidFill>
          <a:ln w="15875">
            <a:solidFill>
              <a:srgbClr val="08A6A6"/>
            </a:solidFill>
            <a:prstDash val="solid"/>
          </a:ln>
        </p:spPr>
      </p:sp>
      <p:sp>
        <p:nvSpPr>
          <p:cNvPr id="11" name="Text 9"/>
          <p:cNvSpPr txBox="1"/>
          <p:nvPr/>
        </p:nvSpPr>
        <p:spPr>
          <a:xfrm>
            <a:off x="6537960" y="201168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Real alarms</a:t>
            </a:r>
            <a:endParaRPr lang="en-US" sz="1600" dirty="0"/>
          </a:p>
        </p:txBody>
      </p:sp>
      <p:sp>
        <p:nvSpPr>
          <p:cNvPr id="12" name="Text 10"/>
          <p:cNvSpPr txBox="1"/>
          <p:nvPr/>
        </p:nvSpPr>
        <p:spPr>
          <a:xfrm>
            <a:off x="6537960" y="239572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Burglar alarms really are built from logic like this, often with extra inputs for doors, windows and a timer.</a:t>
            </a:r>
            <a:endParaRPr lang="en-US" sz="1300" dirty="0"/>
          </a:p>
        </p:txBody>
      </p:sp>
      <p:sp>
        <p:nvSpPr>
          <p:cNvPr id="13" name="Shape 11"/>
          <p:cNvSpPr/>
          <p:nvPr/>
        </p:nvSpPr>
        <p:spPr>
          <a:xfrm>
            <a:off x="502920" y="3794760"/>
            <a:ext cx="5394960" cy="1737360"/>
          </a:xfrm>
          <a:prstGeom prst="roundRect">
            <a:avLst>
              <a:gd name="adj" fmla="val 6316"/>
            </a:avLst>
          </a:prstGeom>
          <a:solidFill>
            <a:srgbClr val="FFFFFF"/>
          </a:solidFill>
          <a:ln w="15875">
            <a:solidFill>
              <a:srgbClr val="2D63FF"/>
            </a:solidFill>
            <a:prstDash val="solid"/>
          </a:ln>
        </p:spPr>
      </p:sp>
      <p:sp>
        <p:nvSpPr>
          <p:cNvPr id="14" name="Text 12"/>
          <p:cNvSpPr txBox="1"/>
          <p:nvPr/>
        </p:nvSpPr>
        <p:spPr>
          <a:xfrm>
            <a:off x="822960" y="3977640"/>
            <a:ext cx="4754880" cy="365760"/>
          </a:xfrm>
          <a:prstGeom prst="rect">
            <a:avLst/>
          </a:prstGeom>
          <a:noFill/>
          <a:ln/>
        </p:spPr>
        <p:txBody>
          <a:bodyPr wrap="square" lIns="0" tIns="0" rIns="0" bIns="0" rtlCol="0" anchor="ctr"/>
          <a:lstStyle/>
          <a:p>
            <a:pPr indent="0" marL="0">
              <a:buNone/>
            </a:pPr>
            <a:r>
              <a:rPr lang="en-US" sz="1600" b="1" dirty="0">
                <a:solidFill>
                  <a:srgbClr val="2D63FF"/>
                </a:solidFill>
                <a:latin typeface="IBM Plex Sans" pitchFamily="34" charset="0"/>
                <a:ea typeface="IBM Plex Sans" pitchFamily="34" charset="-122"/>
                <a:cs typeface="IBM Plex Sans" pitchFamily="34" charset="-120"/>
              </a:rPr>
              <a:t>Fail-safe design</a:t>
            </a:r>
            <a:endParaRPr lang="en-US" sz="1600" dirty="0"/>
          </a:p>
        </p:txBody>
      </p:sp>
      <p:sp>
        <p:nvSpPr>
          <p:cNvPr id="15" name="Text 13"/>
          <p:cNvSpPr txBox="1"/>
          <p:nvPr/>
        </p:nvSpPr>
        <p:spPr>
          <a:xfrm>
            <a:off x="822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Emergency stops are usually wired so that a broken wire also stops the machine. Safety engineers call this fail-safe design.</a:t>
            </a:r>
            <a:endParaRPr lang="en-US" sz="1300" dirty="0"/>
          </a:p>
        </p:txBody>
      </p:sp>
      <p:sp>
        <p:nvSpPr>
          <p:cNvPr id="16" name="Shape 14"/>
          <p:cNvSpPr/>
          <p:nvPr/>
        </p:nvSpPr>
        <p:spPr>
          <a:xfrm>
            <a:off x="6217920" y="3794760"/>
            <a:ext cx="5394960" cy="1737360"/>
          </a:xfrm>
          <a:prstGeom prst="roundRect">
            <a:avLst>
              <a:gd name="adj" fmla="val 6316"/>
            </a:avLst>
          </a:prstGeom>
          <a:solidFill>
            <a:srgbClr val="FFFFFF"/>
          </a:solidFill>
          <a:ln w="15875">
            <a:solidFill>
              <a:srgbClr val="08A6A6"/>
            </a:solidFill>
            <a:prstDash val="solid"/>
          </a:ln>
        </p:spPr>
      </p:sp>
      <p:sp>
        <p:nvSpPr>
          <p:cNvPr id="17" name="Text 15"/>
          <p:cNvSpPr txBox="1"/>
          <p:nvPr/>
        </p:nvSpPr>
        <p:spPr>
          <a:xfrm>
            <a:off x="6537960" y="3977640"/>
            <a:ext cx="4754880" cy="365760"/>
          </a:xfrm>
          <a:prstGeom prst="rect">
            <a:avLst/>
          </a:prstGeom>
          <a:noFill/>
          <a:ln/>
        </p:spPr>
        <p:txBody>
          <a:bodyPr wrap="square" lIns="0" tIns="0" rIns="0" bIns="0" rtlCol="0" anchor="ctr"/>
          <a:lstStyle/>
          <a:p>
            <a:pPr indent="0" marL="0">
              <a:buNone/>
            </a:pPr>
            <a:r>
              <a:rPr lang="en-US" sz="1600" b="1" dirty="0">
                <a:solidFill>
                  <a:srgbClr val="08A6A6"/>
                </a:solidFill>
                <a:latin typeface="IBM Plex Sans" pitchFamily="34" charset="0"/>
                <a:ea typeface="IBM Plex Sans" pitchFamily="34" charset="-122"/>
                <a:cs typeface="IBM Plex Sans" pitchFamily="34" charset="-120"/>
              </a:rPr>
              <a:t>Programmable logic</a:t>
            </a:r>
            <a:endParaRPr lang="en-US" sz="1600" dirty="0"/>
          </a:p>
        </p:txBody>
      </p:sp>
      <p:sp>
        <p:nvSpPr>
          <p:cNvPr id="18" name="Text 16"/>
          <p:cNvSpPr txBox="1"/>
          <p:nvPr/>
        </p:nvSpPr>
        <p:spPr>
          <a:xfrm>
            <a:off x="6537960" y="4361688"/>
            <a:ext cx="4754880" cy="1005840"/>
          </a:xfrm>
          <a:prstGeom prst="rect">
            <a:avLst/>
          </a:prstGeom>
          <a:noFill/>
          <a:ln/>
        </p:spPr>
        <p:txBody>
          <a:bodyPr wrap="square" lIns="0" tIns="0" rIns="0" bIns="0" rtlCol="0" anchor="t"/>
          <a:lstStyle/>
          <a:p>
            <a:pPr indent="0" marL="0">
              <a:lnSpc>
                <a:spcPct val="120000"/>
              </a:lnSpc>
              <a:buNone/>
            </a:pPr>
            <a:r>
              <a:rPr lang="en-US" sz="1300" dirty="0">
                <a:solidFill>
                  <a:srgbClr val="667085"/>
                </a:solidFill>
                <a:latin typeface="IBM Plex Sans" pitchFamily="34" charset="0"/>
                <a:ea typeface="IBM Plex Sans" pitchFamily="34" charset="-122"/>
                <a:cs typeface="IBM Plex Sans" pitchFamily="34" charset="-120"/>
              </a:rPr>
              <a:t>Factories use programmable logic controllers (PLCs), which are programmed with logic diagrams very like the ones you're drawing.</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Exam practice</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Devices away. Answer from memory on the worksheet.</a:t>
            </a:r>
            <a:endParaRPr lang="en-US" sz="1500" dirty="0"/>
          </a:p>
        </p:txBody>
      </p:sp>
      <p:sp>
        <p:nvSpPr>
          <p:cNvPr id="7" name="Shape 5"/>
          <p:cNvSpPr/>
          <p:nvPr/>
        </p:nvSpPr>
        <p:spPr>
          <a:xfrm>
            <a:off x="502920" y="1828800"/>
            <a:ext cx="11155680" cy="1097280"/>
          </a:xfrm>
          <a:prstGeom prst="roundRect">
            <a:avLst>
              <a:gd name="adj" fmla="val 10000"/>
            </a:avLst>
          </a:prstGeom>
          <a:solidFill>
            <a:srgbClr val="FFFFFF"/>
          </a:solidFill>
          <a:ln w="15875">
            <a:solidFill>
              <a:srgbClr val="D9DEE7"/>
            </a:solidFill>
            <a:prstDash val="solid"/>
          </a:ln>
        </p:spPr>
      </p:sp>
      <p:sp>
        <p:nvSpPr>
          <p:cNvPr id="8" name="Text 6"/>
          <p:cNvSpPr txBox="1"/>
          <p:nvPr/>
        </p:nvSpPr>
        <p:spPr>
          <a:xfrm>
            <a:off x="914400" y="1938528"/>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A fire door alarm sounds (Q) when the door is open (D) AND the building is locked (L), or when the test button (T) is pressed. Write the Boolean expression.</a:t>
            </a:r>
            <a:endParaRPr lang="en-US" sz="1700" dirty="0"/>
          </a:p>
        </p:txBody>
      </p:sp>
      <p:sp>
        <p:nvSpPr>
          <p:cNvPr id="9" name="Shape 7"/>
          <p:cNvSpPr/>
          <p:nvPr/>
        </p:nvSpPr>
        <p:spPr>
          <a:xfrm>
            <a:off x="10515600" y="2130552"/>
            <a:ext cx="868680" cy="493776"/>
          </a:xfrm>
          <a:prstGeom prst="roundRect">
            <a:avLst>
              <a:gd name="adj" fmla="val 18519"/>
            </a:avLst>
          </a:prstGeom>
          <a:solidFill>
            <a:srgbClr val="EEF2FB"/>
          </a:solidFill>
          <a:ln/>
        </p:spPr>
      </p:sp>
      <p:sp>
        <p:nvSpPr>
          <p:cNvPr id="10" name="Text 8"/>
          <p:cNvSpPr txBox="1"/>
          <p:nvPr/>
        </p:nvSpPr>
        <p:spPr>
          <a:xfrm>
            <a:off x="10515600" y="2130552"/>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[2]</a:t>
            </a:r>
            <a:endParaRPr lang="en-US" sz="1500" dirty="0"/>
          </a:p>
        </p:txBody>
      </p:sp>
      <p:sp>
        <p:nvSpPr>
          <p:cNvPr id="11" name="Shape 9"/>
          <p:cNvSpPr/>
          <p:nvPr/>
        </p:nvSpPr>
        <p:spPr>
          <a:xfrm>
            <a:off x="502920" y="3127248"/>
            <a:ext cx="11155680" cy="1097280"/>
          </a:xfrm>
          <a:prstGeom prst="roundRect">
            <a:avLst>
              <a:gd name="adj" fmla="val 10000"/>
            </a:avLst>
          </a:prstGeom>
          <a:solidFill>
            <a:srgbClr val="FFFFFF"/>
          </a:solidFill>
          <a:ln w="15875">
            <a:solidFill>
              <a:srgbClr val="D9DEE7"/>
            </a:solidFill>
            <a:prstDash val="solid"/>
          </a:ln>
        </p:spPr>
      </p:sp>
      <p:sp>
        <p:nvSpPr>
          <p:cNvPr id="12" name="Text 10"/>
          <p:cNvSpPr txBox="1"/>
          <p:nvPr/>
        </p:nvSpPr>
        <p:spPr>
          <a:xfrm>
            <a:off x="914400" y="3236976"/>
            <a:ext cx="9418320" cy="877824"/>
          </a:xfrm>
          <a:prstGeom prst="rect">
            <a:avLst/>
          </a:prstGeom>
          <a:noFill/>
          <a:ln/>
        </p:spPr>
        <p:txBody>
          <a:bodyPr wrap="square" lIns="0" tIns="0" rIns="0" bIns="0" rtlCol="0" anchor="ctr"/>
          <a:lstStyle/>
          <a:p>
            <a:pPr indent="0" marL="0">
              <a:lnSpc>
                <a:spcPct val="118000"/>
              </a:lnSpc>
              <a:buNone/>
            </a:pPr>
            <a:r>
              <a:rPr lang="en-US" sz="1700" dirty="0">
                <a:solidFill>
                  <a:srgbClr val="101828"/>
                </a:solidFill>
                <a:latin typeface="IBM Plex Sans" pitchFamily="34" charset="0"/>
                <a:ea typeface="IBM Plex Sans" pitchFamily="34" charset="-122"/>
                <a:cs typeface="IBM Plex Sans" pitchFamily="34" charset="-120"/>
              </a:rPr>
              <a:t>Draw the logic diagram for your expression.</a:t>
            </a:r>
            <a:endParaRPr lang="en-US" sz="1700" dirty="0"/>
          </a:p>
        </p:txBody>
      </p:sp>
      <p:sp>
        <p:nvSpPr>
          <p:cNvPr id="13" name="Shape 11"/>
          <p:cNvSpPr/>
          <p:nvPr/>
        </p:nvSpPr>
        <p:spPr>
          <a:xfrm>
            <a:off x="10515600" y="3429000"/>
            <a:ext cx="868680" cy="493776"/>
          </a:xfrm>
          <a:prstGeom prst="roundRect">
            <a:avLst>
              <a:gd name="adj" fmla="val 18519"/>
            </a:avLst>
          </a:prstGeom>
          <a:solidFill>
            <a:srgbClr val="EEF2FB"/>
          </a:solidFill>
          <a:ln/>
        </p:spPr>
      </p:sp>
      <p:sp>
        <p:nvSpPr>
          <p:cNvPr id="14" name="Text 12"/>
          <p:cNvSpPr txBox="1"/>
          <p:nvPr/>
        </p:nvSpPr>
        <p:spPr>
          <a:xfrm>
            <a:off x="10515600" y="3429000"/>
            <a:ext cx="868680" cy="493776"/>
          </a:xfrm>
          <a:prstGeom prst="rect">
            <a:avLst/>
          </a:prstGeom>
          <a:noFill/>
          <a:ln/>
        </p:spPr>
        <p:txBody>
          <a:bodyPr wrap="square" lIns="0" tIns="0" rIns="0" bIns="0" rtlCol="0" anchor="ctr"/>
          <a:lstStyle/>
          <a:p>
            <a:pPr algn="ctr" indent="0" marL="0">
              <a:buNone/>
            </a:pPr>
            <a:r>
              <a:rPr lang="en-US" sz="1500" b="1" dirty="0">
                <a:solidFill>
                  <a:srgbClr val="2D63FF"/>
                </a:solidFill>
                <a:latin typeface="IBM Plex Mono" pitchFamily="34" charset="0"/>
                <a:ea typeface="IBM Plex Mono" pitchFamily="34" charset="-122"/>
                <a:cs typeface="IBM Plex Mono" pitchFamily="34" charset="-120"/>
              </a:rPr>
              <a:t>[3]</a:t>
            </a:r>
            <a:endParaRPr lang="en-US" sz="15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4"/>
        </a:solidFill>
      </p:bgPr>
    </p:bg>
    <p:spTree>
      <p:nvGrpSpPr>
        <p:cNvPr id="1" name=""/>
        <p:cNvGrpSpPr/>
        <p:nvPr/>
      </p:nvGrpSpPr>
      <p:grpSpPr>
        <a:xfrm>
          <a:off x="0" y="0"/>
          <a:ext cx="0" cy="0"/>
          <a:chOff x="0" y="0"/>
          <a:chExt cx="0" cy="0"/>
        </a:xfrm>
      </p:grpSpPr>
      <p:sp>
        <p:nvSpPr>
          <p:cNvPr id="2" name="Shape 0"/>
          <p:cNvSpPr/>
          <p:nvPr/>
        </p:nvSpPr>
        <p:spPr>
          <a:xfrm>
            <a:off x="0" y="0"/>
            <a:ext cx="12188952" cy="82296"/>
          </a:xfrm>
          <a:prstGeom prst="rect">
            <a:avLst/>
          </a:prstGeom>
          <a:solidFill>
            <a:srgbClr val="2D63FF"/>
          </a:solidFill>
          <a:ln/>
        </p:spPr>
      </p:sp>
      <p:sp>
        <p:nvSpPr>
          <p:cNvPr id="3" name="Text 1"/>
          <p:cNvSpPr txBox="1"/>
          <p:nvPr/>
        </p:nvSpPr>
        <p:spPr>
          <a:xfrm>
            <a:off x="502920" y="6236208"/>
            <a:ext cx="7772400" cy="365760"/>
          </a:xfrm>
          <a:prstGeom prst="rect">
            <a:avLst/>
          </a:prstGeom>
          <a:noFill/>
          <a:ln/>
        </p:spPr>
        <p:txBody>
          <a:bodyPr wrap="square" lIns="0" tIns="0" rIns="0" bIns="0" rtlCol="0" anchor="ctr"/>
          <a:lstStyle/>
          <a:p>
            <a:pPr indent="0" marL="0">
              <a:buNone/>
            </a:pPr>
            <a:r>
              <a:rPr lang="en-US" sz="1100" dirty="0">
                <a:solidFill>
                  <a:srgbClr val="667085"/>
                </a:solidFill>
                <a:latin typeface="IBM Plex Mono" pitchFamily="34" charset="0"/>
                <a:ea typeface="IBM Plex Mono" pitchFamily="34" charset="-122"/>
                <a:cs typeface="IBM Plex Mono" pitchFamily="34" charset="-120"/>
              </a:rPr>
              <a:t>2.4 Boolean logic  |  Lesson 3</a:t>
            </a:r>
            <a:endParaRPr lang="en-US" sz="1100" dirty="0"/>
          </a:p>
        </p:txBody>
      </p:sp>
      <p:sp>
        <p:nvSpPr>
          <p:cNvPr id="4" name="Text 2"/>
          <p:cNvSpPr txBox="1"/>
          <p:nvPr/>
        </p:nvSpPr>
        <p:spPr>
          <a:xfrm>
            <a:off x="9326880" y="6236208"/>
            <a:ext cx="2377440" cy="365760"/>
          </a:xfrm>
          <a:prstGeom prst="rect">
            <a:avLst/>
          </a:prstGeom>
          <a:noFill/>
          <a:ln/>
        </p:spPr>
        <p:txBody>
          <a:bodyPr wrap="square" lIns="0" tIns="0" rIns="0" bIns="0" rtlCol="0" anchor="ctr"/>
          <a:lstStyle/>
          <a:p>
            <a:pPr algn="r" indent="0" marL="0">
              <a:buNone/>
            </a:pPr>
            <a:r>
              <a:rPr lang="en-US" sz="1100" dirty="0">
                <a:solidFill>
                  <a:srgbClr val="667085"/>
                </a:solidFill>
                <a:latin typeface="IBM Plex Mono" pitchFamily="34" charset="0"/>
                <a:ea typeface="IBM Plex Mono" pitchFamily="34" charset="-122"/>
                <a:cs typeface="IBM Plex Mono" pitchFamily="34" charset="-120"/>
              </a:rPr>
              <a:t>Revise 360</a:t>
            </a:r>
            <a:endParaRPr lang="en-US" sz="1100" dirty="0"/>
          </a:p>
        </p:txBody>
      </p:sp>
      <p:sp>
        <p:nvSpPr>
          <p:cNvPr id="5" name="Text 3"/>
          <p:cNvSpPr txBox="1"/>
          <p:nvPr/>
        </p:nvSpPr>
        <p:spPr>
          <a:xfrm>
            <a:off x="502920" y="411480"/>
            <a:ext cx="11155680" cy="777240"/>
          </a:xfrm>
          <a:prstGeom prst="rect">
            <a:avLst/>
          </a:prstGeom>
          <a:noFill/>
          <a:ln/>
        </p:spPr>
        <p:txBody>
          <a:bodyPr wrap="square" lIns="0" tIns="0" rIns="0" bIns="0" rtlCol="0" anchor="ctr"/>
          <a:lstStyle/>
          <a:p>
            <a:pPr indent="0" marL="0">
              <a:buNone/>
            </a:pPr>
            <a:r>
              <a:rPr lang="en-US" sz="3200" b="1" dirty="0">
                <a:solidFill>
                  <a:srgbClr val="101828"/>
                </a:solidFill>
                <a:latin typeface="IBM Plex Sans" pitchFamily="34" charset="0"/>
                <a:ea typeface="IBM Plex Sans" pitchFamily="34" charset="-122"/>
                <a:cs typeface="IBM Plex Sans" pitchFamily="34" charset="-120"/>
              </a:rPr>
              <a:t>Before you go</a:t>
            </a:r>
            <a:endParaRPr lang="en-US" sz="3200" dirty="0"/>
          </a:p>
        </p:txBody>
      </p:sp>
      <p:sp>
        <p:nvSpPr>
          <p:cNvPr id="6" name="Text 4"/>
          <p:cNvSpPr txBox="1"/>
          <p:nvPr/>
        </p:nvSpPr>
        <p:spPr>
          <a:xfrm>
            <a:off x="502920" y="1170432"/>
            <a:ext cx="11155680" cy="41148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Rate yourself on each of these</a:t>
            </a:r>
            <a:endParaRPr lang="en-US" sz="1500" dirty="0"/>
          </a:p>
        </p:txBody>
      </p:sp>
      <p:sp>
        <p:nvSpPr>
          <p:cNvPr id="7" name="Shape 5"/>
          <p:cNvSpPr/>
          <p:nvPr/>
        </p:nvSpPr>
        <p:spPr>
          <a:xfrm>
            <a:off x="502920" y="1920240"/>
            <a:ext cx="7863840" cy="777240"/>
          </a:xfrm>
          <a:prstGeom prst="roundRect">
            <a:avLst>
              <a:gd name="adj" fmla="val 14118"/>
            </a:avLst>
          </a:prstGeom>
          <a:solidFill>
            <a:srgbClr val="FFFFFF"/>
          </a:solidFill>
          <a:ln w="15875">
            <a:solidFill>
              <a:srgbClr val="D9DEE7"/>
            </a:solidFill>
            <a:prstDash val="solid"/>
          </a:ln>
        </p:spPr>
      </p:sp>
      <p:sp>
        <p:nvSpPr>
          <p:cNvPr id="8" name="Text 6"/>
          <p:cNvSpPr txBox="1"/>
          <p:nvPr/>
        </p:nvSpPr>
        <p:spPr>
          <a:xfrm>
            <a:off x="914400" y="192024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Creating diagrams for scenarios</a:t>
            </a:r>
            <a:endParaRPr lang="en-US" sz="1800" dirty="0"/>
          </a:p>
        </p:txBody>
      </p:sp>
      <p:sp>
        <p:nvSpPr>
          <p:cNvPr id="9" name="Shape 7"/>
          <p:cNvSpPr/>
          <p:nvPr/>
        </p:nvSpPr>
        <p:spPr>
          <a:xfrm>
            <a:off x="8595360" y="2066544"/>
            <a:ext cx="987552" cy="484632"/>
          </a:xfrm>
          <a:prstGeom prst="roundRect">
            <a:avLst>
              <a:gd name="adj" fmla="val 18868"/>
            </a:avLst>
          </a:prstGeom>
          <a:solidFill>
            <a:srgbClr val="FFFFFF"/>
          </a:solidFill>
          <a:ln w="15875">
            <a:solidFill>
              <a:srgbClr val="08A6A6"/>
            </a:solidFill>
            <a:prstDash val="solid"/>
          </a:ln>
        </p:spPr>
      </p:sp>
      <p:sp>
        <p:nvSpPr>
          <p:cNvPr id="10" name="Text 8"/>
          <p:cNvSpPr txBox="1"/>
          <p:nvPr/>
        </p:nvSpPr>
        <p:spPr>
          <a:xfrm>
            <a:off x="8595360" y="206654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1" name="Shape 9"/>
          <p:cNvSpPr/>
          <p:nvPr/>
        </p:nvSpPr>
        <p:spPr>
          <a:xfrm>
            <a:off x="9674352" y="2066544"/>
            <a:ext cx="987552" cy="484632"/>
          </a:xfrm>
          <a:prstGeom prst="roundRect">
            <a:avLst>
              <a:gd name="adj" fmla="val 18868"/>
            </a:avLst>
          </a:prstGeom>
          <a:solidFill>
            <a:srgbClr val="FFFFFF"/>
          </a:solidFill>
          <a:ln w="15875">
            <a:solidFill>
              <a:srgbClr val="F4B942"/>
            </a:solidFill>
            <a:prstDash val="solid"/>
          </a:ln>
        </p:spPr>
      </p:sp>
      <p:sp>
        <p:nvSpPr>
          <p:cNvPr id="12" name="Text 10"/>
          <p:cNvSpPr txBox="1"/>
          <p:nvPr/>
        </p:nvSpPr>
        <p:spPr>
          <a:xfrm>
            <a:off x="9674352" y="206654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13" name="Shape 11"/>
          <p:cNvSpPr/>
          <p:nvPr/>
        </p:nvSpPr>
        <p:spPr>
          <a:xfrm>
            <a:off x="10753344" y="2066544"/>
            <a:ext cx="987552" cy="484632"/>
          </a:xfrm>
          <a:prstGeom prst="roundRect">
            <a:avLst>
              <a:gd name="adj" fmla="val 18868"/>
            </a:avLst>
          </a:prstGeom>
          <a:solidFill>
            <a:srgbClr val="FFFFFF"/>
          </a:solidFill>
          <a:ln w="15875">
            <a:solidFill>
              <a:srgbClr val="E2574C"/>
            </a:solidFill>
            <a:prstDash val="solid"/>
          </a:ln>
        </p:spPr>
      </p:sp>
      <p:sp>
        <p:nvSpPr>
          <p:cNvPr id="14" name="Text 12"/>
          <p:cNvSpPr txBox="1"/>
          <p:nvPr/>
        </p:nvSpPr>
        <p:spPr>
          <a:xfrm>
            <a:off x="10753344" y="206654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15" name="Shape 13"/>
          <p:cNvSpPr/>
          <p:nvPr/>
        </p:nvSpPr>
        <p:spPr>
          <a:xfrm>
            <a:off x="502920" y="2880360"/>
            <a:ext cx="7863840" cy="777240"/>
          </a:xfrm>
          <a:prstGeom prst="roundRect">
            <a:avLst>
              <a:gd name="adj" fmla="val 14118"/>
            </a:avLst>
          </a:prstGeom>
          <a:solidFill>
            <a:srgbClr val="FFFFFF"/>
          </a:solidFill>
          <a:ln w="15875">
            <a:solidFill>
              <a:srgbClr val="D9DEE7"/>
            </a:solidFill>
            <a:prstDash val="solid"/>
          </a:ln>
        </p:spPr>
      </p:sp>
      <p:sp>
        <p:nvSpPr>
          <p:cNvPr id="16" name="Text 14"/>
          <p:cNvSpPr txBox="1"/>
          <p:nvPr/>
        </p:nvSpPr>
        <p:spPr>
          <a:xfrm>
            <a:off x="914400" y="288036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Completing truth tables with intermediate outputs</a:t>
            </a:r>
            <a:endParaRPr lang="en-US" sz="1800" dirty="0"/>
          </a:p>
        </p:txBody>
      </p:sp>
      <p:sp>
        <p:nvSpPr>
          <p:cNvPr id="17" name="Shape 15"/>
          <p:cNvSpPr/>
          <p:nvPr/>
        </p:nvSpPr>
        <p:spPr>
          <a:xfrm>
            <a:off x="8595360" y="3026664"/>
            <a:ext cx="987552" cy="484632"/>
          </a:xfrm>
          <a:prstGeom prst="roundRect">
            <a:avLst>
              <a:gd name="adj" fmla="val 18868"/>
            </a:avLst>
          </a:prstGeom>
          <a:solidFill>
            <a:srgbClr val="FFFFFF"/>
          </a:solidFill>
          <a:ln w="15875">
            <a:solidFill>
              <a:srgbClr val="08A6A6"/>
            </a:solidFill>
            <a:prstDash val="solid"/>
          </a:ln>
        </p:spPr>
      </p:sp>
      <p:sp>
        <p:nvSpPr>
          <p:cNvPr id="18" name="Text 16"/>
          <p:cNvSpPr txBox="1"/>
          <p:nvPr/>
        </p:nvSpPr>
        <p:spPr>
          <a:xfrm>
            <a:off x="8595360" y="302666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19" name="Shape 17"/>
          <p:cNvSpPr/>
          <p:nvPr/>
        </p:nvSpPr>
        <p:spPr>
          <a:xfrm>
            <a:off x="9674352" y="3026664"/>
            <a:ext cx="987552" cy="484632"/>
          </a:xfrm>
          <a:prstGeom prst="roundRect">
            <a:avLst>
              <a:gd name="adj" fmla="val 18868"/>
            </a:avLst>
          </a:prstGeom>
          <a:solidFill>
            <a:srgbClr val="FFFFFF"/>
          </a:solidFill>
          <a:ln w="15875">
            <a:solidFill>
              <a:srgbClr val="F4B942"/>
            </a:solidFill>
            <a:prstDash val="solid"/>
          </a:ln>
        </p:spPr>
      </p:sp>
      <p:sp>
        <p:nvSpPr>
          <p:cNvPr id="20" name="Text 18"/>
          <p:cNvSpPr txBox="1"/>
          <p:nvPr/>
        </p:nvSpPr>
        <p:spPr>
          <a:xfrm>
            <a:off x="9674352" y="302666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1" name="Shape 19"/>
          <p:cNvSpPr/>
          <p:nvPr/>
        </p:nvSpPr>
        <p:spPr>
          <a:xfrm>
            <a:off x="10753344" y="3026664"/>
            <a:ext cx="987552" cy="484632"/>
          </a:xfrm>
          <a:prstGeom prst="roundRect">
            <a:avLst>
              <a:gd name="adj" fmla="val 18868"/>
            </a:avLst>
          </a:prstGeom>
          <a:solidFill>
            <a:srgbClr val="FFFFFF"/>
          </a:solidFill>
          <a:ln w="15875">
            <a:solidFill>
              <a:srgbClr val="E2574C"/>
            </a:solidFill>
            <a:prstDash val="solid"/>
          </a:ln>
        </p:spPr>
      </p:sp>
      <p:sp>
        <p:nvSpPr>
          <p:cNvPr id="22" name="Text 20"/>
          <p:cNvSpPr txBox="1"/>
          <p:nvPr/>
        </p:nvSpPr>
        <p:spPr>
          <a:xfrm>
            <a:off x="10753344" y="302666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23" name="Shape 21"/>
          <p:cNvSpPr/>
          <p:nvPr/>
        </p:nvSpPr>
        <p:spPr>
          <a:xfrm>
            <a:off x="502920" y="3840480"/>
            <a:ext cx="7863840" cy="777240"/>
          </a:xfrm>
          <a:prstGeom prst="roundRect">
            <a:avLst>
              <a:gd name="adj" fmla="val 14118"/>
            </a:avLst>
          </a:prstGeom>
          <a:solidFill>
            <a:srgbClr val="FFFFFF"/>
          </a:solidFill>
          <a:ln w="15875">
            <a:solidFill>
              <a:srgbClr val="D9DEE7"/>
            </a:solidFill>
            <a:prstDash val="solid"/>
          </a:ln>
        </p:spPr>
      </p:sp>
      <p:sp>
        <p:nvSpPr>
          <p:cNvPr id="24" name="Text 22"/>
          <p:cNvSpPr txBox="1"/>
          <p:nvPr/>
        </p:nvSpPr>
        <p:spPr>
          <a:xfrm>
            <a:off x="914400" y="3840480"/>
            <a:ext cx="7132320" cy="777240"/>
          </a:xfrm>
          <a:prstGeom prst="rect">
            <a:avLst/>
          </a:prstGeom>
          <a:noFill/>
          <a:ln/>
        </p:spPr>
        <p:txBody>
          <a:bodyPr wrap="square" lIns="0" tIns="0" rIns="0" bIns="0" rtlCol="0" anchor="ctr"/>
          <a:lstStyle/>
          <a:p>
            <a:pPr indent="0" marL="0">
              <a:buNone/>
            </a:pPr>
            <a:r>
              <a:rPr lang="en-US" sz="1800" dirty="0">
                <a:solidFill>
                  <a:srgbClr val="101828"/>
                </a:solidFill>
                <a:latin typeface="IBM Plex Sans" pitchFamily="34" charset="0"/>
                <a:ea typeface="IBM Plex Sans" pitchFamily="34" charset="-122"/>
                <a:cs typeface="IBM Plex Sans" pitchFamily="34" charset="-120"/>
              </a:rPr>
              <a:t>Editing and reading logic diagrams</a:t>
            </a:r>
            <a:endParaRPr lang="en-US" sz="1800" dirty="0"/>
          </a:p>
        </p:txBody>
      </p:sp>
      <p:sp>
        <p:nvSpPr>
          <p:cNvPr id="25" name="Shape 23"/>
          <p:cNvSpPr/>
          <p:nvPr/>
        </p:nvSpPr>
        <p:spPr>
          <a:xfrm>
            <a:off x="8595360" y="3986784"/>
            <a:ext cx="987552" cy="484632"/>
          </a:xfrm>
          <a:prstGeom prst="roundRect">
            <a:avLst>
              <a:gd name="adj" fmla="val 18868"/>
            </a:avLst>
          </a:prstGeom>
          <a:solidFill>
            <a:srgbClr val="FFFFFF"/>
          </a:solidFill>
          <a:ln w="15875">
            <a:solidFill>
              <a:srgbClr val="08A6A6"/>
            </a:solidFill>
            <a:prstDash val="solid"/>
          </a:ln>
        </p:spPr>
      </p:sp>
      <p:sp>
        <p:nvSpPr>
          <p:cNvPr id="26" name="Text 24"/>
          <p:cNvSpPr txBox="1"/>
          <p:nvPr/>
        </p:nvSpPr>
        <p:spPr>
          <a:xfrm>
            <a:off x="8595360" y="3986784"/>
            <a:ext cx="987552" cy="484632"/>
          </a:xfrm>
          <a:prstGeom prst="rect">
            <a:avLst/>
          </a:prstGeom>
          <a:noFill/>
          <a:ln/>
        </p:spPr>
        <p:txBody>
          <a:bodyPr wrap="square" lIns="0" tIns="0" rIns="0" bIns="0" rtlCol="0" anchor="ctr"/>
          <a:lstStyle/>
          <a:p>
            <a:pPr algn="ctr" indent="0" marL="0">
              <a:buNone/>
            </a:pPr>
            <a:r>
              <a:rPr lang="en-US" sz="1000" dirty="0">
                <a:solidFill>
                  <a:srgbClr val="08A6A6"/>
                </a:solidFill>
                <a:latin typeface="IBM Plex Sans" pitchFamily="34" charset="0"/>
                <a:ea typeface="IBM Plex Sans" pitchFamily="34" charset="-122"/>
                <a:cs typeface="IBM Plex Sans" pitchFamily="34" charset="-120"/>
              </a:rPr>
              <a:t>Secure</a:t>
            </a:r>
            <a:endParaRPr lang="en-US" sz="1000" dirty="0"/>
          </a:p>
        </p:txBody>
      </p:sp>
      <p:sp>
        <p:nvSpPr>
          <p:cNvPr id="27" name="Shape 25"/>
          <p:cNvSpPr/>
          <p:nvPr/>
        </p:nvSpPr>
        <p:spPr>
          <a:xfrm>
            <a:off x="9674352" y="3986784"/>
            <a:ext cx="987552" cy="484632"/>
          </a:xfrm>
          <a:prstGeom prst="roundRect">
            <a:avLst>
              <a:gd name="adj" fmla="val 18868"/>
            </a:avLst>
          </a:prstGeom>
          <a:solidFill>
            <a:srgbClr val="FFFFFF"/>
          </a:solidFill>
          <a:ln w="15875">
            <a:solidFill>
              <a:srgbClr val="F4B942"/>
            </a:solidFill>
            <a:prstDash val="solid"/>
          </a:ln>
        </p:spPr>
      </p:sp>
      <p:sp>
        <p:nvSpPr>
          <p:cNvPr id="28" name="Text 26"/>
          <p:cNvSpPr txBox="1"/>
          <p:nvPr/>
        </p:nvSpPr>
        <p:spPr>
          <a:xfrm>
            <a:off x="9674352" y="3986784"/>
            <a:ext cx="987552" cy="484632"/>
          </a:xfrm>
          <a:prstGeom prst="rect">
            <a:avLst/>
          </a:prstGeom>
          <a:noFill/>
          <a:ln/>
        </p:spPr>
        <p:txBody>
          <a:bodyPr wrap="square" lIns="0" tIns="0" rIns="0" bIns="0" rtlCol="0" anchor="ctr"/>
          <a:lstStyle/>
          <a:p>
            <a:pPr algn="ctr" indent="0" marL="0">
              <a:buNone/>
            </a:pPr>
            <a:r>
              <a:rPr lang="en-US" sz="1000" dirty="0">
                <a:solidFill>
                  <a:srgbClr val="F4B942"/>
                </a:solidFill>
                <a:latin typeface="IBM Plex Sans" pitchFamily="34" charset="0"/>
                <a:ea typeface="IBM Plex Sans" pitchFamily="34" charset="-122"/>
                <a:cs typeface="IBM Plex Sans" pitchFamily="34" charset="-120"/>
              </a:rPr>
              <a:t>Revise</a:t>
            </a:r>
            <a:endParaRPr lang="en-US" sz="1000" dirty="0"/>
          </a:p>
        </p:txBody>
      </p:sp>
      <p:sp>
        <p:nvSpPr>
          <p:cNvPr id="29" name="Shape 27"/>
          <p:cNvSpPr/>
          <p:nvPr/>
        </p:nvSpPr>
        <p:spPr>
          <a:xfrm>
            <a:off x="10753344" y="3986784"/>
            <a:ext cx="987552" cy="484632"/>
          </a:xfrm>
          <a:prstGeom prst="roundRect">
            <a:avLst>
              <a:gd name="adj" fmla="val 18868"/>
            </a:avLst>
          </a:prstGeom>
          <a:solidFill>
            <a:srgbClr val="FFFFFF"/>
          </a:solidFill>
          <a:ln w="15875">
            <a:solidFill>
              <a:srgbClr val="E2574C"/>
            </a:solidFill>
            <a:prstDash val="solid"/>
          </a:ln>
        </p:spPr>
      </p:sp>
      <p:sp>
        <p:nvSpPr>
          <p:cNvPr id="30" name="Text 28"/>
          <p:cNvSpPr txBox="1"/>
          <p:nvPr/>
        </p:nvSpPr>
        <p:spPr>
          <a:xfrm>
            <a:off x="10753344" y="3986784"/>
            <a:ext cx="987552" cy="484632"/>
          </a:xfrm>
          <a:prstGeom prst="rect">
            <a:avLst/>
          </a:prstGeom>
          <a:noFill/>
          <a:ln/>
        </p:spPr>
        <p:txBody>
          <a:bodyPr wrap="square" lIns="0" tIns="0" rIns="0" bIns="0" rtlCol="0" anchor="ctr"/>
          <a:lstStyle/>
          <a:p>
            <a:pPr algn="ctr" indent="0" marL="0">
              <a:buNone/>
            </a:pPr>
            <a:r>
              <a:rPr lang="en-US" sz="1000" dirty="0">
                <a:solidFill>
                  <a:srgbClr val="E2574C"/>
                </a:solidFill>
                <a:latin typeface="IBM Plex Sans" pitchFamily="34" charset="0"/>
                <a:ea typeface="IBM Plex Sans" pitchFamily="34" charset="-122"/>
                <a:cs typeface="IBM Plex Sans" pitchFamily="34" charset="-120"/>
              </a:rPr>
              <a:t>Focus here</a:t>
            </a:r>
            <a:endParaRPr lang="en-US" sz="1000" dirty="0"/>
          </a:p>
        </p:txBody>
      </p:sp>
      <p:sp>
        <p:nvSpPr>
          <p:cNvPr id="31" name="Text 29"/>
          <p:cNvSpPr txBox="1"/>
          <p:nvPr/>
        </p:nvSpPr>
        <p:spPr>
          <a:xfrm>
            <a:off x="502920" y="5074920"/>
            <a:ext cx="11155680" cy="548640"/>
          </a:xfrm>
          <a:prstGeom prst="rect">
            <a:avLst/>
          </a:prstGeom>
          <a:noFill/>
          <a:ln/>
        </p:spPr>
        <p:txBody>
          <a:bodyPr wrap="square" lIns="0" tIns="0" rIns="0" bIns="0" rtlCol="0" anchor="ctr"/>
          <a:lstStyle/>
          <a:p>
            <a:pPr indent="0" marL="0">
              <a:buNone/>
            </a:pPr>
            <a:r>
              <a:rPr lang="en-US" sz="1500" dirty="0">
                <a:solidFill>
                  <a:srgbClr val="667085"/>
                </a:solidFill>
                <a:latin typeface="IBM Plex Sans" pitchFamily="34" charset="0"/>
                <a:ea typeface="IBM Plex Sans" pitchFamily="34" charset="-122"/>
                <a:cs typeface="IBM Plex Sans" pitchFamily="34" charset="-120"/>
              </a:rPr>
              <a:t>Anything marked Focus here: reopen Circuit workshop and use review mode on the questions you got wrong.</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Revise 360 Ltd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2.4 Boolean logic  |  Lesson 3 — Circuit workshop</dc:title>
  <dc:subject>OCR J277 GCSE Computer Science</dc:subject>
  <dc:creator>Revise 360 Ltd</dc:creator>
  <cp:lastModifiedBy>Revise 360 Ltd</cp:lastModifiedBy>
  <cp:revision>1</cp:revision>
  <dcterms:created xsi:type="dcterms:W3CDTF">2026-10-03T17:08:50Z</dcterms:created>
  <dcterms:modified xsi:type="dcterms:W3CDTF">2026-10-03T17:08:50Z</dcterms:modified>
</cp:coreProperties>
</file>