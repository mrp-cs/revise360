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6: Revision HQ 2.3.
Open the experience at revise360.co.uk and hand out RP_L06_RevisionHQ23_Worksheet.docx.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Lesson 1: Input validation.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Lesson 2: Defensive design.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Lesson 3: Maintainability.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Lesson 4: Testing and errors.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Lesson 5: Test data.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Plan a 12-mark answer.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A: They are ignored.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Lesson 3: Maintainability, and work through its example again, aloud, with the class watching, then re-ask this question.
The course's own response to a wrong answer here: They're for people, not the computer.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(rp-l06-s3-c3),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2.3 Producing robust programs  |  Lesson 6</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Revision HQ 2.3</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Each station sums up one lesson. Answer its quiz, and your score screen will show which lessons are secure and which need work. Then plan a 12-mark answer on robust programs.</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Get ready for your end-of-topic test on lessons 1 to 5</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What makes a robust program?</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robust programs are made</a:t>
            </a:r>
            <a:endParaRPr lang="en-US" sz="1900" dirty="0"/>
          </a:p>
        </p:txBody>
      </p:sp>
      <p:sp>
        <p:nvSpPr>
          <p:cNvPr id="10" name="Shape 8"/>
          <p:cNvSpPr/>
          <p:nvPr/>
        </p:nvSpPr>
        <p:spPr>
          <a:xfrm>
            <a:off x="548640" y="2898648"/>
            <a:ext cx="566928" cy="566928"/>
          </a:xfrm>
          <a:prstGeom prst="ellipse">
            <a:avLst/>
          </a:prstGeom>
          <a:solidFill>
            <a:srgbClr val="2D63FF"/>
          </a:solidFill>
          <a:ln/>
        </p:spPr>
      </p:sp>
      <p:sp>
        <p:nvSpPr>
          <p:cNvPr id="11" name="Text 9"/>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2" name="Text 10"/>
          <p:cNvSpPr txBox="1"/>
          <p:nvPr/>
        </p:nvSpPr>
        <p:spPr>
          <a:xfrm>
            <a:off x="1325880" y="2898648"/>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Know which lessons I'm secure on and which to revise</a:t>
            </a:r>
            <a:endParaRPr lang="en-US" sz="1900" dirty="0"/>
          </a:p>
        </p:txBody>
      </p:sp>
      <p:sp>
        <p:nvSpPr>
          <p:cNvPr id="13" name="Text 11"/>
          <p:cNvSpPr txBox="1"/>
          <p:nvPr/>
        </p:nvSpPr>
        <p:spPr>
          <a:xfrm>
            <a:off x="548640" y="4151376"/>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4" name="Shape 12"/>
          <p:cNvSpPr/>
          <p:nvPr/>
        </p:nvSpPr>
        <p:spPr>
          <a:xfrm>
            <a:off x="548640" y="4535424"/>
            <a:ext cx="1920240" cy="402336"/>
          </a:xfrm>
          <a:prstGeom prst="roundRect">
            <a:avLst>
              <a:gd name="adj" fmla="val 50000"/>
            </a:avLst>
          </a:prstGeom>
          <a:solidFill>
            <a:srgbClr val="FFFFFF"/>
          </a:solidFill>
          <a:ln w="12700">
            <a:solidFill>
              <a:srgbClr val="2D63FF"/>
            </a:solidFill>
            <a:prstDash val="solid"/>
          </a:ln>
        </p:spPr>
      </p:sp>
      <p:sp>
        <p:nvSpPr>
          <p:cNvPr id="15" name="Text 13"/>
          <p:cNvSpPr txBox="1"/>
          <p:nvPr/>
        </p:nvSpPr>
        <p:spPr>
          <a:xfrm>
            <a:off x="548640" y="4535424"/>
            <a:ext cx="19202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Validation</a:t>
            </a:r>
            <a:endParaRPr lang="en-US" sz="1200" dirty="0"/>
          </a:p>
        </p:txBody>
      </p:sp>
      <p:sp>
        <p:nvSpPr>
          <p:cNvPr id="16" name="Shape 14"/>
          <p:cNvSpPr/>
          <p:nvPr/>
        </p:nvSpPr>
        <p:spPr>
          <a:xfrm>
            <a:off x="2596896" y="4535424"/>
            <a:ext cx="2505456" cy="402336"/>
          </a:xfrm>
          <a:prstGeom prst="roundRect">
            <a:avLst>
              <a:gd name="adj" fmla="val 50000"/>
            </a:avLst>
          </a:prstGeom>
          <a:solidFill>
            <a:srgbClr val="FFFFFF"/>
          </a:solidFill>
          <a:ln w="12700">
            <a:solidFill>
              <a:srgbClr val="2D63FF"/>
            </a:solidFill>
            <a:prstDash val="solid"/>
          </a:ln>
        </p:spPr>
      </p:sp>
      <p:sp>
        <p:nvSpPr>
          <p:cNvPr id="17" name="Text 15"/>
          <p:cNvSpPr txBox="1"/>
          <p:nvPr/>
        </p:nvSpPr>
        <p:spPr>
          <a:xfrm>
            <a:off x="2596896" y="4535424"/>
            <a:ext cx="250545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Authentication</a:t>
            </a:r>
            <a:endParaRPr lang="en-US" sz="1200" dirty="0"/>
          </a:p>
        </p:txBody>
      </p:sp>
      <p:sp>
        <p:nvSpPr>
          <p:cNvPr id="18" name="Shape 16"/>
          <p:cNvSpPr/>
          <p:nvPr/>
        </p:nvSpPr>
        <p:spPr>
          <a:xfrm>
            <a:off x="5230368" y="4535424"/>
            <a:ext cx="2651760" cy="402336"/>
          </a:xfrm>
          <a:prstGeom prst="roundRect">
            <a:avLst>
              <a:gd name="adj" fmla="val 50000"/>
            </a:avLst>
          </a:prstGeom>
          <a:solidFill>
            <a:srgbClr val="FFFFFF"/>
          </a:solidFill>
          <a:ln w="12700">
            <a:solidFill>
              <a:srgbClr val="2D63FF"/>
            </a:solidFill>
            <a:prstDash val="solid"/>
          </a:ln>
        </p:spPr>
      </p:sp>
      <p:sp>
        <p:nvSpPr>
          <p:cNvPr id="19" name="Text 17"/>
          <p:cNvSpPr txBox="1"/>
          <p:nvPr/>
        </p:nvSpPr>
        <p:spPr>
          <a:xfrm>
            <a:off x="5230368" y="4535424"/>
            <a:ext cx="265176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Maintainability</a:t>
            </a:r>
            <a:endParaRPr lang="en-US" sz="1200" dirty="0"/>
          </a:p>
        </p:txBody>
      </p:sp>
      <p:sp>
        <p:nvSpPr>
          <p:cNvPr id="20" name="Shape 18"/>
          <p:cNvSpPr/>
          <p:nvPr/>
        </p:nvSpPr>
        <p:spPr>
          <a:xfrm>
            <a:off x="8010144" y="4535424"/>
            <a:ext cx="1481328" cy="402336"/>
          </a:xfrm>
          <a:prstGeom prst="roundRect">
            <a:avLst>
              <a:gd name="adj" fmla="val 50000"/>
            </a:avLst>
          </a:prstGeom>
          <a:solidFill>
            <a:srgbClr val="FFFFFF"/>
          </a:solidFill>
          <a:ln w="12700">
            <a:solidFill>
              <a:srgbClr val="2D63FF"/>
            </a:solidFill>
            <a:prstDash val="solid"/>
          </a:ln>
        </p:spPr>
      </p:sp>
      <p:sp>
        <p:nvSpPr>
          <p:cNvPr id="21" name="Text 19"/>
          <p:cNvSpPr txBox="1"/>
          <p:nvPr/>
        </p:nvSpPr>
        <p:spPr>
          <a:xfrm>
            <a:off x="8010144" y="4535424"/>
            <a:ext cx="1481328"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Testing</a:t>
            </a:r>
            <a:endParaRPr lang="en-US" sz="1200" dirty="0"/>
          </a:p>
        </p:txBody>
      </p:sp>
      <p:sp>
        <p:nvSpPr>
          <p:cNvPr id="22" name="Shape 20"/>
          <p:cNvSpPr/>
          <p:nvPr/>
        </p:nvSpPr>
        <p:spPr>
          <a:xfrm>
            <a:off x="9619488" y="4535424"/>
            <a:ext cx="1773936" cy="402336"/>
          </a:xfrm>
          <a:prstGeom prst="roundRect">
            <a:avLst>
              <a:gd name="adj" fmla="val 50000"/>
            </a:avLst>
          </a:prstGeom>
          <a:solidFill>
            <a:srgbClr val="FFFFFF"/>
          </a:solidFill>
          <a:ln w="12700">
            <a:solidFill>
              <a:srgbClr val="2D63FF"/>
            </a:solidFill>
            <a:prstDash val="solid"/>
          </a:ln>
        </p:spPr>
      </p:sp>
      <p:sp>
        <p:nvSpPr>
          <p:cNvPr id="23" name="Text 21"/>
          <p:cNvSpPr txBox="1"/>
          <p:nvPr/>
        </p:nvSpPr>
        <p:spPr>
          <a:xfrm>
            <a:off x="9619488" y="4535424"/>
            <a:ext cx="177393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Test data</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school is about to publish an app written by students. List everything you would check before it goes live.</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Revision HQ 2.3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Lesson 1: Input validation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Validation checks input is sensible before it's processed.</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Type, range, presence, format and length checks.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Whitelists accept; blacklists reject.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what is meant by a length check and give an example.</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Lesson 2: Defensive design</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Anticipating misuse: planning for mistakes and deliberate misuse.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Authentication: checking identity with passwords, 2FA and CAPTCHA.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Exception handling stops crashes.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two authentication techniques.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Lesson 3: Maintainability</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Descriptive names, comments, indentation and white space.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Sub-programs split code into reusable parts.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Makes code easier to debug, update and maintain.</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Describe three ways a programmer can make their code easier to maintain.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Lesson 4: Testing and errors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Iterative testing: during development. Final testing: at the end, before release.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Syntax errors break the language's rules, so the code won't run.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Logic errors run but give the wrong result.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Explain what is meant by the term iterative testing.</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Lesson 5: Test data</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Normal: typical valid data.</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Boundary: valid data on the edge of the range.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Invalid: right type, out of range. Erroneous: wrong type.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Suggest test data for an order form accepting quantities 1 to 10.</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Plan a 12-mark answer</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What does it mean to produce a robust program?</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Cover validation, authentication, anticipating misuse, maintainability and testing.</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For each point, explain why it makes the program more robust.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Plan the points you would include in a long answer about producing robust programs.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What happens to comments when code runs?</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are ignored</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are printed</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slow the code down</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They cause errors</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Key terms</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Match each key term from topic 2.3 to its meaning. These are the terms from your key terminology sheet.</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Revision tip</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Explain each topic out loud to someone else. If you can teach it, you know it.</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Common mix-up</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Validation checks data; authentication checks people. Examiners love this difference.</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Program practice</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Finish your outstanding programs: date of birth validation, the password strength checker, the comment box counter and the menu whitelist.</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Error spotting</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In exam code, read each line slowly. Look for misspelt keywords (syntax) and wrong operators or variables (logic).</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program will be used by hundreds of students. Explain the techniques a programmer should use to make it robust.</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[8]</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2.3 Producing robust programs  |  Lesson 6</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Validation and defensive design</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Maintainability</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Testing and test data</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Revision HQ 2.3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2.3 Producing robust programs  |  Lesson 6 — Revision HQ 2.3</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