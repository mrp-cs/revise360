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 Defence depot 2.
Open the experience at revise360.co.uk and hand out NS_L10_DefenceDepot2_Worksheet.docx.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Passwords.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Encryption.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Physical security.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Backups and updates.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Match the defence.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Layers of defence.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A locked server room with keycard access.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Physical security, and work through its example again, aloud, with the class watching, then re-ask this question.
The course's own response to a wrong answer here: Physical security protects the hardware itself.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(ns-l10-s3-c2),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1.4 Network security  |  Lesson 10</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Defence depot 2</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The second half of the depot: passwords, encryption and physical security. Then the real skill: choosing the right defence for each threat, and layering them so one failure isn't a disaster.</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can we protect ourselves against hackers?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passwords, encryption and physical security help against cyberattack</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Be able to choose suitable protections for a given threat</a:t>
            </a:r>
            <a:endParaRPr lang="en-US" sz="1900" dirty="0"/>
          </a:p>
        </p:txBody>
      </p:sp>
      <p:sp>
        <p:nvSpPr>
          <p:cNvPr id="13" name="Text 11"/>
          <p:cNvSpPr txBox="1"/>
          <p:nvPr/>
        </p:nvSpPr>
        <p:spPr>
          <a:xfrm>
            <a:off x="548640" y="4151376"/>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4" name="Shape 12"/>
          <p:cNvSpPr/>
          <p:nvPr/>
        </p:nvSpPr>
        <p:spPr>
          <a:xfrm>
            <a:off x="548640" y="4535424"/>
            <a:ext cx="1627632" cy="402336"/>
          </a:xfrm>
          <a:prstGeom prst="roundRect">
            <a:avLst>
              <a:gd name="adj" fmla="val 50000"/>
            </a:avLst>
          </a:prstGeom>
          <a:solidFill>
            <a:srgbClr val="FFFFFF"/>
          </a:solidFill>
          <a:ln w="12700">
            <a:solidFill>
              <a:srgbClr val="2D63FF"/>
            </a:solidFill>
            <a:prstDash val="solid"/>
          </a:ln>
        </p:spPr>
      </p:sp>
      <p:sp>
        <p:nvSpPr>
          <p:cNvPr id="15" name="Text 13"/>
          <p:cNvSpPr txBox="1"/>
          <p:nvPr/>
        </p:nvSpPr>
        <p:spPr>
          <a:xfrm>
            <a:off x="548640" y="4535424"/>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Password</a:t>
            </a:r>
            <a:endParaRPr lang="en-US" sz="1200" dirty="0"/>
          </a:p>
        </p:txBody>
      </p:sp>
      <p:sp>
        <p:nvSpPr>
          <p:cNvPr id="16" name="Shape 14"/>
          <p:cNvSpPr/>
          <p:nvPr/>
        </p:nvSpPr>
        <p:spPr>
          <a:xfrm>
            <a:off x="2304288" y="4535424"/>
            <a:ext cx="1920240" cy="402336"/>
          </a:xfrm>
          <a:prstGeom prst="roundRect">
            <a:avLst>
              <a:gd name="adj" fmla="val 50000"/>
            </a:avLst>
          </a:prstGeom>
          <a:solidFill>
            <a:srgbClr val="FFFFFF"/>
          </a:solidFill>
          <a:ln w="12700">
            <a:solidFill>
              <a:srgbClr val="2D63FF"/>
            </a:solidFill>
            <a:prstDash val="solid"/>
          </a:ln>
        </p:spPr>
      </p:sp>
      <p:sp>
        <p:nvSpPr>
          <p:cNvPr id="17" name="Text 15"/>
          <p:cNvSpPr txBox="1"/>
          <p:nvPr/>
        </p:nvSpPr>
        <p:spPr>
          <a:xfrm>
            <a:off x="2304288" y="4535424"/>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Encryption</a:t>
            </a:r>
            <a:endParaRPr lang="en-US" sz="1200" dirty="0"/>
          </a:p>
        </p:txBody>
      </p:sp>
      <p:sp>
        <p:nvSpPr>
          <p:cNvPr id="18" name="Shape 16"/>
          <p:cNvSpPr/>
          <p:nvPr/>
        </p:nvSpPr>
        <p:spPr>
          <a:xfrm>
            <a:off x="4352544" y="4535424"/>
            <a:ext cx="2944368" cy="402336"/>
          </a:xfrm>
          <a:prstGeom prst="roundRect">
            <a:avLst>
              <a:gd name="adj" fmla="val 50000"/>
            </a:avLst>
          </a:prstGeom>
          <a:solidFill>
            <a:srgbClr val="FFFFFF"/>
          </a:solidFill>
          <a:ln w="12700">
            <a:solidFill>
              <a:srgbClr val="2D63FF"/>
            </a:solidFill>
            <a:prstDash val="solid"/>
          </a:ln>
        </p:spPr>
      </p:sp>
      <p:sp>
        <p:nvSpPr>
          <p:cNvPr id="19" name="Text 17"/>
          <p:cNvSpPr txBox="1"/>
          <p:nvPr/>
        </p:nvSpPr>
        <p:spPr>
          <a:xfrm>
            <a:off x="4352544" y="4535424"/>
            <a:ext cx="294436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Physical security</a:t>
            </a:r>
            <a:endParaRPr lang="en-US" sz="1200" dirty="0"/>
          </a:p>
        </p:txBody>
      </p:sp>
      <p:sp>
        <p:nvSpPr>
          <p:cNvPr id="20" name="Shape 18"/>
          <p:cNvSpPr/>
          <p:nvPr/>
        </p:nvSpPr>
        <p:spPr>
          <a:xfrm>
            <a:off x="7424928" y="4535424"/>
            <a:ext cx="1481328" cy="402336"/>
          </a:xfrm>
          <a:prstGeom prst="roundRect">
            <a:avLst>
              <a:gd name="adj" fmla="val 50000"/>
            </a:avLst>
          </a:prstGeom>
          <a:solidFill>
            <a:srgbClr val="FFFFFF"/>
          </a:solidFill>
          <a:ln w="12700">
            <a:solidFill>
              <a:srgbClr val="2D63FF"/>
            </a:solidFill>
            <a:prstDash val="solid"/>
          </a:ln>
        </p:spPr>
      </p:sp>
      <p:sp>
        <p:nvSpPr>
          <p:cNvPr id="21" name="Text 19"/>
          <p:cNvSpPr txBox="1"/>
          <p:nvPr/>
        </p:nvSpPr>
        <p:spPr>
          <a:xfrm>
            <a:off x="7424928" y="4535424"/>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Backups</a:t>
            </a:r>
            <a:endParaRPr lang="en-US" sz="1200" dirty="0"/>
          </a:p>
        </p:txBody>
      </p:sp>
      <p:sp>
        <p:nvSpPr>
          <p:cNvPr id="22" name="Shape 20"/>
          <p:cNvSpPr/>
          <p:nvPr/>
        </p:nvSpPr>
        <p:spPr>
          <a:xfrm>
            <a:off x="9034272" y="4535424"/>
            <a:ext cx="1920240" cy="402336"/>
          </a:xfrm>
          <a:prstGeom prst="roundRect">
            <a:avLst>
              <a:gd name="adj" fmla="val 50000"/>
            </a:avLst>
          </a:prstGeom>
          <a:solidFill>
            <a:srgbClr val="FFFFFF"/>
          </a:solidFill>
          <a:ln w="12700">
            <a:solidFill>
              <a:srgbClr val="2D63FF"/>
            </a:solidFill>
            <a:prstDash val="solid"/>
          </a:ln>
        </p:spPr>
      </p:sp>
      <p:sp>
        <p:nvSpPr>
          <p:cNvPr id="23" name="Text 21"/>
          <p:cNvSpPr txBox="1"/>
          <p:nvPr/>
        </p:nvSpPr>
        <p:spPr>
          <a:xfrm>
            <a:off x="9034272" y="4535424"/>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Two-factor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company has been hit by ransomware and lost a week of work. List the three changes you would insist on before it reopens.</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Defence depot 2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Passwords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Long passwords, ideally passphrases, with a mix of characters.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Different password for every account, never shared or written down.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Backed up by lockouts and two-factor authentication.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a situation where a password alone isn't enough.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Passwords protect systems by...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Encryption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Scrambles data so it can't be understood without the key.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Protects data in transit (HTTPS, WPA2, VPN) and at rest (encrypted drives).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doesn't stop data being stolen: it makes stolen data useless.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an example of when each type of encryption would be used.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Encryption protects...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Physical security</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Locked doors, server cabinets and equipment cages.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Keycards, visitor passes, CCTV and staffed reception desks.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Locking screens, shredding printouts and secure disposal of old drives.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Survey your classroom: what physical security can you see?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Physical security means...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Backups and updates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Regular backups mean ransomware doesn't have to be paid.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Keep at least one backup disconnected or off-site.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Patching software closes the weaknesses worms and attackers use.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backup stored on the same computer isn't much use.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Backups and updates help because...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Match the defence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threat has defences that work best against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Most real protection comes from combining several.</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Your task: place each protection with the threat it stops.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Complete the matching task on your worksheet.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best defence for each threat is...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Layers of defence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 single protection stops everything, and any one can fail.</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Layering means an attacker has to beat several defences in a row.</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Technology, people and physical measures all matter.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three layers protecting a school's data, from the door to the database.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Layered security means...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Which is an example of physical security?</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firewall rule</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locked server room with keycard access</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16-character password</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Anti-malware software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Build the defences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security measures are waiting to be installed. Tap the star and sort each one into the type of protection it is.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Change it only when needed</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Modern advice is to stop forcing regular password changes: it pushes people towards weak, predictable patterns. Change passwords when there's a reason.</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Encryption by default</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Messaging apps like WhatsApp and Signal use end-to-end encryption, so even the company running the service can't read the messages.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cleaner test</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Security teams ask: could someone dressed as a cleaner walk in and plug something into a server? Often the answer used to be yes.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Test your backups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backup that has never been restored isn't a backup. Organisations practise restoring, so they know it works before they need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how encryption protects data stored on a stolen laptop.</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Give two examples of physical security and state what each one prevents.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company has lost data to ransomware. Recommend three measures it should introduce, and justify each one.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Passwords and encryption</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Physical security</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Choosing the right defence for a threat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Defence depot 2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Network security  |  Lesson 10 — Defence depot 2</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