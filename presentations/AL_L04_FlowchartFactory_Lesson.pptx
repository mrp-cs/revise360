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4: Flowchart factory.
Open the experience at revise360.co.uk and hand out AL_L04_FlowchartFactory_Worksheet.docx.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the objectives, then go straight into the starter. Devices stay away for the first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start. Take two or three answers before moving on: this is where misconceptions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writing before tapping. That single rule is the difference between revision and a quiz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1: The five symbols.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2: Reading a flowchart.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3: Decisions.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4: Loops in flowcharts.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5: Flowchart or pseudocode?.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6: Drawing a flowchart in the exam.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is B: The program never stops: an infinite loop.
Do not say it yet. Every pupil commits first - fingers, whiteboards or a show of hands on each letter in turn - and you count the split before anyone can change their mind.
IF MOST OF THE CLASS IS RIGHT: say why it is right in one sentence and go straight on to the independent work.
IF A SIGNIFICANT GROUP IS ON ONE WRONG LETTER: that option is the misconception to teach against before anyone goes on. Go back to station 4, Loops in flowcharts, and work through its example again, aloud, with the class watching, then re-ask this question.
The course's own response to a wrong answer here: Always check the condition can eventually be met.
A limitation, stated rather than papered over: one response covers every wrong option; it does not say what to revisit for each one. The course does not record what each separate wrong option means, and this slide does not invent it. Decide your own reteach for each option before the lesson; the options above are the start of it.
This is a real activity from the experience (al-l04-s4-c2), so the wording here is the wording a pupil will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commit to an answer on paper before they tap the star. Guessing first costs them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as a settler, or as something for early finishers to read in the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Timed and silent. Mark against the answer sheet, then ask students to record their weakest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their score-screen breakdown onto the worksheet, then rate themselves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8"/>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822960" y="1417320"/>
            <a:ext cx="10515600" cy="411480"/>
          </a:xfrm>
          <a:prstGeom prst="rect">
            <a:avLst/>
          </a:prstGeom>
          <a:noFill/>
          <a:ln/>
        </p:spPr>
        <p:txBody>
          <a:bodyPr wrap="square" lIns="0" tIns="0" rIns="0" bIns="0" rtlCol="0" anchor="ctr"/>
          <a:lstStyle/>
          <a:p>
            <a:pPr indent="0" marL="0">
              <a:buNone/>
            </a:pPr>
            <a:r>
              <a:rPr lang="en-US" sz="1500" dirty="0">
                <a:solidFill>
                  <a:srgbClr val="F4B942"/>
                </a:solidFill>
                <a:latin typeface="IBM Plex Mono" pitchFamily="34" charset="0"/>
                <a:ea typeface="IBM Plex Mono" pitchFamily="34" charset="-122"/>
                <a:cs typeface="IBM Plex Mono" pitchFamily="34" charset="-120"/>
              </a:rPr>
              <a:t>2.1 Algorithms  |  Lesson 4</a:t>
            </a:r>
            <a:endParaRPr lang="en-US" sz="1500" dirty="0"/>
          </a:p>
        </p:txBody>
      </p:sp>
      <p:sp>
        <p:nvSpPr>
          <p:cNvPr id="4" name="Text 2"/>
          <p:cNvSpPr txBox="1"/>
          <p:nvPr/>
        </p:nvSpPr>
        <p:spPr>
          <a:xfrm>
            <a:off x="822960" y="1920240"/>
            <a:ext cx="10515600" cy="1280160"/>
          </a:xfrm>
          <a:prstGeom prst="rect">
            <a:avLst/>
          </a:prstGeom>
          <a:noFill/>
          <a:ln/>
        </p:spPr>
        <p:txBody>
          <a:bodyPr wrap="square" lIns="0" tIns="0" rIns="0" bIns="0" rtlCol="0" anchor="ctr"/>
          <a:lstStyle/>
          <a:p>
            <a:pPr indent="0" marL="0">
              <a:buNone/>
            </a:pPr>
            <a:r>
              <a:rPr lang="en-US" sz="6000" b="1" dirty="0">
                <a:solidFill>
                  <a:srgbClr val="FFFFFF"/>
                </a:solidFill>
                <a:latin typeface="IBM Plex Sans" pitchFamily="34" charset="0"/>
                <a:ea typeface="IBM Plex Sans" pitchFamily="34" charset="-122"/>
                <a:cs typeface="IBM Plex Sans" pitchFamily="34" charset="-120"/>
              </a:rPr>
              <a:t>Flowchart factory</a:t>
            </a:r>
            <a:endParaRPr lang="en-US" sz="6000" dirty="0"/>
          </a:p>
        </p:txBody>
      </p:sp>
      <p:sp>
        <p:nvSpPr>
          <p:cNvPr id="5" name="Text 3"/>
          <p:cNvSpPr txBox="1"/>
          <p:nvPr/>
        </p:nvSpPr>
        <p:spPr>
          <a:xfrm>
            <a:off x="822960" y="3291840"/>
            <a:ext cx="9509760" cy="1371600"/>
          </a:xfrm>
          <a:prstGeom prst="rect">
            <a:avLst/>
          </a:prstGeom>
          <a:noFill/>
          <a:ln/>
        </p:spPr>
        <p:txBody>
          <a:bodyPr wrap="square" lIns="0" tIns="0" rIns="0" bIns="0" rtlCol="0" anchor="ctr"/>
          <a:lstStyle/>
          <a:p>
            <a:pPr indent="0" marL="0">
              <a:lnSpc>
                <a:spcPct val="125000"/>
              </a:lnSpc>
              <a:buNone/>
            </a:pPr>
            <a:r>
              <a:rPr lang="en-US" sz="1800" dirty="0">
                <a:solidFill>
                  <a:srgbClr val="C7CDD9"/>
                </a:solidFill>
                <a:latin typeface="IBM Plex Sans" pitchFamily="34" charset="0"/>
                <a:ea typeface="IBM Plex Sans" pitchFamily="34" charset="-122"/>
                <a:cs typeface="IBM Plex Sans" pitchFamily="34" charset="-120"/>
              </a:rPr>
              <a:t>A flowchart shows an algorithm as a picture, with a shape for each kind of step. Learn the five symbols, then build and read flowcharts that branch and repeat.</a:t>
            </a:r>
            <a:endParaRPr lang="en-US" sz="1800" dirty="0"/>
          </a:p>
        </p:txBody>
      </p:sp>
      <p:sp>
        <p:nvSpPr>
          <p:cNvPr id="6" name="Shape 4"/>
          <p:cNvSpPr/>
          <p:nvPr/>
        </p:nvSpPr>
        <p:spPr>
          <a:xfrm>
            <a:off x="822960" y="4846320"/>
            <a:ext cx="2926080" cy="0"/>
          </a:xfrm>
          <a:prstGeom prst="line">
            <a:avLst/>
          </a:prstGeom>
          <a:noFill/>
          <a:ln w="31750">
            <a:solidFill>
              <a:srgbClr val="2D63FF"/>
            </a:solidFill>
            <a:prstDash val="solid"/>
          </a:ln>
        </p:spPr>
      </p:sp>
      <p:sp>
        <p:nvSpPr>
          <p:cNvPr id="7" name="Text 5"/>
          <p:cNvSpPr txBox="1"/>
          <p:nvPr/>
        </p:nvSpPr>
        <p:spPr>
          <a:xfrm>
            <a:off x="822960" y="5029200"/>
            <a:ext cx="10515600" cy="365760"/>
          </a:xfrm>
          <a:prstGeom prst="rect">
            <a:avLst/>
          </a:prstGeom>
          <a:noFill/>
          <a:ln/>
        </p:spPr>
        <p:txBody>
          <a:bodyPr wrap="square" lIns="0" tIns="0" rIns="0" bIns="0" rtlCol="0" anchor="ctr"/>
          <a:lstStyle/>
          <a:p>
            <a:pPr indent="0" marL="0">
              <a:buNone/>
            </a:pPr>
            <a:r>
              <a:rPr lang="en-US" sz="1300" dirty="0">
                <a:solidFill>
                  <a:srgbClr val="667085"/>
                </a:solidFill>
                <a:latin typeface="IBM Plex Mono" pitchFamily="34" charset="0"/>
                <a:ea typeface="IBM Plex Mono" pitchFamily="34" charset="-122"/>
                <a:cs typeface="IBM Plex Mono" pitchFamily="34" charset="-120"/>
              </a:rPr>
              <a:t>OCR J277 Paper 2  |  Computational thinking, algorithms and programming</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4</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By the end of this lesson</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How can an algorithm be described without ambiguity?</a:t>
            </a:r>
            <a:endParaRPr lang="en-US" sz="1500" dirty="0"/>
          </a:p>
        </p:txBody>
      </p:sp>
      <p:sp>
        <p:nvSpPr>
          <p:cNvPr id="7" name="Shape 5"/>
          <p:cNvSpPr/>
          <p:nvPr/>
        </p:nvSpPr>
        <p:spPr>
          <a:xfrm>
            <a:off x="548640" y="1965960"/>
            <a:ext cx="566928" cy="566928"/>
          </a:xfrm>
          <a:prstGeom prst="ellipse">
            <a:avLst/>
          </a:prstGeom>
          <a:solidFill>
            <a:srgbClr val="2D63FF"/>
          </a:solidFill>
          <a:ln/>
        </p:spPr>
      </p:sp>
      <p:sp>
        <p:nvSpPr>
          <p:cNvPr id="8" name="Text 6"/>
          <p:cNvSpPr txBox="1"/>
          <p:nvPr/>
        </p:nvSpPr>
        <p:spPr>
          <a:xfrm>
            <a:off x="54864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965960"/>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the flowchart symbols</a:t>
            </a:r>
            <a:endParaRPr lang="en-US" sz="1900" dirty="0"/>
          </a:p>
        </p:txBody>
      </p:sp>
      <p:sp>
        <p:nvSpPr>
          <p:cNvPr id="10" name="Shape 8"/>
          <p:cNvSpPr/>
          <p:nvPr/>
        </p:nvSpPr>
        <p:spPr>
          <a:xfrm>
            <a:off x="548640" y="2898648"/>
            <a:ext cx="566928" cy="566928"/>
          </a:xfrm>
          <a:prstGeom prst="ellipse">
            <a:avLst/>
          </a:prstGeom>
          <a:solidFill>
            <a:srgbClr val="2D63FF"/>
          </a:solidFill>
          <a:ln/>
        </p:spPr>
      </p:sp>
      <p:sp>
        <p:nvSpPr>
          <p:cNvPr id="11" name="Text 9"/>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2" name="Text 10"/>
          <p:cNvSpPr txBox="1"/>
          <p:nvPr/>
        </p:nvSpPr>
        <p:spPr>
          <a:xfrm>
            <a:off x="1325880" y="2898648"/>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how to make a flowchart</a:t>
            </a:r>
            <a:endParaRPr lang="en-US" sz="1900" dirty="0"/>
          </a:p>
        </p:txBody>
      </p:sp>
      <p:sp>
        <p:nvSpPr>
          <p:cNvPr id="13" name="Shape 11"/>
          <p:cNvSpPr/>
          <p:nvPr/>
        </p:nvSpPr>
        <p:spPr>
          <a:xfrm>
            <a:off x="548640" y="3831336"/>
            <a:ext cx="566928" cy="566928"/>
          </a:xfrm>
          <a:prstGeom prst="ellipse">
            <a:avLst/>
          </a:prstGeom>
          <a:solidFill>
            <a:srgbClr val="2D63FF"/>
          </a:solidFill>
          <a:ln/>
        </p:spPr>
      </p:sp>
      <p:sp>
        <p:nvSpPr>
          <p:cNvPr id="14" name="Text 12"/>
          <p:cNvSpPr txBox="1"/>
          <p:nvPr/>
        </p:nvSpPr>
        <p:spPr>
          <a:xfrm>
            <a:off x="548640" y="383133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5" name="Text 13"/>
          <p:cNvSpPr txBox="1"/>
          <p:nvPr/>
        </p:nvSpPr>
        <p:spPr>
          <a:xfrm>
            <a:off x="1325880" y="3831336"/>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how to construct a program from a flowchart</a:t>
            </a:r>
            <a:endParaRPr lang="en-US" sz="1900" dirty="0"/>
          </a:p>
        </p:txBody>
      </p:sp>
      <p:sp>
        <p:nvSpPr>
          <p:cNvPr id="16" name="Text 14"/>
          <p:cNvSpPr txBox="1"/>
          <p:nvPr/>
        </p:nvSpPr>
        <p:spPr>
          <a:xfrm>
            <a:off x="548640" y="5084064"/>
            <a:ext cx="2743200" cy="320040"/>
          </a:xfrm>
          <a:prstGeom prst="rect">
            <a:avLst/>
          </a:prstGeom>
          <a:noFill/>
          <a:ln/>
        </p:spPr>
        <p:txBody>
          <a:bodyPr wrap="square" lIns="0" tIns="0" rIns="0" bIns="0" rtlCol="0" anchor="ctr"/>
          <a:lstStyle/>
          <a:p>
            <a:pPr indent="0" marL="0">
              <a:buNone/>
            </a:pPr>
            <a:r>
              <a:rPr lang="en-US" sz="1200" dirty="0">
                <a:solidFill>
                  <a:srgbClr val="667085"/>
                </a:solidFill>
                <a:latin typeface="IBM Plex Mono" pitchFamily="34" charset="0"/>
                <a:ea typeface="IBM Plex Mono" pitchFamily="34" charset="-122"/>
                <a:cs typeface="IBM Plex Mono" pitchFamily="34" charset="-120"/>
              </a:rPr>
              <a:t>Key words</a:t>
            </a:r>
            <a:endParaRPr lang="en-US" sz="1200" dirty="0"/>
          </a:p>
        </p:txBody>
      </p:sp>
      <p:sp>
        <p:nvSpPr>
          <p:cNvPr id="17" name="Shape 15"/>
          <p:cNvSpPr/>
          <p:nvPr/>
        </p:nvSpPr>
        <p:spPr>
          <a:xfrm>
            <a:off x="548640" y="5468112"/>
            <a:ext cx="1773936" cy="402336"/>
          </a:xfrm>
          <a:prstGeom prst="roundRect">
            <a:avLst>
              <a:gd name="adj" fmla="val 50000"/>
            </a:avLst>
          </a:prstGeom>
          <a:solidFill>
            <a:srgbClr val="FFFFFF"/>
          </a:solidFill>
          <a:ln w="12700">
            <a:solidFill>
              <a:srgbClr val="2D63FF"/>
            </a:solidFill>
            <a:prstDash val="solid"/>
          </a:ln>
        </p:spPr>
      </p:sp>
      <p:sp>
        <p:nvSpPr>
          <p:cNvPr id="18" name="Text 16"/>
          <p:cNvSpPr txBox="1"/>
          <p:nvPr/>
        </p:nvSpPr>
        <p:spPr>
          <a:xfrm>
            <a:off x="548640" y="5468112"/>
            <a:ext cx="1773936"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Flowchart</a:t>
            </a:r>
            <a:endParaRPr lang="en-US" sz="1200" dirty="0"/>
          </a:p>
        </p:txBody>
      </p:sp>
      <p:sp>
        <p:nvSpPr>
          <p:cNvPr id="19" name="Shape 17"/>
          <p:cNvSpPr/>
          <p:nvPr/>
        </p:nvSpPr>
        <p:spPr>
          <a:xfrm>
            <a:off x="2450592" y="5468112"/>
            <a:ext cx="1627632" cy="402336"/>
          </a:xfrm>
          <a:prstGeom prst="roundRect">
            <a:avLst>
              <a:gd name="adj" fmla="val 50000"/>
            </a:avLst>
          </a:prstGeom>
          <a:solidFill>
            <a:srgbClr val="FFFFFF"/>
          </a:solidFill>
          <a:ln w="12700">
            <a:solidFill>
              <a:srgbClr val="2D63FF"/>
            </a:solidFill>
            <a:prstDash val="solid"/>
          </a:ln>
        </p:spPr>
      </p:sp>
      <p:sp>
        <p:nvSpPr>
          <p:cNvPr id="20" name="Text 18"/>
          <p:cNvSpPr txBox="1"/>
          <p:nvPr/>
        </p:nvSpPr>
        <p:spPr>
          <a:xfrm>
            <a:off x="2450592" y="5468112"/>
            <a:ext cx="1627632"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Terminal</a:t>
            </a:r>
            <a:endParaRPr lang="en-US" sz="1200" dirty="0"/>
          </a:p>
        </p:txBody>
      </p:sp>
      <p:sp>
        <p:nvSpPr>
          <p:cNvPr id="21" name="Shape 19"/>
          <p:cNvSpPr/>
          <p:nvPr/>
        </p:nvSpPr>
        <p:spPr>
          <a:xfrm>
            <a:off x="4206240" y="5468112"/>
            <a:ext cx="1481328" cy="402336"/>
          </a:xfrm>
          <a:prstGeom prst="roundRect">
            <a:avLst>
              <a:gd name="adj" fmla="val 50000"/>
            </a:avLst>
          </a:prstGeom>
          <a:solidFill>
            <a:srgbClr val="FFFFFF"/>
          </a:solidFill>
          <a:ln w="12700">
            <a:solidFill>
              <a:srgbClr val="2D63FF"/>
            </a:solidFill>
            <a:prstDash val="solid"/>
          </a:ln>
        </p:spPr>
      </p:sp>
      <p:sp>
        <p:nvSpPr>
          <p:cNvPr id="22" name="Text 20"/>
          <p:cNvSpPr txBox="1"/>
          <p:nvPr/>
        </p:nvSpPr>
        <p:spPr>
          <a:xfrm>
            <a:off x="4206240" y="5468112"/>
            <a:ext cx="1481328"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Process</a:t>
            </a:r>
            <a:endParaRPr lang="en-US" sz="1200" dirty="0"/>
          </a:p>
        </p:txBody>
      </p:sp>
      <p:sp>
        <p:nvSpPr>
          <p:cNvPr id="23" name="Shape 21"/>
          <p:cNvSpPr/>
          <p:nvPr/>
        </p:nvSpPr>
        <p:spPr>
          <a:xfrm>
            <a:off x="5815584" y="5468112"/>
            <a:ext cx="2212848" cy="402336"/>
          </a:xfrm>
          <a:prstGeom prst="roundRect">
            <a:avLst>
              <a:gd name="adj" fmla="val 50000"/>
            </a:avLst>
          </a:prstGeom>
          <a:solidFill>
            <a:srgbClr val="FFFFFF"/>
          </a:solidFill>
          <a:ln w="12700">
            <a:solidFill>
              <a:srgbClr val="2D63FF"/>
            </a:solidFill>
            <a:prstDash val="solid"/>
          </a:ln>
        </p:spPr>
      </p:sp>
      <p:sp>
        <p:nvSpPr>
          <p:cNvPr id="24" name="Text 22"/>
          <p:cNvSpPr txBox="1"/>
          <p:nvPr/>
        </p:nvSpPr>
        <p:spPr>
          <a:xfrm>
            <a:off x="5815584" y="5468112"/>
            <a:ext cx="2212848"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Input/output</a:t>
            </a:r>
            <a:endParaRPr lang="en-US" sz="1200" dirty="0"/>
          </a:p>
        </p:txBody>
      </p:sp>
      <p:sp>
        <p:nvSpPr>
          <p:cNvPr id="25" name="Shape 23"/>
          <p:cNvSpPr/>
          <p:nvPr/>
        </p:nvSpPr>
        <p:spPr>
          <a:xfrm>
            <a:off x="8156448" y="5468112"/>
            <a:ext cx="1627632" cy="402336"/>
          </a:xfrm>
          <a:prstGeom prst="roundRect">
            <a:avLst>
              <a:gd name="adj" fmla="val 50000"/>
            </a:avLst>
          </a:prstGeom>
          <a:solidFill>
            <a:srgbClr val="FFFFFF"/>
          </a:solidFill>
          <a:ln w="12700">
            <a:solidFill>
              <a:srgbClr val="2D63FF"/>
            </a:solidFill>
            <a:prstDash val="solid"/>
          </a:ln>
        </p:spPr>
      </p:sp>
      <p:sp>
        <p:nvSpPr>
          <p:cNvPr id="26" name="Text 24"/>
          <p:cNvSpPr txBox="1"/>
          <p:nvPr/>
        </p:nvSpPr>
        <p:spPr>
          <a:xfrm>
            <a:off x="8156448" y="5468112"/>
            <a:ext cx="1627632"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Decision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4</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2103120" cy="457200"/>
          </a:xfrm>
          <a:prstGeom prst="roundRect">
            <a:avLst>
              <a:gd name="adj" fmla="val 20000"/>
            </a:avLst>
          </a:prstGeom>
          <a:solidFill>
            <a:srgbClr val="F4B942"/>
          </a:solidFill>
          <a:ln/>
        </p:spPr>
      </p:sp>
      <p:sp>
        <p:nvSpPr>
          <p:cNvPr id="6" name="Text 4"/>
          <p:cNvSpPr txBox="1"/>
          <p:nvPr/>
        </p:nvSpPr>
        <p:spPr>
          <a:xfrm>
            <a:off x="502920" y="457200"/>
            <a:ext cx="2103120" cy="45720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STARTER</a:t>
            </a:r>
            <a:endParaRPr lang="en-US" sz="1300" dirty="0"/>
          </a:p>
        </p:txBody>
      </p:sp>
      <p:sp>
        <p:nvSpPr>
          <p:cNvPr id="7" name="Text 5"/>
          <p:cNvSpPr txBox="1"/>
          <p:nvPr/>
        </p:nvSpPr>
        <p:spPr>
          <a:xfrm>
            <a:off x="2788920" y="457200"/>
            <a:ext cx="5486400" cy="457200"/>
          </a:xfrm>
          <a:prstGeom prst="rect">
            <a:avLst/>
          </a:prstGeom>
          <a:noFill/>
          <a:ln/>
        </p:spPr>
        <p:txBody>
          <a:bodyPr wrap="square" lIns="0" tIns="0" rIns="0" bIns="0" rtlCol="0" anchor="ctr"/>
          <a:lstStyle/>
          <a:p>
            <a:pPr indent="0" marL="0">
              <a:buNone/>
            </a:pPr>
            <a:r>
              <a:rPr lang="en-US" sz="1400" dirty="0">
                <a:solidFill>
                  <a:srgbClr val="667085"/>
                </a:solidFill>
                <a:latin typeface="IBM Plex Sans" pitchFamily="34" charset="0"/>
                <a:ea typeface="IBM Plex Sans" pitchFamily="34" charset="-122"/>
                <a:cs typeface="IBM Plex Sans" pitchFamily="34" charset="-120"/>
              </a:rPr>
              <a:t>Five minutes, on paper</a:t>
            </a:r>
            <a:endParaRPr lang="en-US" sz="1400" dirty="0"/>
          </a:p>
        </p:txBody>
      </p:sp>
      <p:sp>
        <p:nvSpPr>
          <p:cNvPr id="8" name="Shape 6"/>
          <p:cNvSpPr/>
          <p:nvPr/>
        </p:nvSpPr>
        <p:spPr>
          <a:xfrm>
            <a:off x="502920" y="1234440"/>
            <a:ext cx="11155680" cy="3200400"/>
          </a:xfrm>
          <a:prstGeom prst="roundRect">
            <a:avLst>
              <a:gd name="adj" fmla="val 3429"/>
            </a:avLst>
          </a:prstGeom>
          <a:solidFill>
            <a:srgbClr val="FFFFFF"/>
          </a:solidFill>
          <a:ln w="15875">
            <a:solidFill>
              <a:srgbClr val="2D63FF"/>
            </a:solidFill>
            <a:prstDash val="solid"/>
          </a:ln>
        </p:spPr>
      </p:sp>
      <p:sp>
        <p:nvSpPr>
          <p:cNvPr id="9" name="Text 7"/>
          <p:cNvSpPr txBox="1"/>
          <p:nvPr/>
        </p:nvSpPr>
        <p:spPr>
          <a:xfrm>
            <a:off x="1005840" y="1645920"/>
            <a:ext cx="10149840" cy="2377440"/>
          </a:xfrm>
          <a:prstGeom prst="rect">
            <a:avLst/>
          </a:prstGeom>
          <a:noFill/>
          <a:ln/>
        </p:spPr>
        <p:txBody>
          <a:bodyPr wrap="square" lIns="0" tIns="0" rIns="0" bIns="0" rtlCol="0" anchor="ctr"/>
          <a:lstStyle/>
          <a:p>
            <a:pPr indent="0" marL="0">
              <a:lnSpc>
                <a:spcPct val="130000"/>
              </a:lnSpc>
              <a:buNone/>
            </a:pPr>
            <a:r>
              <a:rPr lang="en-US" sz="2600" dirty="0">
                <a:solidFill>
                  <a:srgbClr val="101828"/>
                </a:solidFill>
                <a:latin typeface="IBM Plex Sans" pitchFamily="34" charset="0"/>
                <a:ea typeface="IBM Plex Sans" pitchFamily="34" charset="-122"/>
                <a:cs typeface="IBM Plex Sans" pitchFamily="34" charset="-120"/>
              </a:rPr>
              <a:t>Draw a diagram showing how you decide what to wear each morning. Where does your diagram branch?</a:t>
            </a:r>
            <a:endParaRPr lang="en-US" sz="2600" dirty="0"/>
          </a:p>
        </p:txBody>
      </p:sp>
      <p:sp>
        <p:nvSpPr>
          <p:cNvPr id="10" name="Text 8"/>
          <p:cNvSpPr txBox="1"/>
          <p:nvPr/>
        </p:nvSpPr>
        <p:spPr>
          <a:xfrm>
            <a:off x="502920" y="4709160"/>
            <a:ext cx="11155680" cy="45720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No devices yet. Write your answer on the worksheet before anyone talks.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4</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Into the experience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Open Flowchart factory on revise360.co.uk</a:t>
            </a:r>
            <a:endParaRPr lang="en-US" sz="1500" dirty="0"/>
          </a:p>
        </p:txBody>
      </p:sp>
      <p:sp>
        <p:nvSpPr>
          <p:cNvPr id="7" name="Shape 5"/>
          <p:cNvSpPr/>
          <p:nvPr/>
        </p:nvSpPr>
        <p:spPr>
          <a:xfrm>
            <a:off x="548640" y="1874520"/>
            <a:ext cx="566928" cy="566928"/>
          </a:xfrm>
          <a:prstGeom prst="ellipse">
            <a:avLst/>
          </a:prstGeom>
          <a:solidFill>
            <a:srgbClr val="08A6A6"/>
          </a:solidFill>
          <a:ln/>
        </p:spPr>
      </p:sp>
      <p:sp>
        <p:nvSpPr>
          <p:cNvPr id="8" name="Text 6"/>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856232"/>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around</a:t>
            </a:r>
            <a:endParaRPr lang="en-US" sz="1700" dirty="0"/>
          </a:p>
        </p:txBody>
      </p:sp>
      <p:sp>
        <p:nvSpPr>
          <p:cNvPr id="10" name="Text 8"/>
          <p:cNvSpPr txBox="1"/>
          <p:nvPr/>
        </p:nvSpPr>
        <p:spPr>
          <a:xfrm>
            <a:off x="1325880" y="2148840"/>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Six numbered stations are arranged around you. Turn right for 1 and 2, around for 3 and 4, left for 5 and 6.</a:t>
            </a:r>
            <a:endParaRPr lang="en-US" sz="1400" dirty="0"/>
          </a:p>
        </p:txBody>
      </p:sp>
      <p:sp>
        <p:nvSpPr>
          <p:cNvPr id="11" name="Shape 9"/>
          <p:cNvSpPr/>
          <p:nvPr/>
        </p:nvSpPr>
        <p:spPr>
          <a:xfrm>
            <a:off x="548640" y="2898648"/>
            <a:ext cx="566928" cy="566928"/>
          </a:xfrm>
          <a:prstGeom prst="ellipse">
            <a:avLst/>
          </a:prstGeom>
          <a:solidFill>
            <a:srgbClr val="08A6A6"/>
          </a:solidFill>
          <a:ln/>
        </p:spPr>
      </p:sp>
      <p:sp>
        <p:nvSpPr>
          <p:cNvPr id="12" name="Text 10"/>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3" name="Text 11"/>
          <p:cNvSpPr txBox="1"/>
          <p:nvPr/>
        </p:nvSpPr>
        <p:spPr>
          <a:xfrm>
            <a:off x="1325880" y="2880360"/>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Read, then write</a:t>
            </a:r>
            <a:endParaRPr lang="en-US" sz="1700" dirty="0"/>
          </a:p>
        </p:txBody>
      </p:sp>
      <p:sp>
        <p:nvSpPr>
          <p:cNvPr id="14" name="Text 12"/>
          <p:cNvSpPr txBox="1"/>
          <p:nvPr/>
        </p:nvSpPr>
        <p:spPr>
          <a:xfrm>
            <a:off x="1325880" y="3172968"/>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Read the wall, write the key fact and your answer to the challenge on the worksheet.</a:t>
            </a:r>
            <a:endParaRPr lang="en-US" sz="1400" dirty="0"/>
          </a:p>
        </p:txBody>
      </p:sp>
      <p:sp>
        <p:nvSpPr>
          <p:cNvPr id="15" name="Shape 13"/>
          <p:cNvSpPr/>
          <p:nvPr/>
        </p:nvSpPr>
        <p:spPr>
          <a:xfrm>
            <a:off x="548640" y="3922776"/>
            <a:ext cx="566928" cy="566928"/>
          </a:xfrm>
          <a:prstGeom prst="ellipse">
            <a:avLst/>
          </a:prstGeom>
          <a:solidFill>
            <a:srgbClr val="08A6A6"/>
          </a:solidFill>
          <a:ln/>
        </p:spPr>
      </p:sp>
      <p:sp>
        <p:nvSpPr>
          <p:cNvPr id="16" name="Text 14"/>
          <p:cNvSpPr txBox="1"/>
          <p:nvPr/>
        </p:nvSpPr>
        <p:spPr>
          <a:xfrm>
            <a:off x="548640" y="392277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7" name="Text 15"/>
          <p:cNvSpPr txBox="1"/>
          <p:nvPr/>
        </p:nvSpPr>
        <p:spPr>
          <a:xfrm>
            <a:off x="1325880" y="3904488"/>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Then tap the badge</a:t>
            </a:r>
            <a:endParaRPr lang="en-US" sz="1700" dirty="0"/>
          </a:p>
        </p:txBody>
      </p:sp>
      <p:sp>
        <p:nvSpPr>
          <p:cNvPr id="18" name="Text 16"/>
          <p:cNvSpPr txBox="1"/>
          <p:nvPr/>
        </p:nvSpPr>
        <p:spPr>
          <a:xfrm>
            <a:off x="1325880" y="4197096"/>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Only answer the questions once you have written. Your first answer is the one that counts.</a:t>
            </a:r>
            <a:endParaRPr lang="en-US" sz="1400" dirty="0"/>
          </a:p>
        </p:txBody>
      </p:sp>
      <p:sp>
        <p:nvSpPr>
          <p:cNvPr id="19" name="Shape 17"/>
          <p:cNvSpPr/>
          <p:nvPr/>
        </p:nvSpPr>
        <p:spPr>
          <a:xfrm>
            <a:off x="548640" y="4946904"/>
            <a:ext cx="566928" cy="566928"/>
          </a:xfrm>
          <a:prstGeom prst="ellipse">
            <a:avLst/>
          </a:prstGeom>
          <a:solidFill>
            <a:srgbClr val="F4B942"/>
          </a:solidFill>
          <a:ln/>
        </p:spPr>
      </p:sp>
      <p:sp>
        <p:nvSpPr>
          <p:cNvPr id="20" name="Text 18"/>
          <p:cNvSpPr txBox="1"/>
          <p:nvPr/>
        </p:nvSpPr>
        <p:spPr>
          <a:xfrm>
            <a:off x="548640" y="4946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21" name="Text 19"/>
          <p:cNvSpPr txBox="1"/>
          <p:nvPr/>
        </p:nvSpPr>
        <p:spPr>
          <a:xfrm>
            <a:off x="1325880" y="4928616"/>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down at the end</a:t>
            </a:r>
            <a:endParaRPr lang="en-US" sz="1700" dirty="0"/>
          </a:p>
        </p:txBody>
      </p:sp>
      <p:sp>
        <p:nvSpPr>
          <p:cNvPr id="22" name="Text 20"/>
          <p:cNvSpPr txBox="1"/>
          <p:nvPr/>
        </p:nvSpPr>
        <p:spPr>
          <a:xfrm>
            <a:off x="1325880" y="5221224"/>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The starred final challenge is on the floor. Predict on paper first.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4</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1</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The five symbols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Rounded box: start or stop, called a terminal.</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Parallelogram: input or output.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Rectangle: a process. Diamond: a decision. Double-sided box: a subprogram.</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Draw all five symbols and label what each one is for.</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The flowchart symbols are...</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4</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2</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Reading a flowchart</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Start at the terminal marked Start and follow the arrows.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At a diamond, read the condition and take the yes or no path.</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Stop when you reach the terminal marked Stop.</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Follow a flowchart by hand with an input of 7 and record the output.</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To read a flowchart, I...</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4</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3</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Decisions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diamond holds a condition that is either true or false.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Label the two arrows leaving it, usually Yes and No.</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Nested decisions let a flowchart pick between more than two outcomes.</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Draw a flowchart that reports pass, merit or distinction from a mark.</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decision in a flowchart...</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4</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4</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Loops in flowcharts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loop is drawn as an arrow back to an earlier point.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condition decides whether to go round again or carry on.</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Without a way out, the flowchart describes a program that never stops.</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Draw a flowchart that adds up ten numbers entered by the user.</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loop in a flowchart is drawn as...</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4</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5</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5</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Flowchart or pseudocode?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Flowcharts show the shape of an algorithm, which suits explaining it to someone else.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They get unwieldy for long algorithms, where pseudocode is clearer.</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Both describe the same thing; the exam may ask for either.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Give one advantage of a flowchart and one of pseudocode.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Flowcharts and pseudocode differ because...</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4</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6</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6</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Drawing a flowchart in the exam</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Use the right shape for each kind of step: marks are lost for a rectangle where a diamond belongs.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Label both arrows leaving a decision.</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Start and stop with terminals, and check every path reaches a stop.</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Draw a flowchart for a login system that allows three attempts.</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When drawing a flowchart, I must...</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4</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1051560" cy="420624"/>
          </a:xfrm>
          <a:prstGeom prst="roundRect">
            <a:avLst>
              <a:gd name="adj" fmla="val 21739"/>
            </a:avLst>
          </a:prstGeom>
          <a:solidFill>
            <a:srgbClr val="F4B942"/>
          </a:solidFill>
          <a:ln/>
        </p:spPr>
      </p:sp>
      <p:sp>
        <p:nvSpPr>
          <p:cNvPr id="6" name="Text 4"/>
          <p:cNvSpPr txBox="1"/>
          <p:nvPr/>
        </p:nvSpPr>
        <p:spPr>
          <a:xfrm>
            <a:off x="502920" y="457200"/>
            <a:ext cx="1051560" cy="420624"/>
          </a:xfrm>
          <a:prstGeom prst="rect">
            <a:avLst/>
          </a:prstGeom>
          <a:noFill/>
          <a:ln/>
        </p:spPr>
        <p:txBody>
          <a:bodyPr wrap="square" lIns="0" tIns="0" rIns="0" bIns="0" rtlCol="0" anchor="ctr"/>
          <a:lstStyle/>
          <a:p>
            <a:pPr algn="ctr" indent="0" marL="0">
              <a:buNone/>
            </a:pPr>
            <a:r>
              <a:rPr lang="en-US" sz="1200" b="1" dirty="0">
                <a:solidFill>
                  <a:srgbClr val="101828"/>
                </a:solidFill>
                <a:latin typeface="IBM Plex Mono" pitchFamily="34" charset="0"/>
                <a:ea typeface="IBM Plex Mono" pitchFamily="34" charset="-122"/>
                <a:cs typeface="IBM Plex Mono" pitchFamily="34" charset="-120"/>
              </a:rPr>
              <a:t>CHECK</a:t>
            </a:r>
            <a:endParaRPr lang="en-US" sz="1200" dirty="0"/>
          </a:p>
        </p:txBody>
      </p:sp>
      <p:sp>
        <p:nvSpPr>
          <p:cNvPr id="7" name="Text 5"/>
          <p:cNvSpPr txBox="1"/>
          <p:nvPr/>
        </p:nvSpPr>
        <p:spPr>
          <a:xfrm>
            <a:off x="1737360" y="457200"/>
            <a:ext cx="9875520" cy="420624"/>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Hands down. Everyone commits.</a:t>
            </a:r>
            <a:endParaRPr lang="en-US" sz="1500" dirty="0"/>
          </a:p>
        </p:txBody>
      </p:sp>
      <p:sp>
        <p:nvSpPr>
          <p:cNvPr id="8" name="Text 6"/>
          <p:cNvSpPr txBox="1"/>
          <p:nvPr/>
        </p:nvSpPr>
        <p:spPr>
          <a:xfrm>
            <a:off x="502920" y="1097280"/>
            <a:ext cx="11155680" cy="914400"/>
          </a:xfrm>
          <a:prstGeom prst="rect">
            <a:avLst/>
          </a:prstGeom>
          <a:noFill/>
          <a:ln/>
        </p:spPr>
        <p:txBody>
          <a:bodyPr wrap="square" lIns="0" tIns="0" rIns="0" bIns="0" rtlCol="0" anchor="ctr"/>
          <a:lstStyle/>
          <a:p>
            <a:pPr indent="0" marL="0">
              <a:lnSpc>
                <a:spcPct val="115000"/>
              </a:lnSpc>
              <a:buNone/>
            </a:pPr>
            <a:r>
              <a:rPr lang="en-US" sz="2600" b="1" dirty="0">
                <a:solidFill>
                  <a:srgbClr val="101828"/>
                </a:solidFill>
                <a:latin typeface="IBM Plex Sans" pitchFamily="34" charset="0"/>
                <a:ea typeface="IBM Plex Sans" pitchFamily="34" charset="-122"/>
                <a:cs typeface="IBM Plex Sans" pitchFamily="34" charset="-120"/>
              </a:rPr>
              <a:t>What happens if the loop's decision can never be true?</a:t>
            </a:r>
            <a:endParaRPr lang="en-US" sz="2600" dirty="0"/>
          </a:p>
        </p:txBody>
      </p:sp>
      <p:sp>
        <p:nvSpPr>
          <p:cNvPr id="9" name="Shape 7"/>
          <p:cNvSpPr/>
          <p:nvPr/>
        </p:nvSpPr>
        <p:spPr>
          <a:xfrm>
            <a:off x="502920" y="2148840"/>
            <a:ext cx="11155680" cy="731520"/>
          </a:xfrm>
          <a:prstGeom prst="roundRect">
            <a:avLst>
              <a:gd name="adj" fmla="val 15000"/>
            </a:avLst>
          </a:prstGeom>
          <a:solidFill>
            <a:srgbClr val="FFFFFF"/>
          </a:solidFill>
          <a:ln w="15875">
            <a:solidFill>
              <a:srgbClr val="D9DEE7"/>
            </a:solidFill>
            <a:prstDash val="solid"/>
          </a:ln>
        </p:spPr>
      </p:sp>
      <p:sp>
        <p:nvSpPr>
          <p:cNvPr id="10" name="Shape 8"/>
          <p:cNvSpPr/>
          <p:nvPr/>
        </p:nvSpPr>
        <p:spPr>
          <a:xfrm>
            <a:off x="777240" y="2295144"/>
            <a:ext cx="438912" cy="438912"/>
          </a:xfrm>
          <a:prstGeom prst="roundRect">
            <a:avLst>
              <a:gd name="adj" fmla="val 20833"/>
            </a:avLst>
          </a:prstGeom>
          <a:solidFill>
            <a:srgbClr val="EEF2FB"/>
          </a:solidFill>
          <a:ln/>
        </p:spPr>
      </p:sp>
      <p:sp>
        <p:nvSpPr>
          <p:cNvPr id="11" name="Text 9"/>
          <p:cNvSpPr txBox="1"/>
          <p:nvPr/>
        </p:nvSpPr>
        <p:spPr>
          <a:xfrm>
            <a:off x="777240" y="229514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A</a:t>
            </a:r>
            <a:endParaRPr lang="en-US" sz="1300" dirty="0"/>
          </a:p>
        </p:txBody>
      </p:sp>
      <p:sp>
        <p:nvSpPr>
          <p:cNvPr id="12" name="Text 10"/>
          <p:cNvSpPr txBox="1"/>
          <p:nvPr/>
        </p:nvSpPr>
        <p:spPr>
          <a:xfrm>
            <a:off x="1417320" y="214884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It runs ten times anyway</a:t>
            </a:r>
            <a:endParaRPr lang="en-US" sz="1700" dirty="0"/>
          </a:p>
        </p:txBody>
      </p:sp>
      <p:sp>
        <p:nvSpPr>
          <p:cNvPr id="13" name="Shape 11"/>
          <p:cNvSpPr/>
          <p:nvPr/>
        </p:nvSpPr>
        <p:spPr>
          <a:xfrm>
            <a:off x="502920" y="3017520"/>
            <a:ext cx="11155680" cy="731520"/>
          </a:xfrm>
          <a:prstGeom prst="roundRect">
            <a:avLst>
              <a:gd name="adj" fmla="val 15000"/>
            </a:avLst>
          </a:prstGeom>
          <a:solidFill>
            <a:srgbClr val="FFFFFF"/>
          </a:solidFill>
          <a:ln w="15875">
            <a:solidFill>
              <a:srgbClr val="D9DEE7"/>
            </a:solidFill>
            <a:prstDash val="solid"/>
          </a:ln>
        </p:spPr>
      </p:sp>
      <p:sp>
        <p:nvSpPr>
          <p:cNvPr id="14" name="Shape 12"/>
          <p:cNvSpPr/>
          <p:nvPr/>
        </p:nvSpPr>
        <p:spPr>
          <a:xfrm>
            <a:off x="777240" y="3163824"/>
            <a:ext cx="438912" cy="438912"/>
          </a:xfrm>
          <a:prstGeom prst="roundRect">
            <a:avLst>
              <a:gd name="adj" fmla="val 20833"/>
            </a:avLst>
          </a:prstGeom>
          <a:solidFill>
            <a:srgbClr val="EEF2FB"/>
          </a:solidFill>
          <a:ln/>
        </p:spPr>
      </p:sp>
      <p:sp>
        <p:nvSpPr>
          <p:cNvPr id="15" name="Text 13"/>
          <p:cNvSpPr txBox="1"/>
          <p:nvPr/>
        </p:nvSpPr>
        <p:spPr>
          <a:xfrm>
            <a:off x="777240" y="316382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B</a:t>
            </a:r>
            <a:endParaRPr lang="en-US" sz="1300" dirty="0"/>
          </a:p>
        </p:txBody>
      </p:sp>
      <p:sp>
        <p:nvSpPr>
          <p:cNvPr id="16" name="Text 14"/>
          <p:cNvSpPr txBox="1"/>
          <p:nvPr/>
        </p:nvSpPr>
        <p:spPr>
          <a:xfrm>
            <a:off x="1417320" y="301752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The program never stops: an infinite loop</a:t>
            </a:r>
            <a:endParaRPr lang="en-US" sz="1700" dirty="0"/>
          </a:p>
        </p:txBody>
      </p:sp>
      <p:sp>
        <p:nvSpPr>
          <p:cNvPr id="17" name="Shape 15"/>
          <p:cNvSpPr/>
          <p:nvPr/>
        </p:nvSpPr>
        <p:spPr>
          <a:xfrm>
            <a:off x="502920" y="3886200"/>
            <a:ext cx="11155680" cy="731520"/>
          </a:xfrm>
          <a:prstGeom prst="roundRect">
            <a:avLst>
              <a:gd name="adj" fmla="val 15000"/>
            </a:avLst>
          </a:prstGeom>
          <a:solidFill>
            <a:srgbClr val="FFFFFF"/>
          </a:solidFill>
          <a:ln w="15875">
            <a:solidFill>
              <a:srgbClr val="D9DEE7"/>
            </a:solidFill>
            <a:prstDash val="solid"/>
          </a:ln>
        </p:spPr>
      </p:sp>
      <p:sp>
        <p:nvSpPr>
          <p:cNvPr id="18" name="Shape 16"/>
          <p:cNvSpPr/>
          <p:nvPr/>
        </p:nvSpPr>
        <p:spPr>
          <a:xfrm>
            <a:off x="777240" y="4032504"/>
            <a:ext cx="438912" cy="438912"/>
          </a:xfrm>
          <a:prstGeom prst="roundRect">
            <a:avLst>
              <a:gd name="adj" fmla="val 20833"/>
            </a:avLst>
          </a:prstGeom>
          <a:solidFill>
            <a:srgbClr val="EEF2FB"/>
          </a:solidFill>
          <a:ln/>
        </p:spPr>
      </p:sp>
      <p:sp>
        <p:nvSpPr>
          <p:cNvPr id="19" name="Text 17"/>
          <p:cNvSpPr txBox="1"/>
          <p:nvPr/>
        </p:nvSpPr>
        <p:spPr>
          <a:xfrm>
            <a:off x="777240" y="403250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C</a:t>
            </a:r>
            <a:endParaRPr lang="en-US" sz="1300" dirty="0"/>
          </a:p>
        </p:txBody>
      </p:sp>
      <p:sp>
        <p:nvSpPr>
          <p:cNvPr id="20" name="Text 18"/>
          <p:cNvSpPr txBox="1"/>
          <p:nvPr/>
        </p:nvSpPr>
        <p:spPr>
          <a:xfrm>
            <a:off x="1417320" y="388620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It skips the loop entirely</a:t>
            </a:r>
            <a:endParaRPr lang="en-US" sz="1700" dirty="0"/>
          </a:p>
        </p:txBody>
      </p:sp>
      <p:sp>
        <p:nvSpPr>
          <p:cNvPr id="21" name="Shape 19"/>
          <p:cNvSpPr/>
          <p:nvPr/>
        </p:nvSpPr>
        <p:spPr>
          <a:xfrm>
            <a:off x="502920" y="4754880"/>
            <a:ext cx="11155680" cy="731520"/>
          </a:xfrm>
          <a:prstGeom prst="roundRect">
            <a:avLst>
              <a:gd name="adj" fmla="val 15000"/>
            </a:avLst>
          </a:prstGeom>
          <a:solidFill>
            <a:srgbClr val="FFFFFF"/>
          </a:solidFill>
          <a:ln w="15875">
            <a:solidFill>
              <a:srgbClr val="D9DEE7"/>
            </a:solidFill>
            <a:prstDash val="solid"/>
          </a:ln>
        </p:spPr>
      </p:sp>
      <p:sp>
        <p:nvSpPr>
          <p:cNvPr id="22" name="Shape 20"/>
          <p:cNvSpPr/>
          <p:nvPr/>
        </p:nvSpPr>
        <p:spPr>
          <a:xfrm>
            <a:off x="777240" y="4901184"/>
            <a:ext cx="438912" cy="438912"/>
          </a:xfrm>
          <a:prstGeom prst="roundRect">
            <a:avLst>
              <a:gd name="adj" fmla="val 20833"/>
            </a:avLst>
          </a:prstGeom>
          <a:solidFill>
            <a:srgbClr val="EEF2FB"/>
          </a:solidFill>
          <a:ln/>
        </p:spPr>
      </p:sp>
      <p:sp>
        <p:nvSpPr>
          <p:cNvPr id="23" name="Text 21"/>
          <p:cNvSpPr txBox="1"/>
          <p:nvPr/>
        </p:nvSpPr>
        <p:spPr>
          <a:xfrm>
            <a:off x="777240" y="490118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D</a:t>
            </a:r>
            <a:endParaRPr lang="en-US" sz="1300" dirty="0"/>
          </a:p>
        </p:txBody>
      </p:sp>
      <p:sp>
        <p:nvSpPr>
          <p:cNvPr id="24" name="Text 22"/>
          <p:cNvSpPr txBox="1"/>
          <p:nvPr/>
        </p:nvSpPr>
        <p:spPr>
          <a:xfrm>
            <a:off x="1417320" y="475488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It reports a syntax error</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4</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38912"/>
            <a:ext cx="3108960" cy="502920"/>
          </a:xfrm>
          <a:prstGeom prst="roundRect">
            <a:avLst>
              <a:gd name="adj" fmla="val 18182"/>
            </a:avLst>
          </a:prstGeom>
          <a:solidFill>
            <a:srgbClr val="F4B942"/>
          </a:solidFill>
          <a:ln/>
        </p:spPr>
      </p:sp>
      <p:sp>
        <p:nvSpPr>
          <p:cNvPr id="6" name="Text 4"/>
          <p:cNvSpPr txBox="1"/>
          <p:nvPr/>
        </p:nvSpPr>
        <p:spPr>
          <a:xfrm>
            <a:off x="502920" y="438912"/>
            <a:ext cx="3108960" cy="50292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  FINAL CHALLENGE</a:t>
            </a:r>
            <a:endParaRPr lang="en-US" sz="1300" dirty="0"/>
          </a:p>
        </p:txBody>
      </p:sp>
      <p:sp>
        <p:nvSpPr>
          <p:cNvPr id="7" name="Text 5"/>
          <p:cNvSpPr txBox="1"/>
          <p:nvPr/>
        </p:nvSpPr>
        <p:spPr>
          <a:xfrm>
            <a:off x="502920" y="1097280"/>
            <a:ext cx="11155680" cy="731520"/>
          </a:xfrm>
          <a:prstGeom prst="rect">
            <a:avLst/>
          </a:prstGeom>
          <a:noFill/>
          <a:ln/>
        </p:spPr>
        <p:txBody>
          <a:bodyPr wrap="square" lIns="0" tIns="0" rIns="0" bIns="0" rtlCol="0" anchor="ctr"/>
          <a:lstStyle/>
          <a:p>
            <a:pPr indent="0" marL="0">
              <a:buNone/>
            </a:pPr>
            <a:r>
              <a:rPr lang="en-US" sz="3400" b="1" dirty="0">
                <a:solidFill>
                  <a:srgbClr val="101828"/>
                </a:solidFill>
                <a:latin typeface="IBM Plex Sans" pitchFamily="34" charset="0"/>
                <a:ea typeface="IBM Plex Sans" pitchFamily="34" charset="-122"/>
                <a:cs typeface="IBM Plex Sans" pitchFamily="34" charset="-120"/>
              </a:rPr>
              <a:t>Build the flowchart</a:t>
            </a:r>
            <a:endParaRPr lang="en-US" sz="3400" dirty="0"/>
          </a:p>
        </p:txBody>
      </p:sp>
      <p:sp>
        <p:nvSpPr>
          <p:cNvPr id="8" name="Shape 6"/>
          <p:cNvSpPr/>
          <p:nvPr/>
        </p:nvSpPr>
        <p:spPr>
          <a:xfrm>
            <a:off x="502920" y="2011680"/>
            <a:ext cx="11155680" cy="2194560"/>
          </a:xfrm>
          <a:prstGeom prst="roundRect">
            <a:avLst>
              <a:gd name="adj" fmla="val 5000"/>
            </a:avLst>
          </a:prstGeom>
          <a:solidFill>
            <a:srgbClr val="FFFFFF"/>
          </a:solidFill>
          <a:ln w="15875">
            <a:solidFill>
              <a:srgbClr val="2D63FF"/>
            </a:solidFill>
            <a:prstDash val="solid"/>
          </a:ln>
        </p:spPr>
      </p:sp>
      <p:sp>
        <p:nvSpPr>
          <p:cNvPr id="9" name="Text 7"/>
          <p:cNvSpPr txBox="1"/>
          <p:nvPr/>
        </p:nvSpPr>
        <p:spPr>
          <a:xfrm>
            <a:off x="1005840" y="2331720"/>
            <a:ext cx="10149840" cy="1554480"/>
          </a:xfrm>
          <a:prstGeom prst="rect">
            <a:avLst/>
          </a:prstGeom>
          <a:noFill/>
          <a:ln/>
        </p:spPr>
        <p:txBody>
          <a:bodyPr wrap="square" lIns="0" tIns="0" rIns="0" bIns="0" rtlCol="0" anchor="ctr"/>
          <a:lstStyle/>
          <a:p>
            <a:pPr indent="0" marL="0">
              <a:lnSpc>
                <a:spcPct val="130000"/>
              </a:lnSpc>
              <a:buNone/>
            </a:pPr>
            <a:r>
              <a:rPr lang="en-US" sz="2200" dirty="0">
                <a:solidFill>
                  <a:srgbClr val="101828"/>
                </a:solidFill>
                <a:latin typeface="IBM Plex Sans" pitchFamily="34" charset="0"/>
                <a:ea typeface="IBM Plex Sans" pitchFamily="34" charset="-122"/>
                <a:cs typeface="IBM Plex Sans" pitchFamily="34" charset="-120"/>
              </a:rPr>
              <a:t>A ticket machine charges £2 for under-16s and £4 for everyone else. Tap the star and put its flowchart together.</a:t>
            </a:r>
            <a:endParaRPr lang="en-US" sz="2200" dirty="0"/>
          </a:p>
        </p:txBody>
      </p:sp>
      <p:sp>
        <p:nvSpPr>
          <p:cNvPr id="10" name="Text 8"/>
          <p:cNvSpPr txBox="1"/>
          <p:nvPr/>
        </p:nvSpPr>
        <p:spPr>
          <a:xfrm>
            <a:off x="502920" y="4526280"/>
            <a:ext cx="11155680" cy="457200"/>
          </a:xfrm>
          <a:prstGeom prst="rect">
            <a:avLst/>
          </a:prstGeom>
          <a:noFill/>
          <a:ln/>
        </p:spPr>
        <p:txBody>
          <a:bodyPr wrap="square" lIns="0" tIns="0" rIns="0" bIns="0" rtlCol="0" anchor="ctr"/>
          <a:lstStyle/>
          <a:p>
            <a:pPr indent="0" marL="0">
              <a:buNone/>
            </a:pPr>
            <a:r>
              <a:rPr lang="en-US" sz="1600" dirty="0">
                <a:solidFill>
                  <a:srgbClr val="667085"/>
                </a:solidFill>
                <a:latin typeface="IBM Plex Sans" pitchFamily="34" charset="0"/>
                <a:ea typeface="IBM Plex Sans" pitchFamily="34" charset="-122"/>
                <a:cs typeface="IBM Plex Sans" pitchFamily="34" charset="-120"/>
              </a:rPr>
              <a:t>Predict on paper first, then look down and test it.</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4</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Worth knowing</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The information markers dotted around the room</a:t>
            </a:r>
            <a:endParaRPr lang="en-US" sz="1500" dirty="0"/>
          </a:p>
        </p:txBody>
      </p:sp>
      <p:sp>
        <p:nvSpPr>
          <p:cNvPr id="7" name="Shape 5"/>
          <p:cNvSpPr/>
          <p:nvPr/>
        </p:nvSpPr>
        <p:spPr>
          <a:xfrm>
            <a:off x="502920" y="1828800"/>
            <a:ext cx="5394960" cy="1737360"/>
          </a:xfrm>
          <a:prstGeom prst="roundRect">
            <a:avLst>
              <a:gd name="adj" fmla="val 6316"/>
            </a:avLst>
          </a:prstGeom>
          <a:solidFill>
            <a:srgbClr val="FFFFFF"/>
          </a:solidFill>
          <a:ln w="15875">
            <a:solidFill>
              <a:srgbClr val="2D63FF"/>
            </a:solidFill>
            <a:prstDash val="solid"/>
          </a:ln>
        </p:spPr>
      </p:sp>
      <p:sp>
        <p:nvSpPr>
          <p:cNvPr id="8" name="Text 6"/>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Older than software</a:t>
            </a:r>
            <a:endParaRPr lang="en-US" sz="1600" dirty="0"/>
          </a:p>
        </p:txBody>
      </p:sp>
      <p:sp>
        <p:nvSpPr>
          <p:cNvPr id="9" name="Text 7"/>
          <p:cNvSpPr txBox="1"/>
          <p:nvPr/>
        </p:nvSpPr>
        <p:spPr>
          <a:xfrm>
            <a:off x="822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Flowcharts were used to plan industrial processes in the 1920s, long before they were used for programs.</a:t>
            </a:r>
            <a:endParaRPr lang="en-US" sz="1300" dirty="0"/>
          </a:p>
        </p:txBody>
      </p:sp>
      <p:sp>
        <p:nvSpPr>
          <p:cNvPr id="10" name="Shape 8"/>
          <p:cNvSpPr/>
          <p:nvPr/>
        </p:nvSpPr>
        <p:spPr>
          <a:xfrm>
            <a:off x="6217920" y="1828800"/>
            <a:ext cx="5394960" cy="1737360"/>
          </a:xfrm>
          <a:prstGeom prst="roundRect">
            <a:avLst>
              <a:gd name="adj" fmla="val 6316"/>
            </a:avLst>
          </a:prstGeom>
          <a:solidFill>
            <a:srgbClr val="FFFFFF"/>
          </a:solidFill>
          <a:ln w="15875">
            <a:solidFill>
              <a:srgbClr val="08A6A6"/>
            </a:solidFill>
            <a:prstDash val="solid"/>
          </a:ln>
        </p:spPr>
      </p:sp>
      <p:sp>
        <p:nvSpPr>
          <p:cNvPr id="11" name="Text 9"/>
          <p:cNvSpPr txBox="1"/>
          <p:nvPr/>
        </p:nvSpPr>
        <p:spPr>
          <a:xfrm>
            <a:off x="6537960" y="201168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Standard shapes</a:t>
            </a:r>
            <a:endParaRPr lang="en-US" sz="1600" dirty="0"/>
          </a:p>
        </p:txBody>
      </p:sp>
      <p:sp>
        <p:nvSpPr>
          <p:cNvPr id="12" name="Text 10"/>
          <p:cNvSpPr txBox="1"/>
          <p:nvPr/>
        </p:nvSpPr>
        <p:spPr>
          <a:xfrm>
            <a:off x="6537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The symbols are set out in an international standard, which is why a flowchart drawn in one country is readable in another.</a:t>
            </a:r>
            <a:endParaRPr lang="en-US" sz="1300" dirty="0"/>
          </a:p>
        </p:txBody>
      </p:sp>
      <p:sp>
        <p:nvSpPr>
          <p:cNvPr id="13" name="Shape 11"/>
          <p:cNvSpPr/>
          <p:nvPr/>
        </p:nvSpPr>
        <p:spPr>
          <a:xfrm>
            <a:off x="502920" y="3794760"/>
            <a:ext cx="5394960" cy="1737360"/>
          </a:xfrm>
          <a:prstGeom prst="roundRect">
            <a:avLst>
              <a:gd name="adj" fmla="val 6316"/>
            </a:avLst>
          </a:prstGeom>
          <a:solidFill>
            <a:srgbClr val="FFFFFF"/>
          </a:solidFill>
          <a:ln w="15875">
            <a:solidFill>
              <a:srgbClr val="2D63FF"/>
            </a:solidFill>
            <a:prstDash val="solid"/>
          </a:ln>
        </p:spPr>
      </p:sp>
      <p:sp>
        <p:nvSpPr>
          <p:cNvPr id="14" name="Text 12"/>
          <p:cNvSpPr txBox="1"/>
          <p:nvPr/>
        </p:nvSpPr>
        <p:spPr>
          <a:xfrm>
            <a:off x="822960" y="397764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Why diamonds</a:t>
            </a:r>
            <a:endParaRPr lang="en-US" sz="1600" dirty="0"/>
          </a:p>
        </p:txBody>
      </p:sp>
      <p:sp>
        <p:nvSpPr>
          <p:cNvPr id="15" name="Text 13"/>
          <p:cNvSpPr txBox="1"/>
          <p:nvPr/>
        </p:nvSpPr>
        <p:spPr>
          <a:xfrm>
            <a:off x="822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The diamond was chosen because two arrows can leave it cleanly, one from each side.</a:t>
            </a:r>
            <a:endParaRPr lang="en-US" sz="1300" dirty="0"/>
          </a:p>
        </p:txBody>
      </p:sp>
      <p:sp>
        <p:nvSpPr>
          <p:cNvPr id="16" name="Shape 14"/>
          <p:cNvSpPr/>
          <p:nvPr/>
        </p:nvSpPr>
        <p:spPr>
          <a:xfrm>
            <a:off x="6217920" y="3794760"/>
            <a:ext cx="5394960" cy="1737360"/>
          </a:xfrm>
          <a:prstGeom prst="roundRect">
            <a:avLst>
              <a:gd name="adj" fmla="val 6316"/>
            </a:avLst>
          </a:prstGeom>
          <a:solidFill>
            <a:srgbClr val="FFFFFF"/>
          </a:solidFill>
          <a:ln w="15875">
            <a:solidFill>
              <a:srgbClr val="08A6A6"/>
            </a:solidFill>
            <a:prstDash val="solid"/>
          </a:ln>
        </p:spPr>
      </p:sp>
      <p:sp>
        <p:nvSpPr>
          <p:cNvPr id="17" name="Text 15"/>
          <p:cNvSpPr txBox="1"/>
          <p:nvPr/>
        </p:nvSpPr>
        <p:spPr>
          <a:xfrm>
            <a:off x="6537960" y="397764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Too big to draw</a:t>
            </a:r>
            <a:endParaRPr lang="en-US" sz="1600" dirty="0"/>
          </a:p>
        </p:txBody>
      </p:sp>
      <p:sp>
        <p:nvSpPr>
          <p:cNvPr id="18" name="Text 16"/>
          <p:cNvSpPr txBox="1"/>
          <p:nvPr/>
        </p:nvSpPr>
        <p:spPr>
          <a:xfrm>
            <a:off x="6537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Real programs are far too large to flowchart. They are used for the tricky part, not the whole thing.</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4</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Exam practice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Devices away. Answer from memory on the worksheet.</a:t>
            </a:r>
            <a:endParaRPr lang="en-US" sz="1500" dirty="0"/>
          </a:p>
        </p:txBody>
      </p:sp>
      <p:sp>
        <p:nvSpPr>
          <p:cNvPr id="7" name="Shape 5"/>
          <p:cNvSpPr/>
          <p:nvPr/>
        </p:nvSpPr>
        <p:spPr>
          <a:xfrm>
            <a:off x="502920" y="1828800"/>
            <a:ext cx="11155680" cy="1097280"/>
          </a:xfrm>
          <a:prstGeom prst="roundRect">
            <a:avLst>
              <a:gd name="adj" fmla="val 10000"/>
            </a:avLst>
          </a:prstGeom>
          <a:solidFill>
            <a:srgbClr val="FFFFFF"/>
          </a:solidFill>
          <a:ln w="15875">
            <a:solidFill>
              <a:srgbClr val="D9DEE7"/>
            </a:solidFill>
            <a:prstDash val="solid"/>
          </a:ln>
        </p:spPr>
      </p:sp>
      <p:sp>
        <p:nvSpPr>
          <p:cNvPr id="8" name="Text 6"/>
          <p:cNvSpPr txBox="1"/>
          <p:nvPr/>
        </p:nvSpPr>
        <p:spPr>
          <a:xfrm>
            <a:off x="914400" y="1938528"/>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State what the diamond symbol represents in a flowchart.</a:t>
            </a:r>
            <a:endParaRPr lang="en-US" sz="1700" dirty="0"/>
          </a:p>
        </p:txBody>
      </p:sp>
      <p:sp>
        <p:nvSpPr>
          <p:cNvPr id="9" name="Shape 7"/>
          <p:cNvSpPr/>
          <p:nvPr/>
        </p:nvSpPr>
        <p:spPr>
          <a:xfrm>
            <a:off x="10515600" y="2130552"/>
            <a:ext cx="868680" cy="493776"/>
          </a:xfrm>
          <a:prstGeom prst="roundRect">
            <a:avLst>
              <a:gd name="adj" fmla="val 18519"/>
            </a:avLst>
          </a:prstGeom>
          <a:solidFill>
            <a:srgbClr val="EEF2FB"/>
          </a:solidFill>
          <a:ln/>
        </p:spPr>
      </p:sp>
      <p:sp>
        <p:nvSpPr>
          <p:cNvPr id="10" name="Text 8"/>
          <p:cNvSpPr txBox="1"/>
          <p:nvPr/>
        </p:nvSpPr>
        <p:spPr>
          <a:xfrm>
            <a:off x="10515600" y="2130552"/>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[1]</a:t>
            </a:r>
            <a:endParaRPr lang="en-US" sz="1500" dirty="0"/>
          </a:p>
        </p:txBody>
      </p:sp>
      <p:sp>
        <p:nvSpPr>
          <p:cNvPr id="11" name="Shape 9"/>
          <p:cNvSpPr/>
          <p:nvPr/>
        </p:nvSpPr>
        <p:spPr>
          <a:xfrm>
            <a:off x="502920" y="3127248"/>
            <a:ext cx="11155680" cy="1097280"/>
          </a:xfrm>
          <a:prstGeom prst="roundRect">
            <a:avLst>
              <a:gd name="adj" fmla="val 10000"/>
            </a:avLst>
          </a:prstGeom>
          <a:solidFill>
            <a:srgbClr val="FFFFFF"/>
          </a:solidFill>
          <a:ln w="15875">
            <a:solidFill>
              <a:srgbClr val="D9DEE7"/>
            </a:solidFill>
            <a:prstDash val="solid"/>
          </a:ln>
        </p:spPr>
      </p:sp>
      <p:sp>
        <p:nvSpPr>
          <p:cNvPr id="12" name="Text 10"/>
          <p:cNvSpPr txBox="1"/>
          <p:nvPr/>
        </p:nvSpPr>
        <p:spPr>
          <a:xfrm>
            <a:off x="914400" y="3236976"/>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Explain why a decision symbol must have two arrows leaving it.</a:t>
            </a:r>
            <a:endParaRPr lang="en-US" sz="1700" dirty="0"/>
          </a:p>
        </p:txBody>
      </p:sp>
      <p:sp>
        <p:nvSpPr>
          <p:cNvPr id="13" name="Shape 11"/>
          <p:cNvSpPr/>
          <p:nvPr/>
        </p:nvSpPr>
        <p:spPr>
          <a:xfrm>
            <a:off x="10515600" y="3429000"/>
            <a:ext cx="868680" cy="493776"/>
          </a:xfrm>
          <a:prstGeom prst="roundRect">
            <a:avLst>
              <a:gd name="adj" fmla="val 18519"/>
            </a:avLst>
          </a:prstGeom>
          <a:solidFill>
            <a:srgbClr val="EEF2FB"/>
          </a:solidFill>
          <a:ln/>
        </p:spPr>
      </p:sp>
      <p:sp>
        <p:nvSpPr>
          <p:cNvPr id="14" name="Text 12"/>
          <p:cNvSpPr txBox="1"/>
          <p:nvPr/>
        </p:nvSpPr>
        <p:spPr>
          <a:xfrm>
            <a:off x="10515600" y="3429000"/>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[2]</a:t>
            </a:r>
            <a:endParaRPr lang="en-US" sz="1500" dirty="0"/>
          </a:p>
        </p:txBody>
      </p:sp>
      <p:sp>
        <p:nvSpPr>
          <p:cNvPr id="15" name="Shape 13"/>
          <p:cNvSpPr/>
          <p:nvPr/>
        </p:nvSpPr>
        <p:spPr>
          <a:xfrm>
            <a:off x="502920" y="4425696"/>
            <a:ext cx="11155680" cy="1097280"/>
          </a:xfrm>
          <a:prstGeom prst="roundRect">
            <a:avLst>
              <a:gd name="adj" fmla="val 10000"/>
            </a:avLst>
          </a:prstGeom>
          <a:solidFill>
            <a:srgbClr val="FFFFFF"/>
          </a:solidFill>
          <a:ln w="15875">
            <a:solidFill>
              <a:srgbClr val="D9DEE7"/>
            </a:solidFill>
            <a:prstDash val="solid"/>
          </a:ln>
        </p:spPr>
      </p:sp>
      <p:sp>
        <p:nvSpPr>
          <p:cNvPr id="16" name="Text 14"/>
          <p:cNvSpPr txBox="1"/>
          <p:nvPr/>
        </p:nvSpPr>
        <p:spPr>
          <a:xfrm>
            <a:off x="914400" y="4535424"/>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A cinema charges £5 for under-18s and £9 for everyone else. Draw a flowchart for a program that inputs an age and outputs the price.</a:t>
            </a:r>
            <a:endParaRPr lang="en-US" sz="1700" dirty="0"/>
          </a:p>
        </p:txBody>
      </p:sp>
      <p:sp>
        <p:nvSpPr>
          <p:cNvPr id="17" name="Shape 15"/>
          <p:cNvSpPr/>
          <p:nvPr/>
        </p:nvSpPr>
        <p:spPr>
          <a:xfrm>
            <a:off x="10515600" y="4727448"/>
            <a:ext cx="868680" cy="493776"/>
          </a:xfrm>
          <a:prstGeom prst="roundRect">
            <a:avLst>
              <a:gd name="adj" fmla="val 18519"/>
            </a:avLst>
          </a:prstGeom>
          <a:solidFill>
            <a:srgbClr val="EEF2FB"/>
          </a:solidFill>
          <a:ln/>
        </p:spPr>
      </p:sp>
      <p:sp>
        <p:nvSpPr>
          <p:cNvPr id="18" name="Text 16"/>
          <p:cNvSpPr txBox="1"/>
          <p:nvPr/>
        </p:nvSpPr>
        <p:spPr>
          <a:xfrm>
            <a:off x="10515600" y="4727448"/>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[6]</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4</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Before you go</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Rate yourself on each of these</a:t>
            </a:r>
            <a:endParaRPr lang="en-US" sz="1500" dirty="0"/>
          </a:p>
        </p:txBody>
      </p:sp>
      <p:sp>
        <p:nvSpPr>
          <p:cNvPr id="7" name="Shape 5"/>
          <p:cNvSpPr/>
          <p:nvPr/>
        </p:nvSpPr>
        <p:spPr>
          <a:xfrm>
            <a:off x="502920" y="1920240"/>
            <a:ext cx="7863840" cy="777240"/>
          </a:xfrm>
          <a:prstGeom prst="roundRect">
            <a:avLst>
              <a:gd name="adj" fmla="val 14118"/>
            </a:avLst>
          </a:prstGeom>
          <a:solidFill>
            <a:srgbClr val="FFFFFF"/>
          </a:solidFill>
          <a:ln w="15875">
            <a:solidFill>
              <a:srgbClr val="D9DEE7"/>
            </a:solidFill>
            <a:prstDash val="solid"/>
          </a:ln>
        </p:spPr>
      </p:sp>
      <p:sp>
        <p:nvSpPr>
          <p:cNvPr id="8" name="Text 6"/>
          <p:cNvSpPr txBox="1"/>
          <p:nvPr/>
        </p:nvSpPr>
        <p:spPr>
          <a:xfrm>
            <a:off x="914400" y="192024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The five flowchart symbols</a:t>
            </a:r>
            <a:endParaRPr lang="en-US" sz="1800" dirty="0"/>
          </a:p>
        </p:txBody>
      </p:sp>
      <p:sp>
        <p:nvSpPr>
          <p:cNvPr id="9" name="Shape 7"/>
          <p:cNvSpPr/>
          <p:nvPr/>
        </p:nvSpPr>
        <p:spPr>
          <a:xfrm>
            <a:off x="8595360" y="2066544"/>
            <a:ext cx="987552" cy="484632"/>
          </a:xfrm>
          <a:prstGeom prst="roundRect">
            <a:avLst>
              <a:gd name="adj" fmla="val 18868"/>
            </a:avLst>
          </a:prstGeom>
          <a:solidFill>
            <a:srgbClr val="FFFFFF"/>
          </a:solidFill>
          <a:ln w="15875">
            <a:solidFill>
              <a:srgbClr val="08A6A6"/>
            </a:solidFill>
            <a:prstDash val="solid"/>
          </a:ln>
        </p:spPr>
      </p:sp>
      <p:sp>
        <p:nvSpPr>
          <p:cNvPr id="10" name="Text 8"/>
          <p:cNvSpPr txBox="1"/>
          <p:nvPr/>
        </p:nvSpPr>
        <p:spPr>
          <a:xfrm>
            <a:off x="8595360" y="206654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1" name="Shape 9"/>
          <p:cNvSpPr/>
          <p:nvPr/>
        </p:nvSpPr>
        <p:spPr>
          <a:xfrm>
            <a:off x="9674352" y="2066544"/>
            <a:ext cx="987552" cy="484632"/>
          </a:xfrm>
          <a:prstGeom prst="roundRect">
            <a:avLst>
              <a:gd name="adj" fmla="val 18868"/>
            </a:avLst>
          </a:prstGeom>
          <a:solidFill>
            <a:srgbClr val="FFFFFF"/>
          </a:solidFill>
          <a:ln w="15875">
            <a:solidFill>
              <a:srgbClr val="F4B942"/>
            </a:solidFill>
            <a:prstDash val="solid"/>
          </a:ln>
        </p:spPr>
      </p:sp>
      <p:sp>
        <p:nvSpPr>
          <p:cNvPr id="12" name="Text 10"/>
          <p:cNvSpPr txBox="1"/>
          <p:nvPr/>
        </p:nvSpPr>
        <p:spPr>
          <a:xfrm>
            <a:off x="9674352" y="206654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13" name="Shape 11"/>
          <p:cNvSpPr/>
          <p:nvPr/>
        </p:nvSpPr>
        <p:spPr>
          <a:xfrm>
            <a:off x="10753344" y="2066544"/>
            <a:ext cx="987552" cy="484632"/>
          </a:xfrm>
          <a:prstGeom prst="roundRect">
            <a:avLst>
              <a:gd name="adj" fmla="val 18868"/>
            </a:avLst>
          </a:prstGeom>
          <a:solidFill>
            <a:srgbClr val="FFFFFF"/>
          </a:solidFill>
          <a:ln w="15875">
            <a:solidFill>
              <a:srgbClr val="E2574C"/>
            </a:solidFill>
            <a:prstDash val="solid"/>
          </a:ln>
        </p:spPr>
      </p:sp>
      <p:sp>
        <p:nvSpPr>
          <p:cNvPr id="14" name="Text 12"/>
          <p:cNvSpPr txBox="1"/>
          <p:nvPr/>
        </p:nvSpPr>
        <p:spPr>
          <a:xfrm>
            <a:off x="10753344" y="206654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15" name="Shape 13"/>
          <p:cNvSpPr/>
          <p:nvPr/>
        </p:nvSpPr>
        <p:spPr>
          <a:xfrm>
            <a:off x="502920" y="2880360"/>
            <a:ext cx="7863840" cy="777240"/>
          </a:xfrm>
          <a:prstGeom prst="roundRect">
            <a:avLst>
              <a:gd name="adj" fmla="val 14118"/>
            </a:avLst>
          </a:prstGeom>
          <a:solidFill>
            <a:srgbClr val="FFFFFF"/>
          </a:solidFill>
          <a:ln w="15875">
            <a:solidFill>
              <a:srgbClr val="D9DEE7"/>
            </a:solidFill>
            <a:prstDash val="solid"/>
          </a:ln>
        </p:spPr>
      </p:sp>
      <p:sp>
        <p:nvSpPr>
          <p:cNvPr id="16" name="Text 14"/>
          <p:cNvSpPr txBox="1"/>
          <p:nvPr/>
        </p:nvSpPr>
        <p:spPr>
          <a:xfrm>
            <a:off x="914400" y="288036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Reading a flowchart</a:t>
            </a:r>
            <a:endParaRPr lang="en-US" sz="1800" dirty="0"/>
          </a:p>
        </p:txBody>
      </p:sp>
      <p:sp>
        <p:nvSpPr>
          <p:cNvPr id="17" name="Shape 15"/>
          <p:cNvSpPr/>
          <p:nvPr/>
        </p:nvSpPr>
        <p:spPr>
          <a:xfrm>
            <a:off x="8595360" y="3026664"/>
            <a:ext cx="987552" cy="484632"/>
          </a:xfrm>
          <a:prstGeom prst="roundRect">
            <a:avLst>
              <a:gd name="adj" fmla="val 18868"/>
            </a:avLst>
          </a:prstGeom>
          <a:solidFill>
            <a:srgbClr val="FFFFFF"/>
          </a:solidFill>
          <a:ln w="15875">
            <a:solidFill>
              <a:srgbClr val="08A6A6"/>
            </a:solidFill>
            <a:prstDash val="solid"/>
          </a:ln>
        </p:spPr>
      </p:sp>
      <p:sp>
        <p:nvSpPr>
          <p:cNvPr id="18" name="Text 16"/>
          <p:cNvSpPr txBox="1"/>
          <p:nvPr/>
        </p:nvSpPr>
        <p:spPr>
          <a:xfrm>
            <a:off x="8595360" y="302666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9" name="Shape 17"/>
          <p:cNvSpPr/>
          <p:nvPr/>
        </p:nvSpPr>
        <p:spPr>
          <a:xfrm>
            <a:off x="9674352" y="3026664"/>
            <a:ext cx="987552" cy="484632"/>
          </a:xfrm>
          <a:prstGeom prst="roundRect">
            <a:avLst>
              <a:gd name="adj" fmla="val 18868"/>
            </a:avLst>
          </a:prstGeom>
          <a:solidFill>
            <a:srgbClr val="FFFFFF"/>
          </a:solidFill>
          <a:ln w="15875">
            <a:solidFill>
              <a:srgbClr val="F4B942"/>
            </a:solidFill>
            <a:prstDash val="solid"/>
          </a:ln>
        </p:spPr>
      </p:sp>
      <p:sp>
        <p:nvSpPr>
          <p:cNvPr id="20" name="Text 18"/>
          <p:cNvSpPr txBox="1"/>
          <p:nvPr/>
        </p:nvSpPr>
        <p:spPr>
          <a:xfrm>
            <a:off x="9674352" y="302666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1" name="Shape 19"/>
          <p:cNvSpPr/>
          <p:nvPr/>
        </p:nvSpPr>
        <p:spPr>
          <a:xfrm>
            <a:off x="10753344" y="3026664"/>
            <a:ext cx="987552" cy="484632"/>
          </a:xfrm>
          <a:prstGeom prst="roundRect">
            <a:avLst>
              <a:gd name="adj" fmla="val 18868"/>
            </a:avLst>
          </a:prstGeom>
          <a:solidFill>
            <a:srgbClr val="FFFFFF"/>
          </a:solidFill>
          <a:ln w="15875">
            <a:solidFill>
              <a:srgbClr val="E2574C"/>
            </a:solidFill>
            <a:prstDash val="solid"/>
          </a:ln>
        </p:spPr>
      </p:sp>
      <p:sp>
        <p:nvSpPr>
          <p:cNvPr id="22" name="Text 20"/>
          <p:cNvSpPr txBox="1"/>
          <p:nvPr/>
        </p:nvSpPr>
        <p:spPr>
          <a:xfrm>
            <a:off x="10753344" y="302666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23" name="Shape 21"/>
          <p:cNvSpPr/>
          <p:nvPr/>
        </p:nvSpPr>
        <p:spPr>
          <a:xfrm>
            <a:off x="502920" y="3840480"/>
            <a:ext cx="7863840" cy="777240"/>
          </a:xfrm>
          <a:prstGeom prst="roundRect">
            <a:avLst>
              <a:gd name="adj" fmla="val 14118"/>
            </a:avLst>
          </a:prstGeom>
          <a:solidFill>
            <a:srgbClr val="FFFFFF"/>
          </a:solidFill>
          <a:ln w="15875">
            <a:solidFill>
              <a:srgbClr val="D9DEE7"/>
            </a:solidFill>
            <a:prstDash val="solid"/>
          </a:ln>
        </p:spPr>
      </p:sp>
      <p:sp>
        <p:nvSpPr>
          <p:cNvPr id="24" name="Text 22"/>
          <p:cNvSpPr txBox="1"/>
          <p:nvPr/>
        </p:nvSpPr>
        <p:spPr>
          <a:xfrm>
            <a:off x="914400" y="384048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Drawing flowcharts with decisions and loops</a:t>
            </a:r>
            <a:endParaRPr lang="en-US" sz="1800" dirty="0"/>
          </a:p>
        </p:txBody>
      </p:sp>
      <p:sp>
        <p:nvSpPr>
          <p:cNvPr id="25" name="Shape 23"/>
          <p:cNvSpPr/>
          <p:nvPr/>
        </p:nvSpPr>
        <p:spPr>
          <a:xfrm>
            <a:off x="8595360" y="3986784"/>
            <a:ext cx="987552" cy="484632"/>
          </a:xfrm>
          <a:prstGeom prst="roundRect">
            <a:avLst>
              <a:gd name="adj" fmla="val 18868"/>
            </a:avLst>
          </a:prstGeom>
          <a:solidFill>
            <a:srgbClr val="FFFFFF"/>
          </a:solidFill>
          <a:ln w="15875">
            <a:solidFill>
              <a:srgbClr val="08A6A6"/>
            </a:solidFill>
            <a:prstDash val="solid"/>
          </a:ln>
        </p:spPr>
      </p:sp>
      <p:sp>
        <p:nvSpPr>
          <p:cNvPr id="26" name="Text 24"/>
          <p:cNvSpPr txBox="1"/>
          <p:nvPr/>
        </p:nvSpPr>
        <p:spPr>
          <a:xfrm>
            <a:off x="8595360" y="398678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27" name="Shape 25"/>
          <p:cNvSpPr/>
          <p:nvPr/>
        </p:nvSpPr>
        <p:spPr>
          <a:xfrm>
            <a:off x="9674352" y="3986784"/>
            <a:ext cx="987552" cy="484632"/>
          </a:xfrm>
          <a:prstGeom prst="roundRect">
            <a:avLst>
              <a:gd name="adj" fmla="val 18868"/>
            </a:avLst>
          </a:prstGeom>
          <a:solidFill>
            <a:srgbClr val="FFFFFF"/>
          </a:solidFill>
          <a:ln w="15875">
            <a:solidFill>
              <a:srgbClr val="F4B942"/>
            </a:solidFill>
            <a:prstDash val="solid"/>
          </a:ln>
        </p:spPr>
      </p:sp>
      <p:sp>
        <p:nvSpPr>
          <p:cNvPr id="28" name="Text 26"/>
          <p:cNvSpPr txBox="1"/>
          <p:nvPr/>
        </p:nvSpPr>
        <p:spPr>
          <a:xfrm>
            <a:off x="9674352" y="398678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9" name="Shape 27"/>
          <p:cNvSpPr/>
          <p:nvPr/>
        </p:nvSpPr>
        <p:spPr>
          <a:xfrm>
            <a:off x="10753344" y="3986784"/>
            <a:ext cx="987552" cy="484632"/>
          </a:xfrm>
          <a:prstGeom prst="roundRect">
            <a:avLst>
              <a:gd name="adj" fmla="val 18868"/>
            </a:avLst>
          </a:prstGeom>
          <a:solidFill>
            <a:srgbClr val="FFFFFF"/>
          </a:solidFill>
          <a:ln w="15875">
            <a:solidFill>
              <a:srgbClr val="E2574C"/>
            </a:solidFill>
            <a:prstDash val="solid"/>
          </a:ln>
        </p:spPr>
      </p:sp>
      <p:sp>
        <p:nvSpPr>
          <p:cNvPr id="30" name="Text 28"/>
          <p:cNvSpPr txBox="1"/>
          <p:nvPr/>
        </p:nvSpPr>
        <p:spPr>
          <a:xfrm>
            <a:off x="10753344" y="398678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31" name="Text 29"/>
          <p:cNvSpPr txBox="1"/>
          <p:nvPr/>
        </p:nvSpPr>
        <p:spPr>
          <a:xfrm>
            <a:off x="502920" y="5074920"/>
            <a:ext cx="11155680" cy="54864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Anything marked Focus here: reopen Flowchart factory and use review mode on the questions you got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Revise 360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2.1 Algorithms  |  Lesson 4 — Flowchart factory</dc:title>
  <dc:subject>OCR J277 GCSE Computer Science</dc:subject>
  <dc:creator>Revise 360 Ltd</dc:creator>
  <cp:lastModifiedBy>Revise 360 Ltd</cp:lastModifiedBy>
  <cp:revision>1</cp:revision>
  <dcterms:created xsi:type="dcterms:W3CDTF">2026-10-03T17:08:50Z</dcterms:created>
  <dcterms:modified xsi:type="dcterms:W3CDTF">2026-10-03T17:08:50Z</dcterms:modified>
</cp:coreProperties>
</file>