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bddf00d0644f2d" /><Relationship Type="http://schemas.openxmlformats.org/officeDocument/2006/relationships/extended-properties" Target="/docProps/app.xml" Id="R4de5581b8e7d45e9" /><Relationship Type="http://schemas.openxmlformats.org/officeDocument/2006/relationships/officeDocument" Target="/ppt/presentation.xml" Id="Re624a2c924304b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9537372b8a43cd"/>
  </p:sldMasterIdLst>
  <p:notesMasterIdLst>
    <p:notesMasterId xmlns:r="http://schemas.openxmlformats.org/officeDocument/2006/relationships" r:id="Rad2eb4207c154c90"/>
  </p:notesMasterIdLst>
  <p:sldIdLst>
    <p:sldId xmlns:r="http://schemas.openxmlformats.org/officeDocument/2006/relationships" id="256" r:id="R728c876c058444c3"/>
    <p:sldId xmlns:r="http://schemas.openxmlformats.org/officeDocument/2006/relationships" id="257" r:id="R7043ae54e4664d85"/>
    <p:sldId xmlns:r="http://schemas.openxmlformats.org/officeDocument/2006/relationships" id="258" r:id="R2d0239f767b04375"/>
    <p:sldId xmlns:r="http://schemas.openxmlformats.org/officeDocument/2006/relationships" id="259" r:id="Rfc39d259ece840c3"/>
    <p:sldId xmlns:r="http://schemas.openxmlformats.org/officeDocument/2006/relationships" id="260" r:id="R59e89951333f4f2b"/>
    <p:sldId xmlns:r="http://schemas.openxmlformats.org/officeDocument/2006/relationships" id="261" r:id="R2e475885040f4d31"/>
    <p:sldId xmlns:r="http://schemas.openxmlformats.org/officeDocument/2006/relationships" id="262" r:id="R294ec147d69b4bd8"/>
    <p:sldId xmlns:r="http://schemas.openxmlformats.org/officeDocument/2006/relationships" id="263" r:id="R8a928833c5204b23"/>
    <p:sldId xmlns:r="http://schemas.openxmlformats.org/officeDocument/2006/relationships" id="264" r:id="Rb01d8baacf5644ad"/>
    <p:sldId xmlns:r="http://schemas.openxmlformats.org/officeDocument/2006/relationships" id="265" r:id="Rc0f998aea9f8418c"/>
    <p:sldId xmlns:r="http://schemas.openxmlformats.org/officeDocument/2006/relationships" id="266" r:id="Rc8c0890a6da44adb"/>
    <p:sldId xmlns:r="http://schemas.openxmlformats.org/officeDocument/2006/relationships" id="267" r:id="R3a9b0b0e7f864b77"/>
    <p:sldId xmlns:r="http://schemas.openxmlformats.org/officeDocument/2006/relationships" id="268" r:id="Rf3a760dcf3e74ab7"/>
    <p:sldId xmlns:r="http://schemas.openxmlformats.org/officeDocument/2006/relationships" id="269" r:id="R3739846d86a842fc"/>
    <p:sldId xmlns:r="http://schemas.openxmlformats.org/officeDocument/2006/relationships" id="270" r:id="R28134afab547419a"/>
    <p:sldId xmlns:r="http://schemas.openxmlformats.org/officeDocument/2006/relationships" id="271" r:id="Rb82fbe6d017b457f"/>
    <p:sldId xmlns:r="http://schemas.openxmlformats.org/officeDocument/2006/relationships" id="272" r:id="R4599f23777b544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fb02cd8a124a0a" /><Relationship Type="http://schemas.openxmlformats.org/officeDocument/2006/relationships/slideMaster" Target="/ppt/slideMasters/slideMaster1.xml" Id="Rc19537372b8a43cd" /><Relationship Type="http://schemas.openxmlformats.org/officeDocument/2006/relationships/notesMaster" Target="/ppt/notesMasters/notesMaster1.xml" Id="Rad2eb4207c154c90" /><Relationship Type="http://schemas.openxmlformats.org/officeDocument/2006/relationships/presProps" Target="/ppt/presProps.xml" Id="R82f57faf145d4ac2" /><Relationship Type="http://schemas.openxmlformats.org/officeDocument/2006/relationships/tableStyles" Target="/ppt/tableStyles.xml" Id="R9da22f7042b44bdf" /><Relationship Type="http://schemas.openxmlformats.org/officeDocument/2006/relationships/slide" Target="/ppt/slides/slide1.xml" Id="R728c876c058444c3" /><Relationship Type="http://schemas.openxmlformats.org/officeDocument/2006/relationships/slide" Target="/ppt/slides/slide2.xml" Id="R7043ae54e4664d85" /><Relationship Type="http://schemas.openxmlformats.org/officeDocument/2006/relationships/slide" Target="/ppt/slides/slide3.xml" Id="R2d0239f767b04375" /><Relationship Type="http://schemas.openxmlformats.org/officeDocument/2006/relationships/slide" Target="/ppt/slides/slide4.xml" Id="Rfc39d259ece840c3" /><Relationship Type="http://schemas.openxmlformats.org/officeDocument/2006/relationships/slide" Target="/ppt/slides/slide5.xml" Id="R59e89951333f4f2b" /><Relationship Type="http://schemas.openxmlformats.org/officeDocument/2006/relationships/slide" Target="/ppt/slides/slide6.xml" Id="R2e475885040f4d31" /><Relationship Type="http://schemas.openxmlformats.org/officeDocument/2006/relationships/slide" Target="/ppt/slides/slide7.xml" Id="R294ec147d69b4bd8" /><Relationship Type="http://schemas.openxmlformats.org/officeDocument/2006/relationships/slide" Target="/ppt/slides/slide8.xml" Id="R8a928833c5204b23" /><Relationship Type="http://schemas.openxmlformats.org/officeDocument/2006/relationships/slide" Target="/ppt/slides/slide9.xml" Id="Rb01d8baacf5644ad" /><Relationship Type="http://schemas.openxmlformats.org/officeDocument/2006/relationships/slide" Target="/ppt/slides/slide10.xml" Id="Rc0f998aea9f8418c" /><Relationship Type="http://schemas.openxmlformats.org/officeDocument/2006/relationships/slide" Target="/ppt/slides/slide11.xml" Id="Rc8c0890a6da44adb" /><Relationship Type="http://schemas.openxmlformats.org/officeDocument/2006/relationships/slide" Target="/ppt/slides/slide12.xml" Id="R3a9b0b0e7f864b77" /><Relationship Type="http://schemas.openxmlformats.org/officeDocument/2006/relationships/slide" Target="/ppt/slides/slide13.xml" Id="Rf3a760dcf3e74ab7" /><Relationship Type="http://schemas.openxmlformats.org/officeDocument/2006/relationships/slide" Target="/ppt/slides/slide14.xml" Id="R3739846d86a842fc" /><Relationship Type="http://schemas.openxmlformats.org/officeDocument/2006/relationships/slide" Target="/ppt/slides/slide15.xml" Id="R28134afab547419a" /><Relationship Type="http://schemas.openxmlformats.org/officeDocument/2006/relationships/slide" Target="/ppt/slides/slide16.xml" Id="Rb82fbe6d017b457f" /><Relationship Type="http://schemas.openxmlformats.org/officeDocument/2006/relationships/slide" Target="/ppt/slides/slide17.xml" Id="R4599f23777b544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88238b196d4b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498105742a461b" /><Relationship Type="http://schemas.openxmlformats.org/officeDocument/2006/relationships/notesMaster" Target="/ppt/notesMasters/notesMaster1.xml" Id="R153fbdda85a047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71529535f84a37" /><Relationship Type="http://schemas.openxmlformats.org/officeDocument/2006/relationships/notesMaster" Target="/ppt/notesMasters/notesMaster1.xml" Id="R0bb09555af4c46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742ab2cac34e3c" /><Relationship Type="http://schemas.openxmlformats.org/officeDocument/2006/relationships/notesMaster" Target="/ppt/notesMasters/notesMaster1.xml" Id="R18dbb6b11e894a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64bef4fc7e4793" /><Relationship Type="http://schemas.openxmlformats.org/officeDocument/2006/relationships/notesMaster" Target="/ppt/notesMasters/notesMaster1.xml" Id="Rf4c8f1199eb340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eb30d622c54e66" /><Relationship Type="http://schemas.openxmlformats.org/officeDocument/2006/relationships/notesMaster" Target="/ppt/notesMasters/notesMaster1.xml" Id="R7eb2e4a2474a44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e1f441ff9b4bcd" /><Relationship Type="http://schemas.openxmlformats.org/officeDocument/2006/relationships/notesMaster" Target="/ppt/notesMasters/notesMaster1.xml" Id="Ra3c56151107849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b13c3dcbcb41b6" /><Relationship Type="http://schemas.openxmlformats.org/officeDocument/2006/relationships/notesMaster" Target="/ppt/notesMasters/notesMaster1.xml" Id="Rc33b890ffe4643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5b94e49b144c36" /><Relationship Type="http://schemas.openxmlformats.org/officeDocument/2006/relationships/notesMaster" Target="/ppt/notesMasters/notesMaster1.xml" Id="Rada610c4adf34a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d56407133e4f59" /><Relationship Type="http://schemas.openxmlformats.org/officeDocument/2006/relationships/notesMaster" Target="/ppt/notesMasters/notesMaster1.xml" Id="R5187e7a416d24bd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d788e9c4324922" /><Relationship Type="http://schemas.openxmlformats.org/officeDocument/2006/relationships/notesMaster" Target="/ppt/notesMasters/notesMaster1.xml" Id="Re73d4ee36c7c48f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f7b25d37bbe4884" /><Relationship Type="http://schemas.openxmlformats.org/officeDocument/2006/relationships/notesMaster" Target="/ppt/notesMasters/notesMaster1.xml" Id="Re654503f8669475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65ff01f7e64835" /><Relationship Type="http://schemas.openxmlformats.org/officeDocument/2006/relationships/notesMaster" Target="/ppt/notesMasters/notesMaster1.xml" Id="Re5bfe56fd7e241d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d5bfb7c200046de" /><Relationship Type="http://schemas.openxmlformats.org/officeDocument/2006/relationships/notesMaster" Target="/ppt/notesMasters/notesMaster1.xml" Id="R45010c7450874ad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a285ab8ea9e48a4" /><Relationship Type="http://schemas.openxmlformats.org/officeDocument/2006/relationships/notesMaster" Target="/ppt/notesMasters/notesMaster1.xml" Id="R2d0732a77e6d488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e12c1a7e5014416" /><Relationship Type="http://schemas.openxmlformats.org/officeDocument/2006/relationships/notesMaster" Target="/ppt/notesMasters/notesMaster1.xml" Id="R7fe6e21b07e3430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4a1c6d739424107" /><Relationship Type="http://schemas.openxmlformats.org/officeDocument/2006/relationships/notesMaster" Target="/ppt/notesMasters/notesMaster1.xml" Id="R0f392009322940c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086f7071fed4208" /><Relationship Type="http://schemas.openxmlformats.org/officeDocument/2006/relationships/notesMaster" Target="/ppt/notesMasters/notesMaster1.xml" Id="R1bd320f7c85a4e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image is a straight-on perspective preview of the actual experience. Start with the worksheet starter.</a:t>
            </a:r>
          </a:p>
          <a:p xmlns:a="http://schemas.openxmlformats.org/drawingml/2006/main">
            <a:r>
              <a:t>Sources: Revise 360 experiences/ms-l04.json and worksheets/MS_L04_TopTrumps_Worksheet.docx.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outcomes follow the wording of the lesson worksheet.</a:t>
            </a:r>
          </a:p>
          <a:p xmlns:a="http://schemas.openxmlformats.org/drawingml/2006/main">
            <a:r>
              <a:t>Sources: Revise 360 experiences/ms-l04.json and worksheets/MS_L04_TopTrumps_Worksheet.docx.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Allow students to answer the exact worksheet starter before showing the sample answers.</a:t>
            </a:r>
          </a:p>
          <a:p xmlns:a="http://schemas.openxmlformats.org/drawingml/2006/main">
            <a:r>
              <a:t>Sources: Revise 360 experiences/ms-l04.json and worksheets/MS_L04_TopTrumps_Worksheet.docx.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Accept equivalent correct responses. These examples respond to the worksheet starter.</a:t>
            </a:r>
          </a:p>
          <a:p xmlns:a="http://schemas.openxmlformats.org/drawingml/2006/main">
            <a:r>
              <a:t>Sources: Revise 360 experiences/ms-l04.json and worksheets/MS_L04_TopTrumps_Worksheet.docx.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define the two terms printed on the worksheet before marking them.</a:t>
            </a:r>
          </a:p>
          <a:p xmlns:a="http://schemas.openxmlformats.org/drawingml/2006/main">
            <a:r>
              <a:t>Sources: Revise 360 experiences/ms-l04.json and worksheets/MS_L04_TopTrumps_Worksheet.docx.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after students attempt the definitions; accept accurate wording in their own words.</a:t>
            </a:r>
          </a:p>
          <a:p xmlns:a="http://schemas.openxmlformats.org/drawingml/2006/main">
            <a:r>
              <a:t>Sources: Revise 360 experiences/ms-l04.json and worksheets/MS_L04_TopTrumps_Worksheet.docx.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Leave this board slide visible during the experience. The OPEN EXPERIENCE label is a clickable link. Everyone should complete the experience and reach the plenary near the end of the lesson. First on-screen responses count.</a:t>
            </a:r>
          </a:p>
          <a:p xmlns:a="http://schemas.openxmlformats.org/drawingml/2006/main">
            <a:r>
              <a:t>Sources: Revise 360 experiences/ms-l04.json and worksheets/MS_L04_TopTrumps_Worksheet.docx.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follows the task after the score on the worksheet. For revision, students use their results and outstanding work list.</a:t>
            </a:r>
          </a:p>
          <a:p xmlns:a="http://schemas.openxmlformats.org/drawingml/2006/main">
            <a:r>
              <a:t>Sources: Revise 360 experiences/ms-l04.json and worksheets/MS_L04_TopTrumps_Worksheet.docx.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question to deepen or correct the worksheet response before the plenary.</a:t>
            </a:r>
          </a:p>
          <a:p xmlns:a="http://schemas.openxmlformats.org/drawingml/2006/main">
            <a:r>
              <a:t>Sources: Revise 360 experiences/ms-l04.json and worksheets/MS_L04_TopTrumps_Worksheet.docx.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sample answers or a sample revision action. Ratings and open choices may vary with a justified device and context.</a:t>
            </a:r>
          </a:p>
          <a:p xmlns:a="http://schemas.openxmlformats.org/drawingml/2006/main">
            <a:r>
              <a:t>Sources: Revise 360 experiences/ms-l04.json and worksheets/MS_L04_TopTrumps_Worksheet.docx.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after students have completed the experience. These concise points answer the station challenges and help students improve their own wording.</a:t>
            </a:r>
          </a:p>
          <a:p xmlns:a="http://schemas.openxmlformats.org/drawingml/2006/main">
            <a:r>
              <a:t>Sources: Revise 360 experiences/ms-l04.json and worksheets/MS_L04_TopTrumps_Worksheet.docx.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after students have completed the experience. These concise points answer the station challenges and help students improve their own wording.</a:t>
            </a:r>
          </a:p>
          <a:p xmlns:a="http://schemas.openxmlformats.org/drawingml/2006/main">
            <a:r>
              <a:t>Sources: Revise 360 experiences/ms-l04.json and worksheets/MS_L04_TopTrumps_Worksheet.docx.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 are in the same order as the worksheet final challenge and the experience star task. Pixel and sound sketches should be checked against the interactive pattern or wave.</a:t>
            </a:r>
          </a:p>
          <a:p xmlns:a="http://schemas.openxmlformats.org/drawingml/2006/main">
            <a:r>
              <a:t>Sources: Revise 360 experiences/ms-l04.json and worksheets/MS_L04_TopTrumps_Worksheet.docx.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 are in the same order as the worksheet final challenge and the experience star task. Pixel and sound sketches should be checked against the interactive pattern or wave.</a:t>
            </a:r>
          </a:p>
          <a:p xmlns:a="http://schemas.openxmlformats.org/drawingml/2006/main">
            <a:r>
              <a:t>Sources: Revise 360 experiences/ms-l04.json and worksheets/MS_L04_TopTrumps_Worksheet.docx.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exam-practice questions from the worksheet. Allow independent writing before displaying the answer slides.</a:t>
            </a:r>
          </a:p>
          <a:p xmlns:a="http://schemas.openxmlformats.org/drawingml/2006/main">
            <a:r>
              <a:t>Sources: Revise 360 experiences/ms-l04.json and worksheets/MS_L04_TopTrumps_Worksheet.docx.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Classroom answer points, not an official OCR mark scheme. Ask students to correct or improve one answer.</a:t>
            </a:r>
          </a:p>
          <a:p xmlns:a="http://schemas.openxmlformats.org/drawingml/2006/main">
            <a:r>
              <a:t>Sources: Revise 360 experiences/ms-l04.json and worksheets/MS_L04_TopTrumps_Worksheet.docx.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exact confidence objectives from the worksheet. Students identify one area to revisit.</a:t>
            </a:r>
          </a:p>
          <a:p xmlns:a="http://schemas.openxmlformats.org/drawingml/2006/main">
            <a:r>
              <a:t>Sources: Revise 360 experiences/ms-l04.json and worksheets/MS_L04_TopTrumps_Worksheet.docx.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07b70d177947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a107de4c1e4e7e" /><Relationship Type="http://schemas.openxmlformats.org/officeDocument/2006/relationships/slideLayout" Target="/ppt/slideLayouts/slideLayout1.xml" Id="Re4f814c0159a44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f814c0159a44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382a980b8a4f9e" /><Relationship Type="http://schemas.openxmlformats.org/officeDocument/2006/relationships/image" Target="/ppt/media/image.png" Id="R9e9f233af029480f" /><Relationship Type="http://schemas.openxmlformats.org/officeDocument/2006/relationships/image" Target="/ppt/media/image.jpeg" Id="Rdbb39895af1544e9" /><Relationship Type="http://schemas.openxmlformats.org/officeDocument/2006/relationships/notesSlide" Target="/ppt/notesSlides/notesSlide1.xml" Id="Rc68c1591876a47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5a904ef764829" /><Relationship Type="http://schemas.openxmlformats.org/officeDocument/2006/relationships/image" Target="/ppt/media/image2.png" Id="Rd0a516f278cc4baf" /><Relationship Type="http://schemas.openxmlformats.org/officeDocument/2006/relationships/notesSlide" Target="/ppt/notesSlides/notesSlide2.xml" Id="R6589ca08fb4441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3b57b29ad4318" /><Relationship Type="http://schemas.openxmlformats.org/officeDocument/2006/relationships/image" Target="/ppt/media/image3.png" Id="R04c933823a404742" /><Relationship Type="http://schemas.openxmlformats.org/officeDocument/2006/relationships/notesSlide" Target="/ppt/notesSlides/notesSlide3.xml" Id="R0433a37b34af46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cfe18c4e254336" /><Relationship Type="http://schemas.openxmlformats.org/officeDocument/2006/relationships/image" Target="/ppt/media/image4.png" Id="R26009245ec4542ed" /><Relationship Type="http://schemas.openxmlformats.org/officeDocument/2006/relationships/notesSlide" Target="/ppt/notesSlides/notesSlide4.xml" Id="Rdd743606452940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7c37b0bede45e0" /><Relationship Type="http://schemas.openxmlformats.org/officeDocument/2006/relationships/image" Target="/ppt/media/image5.png" Id="R7ca691da08424db6" /><Relationship Type="http://schemas.openxmlformats.org/officeDocument/2006/relationships/notesSlide" Target="/ppt/notesSlides/notesSlide5.xml" Id="Rcd969a556b424a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6e5b36d7b4d5b" /><Relationship Type="http://schemas.openxmlformats.org/officeDocument/2006/relationships/image" Target="/ppt/media/image6.png" Id="R23e441f9e30843a7" /><Relationship Type="http://schemas.openxmlformats.org/officeDocument/2006/relationships/notesSlide" Target="/ppt/notesSlides/notesSlide6.xml" Id="R50d53a57f8194a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ba64c497446e7" /><Relationship Type="http://schemas.openxmlformats.org/officeDocument/2006/relationships/image" Target="/ppt/media/image7.png" Id="Rc1eb0a826c5e4212" /><Relationship Type="http://schemas.openxmlformats.org/officeDocument/2006/relationships/hyperlink" Target="https://mrp-cs.github.io/Revise360/experience.html?id=ms-l04" TargetMode="External" Id="R301c92c1ee3c4170" /><Relationship Type="http://schemas.openxmlformats.org/officeDocument/2006/relationships/notesSlide" Target="/ppt/notesSlides/notesSlide7.xml" Id="Readd0cf783db4f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94d9972dc14db6" /><Relationship Type="http://schemas.openxmlformats.org/officeDocument/2006/relationships/image" Target="/ppt/media/image8.png" Id="R7850ec92aa9a41eb" /><Relationship Type="http://schemas.openxmlformats.org/officeDocument/2006/relationships/notesSlide" Target="/ppt/notesSlides/notesSlide8.xml" Id="R5b93d5befec647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89cf0acc44f03" /><Relationship Type="http://schemas.openxmlformats.org/officeDocument/2006/relationships/image" Target="/ppt/media/image9.png" Id="R5d22c51391c44671" /><Relationship Type="http://schemas.openxmlformats.org/officeDocument/2006/relationships/notesSlide" Target="/ppt/notesSlides/notesSlide9.xml" Id="Ra3fda4bd369249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19d257f584c40" /><Relationship Type="http://schemas.openxmlformats.org/officeDocument/2006/relationships/image" Target="/ppt/media/image10.png" Id="R44872aeea1eb4929" /><Relationship Type="http://schemas.openxmlformats.org/officeDocument/2006/relationships/notesSlide" Target="/ppt/notesSlides/notesSlide10.xml" Id="R54294da2c6114b9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d12c9831f4839" /><Relationship Type="http://schemas.openxmlformats.org/officeDocument/2006/relationships/image" Target="/ppt/media/image11.png" Id="Rca778a28d6e9403e" /><Relationship Type="http://schemas.openxmlformats.org/officeDocument/2006/relationships/notesSlide" Target="/ppt/notesSlides/notesSlide11.xml" Id="Rceed64309fef477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45de4a15b4d90" /><Relationship Type="http://schemas.openxmlformats.org/officeDocument/2006/relationships/image" Target="/ppt/media/image12.png" Id="R89bb461f93e44177" /><Relationship Type="http://schemas.openxmlformats.org/officeDocument/2006/relationships/notesSlide" Target="/ppt/notesSlides/notesSlide12.xml" Id="R327b70f32a6548a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38f33005747b0" /><Relationship Type="http://schemas.openxmlformats.org/officeDocument/2006/relationships/image" Target="/ppt/media/image13.png" Id="Rc3c2423164c54f07" /><Relationship Type="http://schemas.openxmlformats.org/officeDocument/2006/relationships/notesSlide" Target="/ppt/notesSlides/notesSlide13.xml" Id="R0589b27ec1a7481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b57740412e4ca8" /><Relationship Type="http://schemas.openxmlformats.org/officeDocument/2006/relationships/image" Target="/ppt/media/image14.png" Id="Raddcf84816d04da6" /><Relationship Type="http://schemas.openxmlformats.org/officeDocument/2006/relationships/notesSlide" Target="/ppt/notesSlides/notesSlide14.xml" Id="R5c79e70beca94e9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e759d8ad1418f" /><Relationship Type="http://schemas.openxmlformats.org/officeDocument/2006/relationships/image" Target="/ppt/media/image15.png" Id="R6a301bb80ad14294" /><Relationship Type="http://schemas.openxmlformats.org/officeDocument/2006/relationships/notesSlide" Target="/ppt/notesSlides/notesSlide15.xml" Id="Rd276c992e9bc428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4480f409374a9a" /><Relationship Type="http://schemas.openxmlformats.org/officeDocument/2006/relationships/image" Target="/ppt/media/image16.png" Id="R6e3f97dddad04a09" /><Relationship Type="http://schemas.openxmlformats.org/officeDocument/2006/relationships/notesSlide" Target="/ppt/notesSlides/notesSlide16.xml" Id="Rc3e72209a9fa46d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f6e1dbecc4d56" /><Relationship Type="http://schemas.openxmlformats.org/officeDocument/2006/relationships/image" Target="/ppt/media/image17.png" Id="Ra1428006d2ba41db" /><Relationship Type="http://schemas.openxmlformats.org/officeDocument/2006/relationships/notesSlide" Target="/ppt/notesSlides/notesSlide17.xml" Id="Rb72ef9f9c59c42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7CA063D-44BA-42E9-BD58-07D5745B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9113FBC-A1FA-4F5A-B42F-10B3353E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1.2   /   LESSON 04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8A296E1-B67A-49E5-9684-4292C622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TOP TRUMPS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9f233af029480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57FA7B0-FE00-415C-A590-F03956F7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 / 17</a:t>
            </a:r>
          </a:p>
        </p:txBody>
      </p:sp>
      <p:sp>
        <p:nvSpPr>
          <p:cNvPr id="6" name="subject">
            <a:extLst xmlns:a="http://schemas.openxmlformats.org/drawingml/2006/main">
              <a:ext uri="{FF2B5EF4-FFF2-40B4-BE49-F238E27FC236}">
                <a16:creationId xmlns:a16="http://schemas.microsoft.com/office/drawing/2014/main" id="{876F0219-0BC2-4371-894D-5107D549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Characteristics of storage devices</a:t>
            </a:r>
          </a:p>
        </p:txBody>
      </p:sp>
      <p:sp>
        <p:nvSpPr>
          <p:cNvPr id="7" name="cover-key-label">
            <a:extLst xmlns:a="http://schemas.openxmlformats.org/drawingml/2006/main">
              <a:ext uri="{FF2B5EF4-FFF2-40B4-BE49-F238E27FC236}">
                <a16:creationId xmlns:a16="http://schemas.microsoft.com/office/drawing/2014/main" id="{91024867-0787-4D7E-A058-13E46E3C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KEY QUESTION</a:t>
            </a:r>
          </a:p>
        </p:txBody>
      </p:sp>
      <p:sp>
        <p:nvSpPr>
          <p:cNvPr id="8" name="cover-key-question">
            <a:extLst xmlns:a="http://schemas.openxmlformats.org/drawingml/2006/main">
              <a:ext uri="{FF2B5EF4-FFF2-40B4-BE49-F238E27FC236}">
                <a16:creationId xmlns:a16="http://schemas.microsoft.com/office/drawing/2014/main" id="{4C7D0231-5426-4E74-873D-107BB9AD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What are the differences between secondary storage devices?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b39895af1544e9"/>
          <a:stretch xmlns:a="http://schemas.openxmlformats.org/drawingml/2006/main"/>
        </p:blipFill>
        <p:spPr>
          <a:xfrm xmlns:a="http://schemas.openxmlformats.org/drawingml/2006/main">
            <a:off x="6076950" y="1819275"/>
            <a:ext cx="5400675" cy="3600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2819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308BA7EB-D8A2-49DD-8F47-54751D26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1C09F6B-B378-4F82-BB3B-8BEB3A61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04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A10EC1FE-EEAD-48C0-BE0F-ADA5134B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By the end of this lesson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a516f278cc4ba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AEA6E67-9F4F-4C08-BFD4-636291AC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 / 17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6AAA4F2E-732B-4F89-92F4-66578FB9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84E97A4C-64CC-430F-BFE4-EC515025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4310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know the characteristics of storage devices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8D870160-3183-4B45-9465-935B1B97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9F5DF448-8799-4F0D-B8DF-891C6329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0045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be able to compare devices using those characteristics</a:t>
            </a:r>
          </a:p>
        </p:txBody>
      </p:sp>
    </p:spTree>
    <p:extLst>
      <p:ext uri="{BB962C8B-B14F-4D97-AF65-F5344CB8AC3E}">
        <p14:creationId xmlns:p14="http://schemas.microsoft.com/office/powerpoint/2010/main" val="1681173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997BCA2-F2A3-4AB7-872F-7F6FB732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EB6CAAC3-6F59-4808-85FE-F7BCA7B8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04   /   WORKSHEET STARTER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F20BA2E-4D83-43EF-92C4-94ED123B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before the experience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c933823a40474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AF0DF3A-F547-4E7C-A870-D31F4AF1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3 / 17</a:t>
            </a:r>
          </a:p>
        </p:txBody>
      </p:sp>
      <p:sp>
        <p:nvSpPr>
          <p:cNvPr id="6" name="worksheet-starter">
            <a:extLst xmlns:a="http://schemas.openxmlformats.org/drawingml/2006/main">
              <a:ext uri="{FF2B5EF4-FFF2-40B4-BE49-F238E27FC236}">
                <a16:creationId xmlns:a16="http://schemas.microsoft.com/office/drawing/2014/main" id="{558B33E2-A009-464E-B57C-267B726B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57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You are buying storage for a school trip camera. Write the five questions you would ask before choosing.</a:t>
            </a:r>
          </a:p>
        </p:txBody>
      </p:sp>
    </p:spTree>
    <p:extLst>
      <p:ext uri="{BB962C8B-B14F-4D97-AF65-F5344CB8AC3E}">
        <p14:creationId xmlns:p14="http://schemas.microsoft.com/office/powerpoint/2010/main" val="15968557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CFD0BB39-F8A5-48F5-852A-6CF3A758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E0B0BB2-6454-48CC-BAC7-992874CC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04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D5576B7-45C2-4452-B5FE-9053B184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sample answers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009245ec4542e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883164D-5E7A-41B1-84EF-744B3BEF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4 / 17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8AAE7281-5BBA-4384-AD64-CA1C46E1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10337E79-B662-4478-AC84-75D9DC18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336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Ask about capacity, speed, portability, durability and cost or reliability.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41271A5D-F920-44F9-9B6B-138E6DCE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E5239768-DF2A-4ACA-95BC-391F1617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338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For a trip camera, check that the card is compatible and can hold enough photos or video.</a:t>
            </a:r>
          </a:p>
        </p:txBody>
      </p:sp>
    </p:spTree>
    <p:extLst>
      <p:ext uri="{BB962C8B-B14F-4D97-AF65-F5344CB8AC3E}">
        <p14:creationId xmlns:p14="http://schemas.microsoft.com/office/powerpoint/2010/main" val="7087439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7C0F905-9978-4252-8C16-489C16F8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0AC26949-14D5-4816-99BA-65A4C868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04   /   WORKSHEET KEY TERMS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3DAC4EE-F166-4F70-A105-D4693B38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 quiz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a691da08424db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C6BA393-F7EB-443F-90E2-47EB6720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5 / 17</a:t>
            </a:r>
          </a:p>
        </p:txBody>
      </p:sp>
      <p:sp>
        <p:nvSpPr>
          <p:cNvPr id="6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22F5704E-21E6-47F9-A16C-7A38D6C6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term-0">
            <a:extLst xmlns:a="http://schemas.openxmlformats.org/drawingml/2006/main">
              <a:ext uri="{FF2B5EF4-FFF2-40B4-BE49-F238E27FC236}">
                <a16:creationId xmlns:a16="http://schemas.microsoft.com/office/drawing/2014/main" id="{49B63ABD-F7D6-4537-80EC-D5AE1E9D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7647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Capacity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A0F59B65-465A-4902-BBDD-E7EBE780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term-1">
            <a:extLst xmlns:a="http://schemas.openxmlformats.org/drawingml/2006/main">
              <a:ext uri="{FF2B5EF4-FFF2-40B4-BE49-F238E27FC236}">
                <a16:creationId xmlns:a16="http://schemas.microsoft.com/office/drawing/2014/main" id="{0DBC6182-FA5D-47EB-A73F-4EF01422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8622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Durability</a:t>
            </a:r>
          </a:p>
        </p:txBody>
      </p:sp>
    </p:spTree>
    <p:extLst>
      <p:ext uri="{BB962C8B-B14F-4D97-AF65-F5344CB8AC3E}">
        <p14:creationId xmlns:p14="http://schemas.microsoft.com/office/powerpoint/2010/main" val="10984144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4E919EF-C944-40E6-9716-86348000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4E4CB2DF-9F92-4384-B253-B1D0FC6C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04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DFFF0AFB-374B-41D9-9639-18C8880A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terminology: answers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e441f9e30843a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11CDB49-7B1D-402C-8A1D-3C571E17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6 / 17</a:t>
            </a:r>
          </a:p>
        </p:txBody>
      </p:sp>
      <p:sp>
        <p:nvSpPr>
          <p:cNvPr id="6" name="term-label-0">
            <a:extLst xmlns:a="http://schemas.openxmlformats.org/drawingml/2006/main">
              <a:ext uri="{FF2B5EF4-FFF2-40B4-BE49-F238E27FC236}">
                <a16:creationId xmlns:a16="http://schemas.microsoft.com/office/drawing/2014/main" id="{74D8051D-FB6E-451D-8397-2A4ABE31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288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Capacity</a:t>
            </a:r>
          </a:p>
        </p:txBody>
      </p:sp>
      <p:sp>
        <p:nvSpPr>
          <p:cNvPr id="7" name="term-definition-0">
            <a:extLst xmlns:a="http://schemas.openxmlformats.org/drawingml/2006/main">
              <a:ext uri="{FF2B5EF4-FFF2-40B4-BE49-F238E27FC236}">
                <a16:creationId xmlns:a16="http://schemas.microsoft.com/office/drawing/2014/main" id="{E7E6D7D4-5613-4F0D-B08A-F6BE96E2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Capacity: the amount of data a storage device can hold, measured in bytes and larger units.</a:t>
            </a:r>
          </a:p>
        </p:txBody>
      </p:sp>
      <p:sp>
        <p:nvSpPr>
          <p:cNvPr id="8" name="term-label-1">
            <a:extLst xmlns:a="http://schemas.openxmlformats.org/drawingml/2006/main">
              <a:ext uri="{FF2B5EF4-FFF2-40B4-BE49-F238E27FC236}">
                <a16:creationId xmlns:a16="http://schemas.microsoft.com/office/drawing/2014/main" id="{FDE91301-AD35-4906-9A2B-92BDB149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Durability</a:t>
            </a:r>
          </a:p>
        </p:txBody>
      </p:sp>
      <p:sp>
        <p:nvSpPr>
          <p:cNvPr id="9" name="term-definition-1">
            <a:extLst xmlns:a="http://schemas.openxmlformats.org/drawingml/2006/main">
              <a:ext uri="{FF2B5EF4-FFF2-40B4-BE49-F238E27FC236}">
                <a16:creationId xmlns:a16="http://schemas.microsoft.com/office/drawing/2014/main" id="{51FB19A1-1E13-4905-B3D5-38D3A525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Durability: how well a device withstands handling, knocks or movement without damage.</a:t>
            </a:r>
          </a:p>
        </p:txBody>
      </p:sp>
    </p:spTree>
    <p:extLst>
      <p:ext uri="{BB962C8B-B14F-4D97-AF65-F5344CB8AC3E}">
        <p14:creationId xmlns:p14="http://schemas.microsoft.com/office/powerpoint/2010/main" val="20335137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31770F80-4FA0-478E-8151-ED4FFBEA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0EEABEFE-80C9-44EC-959E-7E954F2B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1.2   /   LESSON 04   /   EXPERIENCE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FAFFC022-7E4D-4C82-AD17-579B3E34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Worksheet + experience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eb0a826c5e421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3A55DF7-90AC-471C-B147-4FC26ECC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7 / 17</a:t>
            </a:r>
          </a:p>
        </p:txBody>
      </p:sp>
      <p:sp>
        <p:nvSpPr>
          <p:cNvPr id="6" name="open-label">
            <a:extLst xmlns:a="http://schemas.openxmlformats.org/drawingml/2006/main">
              <a:ext uri="{FF2B5EF4-FFF2-40B4-BE49-F238E27FC236}">
                <a16:creationId xmlns:a16="http://schemas.microsoft.com/office/drawing/2014/main" id="{FD3772BC-F081-4E8B-9E56-35CDB20A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01   </a:t>
            </a: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301c92c1ee3c4170"/>
              </a:rPr>
              <a:t>OPEN EXPERIENCE ↗</a:t>
            </a:r>
          </a:p>
        </p:txBody>
      </p:sp>
      <p:sp>
        <p:nvSpPr>
          <p:cNvPr id="7" name="open-body">
            <a:extLst xmlns:a="http://schemas.openxmlformats.org/drawingml/2006/main">
              <a:ext uri="{FF2B5EF4-FFF2-40B4-BE49-F238E27FC236}">
                <a16:creationId xmlns:a16="http://schemas.microsoft.com/office/drawing/2014/main" id="{A2292414-56A4-4227-AF1D-D5CE7DE3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Open Top Trumps in Topic 1.2. Keep the worksheet beside you.</a:t>
            </a:r>
          </a:p>
        </p:txBody>
      </p:sp>
      <p:sp>
        <p:nvSpPr>
          <p:cNvPr id="8" name="station-label">
            <a:extLst xmlns:a="http://schemas.openxmlformats.org/drawingml/2006/main">
              <a:ext uri="{FF2B5EF4-FFF2-40B4-BE49-F238E27FC236}">
                <a16:creationId xmlns:a16="http://schemas.microsoft.com/office/drawing/2014/main" id="{F575638B-201C-4B07-8F2C-27D86A0B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02   SIX STATIONS</a:t>
            </a:r>
          </a:p>
        </p:txBody>
      </p:sp>
      <p:sp>
        <p:nvSpPr>
          <p:cNvPr id="9" name="station-body">
            <a:extLst xmlns:a="http://schemas.openxmlformats.org/drawingml/2006/main">
              <a:ext uri="{FF2B5EF4-FFF2-40B4-BE49-F238E27FC236}">
                <a16:creationId xmlns:a16="http://schemas.microsoft.com/office/drawing/2014/main" id="{7570597C-91AC-4F42-B4FD-F2CE2CCC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Read each panel. Write the key fact IN YOUR OWN WORDS and answer the worksheet challenge before tapping its badge.</a:t>
            </a:r>
          </a:p>
        </p:txBody>
      </p:sp>
      <p:sp>
        <p:nvSpPr>
          <p:cNvPr id="10" name="finish-label">
            <a:extLst xmlns:a="http://schemas.openxmlformats.org/drawingml/2006/main">
              <a:ext uri="{FF2B5EF4-FFF2-40B4-BE49-F238E27FC236}">
                <a16:creationId xmlns:a16="http://schemas.microsoft.com/office/drawing/2014/main" id="{1E445DDD-10B0-4E4F-8E39-C00970DE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03   FINAL CHALLENGE</a:t>
            </a:r>
          </a:p>
        </p:txBody>
      </p:sp>
      <p:sp>
        <p:nvSpPr>
          <p:cNvPr id="11" name="finish-body">
            <a:extLst xmlns:a="http://schemas.openxmlformats.org/drawingml/2006/main">
              <a:ext uri="{FF2B5EF4-FFF2-40B4-BE49-F238E27FC236}">
                <a16:creationId xmlns:a16="http://schemas.microsoft.com/office/drawing/2014/main" id="{441FB1A8-F0E1-498F-92F5-D086DAAE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Complete the ★ task before tapping the star. Copy your score (out of 24), then finish the worksheet task or review.</a:t>
            </a:r>
          </a:p>
        </p:txBody>
      </p:sp>
      <p:sp>
        <p:nvSpPr>
          <p:cNvPr id="12" name="plenary-label">
            <a:extLst xmlns:a="http://schemas.openxmlformats.org/drawingml/2006/main">
              <a:ext uri="{FF2B5EF4-FFF2-40B4-BE49-F238E27FC236}">
                <a16:creationId xmlns:a16="http://schemas.microsoft.com/office/drawing/2014/main" id="{EABBED18-FFB2-48D4-A66B-28753EB6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04   PLENARY</a:t>
            </a:r>
          </a:p>
        </p:txBody>
      </p:sp>
      <p:sp>
        <p:nvSpPr>
          <p:cNvPr id="13" name="plenary-body">
            <a:extLst xmlns:a="http://schemas.openxmlformats.org/drawingml/2006/main">
              <a:ext uri="{FF2B5EF4-FFF2-40B4-BE49-F238E27FC236}">
                <a16:creationId xmlns:a16="http://schemas.microsoft.com/office/drawing/2014/main" id="{88B812A7-8BD8-4E67-816B-1955E462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Finish the experience in this lesson. Near the end, close it for the plenary knowledge checks.</a:t>
            </a:r>
          </a:p>
        </p:txBody>
      </p:sp>
    </p:spTree>
    <p:extLst>
      <p:ext uri="{BB962C8B-B14F-4D97-AF65-F5344CB8AC3E}">
        <p14:creationId xmlns:p14="http://schemas.microsoft.com/office/powerpoint/2010/main" val="6883236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197C899C-931C-4F6A-BD35-00A055E3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1D419512-CD39-442F-B7A7-664B3C2A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04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0AA01E7D-D2AE-4D61-8014-B88D019C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Apply your learning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50ec92aa9a41e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49CD3C8-55D7-42B1-A9A7-C43F1B4A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8 / 17</a:t>
            </a:r>
          </a:p>
        </p:txBody>
      </p:sp>
      <p:sp>
        <p:nvSpPr>
          <p:cNvPr id="6" name="application-prompt">
            <a:extLst xmlns:a="http://schemas.openxmlformats.org/drawingml/2006/main">
              <a:ext uri="{FF2B5EF4-FFF2-40B4-BE49-F238E27FC236}">
                <a16:creationId xmlns:a16="http://schemas.microsoft.com/office/drawing/2014/main" id="{735522B6-2BB8-4E11-88D3-40ACFA60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95525"/>
            <a:ext cx="105727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Top Trumps cards. Rate each device out of 5 for each characteristic, then add a typical capacity.</a:t>
            </a:r>
          </a:p>
        </p:txBody>
      </p:sp>
      <p:sp>
        <p:nvSpPr>
          <p:cNvPr id="7" name="application-note">
            <a:extLst xmlns:a="http://schemas.openxmlformats.org/drawingml/2006/main">
              <a:ext uri="{FF2B5EF4-FFF2-40B4-BE49-F238E27FC236}">
                <a16:creationId xmlns:a16="http://schemas.microsoft.com/office/drawing/2014/main" id="{E5E368EB-8685-43FA-8FCB-89350F63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57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Use the task and table on your worksheet.</a:t>
            </a:r>
          </a:p>
        </p:txBody>
      </p:sp>
    </p:spTree>
    <p:extLst>
      <p:ext uri="{BB962C8B-B14F-4D97-AF65-F5344CB8AC3E}">
        <p14:creationId xmlns:p14="http://schemas.microsoft.com/office/powerpoint/2010/main" val="3938295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9F9ADD6-DD31-414A-9D04-E5E24C4C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42E10E04-CD99-44A3-9459-0EADFF45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04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47DA7DD-D476-492C-A689-6EDCB9AA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Check and improve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22c51391c44671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C034629-C7C7-41B5-9A56-A81FD09E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9 / 17</a:t>
            </a:r>
          </a:p>
        </p:txBody>
      </p:sp>
      <p:sp>
        <p:nvSpPr>
          <p:cNvPr id="6" name="review-prompt">
            <a:extLst xmlns:a="http://schemas.openxmlformats.org/drawingml/2006/main">
              <a:ext uri="{FF2B5EF4-FFF2-40B4-BE49-F238E27FC236}">
                <a16:creationId xmlns:a16="http://schemas.microsoft.com/office/drawing/2014/main" id="{2EFDFA15-A96E-4030-B3F1-E960B235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105727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school needs fast laptop boot drives and cheap bulk storage for a server. Should it buy the same device for both?</a:t>
            </a:r>
          </a:p>
        </p:txBody>
      </p:sp>
    </p:spTree>
    <p:extLst>
      <p:ext uri="{BB962C8B-B14F-4D97-AF65-F5344CB8AC3E}">
        <p14:creationId xmlns:p14="http://schemas.microsoft.com/office/powerpoint/2010/main" val="4598825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DDFB465-D58D-4662-8572-9384EF16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795FF96C-A345-45B6-9666-C08F291F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04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522FBE5-A98F-46D7-BD31-021161A5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Application: sample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872aeea1eb4929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FCB671E-B5F4-4F6D-A7F7-F1FF007C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10 / 17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C187B22F-BF71-451B-BB0C-FE1E8CFE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77F49269-503D-4028-81E1-14009933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47850"/>
            <a:ext cx="9925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Example ratings out of 5 (5 is best; for cost, 5 means low cost per GB): HDD 5/2/2/2/5; optical 2/1/4/2/4.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B9A359B6-B065-48C2-8B03-45041268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146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9CB21479-423F-4C94-B458-2B143445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14675"/>
            <a:ext cx="9925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SSD 4/5/5/5/2; tape 5/1/1/2/5. Ratings and typical capacities vary by model; justify the comparison.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74FD6F13-8C49-4611-B0EE-9B4E78D0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0BB6409A-86B5-499B-9E0D-178C8495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0"/>
            <a:ext cx="9925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No. SSDs suit laptop boot drives for speed and resilience; high-capacity HDDs can be cheaper per GB for bulk server files.</a:t>
            </a:r>
          </a:p>
        </p:txBody>
      </p:sp>
    </p:spTree>
    <p:extLst>
      <p:ext uri="{BB962C8B-B14F-4D97-AF65-F5344CB8AC3E}">
        <p14:creationId xmlns:p14="http://schemas.microsoft.com/office/powerpoint/2010/main" val="638571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AE2D761-9C99-4889-BCFE-FC33E8E9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E39BC282-1706-4EEF-A143-E357F299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04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8701694-49ED-4507-9BDA-B3E37072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1–3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778a28d6e9403e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000A53D-C0AC-48D8-BBB5-6B6B08AC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11 / 17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8CDA66C8-8740-4616-8480-34D724ED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0">
            <a:extLst xmlns:a="http://schemas.openxmlformats.org/drawingml/2006/main">
              <a:ext uri="{FF2B5EF4-FFF2-40B4-BE49-F238E27FC236}">
                <a16:creationId xmlns:a16="http://schemas.microsoft.com/office/drawing/2014/main" id="{5F03FF83-1561-4645-A85C-907666E0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  The six characteristics</a:t>
            </a:r>
          </a:p>
        </p:txBody>
      </p:sp>
      <p:sp>
        <p:nvSpPr>
          <p:cNvPr id="8" name="station-answer-0">
            <a:extLst xmlns:a="http://schemas.openxmlformats.org/drawingml/2006/main">
              <a:ext uri="{FF2B5EF4-FFF2-40B4-BE49-F238E27FC236}">
                <a16:creationId xmlns:a16="http://schemas.microsoft.com/office/drawing/2014/main" id="{B1B4FB43-E5E9-46BD-9638-E6E05836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Compare capacity, speed, portability, durability, reliability and cost. A server may prioritise capacity and reliability or cost per GB.</a:t>
            </a:r>
          </a:p>
        </p:txBody>
      </p:sp>
      <p:sp>
        <p:nvSpPr>
          <p:cNvPr id="9" name="station-name-1">
            <a:extLst xmlns:a="http://schemas.openxmlformats.org/drawingml/2006/main">
              <a:ext uri="{FF2B5EF4-FFF2-40B4-BE49-F238E27FC236}">
                <a16:creationId xmlns:a16="http://schemas.microsoft.com/office/drawing/2014/main" id="{052AE665-B24D-49DF-A3E3-E1411B24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  Magnetic: the card</a:t>
            </a:r>
          </a:p>
        </p:txBody>
      </p:sp>
      <p:sp>
        <p:nvSpPr>
          <p:cNvPr id="10" name="station-answer-1">
            <a:extLst xmlns:a="http://schemas.openxmlformats.org/drawingml/2006/main">
              <a:ext uri="{FF2B5EF4-FFF2-40B4-BE49-F238E27FC236}">
                <a16:creationId xmlns:a16="http://schemas.microsoft.com/office/drawing/2014/main" id="{E2EA1D46-7174-473E-89E2-8C9FF104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hard disk offers large capacity at low cost per GB, but spinning parts make it slower and less durable when moved.</a:t>
            </a:r>
          </a:p>
        </p:txBody>
      </p:sp>
      <p:sp>
        <p:nvSpPr>
          <p:cNvPr id="11" name="station-name-2">
            <a:extLst xmlns:a="http://schemas.openxmlformats.org/drawingml/2006/main">
              <a:ext uri="{FF2B5EF4-FFF2-40B4-BE49-F238E27FC236}">
                <a16:creationId xmlns:a16="http://schemas.microsoft.com/office/drawing/2014/main" id="{BE02FBEE-C948-4C92-BC6C-77577441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  Optical: the card</a:t>
            </a:r>
          </a:p>
        </p:txBody>
      </p:sp>
      <p:sp>
        <p:nvSpPr>
          <p:cNvPr id="12" name="station-answer-2">
            <a:extLst xmlns:a="http://schemas.openxmlformats.org/drawingml/2006/main">
              <a:ext uri="{FF2B5EF4-FFF2-40B4-BE49-F238E27FC236}">
                <a16:creationId xmlns:a16="http://schemas.microsoft.com/office/drawing/2014/main" id="{4B065517-D813-4051-A0E9-FC53BD28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Blu-ray disc is inexpensive to duplicate and distribute; it is slower to access and can be scratched.</a:t>
            </a:r>
          </a:p>
        </p:txBody>
      </p:sp>
    </p:spTree>
    <p:extLst>
      <p:ext uri="{BB962C8B-B14F-4D97-AF65-F5344CB8AC3E}">
        <p14:creationId xmlns:p14="http://schemas.microsoft.com/office/powerpoint/2010/main" val="16176755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D0F5D1FE-30D1-4AD7-8744-04284403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641B277-F81F-4C52-8FD0-F830DFD5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04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84CE4CF-8032-40D5-B3DA-A3982843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4–6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bb461f93e4417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7C547DE-5D09-48C2-B9F3-DC02570A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12 / 17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580E8CF2-30BF-44AC-9163-8B95E010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3">
            <a:extLst xmlns:a="http://schemas.openxmlformats.org/drawingml/2006/main">
              <a:ext uri="{FF2B5EF4-FFF2-40B4-BE49-F238E27FC236}">
                <a16:creationId xmlns:a16="http://schemas.microsoft.com/office/drawing/2014/main" id="{CCEA7E1C-4900-48E0-93DD-8AD66F9C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  Solid state: the card</a:t>
            </a:r>
          </a:p>
        </p:txBody>
      </p:sp>
      <p:sp>
        <p:nvSpPr>
          <p:cNvPr id="8" name="station-answer-3">
            <a:extLst xmlns:a="http://schemas.openxmlformats.org/drawingml/2006/main">
              <a:ext uri="{FF2B5EF4-FFF2-40B4-BE49-F238E27FC236}">
                <a16:creationId xmlns:a16="http://schemas.microsoft.com/office/drawing/2014/main" id="{07C4EFD8-862C-4C73-A014-84868E15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 SSD has no moving parts, so it is fast and durable for a laptop. Flash cells have a finite write life.</a:t>
            </a:r>
          </a:p>
        </p:txBody>
      </p:sp>
      <p:sp>
        <p:nvSpPr>
          <p:cNvPr id="9" name="station-name-4">
            <a:extLst xmlns:a="http://schemas.openxmlformats.org/drawingml/2006/main">
              <a:ext uri="{FF2B5EF4-FFF2-40B4-BE49-F238E27FC236}">
                <a16:creationId xmlns:a16="http://schemas.microsoft.com/office/drawing/2014/main" id="{1482F6CD-A69F-4437-87FF-5F1999F2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  Head to head</a:t>
            </a:r>
          </a:p>
        </p:txBody>
      </p:sp>
      <p:sp>
        <p:nvSpPr>
          <p:cNvPr id="10" name="station-answer-4">
            <a:extLst xmlns:a="http://schemas.openxmlformats.org/drawingml/2006/main">
              <a:ext uri="{FF2B5EF4-FFF2-40B4-BE49-F238E27FC236}">
                <a16:creationId xmlns:a16="http://schemas.microsoft.com/office/drawing/2014/main" id="{2D0299FA-4D72-4B81-9E6D-09DCB18D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winner depends on the characteristic: SSD for speed and portable durability; HDD or tape for inexpensive bulk capacity.</a:t>
            </a:r>
          </a:p>
        </p:txBody>
      </p:sp>
      <p:sp>
        <p:nvSpPr>
          <p:cNvPr id="11" name="station-name-5">
            <a:extLst xmlns:a="http://schemas.openxmlformats.org/drawingml/2006/main">
              <a:ext uri="{FF2B5EF4-FFF2-40B4-BE49-F238E27FC236}">
                <a16:creationId xmlns:a16="http://schemas.microsoft.com/office/drawing/2014/main" id="{4991E748-F424-4DCE-999A-94994E57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  Justify your choice</a:t>
            </a:r>
          </a:p>
        </p:txBody>
      </p:sp>
      <p:sp>
        <p:nvSpPr>
          <p:cNvPr id="12" name="station-answer-5">
            <a:extLst xmlns:a="http://schemas.openxmlformats.org/drawingml/2006/main">
              <a:ext uri="{FF2B5EF4-FFF2-40B4-BE49-F238E27FC236}">
                <a16:creationId xmlns:a16="http://schemas.microsoft.com/office/drawing/2014/main" id="{9D1EC95B-DDB9-46D2-A17F-EAA39744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camera uses a compatible SD card: it is small, portable, durable and fast enough to record images or video.</a:t>
            </a:r>
          </a:p>
        </p:txBody>
      </p:sp>
    </p:spTree>
    <p:extLst>
      <p:ext uri="{BB962C8B-B14F-4D97-AF65-F5344CB8AC3E}">
        <p14:creationId xmlns:p14="http://schemas.microsoft.com/office/powerpoint/2010/main" val="8231702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110B4674-4FA9-4025-B249-D41900C7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ADEF06ED-C9E7-48DD-8257-CE555130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04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B9B8A24D-13CE-4176-874D-2A027696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challenge: answers 1–5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c2423164c54f0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005308C-F0C2-4CD4-BE3C-7FBB1F4E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13 / 17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181430DF-789E-4AB6-BA19-6879D22A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BAA1003D-8486-45FD-833C-041AD8A2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19275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Several terabytes, cheap, with spinning platters → Hard disk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1F9394C2-FAC9-49E4-983B-7E5590AC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74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572B3868-F8ED-4141-97FA-DE023E90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57475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About 25 GB, thin, light and easily scratched → Optical disc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C0256C90-3C2F-4786-9D91-5947ACF5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956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3C7BDF60-CE61-47E8-821B-2DD848BF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95675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fastest of the four, with no moving parts → SSD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03AC0AFA-007B-44C3-A57B-20DD3CE5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4.</a:t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DB877918-3F4F-4247-ADC8-C0368D8B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33875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Read in sequence, ideal for huge cheap archives → Tape</a:t>
            </a:r>
          </a:p>
        </p:txBody>
      </p:sp>
      <p:sp>
        <p:nvSpPr>
          <p:cNvPr id="14" name="number-5">
            <a:extLst xmlns:a="http://schemas.openxmlformats.org/drawingml/2006/main">
              <a:ext uri="{FF2B5EF4-FFF2-40B4-BE49-F238E27FC236}">
                <a16:creationId xmlns:a16="http://schemas.microsoft.com/office/drawing/2014/main" id="{635C58C7-D4F0-4F54-B855-1FF5EB81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720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5.</a:t>
            </a:r>
          </a:p>
        </p:txBody>
      </p:sp>
      <p:sp>
        <p:nvSpPr>
          <p:cNvPr id="15" name="item-5">
            <a:extLst xmlns:a="http://schemas.openxmlformats.org/drawingml/2006/main">
              <a:ext uri="{FF2B5EF4-FFF2-40B4-BE49-F238E27FC236}">
                <a16:creationId xmlns:a16="http://schemas.microsoft.com/office/drawing/2014/main" id="{7634C5F1-21E6-4EA7-AABB-BD9FB332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72075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Best for a laptop that gets carried everywhere → SSD</a:t>
            </a:r>
          </a:p>
        </p:txBody>
      </p:sp>
    </p:spTree>
    <p:extLst>
      <p:ext uri="{BB962C8B-B14F-4D97-AF65-F5344CB8AC3E}">
        <p14:creationId xmlns:p14="http://schemas.microsoft.com/office/powerpoint/2010/main" val="193997882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F044ACC-9296-4853-B76F-9F93DE57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C73A269-C890-4EA4-B0D7-028E2C00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04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D6B53D1B-67A0-494C-A2C3-B0F29FF4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challenge: answers 6–8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dcf84816d04da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E79E55B-E648-49FF-A2DE-08A32C26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14 / 17</a:t>
            </a:r>
          </a:p>
        </p:txBody>
      </p:sp>
      <p:sp>
        <p:nvSpPr>
          <p:cNvPr id="6" name="number-6">
            <a:extLst xmlns:a="http://schemas.openxmlformats.org/drawingml/2006/main">
              <a:ext uri="{FF2B5EF4-FFF2-40B4-BE49-F238E27FC236}">
                <a16:creationId xmlns:a16="http://schemas.microsoft.com/office/drawing/2014/main" id="{54FA69C5-56DB-4A3E-B0A1-93152E7A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6.</a:t>
            </a:r>
          </a:p>
        </p:txBody>
      </p:sp>
      <p:sp>
        <p:nvSpPr>
          <p:cNvPr id="7" name="item-6">
            <a:extLst xmlns:a="http://schemas.openxmlformats.org/drawingml/2006/main">
              <a:ext uri="{FF2B5EF4-FFF2-40B4-BE49-F238E27FC236}">
                <a16:creationId xmlns:a16="http://schemas.microsoft.com/office/drawing/2014/main" id="{7F266B48-606C-40DC-8F72-B0DE86A4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19275"/>
            <a:ext cx="99250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Best for distributing a film to millions of homes → Optical disc</a:t>
            </a:r>
          </a:p>
        </p:txBody>
      </p:sp>
      <p:sp>
        <p:nvSpPr>
          <p:cNvPr id="8" name="number-7">
            <a:extLst xmlns:a="http://schemas.openxmlformats.org/drawingml/2006/main">
              <a:ext uri="{FF2B5EF4-FFF2-40B4-BE49-F238E27FC236}">
                <a16:creationId xmlns:a16="http://schemas.microsoft.com/office/drawing/2014/main" id="{3E4D6CDA-7661-48C5-9D98-C608A4E2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384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7.</a:t>
            </a:r>
          </a:p>
        </p:txBody>
      </p:sp>
      <p:sp>
        <p:nvSpPr>
          <p:cNvPr id="9" name="item-7">
            <a:extLst xmlns:a="http://schemas.openxmlformats.org/drawingml/2006/main">
              <a:ext uri="{FF2B5EF4-FFF2-40B4-BE49-F238E27FC236}">
                <a16:creationId xmlns:a16="http://schemas.microsoft.com/office/drawing/2014/main" id="{C22DC802-F6D4-4EB1-A324-0304884C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38475"/>
            <a:ext cx="99250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Best value for a school server's bulk storage → Hard disk</a:t>
            </a:r>
          </a:p>
        </p:txBody>
      </p:sp>
      <p:sp>
        <p:nvSpPr>
          <p:cNvPr id="10" name="number-8">
            <a:extLst xmlns:a="http://schemas.openxmlformats.org/drawingml/2006/main">
              <a:ext uri="{FF2B5EF4-FFF2-40B4-BE49-F238E27FC236}">
                <a16:creationId xmlns:a16="http://schemas.microsoft.com/office/drawing/2014/main" id="{E283E9D6-5958-4895-8128-B0F52604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576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8.</a:t>
            </a:r>
          </a:p>
        </p:txBody>
      </p:sp>
      <p:sp>
        <p:nvSpPr>
          <p:cNvPr id="11" name="item-8">
            <a:extLst xmlns:a="http://schemas.openxmlformats.org/drawingml/2006/main">
              <a:ext uri="{FF2B5EF4-FFF2-40B4-BE49-F238E27FC236}">
                <a16:creationId xmlns:a16="http://schemas.microsoft.com/office/drawing/2014/main" id="{0C51EBAE-893F-4776-B515-2A6DC278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57675"/>
            <a:ext cx="99250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Best for backing up 500 TB for ten years → Tape</a:t>
            </a:r>
          </a:p>
        </p:txBody>
      </p:sp>
    </p:spTree>
    <p:extLst>
      <p:ext uri="{BB962C8B-B14F-4D97-AF65-F5344CB8AC3E}">
        <p14:creationId xmlns:p14="http://schemas.microsoft.com/office/powerpoint/2010/main" val="84133091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2DAAD928-C4F5-4C02-88B1-D251A0AC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DF4A088-664C-406F-B00E-B1AC9055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04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6B6C897-7D0F-4334-A3B1-C36B362C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301bb80ad14294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341ADD8-5C0C-4B29-9634-B4954601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15 / 17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5B7F01E3-9CB5-42EF-8ADC-65A2A1DD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Close the experience. Answer from memory on the worksheet.</a:t>
            </a:r>
          </a:p>
        </p:txBody>
      </p:sp>
      <p:sp>
        <p:nvSpPr>
          <p:cNvPr id="7" name="question-0">
            <a:extLst xmlns:a="http://schemas.openxmlformats.org/drawingml/2006/main">
              <a:ext uri="{FF2B5EF4-FFF2-40B4-BE49-F238E27FC236}">
                <a16:creationId xmlns:a16="http://schemas.microsoft.com/office/drawing/2014/main" id="{7B3B2FCA-1BB0-4E50-BE8C-A94AE86F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a)  State two characteristics used to compare storage devices.  [2]</a:t>
            </a:r>
          </a:p>
        </p:txBody>
      </p:sp>
      <p:sp>
        <p:nvSpPr>
          <p:cNvPr id="8" name="question-1">
            <a:extLst xmlns:a="http://schemas.openxmlformats.org/drawingml/2006/main">
              <a:ext uri="{FF2B5EF4-FFF2-40B4-BE49-F238E27FC236}">
                <a16:creationId xmlns:a16="http://schemas.microsoft.com/office/drawing/2014/main" id="{3A7F3620-074C-47E5-B6D0-9C1FB7FD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b)  Explain why an SSD is more suitable than a hard disk for a laptop.  [4]</a:t>
            </a:r>
          </a:p>
        </p:txBody>
      </p:sp>
    </p:spTree>
    <p:extLst>
      <p:ext uri="{BB962C8B-B14F-4D97-AF65-F5344CB8AC3E}">
        <p14:creationId xmlns:p14="http://schemas.microsoft.com/office/powerpoint/2010/main" val="120908059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3199DD71-BDBE-4134-A72B-039B4FE4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9D60C982-E63E-4F10-8A64-8330C38C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04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76A8043-6215-4654-AFFB-CA009243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3f97dddad04a09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D454F1C-46F1-4D11-A7F7-A7DAA3A5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16 / 17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3222026F-60F2-4F58-AD7D-15C4A2D0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1AD2766E-F3DE-4E2D-B71F-4CD6EE75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a) Any two valid characteristics, for example capacity and speed (also portability, durability, reliability or cost).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2BA326D8-51B9-406B-A101-3ADCDAE2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b) An SSD has no moving parts, so it tolerates carrying and knocks better than an HDD. It also offers faster access for booting and opening files; it can use less power.</a:t>
            </a:r>
          </a:p>
        </p:txBody>
      </p:sp>
    </p:spTree>
    <p:extLst>
      <p:ext uri="{BB962C8B-B14F-4D97-AF65-F5344CB8AC3E}">
        <p14:creationId xmlns:p14="http://schemas.microsoft.com/office/powerpoint/2010/main" val="164397189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872B1298-D980-43D7-8FBA-EFDD85B9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DF591BC-25A8-42EE-81FC-48F5C895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04   /   SELF-CHECK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5FEC892-B5E7-443F-9D2A-DBB221BE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confident am I?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428006d2ba41d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28F5FAE-AD1B-407F-9BC1-62C4760B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17 / 17</a:t>
            </a:r>
          </a:p>
        </p:txBody>
      </p:sp>
      <p:sp>
        <p:nvSpPr>
          <p:cNvPr id="6" name="confidence-intro">
            <a:extLst xmlns:a="http://schemas.openxmlformats.org/drawingml/2006/main">
              <a:ext uri="{FF2B5EF4-FFF2-40B4-BE49-F238E27FC236}">
                <a16:creationId xmlns:a16="http://schemas.microsoft.com/office/drawing/2014/main" id="{F3FD6BBA-9A8C-4D5D-B395-4952AD77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Select Not yet, Getting there or Confident for each objective on the worksheet.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BBF7B697-7335-450C-A829-824A675C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FAE21905-6FA4-4667-9D5B-B9B5E431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six characteristics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FB4E75CC-350C-41A9-AE9E-180E0212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DC20A175-E85B-4AAF-A3FB-4BBCA71A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433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Comparing the three types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D33E5B48-F9D4-40A9-8140-70A8FD1D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6DBCA127-E32E-4706-B63B-1C6779F7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720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Justifying a choice of device</a:t>
            </a:r>
          </a:p>
        </p:txBody>
      </p:sp>
    </p:spTree>
    <p:extLst>
      <p:ext uri="{BB962C8B-B14F-4D97-AF65-F5344CB8AC3E}">
        <p14:creationId xmlns:p14="http://schemas.microsoft.com/office/powerpoint/2010/main" val="5013735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2026-09-25T13:17:57.3200000Z</dcterms:created>
  <dcterms:modified xsi:type="dcterms:W3CDTF">2026-09-25T13:17:57.3200000Z</dcterms:modified>
</coreProperties>
</file>