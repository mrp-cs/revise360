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Type foundry.
Open the experience at revise360.co.uk and hand out PF_L02_TypeFoundry_Worksheet.docx.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Data types.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Casting.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Arithmetic operators.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MOD and DIV.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Comparison and Boolean operators.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String manipulation.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3.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MOD and DIV, and work through its example again, aloud, with the class watching, then re-ask this question.
The course's own response to a wrong answer here: 4 goes into 23 five times with 3 left over, and MOD gives that remainder.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(pf-l02-s4-c1),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2.2 Programming fundamentals  |  Lesson 2</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Type foundry</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 value poured out of this foundry has a data type stamped on it, and that stamp decides what the program may do with it. Learn the five types, how to recast one into another, and the operators that combine them.</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Why does a program need to know what type of data it is working with?</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the data types integer, real, Boolean, character and string</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why casting is needed and how a value is cast from one type to another</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the arithmetic, comparison and Boolean operators are used</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773936"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Data type</a:t>
            </a:r>
            <a:endParaRPr lang="en-US" sz="1200" dirty="0"/>
          </a:p>
        </p:txBody>
      </p:sp>
      <p:sp>
        <p:nvSpPr>
          <p:cNvPr id="19" name="Shape 17"/>
          <p:cNvSpPr/>
          <p:nvPr/>
        </p:nvSpPr>
        <p:spPr>
          <a:xfrm>
            <a:off x="2450592" y="5468112"/>
            <a:ext cx="1481328"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450592"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Integer</a:t>
            </a:r>
            <a:endParaRPr lang="en-US" sz="1200" dirty="0"/>
          </a:p>
        </p:txBody>
      </p:sp>
      <p:sp>
        <p:nvSpPr>
          <p:cNvPr id="21" name="Shape 19"/>
          <p:cNvSpPr/>
          <p:nvPr/>
        </p:nvSpPr>
        <p:spPr>
          <a:xfrm>
            <a:off x="4059936" y="5468112"/>
            <a:ext cx="1042416"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4059936"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Real</a:t>
            </a:r>
            <a:endParaRPr lang="en-US" sz="1200" dirty="0"/>
          </a:p>
        </p:txBody>
      </p:sp>
      <p:sp>
        <p:nvSpPr>
          <p:cNvPr id="23" name="Shape 21"/>
          <p:cNvSpPr/>
          <p:nvPr/>
        </p:nvSpPr>
        <p:spPr>
          <a:xfrm>
            <a:off x="5230368" y="5468112"/>
            <a:ext cx="1481328"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5230368"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Boolean</a:t>
            </a:r>
            <a:endParaRPr lang="en-US" sz="1200" dirty="0"/>
          </a:p>
        </p:txBody>
      </p:sp>
      <p:sp>
        <p:nvSpPr>
          <p:cNvPr id="25" name="Shape 23"/>
          <p:cNvSpPr/>
          <p:nvPr/>
        </p:nvSpPr>
        <p:spPr>
          <a:xfrm>
            <a:off x="6839712" y="5468112"/>
            <a:ext cx="1481328"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6839712"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Casting</a:t>
            </a:r>
            <a:endParaRPr lang="en-US" sz="1200" dirty="0"/>
          </a:p>
        </p:txBody>
      </p:sp>
      <p:sp>
        <p:nvSpPr>
          <p:cNvPr id="27" name="Shape 25"/>
          <p:cNvSpPr/>
          <p:nvPr/>
        </p:nvSpPr>
        <p:spPr>
          <a:xfrm>
            <a:off x="8449056" y="5468112"/>
            <a:ext cx="1005840"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8449056"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MOD</a:t>
            </a:r>
            <a:endParaRPr lang="en-US" sz="1200" dirty="0"/>
          </a:p>
        </p:txBody>
      </p:sp>
      <p:sp>
        <p:nvSpPr>
          <p:cNvPr id="29" name="Shape 27"/>
          <p:cNvSpPr/>
          <p:nvPr/>
        </p:nvSpPr>
        <p:spPr>
          <a:xfrm>
            <a:off x="9582912" y="5468112"/>
            <a:ext cx="1005840" cy="402336"/>
          </a:xfrm>
          <a:prstGeom prst="roundRect">
            <a:avLst>
              <a:gd name="adj" fmla="val 50000"/>
            </a:avLst>
          </a:prstGeom>
          <a:solidFill>
            <a:srgbClr val="FFFFFF"/>
          </a:solidFill>
          <a:ln w="12700">
            <a:solidFill>
              <a:srgbClr val="2D63FF"/>
            </a:solidFill>
            <a:prstDash val="solid"/>
          </a:ln>
        </p:spPr>
      </p:sp>
      <p:sp>
        <p:nvSpPr>
          <p:cNvPr id="30" name="Text 28"/>
          <p:cNvSpPr txBox="1"/>
          <p:nvPr/>
        </p:nvSpPr>
        <p:spPr>
          <a:xfrm>
            <a:off x="9582912"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DIV</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school report stores a pupil's name, their average mark to one decimal place, their form group, and whether they have full attendance. Write down the most suitable data type for each one.</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Type foundry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Data types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integer is a whole number, positive or negative, with no decimal part. A real holds a number with a decimal part.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Boolean holds only True or False.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character is one single symbol; a string is a sequence of characters, and may be empty.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Choose a data type for a pupil's name, their age, their average mark and whether they are present.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real number is different from an integer because...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Casting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Casting converts a value from one data type to another.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int() casts to an integer, float() to a real, str() to a string and bool() to a Boolean.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Casting is needed because input() always returns a string, and strings cannot be used in arithmetic.</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a program that adds up marks must cast each input before it adds it to the total.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Casting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Arithmetic operators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arithmetic operators are + to add, - to subtract, * to multiply and / to divide.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the exponent operator is ^, so 3 ^ 2 means 3 to the power 2, which is 9.</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usual order of operations applies: brackets, then exponents, then multiply and divide, then add and subtract.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Work out 3 + 4 * 2 and explain the order you used to get your answer.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exponent operator...</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MOD and DIV</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DIV gives the whole number part of a division and throws the remainder away, so 17 DIV 5 is 3.</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MOD gives the remainder left after a whole number division, so 17 MOD 5 is 2.</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MOD 2 is a quick test for an even number, because an even number always leaves a remainder of 0.</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Use MOD and DIV to turn 95 seconds into a number of whole minutes and a number of seconds left over.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MOD gives... DIV gives...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Comparison and Boolean operators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comparison operators are ==, !=, &lt;, &gt;, &lt;= and &gt;=, and each one gives True or False.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AND is True only when both conditions are True. OR is True when at least one condition is True.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NOT reverses a condition, so NOT True gives False.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condition that is True only when a mark is between 40 and 69, including both ends.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AND is True only when...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String manipulation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length of a string is the number of characters in it, counting spaces.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substring is a part of a string, taken from a given position. Concatenation joins strings together using +.</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name.length, name.substring(0, 3), name.upper and name.lower do this work, and ASC() and CHR() convert between a character and its ASCII code.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how you would build a username from the first three letters of a surname and a pupil's year group.</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Concatenation means...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What is the value of  23 MOD 4 ?</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19</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3</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5</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4</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Work it out</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Six expressions written in the OCR Exam Reference Language. Tap the star, work each one out on paper, then match it to its value.</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Why types matter</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Choosing the right data type saves memory and prevents errors. A Boolean needs only one bit of information, while storing the same yes or no as a string needs a byte for every character.</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Casting can lose data</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Casting a real number to an integer throws the decimal part away rather than rounding it, so 4.9 becomes 4. If you need rounding, use a rounding function instead of a cast.</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Integer division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Dividing with / can give an answer with a decimal part even when both numbers are whole. That is exactly why DIV exists: it keeps the answer a whole number.</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MOD in the real world</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MOD is how programs wrap around. hours MOD 24 keeps a clock in range, and index MOD listLength cycles through a list for ever without ever running off the end.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Identify the most suitable data type for each of these values: 17, 3.5, True, "Year 10".</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Explain why casting is needed when a program inputs a number and adds it to a running total.</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stores a length of time in seconds. Describe how MOD and DIV could be used to output that time in whole minutes and remaining seconds.</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The five data types and when to use each one</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casting is and why input() makes it necessary</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MOD, DIV and the Boolean operators AND, OR and NOT</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Type foundry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Programming fundamentals  |  Lesson 2 — Type foundry</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