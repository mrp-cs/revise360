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11: Sorting depot.
Open the experience at revise360.co.uk and hand out PR_L11_SortingDepot_Worksheet.docx.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objectives, then go straight into the starter. Devices stay away for the first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 start. Take two or three answers before moving on: this is where misconceptions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writing before tapping. That single rule is the difference between revision and a quiz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1: Linear search.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2: Binary search.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3: Bubble sort.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4: Insertion sort.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5: Merge sort.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6: Putting it together.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commit to an answer on paper before they tap the star. Guessing first costs them the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as a settler, or as something for early finishers to read in the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Timed and silent. Mark against the answer sheet, then ask students to record their weakest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their score-screen breakdown onto the worksheet, then rate themselves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822960" y="1417320"/>
            <a:ext cx="10515600" cy="411480"/>
          </a:xfrm>
          <a:prstGeom prst="rect">
            <a:avLst/>
          </a:prstGeom>
          <a:noFill/>
          <a:ln/>
        </p:spPr>
        <p:txBody>
          <a:bodyPr wrap="square" lIns="0" tIns="0" rIns="0" bIns="0" rtlCol="0" anchor="ctr"/>
          <a:lstStyle/>
          <a:p>
            <a:pPr indent="0" marL="0">
              <a:buNone/>
            </a:pPr>
            <a:r>
              <a:rPr lang="en-US" sz="1500" dirty="0">
                <a:solidFill>
                  <a:srgbClr val="F4B942"/>
                </a:solidFill>
                <a:latin typeface="IBM Plex Mono" pitchFamily="34" charset="0"/>
                <a:ea typeface="IBM Plex Mono" pitchFamily="34" charset="-122"/>
                <a:cs typeface="IBM Plex Mono" pitchFamily="34" charset="-120"/>
              </a:rPr>
              <a:t>Python programming  |  Lesson 11</a:t>
            </a:r>
            <a:endParaRPr lang="en-US" sz="1500" dirty="0"/>
          </a:p>
        </p:txBody>
      </p:sp>
      <p:sp>
        <p:nvSpPr>
          <p:cNvPr id="4" name="Text 2"/>
          <p:cNvSpPr txBox="1"/>
          <p:nvPr/>
        </p:nvSpPr>
        <p:spPr>
          <a:xfrm>
            <a:off x="822960" y="1920240"/>
            <a:ext cx="10515600" cy="1280160"/>
          </a:xfrm>
          <a:prstGeom prst="rect">
            <a:avLst/>
          </a:prstGeom>
          <a:noFill/>
          <a:ln/>
        </p:spPr>
        <p:txBody>
          <a:bodyPr wrap="square" lIns="0" tIns="0" rIns="0" bIns="0" rtlCol="0" anchor="ctr"/>
          <a:lstStyle/>
          <a:p>
            <a:pPr indent="0" marL="0">
              <a:buNone/>
            </a:pPr>
            <a:r>
              <a:rPr lang="en-US" sz="6000" b="1" dirty="0">
                <a:solidFill>
                  <a:srgbClr val="FFFFFF"/>
                </a:solidFill>
                <a:latin typeface="IBM Plex Sans" pitchFamily="34" charset="0"/>
                <a:ea typeface="IBM Plex Sans" pitchFamily="34" charset="-122"/>
                <a:cs typeface="IBM Plex Sans" pitchFamily="34" charset="-120"/>
              </a:rPr>
              <a:t>Sorting depot</a:t>
            </a:r>
            <a:endParaRPr lang="en-US" sz="6000" dirty="0"/>
          </a:p>
        </p:txBody>
      </p:sp>
      <p:sp>
        <p:nvSpPr>
          <p:cNvPr id="5" name="Text 3"/>
          <p:cNvSpPr txBox="1"/>
          <p:nvPr/>
        </p:nvSpPr>
        <p:spPr>
          <a:xfrm>
            <a:off x="822960" y="3291840"/>
            <a:ext cx="9509760" cy="1371600"/>
          </a:xfrm>
          <a:prstGeom prst="rect">
            <a:avLst/>
          </a:prstGeom>
          <a:noFill/>
          <a:ln/>
        </p:spPr>
        <p:txBody>
          <a:bodyPr wrap="square" lIns="0" tIns="0" rIns="0" bIns="0" rtlCol="0" anchor="ctr"/>
          <a:lstStyle/>
          <a:p>
            <a:pPr indent="0" marL="0">
              <a:lnSpc>
                <a:spcPct val="125000"/>
              </a:lnSpc>
              <a:buNone/>
            </a:pPr>
            <a:r>
              <a:rPr lang="en-US" sz="1800" dirty="0">
                <a:solidFill>
                  <a:srgbClr val="C7CDD9"/>
                </a:solidFill>
                <a:latin typeface="IBM Plex Sans" pitchFamily="34" charset="0"/>
                <a:ea typeface="IBM Plex Sans" pitchFamily="34" charset="-122"/>
                <a:cs typeface="IBM Plex Sans" pitchFamily="34" charset="-120"/>
              </a:rPr>
              <a:t>You met these algorithms in topic 2.1 and traced them on paper. Now you will write them. At the sorting depot every search and every sort is yours to code, not just to describe.</a:t>
            </a:r>
            <a:endParaRPr lang="en-US" sz="1800" dirty="0"/>
          </a:p>
        </p:txBody>
      </p:sp>
      <p:sp>
        <p:nvSpPr>
          <p:cNvPr id="6" name="Shape 4"/>
          <p:cNvSpPr/>
          <p:nvPr/>
        </p:nvSpPr>
        <p:spPr>
          <a:xfrm>
            <a:off x="822960" y="4846320"/>
            <a:ext cx="2926080" cy="0"/>
          </a:xfrm>
          <a:prstGeom prst="line">
            <a:avLst/>
          </a:prstGeom>
          <a:noFill/>
          <a:ln w="31750">
            <a:solidFill>
              <a:srgbClr val="2D63FF"/>
            </a:solidFill>
            <a:prstDash val="solid"/>
          </a:ln>
        </p:spPr>
      </p:sp>
      <p:sp>
        <p:nvSpPr>
          <p:cNvPr id="7" name="Text 5"/>
          <p:cNvSpPr txBox="1"/>
          <p:nvPr/>
        </p:nvSpPr>
        <p:spPr>
          <a:xfrm>
            <a:off x="822960" y="5029200"/>
            <a:ext cx="10515600" cy="365760"/>
          </a:xfrm>
          <a:prstGeom prst="rect">
            <a:avLst/>
          </a:prstGeom>
          <a:noFill/>
          <a:ln/>
        </p:spPr>
        <p:txBody>
          <a:bodyPr wrap="square" lIns="0" tIns="0" rIns="0" bIns="0" rtlCol="0" anchor="ctr"/>
          <a:lstStyle/>
          <a:p>
            <a:pPr indent="0" marL="0">
              <a:buNone/>
            </a:pPr>
            <a:r>
              <a:rPr lang="en-US" sz="1300" dirty="0">
                <a:solidFill>
                  <a:srgbClr val="667085"/>
                </a:solidFill>
                <a:latin typeface="IBM Plex Mono" pitchFamily="34" charset="0"/>
                <a:ea typeface="IBM Plex Mono" pitchFamily="34" charset="-122"/>
                <a:cs typeface="IBM Plex Mono" pitchFamily="34" charset="-120"/>
              </a:rPr>
              <a:t>Revise 360 Python course  |  Beyond the OCR J277 specification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By the end of this lesson</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Why is a binary search so much faster than a linear search on a long list, and what does using one cost you?</a:t>
            </a:r>
            <a:endParaRPr lang="en-US" sz="1500" dirty="0"/>
          </a:p>
        </p:txBody>
      </p:sp>
      <p:sp>
        <p:nvSpPr>
          <p:cNvPr id="7" name="Shape 5"/>
          <p:cNvSpPr/>
          <p:nvPr/>
        </p:nvSpPr>
        <p:spPr>
          <a:xfrm>
            <a:off x="548640" y="1965960"/>
            <a:ext cx="566928" cy="566928"/>
          </a:xfrm>
          <a:prstGeom prst="ellipse">
            <a:avLst/>
          </a:prstGeom>
          <a:solidFill>
            <a:srgbClr val="2D63FF"/>
          </a:solidFill>
          <a:ln/>
        </p:spPr>
      </p:sp>
      <p:sp>
        <p:nvSpPr>
          <p:cNvPr id="8" name="Text 6"/>
          <p:cNvSpPr txBox="1"/>
          <p:nvPr/>
        </p:nvSpPr>
        <p:spPr>
          <a:xfrm>
            <a:off x="548640" y="1965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965960"/>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how to code a linear search and a binary search</a:t>
            </a:r>
            <a:endParaRPr lang="en-US" sz="1900" dirty="0"/>
          </a:p>
        </p:txBody>
      </p:sp>
      <p:sp>
        <p:nvSpPr>
          <p:cNvPr id="10" name="Shape 8"/>
          <p:cNvSpPr/>
          <p:nvPr/>
        </p:nvSpPr>
        <p:spPr>
          <a:xfrm>
            <a:off x="548640" y="2898648"/>
            <a:ext cx="566928" cy="566928"/>
          </a:xfrm>
          <a:prstGeom prst="ellipse">
            <a:avLst/>
          </a:prstGeom>
          <a:solidFill>
            <a:srgbClr val="2D63FF"/>
          </a:solidFill>
          <a:ln/>
        </p:spPr>
      </p:sp>
      <p:sp>
        <p:nvSpPr>
          <p:cNvPr id="11" name="Text 9"/>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2" name="Text 10"/>
          <p:cNvSpPr txBox="1"/>
          <p:nvPr/>
        </p:nvSpPr>
        <p:spPr>
          <a:xfrm>
            <a:off x="1325880" y="2898648"/>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Understand how a bubble sort, an insertion sort and a merge sort each put a list in order</a:t>
            </a:r>
            <a:endParaRPr lang="en-US" sz="1900" dirty="0"/>
          </a:p>
        </p:txBody>
      </p:sp>
      <p:sp>
        <p:nvSpPr>
          <p:cNvPr id="13" name="Shape 11"/>
          <p:cNvSpPr/>
          <p:nvPr/>
        </p:nvSpPr>
        <p:spPr>
          <a:xfrm>
            <a:off x="548640" y="3831336"/>
            <a:ext cx="566928" cy="566928"/>
          </a:xfrm>
          <a:prstGeom prst="ellipse">
            <a:avLst/>
          </a:prstGeom>
          <a:solidFill>
            <a:srgbClr val="2D63FF"/>
          </a:solidFill>
          <a:ln/>
        </p:spPr>
      </p:sp>
      <p:sp>
        <p:nvSpPr>
          <p:cNvPr id="14" name="Text 12"/>
          <p:cNvSpPr txBox="1"/>
          <p:nvPr/>
        </p:nvSpPr>
        <p:spPr>
          <a:xfrm>
            <a:off x="548640" y="38313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5" name="Text 13"/>
          <p:cNvSpPr txBox="1"/>
          <p:nvPr/>
        </p:nvSpPr>
        <p:spPr>
          <a:xfrm>
            <a:off x="1325880" y="3831336"/>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why a binary search needs its list to be in order before it starts</a:t>
            </a:r>
            <a:endParaRPr lang="en-US" sz="1900" dirty="0"/>
          </a:p>
        </p:txBody>
      </p:sp>
      <p:sp>
        <p:nvSpPr>
          <p:cNvPr id="16" name="Text 14"/>
          <p:cNvSpPr txBox="1"/>
          <p:nvPr/>
        </p:nvSpPr>
        <p:spPr>
          <a:xfrm>
            <a:off x="548640" y="5084064"/>
            <a:ext cx="2743200" cy="320040"/>
          </a:xfrm>
          <a:prstGeom prst="rect">
            <a:avLst/>
          </a:prstGeom>
          <a:noFill/>
          <a:ln/>
        </p:spPr>
        <p:txBody>
          <a:bodyPr wrap="square" lIns="0" tIns="0" rIns="0" bIns="0" rtlCol="0" anchor="ctr"/>
          <a:lstStyle/>
          <a:p>
            <a:pPr indent="0" marL="0">
              <a:buNone/>
            </a:pPr>
            <a:r>
              <a:rPr lang="en-US" sz="1200" dirty="0">
                <a:solidFill>
                  <a:srgbClr val="667085"/>
                </a:solidFill>
                <a:latin typeface="IBM Plex Mono" pitchFamily="34" charset="0"/>
                <a:ea typeface="IBM Plex Mono" pitchFamily="34" charset="-122"/>
                <a:cs typeface="IBM Plex Mono" pitchFamily="34" charset="-120"/>
              </a:rPr>
              <a:t>Key words</a:t>
            </a:r>
            <a:endParaRPr lang="en-US" sz="1200" dirty="0"/>
          </a:p>
        </p:txBody>
      </p:sp>
      <p:sp>
        <p:nvSpPr>
          <p:cNvPr id="17" name="Shape 15"/>
          <p:cNvSpPr/>
          <p:nvPr/>
        </p:nvSpPr>
        <p:spPr>
          <a:xfrm>
            <a:off x="548640" y="5468112"/>
            <a:ext cx="2359152" cy="402336"/>
          </a:xfrm>
          <a:prstGeom prst="roundRect">
            <a:avLst>
              <a:gd name="adj" fmla="val 50000"/>
            </a:avLst>
          </a:prstGeom>
          <a:solidFill>
            <a:srgbClr val="FFFFFF"/>
          </a:solidFill>
          <a:ln w="12700">
            <a:solidFill>
              <a:srgbClr val="2D63FF"/>
            </a:solidFill>
            <a:prstDash val="solid"/>
          </a:ln>
        </p:spPr>
      </p:sp>
      <p:sp>
        <p:nvSpPr>
          <p:cNvPr id="18" name="Text 16"/>
          <p:cNvSpPr txBox="1"/>
          <p:nvPr/>
        </p:nvSpPr>
        <p:spPr>
          <a:xfrm>
            <a:off x="548640" y="5468112"/>
            <a:ext cx="2359152"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Linear search</a:t>
            </a:r>
            <a:endParaRPr lang="en-US" sz="1200" dirty="0"/>
          </a:p>
        </p:txBody>
      </p:sp>
      <p:sp>
        <p:nvSpPr>
          <p:cNvPr id="19" name="Shape 17"/>
          <p:cNvSpPr/>
          <p:nvPr/>
        </p:nvSpPr>
        <p:spPr>
          <a:xfrm>
            <a:off x="3035808" y="5468112"/>
            <a:ext cx="2359152" cy="402336"/>
          </a:xfrm>
          <a:prstGeom prst="roundRect">
            <a:avLst>
              <a:gd name="adj" fmla="val 50000"/>
            </a:avLst>
          </a:prstGeom>
          <a:solidFill>
            <a:srgbClr val="FFFFFF"/>
          </a:solidFill>
          <a:ln w="12700">
            <a:solidFill>
              <a:srgbClr val="2D63FF"/>
            </a:solidFill>
            <a:prstDash val="solid"/>
          </a:ln>
        </p:spPr>
      </p:sp>
      <p:sp>
        <p:nvSpPr>
          <p:cNvPr id="20" name="Text 18"/>
          <p:cNvSpPr txBox="1"/>
          <p:nvPr/>
        </p:nvSpPr>
        <p:spPr>
          <a:xfrm>
            <a:off x="3035808" y="5468112"/>
            <a:ext cx="2359152"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Binary search</a:t>
            </a:r>
            <a:endParaRPr lang="en-US" sz="1200" dirty="0"/>
          </a:p>
        </p:txBody>
      </p:sp>
      <p:sp>
        <p:nvSpPr>
          <p:cNvPr id="21" name="Shape 19"/>
          <p:cNvSpPr/>
          <p:nvPr/>
        </p:nvSpPr>
        <p:spPr>
          <a:xfrm>
            <a:off x="5522976" y="5468112"/>
            <a:ext cx="2066544" cy="402336"/>
          </a:xfrm>
          <a:prstGeom prst="roundRect">
            <a:avLst>
              <a:gd name="adj" fmla="val 50000"/>
            </a:avLst>
          </a:prstGeom>
          <a:solidFill>
            <a:srgbClr val="FFFFFF"/>
          </a:solidFill>
          <a:ln w="12700">
            <a:solidFill>
              <a:srgbClr val="2D63FF"/>
            </a:solidFill>
            <a:prstDash val="solid"/>
          </a:ln>
        </p:spPr>
      </p:sp>
      <p:sp>
        <p:nvSpPr>
          <p:cNvPr id="22" name="Text 20"/>
          <p:cNvSpPr txBox="1"/>
          <p:nvPr/>
        </p:nvSpPr>
        <p:spPr>
          <a:xfrm>
            <a:off x="5522976" y="5468112"/>
            <a:ext cx="2066544"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Bubble sort</a:t>
            </a:r>
            <a:endParaRPr lang="en-US" sz="1200" dirty="0"/>
          </a:p>
        </p:txBody>
      </p:sp>
      <p:sp>
        <p:nvSpPr>
          <p:cNvPr id="23" name="Shape 21"/>
          <p:cNvSpPr/>
          <p:nvPr/>
        </p:nvSpPr>
        <p:spPr>
          <a:xfrm>
            <a:off x="7717536" y="5468112"/>
            <a:ext cx="2505456" cy="402336"/>
          </a:xfrm>
          <a:prstGeom prst="roundRect">
            <a:avLst>
              <a:gd name="adj" fmla="val 50000"/>
            </a:avLst>
          </a:prstGeom>
          <a:solidFill>
            <a:srgbClr val="FFFFFF"/>
          </a:solidFill>
          <a:ln w="12700">
            <a:solidFill>
              <a:srgbClr val="2D63FF"/>
            </a:solidFill>
            <a:prstDash val="solid"/>
          </a:ln>
        </p:spPr>
      </p:sp>
      <p:sp>
        <p:nvSpPr>
          <p:cNvPr id="24" name="Text 22"/>
          <p:cNvSpPr txBox="1"/>
          <p:nvPr/>
        </p:nvSpPr>
        <p:spPr>
          <a:xfrm>
            <a:off x="7717536" y="5468112"/>
            <a:ext cx="2505456"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Insertion sort</a:t>
            </a:r>
            <a:endParaRPr lang="en-US" sz="1200" dirty="0"/>
          </a:p>
        </p:txBody>
      </p:sp>
      <p:sp>
        <p:nvSpPr>
          <p:cNvPr id="25" name="Shape 23"/>
          <p:cNvSpPr/>
          <p:nvPr/>
        </p:nvSpPr>
        <p:spPr>
          <a:xfrm>
            <a:off x="10351008" y="5468112"/>
            <a:ext cx="1042416" cy="402336"/>
          </a:xfrm>
          <a:prstGeom prst="roundRect">
            <a:avLst>
              <a:gd name="adj" fmla="val 50000"/>
            </a:avLst>
          </a:prstGeom>
          <a:solidFill>
            <a:srgbClr val="FFFFFF"/>
          </a:solidFill>
          <a:ln w="12700">
            <a:solidFill>
              <a:srgbClr val="2D63FF"/>
            </a:solidFill>
            <a:prstDash val="solid"/>
          </a:ln>
        </p:spPr>
      </p:sp>
      <p:sp>
        <p:nvSpPr>
          <p:cNvPr id="26" name="Text 24"/>
          <p:cNvSpPr txBox="1"/>
          <p:nvPr/>
        </p:nvSpPr>
        <p:spPr>
          <a:xfrm>
            <a:off x="10351008" y="5468112"/>
            <a:ext cx="1042416"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Pass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2103120" cy="457200"/>
          </a:xfrm>
          <a:prstGeom prst="roundRect">
            <a:avLst>
              <a:gd name="adj" fmla="val 20000"/>
            </a:avLst>
          </a:prstGeom>
          <a:solidFill>
            <a:srgbClr val="F4B942"/>
          </a:solidFill>
          <a:ln/>
        </p:spPr>
      </p:sp>
      <p:sp>
        <p:nvSpPr>
          <p:cNvPr id="6" name="Text 4"/>
          <p:cNvSpPr txBox="1"/>
          <p:nvPr/>
        </p:nvSpPr>
        <p:spPr>
          <a:xfrm>
            <a:off x="502920" y="457200"/>
            <a:ext cx="2103120" cy="45720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STARTER</a:t>
            </a:r>
            <a:endParaRPr lang="en-US" sz="1300" dirty="0"/>
          </a:p>
        </p:txBody>
      </p:sp>
      <p:sp>
        <p:nvSpPr>
          <p:cNvPr id="7" name="Text 5"/>
          <p:cNvSpPr txBox="1"/>
          <p:nvPr/>
        </p:nvSpPr>
        <p:spPr>
          <a:xfrm>
            <a:off x="2788920" y="457200"/>
            <a:ext cx="5486400" cy="457200"/>
          </a:xfrm>
          <a:prstGeom prst="rect">
            <a:avLst/>
          </a:prstGeom>
          <a:noFill/>
          <a:ln/>
        </p:spPr>
        <p:txBody>
          <a:bodyPr wrap="square" lIns="0" tIns="0" rIns="0" bIns="0" rtlCol="0" anchor="ctr"/>
          <a:lstStyle/>
          <a:p>
            <a:pPr indent="0" marL="0">
              <a:buNone/>
            </a:pPr>
            <a:r>
              <a:rPr lang="en-US" sz="1400" dirty="0">
                <a:solidFill>
                  <a:srgbClr val="667085"/>
                </a:solidFill>
                <a:latin typeface="IBM Plex Sans" pitchFamily="34" charset="0"/>
                <a:ea typeface="IBM Plex Sans" pitchFamily="34" charset="-122"/>
                <a:cs typeface="IBM Plex Sans" pitchFamily="34" charset="-120"/>
              </a:rPr>
              <a:t>Five minutes, on paper</a:t>
            </a:r>
            <a:endParaRPr lang="en-US" sz="1400" dirty="0"/>
          </a:p>
        </p:txBody>
      </p:sp>
      <p:sp>
        <p:nvSpPr>
          <p:cNvPr id="8" name="Shape 6"/>
          <p:cNvSpPr/>
          <p:nvPr/>
        </p:nvSpPr>
        <p:spPr>
          <a:xfrm>
            <a:off x="502920" y="1234440"/>
            <a:ext cx="11155680" cy="3200400"/>
          </a:xfrm>
          <a:prstGeom prst="roundRect">
            <a:avLst>
              <a:gd name="adj" fmla="val 3429"/>
            </a:avLst>
          </a:prstGeom>
          <a:solidFill>
            <a:srgbClr val="FFFFFF"/>
          </a:solidFill>
          <a:ln w="15875">
            <a:solidFill>
              <a:srgbClr val="2D63FF"/>
            </a:solidFill>
            <a:prstDash val="solid"/>
          </a:ln>
        </p:spPr>
      </p:sp>
      <p:sp>
        <p:nvSpPr>
          <p:cNvPr id="9" name="Text 7"/>
          <p:cNvSpPr txBox="1"/>
          <p:nvPr/>
        </p:nvSpPr>
        <p:spPr>
          <a:xfrm>
            <a:off x="1005840" y="1645920"/>
            <a:ext cx="10149840" cy="2377440"/>
          </a:xfrm>
          <a:prstGeom prst="rect">
            <a:avLst/>
          </a:prstGeom>
          <a:noFill/>
          <a:ln/>
        </p:spPr>
        <p:txBody>
          <a:bodyPr wrap="square" lIns="0" tIns="0" rIns="0" bIns="0" rtlCol="0" anchor="ctr"/>
          <a:lstStyle/>
          <a:p>
            <a:pPr indent="0" marL="0">
              <a:lnSpc>
                <a:spcPct val="130000"/>
              </a:lnSpc>
              <a:buNone/>
            </a:pPr>
            <a:r>
              <a:rPr lang="en-US" sz="2600" dirty="0">
                <a:solidFill>
                  <a:srgbClr val="101828"/>
                </a:solidFill>
                <a:latin typeface="IBM Plex Sans" pitchFamily="34" charset="0"/>
                <a:ea typeface="IBM Plex Sans" pitchFamily="34" charset="-122"/>
                <a:cs typeface="IBM Plex Sans" pitchFamily="34" charset="-120"/>
              </a:rPr>
              <a:t>The sorted list holds 3, 8, 12, 19, 24, 31, 40. Write down the item a binary search looks at first, second and third while hunting for 31, and how many comparisons that took.</a:t>
            </a:r>
            <a:endParaRPr lang="en-US" sz="2600" dirty="0"/>
          </a:p>
        </p:txBody>
      </p:sp>
      <p:sp>
        <p:nvSpPr>
          <p:cNvPr id="10" name="Text 8"/>
          <p:cNvSpPr txBox="1"/>
          <p:nvPr/>
        </p:nvSpPr>
        <p:spPr>
          <a:xfrm>
            <a:off x="502920" y="4709160"/>
            <a:ext cx="11155680" cy="45720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No devices yet. Write your answer on the worksheet before anyone talks.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Into the experience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Open Sorting depot on revise360.co.uk</a:t>
            </a:r>
            <a:endParaRPr lang="en-US" sz="1500" dirty="0"/>
          </a:p>
        </p:txBody>
      </p:sp>
      <p:sp>
        <p:nvSpPr>
          <p:cNvPr id="7" name="Shape 5"/>
          <p:cNvSpPr/>
          <p:nvPr/>
        </p:nvSpPr>
        <p:spPr>
          <a:xfrm>
            <a:off x="548640" y="1874520"/>
            <a:ext cx="566928" cy="566928"/>
          </a:xfrm>
          <a:prstGeom prst="ellipse">
            <a:avLst/>
          </a:prstGeom>
          <a:solidFill>
            <a:srgbClr val="08A6A6"/>
          </a:solidFill>
          <a:ln/>
        </p:spPr>
      </p:sp>
      <p:sp>
        <p:nvSpPr>
          <p:cNvPr id="8" name="Text 6"/>
          <p:cNvSpPr txBox="1"/>
          <p:nvPr/>
        </p:nvSpPr>
        <p:spPr>
          <a:xfrm>
            <a:off x="548640" y="1874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856232"/>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around</a:t>
            </a:r>
            <a:endParaRPr lang="en-US" sz="1700" dirty="0"/>
          </a:p>
        </p:txBody>
      </p:sp>
      <p:sp>
        <p:nvSpPr>
          <p:cNvPr id="10" name="Text 8"/>
          <p:cNvSpPr txBox="1"/>
          <p:nvPr/>
        </p:nvSpPr>
        <p:spPr>
          <a:xfrm>
            <a:off x="1325880" y="2148840"/>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Six numbered stations are arranged around you. Turn right for 1 and 2, around for 3 and 4, left for 5 and 6.</a:t>
            </a:r>
            <a:endParaRPr lang="en-US" sz="1400" dirty="0"/>
          </a:p>
        </p:txBody>
      </p:sp>
      <p:sp>
        <p:nvSpPr>
          <p:cNvPr id="11" name="Shape 9"/>
          <p:cNvSpPr/>
          <p:nvPr/>
        </p:nvSpPr>
        <p:spPr>
          <a:xfrm>
            <a:off x="548640" y="2898648"/>
            <a:ext cx="566928" cy="566928"/>
          </a:xfrm>
          <a:prstGeom prst="ellipse">
            <a:avLst/>
          </a:prstGeom>
          <a:solidFill>
            <a:srgbClr val="08A6A6"/>
          </a:solidFill>
          <a:ln/>
        </p:spPr>
      </p:sp>
      <p:sp>
        <p:nvSpPr>
          <p:cNvPr id="12" name="Text 10"/>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3" name="Text 11"/>
          <p:cNvSpPr txBox="1"/>
          <p:nvPr/>
        </p:nvSpPr>
        <p:spPr>
          <a:xfrm>
            <a:off x="1325880" y="2880360"/>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Plan before you type</a:t>
            </a:r>
            <a:endParaRPr lang="en-US" sz="1700" dirty="0"/>
          </a:p>
        </p:txBody>
      </p:sp>
      <p:sp>
        <p:nvSpPr>
          <p:cNvPr id="14" name="Text 12"/>
          <p:cNvSpPr txBox="1"/>
          <p:nvPr/>
        </p:nvSpPr>
        <p:spPr>
          <a:xfrm>
            <a:off x="1325880" y="3172968"/>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Read the task and its brief. Work out the inputs, what happens to them, and exactly what is printed.</a:t>
            </a:r>
            <a:endParaRPr lang="en-US" sz="1400" dirty="0"/>
          </a:p>
        </p:txBody>
      </p:sp>
      <p:sp>
        <p:nvSpPr>
          <p:cNvPr id="15" name="Shape 13"/>
          <p:cNvSpPr/>
          <p:nvPr/>
        </p:nvSpPr>
        <p:spPr>
          <a:xfrm>
            <a:off x="548640" y="3922776"/>
            <a:ext cx="566928" cy="566928"/>
          </a:xfrm>
          <a:prstGeom prst="ellipse">
            <a:avLst/>
          </a:prstGeom>
          <a:solidFill>
            <a:srgbClr val="08A6A6"/>
          </a:solidFill>
          <a:ln/>
        </p:spPr>
      </p:sp>
      <p:sp>
        <p:nvSpPr>
          <p:cNvPr id="16" name="Text 14"/>
          <p:cNvSpPr txBox="1"/>
          <p:nvPr/>
        </p:nvSpPr>
        <p:spPr>
          <a:xfrm>
            <a:off x="548640" y="392277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7" name="Text 15"/>
          <p:cNvSpPr txBox="1"/>
          <p:nvPr/>
        </p:nvSpPr>
        <p:spPr>
          <a:xfrm>
            <a:off x="1325880" y="3904488"/>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Write it and run it</a:t>
            </a:r>
            <a:endParaRPr lang="en-US" sz="1700" dirty="0"/>
          </a:p>
        </p:txBody>
      </p:sp>
      <p:sp>
        <p:nvSpPr>
          <p:cNvPr id="18" name="Text 16"/>
          <p:cNvSpPr txBox="1"/>
          <p:nvPr/>
        </p:nvSpPr>
        <p:spPr>
          <a:xfrm>
            <a:off x="1325880" y="4197096"/>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Type the program in the editor and press Run to see what it does. Then press Check to mark it against the tests.</a:t>
            </a:r>
            <a:endParaRPr lang="en-US" sz="1400" dirty="0"/>
          </a:p>
        </p:txBody>
      </p:sp>
      <p:sp>
        <p:nvSpPr>
          <p:cNvPr id="19" name="Shape 17"/>
          <p:cNvSpPr/>
          <p:nvPr/>
        </p:nvSpPr>
        <p:spPr>
          <a:xfrm>
            <a:off x="548640" y="4946904"/>
            <a:ext cx="566928" cy="566928"/>
          </a:xfrm>
          <a:prstGeom prst="ellipse">
            <a:avLst/>
          </a:prstGeom>
          <a:solidFill>
            <a:srgbClr val="F4B942"/>
          </a:solidFill>
          <a:ln/>
        </p:spPr>
      </p:sp>
      <p:sp>
        <p:nvSpPr>
          <p:cNvPr id="20" name="Text 18"/>
          <p:cNvSpPr txBox="1"/>
          <p:nvPr/>
        </p:nvSpPr>
        <p:spPr>
          <a:xfrm>
            <a:off x="548640" y="494690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21" name="Text 19"/>
          <p:cNvSpPr txBox="1"/>
          <p:nvPr/>
        </p:nvSpPr>
        <p:spPr>
          <a:xfrm>
            <a:off x="1325880" y="4928616"/>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Read the failures</a:t>
            </a:r>
            <a:endParaRPr lang="en-US" sz="1700" dirty="0"/>
          </a:p>
        </p:txBody>
      </p:sp>
      <p:sp>
        <p:nvSpPr>
          <p:cNvPr id="22" name="Text 20"/>
          <p:cNvSpPr txBox="1"/>
          <p:nvPr/>
        </p:nvSpPr>
        <p:spPr>
          <a:xfrm>
            <a:off x="1325880" y="5221224"/>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A test that fails tells you what was expected and what came out. Fix and run it again - that is what programmers do.</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1</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Linear search</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linear search checks each item in turn until it finds the one it wants.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It works on any list, in order or not, and reports the position or that nothing matched.</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printing 'not found' inside the loop, once for every item that did not match.</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Why must 'not found' be decided after the loop has finished?</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linear search over a million items may need a million comparisons, which is why sorted data is worth having.</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2</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Binary search</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binary search looks at the middle item, then throws away the half that cannot hold the answer.</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It only works on a list that is already in order.</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not moving low or high, which leaves the loop checking the same middle forever.</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How much of the list can a binary search rule out with its first comparison?</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Doubling the list adds only one more comparison, so a million items need about twenty.</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3</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Bubble sort</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bubble sort compares each neighbouring pair and swaps them if they are the wrong way round.</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Every pass pushes the largest remaining value to the end, so n items need up to n - 1 passes.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a swap that loses a value, because one side was overwritten before it was copied.</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How does a bubble sort know that it can stop early?</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whole pass with no swaps at all means the list is already in order, so the sort can stop there.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4</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Insertion sort</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An insertion sort takes the next item and slides it back into place among the sorted ones.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 front of the list is always in order, and it grows by one item each time round.</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overwriting an item instead of shifting it along to make room.</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Which part of the list is already sorted part way through an insertion sort?</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An insertion sort is how most people sort a hand of cards without ever being taught to.</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5</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5</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Merge sort</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merge sort splits the list in half over and over, then merges the pieces back in order.</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Merging compares the front of each sorted list and takes the smaller one each time.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stopping when one list runs out, instead of copying the rest of the other.</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Why is merging two sorted lists easier than sorting one unsorted one?</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merge sort usually beats a bubble sort, but it needs extra memory to hold the pieces.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6</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6</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Putting it together</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Count the comparisons to compare two algorithms fairly on exactly the same data.</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binary search needs sorted data, so sort the list first and search it afterwards.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binary searching an unsorted list, which quietly gives the wrong answer.</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Plan an experiment that shows a binary search beating a linear one.</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Sorting costs time too, so for one single search a linear search of unsorted data can still win.</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38912"/>
            <a:ext cx="3108960" cy="502920"/>
          </a:xfrm>
          <a:prstGeom prst="roundRect">
            <a:avLst>
              <a:gd name="adj" fmla="val 18182"/>
            </a:avLst>
          </a:prstGeom>
          <a:solidFill>
            <a:srgbClr val="F4B942"/>
          </a:solidFill>
          <a:ln/>
        </p:spPr>
      </p:sp>
      <p:sp>
        <p:nvSpPr>
          <p:cNvPr id="6" name="Text 4"/>
          <p:cNvSpPr txBox="1"/>
          <p:nvPr/>
        </p:nvSpPr>
        <p:spPr>
          <a:xfrm>
            <a:off x="502920" y="438912"/>
            <a:ext cx="3108960" cy="50292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  FINAL CHALLENGE</a:t>
            </a:r>
            <a:endParaRPr lang="en-US" sz="1300" dirty="0"/>
          </a:p>
        </p:txBody>
      </p:sp>
      <p:sp>
        <p:nvSpPr>
          <p:cNvPr id="7" name="Text 5"/>
          <p:cNvSpPr txBox="1"/>
          <p:nvPr/>
        </p:nvSpPr>
        <p:spPr>
          <a:xfrm>
            <a:off x="502920" y="1097280"/>
            <a:ext cx="11155680" cy="731520"/>
          </a:xfrm>
          <a:prstGeom prst="rect">
            <a:avLst/>
          </a:prstGeom>
          <a:noFill/>
          <a:ln/>
        </p:spPr>
        <p:txBody>
          <a:bodyPr wrap="square" lIns="0" tIns="0" rIns="0" bIns="0" rtlCol="0" anchor="ctr"/>
          <a:lstStyle/>
          <a:p>
            <a:pPr indent="0" marL="0">
              <a:buNone/>
            </a:pPr>
            <a:r>
              <a:rPr lang="en-US" sz="3400" b="1" dirty="0">
                <a:solidFill>
                  <a:srgbClr val="101828"/>
                </a:solidFill>
                <a:latin typeface="IBM Plex Sans" pitchFamily="34" charset="0"/>
                <a:ea typeface="IBM Plex Sans" pitchFamily="34" charset="-122"/>
                <a:cs typeface="IBM Plex Sans" pitchFamily="34" charset="-120"/>
              </a:rPr>
              <a:t>Which algorithm?</a:t>
            </a:r>
            <a:endParaRPr lang="en-US" sz="3400" dirty="0"/>
          </a:p>
        </p:txBody>
      </p:sp>
      <p:sp>
        <p:nvSpPr>
          <p:cNvPr id="8" name="Shape 6"/>
          <p:cNvSpPr/>
          <p:nvPr/>
        </p:nvSpPr>
        <p:spPr>
          <a:xfrm>
            <a:off x="502920" y="2011680"/>
            <a:ext cx="11155680" cy="2194560"/>
          </a:xfrm>
          <a:prstGeom prst="roundRect">
            <a:avLst>
              <a:gd name="adj" fmla="val 5000"/>
            </a:avLst>
          </a:prstGeom>
          <a:solidFill>
            <a:srgbClr val="FFFFFF"/>
          </a:solidFill>
          <a:ln w="15875">
            <a:solidFill>
              <a:srgbClr val="2D63FF"/>
            </a:solidFill>
            <a:prstDash val="solid"/>
          </a:ln>
        </p:spPr>
      </p:sp>
      <p:sp>
        <p:nvSpPr>
          <p:cNvPr id="9" name="Text 7"/>
          <p:cNvSpPr txBox="1"/>
          <p:nvPr/>
        </p:nvSpPr>
        <p:spPr>
          <a:xfrm>
            <a:off x="1005840" y="2331720"/>
            <a:ext cx="10149840" cy="1554480"/>
          </a:xfrm>
          <a:prstGeom prst="rect">
            <a:avLst/>
          </a:prstGeom>
          <a:noFill/>
          <a:ln/>
        </p:spPr>
        <p:txBody>
          <a:bodyPr wrap="square" lIns="0" tIns="0" rIns="0" bIns="0" rtlCol="0" anchor="ctr"/>
          <a:lstStyle/>
          <a:p>
            <a:pPr indent="0" marL="0">
              <a:lnSpc>
                <a:spcPct val="130000"/>
              </a:lnSpc>
              <a:buNone/>
            </a:pPr>
            <a:r>
              <a:rPr lang="en-US" sz="2200" dirty="0">
                <a:solidFill>
                  <a:srgbClr val="101828"/>
                </a:solidFill>
                <a:latin typeface="IBM Plex Sans" pitchFamily="34" charset="0"/>
                <a:ea typeface="IBM Plex Sans" pitchFamily="34" charset="-122"/>
                <a:cs typeface="IBM Plex Sans" pitchFamily="34" charset="-120"/>
              </a:rPr>
              <a:t>Eight descriptions have arrived at the depot. Tap the star and sort each one into the algorithm it describes.</a:t>
            </a:r>
            <a:endParaRPr lang="en-US" sz="2200" dirty="0"/>
          </a:p>
        </p:txBody>
      </p:sp>
      <p:sp>
        <p:nvSpPr>
          <p:cNvPr id="10" name="Text 8"/>
          <p:cNvSpPr txBox="1"/>
          <p:nvPr/>
        </p:nvSpPr>
        <p:spPr>
          <a:xfrm>
            <a:off x="502920" y="4526280"/>
            <a:ext cx="11155680" cy="457200"/>
          </a:xfrm>
          <a:prstGeom prst="rect">
            <a:avLst/>
          </a:prstGeom>
          <a:noFill/>
          <a:ln/>
        </p:spPr>
        <p:txBody>
          <a:bodyPr wrap="square" lIns="0" tIns="0" rIns="0" bIns="0" rtlCol="0" anchor="ctr"/>
          <a:lstStyle/>
          <a:p>
            <a:pPr indent="0" marL="0">
              <a:buNone/>
            </a:pPr>
            <a:r>
              <a:rPr lang="en-US" sz="1600" dirty="0">
                <a:solidFill>
                  <a:srgbClr val="667085"/>
                </a:solidFill>
                <a:latin typeface="IBM Plex Sans" pitchFamily="34" charset="0"/>
                <a:ea typeface="IBM Plex Sans" pitchFamily="34" charset="-122"/>
                <a:cs typeface="IBM Plex Sans" pitchFamily="34" charset="-120"/>
              </a:rPr>
              <a:t>Predict on paper first, then look down and test it.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Worth knowing</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The information markers dotted around the room</a:t>
            </a:r>
            <a:endParaRPr lang="en-US" sz="1500" dirty="0"/>
          </a:p>
        </p:txBody>
      </p:sp>
      <p:sp>
        <p:nvSpPr>
          <p:cNvPr id="7" name="Shape 5"/>
          <p:cNvSpPr/>
          <p:nvPr/>
        </p:nvSpPr>
        <p:spPr>
          <a:xfrm>
            <a:off x="502920" y="1828800"/>
            <a:ext cx="5394960" cy="1737360"/>
          </a:xfrm>
          <a:prstGeom prst="roundRect">
            <a:avLst>
              <a:gd name="adj" fmla="val 6316"/>
            </a:avLst>
          </a:prstGeom>
          <a:solidFill>
            <a:srgbClr val="FFFFFF"/>
          </a:solidFill>
          <a:ln w="15875">
            <a:solidFill>
              <a:srgbClr val="2D63FF"/>
            </a:solidFill>
            <a:prstDash val="solid"/>
          </a:ln>
        </p:spPr>
      </p:sp>
      <p:sp>
        <p:nvSpPr>
          <p:cNvPr id="8" name="Text 6"/>
          <p:cNvSpPr txBox="1"/>
          <p:nvPr/>
        </p:nvSpPr>
        <p:spPr>
          <a:xfrm>
            <a:off x="822960" y="201168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The found flag</a:t>
            </a:r>
            <a:endParaRPr lang="en-US" sz="1600" dirty="0"/>
          </a:p>
        </p:txBody>
      </p:sp>
      <p:sp>
        <p:nvSpPr>
          <p:cNvPr id="9" name="Text 7"/>
          <p:cNvSpPr txBox="1"/>
          <p:nvPr/>
        </p:nvSpPr>
        <p:spPr>
          <a:xfrm>
            <a:off x="822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A flag set to False before the loop is the tidiest way to report 'not found' exactly once.</a:t>
            </a:r>
            <a:endParaRPr lang="en-US" sz="1300" dirty="0"/>
          </a:p>
        </p:txBody>
      </p:sp>
      <p:sp>
        <p:nvSpPr>
          <p:cNvPr id="10" name="Shape 8"/>
          <p:cNvSpPr/>
          <p:nvPr/>
        </p:nvSpPr>
        <p:spPr>
          <a:xfrm>
            <a:off x="6217920" y="1828800"/>
            <a:ext cx="5394960" cy="1737360"/>
          </a:xfrm>
          <a:prstGeom prst="roundRect">
            <a:avLst>
              <a:gd name="adj" fmla="val 6316"/>
            </a:avLst>
          </a:prstGeom>
          <a:solidFill>
            <a:srgbClr val="FFFFFF"/>
          </a:solidFill>
          <a:ln w="15875">
            <a:solidFill>
              <a:srgbClr val="08A6A6"/>
            </a:solidFill>
            <a:prstDash val="solid"/>
          </a:ln>
        </p:spPr>
      </p:sp>
      <p:sp>
        <p:nvSpPr>
          <p:cNvPr id="11" name="Text 9"/>
          <p:cNvSpPr txBox="1"/>
          <p:nvPr/>
        </p:nvSpPr>
        <p:spPr>
          <a:xfrm>
            <a:off x="6537960" y="201168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Whole middles only</a:t>
            </a:r>
            <a:endParaRPr lang="en-US" sz="1600" dirty="0"/>
          </a:p>
        </p:txBody>
      </p:sp>
      <p:sp>
        <p:nvSpPr>
          <p:cNvPr id="12" name="Text 10"/>
          <p:cNvSpPr txBox="1"/>
          <p:nvPr/>
        </p:nvSpPr>
        <p:spPr>
          <a:xfrm>
            <a:off x="6537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mid = (low + high) // 2 uses // so the middle is a whole number: a list index can never be 3.5.</a:t>
            </a:r>
            <a:endParaRPr lang="en-US" sz="1300" dirty="0"/>
          </a:p>
        </p:txBody>
      </p:sp>
      <p:sp>
        <p:nvSpPr>
          <p:cNvPr id="13" name="Shape 11"/>
          <p:cNvSpPr/>
          <p:nvPr/>
        </p:nvSpPr>
        <p:spPr>
          <a:xfrm>
            <a:off x="502920" y="3794760"/>
            <a:ext cx="5394960" cy="1737360"/>
          </a:xfrm>
          <a:prstGeom prst="roundRect">
            <a:avLst>
              <a:gd name="adj" fmla="val 6316"/>
            </a:avLst>
          </a:prstGeom>
          <a:solidFill>
            <a:srgbClr val="FFFFFF"/>
          </a:solidFill>
          <a:ln w="15875">
            <a:solidFill>
              <a:srgbClr val="2D63FF"/>
            </a:solidFill>
            <a:prstDash val="solid"/>
          </a:ln>
        </p:spPr>
      </p:sp>
      <p:sp>
        <p:nvSpPr>
          <p:cNvPr id="14" name="Text 12"/>
          <p:cNvSpPr txBox="1"/>
          <p:nvPr/>
        </p:nvSpPr>
        <p:spPr>
          <a:xfrm>
            <a:off x="822960" y="397764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Swapping in one line</a:t>
            </a:r>
            <a:endParaRPr lang="en-US" sz="1600" dirty="0"/>
          </a:p>
        </p:txBody>
      </p:sp>
      <p:sp>
        <p:nvSpPr>
          <p:cNvPr id="15" name="Text 13"/>
          <p:cNvSpPr txBox="1"/>
          <p:nvPr/>
        </p:nvSpPr>
        <p:spPr>
          <a:xfrm>
            <a:off x="822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Python can swap two values in one line with a, b = b, a. Most languages need a third variable to hold one of them.</a:t>
            </a:r>
            <a:endParaRPr lang="en-US" sz="1300" dirty="0"/>
          </a:p>
        </p:txBody>
      </p:sp>
      <p:sp>
        <p:nvSpPr>
          <p:cNvPr id="16" name="Shape 14"/>
          <p:cNvSpPr/>
          <p:nvPr/>
        </p:nvSpPr>
        <p:spPr>
          <a:xfrm>
            <a:off x="6217920" y="3794760"/>
            <a:ext cx="5394960" cy="1737360"/>
          </a:xfrm>
          <a:prstGeom prst="roundRect">
            <a:avLst>
              <a:gd name="adj" fmla="val 6316"/>
            </a:avLst>
          </a:prstGeom>
          <a:solidFill>
            <a:srgbClr val="FFFFFF"/>
          </a:solidFill>
          <a:ln w="15875">
            <a:solidFill>
              <a:srgbClr val="08A6A6"/>
            </a:solidFill>
            <a:prstDash val="solid"/>
          </a:ln>
        </p:spPr>
      </p:sp>
      <p:sp>
        <p:nvSpPr>
          <p:cNvPr id="17" name="Text 15"/>
          <p:cNvSpPr txBox="1"/>
          <p:nvPr/>
        </p:nvSpPr>
        <p:spPr>
          <a:xfrm>
            <a:off x="6537960" y="397764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Nearly sorted</a:t>
            </a:r>
            <a:endParaRPr lang="en-US" sz="1600" dirty="0"/>
          </a:p>
        </p:txBody>
      </p:sp>
      <p:sp>
        <p:nvSpPr>
          <p:cNvPr id="18" name="Text 16"/>
          <p:cNvSpPr txBox="1"/>
          <p:nvPr/>
        </p:nvSpPr>
        <p:spPr>
          <a:xfrm>
            <a:off x="6537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On a list that is almost in order an insertion sort is very quick, because hardly anything has to move.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Exam practice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Devices away. Answer from memory on the worksheet.</a:t>
            </a:r>
            <a:endParaRPr lang="en-US" sz="1500" dirty="0"/>
          </a:p>
        </p:txBody>
      </p:sp>
      <p:sp>
        <p:nvSpPr>
          <p:cNvPr id="7" name="Shape 5"/>
          <p:cNvSpPr/>
          <p:nvPr/>
        </p:nvSpPr>
        <p:spPr>
          <a:xfrm>
            <a:off x="502920" y="1828800"/>
            <a:ext cx="11155680" cy="1097280"/>
          </a:xfrm>
          <a:prstGeom prst="roundRect">
            <a:avLst>
              <a:gd name="adj" fmla="val 10000"/>
            </a:avLst>
          </a:prstGeom>
          <a:solidFill>
            <a:srgbClr val="FFFFFF"/>
          </a:solidFill>
          <a:ln w="15875">
            <a:solidFill>
              <a:srgbClr val="D9DEE7"/>
            </a:solidFill>
            <a:prstDash val="solid"/>
          </a:ln>
        </p:spPr>
      </p:sp>
      <p:sp>
        <p:nvSpPr>
          <p:cNvPr id="8" name="Text 6"/>
          <p:cNvSpPr txBox="1"/>
          <p:nvPr/>
        </p:nvSpPr>
        <p:spPr>
          <a:xfrm>
            <a:off x="914400" y="1938528"/>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A linear search prints Not found from inside its loop, so searching one list prints that message several times. State where the message should go instead, and explain why putting it there fixes the problem.</a:t>
            </a:r>
            <a:endParaRPr lang="en-US" sz="1700" dirty="0"/>
          </a:p>
        </p:txBody>
      </p:sp>
      <p:sp>
        <p:nvSpPr>
          <p:cNvPr id="9" name="Shape 7"/>
          <p:cNvSpPr/>
          <p:nvPr/>
        </p:nvSpPr>
        <p:spPr>
          <a:xfrm>
            <a:off x="10515600" y="2130552"/>
            <a:ext cx="868680" cy="493776"/>
          </a:xfrm>
          <a:prstGeom prst="roundRect">
            <a:avLst>
              <a:gd name="adj" fmla="val 18519"/>
            </a:avLst>
          </a:prstGeom>
          <a:solidFill>
            <a:srgbClr val="EEF2FB"/>
          </a:solidFill>
          <a:ln/>
        </p:spPr>
      </p:sp>
      <p:sp>
        <p:nvSpPr>
          <p:cNvPr id="10" name="Text 8"/>
          <p:cNvSpPr txBox="1"/>
          <p:nvPr/>
        </p:nvSpPr>
        <p:spPr>
          <a:xfrm>
            <a:off x="10515600" y="2130552"/>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[3]</a:t>
            </a:r>
            <a:endParaRPr lang="en-US" sz="1500" dirty="0"/>
          </a:p>
        </p:txBody>
      </p:sp>
      <p:sp>
        <p:nvSpPr>
          <p:cNvPr id="11" name="Shape 9"/>
          <p:cNvSpPr/>
          <p:nvPr/>
        </p:nvSpPr>
        <p:spPr>
          <a:xfrm>
            <a:off x="502920" y="3127248"/>
            <a:ext cx="11155680" cy="1097280"/>
          </a:xfrm>
          <a:prstGeom prst="roundRect">
            <a:avLst>
              <a:gd name="adj" fmla="val 10000"/>
            </a:avLst>
          </a:prstGeom>
          <a:solidFill>
            <a:srgbClr val="FFFFFF"/>
          </a:solidFill>
          <a:ln w="15875">
            <a:solidFill>
              <a:srgbClr val="D9DEE7"/>
            </a:solidFill>
            <a:prstDash val="solid"/>
          </a:ln>
        </p:spPr>
      </p:sp>
      <p:sp>
        <p:nvSpPr>
          <p:cNvPr id="12" name="Text 10"/>
          <p:cNvSpPr txBox="1"/>
          <p:nvPr/>
        </p:nvSpPr>
        <p:spPr>
          <a:xfrm>
            <a:off x="914400" y="3236976"/>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Write a program that reads 8 whole numbers into a list, puts them in order using a bubble sort, and prints the sorted list.</a:t>
            </a:r>
            <a:endParaRPr lang="en-US" sz="1700" dirty="0"/>
          </a:p>
        </p:txBody>
      </p:sp>
      <p:sp>
        <p:nvSpPr>
          <p:cNvPr id="13" name="Shape 11"/>
          <p:cNvSpPr/>
          <p:nvPr/>
        </p:nvSpPr>
        <p:spPr>
          <a:xfrm>
            <a:off x="10515600" y="3429000"/>
            <a:ext cx="868680" cy="493776"/>
          </a:xfrm>
          <a:prstGeom prst="roundRect">
            <a:avLst>
              <a:gd name="adj" fmla="val 18519"/>
            </a:avLst>
          </a:prstGeom>
          <a:solidFill>
            <a:srgbClr val="EEF2FB"/>
          </a:solidFill>
          <a:ln/>
        </p:spPr>
      </p:sp>
      <p:sp>
        <p:nvSpPr>
          <p:cNvPr id="14" name="Text 12"/>
          <p:cNvSpPr txBox="1"/>
          <p:nvPr/>
        </p:nvSpPr>
        <p:spPr>
          <a:xfrm>
            <a:off x="10515600" y="3429000"/>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[6]</a:t>
            </a:r>
            <a:endParaRPr lang="en-US" sz="1500" dirty="0"/>
          </a:p>
        </p:txBody>
      </p:sp>
      <p:sp>
        <p:nvSpPr>
          <p:cNvPr id="15" name="Shape 13"/>
          <p:cNvSpPr/>
          <p:nvPr/>
        </p:nvSpPr>
        <p:spPr>
          <a:xfrm>
            <a:off x="502920" y="4425696"/>
            <a:ext cx="11155680" cy="1097280"/>
          </a:xfrm>
          <a:prstGeom prst="roundRect">
            <a:avLst>
              <a:gd name="adj" fmla="val 10000"/>
            </a:avLst>
          </a:prstGeom>
          <a:solidFill>
            <a:srgbClr val="FFFFFF"/>
          </a:solidFill>
          <a:ln w="15875">
            <a:solidFill>
              <a:srgbClr val="D9DEE7"/>
            </a:solidFill>
            <a:prstDash val="solid"/>
          </a:ln>
        </p:spPr>
      </p:sp>
      <p:sp>
        <p:nvSpPr>
          <p:cNvPr id="16" name="Text 14"/>
          <p:cNvSpPr txBox="1"/>
          <p:nvPr/>
        </p:nvSpPr>
        <p:spPr>
          <a:xfrm>
            <a:off x="914400" y="4535424"/>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Write a program that uses a binary search to look for a membership number the user types in, within a list of 10 numbers already in order, and prints its position or Not found.</a:t>
            </a:r>
            <a:endParaRPr lang="en-US" sz="1700" dirty="0"/>
          </a:p>
        </p:txBody>
      </p:sp>
      <p:sp>
        <p:nvSpPr>
          <p:cNvPr id="17" name="Shape 15"/>
          <p:cNvSpPr/>
          <p:nvPr/>
        </p:nvSpPr>
        <p:spPr>
          <a:xfrm>
            <a:off x="10515600" y="4727448"/>
            <a:ext cx="868680" cy="493776"/>
          </a:xfrm>
          <a:prstGeom prst="roundRect">
            <a:avLst>
              <a:gd name="adj" fmla="val 18519"/>
            </a:avLst>
          </a:prstGeom>
          <a:solidFill>
            <a:srgbClr val="EEF2FB"/>
          </a:solidFill>
          <a:ln/>
        </p:spPr>
      </p:sp>
      <p:sp>
        <p:nvSpPr>
          <p:cNvPr id="18" name="Text 16"/>
          <p:cNvSpPr txBox="1"/>
          <p:nvPr/>
        </p:nvSpPr>
        <p:spPr>
          <a:xfrm>
            <a:off x="10515600" y="4727448"/>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[6]</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Before you go</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Rate yourself on each of these</a:t>
            </a:r>
            <a:endParaRPr lang="en-US" sz="1500" dirty="0"/>
          </a:p>
        </p:txBody>
      </p:sp>
      <p:sp>
        <p:nvSpPr>
          <p:cNvPr id="7" name="Shape 5"/>
          <p:cNvSpPr/>
          <p:nvPr/>
        </p:nvSpPr>
        <p:spPr>
          <a:xfrm>
            <a:off x="502920" y="1920240"/>
            <a:ext cx="7863840" cy="777240"/>
          </a:xfrm>
          <a:prstGeom prst="roundRect">
            <a:avLst>
              <a:gd name="adj" fmla="val 14118"/>
            </a:avLst>
          </a:prstGeom>
          <a:solidFill>
            <a:srgbClr val="FFFFFF"/>
          </a:solidFill>
          <a:ln w="15875">
            <a:solidFill>
              <a:srgbClr val="D9DEE7"/>
            </a:solidFill>
            <a:prstDash val="solid"/>
          </a:ln>
        </p:spPr>
      </p:sp>
      <p:sp>
        <p:nvSpPr>
          <p:cNvPr id="8" name="Text 6"/>
          <p:cNvSpPr txBox="1"/>
          <p:nvPr/>
        </p:nvSpPr>
        <p:spPr>
          <a:xfrm>
            <a:off x="914400" y="192024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Coding a linear search and a binary search</a:t>
            </a:r>
            <a:endParaRPr lang="en-US" sz="1800" dirty="0"/>
          </a:p>
        </p:txBody>
      </p:sp>
      <p:sp>
        <p:nvSpPr>
          <p:cNvPr id="9" name="Shape 7"/>
          <p:cNvSpPr/>
          <p:nvPr/>
        </p:nvSpPr>
        <p:spPr>
          <a:xfrm>
            <a:off x="8595360" y="2066544"/>
            <a:ext cx="987552" cy="484632"/>
          </a:xfrm>
          <a:prstGeom prst="roundRect">
            <a:avLst>
              <a:gd name="adj" fmla="val 18868"/>
            </a:avLst>
          </a:prstGeom>
          <a:solidFill>
            <a:srgbClr val="FFFFFF"/>
          </a:solidFill>
          <a:ln w="15875">
            <a:solidFill>
              <a:srgbClr val="08A6A6"/>
            </a:solidFill>
            <a:prstDash val="solid"/>
          </a:ln>
        </p:spPr>
      </p:sp>
      <p:sp>
        <p:nvSpPr>
          <p:cNvPr id="10" name="Text 8"/>
          <p:cNvSpPr txBox="1"/>
          <p:nvPr/>
        </p:nvSpPr>
        <p:spPr>
          <a:xfrm>
            <a:off x="8595360" y="206654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1" name="Shape 9"/>
          <p:cNvSpPr/>
          <p:nvPr/>
        </p:nvSpPr>
        <p:spPr>
          <a:xfrm>
            <a:off x="9674352" y="2066544"/>
            <a:ext cx="987552" cy="484632"/>
          </a:xfrm>
          <a:prstGeom prst="roundRect">
            <a:avLst>
              <a:gd name="adj" fmla="val 18868"/>
            </a:avLst>
          </a:prstGeom>
          <a:solidFill>
            <a:srgbClr val="FFFFFF"/>
          </a:solidFill>
          <a:ln w="15875">
            <a:solidFill>
              <a:srgbClr val="F4B942"/>
            </a:solidFill>
            <a:prstDash val="solid"/>
          </a:ln>
        </p:spPr>
      </p:sp>
      <p:sp>
        <p:nvSpPr>
          <p:cNvPr id="12" name="Text 10"/>
          <p:cNvSpPr txBox="1"/>
          <p:nvPr/>
        </p:nvSpPr>
        <p:spPr>
          <a:xfrm>
            <a:off x="9674352" y="206654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13" name="Shape 11"/>
          <p:cNvSpPr/>
          <p:nvPr/>
        </p:nvSpPr>
        <p:spPr>
          <a:xfrm>
            <a:off x="10753344" y="2066544"/>
            <a:ext cx="987552" cy="484632"/>
          </a:xfrm>
          <a:prstGeom prst="roundRect">
            <a:avLst>
              <a:gd name="adj" fmla="val 18868"/>
            </a:avLst>
          </a:prstGeom>
          <a:solidFill>
            <a:srgbClr val="FFFFFF"/>
          </a:solidFill>
          <a:ln w="15875">
            <a:solidFill>
              <a:srgbClr val="E2574C"/>
            </a:solidFill>
            <a:prstDash val="solid"/>
          </a:ln>
        </p:spPr>
      </p:sp>
      <p:sp>
        <p:nvSpPr>
          <p:cNvPr id="14" name="Text 12"/>
          <p:cNvSpPr txBox="1"/>
          <p:nvPr/>
        </p:nvSpPr>
        <p:spPr>
          <a:xfrm>
            <a:off x="10753344" y="206654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15" name="Shape 13"/>
          <p:cNvSpPr/>
          <p:nvPr/>
        </p:nvSpPr>
        <p:spPr>
          <a:xfrm>
            <a:off x="502920" y="2880360"/>
            <a:ext cx="7863840" cy="777240"/>
          </a:xfrm>
          <a:prstGeom prst="roundRect">
            <a:avLst>
              <a:gd name="adj" fmla="val 14118"/>
            </a:avLst>
          </a:prstGeom>
          <a:solidFill>
            <a:srgbClr val="FFFFFF"/>
          </a:solidFill>
          <a:ln w="15875">
            <a:solidFill>
              <a:srgbClr val="D9DEE7"/>
            </a:solidFill>
            <a:prstDash val="solid"/>
          </a:ln>
        </p:spPr>
      </p:sp>
      <p:sp>
        <p:nvSpPr>
          <p:cNvPr id="16" name="Text 14"/>
          <p:cNvSpPr txBox="1"/>
          <p:nvPr/>
        </p:nvSpPr>
        <p:spPr>
          <a:xfrm>
            <a:off x="914400" y="288036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Coding a bubble, insertion or merge sort</a:t>
            </a:r>
            <a:endParaRPr lang="en-US" sz="1800" dirty="0"/>
          </a:p>
        </p:txBody>
      </p:sp>
      <p:sp>
        <p:nvSpPr>
          <p:cNvPr id="17" name="Shape 15"/>
          <p:cNvSpPr/>
          <p:nvPr/>
        </p:nvSpPr>
        <p:spPr>
          <a:xfrm>
            <a:off x="8595360" y="3026664"/>
            <a:ext cx="987552" cy="484632"/>
          </a:xfrm>
          <a:prstGeom prst="roundRect">
            <a:avLst>
              <a:gd name="adj" fmla="val 18868"/>
            </a:avLst>
          </a:prstGeom>
          <a:solidFill>
            <a:srgbClr val="FFFFFF"/>
          </a:solidFill>
          <a:ln w="15875">
            <a:solidFill>
              <a:srgbClr val="08A6A6"/>
            </a:solidFill>
            <a:prstDash val="solid"/>
          </a:ln>
        </p:spPr>
      </p:sp>
      <p:sp>
        <p:nvSpPr>
          <p:cNvPr id="18" name="Text 16"/>
          <p:cNvSpPr txBox="1"/>
          <p:nvPr/>
        </p:nvSpPr>
        <p:spPr>
          <a:xfrm>
            <a:off x="8595360" y="302666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9" name="Shape 17"/>
          <p:cNvSpPr/>
          <p:nvPr/>
        </p:nvSpPr>
        <p:spPr>
          <a:xfrm>
            <a:off x="9674352" y="3026664"/>
            <a:ext cx="987552" cy="484632"/>
          </a:xfrm>
          <a:prstGeom prst="roundRect">
            <a:avLst>
              <a:gd name="adj" fmla="val 18868"/>
            </a:avLst>
          </a:prstGeom>
          <a:solidFill>
            <a:srgbClr val="FFFFFF"/>
          </a:solidFill>
          <a:ln w="15875">
            <a:solidFill>
              <a:srgbClr val="F4B942"/>
            </a:solidFill>
            <a:prstDash val="solid"/>
          </a:ln>
        </p:spPr>
      </p:sp>
      <p:sp>
        <p:nvSpPr>
          <p:cNvPr id="20" name="Text 18"/>
          <p:cNvSpPr txBox="1"/>
          <p:nvPr/>
        </p:nvSpPr>
        <p:spPr>
          <a:xfrm>
            <a:off x="9674352" y="302666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1" name="Shape 19"/>
          <p:cNvSpPr/>
          <p:nvPr/>
        </p:nvSpPr>
        <p:spPr>
          <a:xfrm>
            <a:off x="10753344" y="3026664"/>
            <a:ext cx="987552" cy="484632"/>
          </a:xfrm>
          <a:prstGeom prst="roundRect">
            <a:avLst>
              <a:gd name="adj" fmla="val 18868"/>
            </a:avLst>
          </a:prstGeom>
          <a:solidFill>
            <a:srgbClr val="FFFFFF"/>
          </a:solidFill>
          <a:ln w="15875">
            <a:solidFill>
              <a:srgbClr val="E2574C"/>
            </a:solidFill>
            <a:prstDash val="solid"/>
          </a:ln>
        </p:spPr>
      </p:sp>
      <p:sp>
        <p:nvSpPr>
          <p:cNvPr id="22" name="Text 20"/>
          <p:cNvSpPr txBox="1"/>
          <p:nvPr/>
        </p:nvSpPr>
        <p:spPr>
          <a:xfrm>
            <a:off x="10753344" y="302666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23" name="Shape 21"/>
          <p:cNvSpPr/>
          <p:nvPr/>
        </p:nvSpPr>
        <p:spPr>
          <a:xfrm>
            <a:off x="502920" y="3840480"/>
            <a:ext cx="7863840" cy="777240"/>
          </a:xfrm>
          <a:prstGeom prst="roundRect">
            <a:avLst>
              <a:gd name="adj" fmla="val 14118"/>
            </a:avLst>
          </a:prstGeom>
          <a:solidFill>
            <a:srgbClr val="FFFFFF"/>
          </a:solidFill>
          <a:ln w="15875">
            <a:solidFill>
              <a:srgbClr val="D9DEE7"/>
            </a:solidFill>
            <a:prstDash val="solid"/>
          </a:ln>
        </p:spPr>
      </p:sp>
      <p:sp>
        <p:nvSpPr>
          <p:cNvPr id="24" name="Text 22"/>
          <p:cNvSpPr txBox="1"/>
          <p:nvPr/>
        </p:nvSpPr>
        <p:spPr>
          <a:xfrm>
            <a:off x="914400" y="384048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Explaining why a binary search needs sorted data</a:t>
            </a:r>
            <a:endParaRPr lang="en-US" sz="1800" dirty="0"/>
          </a:p>
        </p:txBody>
      </p:sp>
      <p:sp>
        <p:nvSpPr>
          <p:cNvPr id="25" name="Shape 23"/>
          <p:cNvSpPr/>
          <p:nvPr/>
        </p:nvSpPr>
        <p:spPr>
          <a:xfrm>
            <a:off x="8595360" y="3986784"/>
            <a:ext cx="987552" cy="484632"/>
          </a:xfrm>
          <a:prstGeom prst="roundRect">
            <a:avLst>
              <a:gd name="adj" fmla="val 18868"/>
            </a:avLst>
          </a:prstGeom>
          <a:solidFill>
            <a:srgbClr val="FFFFFF"/>
          </a:solidFill>
          <a:ln w="15875">
            <a:solidFill>
              <a:srgbClr val="08A6A6"/>
            </a:solidFill>
            <a:prstDash val="solid"/>
          </a:ln>
        </p:spPr>
      </p:sp>
      <p:sp>
        <p:nvSpPr>
          <p:cNvPr id="26" name="Text 24"/>
          <p:cNvSpPr txBox="1"/>
          <p:nvPr/>
        </p:nvSpPr>
        <p:spPr>
          <a:xfrm>
            <a:off x="8595360" y="398678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27" name="Shape 25"/>
          <p:cNvSpPr/>
          <p:nvPr/>
        </p:nvSpPr>
        <p:spPr>
          <a:xfrm>
            <a:off x="9674352" y="3986784"/>
            <a:ext cx="987552" cy="484632"/>
          </a:xfrm>
          <a:prstGeom prst="roundRect">
            <a:avLst>
              <a:gd name="adj" fmla="val 18868"/>
            </a:avLst>
          </a:prstGeom>
          <a:solidFill>
            <a:srgbClr val="FFFFFF"/>
          </a:solidFill>
          <a:ln w="15875">
            <a:solidFill>
              <a:srgbClr val="F4B942"/>
            </a:solidFill>
            <a:prstDash val="solid"/>
          </a:ln>
        </p:spPr>
      </p:sp>
      <p:sp>
        <p:nvSpPr>
          <p:cNvPr id="28" name="Text 26"/>
          <p:cNvSpPr txBox="1"/>
          <p:nvPr/>
        </p:nvSpPr>
        <p:spPr>
          <a:xfrm>
            <a:off x="9674352" y="398678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9" name="Shape 27"/>
          <p:cNvSpPr/>
          <p:nvPr/>
        </p:nvSpPr>
        <p:spPr>
          <a:xfrm>
            <a:off x="10753344" y="3986784"/>
            <a:ext cx="987552" cy="484632"/>
          </a:xfrm>
          <a:prstGeom prst="roundRect">
            <a:avLst>
              <a:gd name="adj" fmla="val 18868"/>
            </a:avLst>
          </a:prstGeom>
          <a:solidFill>
            <a:srgbClr val="FFFFFF"/>
          </a:solidFill>
          <a:ln w="15875">
            <a:solidFill>
              <a:srgbClr val="E2574C"/>
            </a:solidFill>
            <a:prstDash val="solid"/>
          </a:ln>
        </p:spPr>
      </p:sp>
      <p:sp>
        <p:nvSpPr>
          <p:cNvPr id="30" name="Text 28"/>
          <p:cNvSpPr txBox="1"/>
          <p:nvPr/>
        </p:nvSpPr>
        <p:spPr>
          <a:xfrm>
            <a:off x="10753344" y="398678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31" name="Text 29"/>
          <p:cNvSpPr txBox="1"/>
          <p:nvPr/>
        </p:nvSpPr>
        <p:spPr>
          <a:xfrm>
            <a:off x="502920" y="5074920"/>
            <a:ext cx="11155680" cy="54864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Anything marked Focus here: reopen Sorting depot and use review mode on the questions you got wrong.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Revise 360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programming  |  Lesson 11 — Sorting depot</dc:title>
  <dc:subject>OCR J277 GCSE Computer Science</dc:subject>
  <dc:creator>Revise 360 Ltd</dc:creator>
  <cp:lastModifiedBy>Revise 360 Ltd</cp:lastModifiedBy>
  <cp:revision>1</cp:revision>
  <dcterms:created xsi:type="dcterms:W3CDTF">2026-10-02T10:24:01Z</dcterms:created>
  <dcterms:modified xsi:type="dcterms:W3CDTF">2026-10-02T10:24:01Z</dcterms:modified>
</cp:coreProperties>
</file>