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7: Lists.
Open the experience at revise360.co.uk and hand out PR_L07_Lists_Worksheet.docx.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Making a list.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Reading an item.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Going through a list.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Adding and removing.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Totals and averages.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['cat', 'dog', 'ant']
3.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Adding and removing, and work through its example again, aloud, with the class watching, then re-ask this question.
The course's own response to a wrong answer here: The new item goes on the end and not the front, and the list is one longer than it was.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(pr-l07-s4-c2),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7</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Lists</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One variable holds one value, which is no use at all for a whole class of marks. A list holds many values under one name, and the six stations here are where you learn to use one.</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is the last item of a list always at index len(list) - 1?</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create a list and read one item out of it by its index</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to traverse a list in order to total, count or compare its items</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add an item onto a list and how to take one out again</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18872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Array</a:t>
            </a:r>
            <a:endParaRPr lang="en-US" sz="1200" dirty="0"/>
          </a:p>
        </p:txBody>
      </p:sp>
      <p:sp>
        <p:nvSpPr>
          <p:cNvPr id="19" name="Shape 17"/>
          <p:cNvSpPr/>
          <p:nvPr/>
        </p:nvSpPr>
        <p:spPr>
          <a:xfrm>
            <a:off x="1865376" y="5468112"/>
            <a:ext cx="1042416"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1865376"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List</a:t>
            </a:r>
            <a:endParaRPr lang="en-US" sz="1200" dirty="0"/>
          </a:p>
        </p:txBody>
      </p:sp>
      <p:sp>
        <p:nvSpPr>
          <p:cNvPr id="21" name="Shape 19"/>
          <p:cNvSpPr/>
          <p:nvPr/>
        </p:nvSpPr>
        <p:spPr>
          <a:xfrm>
            <a:off x="3035808" y="5468112"/>
            <a:ext cx="118872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3035808"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Index</a:t>
            </a:r>
            <a:endParaRPr lang="en-US" sz="1200" dirty="0"/>
          </a:p>
        </p:txBody>
      </p:sp>
      <p:sp>
        <p:nvSpPr>
          <p:cNvPr id="23" name="Shape 21"/>
          <p:cNvSpPr/>
          <p:nvPr/>
        </p:nvSpPr>
        <p:spPr>
          <a:xfrm>
            <a:off x="4352544" y="5468112"/>
            <a:ext cx="1627632"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4352544"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append()</a:t>
            </a:r>
            <a:endParaRPr lang="en-US" sz="1200" dirty="0"/>
          </a:p>
        </p:txBody>
      </p:sp>
      <p:sp>
        <p:nvSpPr>
          <p:cNvPr id="25" name="Shape 23"/>
          <p:cNvSpPr/>
          <p:nvPr/>
        </p:nvSpPr>
        <p:spPr>
          <a:xfrm>
            <a:off x="6108192" y="5468112"/>
            <a:ext cx="1627632"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6108192"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remove()</a:t>
            </a:r>
            <a:endParaRPr lang="en-US" sz="1200" dirty="0"/>
          </a:p>
        </p:txBody>
      </p:sp>
      <p:sp>
        <p:nvSpPr>
          <p:cNvPr id="27" name="Shape 25"/>
          <p:cNvSpPr/>
          <p:nvPr/>
        </p:nvSpPr>
        <p:spPr>
          <a:xfrm>
            <a:off x="7863840" y="5468112"/>
            <a:ext cx="1188720"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7863840"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pop()</a:t>
            </a:r>
            <a:endParaRPr lang="en-US" sz="1200" dirty="0"/>
          </a:p>
        </p:txBody>
      </p:sp>
      <p:sp>
        <p:nvSpPr>
          <p:cNvPr id="29" name="Shape 27"/>
          <p:cNvSpPr/>
          <p:nvPr/>
        </p:nvSpPr>
        <p:spPr>
          <a:xfrm>
            <a:off x="9180576" y="5468112"/>
            <a:ext cx="1627632" cy="402336"/>
          </a:xfrm>
          <a:prstGeom prst="roundRect">
            <a:avLst>
              <a:gd name="adj" fmla="val 50000"/>
            </a:avLst>
          </a:prstGeom>
          <a:solidFill>
            <a:srgbClr val="FFFFFF"/>
          </a:solidFill>
          <a:ln w="12700">
            <a:solidFill>
              <a:srgbClr val="2D63FF"/>
            </a:solidFill>
            <a:prstDash val="solid"/>
          </a:ln>
        </p:spPr>
      </p:sp>
      <p:sp>
        <p:nvSpPr>
          <p:cNvPr id="30" name="Text 28"/>
          <p:cNvSpPr txBox="1"/>
          <p:nvPr/>
        </p:nvSpPr>
        <p:spPr>
          <a:xfrm>
            <a:off x="9180576"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Traverse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The list words holds red, blue, green and teal, in that order. Write down what words[0], words[3] and len(words) each give, and the index of the last item.</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Lists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Making a list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Square brackets make a list, with the items separated by commas.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list can start out empty and be filled by a loop as the values arrive.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creating the empty list inside the loop, which throws each item away again.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line must go above the loop that fills a list, and why?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exam calls these arrays, but a Python list is different in one way: it can...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an item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list is indexed from 0, so the third item sits at position 2.</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len() gives how many items there are, which makes the last index len() - 1.</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an index past the end, which stops the program with an error.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index holds the last of seven values?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Counting from 0 means an index is the number of items you have to step over to...</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Going through a list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for item in list: hands you each value in turn.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for i in range(len(list)): gives the positions instead, for when you need the index too.</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printing the index when the task asked for the value, or the other way round.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When do you need the position rather than the value itself?</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Going through every item of a list in turn is called...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Adding and removing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append() adds one item onto the end of the list.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remove() takes out the first item with that value, and pop(i) takes out the one at position i.</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removing items while looping over the same list, which makes the loop skip some.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is the difference between remove("red") and pop(0)?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pop() does two jobs at once: it takes the item out and it also...</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Totals and averages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Total the list in a loop, then divide by len() to get the average.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Track the largest and smallest by comparing each item against the best found so far.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starting the largest at 0, which fails on a list of negative numbers.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should the largest-so-far start as, if the values could be negative?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Dividing by len() on an empty list crashes, so a robust program first checks the list is not...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One pass can build the total, count the items and remember where the largest one was.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Report the figures after the loop has finished, not while it is still running.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finding the largest value but forgetting to record the position it was found at.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would you report both the largest value and where in the list it sits?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Keeping the position of the largest value as well as the value itself answers which one as well as...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What will this program display?</a:t>
            </a:r>
            <a:endParaRPr lang="en-US" sz="2600" dirty="0"/>
          </a:p>
        </p:txBody>
      </p:sp>
      <p:sp>
        <p:nvSpPr>
          <p:cNvPr id="9" name="Shape 7"/>
          <p:cNvSpPr/>
          <p:nvPr/>
        </p:nvSpPr>
        <p:spPr>
          <a:xfrm>
            <a:off x="502920" y="2148840"/>
            <a:ext cx="5029200" cy="1554480"/>
          </a:xfrm>
          <a:prstGeom prst="roundRect">
            <a:avLst>
              <a:gd name="adj" fmla="val 7059"/>
            </a:avLst>
          </a:prstGeom>
          <a:solidFill>
            <a:srgbClr val="FFFFFF"/>
          </a:solidFill>
          <a:ln w="15875">
            <a:solidFill>
              <a:srgbClr val="D9DEE7"/>
            </a:solidFill>
            <a:prstDash val="solid"/>
          </a:ln>
        </p:spPr>
      </p:sp>
      <p:sp>
        <p:nvSpPr>
          <p:cNvPr id="10" name="Text 8"/>
          <p:cNvSpPr txBox="1"/>
          <p:nvPr/>
        </p:nvSpPr>
        <p:spPr>
          <a:xfrm>
            <a:off x="822960" y="2350008"/>
            <a:ext cx="4480560" cy="1152144"/>
          </a:xfrm>
          <a:prstGeom prst="rect">
            <a:avLst/>
          </a:prstGeom>
          <a:noFill/>
          <a:ln/>
        </p:spPr>
        <p:txBody>
          <a:bodyPr wrap="square" lIns="0" tIns="0" rIns="0" bIns="0" rtlCol="0" anchor="t"/>
          <a:lstStyle/>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pets = ["cat", "dog"]</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pets.append("ant")</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print(pets)</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print(len(pets))</a:t>
            </a:r>
            <a:endParaRPr lang="en-US" sz="1500" dirty="0"/>
          </a:p>
        </p:txBody>
      </p:sp>
      <p:sp>
        <p:nvSpPr>
          <p:cNvPr id="11" name="Shape 9"/>
          <p:cNvSpPr/>
          <p:nvPr/>
        </p:nvSpPr>
        <p:spPr>
          <a:xfrm>
            <a:off x="5806440" y="2148840"/>
            <a:ext cx="5852160" cy="731520"/>
          </a:xfrm>
          <a:prstGeom prst="roundRect">
            <a:avLst>
              <a:gd name="adj" fmla="val 15000"/>
            </a:avLst>
          </a:prstGeom>
          <a:solidFill>
            <a:srgbClr val="FFFFFF"/>
          </a:solidFill>
          <a:ln w="15875">
            <a:solidFill>
              <a:srgbClr val="D9DEE7"/>
            </a:solidFill>
            <a:prstDash val="solid"/>
          </a:ln>
        </p:spPr>
      </p:sp>
      <p:sp>
        <p:nvSpPr>
          <p:cNvPr id="12" name="Shape 10"/>
          <p:cNvSpPr/>
          <p:nvPr/>
        </p:nvSpPr>
        <p:spPr>
          <a:xfrm>
            <a:off x="6080760" y="2295144"/>
            <a:ext cx="438912" cy="438912"/>
          </a:xfrm>
          <a:prstGeom prst="roundRect">
            <a:avLst>
              <a:gd name="adj" fmla="val 20833"/>
            </a:avLst>
          </a:prstGeom>
          <a:solidFill>
            <a:srgbClr val="EEF2FB"/>
          </a:solidFill>
          <a:ln/>
        </p:spPr>
      </p:sp>
      <p:sp>
        <p:nvSpPr>
          <p:cNvPr id="13" name="Text 11"/>
          <p:cNvSpPr txBox="1"/>
          <p:nvPr/>
        </p:nvSpPr>
        <p:spPr>
          <a:xfrm>
            <a:off x="608076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4" name="Text 12"/>
          <p:cNvSpPr txBox="1"/>
          <p:nvPr/>
        </p:nvSpPr>
        <p:spPr>
          <a:xfrm>
            <a:off x="6720840" y="214884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['cat', 'dog']</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2</a:t>
            </a:r>
            <a:endParaRPr lang="en-US" sz="1700" dirty="0"/>
          </a:p>
        </p:txBody>
      </p:sp>
      <p:sp>
        <p:nvSpPr>
          <p:cNvPr id="15" name="Shape 13"/>
          <p:cNvSpPr/>
          <p:nvPr/>
        </p:nvSpPr>
        <p:spPr>
          <a:xfrm>
            <a:off x="5806440" y="3017520"/>
            <a:ext cx="5852160" cy="731520"/>
          </a:xfrm>
          <a:prstGeom prst="roundRect">
            <a:avLst>
              <a:gd name="adj" fmla="val 15000"/>
            </a:avLst>
          </a:prstGeom>
          <a:solidFill>
            <a:srgbClr val="FFFFFF"/>
          </a:solidFill>
          <a:ln w="15875">
            <a:solidFill>
              <a:srgbClr val="D9DEE7"/>
            </a:solidFill>
            <a:prstDash val="solid"/>
          </a:ln>
        </p:spPr>
      </p:sp>
      <p:sp>
        <p:nvSpPr>
          <p:cNvPr id="16" name="Shape 14"/>
          <p:cNvSpPr/>
          <p:nvPr/>
        </p:nvSpPr>
        <p:spPr>
          <a:xfrm>
            <a:off x="6080760" y="3163824"/>
            <a:ext cx="438912" cy="438912"/>
          </a:xfrm>
          <a:prstGeom prst="roundRect">
            <a:avLst>
              <a:gd name="adj" fmla="val 20833"/>
            </a:avLst>
          </a:prstGeom>
          <a:solidFill>
            <a:srgbClr val="EEF2FB"/>
          </a:solidFill>
          <a:ln/>
        </p:spPr>
      </p:sp>
      <p:sp>
        <p:nvSpPr>
          <p:cNvPr id="17" name="Text 15"/>
          <p:cNvSpPr txBox="1"/>
          <p:nvPr/>
        </p:nvSpPr>
        <p:spPr>
          <a:xfrm>
            <a:off x="608076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8" name="Text 16"/>
          <p:cNvSpPr txBox="1"/>
          <p:nvPr/>
        </p:nvSpPr>
        <p:spPr>
          <a:xfrm>
            <a:off x="6720840" y="301752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['cat', 'dog', 'ant']</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3</a:t>
            </a:r>
            <a:endParaRPr lang="en-US" sz="1700" dirty="0"/>
          </a:p>
        </p:txBody>
      </p:sp>
      <p:sp>
        <p:nvSpPr>
          <p:cNvPr id="19" name="Shape 17"/>
          <p:cNvSpPr/>
          <p:nvPr/>
        </p:nvSpPr>
        <p:spPr>
          <a:xfrm>
            <a:off x="5806440" y="3886200"/>
            <a:ext cx="5852160" cy="731520"/>
          </a:xfrm>
          <a:prstGeom prst="roundRect">
            <a:avLst>
              <a:gd name="adj" fmla="val 15000"/>
            </a:avLst>
          </a:prstGeom>
          <a:solidFill>
            <a:srgbClr val="FFFFFF"/>
          </a:solidFill>
          <a:ln w="15875">
            <a:solidFill>
              <a:srgbClr val="D9DEE7"/>
            </a:solidFill>
            <a:prstDash val="solid"/>
          </a:ln>
        </p:spPr>
      </p:sp>
      <p:sp>
        <p:nvSpPr>
          <p:cNvPr id="20" name="Shape 18"/>
          <p:cNvSpPr/>
          <p:nvPr/>
        </p:nvSpPr>
        <p:spPr>
          <a:xfrm>
            <a:off x="6080760" y="4032504"/>
            <a:ext cx="438912" cy="438912"/>
          </a:xfrm>
          <a:prstGeom prst="roundRect">
            <a:avLst>
              <a:gd name="adj" fmla="val 20833"/>
            </a:avLst>
          </a:prstGeom>
          <a:solidFill>
            <a:srgbClr val="EEF2FB"/>
          </a:solidFill>
          <a:ln/>
        </p:spPr>
      </p:sp>
      <p:sp>
        <p:nvSpPr>
          <p:cNvPr id="21" name="Text 19"/>
          <p:cNvSpPr txBox="1"/>
          <p:nvPr/>
        </p:nvSpPr>
        <p:spPr>
          <a:xfrm>
            <a:off x="608076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2" name="Text 20"/>
          <p:cNvSpPr txBox="1"/>
          <p:nvPr/>
        </p:nvSpPr>
        <p:spPr>
          <a:xfrm>
            <a:off x="6720840" y="388620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['ant', 'cat', 'dog']</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3</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What does it do?</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A list called basket holds ["tea", "jam", "rice"]. Tap the star and match each list operation to what it does.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One name, many values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Without lists, a program for 30 marks would need 30 variables - and 30 lines to total them.</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Out of range</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An index error is nearly always an off-by-one: the last index of a list of 7 is 6, not 7.</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Which loop</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for item in list is tidier when you only need the values. Use range(len(list)) when you need the position too.</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Removing safely</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Deleting from a list while looping over it makes the loop skip items. Build a new list instead.</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loop over a list of six numbers begins </a:t>
            </a:r>
            <a:pPr indent="0" marL="0">
              <a:lnSpc>
                <a:spcPct val="118000"/>
              </a:lnSpc>
              <a:buNone/>
            </a:pPr>
            <a:r>
              <a:rPr lang="en-US" sz="1700" dirty="0">
                <a:solidFill>
                  <a:srgbClr val="6B21A8"/>
                </a:solidFill>
                <a:latin typeface="IBM Plex Mono" pitchFamily="34" charset="0"/>
                <a:ea typeface="IBM Plex Mono" pitchFamily="34" charset="-122"/>
                <a:cs typeface="IBM Plex Mono" pitchFamily="34" charset="-120"/>
              </a:rPr>
              <a:t>for</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i</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6B21A8"/>
                </a:solidFill>
                <a:latin typeface="IBM Plex Mono" pitchFamily="34" charset="0"/>
                <a:ea typeface="IBM Plex Mono" pitchFamily="34" charset="-122"/>
                <a:cs typeface="IBM Plex Mono" pitchFamily="34" charset="-120"/>
              </a:rPr>
              <a:t>in</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D4ED8"/>
                </a:solidFill>
                <a:latin typeface="IBM Plex Mono" pitchFamily="34" charset="0"/>
                <a:ea typeface="IBM Plex Mono" pitchFamily="34" charset="-122"/>
                <a:cs typeface="IBM Plex Mono" pitchFamily="34" charset="-120"/>
              </a:rPr>
              <a:t>range</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9A3412"/>
                </a:solidFill>
                <a:latin typeface="IBM Plex Mono" pitchFamily="34" charset="0"/>
                <a:ea typeface="IBM Plex Mono" pitchFamily="34" charset="-122"/>
                <a:cs typeface="IBM Plex Mono" pitchFamily="34" charset="-120"/>
              </a:rPr>
              <a:t>1</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9A3412"/>
                </a:solidFill>
                <a:latin typeface="IBM Plex Mono" pitchFamily="34" charset="0"/>
                <a:ea typeface="IBM Plex Mono" pitchFamily="34" charset="-122"/>
                <a:cs typeface="IBM Plex Mono" pitchFamily="34" charset="-120"/>
              </a:rPr>
              <a:t>6</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State which item is never looked at, and rewrite the line so that every item is included.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seven whole numbers into a list, then prints the largest and the position it is stored at, without using </a:t>
            </a:r>
            <a:pPr indent="0" marL="0">
              <a:lnSpc>
                <a:spcPct val="118000"/>
              </a:lnSpc>
              <a:buNone/>
            </a:pPr>
            <a:r>
              <a:rPr lang="en-US" sz="1700" dirty="0">
                <a:solidFill>
                  <a:srgbClr val="1D4ED8"/>
                </a:solidFill>
                <a:latin typeface="IBM Plex Mono" pitchFamily="34" charset="0"/>
                <a:ea typeface="IBM Plex Mono" pitchFamily="34" charset="-122"/>
                <a:cs typeface="IBM Plex Mono" pitchFamily="34" charset="-120"/>
              </a:rPr>
              <a:t>max</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five words into a list, removes a word the user types in, then prints the words that are left and how many there are.</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Creating a list and reading an item by its index</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Traversing a list to total or compare its items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Adding items to a list and removing them</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Lists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7 — Lists</dc:title>
  <dc:subject>OCR J277 GCSE Computer Science</dc:subject>
  <dc:creator>Revise 360 Ltd</dc:creator>
  <cp:lastModifiedBy>Revise 360 Ltd</cp:lastModifiedBy>
  <cp:revision>1</cp:revision>
  <dcterms:created xsi:type="dcterms:W3CDTF">2026-10-03T17:08:51Z</dcterms:created>
  <dcterms:modified xsi:type="dcterms:W3CDTF">2026-10-03T17:08:51Z</dcterms:modified>
</cp:coreProperties>
</file>