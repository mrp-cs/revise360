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66bdaeaa204c75" /><Relationship Type="http://schemas.openxmlformats.org/officeDocument/2006/relationships/extended-properties" Target="/docProps/app.xml" Id="R824340194b2441f9" /><Relationship Type="http://schemas.openxmlformats.org/officeDocument/2006/relationships/officeDocument" Target="/ppt/presentation.xml" Id="Rae48adc4774f4c25" /></Relationships>
</file>

<file path=ppt/presentation.xml><?xml version="1.0" encoding="utf-8"?>
<p:presentation xmlns:p="http://schemas.openxmlformats.org/presentationml/2006/main">
  <p:sldMasterIdLst>
    <p:sldMasterId xmlns:r="http://schemas.openxmlformats.org/officeDocument/2006/relationships" id="2147483648" r:id="Rf25d6d544aa44f09"/>
  </p:sldMasterIdLst>
  <p:notesMasterIdLst>
    <p:notesMasterId xmlns:r="http://schemas.openxmlformats.org/officeDocument/2006/relationships" r:id="R3d976b4490de4035"/>
  </p:notesMasterIdLst>
  <p:sldIdLst>
    <p:sldId xmlns:r="http://schemas.openxmlformats.org/officeDocument/2006/relationships" id="256" r:id="R3ed1b37c58594a2f"/>
    <p:sldId xmlns:r="http://schemas.openxmlformats.org/officeDocument/2006/relationships" id="257" r:id="R677d5dcea8ee4fb6"/>
    <p:sldId xmlns:r="http://schemas.openxmlformats.org/officeDocument/2006/relationships" id="258" r:id="R6f5f391144334e6a"/>
    <p:sldId xmlns:r="http://schemas.openxmlformats.org/officeDocument/2006/relationships" id="259" r:id="R316bbf2b144742e1"/>
    <p:sldId xmlns:r="http://schemas.openxmlformats.org/officeDocument/2006/relationships" id="260" r:id="R36e90c936e5240d1"/>
    <p:sldId xmlns:r="http://schemas.openxmlformats.org/officeDocument/2006/relationships" id="261" r:id="Rf28ff055ca1a4389"/>
    <p:sldId xmlns:r="http://schemas.openxmlformats.org/officeDocument/2006/relationships" id="262" r:id="Re73e661418e44afb"/>
    <p:sldId xmlns:r="http://schemas.openxmlformats.org/officeDocument/2006/relationships" id="263" r:id="R9155cfbf086a49be"/>
    <p:sldId xmlns:r="http://schemas.openxmlformats.org/officeDocument/2006/relationships" id="264" r:id="R6f52fe87cce442a4"/>
    <p:sldId xmlns:r="http://schemas.openxmlformats.org/officeDocument/2006/relationships" id="265" r:id="R965b7aaa2b834665"/>
    <p:sldId xmlns:r="http://schemas.openxmlformats.org/officeDocument/2006/relationships" id="266" r:id="Rdc05e00a057f46b4"/>
    <p:sldId xmlns:r="http://schemas.openxmlformats.org/officeDocument/2006/relationships" id="267" r:id="Rbecc4be92c45478d"/>
    <p:sldId xmlns:r="http://schemas.openxmlformats.org/officeDocument/2006/relationships" id="268" r:id="R93c80617ffab44dd"/>
    <p:sldId xmlns:r="http://schemas.openxmlformats.org/officeDocument/2006/relationships" id="269" r:id="R238f1af1b8194de6"/>
    <p:sldId xmlns:r="http://schemas.openxmlformats.org/officeDocument/2006/relationships" id="270" r:id="R3cbebb2b9c54461d"/>
    <p:sldId xmlns:r="http://schemas.openxmlformats.org/officeDocument/2006/relationships" id="271" r:id="R9380762d52044b08"/>
    <p:sldId xmlns:r="http://schemas.openxmlformats.org/officeDocument/2006/relationships" id="272" r:id="Rb09b7e50c5824480"/>
    <p:sldId xmlns:r="http://schemas.openxmlformats.org/officeDocument/2006/relationships" id="273" r:id="R2539ecf7a69c41a2"/>
    <p:sldId xmlns:r="http://schemas.openxmlformats.org/officeDocument/2006/relationships" id="274" r:id="R9ae045368e5242c5"/>
    <p:sldId xmlns:r="http://schemas.openxmlformats.org/officeDocument/2006/relationships" id="275" r:id="R89ba6d1f4f8f43f9"/>
    <p:sldId xmlns:r="http://schemas.openxmlformats.org/officeDocument/2006/relationships" id="276" r:id="Rb19c12ad894842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d49de1d53845e3" /><Relationship Type="http://schemas.openxmlformats.org/officeDocument/2006/relationships/slideMaster" Target="/ppt/slideMasters/slideMaster1.xml" Id="Rf25d6d544aa44f09" /><Relationship Type="http://schemas.openxmlformats.org/officeDocument/2006/relationships/notesMaster" Target="/ppt/notesMasters/notesMaster1.xml" Id="R3d976b4490de4035" /><Relationship Type="http://schemas.openxmlformats.org/officeDocument/2006/relationships/presProps" Target="/ppt/presProps.xml" Id="Rcb6ca13d4ce84a94" /><Relationship Type="http://schemas.openxmlformats.org/officeDocument/2006/relationships/tableStyles" Target="/ppt/tableStyles.xml" Id="R1783c796192041e1" /><Relationship Type="http://schemas.openxmlformats.org/officeDocument/2006/relationships/slide" Target="/ppt/slides/slide1.xml" Id="R3ed1b37c58594a2f" /><Relationship Type="http://schemas.openxmlformats.org/officeDocument/2006/relationships/slide" Target="/ppt/slides/slide2.xml" Id="R677d5dcea8ee4fb6" /><Relationship Type="http://schemas.openxmlformats.org/officeDocument/2006/relationships/slide" Target="/ppt/slides/slide3.xml" Id="R6f5f391144334e6a" /><Relationship Type="http://schemas.openxmlformats.org/officeDocument/2006/relationships/slide" Target="/ppt/slides/slide4.xml" Id="R316bbf2b144742e1" /><Relationship Type="http://schemas.openxmlformats.org/officeDocument/2006/relationships/slide" Target="/ppt/slides/slide5.xml" Id="R36e90c936e5240d1" /><Relationship Type="http://schemas.openxmlformats.org/officeDocument/2006/relationships/slide" Target="/ppt/slides/slide6.xml" Id="Rf28ff055ca1a4389" /><Relationship Type="http://schemas.openxmlformats.org/officeDocument/2006/relationships/slide" Target="/ppt/slides/slide7.xml" Id="Re73e661418e44afb" /><Relationship Type="http://schemas.openxmlformats.org/officeDocument/2006/relationships/slide" Target="/ppt/slides/slide8.xml" Id="R9155cfbf086a49be" /><Relationship Type="http://schemas.openxmlformats.org/officeDocument/2006/relationships/slide" Target="/ppt/slides/slide9.xml" Id="R6f52fe87cce442a4" /><Relationship Type="http://schemas.openxmlformats.org/officeDocument/2006/relationships/slide" Target="/ppt/slides/slide10.xml" Id="R965b7aaa2b834665" /><Relationship Type="http://schemas.openxmlformats.org/officeDocument/2006/relationships/slide" Target="/ppt/slides/slide11.xml" Id="Rdc05e00a057f46b4" /><Relationship Type="http://schemas.openxmlformats.org/officeDocument/2006/relationships/slide" Target="/ppt/slides/slide12.xml" Id="Rbecc4be92c45478d" /><Relationship Type="http://schemas.openxmlformats.org/officeDocument/2006/relationships/slide" Target="/ppt/slides/slide13.xml" Id="R93c80617ffab44dd" /><Relationship Type="http://schemas.openxmlformats.org/officeDocument/2006/relationships/slide" Target="/ppt/slides/slide14.xml" Id="R238f1af1b8194de6" /><Relationship Type="http://schemas.openxmlformats.org/officeDocument/2006/relationships/slide" Target="/ppt/slides/slide15.xml" Id="R3cbebb2b9c54461d" /><Relationship Type="http://schemas.openxmlformats.org/officeDocument/2006/relationships/slide" Target="/ppt/slides/slide16.xml" Id="R9380762d52044b08" /><Relationship Type="http://schemas.openxmlformats.org/officeDocument/2006/relationships/slide" Target="/ppt/slides/slide17.xml" Id="Rb09b7e50c5824480" /><Relationship Type="http://schemas.openxmlformats.org/officeDocument/2006/relationships/slide" Target="/ppt/slides/slide18.xml" Id="R2539ecf7a69c41a2" /><Relationship Type="http://schemas.openxmlformats.org/officeDocument/2006/relationships/slide" Target="/ppt/slides/slide19.xml" Id="R9ae045368e5242c5" /><Relationship Type="http://schemas.openxmlformats.org/officeDocument/2006/relationships/slide" Target="/ppt/slides/slide20.xml" Id="R89ba6d1f4f8f43f9" /><Relationship Type="http://schemas.openxmlformats.org/officeDocument/2006/relationships/slide" Target="/ppt/slides/slide21.xml" Id="Rb19c12ad894842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25649a4f8346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f6b22e64724442" /><Relationship Type="http://schemas.openxmlformats.org/officeDocument/2006/relationships/notesMaster" Target="/ppt/notesMasters/notesMaster1.xml" Id="R45f318e68b7a4d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a2841a93184201" /><Relationship Type="http://schemas.openxmlformats.org/officeDocument/2006/relationships/notesMaster" Target="/ppt/notesMasters/notesMaster1.xml" Id="R8716206a8d4b4b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7dc953c7934414" /><Relationship Type="http://schemas.openxmlformats.org/officeDocument/2006/relationships/notesMaster" Target="/ppt/notesMasters/notesMaster1.xml" Id="Ra2ba2a3f86d44d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b27ecba46c4aa7" /><Relationship Type="http://schemas.openxmlformats.org/officeDocument/2006/relationships/notesMaster" Target="/ppt/notesMasters/notesMaster1.xml" Id="Rb29948b81f2149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5fdb30cc414013" /><Relationship Type="http://schemas.openxmlformats.org/officeDocument/2006/relationships/notesMaster" Target="/ppt/notesMasters/notesMaster1.xml" Id="R8ffecbf04ade40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4adaafe04c4eb0" /><Relationship Type="http://schemas.openxmlformats.org/officeDocument/2006/relationships/notesMaster" Target="/ppt/notesMasters/notesMaster1.xml" Id="R31d93e2aa67243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43f98f3d5a41fc" /><Relationship Type="http://schemas.openxmlformats.org/officeDocument/2006/relationships/notesMaster" Target="/ppt/notesMasters/notesMaster1.xml" Id="Rdae85565e8054e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2b1026c69940bf" /><Relationship Type="http://schemas.openxmlformats.org/officeDocument/2006/relationships/notesMaster" Target="/ppt/notesMasters/notesMaster1.xml" Id="R3b4fba760cee49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061973fb15425f" /><Relationship Type="http://schemas.openxmlformats.org/officeDocument/2006/relationships/notesMaster" Target="/ppt/notesMasters/notesMaster1.xml" Id="Rd1db7355f189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42ce6db8544ab8" /><Relationship Type="http://schemas.openxmlformats.org/officeDocument/2006/relationships/notesMaster" Target="/ppt/notesMasters/notesMaster1.xml" Id="Ra07a4c68b2f2422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14cfd6c10646ad" /><Relationship Type="http://schemas.openxmlformats.org/officeDocument/2006/relationships/notesMaster" Target="/ppt/notesMasters/notesMaster1.xml" Id="R2700284fbc9f4f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1b5de6312664bd5" /><Relationship Type="http://schemas.openxmlformats.org/officeDocument/2006/relationships/notesMaster" Target="/ppt/notesMasters/notesMaster1.xml" Id="Rf360621a36994b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956b35d845467b" /><Relationship Type="http://schemas.openxmlformats.org/officeDocument/2006/relationships/notesMaster" Target="/ppt/notesMasters/notesMaster1.xml" Id="Rf9f68edb88de4d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b39903b56c0444f" /><Relationship Type="http://schemas.openxmlformats.org/officeDocument/2006/relationships/notesMaster" Target="/ppt/notesMasters/notesMaster1.xml" Id="R904de34113e442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4e09573404c4e6e" /><Relationship Type="http://schemas.openxmlformats.org/officeDocument/2006/relationships/notesMaster" Target="/ppt/notesMasters/notesMaster1.xml" Id="Rbaa422f61f02448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0318ed82e83492c" /><Relationship Type="http://schemas.openxmlformats.org/officeDocument/2006/relationships/notesMaster" Target="/ppt/notesMasters/notesMaster1.xml" Id="R04b9f623a0b64f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72dd6d13a414460" /><Relationship Type="http://schemas.openxmlformats.org/officeDocument/2006/relationships/notesMaster" Target="/ppt/notesMasters/notesMaster1.xml" Id="R9deb1802f06d48c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dcf092d64144895" /><Relationship Type="http://schemas.openxmlformats.org/officeDocument/2006/relationships/notesMaster" Target="/ppt/notesMasters/notesMaster1.xml" Id="Re6ee0b2529d0449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5eaf60ab6146b0" /><Relationship Type="http://schemas.openxmlformats.org/officeDocument/2006/relationships/notesMaster" Target="/ppt/notesMasters/notesMaster1.xml" Id="R7829ce8f7c8f417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8814670252415c" /><Relationship Type="http://schemas.openxmlformats.org/officeDocument/2006/relationships/notesMaster" Target="/ppt/notesMasters/notesMaster1.xml" Id="Rf7abf36abf344e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d09680dc6d49a9" /><Relationship Type="http://schemas.openxmlformats.org/officeDocument/2006/relationships/notesMaster" Target="/ppt/notesMasters/notesMaster1.xml" Id="R2af9f2d11de443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Students should keep the experience closed until slide 7.</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slide where students open the experience file. Leave it visible while they get set up. The link opens the matching experience.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image is a straight-on perspective view of stations 1 and 2 in the actual experience. Students should record the key fact and their own answer before selecting each badge.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students have reached the score screen, they copy the mark straight away. The key question is printed on the worksheet after the score box.</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worksheet also asks pupils to classify parts of a washing machine as input, process or output. Ask them to justify ambiguous examples by the dedicated function. Ask students to revise one sentence after self-check.</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revision checklist appears after exam practice on the Lesson 4 worksheet. Ask students to circle red, amber or green in each row.</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3ca9eb6d3444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18dc3e51ea4930" /><Relationship Type="http://schemas.openxmlformats.org/officeDocument/2006/relationships/slideLayout" Target="/ppt/slideLayouts/slideLayout1.xml" Id="Reece961c82514e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ce961c82514e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48f6b609894f88" /><Relationship Type="http://schemas.openxmlformats.org/officeDocument/2006/relationships/image" Target="/ppt/media/image.jpeg" Id="Rad25c86ec9e74179" /><Relationship Type="http://schemas.openxmlformats.org/officeDocument/2006/relationships/notesSlide" Target="/ppt/notesSlides/notesSlide1.xml" Id="Rd851acc85a8744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6dd6e4c5f44ab7" /><Relationship Type="http://schemas.openxmlformats.org/officeDocument/2006/relationships/notesSlide" Target="/ppt/notesSlides/notesSlide2.xml" Id="R02125779398544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4c6da2e7ca440b" /><Relationship Type="http://schemas.openxmlformats.org/officeDocument/2006/relationships/notesSlide" Target="/ppt/notesSlides/notesSlide3.xml" Id="R4639bdb86b0346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252d3caa33a49ac" /><Relationship Type="http://schemas.openxmlformats.org/officeDocument/2006/relationships/notesSlide" Target="/ppt/notesSlides/notesSlide4.xml" Id="R5ae76b0c1d6442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cb31e608cb4313" /><Relationship Type="http://schemas.openxmlformats.org/officeDocument/2006/relationships/notesSlide" Target="/ppt/notesSlides/notesSlide5.xml" Id="R4134bfc0aaf04b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9be37b081a6496b" /><Relationship Type="http://schemas.openxmlformats.org/officeDocument/2006/relationships/notesSlide" Target="/ppt/notesSlides/notesSlide6.xml" Id="Re99fb02350b44a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1724b81c8f94bda" /><Relationship Type="http://schemas.openxmlformats.org/officeDocument/2006/relationships/hyperlink" Target="https://mrp-cs.github.io/Revise360/experience.html?id=sa-l04" TargetMode="External" Id="Rad52a04f6b2140f3" /><Relationship Type="http://schemas.openxmlformats.org/officeDocument/2006/relationships/notesSlide" Target="/ppt/notesSlides/notesSlide7.xml" Id="Rd57cec9444d146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b082161f7cc4553" /><Relationship Type="http://schemas.openxmlformats.org/officeDocument/2006/relationships/image" Target="/ppt/media/image2.jpeg" Id="R3b14ff56fb7642b1" /><Relationship Type="http://schemas.openxmlformats.org/officeDocument/2006/relationships/notesSlide" Target="/ppt/notesSlides/notesSlide8.xml" Id="Rd73eda6c3512494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f028c0573242df" /><Relationship Type="http://schemas.openxmlformats.org/officeDocument/2006/relationships/notesSlide" Target="/ppt/notesSlides/notesSlide9.xml" Id="R1108efdf61c345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754ebe816fc461f" /><Relationship Type="http://schemas.openxmlformats.org/officeDocument/2006/relationships/notesSlide" Target="/ppt/notesSlides/notesSlide10.xml" Id="R853568e0e31e4d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55ba315cbf9475f" /><Relationship Type="http://schemas.openxmlformats.org/officeDocument/2006/relationships/notesSlide" Target="/ppt/notesSlides/notesSlide11.xml" Id="Rb8726413f56e4e3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426eda1bd6048fe" /><Relationship Type="http://schemas.openxmlformats.org/officeDocument/2006/relationships/notesSlide" Target="/ppt/notesSlides/notesSlide12.xml" Id="R8779128bbb9244b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88f738de664b09" /><Relationship Type="http://schemas.openxmlformats.org/officeDocument/2006/relationships/notesSlide" Target="/ppt/notesSlides/notesSlide13.xml" Id="R9c440e8304b74aa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2edd38404db46a5" /><Relationship Type="http://schemas.openxmlformats.org/officeDocument/2006/relationships/notesSlide" Target="/ppt/notesSlides/notesSlide14.xml" Id="R87858df989974a5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b9efbbb23374952" /><Relationship Type="http://schemas.openxmlformats.org/officeDocument/2006/relationships/notesSlide" Target="/ppt/notesSlides/notesSlide15.xml" Id="R95b0afc3679243f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c700158977a47bb" /><Relationship Type="http://schemas.openxmlformats.org/officeDocument/2006/relationships/notesSlide" Target="/ppt/notesSlides/notesSlide16.xml" Id="Rb28c484c477448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a6b490f444f49ac" /><Relationship Type="http://schemas.openxmlformats.org/officeDocument/2006/relationships/notesSlide" Target="/ppt/notesSlides/notesSlide17.xml" Id="R643f181f9ef3447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40dafe971ec4136" /><Relationship Type="http://schemas.openxmlformats.org/officeDocument/2006/relationships/notesSlide" Target="/ppt/notesSlides/notesSlide18.xml" Id="Rfac504a27d7b4c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c23b29a2d844140" /><Relationship Type="http://schemas.openxmlformats.org/officeDocument/2006/relationships/notesSlide" Target="/ppt/notesSlides/notesSlide19.xml" Id="R82291c1f6d004cc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951734217574694" /><Relationship Type="http://schemas.openxmlformats.org/officeDocument/2006/relationships/notesSlide" Target="/ppt/notesSlides/notesSlide20.xml" Id="R8d8a190f26214eb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bdf5b2db5a4f1d" /><Relationship Type="http://schemas.openxmlformats.org/officeDocument/2006/relationships/notesSlide" Target="/ppt/notesSlides/notesSlide21.xml" Id="R839a9cf1b29a4339"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9C637BFF-C753-4561-BA90-8D1A7B5D8CD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04</a:t>
            </a:r>
          </a:p>
        </p:txBody>
      </p:sp>
      <p:sp>
        <p:nvSpPr>
          <p:cNvPr id="2" name="heading">
            <a:extLst xmlns:a="http://schemas.openxmlformats.org/drawingml/2006/main">
              <a:ext uri="{FF2B5EF4-FFF2-40B4-BE49-F238E27FC236}">
                <a16:creationId xmlns:a16="http://schemas.microsoft.com/office/drawing/2014/main" id="{BC5833B3-D704-480B-A8C1-41583FD7323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SMART HOME</a:t>
            </a:r>
          </a:p>
        </p:txBody>
      </p:sp>
      <p:sp>
        <p:nvSpPr>
          <p:cNvPr id="3" name="footer">
            <a:extLst xmlns:a="http://schemas.openxmlformats.org/drawingml/2006/main">
              <a:ext uri="{FF2B5EF4-FFF2-40B4-BE49-F238E27FC236}">
                <a16:creationId xmlns:a16="http://schemas.microsoft.com/office/drawing/2014/main" id="{E41CD778-0DD8-4575-A33B-5B314484BE87}"/>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D188D54D-1450-40F1-B7F7-5869048A558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1 / 21</a:t>
            </a:r>
          </a:p>
        </p:txBody>
      </p:sp>
      <p:sp>
        <p:nvSpPr>
          <p:cNvPr id="5" name="subject">
            <a:extLst xmlns:a="http://schemas.openxmlformats.org/drawingml/2006/main">
              <a:ext uri="{FF2B5EF4-FFF2-40B4-BE49-F238E27FC236}">
                <a16:creationId xmlns:a16="http://schemas.microsoft.com/office/drawing/2014/main" id="{CEAA4004-C2DC-415F-844C-0D259CD4B927}"/>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Embedded systems</a:t>
            </a:r>
          </a:p>
        </p:txBody>
      </p:sp>
      <p:sp>
        <p:nvSpPr>
          <p:cNvPr id="6" name="cover-note">
            <a:extLst xmlns:a="http://schemas.openxmlformats.org/drawingml/2006/main">
              <a:ext uri="{FF2B5EF4-FFF2-40B4-BE49-F238E27FC236}">
                <a16:creationId xmlns:a16="http://schemas.microsoft.com/office/drawing/2014/main" id="{FF3ADF51-AB07-434A-B686-41EAC3DBC841}"/>
              </a:ext>
            </a:extLst>
          </p:cNvPr>
          <p:cNvSpPr>
            <a:spLocks xmlns:a="http://schemas.openxmlformats.org/drawingml/2006/main" noGrp="1"/>
          </p:cNvSpPr>
          <p:nvPr/>
        </p:nvSpPr>
        <p:spPr>
          <a:xfrm xmlns:a="http://schemas.openxmlformats.org/drawingml/2006/main">
            <a:off x="685800" y="3267075"/>
            <a:ext cx="51435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Start with your worksheet.</a:t>
            </a:r>
          </a:p>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the experience after the starter and key terms have been marked.</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d25c86ec9e74179"/>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35269352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opic">
            <a:extLst xmlns:a="http://schemas.openxmlformats.org/drawingml/2006/main">
              <a:ext uri="{FF2B5EF4-FFF2-40B4-BE49-F238E27FC236}">
                <a16:creationId xmlns:a16="http://schemas.microsoft.com/office/drawing/2014/main" id="{7C38111B-3FB1-4316-A717-03CB971204D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a:t>
            </a:r>
          </a:p>
        </p:txBody>
      </p:sp>
      <p:sp>
        <p:nvSpPr>
          <p:cNvPr id="2" name="heading">
            <a:extLst xmlns:a="http://schemas.openxmlformats.org/drawingml/2006/main">
              <a:ext uri="{FF2B5EF4-FFF2-40B4-BE49-F238E27FC236}">
                <a16:creationId xmlns:a16="http://schemas.microsoft.com/office/drawing/2014/main" id="{69EE85B3-B463-46C5-94E2-8328C9891B0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sp>
        <p:nvSpPr>
          <p:cNvPr id="3" name="footer">
            <a:extLst xmlns:a="http://schemas.openxmlformats.org/drawingml/2006/main">
              <a:ext uri="{FF2B5EF4-FFF2-40B4-BE49-F238E27FC236}">
                <a16:creationId xmlns:a16="http://schemas.microsoft.com/office/drawing/2014/main" id="{6E54B21C-1401-44DF-B485-D3CA0119E496}"/>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08AD6A06-D638-40B3-9D74-782125FCAAF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21</a:t>
            </a:r>
          </a:p>
        </p:txBody>
      </p:sp>
      <p:sp>
        <p:nvSpPr>
          <p:cNvPr id="5" name="outcome-intro">
            <a:extLst xmlns:a="http://schemas.openxmlformats.org/drawingml/2006/main">
              <a:ext uri="{FF2B5EF4-FFF2-40B4-BE49-F238E27FC236}">
                <a16:creationId xmlns:a16="http://schemas.microsoft.com/office/drawing/2014/main" id="{636DF8D6-DEBD-44CD-A3BE-65BD7642FAA5}"/>
              </a:ext>
            </a:extLst>
          </p:cNvPr>
          <p:cNvSpPr>
            <a:spLocks xmlns:a="http://schemas.openxmlformats.org/drawingml/2006/main" noGrp="1"/>
          </p:cNvSpPr>
          <p:nvPr/>
        </p:nvSpPr>
        <p:spPr>
          <a:xfrm xmlns:a="http://schemas.openxmlformats.org/drawingml/2006/main">
            <a:off x="704850" y="15811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Your worksheet lists these learning outcomes:</a:t>
            </a:r>
          </a:p>
        </p:txBody>
      </p:sp>
      <p:sp>
        <p:nvSpPr>
          <p:cNvPr id="6" name="number-1">
            <a:extLst xmlns:a="http://schemas.openxmlformats.org/drawingml/2006/main">
              <a:ext uri="{FF2B5EF4-FFF2-40B4-BE49-F238E27FC236}">
                <a16:creationId xmlns:a16="http://schemas.microsoft.com/office/drawing/2014/main" id="{0EA39C02-F133-448D-86FD-BA471A2E0436}"/>
              </a:ext>
            </a:extLst>
          </p:cNvPr>
          <p:cNvSpPr>
            <a:spLocks xmlns:a="http://schemas.openxmlformats.org/drawingml/2006/main" noGrp="1"/>
          </p:cNvSpPr>
          <p:nvPr/>
        </p:nvSpPr>
        <p:spPr>
          <a:xfrm xmlns:a="http://schemas.openxmlformats.org/drawingml/2006/main">
            <a:off x="723900" y="2266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E78FF4AB-2501-4FA3-B31B-3FE46F19DC68}"/>
              </a:ext>
            </a:extLst>
          </p:cNvPr>
          <p:cNvSpPr>
            <a:spLocks xmlns:a="http://schemas.openxmlformats.org/drawingml/2006/main" noGrp="1"/>
          </p:cNvSpPr>
          <p:nvPr/>
        </p:nvSpPr>
        <p:spPr>
          <a:xfrm xmlns:a="http://schemas.openxmlformats.org/drawingml/2006/main">
            <a:off x="1352550" y="2266950"/>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what is meant by the term embedded system</a:t>
            </a:r>
          </a:p>
        </p:txBody>
      </p:sp>
      <p:sp>
        <p:nvSpPr>
          <p:cNvPr id="8" name="number-2">
            <a:extLst xmlns:a="http://schemas.openxmlformats.org/drawingml/2006/main">
              <a:ext uri="{FF2B5EF4-FFF2-40B4-BE49-F238E27FC236}">
                <a16:creationId xmlns:a16="http://schemas.microsoft.com/office/drawing/2014/main" id="{8C2FC3F4-BB65-40A5-8874-3939A9D24802}"/>
              </a:ext>
            </a:extLst>
          </p:cNvPr>
          <p:cNvSpPr>
            <a:spLocks xmlns:a="http://schemas.openxmlformats.org/drawingml/2006/main" noGrp="1"/>
          </p:cNvSpPr>
          <p:nvPr/>
        </p:nvSpPr>
        <p:spPr>
          <a:xfrm xmlns:a="http://schemas.openxmlformats.org/drawingml/2006/main">
            <a:off x="723900" y="33623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D3934854-E5C9-401C-A3EC-C8480D8A5542}"/>
              </a:ext>
            </a:extLst>
          </p:cNvPr>
          <p:cNvSpPr>
            <a:spLocks xmlns:a="http://schemas.openxmlformats.org/drawingml/2006/main" noGrp="1"/>
          </p:cNvSpPr>
          <p:nvPr/>
        </p:nvSpPr>
        <p:spPr>
          <a:xfrm xmlns:a="http://schemas.openxmlformats.org/drawingml/2006/main">
            <a:off x="1352550" y="3362325"/>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several examples of embedded systems</a:t>
            </a:r>
          </a:p>
        </p:txBody>
      </p:sp>
      <p:sp>
        <p:nvSpPr>
          <p:cNvPr id="10" name="number-3">
            <a:extLst xmlns:a="http://schemas.openxmlformats.org/drawingml/2006/main">
              <a:ext uri="{FF2B5EF4-FFF2-40B4-BE49-F238E27FC236}">
                <a16:creationId xmlns:a16="http://schemas.microsoft.com/office/drawing/2014/main" id="{42122B21-0565-40DE-9C66-734AC4938C14}"/>
              </a:ext>
            </a:extLst>
          </p:cNvPr>
          <p:cNvSpPr>
            <a:spLocks xmlns:a="http://schemas.openxmlformats.org/drawingml/2006/main" noGrp="1"/>
          </p:cNvSpPr>
          <p:nvPr/>
        </p:nvSpPr>
        <p:spPr>
          <a:xfrm xmlns:a="http://schemas.openxmlformats.org/drawingml/2006/main">
            <a:off x="723900" y="44577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2D0A258B-DFB0-4CE0-BC25-82210B4ACCC1}"/>
              </a:ext>
            </a:extLst>
          </p:cNvPr>
          <p:cNvSpPr>
            <a:spLocks xmlns:a="http://schemas.openxmlformats.org/drawingml/2006/main" noGrp="1"/>
          </p:cNvSpPr>
          <p:nvPr/>
        </p:nvSpPr>
        <p:spPr>
          <a:xfrm xmlns:a="http://schemas.openxmlformats.org/drawingml/2006/main">
            <a:off x="1352550" y="4457700"/>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how to program</a:t>
            </a:r>
          </a:p>
        </p:txBody>
      </p:sp>
      <p:sp>
        <p:nvSpPr>
          <p:cNvPr id="12" name="starter-next">
            <a:extLst xmlns:a="http://schemas.openxmlformats.org/drawingml/2006/main">
              <a:ext uri="{FF2B5EF4-FFF2-40B4-BE49-F238E27FC236}">
                <a16:creationId xmlns:a16="http://schemas.microsoft.com/office/drawing/2014/main" id="{62C727BD-AF2A-47AB-A4D9-E4ABA498A6CA}"/>
              </a:ext>
            </a:extLst>
          </p:cNvPr>
          <p:cNvSpPr>
            <a:spLocks xmlns:a="http://schemas.openxmlformats.org/drawingml/2006/main" noGrp="1"/>
          </p:cNvSpPr>
          <p:nvPr/>
        </p:nvSpPr>
        <p:spPr>
          <a:xfrm xmlns:a="http://schemas.openxmlformats.org/drawingml/2006/main">
            <a:off x="704850" y="57816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D63FF"/>
                </a:solidFill>
                <a:latin typeface="DejaVu Sans"/>
                <a:ea typeface="DejaVu Sans"/>
                <a:cs typeface="DejaVu Sans"/>
              </a:defRPr>
            </a:pPr>
            <a:r>
              <a:rPr sz="1650" b="1">
                <a:solidFill>
                  <a:srgbClr val="2D63FF"/>
                </a:solidFill>
                <a:latin typeface="DejaVu Sans"/>
                <a:ea typeface="DejaVu Sans"/>
                <a:cs typeface="DejaVu Sans"/>
              </a:rPr>
              <a:t>Complete the experience in this lesson; finish with the plenary knowledge check.</a:t>
            </a:r>
          </a:p>
        </p:txBody>
      </p:sp>
    </p:spTree>
    <p:extLst>
      <p:ext uri="{BB962C8B-B14F-4D97-AF65-F5344CB8AC3E}">
        <p14:creationId xmlns:p14="http://schemas.microsoft.com/office/powerpoint/2010/main" val="1920613299"/>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7BE84830-AEF3-4607-B95B-7CE9248AA62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 STARTER</a:t>
            </a:r>
          </a:p>
        </p:txBody>
      </p:sp>
      <p:sp>
        <p:nvSpPr>
          <p:cNvPr id="2" name="heading">
            <a:extLst xmlns:a="http://schemas.openxmlformats.org/drawingml/2006/main">
              <a:ext uri="{FF2B5EF4-FFF2-40B4-BE49-F238E27FC236}">
                <a16:creationId xmlns:a16="http://schemas.microsoft.com/office/drawing/2014/main" id="{EF6D4876-BD2D-47C1-9B34-5E639138B63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sp>
        <p:nvSpPr>
          <p:cNvPr id="3" name="footer">
            <a:extLst xmlns:a="http://schemas.openxmlformats.org/drawingml/2006/main">
              <a:ext uri="{FF2B5EF4-FFF2-40B4-BE49-F238E27FC236}">
                <a16:creationId xmlns:a16="http://schemas.microsoft.com/office/drawing/2014/main" id="{ABEA642B-3B71-4286-A055-C3FF5F172B7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50B9BF64-B42C-4368-A1CC-3591B7E6563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21</a:t>
            </a:r>
          </a:p>
        </p:txBody>
      </p:sp>
      <p:sp>
        <p:nvSpPr>
          <p:cNvPr id="5" name="write-first">
            <a:extLst xmlns:a="http://schemas.openxmlformats.org/drawingml/2006/main">
              <a:ext uri="{FF2B5EF4-FFF2-40B4-BE49-F238E27FC236}">
                <a16:creationId xmlns:a16="http://schemas.microsoft.com/office/drawing/2014/main" id="{B47E8C87-1522-451B-BCF7-9698B3C3DF08}"/>
              </a:ext>
            </a:extLst>
          </p:cNvPr>
          <p:cNvSpPr>
            <a:spLocks xmlns:a="http://schemas.openxmlformats.org/drawingml/2006/main" noGrp="1"/>
          </p:cNvSpPr>
          <p:nvPr/>
        </p:nvSpPr>
        <p:spPr>
          <a:xfrm xmlns:a="http://schemas.openxmlformats.org/drawingml/2006/main">
            <a:off x="704850" y="15621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Answer the starter question in the box on your worksheet.</a:t>
            </a:r>
          </a:p>
        </p:txBody>
      </p:sp>
      <p:sp>
        <p:nvSpPr>
          <p:cNvPr id="6" name="worksheet-starter">
            <a:extLst xmlns:a="http://schemas.openxmlformats.org/drawingml/2006/main">
              <a:ext uri="{FF2B5EF4-FFF2-40B4-BE49-F238E27FC236}">
                <a16:creationId xmlns:a16="http://schemas.microsoft.com/office/drawing/2014/main" id="{602025D5-11A1-438D-92D1-5146B91ADC00}"/>
              </a:ext>
            </a:extLst>
          </p:cNvPr>
          <p:cNvSpPr>
            <a:spLocks xmlns:a="http://schemas.openxmlformats.org/drawingml/2006/main" noGrp="1"/>
          </p:cNvSpPr>
          <p:nvPr/>
        </p:nvSpPr>
        <p:spPr>
          <a:xfrm xmlns:a="http://schemas.openxmlformats.org/drawingml/2006/main">
            <a:off x="704850" y="2438400"/>
            <a:ext cx="10572750" cy="2609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List five devices in your home that contain a computer but don't look like one. What does each one do with the data it collects?</a:t>
            </a:r>
          </a:p>
        </p:txBody>
      </p:sp>
      <p:sp>
        <p:nvSpPr>
          <p:cNvPr id="7" name="no-open">
            <a:extLst xmlns:a="http://schemas.openxmlformats.org/drawingml/2006/main">
              <a:ext uri="{FF2B5EF4-FFF2-40B4-BE49-F238E27FC236}">
                <a16:creationId xmlns:a16="http://schemas.microsoft.com/office/drawing/2014/main" id="{91E86541-37D4-486D-B7A4-8D0E90D908D4}"/>
              </a:ext>
            </a:extLst>
          </p:cNvPr>
          <p:cNvSpPr>
            <a:spLocks xmlns:a="http://schemas.openxmlformats.org/drawingml/2006/main" noGrp="1"/>
          </p:cNvSpPr>
          <p:nvPr/>
        </p:nvSpPr>
        <p:spPr>
          <a:xfrm xmlns:a="http://schemas.openxmlformats.org/drawingml/2006/main">
            <a:off x="704850" y="54768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2D63FF"/>
                </a:solidFill>
                <a:latin typeface="DejaVu Sans"/>
                <a:ea typeface="DejaVu Sans"/>
                <a:cs typeface="DejaVu Sans"/>
              </a:defRPr>
            </a:pPr>
            <a:r>
              <a:rPr sz="1725" b="0">
                <a:solidFill>
                  <a:srgbClr val="2D63FF"/>
                </a:solidFill>
                <a:latin typeface="DejaVu Sans"/>
                <a:ea typeface="DejaVu Sans"/>
                <a:cs typeface="DejaVu Sans"/>
              </a:rPr>
              <a:t>Keep the experience closed until the starter and key terms are checked.</a:t>
            </a:r>
          </a:p>
        </p:txBody>
      </p:sp>
    </p:spTree>
    <p:extLst>
      <p:ext uri="{BB962C8B-B14F-4D97-AF65-F5344CB8AC3E}">
        <p14:creationId xmlns:p14="http://schemas.microsoft.com/office/powerpoint/2010/main" val="260397402"/>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6" name="topic">
            <a:extLst xmlns:a="http://schemas.openxmlformats.org/drawingml/2006/main">
              <a:ext uri="{FF2B5EF4-FFF2-40B4-BE49-F238E27FC236}">
                <a16:creationId xmlns:a16="http://schemas.microsoft.com/office/drawing/2014/main" id="{C0730322-B700-4366-99EF-C6392B54168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4B2AE49D-B2D5-4EB6-985C-31964D841E0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sp>
        <p:nvSpPr>
          <p:cNvPr id="3" name="footer">
            <a:extLst xmlns:a="http://schemas.openxmlformats.org/drawingml/2006/main">
              <a:ext uri="{FF2B5EF4-FFF2-40B4-BE49-F238E27FC236}">
                <a16:creationId xmlns:a16="http://schemas.microsoft.com/office/drawing/2014/main" id="{9013D06B-279B-4BAE-B8F8-7EF5FCD16686}"/>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B749D003-A757-405B-AD95-709323955A0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21</a:t>
            </a:r>
          </a:p>
        </p:txBody>
      </p:sp>
      <p:sp>
        <p:nvSpPr>
          <p:cNvPr id="5" name="sample-note">
            <a:extLst xmlns:a="http://schemas.openxmlformats.org/drawingml/2006/main">
              <a:ext uri="{FF2B5EF4-FFF2-40B4-BE49-F238E27FC236}">
                <a16:creationId xmlns:a16="http://schemas.microsoft.com/office/drawing/2014/main" id="{D1B2A255-10EA-4132-BF70-16697BDBA584}"/>
              </a:ext>
            </a:extLst>
          </p:cNvPr>
          <p:cNvSpPr>
            <a:spLocks xmlns:a="http://schemas.openxmlformats.org/drawingml/2006/main" noGrp="1"/>
          </p:cNvSpPr>
          <p:nvPr/>
        </p:nvSpPr>
        <p:spPr>
          <a:xfrm xmlns:a="http://schemas.openxmlformats.org/drawingml/2006/main">
            <a:off x="704850" y="156210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worksheet answer with these examples. Other accurate examples count.</a:t>
            </a:r>
          </a:p>
        </p:txBody>
      </p:sp>
      <p:sp>
        <p:nvSpPr>
          <p:cNvPr id="6" name="number-1">
            <a:extLst xmlns:a="http://schemas.openxmlformats.org/drawingml/2006/main">
              <a:ext uri="{FF2B5EF4-FFF2-40B4-BE49-F238E27FC236}">
                <a16:creationId xmlns:a16="http://schemas.microsoft.com/office/drawing/2014/main" id="{CE4161FA-0B17-463A-B001-D004734342CF}"/>
              </a:ext>
            </a:extLst>
          </p:cNvPr>
          <p:cNvSpPr>
            <a:spLocks xmlns:a="http://schemas.openxmlformats.org/drawingml/2006/main" noGrp="1"/>
          </p:cNvSpPr>
          <p:nvPr/>
        </p:nvSpPr>
        <p:spPr>
          <a:xfrm xmlns:a="http://schemas.openxmlformats.org/drawingml/2006/main">
            <a:off x="723900" y="2247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2D63FF"/>
                </a:solidFill>
                <a:latin typeface="DejaVu Sans"/>
                <a:ea typeface="DejaVu Sans"/>
                <a:cs typeface="DejaVu Sans"/>
              </a:defRPr>
            </a:pPr>
            <a:r>
              <a:rPr sz="180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F30A5943-1D14-4B28-8030-887B22D62895}"/>
              </a:ext>
            </a:extLst>
          </p:cNvPr>
          <p:cNvSpPr>
            <a:spLocks xmlns:a="http://schemas.openxmlformats.org/drawingml/2006/main" noGrp="1"/>
          </p:cNvSpPr>
          <p:nvPr/>
        </p:nvSpPr>
        <p:spPr>
          <a:xfrm xmlns:a="http://schemas.openxmlformats.org/drawingml/2006/main">
            <a:off x="1352550" y="2247900"/>
            <a:ext cx="99250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Washing machine: reads temperature and controls the heater.</a:t>
            </a:r>
          </a:p>
        </p:txBody>
      </p:sp>
      <p:sp>
        <p:nvSpPr>
          <p:cNvPr id="8" name="number-2">
            <a:extLst xmlns:a="http://schemas.openxmlformats.org/drawingml/2006/main">
              <a:ext uri="{FF2B5EF4-FFF2-40B4-BE49-F238E27FC236}">
                <a16:creationId xmlns:a16="http://schemas.microsoft.com/office/drawing/2014/main" id="{748826EE-70CE-4ADB-B09A-09000F9FB966}"/>
              </a:ext>
            </a:extLst>
          </p:cNvPr>
          <p:cNvSpPr>
            <a:spLocks xmlns:a="http://schemas.openxmlformats.org/drawingml/2006/main" noGrp="1"/>
          </p:cNvSpPr>
          <p:nvPr/>
        </p:nvSpPr>
        <p:spPr>
          <a:xfrm xmlns:a="http://schemas.openxmlformats.org/drawingml/2006/main">
            <a:off x="723900" y="29432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2D63FF"/>
                </a:solidFill>
                <a:latin typeface="DejaVu Sans"/>
                <a:ea typeface="DejaVu Sans"/>
                <a:cs typeface="DejaVu Sans"/>
              </a:defRPr>
            </a:pPr>
            <a:r>
              <a:rPr sz="180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8452996D-1C97-4E97-9110-95925F48A257}"/>
              </a:ext>
            </a:extLst>
          </p:cNvPr>
          <p:cNvSpPr>
            <a:spLocks xmlns:a="http://schemas.openxmlformats.org/drawingml/2006/main" noGrp="1"/>
          </p:cNvSpPr>
          <p:nvPr/>
        </p:nvSpPr>
        <p:spPr>
          <a:xfrm xmlns:a="http://schemas.openxmlformats.org/drawingml/2006/main">
            <a:off x="1352550" y="2943225"/>
            <a:ext cx="99250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Thermostat: reads room temperature and switches the heating.</a:t>
            </a:r>
          </a:p>
        </p:txBody>
      </p:sp>
      <p:sp>
        <p:nvSpPr>
          <p:cNvPr id="10" name="number-3">
            <a:extLst xmlns:a="http://schemas.openxmlformats.org/drawingml/2006/main">
              <a:ext uri="{FF2B5EF4-FFF2-40B4-BE49-F238E27FC236}">
                <a16:creationId xmlns:a16="http://schemas.microsoft.com/office/drawing/2014/main" id="{DCBB8160-F573-454F-9DE0-FF995753514C}"/>
              </a:ext>
            </a:extLst>
          </p:cNvPr>
          <p:cNvSpPr>
            <a:spLocks xmlns:a="http://schemas.openxmlformats.org/drawingml/2006/main" noGrp="1"/>
          </p:cNvSpPr>
          <p:nvPr/>
        </p:nvSpPr>
        <p:spPr>
          <a:xfrm xmlns:a="http://schemas.openxmlformats.org/drawingml/2006/main">
            <a:off x="723900" y="36385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2D63FF"/>
                </a:solidFill>
                <a:latin typeface="DejaVu Sans"/>
                <a:ea typeface="DejaVu Sans"/>
                <a:cs typeface="DejaVu Sans"/>
              </a:defRPr>
            </a:pPr>
            <a:r>
              <a:rPr sz="1800"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2C53C2F4-C640-411C-BFD5-D11274D5C9F5}"/>
              </a:ext>
            </a:extLst>
          </p:cNvPr>
          <p:cNvSpPr>
            <a:spLocks xmlns:a="http://schemas.openxmlformats.org/drawingml/2006/main" noGrp="1"/>
          </p:cNvSpPr>
          <p:nvPr/>
        </p:nvSpPr>
        <p:spPr>
          <a:xfrm xmlns:a="http://schemas.openxmlformats.org/drawingml/2006/main">
            <a:off x="1352550" y="3638550"/>
            <a:ext cx="99250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Microwave: reads the timer and controls cooking.</a:t>
            </a:r>
          </a:p>
        </p:txBody>
      </p:sp>
      <p:sp>
        <p:nvSpPr>
          <p:cNvPr id="12" name="number-4">
            <a:extLst xmlns:a="http://schemas.openxmlformats.org/drawingml/2006/main">
              <a:ext uri="{FF2B5EF4-FFF2-40B4-BE49-F238E27FC236}">
                <a16:creationId xmlns:a16="http://schemas.microsoft.com/office/drawing/2014/main" id="{7D935E17-E0B7-4D5A-B94E-AEFBA862B80A}"/>
              </a:ext>
            </a:extLst>
          </p:cNvPr>
          <p:cNvSpPr>
            <a:spLocks xmlns:a="http://schemas.openxmlformats.org/drawingml/2006/main" noGrp="1"/>
          </p:cNvSpPr>
          <p:nvPr/>
        </p:nvSpPr>
        <p:spPr>
          <a:xfrm xmlns:a="http://schemas.openxmlformats.org/drawingml/2006/main">
            <a:off x="723900" y="43338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2D63FF"/>
                </a:solidFill>
                <a:latin typeface="DejaVu Sans"/>
                <a:ea typeface="DejaVu Sans"/>
                <a:cs typeface="DejaVu Sans"/>
              </a:defRPr>
            </a:pPr>
            <a:r>
              <a:rPr sz="1800"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DB34D7B8-BC7F-484F-AF63-7F0ABA843DAD}"/>
              </a:ext>
            </a:extLst>
          </p:cNvPr>
          <p:cNvSpPr>
            <a:spLocks xmlns:a="http://schemas.openxmlformats.org/drawingml/2006/main" noGrp="1"/>
          </p:cNvSpPr>
          <p:nvPr/>
        </p:nvSpPr>
        <p:spPr>
          <a:xfrm xmlns:a="http://schemas.openxmlformats.org/drawingml/2006/main">
            <a:off x="1352550" y="4333875"/>
            <a:ext cx="99250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Smart doorbell: detects motion and sends an alert.</a:t>
            </a:r>
          </a:p>
        </p:txBody>
      </p:sp>
      <p:sp>
        <p:nvSpPr>
          <p:cNvPr id="14" name="number-5">
            <a:extLst xmlns:a="http://schemas.openxmlformats.org/drawingml/2006/main">
              <a:ext uri="{FF2B5EF4-FFF2-40B4-BE49-F238E27FC236}">
                <a16:creationId xmlns:a16="http://schemas.microsoft.com/office/drawing/2014/main" id="{28A08253-CBBF-48F4-9E66-C230D50CCB32}"/>
              </a:ext>
            </a:extLst>
          </p:cNvPr>
          <p:cNvSpPr>
            <a:spLocks xmlns:a="http://schemas.openxmlformats.org/drawingml/2006/main" noGrp="1"/>
          </p:cNvSpPr>
          <p:nvPr/>
        </p:nvSpPr>
        <p:spPr>
          <a:xfrm xmlns:a="http://schemas.openxmlformats.org/drawingml/2006/main">
            <a:off x="723900" y="50292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2D63FF"/>
                </a:solidFill>
                <a:latin typeface="DejaVu Sans"/>
                <a:ea typeface="DejaVu Sans"/>
                <a:cs typeface="DejaVu Sans"/>
              </a:defRPr>
            </a:pPr>
            <a:r>
              <a:rPr sz="1800"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5A07B650-4EC8-429F-A264-7E21981CC0FE}"/>
              </a:ext>
            </a:extLst>
          </p:cNvPr>
          <p:cNvSpPr>
            <a:spLocks xmlns:a="http://schemas.openxmlformats.org/drawingml/2006/main" noGrp="1"/>
          </p:cNvSpPr>
          <p:nvPr/>
        </p:nvSpPr>
        <p:spPr>
          <a:xfrm xmlns:a="http://schemas.openxmlformats.org/drawingml/2006/main">
            <a:off x="1352550" y="5029200"/>
            <a:ext cx="99250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Robot vacuum: senses obstacles and changes direction.</a:t>
            </a:r>
          </a:p>
        </p:txBody>
      </p:sp>
    </p:spTree>
    <p:extLst>
      <p:ext uri="{BB962C8B-B14F-4D97-AF65-F5344CB8AC3E}">
        <p14:creationId xmlns:p14="http://schemas.microsoft.com/office/powerpoint/2010/main" val="862927516"/>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56FE9F68-FBF1-48CA-B3D2-9EEBEC4D10D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 KEY TERMS</a:t>
            </a:r>
          </a:p>
        </p:txBody>
      </p:sp>
      <p:sp>
        <p:nvSpPr>
          <p:cNvPr id="2" name="heading">
            <a:extLst xmlns:a="http://schemas.openxmlformats.org/drawingml/2006/main">
              <a:ext uri="{FF2B5EF4-FFF2-40B4-BE49-F238E27FC236}">
                <a16:creationId xmlns:a16="http://schemas.microsoft.com/office/drawing/2014/main" id="{E4ED4760-FF4F-4FF6-95DA-20A17790490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sp>
        <p:nvSpPr>
          <p:cNvPr id="3" name="footer">
            <a:extLst xmlns:a="http://schemas.openxmlformats.org/drawingml/2006/main">
              <a:ext uri="{FF2B5EF4-FFF2-40B4-BE49-F238E27FC236}">
                <a16:creationId xmlns:a16="http://schemas.microsoft.com/office/drawing/2014/main" id="{B7E91DAB-1DE5-4213-BB0D-D82DF123C742}"/>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B0677120-D39B-4880-8AEF-05CF83B122F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21</a:t>
            </a:r>
          </a:p>
        </p:txBody>
      </p:sp>
      <p:sp>
        <p:nvSpPr>
          <p:cNvPr id="5" name="define-first">
            <a:extLst xmlns:a="http://schemas.openxmlformats.org/drawingml/2006/main">
              <a:ext uri="{FF2B5EF4-FFF2-40B4-BE49-F238E27FC236}">
                <a16:creationId xmlns:a16="http://schemas.microsoft.com/office/drawing/2014/main" id="{CA0337C8-D6B9-4478-A56C-5C67AF17008E}"/>
              </a:ext>
            </a:extLst>
          </p:cNvPr>
          <p:cNvSpPr>
            <a:spLocks xmlns:a="http://schemas.openxmlformats.org/drawingml/2006/main" noGrp="1"/>
          </p:cNvSpPr>
          <p:nvPr/>
        </p:nvSpPr>
        <p:spPr>
          <a:xfrm xmlns:a="http://schemas.openxmlformats.org/drawingml/2006/main">
            <a:off x="704850" y="15621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Define the two terms listed in the key terminology section of your worksheet.</a:t>
            </a:r>
          </a:p>
        </p:txBody>
      </p:sp>
      <p:sp>
        <p:nvSpPr>
          <p:cNvPr id="6" name="term-number-0">
            <a:extLst xmlns:a="http://schemas.openxmlformats.org/drawingml/2006/main">
              <a:ext uri="{FF2B5EF4-FFF2-40B4-BE49-F238E27FC236}">
                <a16:creationId xmlns:a16="http://schemas.microsoft.com/office/drawing/2014/main" id="{4EAF214B-609F-4B1F-AF75-48E8F70BEFB6}"/>
              </a:ext>
            </a:extLst>
          </p:cNvPr>
          <p:cNvSpPr>
            <a:spLocks xmlns:a="http://schemas.openxmlformats.org/drawingml/2006/main" noGrp="1"/>
          </p:cNvSpPr>
          <p:nvPr/>
        </p:nvSpPr>
        <p:spPr>
          <a:xfrm xmlns:a="http://schemas.openxmlformats.org/drawingml/2006/main">
            <a:off x="723900" y="26860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B6E3EE56-5A09-477B-9BF8-0D912A9BF5DF}"/>
              </a:ext>
            </a:extLst>
          </p:cNvPr>
          <p:cNvSpPr>
            <a:spLocks xmlns:a="http://schemas.openxmlformats.org/drawingml/2006/main" noGrp="1"/>
          </p:cNvSpPr>
          <p:nvPr/>
        </p:nvSpPr>
        <p:spPr>
          <a:xfrm xmlns:a="http://schemas.openxmlformats.org/drawingml/2006/main">
            <a:off x="1371600" y="26860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Von Neumann architecture</a:t>
            </a:r>
          </a:p>
        </p:txBody>
      </p:sp>
      <p:sp>
        <p:nvSpPr>
          <p:cNvPr id="8" name="term-number-1">
            <a:extLst xmlns:a="http://schemas.openxmlformats.org/drawingml/2006/main">
              <a:ext uri="{FF2B5EF4-FFF2-40B4-BE49-F238E27FC236}">
                <a16:creationId xmlns:a16="http://schemas.microsoft.com/office/drawing/2014/main" id="{6631303A-1BD3-472C-8917-2775AC5DE748}"/>
              </a:ext>
            </a:extLst>
          </p:cNvPr>
          <p:cNvSpPr>
            <a:spLocks xmlns:a="http://schemas.openxmlformats.org/drawingml/2006/main" noGrp="1"/>
          </p:cNvSpPr>
          <p:nvPr/>
        </p:nvSpPr>
        <p:spPr>
          <a:xfrm xmlns:a="http://schemas.openxmlformats.org/drawingml/2006/main">
            <a:off x="723900" y="43243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F38C8049-72FA-4663-9DAE-B1716C173D67}"/>
              </a:ext>
            </a:extLst>
          </p:cNvPr>
          <p:cNvSpPr>
            <a:spLocks xmlns:a="http://schemas.openxmlformats.org/drawingml/2006/main" noGrp="1"/>
          </p:cNvSpPr>
          <p:nvPr/>
        </p:nvSpPr>
        <p:spPr>
          <a:xfrm xmlns:a="http://schemas.openxmlformats.org/drawingml/2006/main">
            <a:off x="1371600" y="43243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MAR</a:t>
            </a:r>
          </a:p>
        </p:txBody>
      </p:sp>
    </p:spTree>
    <p:extLst>
      <p:ext uri="{BB962C8B-B14F-4D97-AF65-F5344CB8AC3E}">
        <p14:creationId xmlns:p14="http://schemas.microsoft.com/office/powerpoint/2010/main" val="120723319"/>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B0F0A3CC-1DBD-4389-B85F-963B6826150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8514AD42-B535-46E8-B06F-854C0665933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sp>
        <p:nvSpPr>
          <p:cNvPr id="3" name="footer">
            <a:extLst xmlns:a="http://schemas.openxmlformats.org/drawingml/2006/main">
              <a:ext uri="{FF2B5EF4-FFF2-40B4-BE49-F238E27FC236}">
                <a16:creationId xmlns:a16="http://schemas.microsoft.com/office/drawing/2014/main" id="{528CF3BF-49FE-4373-B425-E230E122EBB4}"/>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90FADBC5-28E2-4B31-A6A7-F4BE53FAAD4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21</a:t>
            </a:r>
          </a:p>
        </p:txBody>
      </p:sp>
      <p:sp>
        <p:nvSpPr>
          <p:cNvPr id="5" name="terms-note">
            <a:extLst xmlns:a="http://schemas.openxmlformats.org/drawingml/2006/main">
              <a:ext uri="{FF2B5EF4-FFF2-40B4-BE49-F238E27FC236}">
                <a16:creationId xmlns:a16="http://schemas.microsoft.com/office/drawing/2014/main" id="{7DC51368-8601-4CD9-A48B-D7FF3593F2A8}"/>
              </a:ext>
            </a:extLst>
          </p:cNvPr>
          <p:cNvSpPr>
            <a:spLocks xmlns:a="http://schemas.openxmlformats.org/drawingml/2006/main" noGrp="1"/>
          </p:cNvSpPr>
          <p:nvPr/>
        </p:nvSpPr>
        <p:spPr>
          <a:xfrm xmlns:a="http://schemas.openxmlformats.org/drawingml/2006/main">
            <a:off x="704850" y="1562100"/>
            <a:ext cx="1047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Correct or improve your two definitions before opening the experience.</a:t>
            </a:r>
          </a:p>
        </p:txBody>
      </p:sp>
      <p:sp>
        <p:nvSpPr>
          <p:cNvPr id="6" name="answer-term-0">
            <a:extLst xmlns:a="http://schemas.openxmlformats.org/drawingml/2006/main">
              <a:ext uri="{FF2B5EF4-FFF2-40B4-BE49-F238E27FC236}">
                <a16:creationId xmlns:a16="http://schemas.microsoft.com/office/drawing/2014/main" id="{C03BB49D-A286-4C72-8739-102801000BF1}"/>
              </a:ext>
            </a:extLst>
          </p:cNvPr>
          <p:cNvSpPr>
            <a:spLocks xmlns:a="http://schemas.openxmlformats.org/drawingml/2006/main" noGrp="1"/>
          </p:cNvSpPr>
          <p:nvPr/>
        </p:nvSpPr>
        <p:spPr>
          <a:xfrm xmlns:a="http://schemas.openxmlformats.org/drawingml/2006/main">
            <a:off x="723900" y="2476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Von Neumann architecture</a:t>
            </a:r>
          </a:p>
        </p:txBody>
      </p:sp>
      <p:sp>
        <p:nvSpPr>
          <p:cNvPr id="7" name="answer-definition-0">
            <a:extLst xmlns:a="http://schemas.openxmlformats.org/drawingml/2006/main">
              <a:ext uri="{FF2B5EF4-FFF2-40B4-BE49-F238E27FC236}">
                <a16:creationId xmlns:a16="http://schemas.microsoft.com/office/drawing/2014/main" id="{CC83B669-FB16-4AAE-B8C6-83E941B6A1CA}"/>
              </a:ext>
            </a:extLst>
          </p:cNvPr>
          <p:cNvSpPr>
            <a:spLocks xmlns:a="http://schemas.openxmlformats.org/drawingml/2006/main" noGrp="1"/>
          </p:cNvSpPr>
          <p:nvPr/>
        </p:nvSpPr>
        <p:spPr>
          <a:xfrm xmlns:a="http://schemas.openxmlformats.org/drawingml/2006/main">
            <a:off x="723900" y="30575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design in which program instructions and data share main memory.</a:t>
            </a:r>
          </a:p>
        </p:txBody>
      </p:sp>
      <p:sp>
        <p:nvSpPr>
          <p:cNvPr id="8" name="answer-term-1">
            <a:extLst xmlns:a="http://schemas.openxmlformats.org/drawingml/2006/main">
              <a:ext uri="{FF2B5EF4-FFF2-40B4-BE49-F238E27FC236}">
                <a16:creationId xmlns:a16="http://schemas.microsoft.com/office/drawing/2014/main" id="{CCA38842-24E3-4ACA-BEAB-0369E6A3F905}"/>
              </a:ext>
            </a:extLst>
          </p:cNvPr>
          <p:cNvSpPr>
            <a:spLocks xmlns:a="http://schemas.openxmlformats.org/drawingml/2006/main" noGrp="1"/>
          </p:cNvSpPr>
          <p:nvPr/>
        </p:nvSpPr>
        <p:spPr>
          <a:xfrm xmlns:a="http://schemas.openxmlformats.org/drawingml/2006/main">
            <a:off x="723900" y="4333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MAR</a:t>
            </a:r>
          </a:p>
        </p:txBody>
      </p:sp>
      <p:sp>
        <p:nvSpPr>
          <p:cNvPr id="9" name="answer-definition-1">
            <a:extLst xmlns:a="http://schemas.openxmlformats.org/drawingml/2006/main">
              <a:ext uri="{FF2B5EF4-FFF2-40B4-BE49-F238E27FC236}">
                <a16:creationId xmlns:a16="http://schemas.microsoft.com/office/drawing/2014/main" id="{5C572F94-751E-4BEE-859B-08E20B7098F9}"/>
              </a:ext>
            </a:extLst>
          </p:cNvPr>
          <p:cNvSpPr>
            <a:spLocks xmlns:a="http://schemas.openxmlformats.org/drawingml/2006/main" noGrp="1"/>
          </p:cNvSpPr>
          <p:nvPr/>
        </p:nvSpPr>
        <p:spPr>
          <a:xfrm xmlns:a="http://schemas.openxmlformats.org/drawingml/2006/main">
            <a:off x="723900" y="4914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memory address register holds the address to fetch from or write to memory.</a:t>
            </a:r>
          </a:p>
        </p:txBody>
      </p:sp>
    </p:spTree>
    <p:extLst>
      <p:ext uri="{BB962C8B-B14F-4D97-AF65-F5344CB8AC3E}">
        <p14:creationId xmlns:p14="http://schemas.microsoft.com/office/powerpoint/2010/main" val="980584475"/>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F0C4EDDD-B00A-4A08-B02D-E6729A184B8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04   /   EXPERIENCE</a:t>
            </a:r>
          </a:p>
        </p:txBody>
      </p:sp>
      <p:sp>
        <p:nvSpPr>
          <p:cNvPr id="2" name="heading">
            <a:extLst xmlns:a="http://schemas.openxmlformats.org/drawingml/2006/main">
              <a:ext uri="{FF2B5EF4-FFF2-40B4-BE49-F238E27FC236}">
                <a16:creationId xmlns:a16="http://schemas.microsoft.com/office/drawing/2014/main" id="{C44D61EF-6912-4090-9CC1-60CF0AB82AC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Open the experience now</a:t>
            </a:r>
          </a:p>
        </p:txBody>
      </p:sp>
      <p:sp>
        <p:nvSpPr>
          <p:cNvPr id="3" name="footer">
            <a:extLst xmlns:a="http://schemas.openxmlformats.org/drawingml/2006/main">
              <a:ext uri="{FF2B5EF4-FFF2-40B4-BE49-F238E27FC236}">
                <a16:creationId xmlns:a16="http://schemas.microsoft.com/office/drawing/2014/main" id="{0B127189-AA4D-4A11-B169-70E27515CE48}"/>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FCB8D3F0-C60D-475E-A7E4-1EF4EA59A65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7 / 21</a:t>
            </a:r>
          </a:p>
        </p:txBody>
      </p:sp>
      <p:sp>
        <p:nvSpPr>
          <p:cNvPr id="5" name="start-label">
            <a:extLst xmlns:a="http://schemas.openxmlformats.org/drawingml/2006/main">
              <a:ext uri="{FF2B5EF4-FFF2-40B4-BE49-F238E27FC236}">
                <a16:creationId xmlns:a16="http://schemas.microsoft.com/office/drawing/2014/main" id="{29FF6C92-AA68-4685-8DFB-F6B13EA5E301}"/>
              </a:ext>
            </a:extLst>
          </p:cNvPr>
          <p:cNvSpPr>
            <a:spLocks xmlns:a="http://schemas.openxmlformats.org/drawingml/2006/main" noGrp="1"/>
          </p:cNvSpPr>
          <p:nvPr/>
        </p:nvSpPr>
        <p:spPr>
          <a:xfrm xmlns:a="http://schemas.openxmlformats.org/drawingml/2006/main">
            <a:off x="723900" y="1657350"/>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START</a:t>
            </a:r>
          </a:p>
        </p:txBody>
      </p:sp>
      <p:sp>
        <p:nvSpPr>
          <p:cNvPr id="6" name="start">
            <a:extLst xmlns:a="http://schemas.openxmlformats.org/drawingml/2006/main">
              <a:ext uri="{FF2B5EF4-FFF2-40B4-BE49-F238E27FC236}">
                <a16:creationId xmlns:a16="http://schemas.microsoft.com/office/drawing/2014/main" id="{A4D5CFA2-4869-4842-A2D7-F07D7437FED8}"/>
              </a:ext>
            </a:extLst>
          </p:cNvPr>
          <p:cNvSpPr>
            <a:spLocks xmlns:a="http://schemas.openxmlformats.org/drawingml/2006/main" noGrp="1"/>
          </p:cNvSpPr>
          <p:nvPr/>
        </p:nvSpPr>
        <p:spPr>
          <a:xfrm xmlns:a="http://schemas.openxmlformats.org/drawingml/2006/main">
            <a:off x="723900" y="1990725"/>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Select Smart home from Topic 1.1 and keep your worksheet beside you.</a:t>
            </a:r>
          </a:p>
        </p:txBody>
      </p:sp>
      <p:sp>
        <p:nvSpPr>
          <p:cNvPr id="7" name="own-words-label">
            <a:extLst xmlns:a="http://schemas.openxmlformats.org/drawingml/2006/main">
              <a:ext uri="{FF2B5EF4-FFF2-40B4-BE49-F238E27FC236}">
                <a16:creationId xmlns:a16="http://schemas.microsoft.com/office/drawing/2014/main" id="{E35E7702-E9DD-4DDD-8989-46775FC1A904}"/>
              </a:ext>
            </a:extLst>
          </p:cNvPr>
          <p:cNvSpPr>
            <a:spLocks xmlns:a="http://schemas.openxmlformats.org/drawingml/2006/main" noGrp="1"/>
          </p:cNvSpPr>
          <p:nvPr/>
        </p:nvSpPr>
        <p:spPr>
          <a:xfrm xmlns:a="http://schemas.openxmlformats.org/drawingml/2006/main">
            <a:off x="723900" y="2924175"/>
            <a:ext cx="4000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AT EVERY STATION</a:t>
            </a:r>
          </a:p>
        </p:txBody>
      </p:sp>
      <p:sp>
        <p:nvSpPr>
          <p:cNvPr id="8" name="own-words">
            <a:extLst xmlns:a="http://schemas.openxmlformats.org/drawingml/2006/main">
              <a:ext uri="{FF2B5EF4-FFF2-40B4-BE49-F238E27FC236}">
                <a16:creationId xmlns:a16="http://schemas.microsoft.com/office/drawing/2014/main" id="{DE11CC60-446C-4D87-ACE8-1D22F3A85702}"/>
              </a:ext>
            </a:extLst>
          </p:cNvPr>
          <p:cNvSpPr>
            <a:spLocks xmlns:a="http://schemas.openxmlformats.org/drawingml/2006/main" noGrp="1"/>
          </p:cNvSpPr>
          <p:nvPr/>
        </p:nvSpPr>
        <p:spPr>
          <a:xfrm xmlns:a="http://schemas.openxmlformats.org/drawingml/2006/main">
            <a:off x="723900" y="327660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FFFFFF"/>
                </a:solidFill>
                <a:latin typeface="DejaVu Sans"/>
                <a:ea typeface="DejaVu Sans"/>
                <a:cs typeface="DejaVu Sans"/>
              </a:defRPr>
            </a:pPr>
            <a:r>
              <a:rPr sz="2250" b="1">
                <a:solidFill>
                  <a:srgbClr val="FFFFFF"/>
                </a:solidFill>
                <a:latin typeface="DejaVu Sans"/>
                <a:ea typeface="DejaVu Sans"/>
                <a:cs typeface="DejaVu Sans"/>
              </a:rPr>
              <a:t>Write the key fact IN YOUR OWN WORDS and answer the worksheet challenge before tapping the badge.</a:t>
            </a:r>
          </a:p>
        </p:txBody>
      </p:sp>
      <p:sp>
        <p:nvSpPr>
          <p:cNvPr id="9" name="finish-label">
            <a:extLst xmlns:a="http://schemas.openxmlformats.org/drawingml/2006/main">
              <a:ext uri="{FF2B5EF4-FFF2-40B4-BE49-F238E27FC236}">
                <a16:creationId xmlns:a16="http://schemas.microsoft.com/office/drawing/2014/main" id="{2E16AAA4-8608-4DDE-B3A2-9BBC1F35E31C}"/>
              </a:ext>
            </a:extLst>
          </p:cNvPr>
          <p:cNvSpPr>
            <a:spLocks xmlns:a="http://schemas.openxmlformats.org/drawingml/2006/main" noGrp="1"/>
          </p:cNvSpPr>
          <p:nvPr/>
        </p:nvSpPr>
        <p:spPr>
          <a:xfrm xmlns:a="http://schemas.openxmlformats.org/drawingml/2006/main">
            <a:off x="723900" y="4638675"/>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FINISH</a:t>
            </a:r>
          </a:p>
        </p:txBody>
      </p:sp>
      <p:sp>
        <p:nvSpPr>
          <p:cNvPr id="10" name="finish">
            <a:extLst xmlns:a="http://schemas.openxmlformats.org/drawingml/2006/main">
              <a:ext uri="{FF2B5EF4-FFF2-40B4-BE49-F238E27FC236}">
                <a16:creationId xmlns:a16="http://schemas.microsoft.com/office/drawing/2014/main" id="{945811D7-B18F-4E10-8513-0F84FC4AB137}"/>
              </a:ext>
            </a:extLst>
          </p:cNvPr>
          <p:cNvSpPr>
            <a:spLocks xmlns:a="http://schemas.openxmlformats.org/drawingml/2006/main" noGrp="1"/>
          </p:cNvSpPr>
          <p:nvPr/>
        </p:nvSpPr>
        <p:spPr>
          <a:xfrm xmlns:a="http://schemas.openxmlformats.org/drawingml/2006/main">
            <a:off x="723900" y="49720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Answer on screen, then copy your score into the yellow worksheet box (out of 24).</a:t>
            </a:r>
          </a:p>
        </p:txBody>
      </p:sp>
      <p:sp>
        <p:nvSpPr>
          <p:cNvPr id="11" name="open-link">
            <a:extLst xmlns:a="http://schemas.openxmlformats.org/drawingml/2006/main">
              <a:ext uri="{FF2B5EF4-FFF2-40B4-BE49-F238E27FC236}">
                <a16:creationId xmlns:a16="http://schemas.microsoft.com/office/drawing/2014/main" id="{A1ABE395-31A2-4CFA-9A0F-6DDAB387CA58}"/>
              </a:ext>
            </a:extLst>
          </p:cNvPr>
          <p:cNvSpPr>
            <a:spLocks xmlns:a="http://schemas.openxmlformats.org/drawingml/2006/main" noGrp="1"/>
          </p:cNvSpPr>
          <p:nvPr/>
        </p:nvSpPr>
        <p:spPr>
          <a:xfrm xmlns:a="http://schemas.openxmlformats.org/drawingml/2006/main">
            <a:off x="723900" y="5838825"/>
            <a:ext cx="571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77D8FF"/>
                </a:solidFill>
                <a:latin typeface="DejaVu Sans"/>
                <a:ea typeface="DejaVu Sans"/>
                <a:cs typeface="DejaVu Sans"/>
              </a:defRPr>
            </a:pPr>
            <a:r>
              <a:rPr sz="1725" b="1">
                <a:solidFill>
                  <a:srgbClr val="77D8FF"/>
                </a:solidFill>
                <a:latin typeface="DejaVu Sans"/>
                <a:ea typeface="DejaVu Sans"/>
                <a:cs typeface="DejaVu Sans"/>
                <a:hlinkClick xmlns:r="http://schemas.openxmlformats.org/officeDocument/2006/relationships" r:id="Rad52a04f6b2140f3"/>
              </a:rPr>
              <a:t>Open the experience online</a:t>
            </a:r>
            <a:r>
              <a:rPr sz="1725" b="1">
                <a:solidFill>
                  <a:srgbClr val="77D8FF"/>
                </a:solidFill>
                <a:latin typeface="DejaVu Sans"/>
                <a:ea typeface="DejaVu Sans"/>
                <a:cs typeface="DejaVu Sans"/>
              </a:rPr>
              <a:t>  ↗</a:t>
            </a:r>
          </a:p>
        </p:txBody>
      </p:sp>
    </p:spTree>
    <p:extLst>
      <p:ext uri="{BB962C8B-B14F-4D97-AF65-F5344CB8AC3E}">
        <p14:creationId xmlns:p14="http://schemas.microsoft.com/office/powerpoint/2010/main" val="18837884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opic">
            <a:extLst xmlns:a="http://schemas.openxmlformats.org/drawingml/2006/main">
              <a:ext uri="{FF2B5EF4-FFF2-40B4-BE49-F238E27FC236}">
                <a16:creationId xmlns:a16="http://schemas.microsoft.com/office/drawing/2014/main" id="{CBC439AC-8795-4A24-A0A4-0300C81EA23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EXPERIENCE</a:t>
            </a:r>
          </a:p>
        </p:txBody>
      </p:sp>
      <p:sp>
        <p:nvSpPr>
          <p:cNvPr id="2" name="heading">
            <a:extLst xmlns:a="http://schemas.openxmlformats.org/drawingml/2006/main">
              <a:ext uri="{FF2B5EF4-FFF2-40B4-BE49-F238E27FC236}">
                <a16:creationId xmlns:a16="http://schemas.microsoft.com/office/drawing/2014/main" id="{4369EF3A-8833-483D-9A3C-4CA5D72D2436}"/>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The stations in your worksheet</a:t>
            </a:r>
          </a:p>
        </p:txBody>
      </p:sp>
      <p:sp>
        <p:nvSpPr>
          <p:cNvPr id="3" name="footer">
            <a:extLst xmlns:a="http://schemas.openxmlformats.org/drawingml/2006/main">
              <a:ext uri="{FF2B5EF4-FFF2-40B4-BE49-F238E27FC236}">
                <a16:creationId xmlns:a16="http://schemas.microsoft.com/office/drawing/2014/main" id="{62A13B5C-FFF0-4DA8-B647-7A7E51CB8975}"/>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D32D5E08-7E5A-40C3-807F-D351DD83A40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21</a:t>
            </a:r>
          </a:p>
        </p:txBody>
      </p:sp>
      <p:sp>
        <p:nvSpPr>
          <p:cNvPr id="5" name="route-intro">
            <a:extLst xmlns:a="http://schemas.openxmlformats.org/drawingml/2006/main">
              <a:ext uri="{FF2B5EF4-FFF2-40B4-BE49-F238E27FC236}">
                <a16:creationId xmlns:a16="http://schemas.microsoft.com/office/drawing/2014/main" id="{8CA19FED-ADCB-42B6-89F4-504FEE1C5013}"/>
              </a:ext>
            </a:extLst>
          </p:cNvPr>
          <p:cNvSpPr>
            <a:spLocks xmlns:a="http://schemas.openxmlformats.org/drawingml/2006/main" noGrp="1"/>
          </p:cNvSpPr>
          <p:nvPr/>
        </p:nvSpPr>
        <p:spPr>
          <a:xfrm xmlns:a="http://schemas.openxmlformats.org/drawingml/2006/main">
            <a:off x="704850" y="15335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Follow your worksheet route. Write key facts in your own words before tapping each badge.</a:t>
            </a:r>
          </a:p>
        </p:txBody>
      </p:sp>
      <p:sp>
        <p:nvSpPr>
          <p:cNvPr id="6" name="route-direction-0">
            <a:extLst xmlns:a="http://schemas.openxmlformats.org/drawingml/2006/main">
              <a:ext uri="{FF2B5EF4-FFF2-40B4-BE49-F238E27FC236}">
                <a16:creationId xmlns:a16="http://schemas.microsoft.com/office/drawing/2014/main" id="{D64AAD88-B36D-4977-A3CC-22ACA3860F9F}"/>
              </a:ext>
            </a:extLst>
          </p:cNvPr>
          <p:cNvSpPr>
            <a:spLocks xmlns:a="http://schemas.openxmlformats.org/drawingml/2006/main" noGrp="1"/>
          </p:cNvSpPr>
          <p:nvPr/>
        </p:nvSpPr>
        <p:spPr>
          <a:xfrm xmlns:a="http://schemas.openxmlformats.org/drawingml/2006/main">
            <a:off x="704850" y="2266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RIGHT</a:t>
            </a:r>
          </a:p>
        </p:txBody>
      </p:sp>
      <p:sp>
        <p:nvSpPr>
          <p:cNvPr id="7" name="route-names-0">
            <a:extLst xmlns:a="http://schemas.openxmlformats.org/drawingml/2006/main">
              <a:ext uri="{FF2B5EF4-FFF2-40B4-BE49-F238E27FC236}">
                <a16:creationId xmlns:a16="http://schemas.microsoft.com/office/drawing/2014/main" id="{2F06A8FF-7B77-4EEC-9211-C744B40D706A}"/>
              </a:ext>
            </a:extLst>
          </p:cNvPr>
          <p:cNvSpPr>
            <a:spLocks xmlns:a="http://schemas.openxmlformats.org/drawingml/2006/main" noGrp="1"/>
          </p:cNvSpPr>
          <p:nvPr/>
        </p:nvSpPr>
        <p:spPr>
          <a:xfrm xmlns:a="http://schemas.openxmlformats.org/drawingml/2006/main">
            <a:off x="1809750" y="2266950"/>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1 What is an embedded system?</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2 Characteristics</a:t>
            </a:r>
          </a:p>
        </p:txBody>
      </p:sp>
      <p:sp>
        <p:nvSpPr>
          <p:cNvPr id="8" name="route-direction-1">
            <a:extLst xmlns:a="http://schemas.openxmlformats.org/drawingml/2006/main">
              <a:ext uri="{FF2B5EF4-FFF2-40B4-BE49-F238E27FC236}">
                <a16:creationId xmlns:a16="http://schemas.microsoft.com/office/drawing/2014/main" id="{C729FCB6-C08C-4AD4-9DE3-69F0F3D20BC2}"/>
              </a:ext>
            </a:extLst>
          </p:cNvPr>
          <p:cNvSpPr>
            <a:spLocks xmlns:a="http://schemas.openxmlformats.org/drawingml/2006/main" noGrp="1"/>
          </p:cNvSpPr>
          <p:nvPr/>
        </p:nvSpPr>
        <p:spPr>
          <a:xfrm xmlns:a="http://schemas.openxmlformats.org/drawingml/2006/main">
            <a:off x="704850" y="32099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AROUND</a:t>
            </a:r>
          </a:p>
        </p:txBody>
      </p:sp>
      <p:sp>
        <p:nvSpPr>
          <p:cNvPr id="9" name="route-names-1">
            <a:extLst xmlns:a="http://schemas.openxmlformats.org/drawingml/2006/main">
              <a:ext uri="{FF2B5EF4-FFF2-40B4-BE49-F238E27FC236}">
                <a16:creationId xmlns:a16="http://schemas.microsoft.com/office/drawing/2014/main" id="{942ED6E1-153B-4041-A3E5-6B17D5FF9D2F}"/>
              </a:ext>
            </a:extLst>
          </p:cNvPr>
          <p:cNvSpPr>
            <a:spLocks xmlns:a="http://schemas.openxmlformats.org/drawingml/2006/main" noGrp="1"/>
          </p:cNvSpPr>
          <p:nvPr/>
        </p:nvSpPr>
        <p:spPr>
          <a:xfrm xmlns:a="http://schemas.openxmlformats.org/drawingml/2006/main">
            <a:off x="1809750" y="32099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3 Embedded systems everywhere</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4 Input, process, output</a:t>
            </a:r>
          </a:p>
        </p:txBody>
      </p:sp>
      <p:sp>
        <p:nvSpPr>
          <p:cNvPr id="10" name="route-direction-2">
            <a:extLst xmlns:a="http://schemas.openxmlformats.org/drawingml/2006/main">
              <a:ext uri="{FF2B5EF4-FFF2-40B4-BE49-F238E27FC236}">
                <a16:creationId xmlns:a16="http://schemas.microsoft.com/office/drawing/2014/main" id="{8360F096-7144-4B3A-A340-B30E2044AB97}"/>
              </a:ext>
            </a:extLst>
          </p:cNvPr>
          <p:cNvSpPr>
            <a:spLocks xmlns:a="http://schemas.openxmlformats.org/drawingml/2006/main" noGrp="1"/>
          </p:cNvSpPr>
          <p:nvPr/>
        </p:nvSpPr>
        <p:spPr>
          <a:xfrm xmlns:a="http://schemas.openxmlformats.org/drawingml/2006/main">
            <a:off x="704850" y="41624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LEFT</a:t>
            </a:r>
          </a:p>
        </p:txBody>
      </p:sp>
      <p:sp>
        <p:nvSpPr>
          <p:cNvPr id="11" name="route-names-2">
            <a:extLst xmlns:a="http://schemas.openxmlformats.org/drawingml/2006/main">
              <a:ext uri="{FF2B5EF4-FFF2-40B4-BE49-F238E27FC236}">
                <a16:creationId xmlns:a16="http://schemas.microsoft.com/office/drawing/2014/main" id="{D36E3D58-032E-4D93-90F4-42B3F34C9814}"/>
              </a:ext>
            </a:extLst>
          </p:cNvPr>
          <p:cNvSpPr>
            <a:spLocks xmlns:a="http://schemas.openxmlformats.org/drawingml/2006/main" noGrp="1"/>
          </p:cNvSpPr>
          <p:nvPr/>
        </p:nvSpPr>
        <p:spPr>
          <a:xfrm xmlns:a="http://schemas.openxmlformats.org/drawingml/2006/main">
            <a:off x="1809750" y="41624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5 Programming embedded systems</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6 Embedded or general purpose?</a:t>
            </a:r>
          </a:p>
        </p:txBody>
      </p:sp>
      <p:sp>
        <p:nvSpPr>
          <p:cNvPr id="12" name="route-direction-3">
            <a:extLst xmlns:a="http://schemas.openxmlformats.org/drawingml/2006/main">
              <a:ext uri="{FF2B5EF4-FFF2-40B4-BE49-F238E27FC236}">
                <a16:creationId xmlns:a16="http://schemas.microsoft.com/office/drawing/2014/main" id="{3C42F51C-0255-4EA9-8744-4602CFE167A6}"/>
              </a:ext>
            </a:extLst>
          </p:cNvPr>
          <p:cNvSpPr>
            <a:spLocks xmlns:a="http://schemas.openxmlformats.org/drawingml/2006/main" noGrp="1"/>
          </p:cNvSpPr>
          <p:nvPr/>
        </p:nvSpPr>
        <p:spPr>
          <a:xfrm xmlns:a="http://schemas.openxmlformats.org/drawingml/2006/main">
            <a:off x="704850" y="5314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DOWN</a:t>
            </a:r>
          </a:p>
        </p:txBody>
      </p:sp>
      <p:sp>
        <p:nvSpPr>
          <p:cNvPr id="13" name="route-names-3">
            <a:extLst xmlns:a="http://schemas.openxmlformats.org/drawingml/2006/main">
              <a:ext uri="{FF2B5EF4-FFF2-40B4-BE49-F238E27FC236}">
                <a16:creationId xmlns:a16="http://schemas.microsoft.com/office/drawing/2014/main" id="{7B16447C-09A3-4095-9BCA-402B6CF1E318}"/>
              </a:ext>
            </a:extLst>
          </p:cNvPr>
          <p:cNvSpPr>
            <a:spLocks xmlns:a="http://schemas.openxmlformats.org/drawingml/2006/main" noGrp="1"/>
          </p:cNvSpPr>
          <p:nvPr/>
        </p:nvSpPr>
        <p:spPr>
          <a:xfrm xmlns:a="http://schemas.openxmlformats.org/drawingml/2006/main">
            <a:off x="1809750" y="5314950"/>
            <a:ext cx="4438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01828"/>
                </a:solidFill>
                <a:latin typeface="DejaVu Sans"/>
                <a:ea typeface="DejaVu Sans"/>
                <a:cs typeface="DejaVu Sans"/>
              </a:defRPr>
            </a:pPr>
            <a:r>
              <a:rPr sz="1875" b="1">
                <a:solidFill>
                  <a:srgbClr val="101828"/>
                </a:solidFill>
                <a:latin typeface="DejaVu Sans"/>
                <a:ea typeface="DejaVu Sans"/>
                <a:cs typeface="DejaVu Sans"/>
              </a:rPr>
              <a:t>★ Final challenge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3b14ff56fb7642b1"/>
          <a:stretch xmlns:a="http://schemas.openxmlformats.org/drawingml/2006/main"/>
        </p:blipFill>
        <p:spPr>
          <a:xfrm xmlns:a="http://schemas.openxmlformats.org/drawingml/2006/main">
            <a:off x="6505575" y="2241550"/>
            <a:ext cx="4933950" cy="3289300"/>
          </a:xfrm>
          <a:prstGeom xmlns:a="http://schemas.openxmlformats.org/drawingml/2006/main" prst="rect">
            <a:avLst/>
          </a:prstGeom>
        </p:spPr>
      </p:pic>
    </p:spTree>
    <p:extLst>
      <p:ext uri="{BB962C8B-B14F-4D97-AF65-F5344CB8AC3E}">
        <p14:creationId xmlns:p14="http://schemas.microsoft.com/office/powerpoint/2010/main" val="17337365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8EEAD8E3-0FAB-48E4-9DCD-4C862C967DC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a:t>
            </a:r>
          </a:p>
        </p:txBody>
      </p:sp>
      <p:sp>
        <p:nvSpPr>
          <p:cNvPr id="2" name="heading">
            <a:extLst xmlns:a="http://schemas.openxmlformats.org/drawingml/2006/main">
              <a:ext uri="{FF2B5EF4-FFF2-40B4-BE49-F238E27FC236}">
                <a16:creationId xmlns:a16="http://schemas.microsoft.com/office/drawing/2014/main" id="{D1A47850-78EC-4328-A056-D363C601F11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score and key question</a:t>
            </a:r>
          </a:p>
        </p:txBody>
      </p:sp>
      <p:sp>
        <p:nvSpPr>
          <p:cNvPr id="3" name="footer">
            <a:extLst xmlns:a="http://schemas.openxmlformats.org/drawingml/2006/main">
              <a:ext uri="{FF2B5EF4-FFF2-40B4-BE49-F238E27FC236}">
                <a16:creationId xmlns:a16="http://schemas.microsoft.com/office/drawing/2014/main" id="{F936AF9F-FB89-468A-BB65-76BA9B667A3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43FE1C9A-A9E7-49C7-9E7C-EEF36C30AA2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21</a:t>
            </a:r>
          </a:p>
        </p:txBody>
      </p:sp>
      <p:sp>
        <p:nvSpPr>
          <p:cNvPr id="5" name="star">
            <a:extLst xmlns:a="http://schemas.openxmlformats.org/drawingml/2006/main">
              <a:ext uri="{FF2B5EF4-FFF2-40B4-BE49-F238E27FC236}">
                <a16:creationId xmlns:a16="http://schemas.microsoft.com/office/drawing/2014/main" id="{4102974D-DFEC-46CC-B567-D2FBCC9F27FE}"/>
              </a:ext>
            </a:extLst>
          </p:cNvPr>
          <p:cNvSpPr>
            <a:spLocks xmlns:a="http://schemas.openxmlformats.org/drawingml/2006/main" noGrp="1"/>
          </p:cNvSpPr>
          <p:nvPr/>
        </p:nvSpPr>
        <p:spPr>
          <a:xfrm xmlns:a="http://schemas.openxmlformats.org/drawingml/2006/main">
            <a:off x="704850" y="1676400"/>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1828"/>
                </a:solidFill>
                <a:latin typeface="DejaVu Sans"/>
                <a:ea typeface="DejaVu Sans"/>
                <a:cs typeface="DejaVu Sans"/>
              </a:defRPr>
            </a:pPr>
            <a:r>
              <a:rPr sz="2175" b="1">
                <a:solidFill>
                  <a:srgbClr val="101828"/>
                </a:solidFill>
                <a:latin typeface="DejaVu Sans"/>
                <a:ea typeface="DejaVu Sans"/>
                <a:cs typeface="DejaVu Sans"/>
              </a:rPr>
              <a:t>Look down. Complete the ★ final challenge table on your worksheet before tapping the star.</a:t>
            </a:r>
          </a:p>
        </p:txBody>
      </p:sp>
      <p:sp>
        <p:nvSpPr>
          <p:cNvPr id="6" name="score">
            <a:extLst xmlns:a="http://schemas.openxmlformats.org/drawingml/2006/main">
              <a:ext uri="{FF2B5EF4-FFF2-40B4-BE49-F238E27FC236}">
                <a16:creationId xmlns:a16="http://schemas.microsoft.com/office/drawing/2014/main" id="{195DB6B0-EDF6-4A22-8C99-9B5399B52D1F}"/>
              </a:ext>
            </a:extLst>
          </p:cNvPr>
          <p:cNvSpPr>
            <a:spLocks xmlns:a="http://schemas.openxmlformats.org/drawingml/2006/main" noGrp="1"/>
          </p:cNvSpPr>
          <p:nvPr/>
        </p:nvSpPr>
        <p:spPr>
          <a:xfrm xmlns:a="http://schemas.openxmlformats.org/drawingml/2006/main">
            <a:off x="704850" y="31623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Copy the result from the score screen:  ______ / 24</a:t>
            </a:r>
          </a:p>
        </p:txBody>
      </p:sp>
      <p:sp>
        <p:nvSpPr>
          <p:cNvPr id="7" name="key-label">
            <a:extLst xmlns:a="http://schemas.openxmlformats.org/drawingml/2006/main">
              <a:ext uri="{FF2B5EF4-FFF2-40B4-BE49-F238E27FC236}">
                <a16:creationId xmlns:a16="http://schemas.microsoft.com/office/drawing/2014/main" id="{6A3BA50D-AA03-49FE-9F2F-D65CBFD7E8D0}"/>
              </a:ext>
            </a:extLst>
          </p:cNvPr>
          <p:cNvSpPr>
            <a:spLocks xmlns:a="http://schemas.openxmlformats.org/drawingml/2006/main" noGrp="1"/>
          </p:cNvSpPr>
          <p:nvPr/>
        </p:nvSpPr>
        <p:spPr>
          <a:xfrm xmlns:a="http://schemas.openxmlformats.org/drawingml/2006/main">
            <a:off x="704850" y="43529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2D63FF"/>
                </a:solidFill>
                <a:latin typeface="DejaVu Sans"/>
                <a:ea typeface="DejaVu Sans"/>
                <a:cs typeface="DejaVu Sans"/>
              </a:defRPr>
            </a:pPr>
            <a:r>
              <a:rPr sz="1425" b="1">
                <a:solidFill>
                  <a:srgbClr val="2D63FF"/>
                </a:solidFill>
                <a:latin typeface="DejaVu Sans"/>
                <a:ea typeface="DejaVu Sans"/>
                <a:cs typeface="DejaVu Sans"/>
              </a:rPr>
              <a:t>KEY QUESTION</a:t>
            </a:r>
          </a:p>
        </p:txBody>
      </p:sp>
      <p:sp>
        <p:nvSpPr>
          <p:cNvPr id="8" name="key-question">
            <a:extLst xmlns:a="http://schemas.openxmlformats.org/drawingml/2006/main">
              <a:ext uri="{FF2B5EF4-FFF2-40B4-BE49-F238E27FC236}">
                <a16:creationId xmlns:a16="http://schemas.microsoft.com/office/drawing/2014/main" id="{4FCAC198-E767-482D-8FF3-62777F0F8EB7}"/>
              </a:ext>
            </a:extLst>
          </p:cNvPr>
          <p:cNvSpPr>
            <a:spLocks xmlns:a="http://schemas.openxmlformats.org/drawingml/2006/main" noGrp="1"/>
          </p:cNvSpPr>
          <p:nvPr/>
        </p:nvSpPr>
        <p:spPr>
          <a:xfrm xmlns:a="http://schemas.openxmlformats.org/drawingml/2006/main">
            <a:off x="704850" y="4867275"/>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What are embedded systems, and what are their characteristics?</a:t>
            </a:r>
          </a:p>
        </p:txBody>
      </p:sp>
    </p:spTree>
    <p:extLst>
      <p:ext uri="{BB962C8B-B14F-4D97-AF65-F5344CB8AC3E}">
        <p14:creationId xmlns:p14="http://schemas.microsoft.com/office/powerpoint/2010/main" val="8899832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9D22644B-2E23-4B06-AFE8-4723E2D9658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EXTENSION</a:t>
            </a:r>
          </a:p>
        </p:txBody>
      </p:sp>
      <p:sp>
        <p:nvSpPr>
          <p:cNvPr id="2" name="heading">
            <a:extLst xmlns:a="http://schemas.openxmlformats.org/drawingml/2006/main">
              <a:ext uri="{FF2B5EF4-FFF2-40B4-BE49-F238E27FC236}">
                <a16:creationId xmlns:a16="http://schemas.microsoft.com/office/drawing/2014/main" id="{42F813FA-9955-44D8-AC9C-7B3AFE9F129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sp>
        <p:nvSpPr>
          <p:cNvPr id="3" name="footer">
            <a:extLst xmlns:a="http://schemas.openxmlformats.org/drawingml/2006/main">
              <a:ext uri="{FF2B5EF4-FFF2-40B4-BE49-F238E27FC236}">
                <a16:creationId xmlns:a16="http://schemas.microsoft.com/office/drawing/2014/main" id="{10B55114-8111-4B5D-8E7F-41E3C0362CD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CDA81A45-4BE0-4CE0-A98C-CE84A204F64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21</a:t>
            </a:r>
          </a:p>
        </p:txBody>
      </p:sp>
      <p:sp>
        <p:nvSpPr>
          <p:cNvPr id="5" name="extension-lead">
            <a:extLst xmlns:a="http://schemas.openxmlformats.org/drawingml/2006/main">
              <a:ext uri="{FF2B5EF4-FFF2-40B4-BE49-F238E27FC236}">
                <a16:creationId xmlns:a16="http://schemas.microsoft.com/office/drawing/2014/main" id="{7D9A8E31-5728-4F43-8BC7-BC892F9FEA73}"/>
              </a:ext>
            </a:extLst>
          </p:cNvPr>
          <p:cNvSpPr>
            <a:spLocks xmlns:a="http://schemas.openxmlformats.org/drawingml/2006/main" noGrp="1"/>
          </p:cNvSpPr>
          <p:nvPr/>
        </p:nvSpPr>
        <p:spPr>
          <a:xfrm xmlns:a="http://schemas.openxmlformats.org/drawingml/2006/main">
            <a:off x="704850" y="1628775"/>
            <a:ext cx="107346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Once you have completed the experience, use your worksheet to reason further.</a:t>
            </a:r>
          </a:p>
        </p:txBody>
      </p:sp>
      <p:sp>
        <p:nvSpPr>
          <p:cNvPr id="6" name="extension-prompt">
            <a:extLst xmlns:a="http://schemas.openxmlformats.org/drawingml/2006/main">
              <a:ext uri="{FF2B5EF4-FFF2-40B4-BE49-F238E27FC236}">
                <a16:creationId xmlns:a16="http://schemas.microsoft.com/office/drawing/2014/main" id="{D76CD34E-C08A-433A-AC91-72AF97F0D22B}"/>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Design a smart greenhouse controller. Name two inputs, one processing decision and two outputs.</a:t>
            </a:r>
          </a:p>
        </p:txBody>
      </p:sp>
      <p:sp>
        <p:nvSpPr>
          <p:cNvPr id="7" name="extension-follow">
            <a:extLst xmlns:a="http://schemas.openxmlformats.org/drawingml/2006/main">
              <a:ext uri="{FF2B5EF4-FFF2-40B4-BE49-F238E27FC236}">
                <a16:creationId xmlns:a16="http://schemas.microsoft.com/office/drawing/2014/main" id="{8B7D00FA-ABFE-4131-848D-301408A45AA6}"/>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Explain why your controller is an embedded system.</a:t>
            </a:r>
          </a:p>
        </p:txBody>
      </p:sp>
    </p:spTree>
    <p:extLst>
      <p:ext uri="{BB962C8B-B14F-4D97-AF65-F5344CB8AC3E}">
        <p14:creationId xmlns:p14="http://schemas.microsoft.com/office/powerpoint/2010/main" val="163475312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FEFE1252-5D4F-4AB4-AF3D-CF537FB0AD5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EXTENSION</a:t>
            </a:r>
          </a:p>
        </p:txBody>
      </p:sp>
      <p:sp>
        <p:nvSpPr>
          <p:cNvPr id="2" name="heading">
            <a:extLst xmlns:a="http://schemas.openxmlformats.org/drawingml/2006/main">
              <a:ext uri="{FF2B5EF4-FFF2-40B4-BE49-F238E27FC236}">
                <a16:creationId xmlns:a16="http://schemas.microsoft.com/office/drawing/2014/main" id="{1752B349-CD16-418A-97A9-AD2E1A2FF49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sp>
        <p:nvSpPr>
          <p:cNvPr id="3" name="footer">
            <a:extLst xmlns:a="http://schemas.openxmlformats.org/drawingml/2006/main">
              <a:ext uri="{FF2B5EF4-FFF2-40B4-BE49-F238E27FC236}">
                <a16:creationId xmlns:a16="http://schemas.microsoft.com/office/drawing/2014/main" id="{82CA479C-B8AE-42B4-9287-9605D5D9BE54}"/>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7BD38BA1-8539-47EF-AB43-24B791BBBAB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21</a:t>
            </a:r>
          </a:p>
        </p:txBody>
      </p:sp>
      <p:sp>
        <p:nvSpPr>
          <p:cNvPr id="5" name="review">
            <a:extLst xmlns:a="http://schemas.openxmlformats.org/drawingml/2006/main">
              <a:ext uri="{FF2B5EF4-FFF2-40B4-BE49-F238E27FC236}">
                <a16:creationId xmlns:a16="http://schemas.microsoft.com/office/drawing/2014/main" id="{49DE4651-0483-45D1-96F0-7698B980F577}"/>
              </a:ext>
            </a:extLst>
          </p:cNvPr>
          <p:cNvSpPr>
            <a:spLocks xmlns:a="http://schemas.openxmlformats.org/drawingml/2006/main" noGrp="1"/>
          </p:cNvSpPr>
          <p:nvPr/>
        </p:nvSpPr>
        <p:spPr>
          <a:xfrm xmlns:a="http://schemas.openxmlformats.org/drawingml/2006/main">
            <a:off x="704850" y="1724025"/>
            <a:ext cx="10715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Use your worksheet notes and the experience feedback.</a:t>
            </a:r>
          </a:p>
        </p:txBody>
      </p:sp>
      <p:sp>
        <p:nvSpPr>
          <p:cNvPr id="6" name="extension-two">
            <a:extLst xmlns:a="http://schemas.openxmlformats.org/drawingml/2006/main">
              <a:ext uri="{FF2B5EF4-FFF2-40B4-BE49-F238E27FC236}">
                <a16:creationId xmlns:a16="http://schemas.microsoft.com/office/drawing/2014/main" id="{9AC89DC1-D111-4393-BF77-1329E6D4D662}"/>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tablet controls a washing machine through an app. Which device contains an embedded system? Explain using the range of tasks each device can run.</a:t>
            </a:r>
          </a:p>
        </p:txBody>
      </p:sp>
      <p:sp>
        <p:nvSpPr>
          <p:cNvPr id="7" name="handoff">
            <a:extLst xmlns:a="http://schemas.openxmlformats.org/drawingml/2006/main">
              <a:ext uri="{FF2B5EF4-FFF2-40B4-BE49-F238E27FC236}">
                <a16:creationId xmlns:a16="http://schemas.microsoft.com/office/drawing/2014/main" id="{C2E8429F-3149-49AE-8625-EC7D3AA2FAD8}"/>
              </a:ext>
            </a:extLst>
          </p:cNvPr>
          <p:cNvSpPr>
            <a:spLocks xmlns:a="http://schemas.openxmlformats.org/drawingml/2006/main" noGrp="1"/>
          </p:cNvSpPr>
          <p:nvPr/>
        </p:nvSpPr>
        <p:spPr>
          <a:xfrm xmlns:a="http://schemas.openxmlformats.org/drawingml/2006/main">
            <a:off x="704850" y="53340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2D63FF"/>
                </a:solidFill>
                <a:latin typeface="DejaVu Sans"/>
                <a:ea typeface="DejaVu Sans"/>
                <a:cs typeface="DejaVu Sans"/>
              </a:defRPr>
            </a:pPr>
            <a:r>
              <a:rPr sz="1875" b="0">
                <a:solidFill>
                  <a:srgbClr val="2D63FF"/>
                </a:solidFill>
                <a:latin typeface="DejaVu Sans"/>
                <a:ea typeface="DejaVu Sans"/>
                <a:cs typeface="DejaVu Sans"/>
              </a:rPr>
              <a:t>Near the end of the lesson, close the experience for the plenary knowledge check.</a:t>
            </a:r>
          </a:p>
        </p:txBody>
      </p:sp>
    </p:spTree>
    <p:extLst>
      <p:ext uri="{BB962C8B-B14F-4D97-AF65-F5344CB8AC3E}">
        <p14:creationId xmlns:p14="http://schemas.microsoft.com/office/powerpoint/2010/main" val="1459504900"/>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2C904CB1-6E98-457C-A73F-FA0F8B275E7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3366E58D-32A7-4C1E-9640-9CEF63C146E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sp>
        <p:nvSpPr>
          <p:cNvPr id="3" name="footer">
            <a:extLst xmlns:a="http://schemas.openxmlformats.org/drawingml/2006/main">
              <a:ext uri="{FF2B5EF4-FFF2-40B4-BE49-F238E27FC236}">
                <a16:creationId xmlns:a16="http://schemas.microsoft.com/office/drawing/2014/main" id="{C6524B2A-7403-4967-B1CC-D64BF8E02EE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F0B03422-546A-4252-8BE3-7E1FF81B4D6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21</a:t>
            </a:r>
          </a:p>
        </p:txBody>
      </p:sp>
      <p:sp>
        <p:nvSpPr>
          <p:cNvPr id="5" name="extension-check">
            <a:extLst xmlns:a="http://schemas.openxmlformats.org/drawingml/2006/main">
              <a:ext uri="{FF2B5EF4-FFF2-40B4-BE49-F238E27FC236}">
                <a16:creationId xmlns:a16="http://schemas.microsoft.com/office/drawing/2014/main" id="{078DC8B4-7392-4E10-924F-7C8CB9EFC32E}"/>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6" name="answer-application">
            <a:extLst xmlns:a="http://schemas.openxmlformats.org/drawingml/2006/main">
              <a:ext uri="{FF2B5EF4-FFF2-40B4-BE49-F238E27FC236}">
                <a16:creationId xmlns:a16="http://schemas.microsoft.com/office/drawing/2014/main" id="{DC214EC4-E136-4A99-8A86-5F73B2109AB4}"/>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7" name="answer-application-body">
            <a:extLst xmlns:a="http://schemas.openxmlformats.org/drawingml/2006/main">
              <a:ext uri="{FF2B5EF4-FFF2-40B4-BE49-F238E27FC236}">
                <a16:creationId xmlns:a16="http://schemas.microsoft.com/office/drawing/2014/main" id="{3A24C708-B235-4563-A536-6B822EEF9C88}"/>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Inputs could be soil moisture and temperature. The controller compares readings with limits, then switches a pump and fan. It has a dedicated job.</a:t>
            </a:r>
          </a:p>
        </p:txBody>
      </p:sp>
      <p:sp>
        <p:nvSpPr>
          <p:cNvPr id="8" name="answer-stretch">
            <a:extLst xmlns:a="http://schemas.openxmlformats.org/drawingml/2006/main">
              <a:ext uri="{FF2B5EF4-FFF2-40B4-BE49-F238E27FC236}">
                <a16:creationId xmlns:a16="http://schemas.microsoft.com/office/drawing/2014/main" id="{3FC049EC-3AB7-4767-B84E-9E8424F63471}"/>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9" name="answer-stretch-body">
            <a:extLst xmlns:a="http://schemas.openxmlformats.org/drawingml/2006/main">
              <a:ext uri="{FF2B5EF4-FFF2-40B4-BE49-F238E27FC236}">
                <a16:creationId xmlns:a16="http://schemas.microsoft.com/office/drawing/2014/main" id="{E1455B9A-AE7C-4B19-8BD7-42FD4AF8632B}"/>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The washing machine contains an embedded controller for wash functions. The tablet runs many apps, so it is general purpose.</a:t>
            </a:r>
          </a:p>
        </p:txBody>
      </p:sp>
    </p:spTree>
    <p:extLst>
      <p:ext uri="{BB962C8B-B14F-4D97-AF65-F5344CB8AC3E}">
        <p14:creationId xmlns:p14="http://schemas.microsoft.com/office/powerpoint/2010/main" val="240606835"/>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AAF75F79-DA94-4608-B9EB-C9F3E6CECFE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ANSWERS</a:t>
            </a:r>
          </a:p>
        </p:txBody>
      </p:sp>
      <p:sp>
        <p:nvSpPr>
          <p:cNvPr id="2" name="heading">
            <a:extLst xmlns:a="http://schemas.openxmlformats.org/drawingml/2006/main">
              <a:ext uri="{FF2B5EF4-FFF2-40B4-BE49-F238E27FC236}">
                <a16:creationId xmlns:a16="http://schemas.microsoft.com/office/drawing/2014/main" id="{8A60FF90-1171-41DB-B3DF-E94649F5CB9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sp>
        <p:nvSpPr>
          <p:cNvPr id="3" name="footer">
            <a:extLst xmlns:a="http://schemas.openxmlformats.org/drawingml/2006/main">
              <a:ext uri="{FF2B5EF4-FFF2-40B4-BE49-F238E27FC236}">
                <a16:creationId xmlns:a16="http://schemas.microsoft.com/office/drawing/2014/main" id="{E0A82D7B-952B-4497-AF41-82ABC45269C9}"/>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B6C76014-C635-4A0B-90C2-144D2231955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21</a:t>
            </a:r>
          </a:p>
        </p:txBody>
      </p:sp>
      <p:sp>
        <p:nvSpPr>
          <p:cNvPr id="5" name="check-stations">
            <a:extLst xmlns:a="http://schemas.openxmlformats.org/drawingml/2006/main">
              <a:ext uri="{FF2B5EF4-FFF2-40B4-BE49-F238E27FC236}">
                <a16:creationId xmlns:a16="http://schemas.microsoft.com/office/drawing/2014/main" id="{A0CC595F-4BED-4E42-BB0E-956739CCCFB3}"/>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Close the experience. Check your key facts and challenge responses.</a:t>
            </a:r>
          </a:p>
        </p:txBody>
      </p:sp>
      <p:sp>
        <p:nvSpPr>
          <p:cNvPr id="6" name="station-name-0">
            <a:extLst xmlns:a="http://schemas.openxmlformats.org/drawingml/2006/main">
              <a:ext uri="{FF2B5EF4-FFF2-40B4-BE49-F238E27FC236}">
                <a16:creationId xmlns:a16="http://schemas.microsoft.com/office/drawing/2014/main" id="{650ACB4F-1DA4-4AEB-9295-ACA3506E0B84}"/>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What is an embedded system?</a:t>
            </a:r>
          </a:p>
        </p:txBody>
      </p:sp>
      <p:sp>
        <p:nvSpPr>
          <p:cNvPr id="7" name="station-answer-0">
            <a:extLst xmlns:a="http://schemas.openxmlformats.org/drawingml/2006/main">
              <a:ext uri="{FF2B5EF4-FFF2-40B4-BE49-F238E27FC236}">
                <a16:creationId xmlns:a16="http://schemas.microsoft.com/office/drawing/2014/main" id="{800FA11F-2EA5-48EE-A999-ABEAA8578452}"/>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An embedded system is a computer built into a larger device for a dedicated function.</a:t>
            </a:r>
          </a:p>
        </p:txBody>
      </p:sp>
      <p:sp>
        <p:nvSpPr>
          <p:cNvPr id="8" name="station-name-1">
            <a:extLst xmlns:a="http://schemas.openxmlformats.org/drawingml/2006/main">
              <a:ext uri="{FF2B5EF4-FFF2-40B4-BE49-F238E27FC236}">
                <a16:creationId xmlns:a16="http://schemas.microsoft.com/office/drawing/2014/main" id="{CFAB17C4-2931-40C6-A48A-F048A040FB58}"/>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Characteristics</a:t>
            </a:r>
          </a:p>
        </p:txBody>
      </p:sp>
      <p:sp>
        <p:nvSpPr>
          <p:cNvPr id="9" name="station-answer-1">
            <a:extLst xmlns:a="http://schemas.openxmlformats.org/drawingml/2006/main">
              <a:ext uri="{FF2B5EF4-FFF2-40B4-BE49-F238E27FC236}">
                <a16:creationId xmlns:a16="http://schemas.microsoft.com/office/drawing/2014/main" id="{886D1064-01C1-4209-BD62-95954A220AED}"/>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Typical traits include a specific task, small size, low power use and reliability.</a:t>
            </a:r>
          </a:p>
        </p:txBody>
      </p:sp>
      <p:sp>
        <p:nvSpPr>
          <p:cNvPr id="10" name="station-name-2">
            <a:extLst xmlns:a="http://schemas.openxmlformats.org/drawingml/2006/main">
              <a:ext uri="{FF2B5EF4-FFF2-40B4-BE49-F238E27FC236}">
                <a16:creationId xmlns:a16="http://schemas.microsoft.com/office/drawing/2014/main" id="{A5B2BB65-A198-4117-8871-ADBAA0304E2F}"/>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Embedded systems everywhere</a:t>
            </a:r>
          </a:p>
        </p:txBody>
      </p:sp>
      <p:sp>
        <p:nvSpPr>
          <p:cNvPr id="11" name="station-answer-2">
            <a:extLst xmlns:a="http://schemas.openxmlformats.org/drawingml/2006/main">
              <a:ext uri="{FF2B5EF4-FFF2-40B4-BE49-F238E27FC236}">
                <a16:creationId xmlns:a16="http://schemas.microsoft.com/office/drawing/2014/main" id="{6889ABDD-FFE5-4E4D-9C1E-671A55BCEE74}"/>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Examples include a thermostat, microwave, washing machine, doorbell and car brakes.</a:t>
            </a:r>
          </a:p>
        </p:txBody>
      </p:sp>
    </p:spTree>
    <p:extLst>
      <p:ext uri="{BB962C8B-B14F-4D97-AF65-F5344CB8AC3E}">
        <p14:creationId xmlns:p14="http://schemas.microsoft.com/office/powerpoint/2010/main" val="2044332097"/>
      </p:ext>
    </p:extLst>
  </p:cSld>
</p:sld>
</file>

<file path=ppt/slides/slide1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7EA8E518-97C0-4D1C-8646-5CCE60602D6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ANSWERS</a:t>
            </a:r>
          </a:p>
        </p:txBody>
      </p:sp>
      <p:sp>
        <p:nvSpPr>
          <p:cNvPr id="2" name="heading">
            <a:extLst xmlns:a="http://schemas.openxmlformats.org/drawingml/2006/main">
              <a:ext uri="{FF2B5EF4-FFF2-40B4-BE49-F238E27FC236}">
                <a16:creationId xmlns:a16="http://schemas.microsoft.com/office/drawing/2014/main" id="{B66EFFB8-6C82-4128-AB10-6186F7AB500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sp>
        <p:nvSpPr>
          <p:cNvPr id="3" name="footer">
            <a:extLst xmlns:a="http://schemas.openxmlformats.org/drawingml/2006/main">
              <a:ext uri="{FF2B5EF4-FFF2-40B4-BE49-F238E27FC236}">
                <a16:creationId xmlns:a16="http://schemas.microsoft.com/office/drawing/2014/main" id="{4DED21C6-BD40-4F7F-93EB-AA872A049D4B}"/>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8A7389DB-B287-4996-B3B9-B372B74D878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21</a:t>
            </a:r>
          </a:p>
        </p:txBody>
      </p:sp>
      <p:sp>
        <p:nvSpPr>
          <p:cNvPr id="5" name="check-stations">
            <a:extLst xmlns:a="http://schemas.openxmlformats.org/drawingml/2006/main">
              <a:ext uri="{FF2B5EF4-FFF2-40B4-BE49-F238E27FC236}">
                <a16:creationId xmlns:a16="http://schemas.microsoft.com/office/drawing/2014/main" id="{C62E653C-F64D-4CE4-B6F0-FBB8F1149F19}"/>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Continue checking the station notes on your worksheet.</a:t>
            </a:r>
          </a:p>
        </p:txBody>
      </p:sp>
      <p:sp>
        <p:nvSpPr>
          <p:cNvPr id="6" name="station-name-3">
            <a:extLst xmlns:a="http://schemas.openxmlformats.org/drawingml/2006/main">
              <a:ext uri="{FF2B5EF4-FFF2-40B4-BE49-F238E27FC236}">
                <a16:creationId xmlns:a16="http://schemas.microsoft.com/office/drawing/2014/main" id="{49A626EE-6FB1-45EC-99D5-E041F58F8558}"/>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Input, process, output</a:t>
            </a:r>
          </a:p>
        </p:txBody>
      </p:sp>
      <p:sp>
        <p:nvSpPr>
          <p:cNvPr id="7" name="station-answer-3">
            <a:extLst xmlns:a="http://schemas.openxmlformats.org/drawingml/2006/main">
              <a:ext uri="{FF2B5EF4-FFF2-40B4-BE49-F238E27FC236}">
                <a16:creationId xmlns:a16="http://schemas.microsoft.com/office/drawing/2014/main" id="{6626BE31-2188-4B2C-8163-47921547DDA4}"/>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Washing machine: dial and sensor are inputs; microcontroller processes; motor, heater and display are outputs.</a:t>
            </a:r>
          </a:p>
        </p:txBody>
      </p:sp>
      <p:sp>
        <p:nvSpPr>
          <p:cNvPr id="8" name="station-name-4">
            <a:extLst xmlns:a="http://schemas.openxmlformats.org/drawingml/2006/main">
              <a:ext uri="{FF2B5EF4-FFF2-40B4-BE49-F238E27FC236}">
                <a16:creationId xmlns:a16="http://schemas.microsoft.com/office/drawing/2014/main" id="{6F337286-D0A0-40E4-AEE9-5329CD709095}"/>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Programming embedded systems</a:t>
            </a:r>
          </a:p>
        </p:txBody>
      </p:sp>
      <p:sp>
        <p:nvSpPr>
          <p:cNvPr id="9" name="station-answer-4">
            <a:extLst xmlns:a="http://schemas.openxmlformats.org/drawingml/2006/main">
              <a:ext uri="{FF2B5EF4-FFF2-40B4-BE49-F238E27FC236}">
                <a16:creationId xmlns:a16="http://schemas.microsoft.com/office/drawing/2014/main" id="{F4D232D2-43B0-4C05-BBC3-F452416C6179}"/>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C and C++ are common because they control hardware efficiently. Firmware is the stored control program.</a:t>
            </a:r>
          </a:p>
        </p:txBody>
      </p:sp>
      <p:sp>
        <p:nvSpPr>
          <p:cNvPr id="10" name="station-name-5">
            <a:extLst xmlns:a="http://schemas.openxmlformats.org/drawingml/2006/main">
              <a:ext uri="{FF2B5EF4-FFF2-40B4-BE49-F238E27FC236}">
                <a16:creationId xmlns:a16="http://schemas.microsoft.com/office/drawing/2014/main" id="{8BAA7AAE-89C1-4A90-B2C5-D958295C04DE}"/>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Embedded or general purpose?</a:t>
            </a:r>
          </a:p>
        </p:txBody>
      </p:sp>
      <p:sp>
        <p:nvSpPr>
          <p:cNvPr id="11" name="station-answer-5">
            <a:extLst xmlns:a="http://schemas.openxmlformats.org/drawingml/2006/main">
              <a:ext uri="{FF2B5EF4-FFF2-40B4-BE49-F238E27FC236}">
                <a16:creationId xmlns:a16="http://schemas.microsoft.com/office/drawing/2014/main" id="{74064B01-3E54-4D42-A42B-CFDB437E494D}"/>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laptop is general purpose and runs many apps; an anti-lock brake controller has a dedicated function.</a:t>
            </a:r>
          </a:p>
        </p:txBody>
      </p:sp>
    </p:spTree>
    <p:extLst>
      <p:ext uri="{BB962C8B-B14F-4D97-AF65-F5344CB8AC3E}">
        <p14:creationId xmlns:p14="http://schemas.microsoft.com/office/powerpoint/2010/main" val="1702810405"/>
      </p:ext>
    </p:extLst>
  </p:cSld>
</p:sld>
</file>

<file path=ppt/slides/slide15.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22" name="topic">
            <a:extLst xmlns:a="http://schemas.openxmlformats.org/drawingml/2006/main">
              <a:ext uri="{FF2B5EF4-FFF2-40B4-BE49-F238E27FC236}">
                <a16:creationId xmlns:a16="http://schemas.microsoft.com/office/drawing/2014/main" id="{3C24E124-E3F8-4E8E-A2E8-F4F0E8A5D9C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ABA553E8-4F18-47F7-B8F2-2E95F309518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sp>
        <p:nvSpPr>
          <p:cNvPr id="3" name="footer">
            <a:extLst xmlns:a="http://schemas.openxmlformats.org/drawingml/2006/main">
              <a:ext uri="{FF2B5EF4-FFF2-40B4-BE49-F238E27FC236}">
                <a16:creationId xmlns:a16="http://schemas.microsoft.com/office/drawing/2014/main" id="{624E9546-B009-4D80-8D58-23D7B5026796}"/>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2122B054-6EA2-4AA0-8A2F-E63C7ADF41E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21</a:t>
            </a:r>
          </a:p>
        </p:txBody>
      </p:sp>
      <p:sp>
        <p:nvSpPr>
          <p:cNvPr id="5" name="star-key">
            <a:extLst xmlns:a="http://schemas.openxmlformats.org/drawingml/2006/main">
              <a:ext uri="{FF2B5EF4-FFF2-40B4-BE49-F238E27FC236}">
                <a16:creationId xmlns:a16="http://schemas.microsoft.com/office/drawing/2014/main" id="{2D488701-38CC-4D8F-BB04-B42EBB1F4C7A}"/>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6" name="number-1">
            <a:extLst xmlns:a="http://schemas.openxmlformats.org/drawingml/2006/main">
              <a:ext uri="{FF2B5EF4-FFF2-40B4-BE49-F238E27FC236}">
                <a16:creationId xmlns:a16="http://schemas.microsoft.com/office/drawing/2014/main" id="{9BC29D48-1497-4CBE-A912-11BBFB6DE656}"/>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AF026041-8A9C-475F-9D62-CFD9CFFD0AC9}"/>
              </a:ext>
            </a:extLst>
          </p:cNvPr>
          <p:cNvSpPr>
            <a:spLocks xmlns:a="http://schemas.openxmlformats.org/drawingml/2006/main" noGrp="1"/>
          </p:cNvSpPr>
          <p:nvPr/>
        </p:nvSpPr>
        <p:spPr>
          <a:xfrm xmlns:a="http://schemas.openxmlformats.org/drawingml/2006/main">
            <a:off x="1352550" y="210502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Washing machine: embedded</a:t>
            </a:r>
          </a:p>
        </p:txBody>
      </p:sp>
      <p:sp>
        <p:nvSpPr>
          <p:cNvPr id="8" name="number-2">
            <a:extLst xmlns:a="http://schemas.openxmlformats.org/drawingml/2006/main">
              <a:ext uri="{FF2B5EF4-FFF2-40B4-BE49-F238E27FC236}">
                <a16:creationId xmlns:a16="http://schemas.microsoft.com/office/drawing/2014/main" id="{4764E89D-8EC1-4D13-861D-0568849D663C}"/>
              </a:ext>
            </a:extLst>
          </p:cNvPr>
          <p:cNvSpPr>
            <a:spLocks xmlns:a="http://schemas.openxmlformats.org/drawingml/2006/main" noGrp="1"/>
          </p:cNvSpPr>
          <p:nvPr/>
        </p:nvSpPr>
        <p:spPr>
          <a:xfrm xmlns:a="http://schemas.openxmlformats.org/drawingml/2006/main">
            <a:off x="723900" y="26098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DD1934EB-E305-448E-8E62-7496224941E2}"/>
              </a:ext>
            </a:extLst>
          </p:cNvPr>
          <p:cNvSpPr>
            <a:spLocks xmlns:a="http://schemas.openxmlformats.org/drawingml/2006/main" noGrp="1"/>
          </p:cNvSpPr>
          <p:nvPr/>
        </p:nvSpPr>
        <p:spPr>
          <a:xfrm xmlns:a="http://schemas.openxmlformats.org/drawingml/2006/main">
            <a:off x="1352550" y="260985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Microwave oven: embedded</a:t>
            </a:r>
          </a:p>
        </p:txBody>
      </p:sp>
      <p:sp>
        <p:nvSpPr>
          <p:cNvPr id="10" name="number-3">
            <a:extLst xmlns:a="http://schemas.openxmlformats.org/drawingml/2006/main">
              <a:ext uri="{FF2B5EF4-FFF2-40B4-BE49-F238E27FC236}">
                <a16:creationId xmlns:a16="http://schemas.microsoft.com/office/drawing/2014/main" id="{3BABA640-B13B-4434-A989-3D34EA17EC34}"/>
              </a:ext>
            </a:extLst>
          </p:cNvPr>
          <p:cNvSpPr>
            <a:spLocks xmlns:a="http://schemas.openxmlformats.org/drawingml/2006/main" noGrp="1"/>
          </p:cNvSpPr>
          <p:nvPr/>
        </p:nvSpPr>
        <p:spPr>
          <a:xfrm xmlns:a="http://schemas.openxmlformats.org/drawingml/2006/main">
            <a:off x="723900" y="31146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5724B09D-3FE7-4E93-AB8E-4D195D768C61}"/>
              </a:ext>
            </a:extLst>
          </p:cNvPr>
          <p:cNvSpPr>
            <a:spLocks xmlns:a="http://schemas.openxmlformats.org/drawingml/2006/main" noGrp="1"/>
          </p:cNvSpPr>
          <p:nvPr/>
        </p:nvSpPr>
        <p:spPr>
          <a:xfrm xmlns:a="http://schemas.openxmlformats.org/drawingml/2006/main">
            <a:off x="1352550" y="311467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Traffic lights: embedded</a:t>
            </a:r>
          </a:p>
        </p:txBody>
      </p:sp>
      <p:sp>
        <p:nvSpPr>
          <p:cNvPr id="12" name="number-4">
            <a:extLst xmlns:a="http://schemas.openxmlformats.org/drawingml/2006/main">
              <a:ext uri="{FF2B5EF4-FFF2-40B4-BE49-F238E27FC236}">
                <a16:creationId xmlns:a16="http://schemas.microsoft.com/office/drawing/2014/main" id="{A01B4BBA-C1BC-4138-90C0-979459077E0D}"/>
              </a:ext>
            </a:extLst>
          </p:cNvPr>
          <p:cNvSpPr>
            <a:spLocks xmlns:a="http://schemas.openxmlformats.org/drawingml/2006/main" noGrp="1"/>
          </p:cNvSpPr>
          <p:nvPr/>
        </p:nvSpPr>
        <p:spPr>
          <a:xfrm xmlns:a="http://schemas.openxmlformats.org/drawingml/2006/main">
            <a:off x="723900" y="3619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A9FB0134-D964-4252-82B9-BE4ABD926122}"/>
              </a:ext>
            </a:extLst>
          </p:cNvPr>
          <p:cNvSpPr>
            <a:spLocks xmlns:a="http://schemas.openxmlformats.org/drawingml/2006/main" noGrp="1"/>
          </p:cNvSpPr>
          <p:nvPr/>
        </p:nvSpPr>
        <p:spPr>
          <a:xfrm xmlns:a="http://schemas.openxmlformats.org/drawingml/2006/main">
            <a:off x="1352550" y="361950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Car anti-lock brakes: embedded</a:t>
            </a:r>
          </a:p>
        </p:txBody>
      </p:sp>
      <p:sp>
        <p:nvSpPr>
          <p:cNvPr id="14" name="number-5">
            <a:extLst xmlns:a="http://schemas.openxmlformats.org/drawingml/2006/main">
              <a:ext uri="{FF2B5EF4-FFF2-40B4-BE49-F238E27FC236}">
                <a16:creationId xmlns:a16="http://schemas.microsoft.com/office/drawing/2014/main" id="{95E2D3C4-7486-4C3C-8CEB-6C4A735863A7}"/>
              </a:ext>
            </a:extLst>
          </p:cNvPr>
          <p:cNvSpPr>
            <a:spLocks xmlns:a="http://schemas.openxmlformats.org/drawingml/2006/main" noGrp="1"/>
          </p:cNvSpPr>
          <p:nvPr/>
        </p:nvSpPr>
        <p:spPr>
          <a:xfrm xmlns:a="http://schemas.openxmlformats.org/drawingml/2006/main">
            <a:off x="723900" y="41243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2C7BBB9F-ADB5-4C52-B0AF-15AAE4426711}"/>
              </a:ext>
            </a:extLst>
          </p:cNvPr>
          <p:cNvSpPr>
            <a:spLocks xmlns:a="http://schemas.openxmlformats.org/drawingml/2006/main" noGrp="1"/>
          </p:cNvSpPr>
          <p:nvPr/>
        </p:nvSpPr>
        <p:spPr>
          <a:xfrm xmlns:a="http://schemas.openxmlformats.org/drawingml/2006/main">
            <a:off x="1352550" y="412432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Smart thermostat: embedded</a:t>
            </a:r>
          </a:p>
        </p:txBody>
      </p:sp>
      <p:sp>
        <p:nvSpPr>
          <p:cNvPr id="16" name="number-6">
            <a:extLst xmlns:a="http://schemas.openxmlformats.org/drawingml/2006/main">
              <a:ext uri="{FF2B5EF4-FFF2-40B4-BE49-F238E27FC236}">
                <a16:creationId xmlns:a16="http://schemas.microsoft.com/office/drawing/2014/main" id="{E9EDC04A-9924-48FB-8055-1A1F75C10F01}"/>
              </a:ext>
            </a:extLst>
          </p:cNvPr>
          <p:cNvSpPr>
            <a:spLocks xmlns:a="http://schemas.openxmlformats.org/drawingml/2006/main" noGrp="1"/>
          </p:cNvSpPr>
          <p:nvPr/>
        </p:nvSpPr>
        <p:spPr>
          <a:xfrm xmlns:a="http://schemas.openxmlformats.org/drawingml/2006/main">
            <a:off x="723900" y="4629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6.</a:t>
            </a:r>
          </a:p>
        </p:txBody>
      </p:sp>
      <p:sp>
        <p:nvSpPr>
          <p:cNvPr id="17" name="item-6">
            <a:extLst xmlns:a="http://schemas.openxmlformats.org/drawingml/2006/main">
              <a:ext uri="{FF2B5EF4-FFF2-40B4-BE49-F238E27FC236}">
                <a16:creationId xmlns:a16="http://schemas.microsoft.com/office/drawing/2014/main" id="{666CF318-0999-4A7D-9512-9C8D6B31B266}"/>
              </a:ext>
            </a:extLst>
          </p:cNvPr>
          <p:cNvSpPr>
            <a:spLocks xmlns:a="http://schemas.openxmlformats.org/drawingml/2006/main" noGrp="1"/>
          </p:cNvSpPr>
          <p:nvPr/>
        </p:nvSpPr>
        <p:spPr>
          <a:xfrm xmlns:a="http://schemas.openxmlformats.org/drawingml/2006/main">
            <a:off x="1352550" y="462915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Laptop: general purpose</a:t>
            </a:r>
          </a:p>
        </p:txBody>
      </p:sp>
      <p:sp>
        <p:nvSpPr>
          <p:cNvPr id="18" name="number-7">
            <a:extLst xmlns:a="http://schemas.openxmlformats.org/drawingml/2006/main">
              <a:ext uri="{FF2B5EF4-FFF2-40B4-BE49-F238E27FC236}">
                <a16:creationId xmlns:a16="http://schemas.microsoft.com/office/drawing/2014/main" id="{85B243AE-263F-4F31-B175-F2D9DD5001F3}"/>
              </a:ext>
            </a:extLst>
          </p:cNvPr>
          <p:cNvSpPr>
            <a:spLocks xmlns:a="http://schemas.openxmlformats.org/drawingml/2006/main" noGrp="1"/>
          </p:cNvSpPr>
          <p:nvPr/>
        </p:nvSpPr>
        <p:spPr>
          <a:xfrm xmlns:a="http://schemas.openxmlformats.org/drawingml/2006/main">
            <a:off x="723900" y="51339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7.</a:t>
            </a:r>
          </a:p>
        </p:txBody>
      </p:sp>
      <p:sp>
        <p:nvSpPr>
          <p:cNvPr id="19" name="item-7">
            <a:extLst xmlns:a="http://schemas.openxmlformats.org/drawingml/2006/main">
              <a:ext uri="{FF2B5EF4-FFF2-40B4-BE49-F238E27FC236}">
                <a16:creationId xmlns:a16="http://schemas.microsoft.com/office/drawing/2014/main" id="{15FB8449-941E-4380-82BA-DCD77B2896F7}"/>
              </a:ext>
            </a:extLst>
          </p:cNvPr>
          <p:cNvSpPr>
            <a:spLocks xmlns:a="http://schemas.openxmlformats.org/drawingml/2006/main" noGrp="1"/>
          </p:cNvSpPr>
          <p:nvPr/>
        </p:nvSpPr>
        <p:spPr>
          <a:xfrm xmlns:a="http://schemas.openxmlformats.org/drawingml/2006/main">
            <a:off x="1352550" y="513397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Desktop PC: general purpose</a:t>
            </a:r>
          </a:p>
        </p:txBody>
      </p:sp>
      <p:sp>
        <p:nvSpPr>
          <p:cNvPr id="20" name="number-8">
            <a:extLst xmlns:a="http://schemas.openxmlformats.org/drawingml/2006/main">
              <a:ext uri="{FF2B5EF4-FFF2-40B4-BE49-F238E27FC236}">
                <a16:creationId xmlns:a16="http://schemas.microsoft.com/office/drawing/2014/main" id="{9EA8BCB6-3257-4BD2-A334-4DEF2CF09CD0}"/>
              </a:ext>
            </a:extLst>
          </p:cNvPr>
          <p:cNvSpPr>
            <a:spLocks xmlns:a="http://schemas.openxmlformats.org/drawingml/2006/main" noGrp="1"/>
          </p:cNvSpPr>
          <p:nvPr/>
        </p:nvSpPr>
        <p:spPr>
          <a:xfrm xmlns:a="http://schemas.openxmlformats.org/drawingml/2006/main">
            <a:off x="723900" y="56388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8.</a:t>
            </a:r>
          </a:p>
        </p:txBody>
      </p:sp>
      <p:sp>
        <p:nvSpPr>
          <p:cNvPr id="21" name="item-8">
            <a:extLst xmlns:a="http://schemas.openxmlformats.org/drawingml/2006/main">
              <a:ext uri="{FF2B5EF4-FFF2-40B4-BE49-F238E27FC236}">
                <a16:creationId xmlns:a16="http://schemas.microsoft.com/office/drawing/2014/main" id="{406F451B-0650-4CFA-A779-177FED756E32}"/>
              </a:ext>
            </a:extLst>
          </p:cNvPr>
          <p:cNvSpPr>
            <a:spLocks xmlns:a="http://schemas.openxmlformats.org/drawingml/2006/main" noGrp="1"/>
          </p:cNvSpPr>
          <p:nvPr/>
        </p:nvSpPr>
        <p:spPr>
          <a:xfrm xmlns:a="http://schemas.openxmlformats.org/drawingml/2006/main">
            <a:off x="1352550" y="563880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Tablet running apps: general purpose</a:t>
            </a:r>
          </a:p>
        </p:txBody>
      </p:sp>
    </p:spTree>
    <p:extLst>
      <p:ext uri="{BB962C8B-B14F-4D97-AF65-F5344CB8AC3E}">
        <p14:creationId xmlns:p14="http://schemas.microsoft.com/office/powerpoint/2010/main" val="177746941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49134CDA-A54D-48E6-88A3-D5735F92CB9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PLENARY</a:t>
            </a:r>
          </a:p>
        </p:txBody>
      </p:sp>
      <p:sp>
        <p:nvSpPr>
          <p:cNvPr id="2" name="heading">
            <a:extLst xmlns:a="http://schemas.openxmlformats.org/drawingml/2006/main">
              <a:ext uri="{FF2B5EF4-FFF2-40B4-BE49-F238E27FC236}">
                <a16:creationId xmlns:a16="http://schemas.microsoft.com/office/drawing/2014/main" id="{3DC05A78-2B6E-4AC0-ACAF-EEC5C8C8172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sp>
        <p:nvSpPr>
          <p:cNvPr id="3" name="footer">
            <a:extLst xmlns:a="http://schemas.openxmlformats.org/drawingml/2006/main">
              <a:ext uri="{FF2B5EF4-FFF2-40B4-BE49-F238E27FC236}">
                <a16:creationId xmlns:a16="http://schemas.microsoft.com/office/drawing/2014/main" id="{D37F6D6B-B610-4281-8967-01B4D1C83F7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B135678F-5E48-4572-B163-B6697E198C9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21</a:t>
            </a:r>
          </a:p>
        </p:txBody>
      </p:sp>
      <p:sp>
        <p:nvSpPr>
          <p:cNvPr id="5" name="plenary-instruction">
            <a:extLst xmlns:a="http://schemas.openxmlformats.org/drawingml/2006/main">
              <a:ext uri="{FF2B5EF4-FFF2-40B4-BE49-F238E27FC236}">
                <a16:creationId xmlns:a16="http://schemas.microsoft.com/office/drawing/2014/main" id="{64C060A7-8A04-414D-A6D1-1EC12B324584}"/>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6" name="a">
            <a:extLst xmlns:a="http://schemas.openxmlformats.org/drawingml/2006/main">
              <a:ext uri="{FF2B5EF4-FFF2-40B4-BE49-F238E27FC236}">
                <a16:creationId xmlns:a16="http://schemas.microsoft.com/office/drawing/2014/main" id="{86275E52-6466-4E97-AA46-8521B49AFAC7}"/>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7" name="question-a">
            <a:extLst xmlns:a="http://schemas.openxmlformats.org/drawingml/2006/main">
              <a:ext uri="{FF2B5EF4-FFF2-40B4-BE49-F238E27FC236}">
                <a16:creationId xmlns:a16="http://schemas.microsoft.com/office/drawing/2014/main" id="{40B82164-CF6E-424E-9CB7-B64216555460}"/>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Name an embedded system and explain why it is described as a computer. [3]</a:t>
            </a:r>
          </a:p>
        </p:txBody>
      </p:sp>
      <p:sp>
        <p:nvSpPr>
          <p:cNvPr id="8" name="b">
            <a:extLst xmlns:a="http://schemas.openxmlformats.org/drawingml/2006/main">
              <a:ext uri="{FF2B5EF4-FFF2-40B4-BE49-F238E27FC236}">
                <a16:creationId xmlns:a16="http://schemas.microsoft.com/office/drawing/2014/main" id="{5359AB69-CF68-4190-BC4E-63CE72213823}"/>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9" name="question-b">
            <a:extLst xmlns:a="http://schemas.openxmlformats.org/drawingml/2006/main">
              <a:ext uri="{FF2B5EF4-FFF2-40B4-BE49-F238E27FC236}">
                <a16:creationId xmlns:a16="http://schemas.microsoft.com/office/drawing/2014/main" id="{800F5357-0342-497F-A2A2-22BD074D1C2E}"/>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Describe two characteristics of embedded systems. [4]</a:t>
            </a:r>
          </a:p>
        </p:txBody>
      </p:sp>
    </p:spTree>
    <p:extLst>
      <p:ext uri="{BB962C8B-B14F-4D97-AF65-F5344CB8AC3E}">
        <p14:creationId xmlns:p14="http://schemas.microsoft.com/office/powerpoint/2010/main" val="142807723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60AB1E4E-A5AB-40CF-BA0E-57030445FF9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PLENARY</a:t>
            </a:r>
          </a:p>
        </p:txBody>
      </p:sp>
      <p:sp>
        <p:nvSpPr>
          <p:cNvPr id="2" name="heading">
            <a:extLst xmlns:a="http://schemas.openxmlformats.org/drawingml/2006/main">
              <a:ext uri="{FF2B5EF4-FFF2-40B4-BE49-F238E27FC236}">
                <a16:creationId xmlns:a16="http://schemas.microsoft.com/office/drawing/2014/main" id="{21C9D2AF-4E21-455A-91F5-9B57C544FA7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sp>
        <p:nvSpPr>
          <p:cNvPr id="3" name="footer">
            <a:extLst xmlns:a="http://schemas.openxmlformats.org/drawingml/2006/main">
              <a:ext uri="{FF2B5EF4-FFF2-40B4-BE49-F238E27FC236}">
                <a16:creationId xmlns:a16="http://schemas.microsoft.com/office/drawing/2014/main" id="{0AAE61B1-0FAF-49AC-A509-5B953A01642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56347EA9-049E-452F-ABE3-DDD99DEF51C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21</a:t>
            </a:r>
          </a:p>
        </p:txBody>
      </p:sp>
      <p:sp>
        <p:nvSpPr>
          <p:cNvPr id="5" name="from-memory">
            <a:extLst xmlns:a="http://schemas.openxmlformats.org/drawingml/2006/main">
              <a:ext uri="{FF2B5EF4-FFF2-40B4-BE49-F238E27FC236}">
                <a16:creationId xmlns:a16="http://schemas.microsoft.com/office/drawing/2014/main" id="{1C5E4637-0251-4F1F-A2AB-AA50A4B016FF}"/>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6" name="c">
            <a:extLst xmlns:a="http://schemas.openxmlformats.org/drawingml/2006/main">
              <a:ext uri="{FF2B5EF4-FFF2-40B4-BE49-F238E27FC236}">
                <a16:creationId xmlns:a16="http://schemas.microsoft.com/office/drawing/2014/main" id="{3FA4F6FF-65C1-4863-9997-F6C9FBF08CBE}"/>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7" name="question-c">
            <a:extLst xmlns:a="http://schemas.openxmlformats.org/drawingml/2006/main">
              <a:ext uri="{FF2B5EF4-FFF2-40B4-BE49-F238E27FC236}">
                <a16:creationId xmlns:a16="http://schemas.microsoft.com/office/drawing/2014/main" id="{5BEE2049-865B-44E0-827F-55BE938ACE04}"/>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Explain why a laptop is not an embedded system. [2]</a:t>
            </a:r>
          </a:p>
        </p:txBody>
      </p:sp>
      <p:sp>
        <p:nvSpPr>
          <p:cNvPr id="8" name="marks">
            <a:extLst xmlns:a="http://schemas.openxmlformats.org/drawingml/2006/main">
              <a:ext uri="{FF2B5EF4-FFF2-40B4-BE49-F238E27FC236}">
                <a16:creationId xmlns:a16="http://schemas.microsoft.com/office/drawing/2014/main" id="{DAEE7AC6-0600-49AE-A907-1CB429779D9C}"/>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705208365"/>
      </p:ext>
    </p:extLst>
  </p:cSld>
</p:sld>
</file>

<file path=ppt/slides/slide18.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8869025D-8EB5-4C1A-BCF8-3D7CC0A7F38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4C3FF144-602F-4775-9BBE-988CC500733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sp>
        <p:nvSpPr>
          <p:cNvPr id="3" name="footer">
            <a:extLst xmlns:a="http://schemas.openxmlformats.org/drawingml/2006/main">
              <a:ext uri="{FF2B5EF4-FFF2-40B4-BE49-F238E27FC236}">
                <a16:creationId xmlns:a16="http://schemas.microsoft.com/office/drawing/2014/main" id="{A14F35EF-61D7-4DC8-BCC7-F71CF280F15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8142E0C4-970C-4E56-A2F2-52A6B882B3B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21</a:t>
            </a:r>
          </a:p>
        </p:txBody>
      </p:sp>
      <p:sp>
        <p:nvSpPr>
          <p:cNvPr id="5" name="scheme-intro">
            <a:extLst xmlns:a="http://schemas.openxmlformats.org/drawingml/2006/main">
              <a:ext uri="{FF2B5EF4-FFF2-40B4-BE49-F238E27FC236}">
                <a16:creationId xmlns:a16="http://schemas.microsoft.com/office/drawing/2014/main" id="{08086F8B-0778-421D-A7C8-7EE332342E13}"/>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6" name="scheme-a">
            <a:extLst xmlns:a="http://schemas.openxmlformats.org/drawingml/2006/main">
              <a:ext uri="{FF2B5EF4-FFF2-40B4-BE49-F238E27FC236}">
                <a16:creationId xmlns:a16="http://schemas.microsoft.com/office/drawing/2014/main" id="{D97E2328-25BD-48AB-BA56-4EEDDE411A0A}"/>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Example: a washing machine has a microcontroller that reads sensors or dial settings, processes them and controls the motor or heater.</a:t>
            </a:r>
          </a:p>
        </p:txBody>
      </p:sp>
      <p:sp>
        <p:nvSpPr>
          <p:cNvPr id="7" name="scheme-b">
            <a:extLst xmlns:a="http://schemas.openxmlformats.org/drawingml/2006/main">
              <a:ext uri="{FF2B5EF4-FFF2-40B4-BE49-F238E27FC236}">
                <a16:creationId xmlns:a16="http://schemas.microsoft.com/office/drawing/2014/main" id="{89DA2ECD-6990-42FF-A7A7-EFD39DD87D29}"/>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Examples: a dedicated function; built into a larger device; often small or low power; designed for reliability. Describe two, with a detail for each.</a:t>
            </a:r>
          </a:p>
        </p:txBody>
      </p:sp>
    </p:spTree>
    <p:extLst>
      <p:ext uri="{BB962C8B-B14F-4D97-AF65-F5344CB8AC3E}">
        <p14:creationId xmlns:p14="http://schemas.microsoft.com/office/powerpoint/2010/main" val="107806194"/>
      </p:ext>
    </p:extLst>
  </p:cSld>
</p:sld>
</file>

<file path=ppt/slides/slide19.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1D74652C-993E-4B07-9570-4683FD7C755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2" name="heading">
            <a:extLst xmlns:a="http://schemas.openxmlformats.org/drawingml/2006/main">
              <a:ext uri="{FF2B5EF4-FFF2-40B4-BE49-F238E27FC236}">
                <a16:creationId xmlns:a16="http://schemas.microsoft.com/office/drawing/2014/main" id="{67CE0E9F-8A9D-4C53-A507-F2E26504841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sp>
        <p:nvSpPr>
          <p:cNvPr id="3" name="footer">
            <a:extLst xmlns:a="http://schemas.openxmlformats.org/drawingml/2006/main">
              <a:ext uri="{FF2B5EF4-FFF2-40B4-BE49-F238E27FC236}">
                <a16:creationId xmlns:a16="http://schemas.microsoft.com/office/drawing/2014/main" id="{79D8C243-FD41-4EA5-ABE1-92BD37933DD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C88D43E0-D21B-4C80-9A2D-036DA1A47F7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19 / 21</a:t>
            </a:r>
          </a:p>
        </p:txBody>
      </p:sp>
      <p:sp>
        <p:nvSpPr>
          <p:cNvPr id="5" name="scheme-intro">
            <a:extLst xmlns:a="http://schemas.openxmlformats.org/drawingml/2006/main">
              <a:ext uri="{FF2B5EF4-FFF2-40B4-BE49-F238E27FC236}">
                <a16:creationId xmlns:a16="http://schemas.microsoft.com/office/drawing/2014/main" id="{135DE6CC-B317-442F-B581-593071EB4F61}"/>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6" name="number-1">
            <a:extLst xmlns:a="http://schemas.openxmlformats.org/drawingml/2006/main">
              <a:ext uri="{FF2B5EF4-FFF2-40B4-BE49-F238E27FC236}">
                <a16:creationId xmlns:a16="http://schemas.microsoft.com/office/drawing/2014/main" id="{F251CC26-F91D-4950-8F58-D35EC83F5069}"/>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DEDFA4CB-2B5F-43A4-B4C4-787F212A08E4}"/>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laptop is a general-purpose computer that can run many different programs.</a:t>
            </a:r>
          </a:p>
        </p:txBody>
      </p:sp>
      <p:sp>
        <p:nvSpPr>
          <p:cNvPr id="8" name="number-2">
            <a:extLst xmlns:a="http://schemas.openxmlformats.org/drawingml/2006/main">
              <a:ext uri="{FF2B5EF4-FFF2-40B4-BE49-F238E27FC236}">
                <a16:creationId xmlns:a16="http://schemas.microsoft.com/office/drawing/2014/main" id="{34FB494B-8F9C-4048-8C64-A45C44FBFCF4}"/>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0AA9E07D-0055-4F34-B441-9615A0E47117}"/>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Its user can install software and change the tasks it performs. An embedded system has a dedicated function.</a:t>
            </a:r>
          </a:p>
        </p:txBody>
      </p:sp>
    </p:spTree>
    <p:extLst>
      <p:ext uri="{BB962C8B-B14F-4D97-AF65-F5344CB8AC3E}">
        <p14:creationId xmlns:p14="http://schemas.microsoft.com/office/powerpoint/2010/main" val="174549927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opic">
            <a:extLst xmlns:a="http://schemas.openxmlformats.org/drawingml/2006/main">
              <a:ext uri="{FF2B5EF4-FFF2-40B4-BE49-F238E27FC236}">
                <a16:creationId xmlns:a16="http://schemas.microsoft.com/office/drawing/2014/main" id="{A453B72F-3A0B-4BBF-8A44-FFA0B720925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a:t>
            </a:r>
          </a:p>
        </p:txBody>
      </p:sp>
      <p:sp>
        <p:nvSpPr>
          <p:cNvPr id="2" name="heading">
            <a:extLst xmlns:a="http://schemas.openxmlformats.org/drawingml/2006/main">
              <a:ext uri="{FF2B5EF4-FFF2-40B4-BE49-F238E27FC236}">
                <a16:creationId xmlns:a16="http://schemas.microsoft.com/office/drawing/2014/main" id="{403A9853-D005-4533-8788-1A67A192473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Revision checklist</a:t>
            </a:r>
          </a:p>
        </p:txBody>
      </p:sp>
      <p:sp>
        <p:nvSpPr>
          <p:cNvPr id="3" name="footer">
            <a:extLst xmlns:a="http://schemas.openxmlformats.org/drawingml/2006/main">
              <a:ext uri="{FF2B5EF4-FFF2-40B4-BE49-F238E27FC236}">
                <a16:creationId xmlns:a16="http://schemas.microsoft.com/office/drawing/2014/main" id="{24E3A9EB-EE56-4B40-842A-C7BF5729D489}"/>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A3B1C69-C5E2-40B8-97B9-3D50DAD34AF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20 / 21</a:t>
            </a:r>
          </a:p>
        </p:txBody>
      </p:sp>
      <p:sp>
        <p:nvSpPr>
          <p:cNvPr id="5" name="rag">
            <a:extLst xmlns:a="http://schemas.openxmlformats.org/drawingml/2006/main">
              <a:ext uri="{FF2B5EF4-FFF2-40B4-BE49-F238E27FC236}">
                <a16:creationId xmlns:a16="http://schemas.microsoft.com/office/drawing/2014/main" id="{F518D219-17DB-401C-8D4C-1AEC6C658616}"/>
              </a:ext>
            </a:extLst>
          </p:cNvPr>
          <p:cNvSpPr>
            <a:spLocks xmlns:a="http://schemas.openxmlformats.org/drawingml/2006/main" noGrp="1"/>
          </p:cNvSpPr>
          <p:nvPr/>
        </p:nvSpPr>
        <p:spPr>
          <a:xfrm xmlns:a="http://schemas.openxmlformats.org/drawingml/2006/main">
            <a:off x="704850" y="15621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RAG each Topic 1.1 area on the Smart home worksheet.</a:t>
            </a:r>
          </a:p>
        </p:txBody>
      </p:sp>
      <p:sp>
        <p:nvSpPr>
          <p:cNvPr id="6" name="number-1">
            <a:extLst xmlns:a="http://schemas.openxmlformats.org/drawingml/2006/main">
              <a:ext uri="{FF2B5EF4-FFF2-40B4-BE49-F238E27FC236}">
                <a16:creationId xmlns:a16="http://schemas.microsoft.com/office/drawing/2014/main" id="{3E32E0B0-34C0-4734-963C-3CC399DBF21D}"/>
              </a:ext>
            </a:extLst>
          </p:cNvPr>
          <p:cNvSpPr>
            <a:spLocks xmlns:a="http://schemas.openxmlformats.org/drawingml/2006/main" noGrp="1"/>
          </p:cNvSpPr>
          <p:nvPr/>
        </p:nvSpPr>
        <p:spPr>
          <a:xfrm xmlns:a="http://schemas.openxmlformats.org/drawingml/2006/main">
            <a:off x="723900" y="2324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7C1060B7-C0B2-4CD4-9AC0-F0F0DB72CCE5}"/>
              </a:ext>
            </a:extLst>
          </p:cNvPr>
          <p:cNvSpPr>
            <a:spLocks xmlns:a="http://schemas.openxmlformats.org/drawingml/2006/main" noGrp="1"/>
          </p:cNvSpPr>
          <p:nvPr/>
        </p:nvSpPr>
        <p:spPr>
          <a:xfrm xmlns:a="http://schemas.openxmlformats.org/drawingml/2006/main">
            <a:off x="1352550" y="232410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The purpose of the CPU and the fetch-execute cycle</a:t>
            </a:r>
          </a:p>
        </p:txBody>
      </p:sp>
      <p:sp>
        <p:nvSpPr>
          <p:cNvPr id="8" name="number-2">
            <a:extLst xmlns:a="http://schemas.openxmlformats.org/drawingml/2006/main">
              <a:ext uri="{FF2B5EF4-FFF2-40B4-BE49-F238E27FC236}">
                <a16:creationId xmlns:a16="http://schemas.microsoft.com/office/drawing/2014/main" id="{485F00C9-E9F4-4638-B41D-4B8A81E3BF6A}"/>
              </a:ext>
            </a:extLst>
          </p:cNvPr>
          <p:cNvSpPr>
            <a:spLocks xmlns:a="http://schemas.openxmlformats.org/drawingml/2006/main" noGrp="1"/>
          </p:cNvSpPr>
          <p:nvPr/>
        </p:nvSpPr>
        <p:spPr>
          <a:xfrm xmlns:a="http://schemas.openxmlformats.org/drawingml/2006/main">
            <a:off x="723900" y="30575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ADDEC6EB-0B45-4DD4-9433-A5473B9D38B0}"/>
              </a:ext>
            </a:extLst>
          </p:cNvPr>
          <p:cNvSpPr>
            <a:spLocks xmlns:a="http://schemas.openxmlformats.org/drawingml/2006/main" noGrp="1"/>
          </p:cNvSpPr>
          <p:nvPr/>
        </p:nvSpPr>
        <p:spPr>
          <a:xfrm xmlns:a="http://schemas.openxmlformats.org/drawingml/2006/main">
            <a:off x="1352550" y="3057525"/>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Common CPU components: ALU, CU, cache, registers</a:t>
            </a:r>
          </a:p>
        </p:txBody>
      </p:sp>
      <p:sp>
        <p:nvSpPr>
          <p:cNvPr id="10" name="number-3">
            <a:extLst xmlns:a="http://schemas.openxmlformats.org/drawingml/2006/main">
              <a:ext uri="{FF2B5EF4-FFF2-40B4-BE49-F238E27FC236}">
                <a16:creationId xmlns:a16="http://schemas.microsoft.com/office/drawing/2014/main" id="{976A2EE5-51D2-48B7-A60A-ED4A0DF0FF8A}"/>
              </a:ext>
            </a:extLst>
          </p:cNvPr>
          <p:cNvSpPr>
            <a:spLocks xmlns:a="http://schemas.openxmlformats.org/drawingml/2006/main" noGrp="1"/>
          </p:cNvSpPr>
          <p:nvPr/>
        </p:nvSpPr>
        <p:spPr>
          <a:xfrm xmlns:a="http://schemas.openxmlformats.org/drawingml/2006/main">
            <a:off x="723900" y="3790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55711BF3-2CE0-48A5-B387-165D9135E905}"/>
              </a:ext>
            </a:extLst>
          </p:cNvPr>
          <p:cNvSpPr>
            <a:spLocks xmlns:a="http://schemas.openxmlformats.org/drawingml/2006/main" noGrp="1"/>
          </p:cNvSpPr>
          <p:nvPr/>
        </p:nvSpPr>
        <p:spPr>
          <a:xfrm xmlns:a="http://schemas.openxmlformats.org/drawingml/2006/main">
            <a:off x="1352550" y="379095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Von Neumann architecture: MAR, MDR, PC, accumulator</a:t>
            </a:r>
          </a:p>
        </p:txBody>
      </p:sp>
      <p:sp>
        <p:nvSpPr>
          <p:cNvPr id="12" name="number-4">
            <a:extLst xmlns:a="http://schemas.openxmlformats.org/drawingml/2006/main">
              <a:ext uri="{FF2B5EF4-FFF2-40B4-BE49-F238E27FC236}">
                <a16:creationId xmlns:a16="http://schemas.microsoft.com/office/drawing/2014/main" id="{DDB6830A-1206-4661-90B0-024476B77F00}"/>
              </a:ext>
            </a:extLst>
          </p:cNvPr>
          <p:cNvSpPr>
            <a:spLocks xmlns:a="http://schemas.openxmlformats.org/drawingml/2006/main" noGrp="1"/>
          </p:cNvSpPr>
          <p:nvPr/>
        </p:nvSpPr>
        <p:spPr>
          <a:xfrm xmlns:a="http://schemas.openxmlformats.org/drawingml/2006/main">
            <a:off x="723900" y="4524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B14E7DB1-A799-4A92-93FB-6A3EED6A528D}"/>
              </a:ext>
            </a:extLst>
          </p:cNvPr>
          <p:cNvSpPr>
            <a:spLocks xmlns:a="http://schemas.openxmlformats.org/drawingml/2006/main" noGrp="1"/>
          </p:cNvSpPr>
          <p:nvPr/>
        </p:nvSpPr>
        <p:spPr>
          <a:xfrm xmlns:a="http://schemas.openxmlformats.org/drawingml/2006/main">
            <a:off x="1352550" y="4524375"/>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How clock speed, cache size and number of cores affect performance</a:t>
            </a:r>
          </a:p>
        </p:txBody>
      </p:sp>
      <p:sp>
        <p:nvSpPr>
          <p:cNvPr id="14" name="number-5">
            <a:extLst xmlns:a="http://schemas.openxmlformats.org/drawingml/2006/main">
              <a:ext uri="{FF2B5EF4-FFF2-40B4-BE49-F238E27FC236}">
                <a16:creationId xmlns:a16="http://schemas.microsoft.com/office/drawing/2014/main" id="{12BF12F6-68EF-4F6C-AC5B-ED78BD7A6181}"/>
              </a:ext>
            </a:extLst>
          </p:cNvPr>
          <p:cNvSpPr>
            <a:spLocks xmlns:a="http://schemas.openxmlformats.org/drawingml/2006/main" noGrp="1"/>
          </p:cNvSpPr>
          <p:nvPr/>
        </p:nvSpPr>
        <p:spPr>
          <a:xfrm xmlns:a="http://schemas.openxmlformats.org/drawingml/2006/main">
            <a:off x="723900" y="52578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9CB6119A-C044-47FC-AF00-EC0286DC54D7}"/>
              </a:ext>
            </a:extLst>
          </p:cNvPr>
          <p:cNvSpPr>
            <a:spLocks xmlns:a="http://schemas.openxmlformats.org/drawingml/2006/main" noGrp="1"/>
          </p:cNvSpPr>
          <p:nvPr/>
        </p:nvSpPr>
        <p:spPr>
          <a:xfrm xmlns:a="http://schemas.openxmlformats.org/drawingml/2006/main">
            <a:off x="1352550" y="525780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The purpose, characteristics and examples of embedded systems</a:t>
            </a:r>
          </a:p>
        </p:txBody>
      </p:sp>
    </p:spTree>
    <p:extLst>
      <p:ext uri="{BB962C8B-B14F-4D97-AF65-F5344CB8AC3E}">
        <p14:creationId xmlns:p14="http://schemas.microsoft.com/office/powerpoint/2010/main" val="806338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D368937B-8BD9-4B84-BD4B-49A77B84D43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SELF-CHECK</a:t>
            </a:r>
          </a:p>
        </p:txBody>
      </p:sp>
      <p:sp>
        <p:nvSpPr>
          <p:cNvPr id="2" name="heading">
            <a:extLst xmlns:a="http://schemas.openxmlformats.org/drawingml/2006/main">
              <a:ext uri="{FF2B5EF4-FFF2-40B4-BE49-F238E27FC236}">
                <a16:creationId xmlns:a16="http://schemas.microsoft.com/office/drawing/2014/main" id="{EE64C8CC-E936-47DF-AAAC-D6A2BF78C65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sp>
        <p:nvSpPr>
          <p:cNvPr id="3" name="footer">
            <a:extLst xmlns:a="http://schemas.openxmlformats.org/drawingml/2006/main">
              <a:ext uri="{FF2B5EF4-FFF2-40B4-BE49-F238E27FC236}">
                <a16:creationId xmlns:a16="http://schemas.microsoft.com/office/drawing/2014/main" id="{74877601-DF76-4AF2-94A8-984B6E40C2C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2016607D-606D-431F-B02A-437A23339A2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21 / 21</a:t>
            </a:r>
          </a:p>
        </p:txBody>
      </p:sp>
      <p:sp>
        <p:nvSpPr>
          <p:cNvPr id="5" name="confidence-instruction">
            <a:extLst xmlns:a="http://schemas.openxmlformats.org/drawingml/2006/main">
              <a:ext uri="{FF2B5EF4-FFF2-40B4-BE49-F238E27FC236}">
                <a16:creationId xmlns:a16="http://schemas.microsoft.com/office/drawing/2014/main" id="{F9455998-72A5-478D-8E71-2B946D46A01B}"/>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6" name="number-1">
            <a:extLst xmlns:a="http://schemas.openxmlformats.org/drawingml/2006/main">
              <a:ext uri="{FF2B5EF4-FFF2-40B4-BE49-F238E27FC236}">
                <a16:creationId xmlns:a16="http://schemas.microsoft.com/office/drawing/2014/main" id="{60AC5DFA-B5B3-4F4E-A675-3C601CA8B2C9}"/>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78C5B02D-45E7-4F95-9FB5-6682A66E62C9}"/>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What an embedded system is</a:t>
            </a:r>
          </a:p>
        </p:txBody>
      </p:sp>
      <p:sp>
        <p:nvSpPr>
          <p:cNvPr id="8" name="number-2">
            <a:extLst xmlns:a="http://schemas.openxmlformats.org/drawingml/2006/main">
              <a:ext uri="{FF2B5EF4-FFF2-40B4-BE49-F238E27FC236}">
                <a16:creationId xmlns:a16="http://schemas.microsoft.com/office/drawing/2014/main" id="{631B2005-F188-4A60-92D0-F318FE95033A}"/>
              </a:ext>
            </a:extLst>
          </p:cNvPr>
          <p:cNvSpPr>
            <a:spLocks xmlns:a="http://schemas.openxmlformats.org/drawingml/2006/main" noGrp="1"/>
          </p:cNvSpPr>
          <p:nvPr/>
        </p:nvSpPr>
        <p:spPr>
          <a:xfrm xmlns:a="http://schemas.openxmlformats.org/drawingml/2006/main">
            <a:off x="723900" y="35242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33E5C82B-94BD-4D37-883C-EA045405002E}"/>
              </a:ext>
            </a:extLst>
          </p:cNvPr>
          <p:cNvSpPr>
            <a:spLocks xmlns:a="http://schemas.openxmlformats.org/drawingml/2006/main" noGrp="1"/>
          </p:cNvSpPr>
          <p:nvPr/>
        </p:nvSpPr>
        <p:spPr>
          <a:xfrm xmlns:a="http://schemas.openxmlformats.org/drawingml/2006/main">
            <a:off x="1352550" y="35242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Examples of embedded systems</a:t>
            </a:r>
          </a:p>
        </p:txBody>
      </p:sp>
      <p:sp>
        <p:nvSpPr>
          <p:cNvPr id="10" name="number-3">
            <a:extLst xmlns:a="http://schemas.openxmlformats.org/drawingml/2006/main">
              <a:ext uri="{FF2B5EF4-FFF2-40B4-BE49-F238E27FC236}">
                <a16:creationId xmlns:a16="http://schemas.microsoft.com/office/drawing/2014/main" id="{15A56295-2742-4A9C-9A6F-F373381CAD71}"/>
              </a:ext>
            </a:extLst>
          </p:cNvPr>
          <p:cNvSpPr>
            <a:spLocks xmlns:a="http://schemas.openxmlformats.org/drawingml/2006/main" noGrp="1"/>
          </p:cNvSpPr>
          <p:nvPr/>
        </p:nvSpPr>
        <p:spPr>
          <a:xfrm xmlns:a="http://schemas.openxmlformats.org/drawingml/2006/main">
            <a:off x="723900" y="4533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F882A0B1-7298-4836-8DBD-6095F58209DC}"/>
              </a:ext>
            </a:extLst>
          </p:cNvPr>
          <p:cNvSpPr>
            <a:spLocks xmlns:a="http://schemas.openxmlformats.org/drawingml/2006/main" noGrp="1"/>
          </p:cNvSpPr>
          <p:nvPr/>
        </p:nvSpPr>
        <p:spPr>
          <a:xfrm xmlns:a="http://schemas.openxmlformats.org/drawingml/2006/main">
            <a:off x="1352550" y="45339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embedded systems take input, process and output</a:t>
            </a:r>
          </a:p>
        </p:txBody>
      </p:sp>
    </p:spTree>
    <p:extLst>
      <p:ext uri="{BB962C8B-B14F-4D97-AF65-F5344CB8AC3E}">
        <p14:creationId xmlns:p14="http://schemas.microsoft.com/office/powerpoint/2010/main" val="13647091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2026-09-25T12:17:42.5910000Z</dcterms:created>
  <dcterms:modified xsi:type="dcterms:W3CDTF">2026-09-25T12:17:42.5910000Z</dcterms:modified>
</coreProperties>
</file>