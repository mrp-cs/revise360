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a680bf51384fa6" /><Relationship Type="http://schemas.openxmlformats.org/officeDocument/2006/relationships/extended-properties" Target="/docProps/app.xml" Id="R472065b7153e43d3" /><Relationship Type="http://schemas.openxmlformats.org/officeDocument/2006/relationships/officeDocument" Target="/ppt/presentation.xml" Id="R373f88b5e2ab49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9245abef34f4d15"/>
  </p:sldMasterIdLst>
  <p:notesMasterIdLst>
    <p:notesMasterId xmlns:r="http://schemas.openxmlformats.org/officeDocument/2006/relationships" r:id="Rcf9f4f14eb3146ad"/>
  </p:notesMasterIdLst>
  <p:sldIdLst>
    <p:sldId xmlns:r="http://schemas.openxmlformats.org/officeDocument/2006/relationships" id="256" r:id="Rec60f15957564bd0"/>
    <p:sldId xmlns:r="http://schemas.openxmlformats.org/officeDocument/2006/relationships" id="257" r:id="R62f05939c29d43af"/>
    <p:sldId xmlns:r="http://schemas.openxmlformats.org/officeDocument/2006/relationships" id="258" r:id="R40c585cc027f4ef5"/>
    <p:sldId xmlns:r="http://schemas.openxmlformats.org/officeDocument/2006/relationships" id="259" r:id="Rf4e7df6838df410a"/>
    <p:sldId xmlns:r="http://schemas.openxmlformats.org/officeDocument/2006/relationships" id="260" r:id="R84a94d626105408c"/>
    <p:sldId xmlns:r="http://schemas.openxmlformats.org/officeDocument/2006/relationships" id="261" r:id="Rf7655dfd8ff04acb"/>
    <p:sldId xmlns:r="http://schemas.openxmlformats.org/officeDocument/2006/relationships" id="262" r:id="R03a94736089048b1"/>
    <p:sldId xmlns:r="http://schemas.openxmlformats.org/officeDocument/2006/relationships" id="263" r:id="Rae3b6f1ae7034be9"/>
    <p:sldId xmlns:r="http://schemas.openxmlformats.org/officeDocument/2006/relationships" id="264" r:id="R36942c26ab284066"/>
    <p:sldId xmlns:r="http://schemas.openxmlformats.org/officeDocument/2006/relationships" id="265" r:id="R9b8db29f4f06417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a1282c7e4341b2" /><Relationship Type="http://schemas.openxmlformats.org/officeDocument/2006/relationships/slideMaster" Target="/ppt/slideMasters/slideMaster1.xml" Id="R79245abef34f4d15" /><Relationship Type="http://schemas.openxmlformats.org/officeDocument/2006/relationships/notesMaster" Target="/ppt/notesMasters/notesMaster1.xml" Id="Rcf9f4f14eb3146ad" /><Relationship Type="http://schemas.openxmlformats.org/officeDocument/2006/relationships/presProps" Target="/ppt/presProps.xml" Id="Rfca5da623ae34505" /><Relationship Type="http://schemas.openxmlformats.org/officeDocument/2006/relationships/tableStyles" Target="/ppt/tableStyles.xml" Id="R6a6b7071caea47ed" /><Relationship Type="http://schemas.openxmlformats.org/officeDocument/2006/relationships/slide" Target="/ppt/slides/slide1.xml" Id="Rec60f15957564bd0" /><Relationship Type="http://schemas.openxmlformats.org/officeDocument/2006/relationships/slide" Target="/ppt/slides/slide2.xml" Id="R62f05939c29d43af" /><Relationship Type="http://schemas.openxmlformats.org/officeDocument/2006/relationships/slide" Target="/ppt/slides/slide3.xml" Id="R40c585cc027f4ef5" /><Relationship Type="http://schemas.openxmlformats.org/officeDocument/2006/relationships/slide" Target="/ppt/slides/slide4.xml" Id="Rf4e7df6838df410a" /><Relationship Type="http://schemas.openxmlformats.org/officeDocument/2006/relationships/slide" Target="/ppt/slides/slide5.xml" Id="R84a94d626105408c" /><Relationship Type="http://schemas.openxmlformats.org/officeDocument/2006/relationships/slide" Target="/ppt/slides/slide6.xml" Id="Rf7655dfd8ff04acb" /><Relationship Type="http://schemas.openxmlformats.org/officeDocument/2006/relationships/slide" Target="/ppt/slides/slide7.xml" Id="R03a94736089048b1" /><Relationship Type="http://schemas.openxmlformats.org/officeDocument/2006/relationships/slide" Target="/ppt/slides/slide8.xml" Id="Rae3b6f1ae7034be9" /><Relationship Type="http://schemas.openxmlformats.org/officeDocument/2006/relationships/slide" Target="/ppt/slides/slide9.xml" Id="R36942c26ab284066" /><Relationship Type="http://schemas.openxmlformats.org/officeDocument/2006/relationships/slide" Target="/ppt/slides/slide10.xml" Id="R9b8db29f4f0641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725304ce8044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c273b5d60d4713" /><Relationship Type="http://schemas.openxmlformats.org/officeDocument/2006/relationships/notesMaster" Target="/ppt/notesMasters/notesMaster1.xml" Id="R611e50db328749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2fd65a44fa24f0d" /><Relationship Type="http://schemas.openxmlformats.org/officeDocument/2006/relationships/notesMaster" Target="/ppt/notesMasters/notesMaster1.xml" Id="R808ef0c513074a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c6f6df960a496e" /><Relationship Type="http://schemas.openxmlformats.org/officeDocument/2006/relationships/notesMaster" Target="/ppt/notesMasters/notesMaster1.xml" Id="Re25a4cea6dcd42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146257520a4fb8" /><Relationship Type="http://schemas.openxmlformats.org/officeDocument/2006/relationships/notesMaster" Target="/ppt/notesMasters/notesMaster1.xml" Id="R032f633273fd41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572fb1bf2d4534" /><Relationship Type="http://schemas.openxmlformats.org/officeDocument/2006/relationships/notesMaster" Target="/ppt/notesMasters/notesMaster1.xml" Id="Rc1a269fc471c41a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4ace2e7fde4a7a" /><Relationship Type="http://schemas.openxmlformats.org/officeDocument/2006/relationships/notesMaster" Target="/ppt/notesMasters/notesMaster1.xml" Id="R5210db38630f4b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e50836395d4387" /><Relationship Type="http://schemas.openxmlformats.org/officeDocument/2006/relationships/notesMaster" Target="/ppt/notesMasters/notesMaster1.xml" Id="R36480c27c94747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ede78bc1fe94db5" /><Relationship Type="http://schemas.openxmlformats.org/officeDocument/2006/relationships/notesMaster" Target="/ppt/notesMasters/notesMaster1.xml" Id="R2d6a771021ef4f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94cf839ccc4f17" /><Relationship Type="http://schemas.openxmlformats.org/officeDocument/2006/relationships/notesMaster" Target="/ppt/notesMasters/notesMaster1.xml" Id="Rb6d8c12435a8463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13f86a87f34a24" /><Relationship Type="http://schemas.openxmlformats.org/officeDocument/2006/relationships/notesMaster" Target="/ppt/notesMasters/notesMaster1.xml" Id="R999e0ab75e1d43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lesson. Open the matching worksheet and experience from Topic 1.1. Use the deck in order, revealing starter answers only after pupils have attempted the quiz.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about five minutes. Students can write the four terms in their books or on the worksheet. Ask them to justify one answer before showing the next slide.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Accept close equivalents where the technical meaning is intact. The starter prompt printed in the worksheet can serve as a short discussion before the experience.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Directions in every experience: turn right for stations 1 and 2, around for 3 and 4, left for 5 and 6, and down for the star. Students should record notes before attempting each badge.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Independent extension. Invite a worked explanation, not a one-word answer. Students can discuss in pairs after writing first.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for students who finish the experience before the class plenary. If time is short, move the whole class to the quiz.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the first two exam-practice questions from the lesson worksheet. Give writing time and avoid displaying answers until all students have attempted them.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question c from the worksheet. Let students complete it independently, then reveal the indicative answer points.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classroom answer points, not an official OCR mark scheme. Ask students to annotate one improvement in a different colour.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worksheet also asks pupils to classify parts of a washing machine as input, process or output. Ask them to justify ambiguous examples by the dedicated function. Ask students to revise one sentence after self-check.</a:t>
            </a:r>
          </a:p>
          <a:p xmlns:a="http://schemas.openxmlformats.org/drawingml/2006/main">
            <a:r>
              <a:t>Sources: Revise360 experiences/sa-l04.json and worksheets/SA_L04_SmartHome_Worksheet.docx. Indicative answers are for discussion and self-check, not an official exam-board mark scheme.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abffb8e55a4b8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81b1f211afe44ef" /><Relationship Type="http://schemas.openxmlformats.org/officeDocument/2006/relationships/slideLayout" Target="/ppt/slideLayouts/slideLayout1.xml" Id="R1a3e48a5b8a948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3e48a5b8a948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0b33e4af674edf" /><Relationship Type="http://schemas.openxmlformats.org/officeDocument/2006/relationships/image" Target="/ppt/media/image.jpeg" Id="R24bf883dc8c64fb7" /><Relationship Type="http://schemas.openxmlformats.org/officeDocument/2006/relationships/notesSlide" Target="/ppt/notesSlides/notesSlide1.xml" Id="Rdfbbe4a8c89545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e0bfccb8774c75" /><Relationship Type="http://schemas.openxmlformats.org/officeDocument/2006/relationships/notesSlide" Target="/ppt/notesSlides/notesSlide2.xml" Id="Re06d56e188b446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fb83a54f542a7" /><Relationship Type="http://schemas.openxmlformats.org/officeDocument/2006/relationships/notesSlide" Target="/ppt/notesSlides/notesSlide3.xml" Id="R25b6c1dbaead4ba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27faa2de884f38" /><Relationship Type="http://schemas.openxmlformats.org/officeDocument/2006/relationships/hyperlink" Target="https://mrp-cs.github.io/Revise360/experience.html?id=sa-l04" TargetMode="External" Id="R58a95ec5a2ac4787" /><Relationship Type="http://schemas.openxmlformats.org/officeDocument/2006/relationships/notesSlide" Target="/ppt/notesSlides/notesSlide4.xml" Id="R4a287314bcea44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06a29092874053" /><Relationship Type="http://schemas.openxmlformats.org/officeDocument/2006/relationships/notesSlide" Target="/ppt/notesSlides/notesSlide5.xml" Id="R5a8c03eafd21477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1626fb24244ceb" /><Relationship Type="http://schemas.openxmlformats.org/officeDocument/2006/relationships/notesSlide" Target="/ppt/notesSlides/notesSlide6.xml" Id="R6dc6fb569b6340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6847b72d2b4de7" /><Relationship Type="http://schemas.openxmlformats.org/officeDocument/2006/relationships/notesSlide" Target="/ppt/notesSlides/notesSlide7.xml" Id="R042b5af7551243f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a1807cd4f4124" /><Relationship Type="http://schemas.openxmlformats.org/officeDocument/2006/relationships/notesSlide" Target="/ppt/notesSlides/notesSlide8.xml" Id="R54be4f30e61644a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1767ab55844cf" /><Relationship Type="http://schemas.openxmlformats.org/officeDocument/2006/relationships/notesSlide" Target="/ppt/notesSlides/notesSlide9.xml" Id="R8e222b1f5f1a487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2df9b0dd6439e" /><Relationship Type="http://schemas.openxmlformats.org/officeDocument/2006/relationships/notesSlide" Target="/ppt/notesSlides/notesSlide10.xml" Id="R8f8f9bcf58a94f1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D00C0477-D5A9-4913-97B1-C8B9BCEC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1D5FD688-FAA4-469F-B48D-69665A6DA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SMART HOME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0C10FFBB-E582-4A57-9274-25A85781C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E2A12F33-2238-4239-89C0-BCD8336C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 / 10</a:t>
            </a:r>
          </a:p>
        </p:txBody>
      </p:sp>
      <p:sp>
        <p:nvSpPr>
          <p:cNvPr id="5" name="subject">
            <a:extLst xmlns:a="http://schemas.openxmlformats.org/drawingml/2006/main">
              <a:ext uri="{FF2B5EF4-FFF2-40B4-BE49-F238E27FC236}">
                <a16:creationId xmlns:a16="http://schemas.microsoft.com/office/drawing/2014/main" id="{71291296-5C13-4302-BE48-134FA7B96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571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Embedded systems</a:t>
            </a:r>
          </a:p>
        </p:txBody>
      </p:sp>
      <p:sp>
        <p:nvSpPr>
          <p:cNvPr id="6" name="sequence">
            <a:extLst xmlns:a="http://schemas.openxmlformats.org/drawingml/2006/main">
              <a:ext uri="{FF2B5EF4-FFF2-40B4-BE49-F238E27FC236}">
                <a16:creationId xmlns:a16="http://schemas.microsoft.com/office/drawing/2014/main" id="{66B15203-F824-4F7A-B889-5A1FBA0A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504825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Starter quiz</a:t>
            </a:r>
          </a:p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360° experience</a:t>
            </a:r>
          </a:p>
          <a:p xmlns:a="http://schemas.openxmlformats.org/drawingml/2006/main">
            <a:pPr>
              <a:lnSpc>
                <a:spcPct val="123000"/>
              </a:lnSpc>
              <a:buNone/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Plenary exam quiz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f883dc8c64fb7"/>
          <a:srcRect xmlns:a="http://schemas.openxmlformats.org/drawingml/2006/main" l="5297" t="0" r="52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05575" y="1809750"/>
            <a:ext cx="5000625" cy="36766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8164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1FF60C42-8945-440E-BCCA-59F83B5F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77A62CC8-2A51-4B47-BD2F-00CB35B2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key terms quiz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6FD3DE9-3BE2-4D7C-B8FA-1B0151C2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Starter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1888AB3-5E23-43E1-97F8-EC446BE5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2 / 10</a:t>
            </a:r>
          </a:p>
        </p:txBody>
      </p:sp>
      <p:sp>
        <p:nvSpPr>
          <p:cNvPr id="5" name="starter-instruction">
            <a:extLst xmlns:a="http://schemas.openxmlformats.org/drawingml/2006/main">
              <a:ext uri="{FF2B5EF4-FFF2-40B4-BE49-F238E27FC236}">
                <a16:creationId xmlns:a16="http://schemas.microsoft.com/office/drawing/2014/main" id="{53CD8512-9D54-42EC-81FE-879EEBA9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715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Write the key term that matches each definition. Work from memory.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DE0EC15B-9DD5-4A75-8787-11887261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050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08658CA4-0207-4D13-B531-CAA3B6C6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3050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computer built into a device for a dedicated function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3EE143DF-3DBF-4E8D-BBA6-A2FAF960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813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E4ADB4C0-4CA9-4386-A1DE-FAC4ADC7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813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Data entering a system from a sensor or control</a:t>
            </a:r>
          </a:p>
        </p:txBody>
      </p:sp>
      <p:sp>
        <p:nvSpPr>
          <p:cNvPr id="10" name="number-3">
            <a:extLst xmlns:a="http://schemas.openxmlformats.org/drawingml/2006/main">
              <a:ext uri="{FF2B5EF4-FFF2-40B4-BE49-F238E27FC236}">
                <a16:creationId xmlns:a16="http://schemas.microsoft.com/office/drawing/2014/main" id="{F616763F-CA8D-4E0A-9DE3-E5E316A78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1" name="item-3">
            <a:extLst xmlns:a="http://schemas.openxmlformats.org/drawingml/2006/main">
              <a:ext uri="{FF2B5EF4-FFF2-40B4-BE49-F238E27FC236}">
                <a16:creationId xmlns:a16="http://schemas.microsoft.com/office/drawing/2014/main" id="{D41B4DB6-BA24-4213-B3F8-6AACC8FB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0576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Using the input to decide what the system should do</a:t>
            </a:r>
          </a:p>
        </p:txBody>
      </p:sp>
      <p:sp>
        <p:nvSpPr>
          <p:cNvPr id="12" name="number-4">
            <a:extLst xmlns:a="http://schemas.openxmlformats.org/drawingml/2006/main">
              <a:ext uri="{FF2B5EF4-FFF2-40B4-BE49-F238E27FC236}">
                <a16:creationId xmlns:a16="http://schemas.microsoft.com/office/drawing/2014/main" id="{D2422A22-DFA0-4187-B208-8FF60B06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3" name="item-4">
            <a:extLst xmlns:a="http://schemas.openxmlformats.org/drawingml/2006/main">
              <a:ext uri="{FF2B5EF4-FFF2-40B4-BE49-F238E27FC236}">
                <a16:creationId xmlns:a16="http://schemas.microsoft.com/office/drawing/2014/main" id="{B89186D0-48D6-45A8-821D-9305A114E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33950"/>
            <a:ext cx="99250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 action or information the system produces</a:t>
            </a:r>
          </a:p>
        </p:txBody>
      </p:sp>
    </p:spTree>
    <p:extLst>
      <p:ext uri="{BB962C8B-B14F-4D97-AF65-F5344CB8AC3E}">
        <p14:creationId xmlns:p14="http://schemas.microsoft.com/office/powerpoint/2010/main" val="1822579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7DC254B1-F315-4D06-9479-7F2F643E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47E8D61-A31B-41A2-8204-73708B2E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Starter: answers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04B84EC-7943-410C-8073-FDCA6146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Starter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518290B-CC00-402E-A7E2-90BA52D6D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3 / 10</a:t>
            </a:r>
          </a:p>
        </p:txBody>
      </p:sp>
      <p:sp>
        <p:nvSpPr>
          <p:cNvPr id="5" name="check">
            <a:extLst xmlns:a="http://schemas.openxmlformats.org/drawingml/2006/main">
              <a:ext uri="{FF2B5EF4-FFF2-40B4-BE49-F238E27FC236}">
                <a16:creationId xmlns:a16="http://schemas.microsoft.com/office/drawing/2014/main" id="{429C9717-A8AF-44BC-8969-DBF4CB02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43050"/>
            <a:ext cx="10715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Check the term and correct any gaps in your definition.</a:t>
            </a:r>
          </a:p>
        </p:txBody>
      </p:sp>
      <p:sp>
        <p:nvSpPr>
          <p:cNvPr id="6" name="answer-0">
            <a:extLst xmlns:a="http://schemas.openxmlformats.org/drawingml/2006/main">
              <a:ext uri="{FF2B5EF4-FFF2-40B4-BE49-F238E27FC236}">
                <a16:creationId xmlns:a16="http://schemas.microsoft.com/office/drawing/2014/main" id="{569C1CDF-9EFB-4AA5-9354-8C1034CF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76475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 Embedded system</a:t>
            </a:r>
          </a:p>
        </p:txBody>
      </p:sp>
      <p:sp>
        <p:nvSpPr>
          <p:cNvPr id="7" name="meaning-0">
            <a:extLst xmlns:a="http://schemas.openxmlformats.org/drawingml/2006/main">
              <a:ext uri="{FF2B5EF4-FFF2-40B4-BE49-F238E27FC236}">
                <a16:creationId xmlns:a16="http://schemas.microsoft.com/office/drawing/2014/main" id="{0C2628CF-58CE-4E9D-9988-F397F663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276475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computer built into a device for a dedicated function</a:t>
            </a:r>
          </a:p>
        </p:txBody>
      </p:sp>
      <p:sp>
        <p:nvSpPr>
          <p:cNvPr id="8" name="answer-1">
            <a:extLst xmlns:a="http://schemas.openxmlformats.org/drawingml/2006/main">
              <a:ext uri="{FF2B5EF4-FFF2-40B4-BE49-F238E27FC236}">
                <a16:creationId xmlns:a16="http://schemas.microsoft.com/office/drawing/2014/main" id="{1802678E-0E5E-4F93-BC82-5A6400B6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 Input</a:t>
            </a:r>
          </a:p>
        </p:txBody>
      </p:sp>
      <p:sp>
        <p:nvSpPr>
          <p:cNvPr id="9" name="meaning-1">
            <a:extLst xmlns:a="http://schemas.openxmlformats.org/drawingml/2006/main">
              <a:ext uri="{FF2B5EF4-FFF2-40B4-BE49-F238E27FC236}">
                <a16:creationId xmlns:a16="http://schemas.microsoft.com/office/drawing/2014/main" id="{E88E3D5B-AF69-47C8-9484-FFE7B015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143250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Data entering a system from a sensor or control</a:t>
            </a:r>
          </a:p>
        </p:txBody>
      </p:sp>
      <p:sp>
        <p:nvSpPr>
          <p:cNvPr id="10" name="answer-2">
            <a:extLst xmlns:a="http://schemas.openxmlformats.org/drawingml/2006/main">
              <a:ext uri="{FF2B5EF4-FFF2-40B4-BE49-F238E27FC236}">
                <a16:creationId xmlns:a16="http://schemas.microsoft.com/office/drawing/2014/main" id="{89C5A0ED-4E16-402A-BDB0-5AF1FFD1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10025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 Processing</a:t>
            </a:r>
          </a:p>
        </p:txBody>
      </p:sp>
      <p:sp>
        <p:nvSpPr>
          <p:cNvPr id="11" name="meaning-2">
            <a:extLst xmlns:a="http://schemas.openxmlformats.org/drawingml/2006/main">
              <a:ext uri="{FF2B5EF4-FFF2-40B4-BE49-F238E27FC236}">
                <a16:creationId xmlns:a16="http://schemas.microsoft.com/office/drawing/2014/main" id="{450B29DF-D15E-4744-A616-16E02178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010025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Using the input to decide what the system should do</a:t>
            </a:r>
          </a:p>
        </p:txBody>
      </p:sp>
      <p:sp>
        <p:nvSpPr>
          <p:cNvPr id="12" name="answer-3">
            <a:extLst xmlns:a="http://schemas.openxmlformats.org/drawingml/2006/main">
              <a:ext uri="{FF2B5EF4-FFF2-40B4-BE49-F238E27FC236}">
                <a16:creationId xmlns:a16="http://schemas.microsoft.com/office/drawing/2014/main" id="{CACC7E9E-BFB0-4EC8-BA87-8744FEC4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 Output</a:t>
            </a:r>
          </a:p>
        </p:txBody>
      </p:sp>
      <p:sp>
        <p:nvSpPr>
          <p:cNvPr id="13" name="meaning-3">
            <a:extLst xmlns:a="http://schemas.openxmlformats.org/drawingml/2006/main">
              <a:ext uri="{FF2B5EF4-FFF2-40B4-BE49-F238E27FC236}">
                <a16:creationId xmlns:a16="http://schemas.microsoft.com/office/drawing/2014/main" id="{F34B2E28-B09F-4F1B-BDF8-B5964F4E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876800"/>
            <a:ext cx="6419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7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 action or information the system produces</a:t>
            </a:r>
          </a:p>
        </p:txBody>
      </p:sp>
    </p:spTree>
    <p:extLst>
      <p:ext uri="{BB962C8B-B14F-4D97-AF65-F5344CB8AC3E}">
        <p14:creationId xmlns:p14="http://schemas.microsoft.com/office/powerpoint/2010/main" val="203973062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ic">
            <a:extLst xmlns:a="http://schemas.openxmlformats.org/drawingml/2006/main">
              <a:ext uri="{FF2B5EF4-FFF2-40B4-BE49-F238E27FC236}">
                <a16:creationId xmlns:a16="http://schemas.microsoft.com/office/drawing/2014/main" id="{CC314EE9-B355-4BF8-9C09-7596CF59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254ACA74-5DAA-49FE-93F6-C11FEBE0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Your experience task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6BC92F8F-9C19-4345-803C-6632961E0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Experience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DC354D8-B0F8-431B-8E2D-869DDBBC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4 / 10</a:t>
            </a:r>
          </a:p>
        </p:txBody>
      </p:sp>
      <p:sp>
        <p:nvSpPr>
          <p:cNvPr id="5" name="number-1">
            <a:extLst xmlns:a="http://schemas.openxmlformats.org/drawingml/2006/main">
              <a:ext uri="{FF2B5EF4-FFF2-40B4-BE49-F238E27FC236}">
                <a16:creationId xmlns:a16="http://schemas.microsoft.com/office/drawing/2014/main" id="{0B3B6418-F667-46AD-815A-7F357A01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6" name="item-1">
            <a:extLst xmlns:a="http://schemas.openxmlformats.org/drawingml/2006/main">
              <a:ext uri="{FF2B5EF4-FFF2-40B4-BE49-F238E27FC236}">
                <a16:creationId xmlns:a16="http://schemas.microsoft.com/office/drawing/2014/main" id="{ACA8C8D4-069D-470E-92C1-DF914898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676400"/>
            <a:ext cx="99250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Open Smart home from Topic 1.1. Keep your lesson worksheet beside you.</a:t>
            </a:r>
          </a:p>
        </p:txBody>
      </p:sp>
      <p:sp>
        <p:nvSpPr>
          <p:cNvPr id="7" name="number-2">
            <a:extLst xmlns:a="http://schemas.openxmlformats.org/drawingml/2006/main">
              <a:ext uri="{FF2B5EF4-FFF2-40B4-BE49-F238E27FC236}">
                <a16:creationId xmlns:a16="http://schemas.microsoft.com/office/drawing/2014/main" id="{C382EED5-E02F-4542-8DE4-53D6C3129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193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8" name="item-2">
            <a:extLst xmlns:a="http://schemas.openxmlformats.org/drawingml/2006/main">
              <a:ext uri="{FF2B5EF4-FFF2-40B4-BE49-F238E27FC236}">
                <a16:creationId xmlns:a16="http://schemas.microsoft.com/office/drawing/2014/main" id="{75C58856-05CD-45B5-A6CF-35BA668EB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19375"/>
            <a:ext cx="99250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At each numbered station, read the panel and write its key fact and challenge response before tapping the badge.</a:t>
            </a:r>
          </a:p>
        </p:txBody>
      </p:sp>
      <p:sp>
        <p:nvSpPr>
          <p:cNvPr id="9" name="number-3">
            <a:extLst xmlns:a="http://schemas.openxmlformats.org/drawingml/2006/main">
              <a:ext uri="{FF2B5EF4-FFF2-40B4-BE49-F238E27FC236}">
                <a16:creationId xmlns:a16="http://schemas.microsoft.com/office/drawing/2014/main" id="{52957234-38CB-4714-98EB-8BB13B0E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671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3.</a:t>
            </a:r>
          </a:p>
        </p:txBody>
      </p:sp>
      <p:sp>
        <p:nvSpPr>
          <p:cNvPr id="10" name="item-3">
            <a:extLst xmlns:a="http://schemas.openxmlformats.org/drawingml/2006/main">
              <a:ext uri="{FF2B5EF4-FFF2-40B4-BE49-F238E27FC236}">
                <a16:creationId xmlns:a16="http://schemas.microsoft.com/office/drawing/2014/main" id="{DE7AEE87-2498-402D-B4BB-509E86065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6712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Answer the on-screen questions. Your first answer counts. Finish the star challenge by looking down.</a:t>
            </a:r>
          </a:p>
        </p:txBody>
      </p:sp>
      <p:sp>
        <p:nvSpPr>
          <p:cNvPr id="11" name="number-4">
            <a:extLst xmlns:a="http://schemas.openxmlformats.org/drawingml/2006/main">
              <a:ext uri="{FF2B5EF4-FFF2-40B4-BE49-F238E27FC236}">
                <a16:creationId xmlns:a16="http://schemas.microsoft.com/office/drawing/2014/main" id="{EF9AD3C1-C035-4464-9126-E0115F27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1487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4.</a:t>
            </a:r>
          </a:p>
        </p:txBody>
      </p:sp>
      <p:sp>
        <p:nvSpPr>
          <p:cNvPr id="12" name="item-4">
            <a:extLst xmlns:a="http://schemas.openxmlformats.org/drawingml/2006/main">
              <a:ext uri="{FF2B5EF4-FFF2-40B4-BE49-F238E27FC236}">
                <a16:creationId xmlns:a16="http://schemas.microsoft.com/office/drawing/2014/main" id="{A3473703-9057-4BE6-910D-6D249C07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14875"/>
            <a:ext cx="99250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Copy the score from the results screen into your worksheet (out of 24). Review any station you found hard.</a:t>
            </a:r>
          </a:p>
        </p:txBody>
      </p:sp>
      <p:sp>
        <p:nvSpPr>
          <p:cNvPr id="13" name="open-link">
            <a:extLst xmlns:a="http://schemas.openxmlformats.org/drawingml/2006/main">
              <a:ext uri="{FF2B5EF4-FFF2-40B4-BE49-F238E27FC236}">
                <a16:creationId xmlns:a16="http://schemas.microsoft.com/office/drawing/2014/main" id="{28BC3B64-A4A5-4818-B0D5-E303C04B1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81675"/>
            <a:ext cx="4905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2D63FF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58a95ec5a2ac4787"/>
              </a:rPr>
              <a:t>Open the experience online</a:t>
            </a:r>
          </a:p>
        </p:txBody>
      </p:sp>
    </p:spTree>
    <p:extLst>
      <p:ext uri="{BB962C8B-B14F-4D97-AF65-F5344CB8AC3E}">
        <p14:creationId xmlns:p14="http://schemas.microsoft.com/office/powerpoint/2010/main" val="6054245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802D67F4-E299-4275-B9A5-24C65057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AD72C374-7FB3-43C5-97E8-01FD00732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apply it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FB009FC-4515-404D-B27C-A995C9A4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056E8560-2238-4A79-906C-11DFC900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5 / 10</a:t>
            </a:r>
          </a:p>
        </p:txBody>
      </p:sp>
      <p:sp>
        <p:nvSpPr>
          <p:cNvPr id="5" name="extension-lead">
            <a:extLst xmlns:a="http://schemas.openxmlformats.org/drawingml/2006/main">
              <a:ext uri="{FF2B5EF4-FFF2-40B4-BE49-F238E27FC236}">
                <a16:creationId xmlns:a16="http://schemas.microsoft.com/office/drawing/2014/main" id="{D7D3FF46-9D70-497C-A1DC-F139905C0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28775"/>
            <a:ext cx="107346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After completing the experience and recording your score:</a:t>
            </a:r>
          </a:p>
        </p:txBody>
      </p:sp>
      <p:sp>
        <p:nvSpPr>
          <p:cNvPr id="6" name="extension-prompt">
            <a:extLst xmlns:a="http://schemas.openxmlformats.org/drawingml/2006/main">
              <a:ext uri="{FF2B5EF4-FFF2-40B4-BE49-F238E27FC236}">
                <a16:creationId xmlns:a16="http://schemas.microsoft.com/office/drawing/2014/main" id="{262A15C7-4D16-421E-8F4D-5206946F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193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Design a smart greenhouse controller. Name two inputs, one processing decision and two outputs.</a:t>
            </a:r>
          </a:p>
        </p:txBody>
      </p:sp>
      <p:sp>
        <p:nvSpPr>
          <p:cNvPr id="7" name="extension-follow">
            <a:extLst xmlns:a="http://schemas.openxmlformats.org/drawingml/2006/main">
              <a:ext uri="{FF2B5EF4-FFF2-40B4-BE49-F238E27FC236}">
                <a16:creationId xmlns:a16="http://schemas.microsoft.com/office/drawing/2014/main" id="{1DD602F6-2BD0-450F-B64D-0CB6C86C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Explain why your controller is an embedded system.</a:t>
            </a:r>
          </a:p>
        </p:txBody>
      </p:sp>
    </p:spTree>
    <p:extLst>
      <p:ext uri="{BB962C8B-B14F-4D97-AF65-F5344CB8AC3E}">
        <p14:creationId xmlns:p14="http://schemas.microsoft.com/office/powerpoint/2010/main" val="6007390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2473197A-DD8E-48FF-BBED-88AEB6545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EEE9C897-457A-4C5B-8BA5-D30AF071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Finished early: check and stretch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C31DF18E-9E68-4CAA-974E-07D2227FE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Extension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7273EB6-3592-4836-B7D9-765DF284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6 / 10</a:t>
            </a:r>
          </a:p>
        </p:txBody>
      </p:sp>
      <p:sp>
        <p:nvSpPr>
          <p:cNvPr id="5" name="review">
            <a:extLst xmlns:a="http://schemas.openxmlformats.org/drawingml/2006/main">
              <a:ext uri="{FF2B5EF4-FFF2-40B4-BE49-F238E27FC236}">
                <a16:creationId xmlns:a16="http://schemas.microsoft.com/office/drawing/2014/main" id="{D7619224-D965-4896-A883-28963AC9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24025"/>
            <a:ext cx="10715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your worksheet and the experience feedback.</a:t>
            </a:r>
          </a:p>
        </p:txBody>
      </p:sp>
      <p:sp>
        <p:nvSpPr>
          <p:cNvPr id="6" name="extension-two">
            <a:extLst xmlns:a="http://schemas.openxmlformats.org/drawingml/2006/main">
              <a:ext uri="{FF2B5EF4-FFF2-40B4-BE49-F238E27FC236}">
                <a16:creationId xmlns:a16="http://schemas.microsoft.com/office/drawing/2014/main" id="{CC680BC6-7B12-4DA1-8A02-30C98A0C8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76525"/>
            <a:ext cx="10620375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tablet controls a washing machine through an app. Which device contains an embedded system? Explain using the range of tasks each device can run.</a:t>
            </a:r>
          </a:p>
        </p:txBody>
      </p:sp>
      <p:sp>
        <p:nvSpPr>
          <p:cNvPr id="7" name="handoff">
            <a:extLst xmlns:a="http://schemas.openxmlformats.org/drawingml/2006/main">
              <a:ext uri="{FF2B5EF4-FFF2-40B4-BE49-F238E27FC236}">
                <a16:creationId xmlns:a16="http://schemas.microsoft.com/office/drawing/2014/main" id="{5EA9485E-45BA-447C-9C88-CCEF8972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Then answer the plenary exam quiz on the next slides and your worksheet.</a:t>
            </a:r>
          </a:p>
        </p:txBody>
      </p:sp>
    </p:spTree>
    <p:extLst>
      <p:ext uri="{BB962C8B-B14F-4D97-AF65-F5344CB8AC3E}">
        <p14:creationId xmlns:p14="http://schemas.microsoft.com/office/powerpoint/2010/main" val="245376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D9DA0306-9751-4715-A8FC-90A09132D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B893D38B-FEF6-44E6-9632-73F23D89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exam quiz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BC1F2C09-AFFE-4DAF-BF60-FB2D3289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66091CEB-03DC-4136-AAA0-6F9E4D11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7 / 10</a:t>
            </a:r>
          </a:p>
        </p:txBody>
      </p:sp>
      <p:sp>
        <p:nvSpPr>
          <p:cNvPr id="5" name="plenary-instruction">
            <a:extLst xmlns:a="http://schemas.openxmlformats.org/drawingml/2006/main">
              <a:ext uri="{FF2B5EF4-FFF2-40B4-BE49-F238E27FC236}">
                <a16:creationId xmlns:a16="http://schemas.microsoft.com/office/drawing/2014/main" id="{FF143326-B5A6-48A3-9D01-C584A72C5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6210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Close the experience. Answer from memory before checking your notes.</a:t>
            </a:r>
          </a:p>
        </p:txBody>
      </p:sp>
      <p:sp>
        <p:nvSpPr>
          <p:cNvPr id="6" name="a">
            <a:extLst xmlns:a="http://schemas.openxmlformats.org/drawingml/2006/main">
              <a:ext uri="{FF2B5EF4-FFF2-40B4-BE49-F238E27FC236}">
                <a16:creationId xmlns:a16="http://schemas.microsoft.com/office/drawing/2014/main" id="{748E0D41-269A-40FE-9F1E-1B8CD70B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a)</a:t>
            </a:r>
          </a:p>
        </p:txBody>
      </p:sp>
      <p:sp>
        <p:nvSpPr>
          <p:cNvPr id="7" name="question-a">
            <a:extLst xmlns:a="http://schemas.openxmlformats.org/drawingml/2006/main">
              <a:ext uri="{FF2B5EF4-FFF2-40B4-BE49-F238E27FC236}">
                <a16:creationId xmlns:a16="http://schemas.microsoft.com/office/drawing/2014/main" id="{DA671F94-85C9-4FD3-85C8-0ECFDD5C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2486025"/>
            <a:ext cx="99441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Name an embedded system and explain why it is described as a computer. [3]</a:t>
            </a:r>
          </a:p>
        </p:txBody>
      </p:sp>
      <p:sp>
        <p:nvSpPr>
          <p:cNvPr id="8" name="b">
            <a:extLst xmlns:a="http://schemas.openxmlformats.org/drawingml/2006/main">
              <a:ext uri="{FF2B5EF4-FFF2-40B4-BE49-F238E27FC236}">
                <a16:creationId xmlns:a16="http://schemas.microsoft.com/office/drawing/2014/main" id="{0F931B0B-DA48-424C-816A-1CE2FEABC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76700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b)</a:t>
            </a:r>
          </a:p>
        </p:txBody>
      </p:sp>
      <p:sp>
        <p:nvSpPr>
          <p:cNvPr id="9" name="question-b">
            <a:extLst xmlns:a="http://schemas.openxmlformats.org/drawingml/2006/main">
              <a:ext uri="{FF2B5EF4-FFF2-40B4-BE49-F238E27FC236}">
                <a16:creationId xmlns:a16="http://schemas.microsoft.com/office/drawing/2014/main" id="{62A14B68-DF58-4205-8268-2ED05FD6C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076700"/>
            <a:ext cx="9944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Describe two characteristics of embedded systems. [4]</a:t>
            </a:r>
          </a:p>
        </p:txBody>
      </p:sp>
    </p:spTree>
    <p:extLst>
      <p:ext uri="{BB962C8B-B14F-4D97-AF65-F5344CB8AC3E}">
        <p14:creationId xmlns:p14="http://schemas.microsoft.com/office/powerpoint/2010/main" val="4355623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opic">
            <a:extLst xmlns:a="http://schemas.openxmlformats.org/drawingml/2006/main">
              <a:ext uri="{FF2B5EF4-FFF2-40B4-BE49-F238E27FC236}">
                <a16:creationId xmlns:a16="http://schemas.microsoft.com/office/drawing/2014/main" id="{CE064473-3C8D-44C8-9C51-70C0374B6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A355C11F-3798-4AF3-A7F5-E6929805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exam quiz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5593C1EB-7A28-42E4-AD83-0486DA2FE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Plenary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1B0C2C5-7906-4A10-B42B-51EBCCB43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8 / 10</a:t>
            </a:r>
          </a:p>
        </p:txBody>
      </p:sp>
      <p:sp>
        <p:nvSpPr>
          <p:cNvPr id="5" name="from-memory">
            <a:extLst xmlns:a="http://schemas.openxmlformats.org/drawingml/2006/main">
              <a:ext uri="{FF2B5EF4-FFF2-40B4-BE49-F238E27FC236}">
                <a16:creationId xmlns:a16="http://schemas.microsoft.com/office/drawing/2014/main" id="{5227A652-F00A-47C9-BF3A-FA997BB6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10715625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Keep the experience closed. Explain your reasoning in full sentences.</a:t>
            </a:r>
          </a:p>
        </p:txBody>
      </p:sp>
      <p:sp>
        <p:nvSpPr>
          <p:cNvPr id="6" name="c">
            <a:extLst xmlns:a="http://schemas.openxmlformats.org/drawingml/2006/main">
              <a:ext uri="{FF2B5EF4-FFF2-40B4-BE49-F238E27FC236}">
                <a16:creationId xmlns:a16="http://schemas.microsoft.com/office/drawing/2014/main" id="{60E74664-3181-4361-BF3B-9C48E6D5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81300"/>
            <a:ext cx="6096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c)</a:t>
            </a:r>
          </a:p>
        </p:txBody>
      </p:sp>
      <p:sp>
        <p:nvSpPr>
          <p:cNvPr id="7" name="question-c">
            <a:extLst xmlns:a="http://schemas.openxmlformats.org/drawingml/2006/main">
              <a:ext uri="{FF2B5EF4-FFF2-40B4-BE49-F238E27FC236}">
                <a16:creationId xmlns:a16="http://schemas.microsoft.com/office/drawing/2014/main" id="{B1498575-9D5A-4313-94FF-D2BB2144A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781300"/>
            <a:ext cx="9867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47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Explain why a laptop is not an embedded system. [2]</a:t>
            </a:r>
          </a:p>
        </p:txBody>
      </p:sp>
      <p:sp>
        <p:nvSpPr>
          <p:cNvPr id="8" name="marks">
            <a:extLst xmlns:a="http://schemas.openxmlformats.org/drawingml/2006/main">
              <a:ext uri="{FF2B5EF4-FFF2-40B4-BE49-F238E27FC236}">
                <a16:creationId xmlns:a16="http://schemas.microsoft.com/office/drawing/2014/main" id="{6E5EB3E2-3F14-49DF-881C-BF44BB96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438775"/>
            <a:ext cx="1047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Use the marks in brackets to judge how much detail to include.</a:t>
            </a:r>
          </a:p>
        </p:txBody>
      </p:sp>
    </p:spTree>
    <p:extLst>
      <p:ext uri="{BB962C8B-B14F-4D97-AF65-F5344CB8AC3E}">
        <p14:creationId xmlns:p14="http://schemas.microsoft.com/office/powerpoint/2010/main" val="192673915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opic">
            <a:extLst xmlns:a="http://schemas.openxmlformats.org/drawingml/2006/main">
              <a:ext uri="{FF2B5EF4-FFF2-40B4-BE49-F238E27FC236}">
                <a16:creationId xmlns:a16="http://schemas.microsoft.com/office/drawing/2014/main" id="{93956F52-692A-46E8-A0D4-1EBD0AD4A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FE477CD5-8AC5-4EE7-850B-2C7B1D69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check answers (a–b)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2AF48526-2F35-47A4-85C7-B48E191C3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1C3DF7AE-E9C7-4489-AE30-D1C6F5BB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9 / 10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97C5662A-87C3-4948-B25E-22C5CDED6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43050"/>
            <a:ext cx="10715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points. Credit accurate answers in students’ own words.</a:t>
            </a:r>
          </a:p>
        </p:txBody>
      </p:sp>
      <p:sp>
        <p:nvSpPr>
          <p:cNvPr id="6" name="scheme-a">
            <a:extLst xmlns:a="http://schemas.openxmlformats.org/drawingml/2006/main">
              <a:ext uri="{FF2B5EF4-FFF2-40B4-BE49-F238E27FC236}">
                <a16:creationId xmlns:a16="http://schemas.microsoft.com/office/drawing/2014/main" id="{B7047E4A-929E-4EF4-BFA5-9E11B7B4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057275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2025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 Example: a washing machine has a microcontroller that reads sensors or dial settings, processes them and controls the motor or heater.</a:t>
            </a:r>
          </a:p>
        </p:txBody>
      </p:sp>
      <p:sp>
        <p:nvSpPr>
          <p:cNvPr id="7" name="scheme-b">
            <a:extLst xmlns:a="http://schemas.openxmlformats.org/drawingml/2006/main">
              <a:ext uri="{FF2B5EF4-FFF2-40B4-BE49-F238E27FC236}">
                <a16:creationId xmlns:a16="http://schemas.microsoft.com/office/drawing/2014/main" id="{2E6A9E73-39EB-4A78-9359-C699D7F3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10572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b  Examples: a dedicated function; built into a larger device; often small or low power; designed for reliability. Describe two, with a detail for each.</a:t>
            </a:r>
          </a:p>
        </p:txBody>
      </p:sp>
    </p:spTree>
    <p:extLst>
      <p:ext uri="{BB962C8B-B14F-4D97-AF65-F5344CB8AC3E}">
        <p14:creationId xmlns:p14="http://schemas.microsoft.com/office/powerpoint/2010/main" val="16603049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opic">
            <a:extLst xmlns:a="http://schemas.openxmlformats.org/drawingml/2006/main">
              <a:ext uri="{FF2B5EF4-FFF2-40B4-BE49-F238E27FC236}">
                <a16:creationId xmlns:a16="http://schemas.microsoft.com/office/drawing/2014/main" id="{3835FEE0-C3D7-44B7-B89B-A37BA29E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"/>
            <a:ext cx="6667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TOPIC 1.1   LESSON 04</a:t>
            </a:r>
          </a:p>
        </p:txBody>
      </p:sp>
      <p:sp>
        <p:nvSpPr>
          <p:cNvPr id="2" name="heading">
            <a:extLst xmlns:a="http://schemas.openxmlformats.org/drawingml/2006/main">
              <a:ext uri="{FF2B5EF4-FFF2-40B4-BE49-F238E27FC236}">
                <a16:creationId xmlns:a16="http://schemas.microsoft.com/office/drawing/2014/main" id="{531E51A6-9D65-4E7E-A7F3-5DDA7C9F7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3225" b="1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Plenary: check answer (c)</a:t>
            </a:r>
          </a:p>
        </p:txBody>
      </p:sp>
      <p:sp>
        <p:nvSpPr>
          <p:cNvPr id="3" name="footer">
            <a:extLst xmlns:a="http://schemas.openxmlformats.org/drawingml/2006/main">
              <a:ext uri="{FF2B5EF4-FFF2-40B4-BE49-F238E27FC236}">
                <a16:creationId xmlns:a16="http://schemas.microsoft.com/office/drawing/2014/main" id="{34B5AF4E-AAD2-4D22-A19E-281A0271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00800"/>
            <a:ext cx="981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Revise 360    OCR J277 1.1 Systems architecture    Answers</a:t>
            </a:r>
          </a:p>
        </p:txBody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53D1425F-80F1-4C3A-BAD1-5692CBBC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10 / 10</a:t>
            </a:r>
          </a:p>
        </p:txBody>
      </p:sp>
      <p:sp>
        <p:nvSpPr>
          <p:cNvPr id="5" name="scheme-intro">
            <a:extLst xmlns:a="http://schemas.openxmlformats.org/drawingml/2006/main">
              <a:ext uri="{FF2B5EF4-FFF2-40B4-BE49-F238E27FC236}">
                <a16:creationId xmlns:a16="http://schemas.microsoft.com/office/drawing/2014/main" id="{31080E9C-0196-4F94-A990-3E54AAF03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33525"/>
            <a:ext cx="10715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defRPr>
            </a:pPr>
            <a:r>
              <a:rPr sz="1800" b="0">
                <a:solidFill>
                  <a:srgbClr val="526174"/>
                </a:solidFill>
                <a:latin typeface="DejaVu Sans"/>
                <a:ea typeface="DejaVu Sans"/>
                <a:cs typeface="DejaVu Sans"/>
              </a:rPr>
              <a:t>Indicative points for the final question.</a:t>
            </a:r>
          </a:p>
        </p:txBody>
      </p:sp>
      <p:sp>
        <p:nvSpPr>
          <p:cNvPr id="6" name="number-1">
            <a:extLst xmlns:a="http://schemas.openxmlformats.org/drawingml/2006/main">
              <a:ext uri="{FF2B5EF4-FFF2-40B4-BE49-F238E27FC236}">
                <a16:creationId xmlns:a16="http://schemas.microsoft.com/office/drawing/2014/main" id="{E25F9AF8-DF71-41F7-8BB1-3EA40120E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860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1.</a:t>
            </a:r>
          </a:p>
        </p:txBody>
      </p:sp>
      <p:sp>
        <p:nvSpPr>
          <p:cNvPr id="7" name="item-1">
            <a:extLst xmlns:a="http://schemas.openxmlformats.org/drawingml/2006/main">
              <a:ext uri="{FF2B5EF4-FFF2-40B4-BE49-F238E27FC236}">
                <a16:creationId xmlns:a16="http://schemas.microsoft.com/office/drawing/2014/main" id="{F2938D9E-7E7A-47D4-9B45-7D354854E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860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A laptop is a general-purpose computer that can run many different programs.</a:t>
            </a:r>
          </a:p>
        </p:txBody>
      </p:sp>
      <p:sp>
        <p:nvSpPr>
          <p:cNvPr id="8" name="number-2">
            <a:extLst xmlns:a="http://schemas.openxmlformats.org/drawingml/2006/main">
              <a:ext uri="{FF2B5EF4-FFF2-40B4-BE49-F238E27FC236}">
                <a16:creationId xmlns:a16="http://schemas.microsoft.com/office/drawing/2014/main" id="{342778C7-FDEB-4D74-8DD1-7A3E6552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90925"/>
            <a:ext cx="590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defRPr>
            </a:pPr>
            <a:r>
              <a:rPr sz="1950" b="1">
                <a:solidFill>
                  <a:srgbClr val="2D63FF"/>
                </a:solidFill>
                <a:latin typeface="DejaVu Sans"/>
                <a:ea typeface="DejaVu Sans"/>
                <a:cs typeface="DejaVu Sans"/>
              </a:rPr>
              <a:t>2.</a:t>
            </a:r>
          </a:p>
        </p:txBody>
      </p:sp>
      <p:sp>
        <p:nvSpPr>
          <p:cNvPr id="9" name="item-2">
            <a:extLst xmlns:a="http://schemas.openxmlformats.org/drawingml/2006/main">
              <a:ext uri="{FF2B5EF4-FFF2-40B4-BE49-F238E27FC236}">
                <a16:creationId xmlns:a16="http://schemas.microsoft.com/office/drawing/2014/main" id="{084DABBE-7A3A-4BDB-B02A-2D4BABDF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90925"/>
            <a:ext cx="99250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1828"/>
                </a:solidFill>
                <a:latin typeface="DejaVu Sans"/>
                <a:ea typeface="DejaVu Sans"/>
                <a:cs typeface="DejaVu Sans"/>
              </a:rPr>
              <a:t>Its user can install software and change the tasks it performs. An embedded system has a dedicated function.</a:t>
            </a:r>
          </a:p>
        </p:txBody>
      </p:sp>
    </p:spTree>
    <p:extLst>
      <p:ext uri="{BB962C8B-B14F-4D97-AF65-F5344CB8AC3E}">
        <p14:creationId xmlns:p14="http://schemas.microsoft.com/office/powerpoint/2010/main" val="3234598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2026-09-25T10:42:38.4270000Z</dcterms:created>
  <dcterms:modified xsi:type="dcterms:W3CDTF">2026-09-25T10:42:38.4270000Z</dcterms:modified>
</coreProperties>
</file>