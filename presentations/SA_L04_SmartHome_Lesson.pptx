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96b3f85366c419a" /><Relationship Type="http://schemas.openxmlformats.org/officeDocument/2006/relationships/extended-properties" Target="/docProps/app.xml" Id="R269026247eaa4f0b" /><Relationship Type="http://schemas.openxmlformats.org/officeDocument/2006/relationships/officeDocument" Target="/ppt/presentation.xml" Id="R454f59da5b46443a" /></Relationships>
</file>

<file path=ppt/presentation.xml><?xml version="1.0" encoding="utf-8"?>
<p:presentation xmlns:p="http://schemas.openxmlformats.org/presentationml/2006/main">
  <p:sldMasterIdLst>
    <p:sldMasterId xmlns:r="http://schemas.openxmlformats.org/officeDocument/2006/relationships" id="2147483648" r:id="R28675e8eb7d44bc5"/>
  </p:sldMasterIdLst>
  <p:notesMasterIdLst>
    <p:notesMasterId xmlns:r="http://schemas.openxmlformats.org/officeDocument/2006/relationships" r:id="Rb6bd73d8e1514065"/>
  </p:notesMasterIdLst>
  <p:sldIdLst>
    <p:sldId xmlns:r="http://schemas.openxmlformats.org/officeDocument/2006/relationships" id="256" r:id="R5957c2399ba449fe"/>
    <p:sldId xmlns:r="http://schemas.openxmlformats.org/officeDocument/2006/relationships" id="257" r:id="R1c0f90d8eded4b3f"/>
    <p:sldId xmlns:r="http://schemas.openxmlformats.org/officeDocument/2006/relationships" id="258" r:id="Rd59358efc76446df"/>
    <p:sldId xmlns:r="http://schemas.openxmlformats.org/officeDocument/2006/relationships" id="259" r:id="Ra4d121ee18cf4b8a"/>
    <p:sldId xmlns:r="http://schemas.openxmlformats.org/officeDocument/2006/relationships" id="260" r:id="R21ddd6503d4c45f4"/>
    <p:sldId xmlns:r="http://schemas.openxmlformats.org/officeDocument/2006/relationships" id="261" r:id="R3ff2f2a8ecfb4f0b"/>
    <p:sldId xmlns:r="http://schemas.openxmlformats.org/officeDocument/2006/relationships" id="262" r:id="R1a1a039a2d004852"/>
    <p:sldId xmlns:r="http://schemas.openxmlformats.org/officeDocument/2006/relationships" id="263" r:id="R5c5643c23d1e450a"/>
    <p:sldId xmlns:r="http://schemas.openxmlformats.org/officeDocument/2006/relationships" id="264" r:id="Re546b64012054f34"/>
    <p:sldId xmlns:r="http://schemas.openxmlformats.org/officeDocument/2006/relationships" id="265" r:id="R10aaa13326e6431d"/>
    <p:sldId xmlns:r="http://schemas.openxmlformats.org/officeDocument/2006/relationships" id="266" r:id="Rac511d41363b4435"/>
    <p:sldId xmlns:r="http://schemas.openxmlformats.org/officeDocument/2006/relationships" id="267" r:id="R13998c8bf7254d6d"/>
    <p:sldId xmlns:r="http://schemas.openxmlformats.org/officeDocument/2006/relationships" id="268" r:id="Ra07dfa4e2583486c"/>
    <p:sldId xmlns:r="http://schemas.openxmlformats.org/officeDocument/2006/relationships" id="269" r:id="R433d98f05b97476d"/>
    <p:sldId xmlns:r="http://schemas.openxmlformats.org/officeDocument/2006/relationships" id="270" r:id="R47e0f22f1cc14904"/>
    <p:sldId xmlns:r="http://schemas.openxmlformats.org/officeDocument/2006/relationships" id="271" r:id="R489c0ad419604f26"/>
    <p:sldId xmlns:r="http://schemas.openxmlformats.org/officeDocument/2006/relationships" id="272" r:id="R46cfd80f75d6413b"/>
    <p:sldId xmlns:r="http://schemas.openxmlformats.org/officeDocument/2006/relationships" id="273" r:id="R0c7f8aec29d943d3"/>
    <p:sldId xmlns:r="http://schemas.openxmlformats.org/officeDocument/2006/relationships" id="274" r:id="R8f1950dd48ba48a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2eafff646f4878" /><Relationship Type="http://schemas.openxmlformats.org/officeDocument/2006/relationships/slideMaster" Target="/ppt/slideMasters/slideMaster1.xml" Id="R28675e8eb7d44bc5" /><Relationship Type="http://schemas.openxmlformats.org/officeDocument/2006/relationships/notesMaster" Target="/ppt/notesMasters/notesMaster1.xml" Id="Rb6bd73d8e1514065" /><Relationship Type="http://schemas.openxmlformats.org/officeDocument/2006/relationships/presProps" Target="/ppt/presProps.xml" Id="R26217bbb7326466f" /><Relationship Type="http://schemas.openxmlformats.org/officeDocument/2006/relationships/tableStyles" Target="/ppt/tableStyles.xml" Id="R2b2262c7c72a4cf0" /><Relationship Type="http://schemas.openxmlformats.org/officeDocument/2006/relationships/slide" Target="/ppt/slides/slide1.xml" Id="R5957c2399ba449fe" /><Relationship Type="http://schemas.openxmlformats.org/officeDocument/2006/relationships/slide" Target="/ppt/slides/slide2.xml" Id="R1c0f90d8eded4b3f" /><Relationship Type="http://schemas.openxmlformats.org/officeDocument/2006/relationships/slide" Target="/ppt/slides/slide3.xml" Id="Rd59358efc76446df" /><Relationship Type="http://schemas.openxmlformats.org/officeDocument/2006/relationships/slide" Target="/ppt/slides/slide4.xml" Id="Ra4d121ee18cf4b8a" /><Relationship Type="http://schemas.openxmlformats.org/officeDocument/2006/relationships/slide" Target="/ppt/slides/slide5.xml" Id="R21ddd6503d4c45f4" /><Relationship Type="http://schemas.openxmlformats.org/officeDocument/2006/relationships/slide" Target="/ppt/slides/slide6.xml" Id="R3ff2f2a8ecfb4f0b" /><Relationship Type="http://schemas.openxmlformats.org/officeDocument/2006/relationships/slide" Target="/ppt/slides/slide7.xml" Id="R1a1a039a2d004852" /><Relationship Type="http://schemas.openxmlformats.org/officeDocument/2006/relationships/slide" Target="/ppt/slides/slide8.xml" Id="R5c5643c23d1e450a" /><Relationship Type="http://schemas.openxmlformats.org/officeDocument/2006/relationships/slide" Target="/ppt/slides/slide9.xml" Id="Re546b64012054f34" /><Relationship Type="http://schemas.openxmlformats.org/officeDocument/2006/relationships/slide" Target="/ppt/slides/slide10.xml" Id="R10aaa13326e6431d" /><Relationship Type="http://schemas.openxmlformats.org/officeDocument/2006/relationships/slide" Target="/ppt/slides/slide11.xml" Id="Rac511d41363b4435" /><Relationship Type="http://schemas.openxmlformats.org/officeDocument/2006/relationships/slide" Target="/ppt/slides/slide12.xml" Id="R13998c8bf7254d6d" /><Relationship Type="http://schemas.openxmlformats.org/officeDocument/2006/relationships/slide" Target="/ppt/slides/slide13.xml" Id="Ra07dfa4e2583486c" /><Relationship Type="http://schemas.openxmlformats.org/officeDocument/2006/relationships/slide" Target="/ppt/slides/slide14.xml" Id="R433d98f05b97476d" /><Relationship Type="http://schemas.openxmlformats.org/officeDocument/2006/relationships/slide" Target="/ppt/slides/slide15.xml" Id="R47e0f22f1cc14904" /><Relationship Type="http://schemas.openxmlformats.org/officeDocument/2006/relationships/slide" Target="/ppt/slides/slide16.xml" Id="R489c0ad419604f26" /><Relationship Type="http://schemas.openxmlformats.org/officeDocument/2006/relationships/slide" Target="/ppt/slides/slide17.xml" Id="R46cfd80f75d6413b" /><Relationship Type="http://schemas.openxmlformats.org/officeDocument/2006/relationships/slide" Target="/ppt/slides/slide18.xml" Id="R0c7f8aec29d943d3" /><Relationship Type="http://schemas.openxmlformats.org/officeDocument/2006/relationships/slide" Target="/ppt/slides/slide19.xml" Id="R8f1950dd48ba48a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3420f9e70c4d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ad197ab8d14174" /><Relationship Type="http://schemas.openxmlformats.org/officeDocument/2006/relationships/notesMaster" Target="/ppt/notesMasters/notesMaster1.xml" Id="R422563a14b9244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45604141094bbe" /><Relationship Type="http://schemas.openxmlformats.org/officeDocument/2006/relationships/notesMaster" Target="/ppt/notesMasters/notesMaster1.xml" Id="R48f96d7aa3634f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b6c713cf8e492d" /><Relationship Type="http://schemas.openxmlformats.org/officeDocument/2006/relationships/notesMaster" Target="/ppt/notesMasters/notesMaster1.xml" Id="Rab8811862a764d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6b06d7f5a64d09" /><Relationship Type="http://schemas.openxmlformats.org/officeDocument/2006/relationships/notesMaster" Target="/ppt/notesMasters/notesMaster1.xml" Id="Re50dac8f36354b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97ecdb54b14dea" /><Relationship Type="http://schemas.openxmlformats.org/officeDocument/2006/relationships/notesMaster" Target="/ppt/notesMasters/notesMaster1.xml" Id="R8630902bb0ae4a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467d715d344f36" /><Relationship Type="http://schemas.openxmlformats.org/officeDocument/2006/relationships/notesMaster" Target="/ppt/notesMasters/notesMaster1.xml" Id="Ra5cbead4106f41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3ef474743844ed" /><Relationship Type="http://schemas.openxmlformats.org/officeDocument/2006/relationships/notesMaster" Target="/ppt/notesMasters/notesMaster1.xml" Id="R2bd89a1a027445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38d57ddf164b97" /><Relationship Type="http://schemas.openxmlformats.org/officeDocument/2006/relationships/notesMaster" Target="/ppt/notesMasters/notesMaster1.xml" Id="R30c8e6a613b543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c70143732d4670" /><Relationship Type="http://schemas.openxmlformats.org/officeDocument/2006/relationships/notesMaster" Target="/ppt/notesMasters/notesMaster1.xml" Id="R8eb0f37f5b164f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c49b6f4fba4cc2" /><Relationship Type="http://schemas.openxmlformats.org/officeDocument/2006/relationships/notesMaster" Target="/ppt/notesMasters/notesMaster1.xml" Id="R4fbac5c1c21c4b4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c43f4d9f14e4521" /><Relationship Type="http://schemas.openxmlformats.org/officeDocument/2006/relationships/notesMaster" Target="/ppt/notesMasters/notesMaster1.xml" Id="R32c6e50812ce41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d553c8a81d847e1" /><Relationship Type="http://schemas.openxmlformats.org/officeDocument/2006/relationships/notesMaster" Target="/ppt/notesMasters/notesMaster1.xml" Id="R68183f975c564a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bba79d10c444ee" /><Relationship Type="http://schemas.openxmlformats.org/officeDocument/2006/relationships/notesMaster" Target="/ppt/notesMasters/notesMaster1.xml" Id="R6807773fc7f241b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b4002c67a9044a6" /><Relationship Type="http://schemas.openxmlformats.org/officeDocument/2006/relationships/notesMaster" Target="/ppt/notesMasters/notesMaster1.xml" Id="Re5b868673dfc4c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d1e37a65f024e90" /><Relationship Type="http://schemas.openxmlformats.org/officeDocument/2006/relationships/notesMaster" Target="/ppt/notesMasters/notesMaster1.xml" Id="Red454734c99e481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e865b0301a745a6" /><Relationship Type="http://schemas.openxmlformats.org/officeDocument/2006/relationships/notesMaster" Target="/ppt/notesMasters/notesMaster1.xml" Id="Rcc540cf495464cc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df964b20430409a" /><Relationship Type="http://schemas.openxmlformats.org/officeDocument/2006/relationships/notesMaster" Target="/ppt/notesMasters/notesMaster1.xml" Id="R9d851db9be4a4c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3f243f612f4de1" /><Relationship Type="http://schemas.openxmlformats.org/officeDocument/2006/relationships/notesMaster" Target="/ppt/notesMasters/notesMaster1.xml" Id="R729a7663125740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18d741fb9d4109" /><Relationship Type="http://schemas.openxmlformats.org/officeDocument/2006/relationships/notesMaster" Target="/ppt/notesMasters/notesMaster1.xml" Id="Rdec6291d82964c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The experience opens after the starter and key term answers have been checked.</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board slide after the key term answers and leave it visible during the experience. The OPEN EXPERIENCE label links to the matching experience. Everyone should finish the experience in this lesson and move to the plenary near the end. The worksheet gives the route and station names.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worksheet also asks pupils to classify parts of a washing machine as input, process or output. Ask them to justify ambiguous examples by the dedicated function. Ask students to revise one sentence after self-check.</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revision checklist appears after exam practice on the Lesson 4 worksheet. Ask students to circle red, amber or green in each row.</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experiences/sa-l04.json and worksheets/SA_L04_SmartHome_Worksheet.docx.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8621192ebb47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a2c7b3181e48a5" /><Relationship Type="http://schemas.openxmlformats.org/officeDocument/2006/relationships/slideLayout" Target="/ppt/slideLayouts/slideLayout1.xml" Id="R59a87b4b340348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a87b4b340348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92b723f75574262" /><Relationship Type="http://schemas.openxmlformats.org/officeDocument/2006/relationships/image" Target="/ppt/media/image.png" Id="Rd87ce16fb6a94fb3" /><Relationship Type="http://schemas.openxmlformats.org/officeDocument/2006/relationships/image" Target="/ppt/media/image.jpeg" Id="Re97adf28ed9e4fd4" /><Relationship Type="http://schemas.openxmlformats.org/officeDocument/2006/relationships/notesSlide" Target="/ppt/notesSlides/notesSlide1.xml" Id="R385e04db20cf44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4548b7f1a34b1e" /><Relationship Type="http://schemas.openxmlformats.org/officeDocument/2006/relationships/image" Target="/ppt/media/image2.png" Id="R7b98b8c327b6415f" /><Relationship Type="http://schemas.openxmlformats.org/officeDocument/2006/relationships/notesSlide" Target="/ppt/notesSlides/notesSlide2.xml" Id="R85f97a90f68c44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e2af12f3fda408d" /><Relationship Type="http://schemas.openxmlformats.org/officeDocument/2006/relationships/image" Target="/ppt/media/image3.png" Id="R0b469491be9c4d0b" /><Relationship Type="http://schemas.openxmlformats.org/officeDocument/2006/relationships/notesSlide" Target="/ppt/notesSlides/notesSlide3.xml" Id="R77a08d65072247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9d3112a90f74e80" /><Relationship Type="http://schemas.openxmlformats.org/officeDocument/2006/relationships/image" Target="/ppt/media/image4.png" Id="R790aac3bd4294ea0" /><Relationship Type="http://schemas.openxmlformats.org/officeDocument/2006/relationships/notesSlide" Target="/ppt/notesSlides/notesSlide4.xml" Id="Ra16c9731f1524a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3f85bd9f84e4aa8" /><Relationship Type="http://schemas.openxmlformats.org/officeDocument/2006/relationships/image" Target="/ppt/media/image5.png" Id="R47a9878e147c4ba4" /><Relationship Type="http://schemas.openxmlformats.org/officeDocument/2006/relationships/notesSlide" Target="/ppt/notesSlides/notesSlide5.xml" Id="Rcd2a6b6ca31942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e64214289894e5b" /><Relationship Type="http://schemas.openxmlformats.org/officeDocument/2006/relationships/image" Target="/ppt/media/image6.png" Id="R325c98b5eaf6413f" /><Relationship Type="http://schemas.openxmlformats.org/officeDocument/2006/relationships/notesSlide" Target="/ppt/notesSlides/notesSlide6.xml" Id="R87e8e99937a14c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5cc5ac2ba34085" /><Relationship Type="http://schemas.openxmlformats.org/officeDocument/2006/relationships/image" Target="/ppt/media/image7.png" Id="R5aa86a0a5fd847d7" /><Relationship Type="http://schemas.openxmlformats.org/officeDocument/2006/relationships/hyperlink" Target="https://mrp-cs.github.io/Revise360/experience.html?id=sa-l04" TargetMode="External" Id="R184cd887c3094c82" /><Relationship Type="http://schemas.openxmlformats.org/officeDocument/2006/relationships/notesSlide" Target="/ppt/notesSlides/notesSlide7.xml" Id="R8b031a92144a40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0bab6a691145dc" /><Relationship Type="http://schemas.openxmlformats.org/officeDocument/2006/relationships/image" Target="/ppt/media/image8.png" Id="Rb28f251a57b34181" /><Relationship Type="http://schemas.openxmlformats.org/officeDocument/2006/relationships/notesSlide" Target="/ppt/notesSlides/notesSlide8.xml" Id="R4724b01dabea4f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78ea4066e0b40be" /><Relationship Type="http://schemas.openxmlformats.org/officeDocument/2006/relationships/image" Target="/ppt/media/image9.png" Id="Re29ff1377a65486a" /><Relationship Type="http://schemas.openxmlformats.org/officeDocument/2006/relationships/notesSlide" Target="/ppt/notesSlides/notesSlide9.xml" Id="R5528067fd12445f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4983f5ef8d54308" /><Relationship Type="http://schemas.openxmlformats.org/officeDocument/2006/relationships/image" Target="/ppt/media/image10.png" Id="Ra58315e1de0c474a" /><Relationship Type="http://schemas.openxmlformats.org/officeDocument/2006/relationships/notesSlide" Target="/ppt/notesSlides/notesSlide10.xml" Id="Raf13642a856d408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a6c4897878445a" /><Relationship Type="http://schemas.openxmlformats.org/officeDocument/2006/relationships/image" Target="/ppt/media/image11.png" Id="Rccd01c1f9eb24c9c" /><Relationship Type="http://schemas.openxmlformats.org/officeDocument/2006/relationships/notesSlide" Target="/ppt/notesSlides/notesSlide11.xml" Id="R51fbdfa66b2544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3a4db3134574d75" /><Relationship Type="http://schemas.openxmlformats.org/officeDocument/2006/relationships/image" Target="/ppt/media/image12.png" Id="R823caecff0e0462f" /><Relationship Type="http://schemas.openxmlformats.org/officeDocument/2006/relationships/notesSlide" Target="/ppt/notesSlides/notesSlide12.xml" Id="Rf6523728ba1d4e8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8be18b2ff8f43c7" /><Relationship Type="http://schemas.openxmlformats.org/officeDocument/2006/relationships/image" Target="/ppt/media/image13.png" Id="R315327ff1cef4b5f" /><Relationship Type="http://schemas.openxmlformats.org/officeDocument/2006/relationships/notesSlide" Target="/ppt/notesSlides/notesSlide13.xml" Id="Rd62c8cd54c3849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1203530eef14afe" /><Relationship Type="http://schemas.openxmlformats.org/officeDocument/2006/relationships/image" Target="/ppt/media/image14.png" Id="R666ee28205d541d0" /><Relationship Type="http://schemas.openxmlformats.org/officeDocument/2006/relationships/notesSlide" Target="/ppt/notesSlides/notesSlide14.xml" Id="Ra71a07d022cf42e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3573f21a2314888" /><Relationship Type="http://schemas.openxmlformats.org/officeDocument/2006/relationships/image" Target="/ppt/media/image15.png" Id="R60014724810d4d44" /><Relationship Type="http://schemas.openxmlformats.org/officeDocument/2006/relationships/notesSlide" Target="/ppt/notesSlides/notesSlide15.xml" Id="R040b63c027ef4b6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052c53c28594d16" /><Relationship Type="http://schemas.openxmlformats.org/officeDocument/2006/relationships/image" Target="/ppt/media/image16.png" Id="R8ef467e886834023" /><Relationship Type="http://schemas.openxmlformats.org/officeDocument/2006/relationships/notesSlide" Target="/ppt/notesSlides/notesSlide16.xml" Id="R743a52a128be44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dd446d3fba143c3" /><Relationship Type="http://schemas.openxmlformats.org/officeDocument/2006/relationships/image" Target="/ppt/media/image17.png" Id="R2bc59ad09ee34355" /><Relationship Type="http://schemas.openxmlformats.org/officeDocument/2006/relationships/notesSlide" Target="/ppt/notesSlides/notesSlide17.xml" Id="R590b471169ea477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e1f50ed3a6540b6" /><Relationship Type="http://schemas.openxmlformats.org/officeDocument/2006/relationships/image" Target="/ppt/media/image18.png" Id="R5be5c2b122da453d" /><Relationship Type="http://schemas.openxmlformats.org/officeDocument/2006/relationships/notesSlide" Target="/ppt/notesSlides/notesSlide18.xml" Id="R29a76060fcc54df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e6675d9ae4949a6" /><Relationship Type="http://schemas.openxmlformats.org/officeDocument/2006/relationships/image" Target="/ppt/media/image19.png" Id="Rcf1e0535ec154ac1" /><Relationship Type="http://schemas.openxmlformats.org/officeDocument/2006/relationships/notesSlide" Target="/ppt/notesSlides/notesSlide19.xml" Id="Rc6b3efb3ef5c492a"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072349D9-8873-47AE-AC3B-170722CF07B3}"/>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CDEFE7CF-9E4B-478F-85FA-F698158AC78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04</a:t>
            </a:r>
          </a:p>
        </p:txBody>
      </p:sp>
      <p:sp>
        <p:nvSpPr>
          <p:cNvPr id="3" name="heading">
            <a:extLst xmlns:a="http://schemas.openxmlformats.org/drawingml/2006/main">
              <a:ext uri="{FF2B5EF4-FFF2-40B4-BE49-F238E27FC236}">
                <a16:creationId xmlns:a16="http://schemas.microsoft.com/office/drawing/2014/main" id="{861E5783-A460-45A0-B56B-B54AB121EBF1}"/>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SMART HOME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87ce16fb6a94fb3"/>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5A570D28-8FE5-441A-99F1-7DD02E8CB99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 / 19</a:t>
            </a:r>
          </a:p>
        </p:txBody>
      </p:sp>
      <p:sp>
        <p:nvSpPr>
          <p:cNvPr id="6" name="subject">
            <a:extLst xmlns:a="http://schemas.openxmlformats.org/drawingml/2006/main">
              <a:ext uri="{FF2B5EF4-FFF2-40B4-BE49-F238E27FC236}">
                <a16:creationId xmlns:a16="http://schemas.microsoft.com/office/drawing/2014/main" id="{DC584FB8-312A-4558-A6EC-50349852A207}"/>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Embedded systems</a:t>
            </a:r>
          </a:p>
        </p:txBody>
      </p:sp>
      <p:sp>
        <p:nvSpPr>
          <p:cNvPr id="7" name="cover-key-label">
            <a:extLst xmlns:a="http://schemas.openxmlformats.org/drawingml/2006/main">
              <a:ext uri="{FF2B5EF4-FFF2-40B4-BE49-F238E27FC236}">
                <a16:creationId xmlns:a16="http://schemas.microsoft.com/office/drawing/2014/main" id="{25C15FAA-E4CF-48B6-9E34-BBFB1256BB95}"/>
              </a:ext>
            </a:extLst>
          </p:cNvPr>
          <p:cNvSpPr>
            <a:spLocks xmlns:a="http://schemas.openxmlformats.org/drawingml/2006/main" noGrp="1"/>
          </p:cNvSpPr>
          <p:nvPr/>
        </p:nvSpPr>
        <p:spPr>
          <a:xfrm xmlns:a="http://schemas.openxmlformats.org/drawingml/2006/main">
            <a:off x="685800" y="3038475"/>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KEY QUESTION</a:t>
            </a:r>
          </a:p>
        </p:txBody>
      </p:sp>
      <p:sp>
        <p:nvSpPr>
          <p:cNvPr id="8" name="cover-key-question">
            <a:extLst xmlns:a="http://schemas.openxmlformats.org/drawingml/2006/main">
              <a:ext uri="{FF2B5EF4-FFF2-40B4-BE49-F238E27FC236}">
                <a16:creationId xmlns:a16="http://schemas.microsoft.com/office/drawing/2014/main" id="{EE7A2DC4-D5A4-4E03-BF50-FF12BA8EE183}"/>
              </a:ext>
            </a:extLst>
          </p:cNvPr>
          <p:cNvSpPr>
            <a:spLocks xmlns:a="http://schemas.openxmlformats.org/drawingml/2006/main" noGrp="1"/>
          </p:cNvSpPr>
          <p:nvPr/>
        </p:nvSpPr>
        <p:spPr>
          <a:xfrm xmlns:a="http://schemas.openxmlformats.org/drawingml/2006/main">
            <a:off x="685800" y="3429000"/>
            <a:ext cx="4762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What are embedded systems, and what are their characteristics?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97adf28ed9e4fd4"/>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16823032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footer background">
            <a:extLst xmlns:a="http://schemas.openxmlformats.org/drawingml/2006/main">
              <a:ext uri="{FF2B5EF4-FFF2-40B4-BE49-F238E27FC236}">
                <a16:creationId xmlns:a16="http://schemas.microsoft.com/office/drawing/2014/main" id="{4F50AF88-7375-47BC-83A1-7F0F8F78D01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F794424-0B17-4EDA-A7E1-DDD9D274873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a:t>
            </a:r>
          </a:p>
        </p:txBody>
      </p:sp>
      <p:sp>
        <p:nvSpPr>
          <p:cNvPr id="3" name="heading">
            <a:extLst xmlns:a="http://schemas.openxmlformats.org/drawingml/2006/main">
              <a:ext uri="{FF2B5EF4-FFF2-40B4-BE49-F238E27FC236}">
                <a16:creationId xmlns:a16="http://schemas.microsoft.com/office/drawing/2014/main" id="{81C51CE3-B770-46F3-BBB5-5F05045A8C0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b98b8c327b6415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744B9421-7C98-4D57-B00E-B98CCA9AFD5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19</a:t>
            </a:r>
          </a:p>
        </p:txBody>
      </p:sp>
      <p:sp>
        <p:nvSpPr>
          <p:cNvPr id="6" name="number-1">
            <a:extLst xmlns:a="http://schemas.openxmlformats.org/drawingml/2006/main">
              <a:ext uri="{FF2B5EF4-FFF2-40B4-BE49-F238E27FC236}">
                <a16:creationId xmlns:a16="http://schemas.microsoft.com/office/drawing/2014/main" id="{90752B83-ED45-4E6D-9E56-6FF63676870A}"/>
              </a:ext>
            </a:extLst>
          </p:cNvPr>
          <p:cNvSpPr>
            <a:spLocks xmlns:a="http://schemas.openxmlformats.org/drawingml/2006/main" noGrp="1"/>
          </p:cNvSpPr>
          <p:nvPr/>
        </p:nvSpPr>
        <p:spPr>
          <a:xfrm xmlns:a="http://schemas.openxmlformats.org/drawingml/2006/main">
            <a:off x="723900" y="1943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ECC595A3-DFDB-4CAC-9A7D-6CBC0F524C9C}"/>
              </a:ext>
            </a:extLst>
          </p:cNvPr>
          <p:cNvSpPr>
            <a:spLocks xmlns:a="http://schemas.openxmlformats.org/drawingml/2006/main" noGrp="1"/>
          </p:cNvSpPr>
          <p:nvPr/>
        </p:nvSpPr>
        <p:spPr>
          <a:xfrm xmlns:a="http://schemas.openxmlformats.org/drawingml/2006/main">
            <a:off x="1352550" y="19431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what is meant by the term embedded system</a:t>
            </a:r>
          </a:p>
        </p:txBody>
      </p:sp>
      <p:sp>
        <p:nvSpPr>
          <p:cNvPr id="8" name="number-2">
            <a:extLst xmlns:a="http://schemas.openxmlformats.org/drawingml/2006/main">
              <a:ext uri="{FF2B5EF4-FFF2-40B4-BE49-F238E27FC236}">
                <a16:creationId xmlns:a16="http://schemas.microsoft.com/office/drawing/2014/main" id="{229B87A6-3611-4D42-A705-21B69D74CE30}"/>
              </a:ext>
            </a:extLst>
          </p:cNvPr>
          <p:cNvSpPr>
            <a:spLocks xmlns:a="http://schemas.openxmlformats.org/drawingml/2006/main" noGrp="1"/>
          </p:cNvSpPr>
          <p:nvPr/>
        </p:nvSpPr>
        <p:spPr>
          <a:xfrm xmlns:a="http://schemas.openxmlformats.org/drawingml/2006/main">
            <a:off x="723900" y="31813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96DCCACA-1225-4205-BAA6-4EBC0E4D2D37}"/>
              </a:ext>
            </a:extLst>
          </p:cNvPr>
          <p:cNvSpPr>
            <a:spLocks xmlns:a="http://schemas.openxmlformats.org/drawingml/2006/main" noGrp="1"/>
          </p:cNvSpPr>
          <p:nvPr/>
        </p:nvSpPr>
        <p:spPr>
          <a:xfrm xmlns:a="http://schemas.openxmlformats.org/drawingml/2006/main">
            <a:off x="1352550" y="318135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several examples of embedded systems</a:t>
            </a:r>
          </a:p>
        </p:txBody>
      </p:sp>
      <p:sp>
        <p:nvSpPr>
          <p:cNvPr id="10" name="number-3">
            <a:extLst xmlns:a="http://schemas.openxmlformats.org/drawingml/2006/main">
              <a:ext uri="{FF2B5EF4-FFF2-40B4-BE49-F238E27FC236}">
                <a16:creationId xmlns:a16="http://schemas.microsoft.com/office/drawing/2014/main" id="{3D22A37B-1532-4199-858A-B644A7F620CB}"/>
              </a:ext>
            </a:extLst>
          </p:cNvPr>
          <p:cNvSpPr>
            <a:spLocks xmlns:a="http://schemas.openxmlformats.org/drawingml/2006/main" noGrp="1"/>
          </p:cNvSpPr>
          <p:nvPr/>
        </p:nvSpPr>
        <p:spPr>
          <a:xfrm xmlns:a="http://schemas.openxmlformats.org/drawingml/2006/main">
            <a:off x="723900" y="4419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310316E3-DD30-4731-9053-EC5582406161}"/>
              </a:ext>
            </a:extLst>
          </p:cNvPr>
          <p:cNvSpPr>
            <a:spLocks xmlns:a="http://schemas.openxmlformats.org/drawingml/2006/main" noGrp="1"/>
          </p:cNvSpPr>
          <p:nvPr/>
        </p:nvSpPr>
        <p:spPr>
          <a:xfrm xmlns:a="http://schemas.openxmlformats.org/drawingml/2006/main">
            <a:off x="1352550" y="44196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how to program</a:t>
            </a:r>
          </a:p>
        </p:txBody>
      </p:sp>
    </p:spTree>
    <p:extLst>
      <p:ext uri="{BB962C8B-B14F-4D97-AF65-F5344CB8AC3E}">
        <p14:creationId xmlns:p14="http://schemas.microsoft.com/office/powerpoint/2010/main" val="1140413152"/>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B171798D-A135-4F31-92CD-BFE0B15066AC}"/>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668C5B8-1D41-4ED6-89D2-C78B9F06A58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 STARTER</a:t>
            </a:r>
          </a:p>
        </p:txBody>
      </p:sp>
      <p:sp>
        <p:nvSpPr>
          <p:cNvPr id="3" name="heading">
            <a:extLst xmlns:a="http://schemas.openxmlformats.org/drawingml/2006/main">
              <a:ext uri="{FF2B5EF4-FFF2-40B4-BE49-F238E27FC236}">
                <a16:creationId xmlns:a16="http://schemas.microsoft.com/office/drawing/2014/main" id="{B6ECABA7-F7CF-420C-BD71-0BDCEFC03D8E}"/>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b469491be9c4d0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A7EE409-780B-4E14-ADA5-B9E0862F7A0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19</a:t>
            </a:r>
          </a:p>
        </p:txBody>
      </p:sp>
      <p:sp>
        <p:nvSpPr>
          <p:cNvPr id="6" name="worksheet-starter">
            <a:extLst xmlns:a="http://schemas.openxmlformats.org/drawingml/2006/main">
              <a:ext uri="{FF2B5EF4-FFF2-40B4-BE49-F238E27FC236}">
                <a16:creationId xmlns:a16="http://schemas.microsoft.com/office/drawing/2014/main" id="{B240C6CE-EC5D-4355-A232-847AF3535014}"/>
              </a:ext>
            </a:extLst>
          </p:cNvPr>
          <p:cNvSpPr>
            <a:spLocks xmlns:a="http://schemas.openxmlformats.org/drawingml/2006/main" noGrp="1"/>
          </p:cNvSpPr>
          <p:nvPr/>
        </p:nvSpPr>
        <p:spPr>
          <a:xfrm xmlns:a="http://schemas.openxmlformats.org/drawingml/2006/main">
            <a:off x="704850" y="2095500"/>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List five devices in your home that contain a computer but don't look like one. What does each one do with the data it collects?</a:t>
            </a:r>
          </a:p>
        </p:txBody>
      </p:sp>
    </p:spTree>
    <p:extLst>
      <p:ext uri="{BB962C8B-B14F-4D97-AF65-F5344CB8AC3E}">
        <p14:creationId xmlns:p14="http://schemas.microsoft.com/office/powerpoint/2010/main" val="420425085"/>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6" name="footer background">
            <a:extLst xmlns:a="http://schemas.openxmlformats.org/drawingml/2006/main">
              <a:ext uri="{FF2B5EF4-FFF2-40B4-BE49-F238E27FC236}">
                <a16:creationId xmlns:a16="http://schemas.microsoft.com/office/drawing/2014/main" id="{F5E58450-5B51-4561-9CE2-77CC0CD89B8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FD5FB21E-D227-40B8-93A7-CC916EA74C3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3" name="heading">
            <a:extLst xmlns:a="http://schemas.openxmlformats.org/drawingml/2006/main">
              <a:ext uri="{FF2B5EF4-FFF2-40B4-BE49-F238E27FC236}">
                <a16:creationId xmlns:a16="http://schemas.microsoft.com/office/drawing/2014/main" id="{0B64A03F-6DD5-4F42-AA73-47939D2194FE}"/>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90aac3bd4294ea0"/>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6682411-01C6-47E1-9BF0-CCC542288D7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19</a:t>
            </a:r>
          </a:p>
        </p:txBody>
      </p:sp>
      <p:sp>
        <p:nvSpPr>
          <p:cNvPr id="6" name="number-1">
            <a:extLst xmlns:a="http://schemas.openxmlformats.org/drawingml/2006/main">
              <a:ext uri="{FF2B5EF4-FFF2-40B4-BE49-F238E27FC236}">
                <a16:creationId xmlns:a16="http://schemas.microsoft.com/office/drawing/2014/main" id="{013D1637-4C1A-4559-B50B-E8B4D02EA43F}"/>
              </a:ext>
            </a:extLst>
          </p:cNvPr>
          <p:cNvSpPr>
            <a:spLocks xmlns:a="http://schemas.openxmlformats.org/drawingml/2006/main" noGrp="1"/>
          </p:cNvSpPr>
          <p:nvPr/>
        </p:nvSpPr>
        <p:spPr>
          <a:xfrm xmlns:a="http://schemas.openxmlformats.org/drawingml/2006/main">
            <a:off x="723900" y="19526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4F45AF7C-56D0-444F-9008-D9F622C51F6C}"/>
              </a:ext>
            </a:extLst>
          </p:cNvPr>
          <p:cNvSpPr>
            <a:spLocks xmlns:a="http://schemas.openxmlformats.org/drawingml/2006/main" noGrp="1"/>
          </p:cNvSpPr>
          <p:nvPr/>
        </p:nvSpPr>
        <p:spPr>
          <a:xfrm xmlns:a="http://schemas.openxmlformats.org/drawingml/2006/main">
            <a:off x="1352550" y="1952625"/>
            <a:ext cx="99250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Washing machine: reads temperature and controls the heater.</a:t>
            </a:r>
          </a:p>
        </p:txBody>
      </p:sp>
      <p:sp>
        <p:nvSpPr>
          <p:cNvPr id="8" name="number-2">
            <a:extLst xmlns:a="http://schemas.openxmlformats.org/drawingml/2006/main">
              <a:ext uri="{FF2B5EF4-FFF2-40B4-BE49-F238E27FC236}">
                <a16:creationId xmlns:a16="http://schemas.microsoft.com/office/drawing/2014/main" id="{A10F9507-2722-4AE3-8426-1D3B8F50F5D0}"/>
              </a:ext>
            </a:extLst>
          </p:cNvPr>
          <p:cNvSpPr>
            <a:spLocks xmlns:a="http://schemas.openxmlformats.org/drawingml/2006/main" noGrp="1"/>
          </p:cNvSpPr>
          <p:nvPr/>
        </p:nvSpPr>
        <p:spPr>
          <a:xfrm xmlns:a="http://schemas.openxmlformats.org/drawingml/2006/main">
            <a:off x="723900" y="26860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B3C2BD93-6E07-4147-8CFF-2113C7BE4F29}"/>
              </a:ext>
            </a:extLst>
          </p:cNvPr>
          <p:cNvSpPr>
            <a:spLocks xmlns:a="http://schemas.openxmlformats.org/drawingml/2006/main" noGrp="1"/>
          </p:cNvSpPr>
          <p:nvPr/>
        </p:nvSpPr>
        <p:spPr>
          <a:xfrm xmlns:a="http://schemas.openxmlformats.org/drawingml/2006/main">
            <a:off x="1352550" y="2686050"/>
            <a:ext cx="99250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Thermostat: reads room temperature and switches the heating.</a:t>
            </a:r>
          </a:p>
        </p:txBody>
      </p:sp>
      <p:sp>
        <p:nvSpPr>
          <p:cNvPr id="10" name="number-3">
            <a:extLst xmlns:a="http://schemas.openxmlformats.org/drawingml/2006/main">
              <a:ext uri="{FF2B5EF4-FFF2-40B4-BE49-F238E27FC236}">
                <a16:creationId xmlns:a16="http://schemas.microsoft.com/office/drawing/2014/main" id="{B77E15AF-1E8D-4DB4-AD1E-69293903C3A0}"/>
              </a:ext>
            </a:extLst>
          </p:cNvPr>
          <p:cNvSpPr>
            <a:spLocks xmlns:a="http://schemas.openxmlformats.org/drawingml/2006/main" noGrp="1"/>
          </p:cNvSpPr>
          <p:nvPr/>
        </p:nvSpPr>
        <p:spPr>
          <a:xfrm xmlns:a="http://schemas.openxmlformats.org/drawingml/2006/main">
            <a:off x="723900" y="34194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37D7BCE3-487B-4AA0-9294-78C95E72F293}"/>
              </a:ext>
            </a:extLst>
          </p:cNvPr>
          <p:cNvSpPr>
            <a:spLocks xmlns:a="http://schemas.openxmlformats.org/drawingml/2006/main" noGrp="1"/>
          </p:cNvSpPr>
          <p:nvPr/>
        </p:nvSpPr>
        <p:spPr>
          <a:xfrm xmlns:a="http://schemas.openxmlformats.org/drawingml/2006/main">
            <a:off x="1352550" y="3419475"/>
            <a:ext cx="99250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Microwave: reads the timer and controls cooking.</a:t>
            </a:r>
          </a:p>
        </p:txBody>
      </p:sp>
      <p:sp>
        <p:nvSpPr>
          <p:cNvPr id="12" name="number-4">
            <a:extLst xmlns:a="http://schemas.openxmlformats.org/drawingml/2006/main">
              <a:ext uri="{FF2B5EF4-FFF2-40B4-BE49-F238E27FC236}">
                <a16:creationId xmlns:a16="http://schemas.microsoft.com/office/drawing/2014/main" id="{0A25E2CF-B252-4D2C-902B-C20F0DB4C40D}"/>
              </a:ext>
            </a:extLst>
          </p:cNvPr>
          <p:cNvSpPr>
            <a:spLocks xmlns:a="http://schemas.openxmlformats.org/drawingml/2006/main" noGrp="1"/>
          </p:cNvSpPr>
          <p:nvPr/>
        </p:nvSpPr>
        <p:spPr>
          <a:xfrm xmlns:a="http://schemas.openxmlformats.org/drawingml/2006/main">
            <a:off x="723900" y="4152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F6EDDDCC-52DC-4996-977D-3EAFE08561E9}"/>
              </a:ext>
            </a:extLst>
          </p:cNvPr>
          <p:cNvSpPr>
            <a:spLocks xmlns:a="http://schemas.openxmlformats.org/drawingml/2006/main" noGrp="1"/>
          </p:cNvSpPr>
          <p:nvPr/>
        </p:nvSpPr>
        <p:spPr>
          <a:xfrm xmlns:a="http://schemas.openxmlformats.org/drawingml/2006/main">
            <a:off x="1352550" y="4152900"/>
            <a:ext cx="99250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Smart doorbell: detects motion and sends an alert.</a:t>
            </a:r>
          </a:p>
        </p:txBody>
      </p:sp>
      <p:sp>
        <p:nvSpPr>
          <p:cNvPr id="14" name="number-5">
            <a:extLst xmlns:a="http://schemas.openxmlformats.org/drawingml/2006/main">
              <a:ext uri="{FF2B5EF4-FFF2-40B4-BE49-F238E27FC236}">
                <a16:creationId xmlns:a16="http://schemas.microsoft.com/office/drawing/2014/main" id="{E0BF749C-FA4F-459F-BA20-44591E02F5AC}"/>
              </a:ext>
            </a:extLst>
          </p:cNvPr>
          <p:cNvSpPr>
            <a:spLocks xmlns:a="http://schemas.openxmlformats.org/drawingml/2006/main" noGrp="1"/>
          </p:cNvSpPr>
          <p:nvPr/>
        </p:nvSpPr>
        <p:spPr>
          <a:xfrm xmlns:a="http://schemas.openxmlformats.org/drawingml/2006/main">
            <a:off x="723900" y="48863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5.</a:t>
            </a:r>
          </a:p>
        </p:txBody>
      </p:sp>
      <p:sp>
        <p:nvSpPr>
          <p:cNvPr id="15" name="item-5">
            <a:extLst xmlns:a="http://schemas.openxmlformats.org/drawingml/2006/main">
              <a:ext uri="{FF2B5EF4-FFF2-40B4-BE49-F238E27FC236}">
                <a16:creationId xmlns:a16="http://schemas.microsoft.com/office/drawing/2014/main" id="{509C1C0D-4808-436B-A6AE-F80567F5FEDA}"/>
              </a:ext>
            </a:extLst>
          </p:cNvPr>
          <p:cNvSpPr>
            <a:spLocks xmlns:a="http://schemas.openxmlformats.org/drawingml/2006/main" noGrp="1"/>
          </p:cNvSpPr>
          <p:nvPr/>
        </p:nvSpPr>
        <p:spPr>
          <a:xfrm xmlns:a="http://schemas.openxmlformats.org/drawingml/2006/main">
            <a:off x="1352550" y="4886325"/>
            <a:ext cx="99250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Robot vacuum: senses obstacles and changes direction.</a:t>
            </a:r>
          </a:p>
        </p:txBody>
      </p:sp>
    </p:spTree>
    <p:extLst>
      <p:ext uri="{BB962C8B-B14F-4D97-AF65-F5344CB8AC3E}">
        <p14:creationId xmlns:p14="http://schemas.microsoft.com/office/powerpoint/2010/main" val="1485369860"/>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4138C0C4-A95E-4DDE-BA1F-512182192CA3}"/>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006AEDCB-EE09-431A-8D90-20B88593105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 KEY TERMS</a:t>
            </a:r>
          </a:p>
        </p:txBody>
      </p:sp>
      <p:sp>
        <p:nvSpPr>
          <p:cNvPr id="3" name="heading">
            <a:extLst xmlns:a="http://schemas.openxmlformats.org/drawingml/2006/main">
              <a:ext uri="{FF2B5EF4-FFF2-40B4-BE49-F238E27FC236}">
                <a16:creationId xmlns:a16="http://schemas.microsoft.com/office/drawing/2014/main" id="{1D2E58CC-4F6C-4279-B5E9-1A682967FE0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7a9878e147c4ba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138C2E01-EFD3-44AA-B95E-FBBC3F8A3D3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19</a:t>
            </a:r>
          </a:p>
        </p:txBody>
      </p:sp>
      <p:sp>
        <p:nvSpPr>
          <p:cNvPr id="6" name="term-number-0">
            <a:extLst xmlns:a="http://schemas.openxmlformats.org/drawingml/2006/main">
              <a:ext uri="{FF2B5EF4-FFF2-40B4-BE49-F238E27FC236}">
                <a16:creationId xmlns:a16="http://schemas.microsoft.com/office/drawing/2014/main" id="{341205B5-57CE-4162-BCAF-33FD15241EBC}"/>
              </a:ext>
            </a:extLst>
          </p:cNvPr>
          <p:cNvSpPr>
            <a:spLocks xmlns:a="http://schemas.openxmlformats.org/drawingml/2006/main" noGrp="1"/>
          </p:cNvSpPr>
          <p:nvPr/>
        </p:nvSpPr>
        <p:spPr>
          <a:xfrm xmlns:a="http://schemas.openxmlformats.org/drawingml/2006/main">
            <a:off x="723900" y="227647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7086B726-2C99-47BA-809D-23ECBE977F43}"/>
              </a:ext>
            </a:extLst>
          </p:cNvPr>
          <p:cNvSpPr>
            <a:spLocks xmlns:a="http://schemas.openxmlformats.org/drawingml/2006/main" noGrp="1"/>
          </p:cNvSpPr>
          <p:nvPr/>
        </p:nvSpPr>
        <p:spPr>
          <a:xfrm xmlns:a="http://schemas.openxmlformats.org/drawingml/2006/main">
            <a:off x="1371600" y="227647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Von Neumann architecture</a:t>
            </a:r>
          </a:p>
        </p:txBody>
      </p:sp>
      <p:sp>
        <p:nvSpPr>
          <p:cNvPr id="8" name="term-number-1">
            <a:extLst xmlns:a="http://schemas.openxmlformats.org/drawingml/2006/main">
              <a:ext uri="{FF2B5EF4-FFF2-40B4-BE49-F238E27FC236}">
                <a16:creationId xmlns:a16="http://schemas.microsoft.com/office/drawing/2014/main" id="{454B3BD2-51ED-41D3-811C-FC6C791A9C5F}"/>
              </a:ext>
            </a:extLst>
          </p:cNvPr>
          <p:cNvSpPr>
            <a:spLocks xmlns:a="http://schemas.openxmlformats.org/drawingml/2006/main" noGrp="1"/>
          </p:cNvSpPr>
          <p:nvPr/>
        </p:nvSpPr>
        <p:spPr>
          <a:xfrm xmlns:a="http://schemas.openxmlformats.org/drawingml/2006/main">
            <a:off x="723900" y="408622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2C2B59C1-4DC1-4267-B613-1C34BEFE8A60}"/>
              </a:ext>
            </a:extLst>
          </p:cNvPr>
          <p:cNvSpPr>
            <a:spLocks xmlns:a="http://schemas.openxmlformats.org/drawingml/2006/main" noGrp="1"/>
          </p:cNvSpPr>
          <p:nvPr/>
        </p:nvSpPr>
        <p:spPr>
          <a:xfrm xmlns:a="http://schemas.openxmlformats.org/drawingml/2006/main">
            <a:off x="1371600" y="408622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MAR</a:t>
            </a:r>
          </a:p>
        </p:txBody>
      </p:sp>
    </p:spTree>
    <p:extLst>
      <p:ext uri="{BB962C8B-B14F-4D97-AF65-F5344CB8AC3E}">
        <p14:creationId xmlns:p14="http://schemas.microsoft.com/office/powerpoint/2010/main" val="1741066059"/>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CAB0135F-2368-4E4E-B7F9-85556E97C33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A1936D2-BEBE-492D-87BE-42FEFF5DEFD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3" name="heading">
            <a:extLst xmlns:a="http://schemas.openxmlformats.org/drawingml/2006/main">
              <a:ext uri="{FF2B5EF4-FFF2-40B4-BE49-F238E27FC236}">
                <a16:creationId xmlns:a16="http://schemas.microsoft.com/office/drawing/2014/main" id="{99ABC82D-5A4E-4C6E-9C2E-2B21F01B374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25c98b5eaf6413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4A2F46FC-0862-4995-A356-C1A062C7D46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19</a:t>
            </a:r>
          </a:p>
        </p:txBody>
      </p:sp>
      <p:sp>
        <p:nvSpPr>
          <p:cNvPr id="6" name="answer-term-0">
            <a:extLst xmlns:a="http://schemas.openxmlformats.org/drawingml/2006/main">
              <a:ext uri="{FF2B5EF4-FFF2-40B4-BE49-F238E27FC236}">
                <a16:creationId xmlns:a16="http://schemas.microsoft.com/office/drawing/2014/main" id="{329F8532-B533-4825-882B-F8F80B396E78}"/>
              </a:ext>
            </a:extLst>
          </p:cNvPr>
          <p:cNvSpPr>
            <a:spLocks xmlns:a="http://schemas.openxmlformats.org/drawingml/2006/main" noGrp="1"/>
          </p:cNvSpPr>
          <p:nvPr/>
        </p:nvSpPr>
        <p:spPr>
          <a:xfrm xmlns:a="http://schemas.openxmlformats.org/drawingml/2006/main">
            <a:off x="723900" y="2047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Von Neumann architecture</a:t>
            </a:r>
          </a:p>
        </p:txBody>
      </p:sp>
      <p:sp>
        <p:nvSpPr>
          <p:cNvPr id="7" name="answer-definition-0">
            <a:extLst xmlns:a="http://schemas.openxmlformats.org/drawingml/2006/main">
              <a:ext uri="{FF2B5EF4-FFF2-40B4-BE49-F238E27FC236}">
                <a16:creationId xmlns:a16="http://schemas.microsoft.com/office/drawing/2014/main" id="{2E372179-55BA-4C3C-96D5-D2F145584C1D}"/>
              </a:ext>
            </a:extLst>
          </p:cNvPr>
          <p:cNvSpPr>
            <a:spLocks xmlns:a="http://schemas.openxmlformats.org/drawingml/2006/main" noGrp="1"/>
          </p:cNvSpPr>
          <p:nvPr/>
        </p:nvSpPr>
        <p:spPr>
          <a:xfrm xmlns:a="http://schemas.openxmlformats.org/drawingml/2006/main">
            <a:off x="723900" y="2628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design in which program instructions and data share main memory.</a:t>
            </a:r>
          </a:p>
        </p:txBody>
      </p:sp>
      <p:sp>
        <p:nvSpPr>
          <p:cNvPr id="8" name="answer-term-1">
            <a:extLst xmlns:a="http://schemas.openxmlformats.org/drawingml/2006/main">
              <a:ext uri="{FF2B5EF4-FFF2-40B4-BE49-F238E27FC236}">
                <a16:creationId xmlns:a16="http://schemas.microsoft.com/office/drawing/2014/main" id="{E91C0228-1737-41E9-A837-E04146DD8669}"/>
              </a:ext>
            </a:extLst>
          </p:cNvPr>
          <p:cNvSpPr>
            <a:spLocks xmlns:a="http://schemas.openxmlformats.org/drawingml/2006/main" noGrp="1"/>
          </p:cNvSpPr>
          <p:nvPr/>
        </p:nvSpPr>
        <p:spPr>
          <a:xfrm xmlns:a="http://schemas.openxmlformats.org/drawingml/2006/main">
            <a:off x="723900" y="39338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MAR</a:t>
            </a:r>
          </a:p>
        </p:txBody>
      </p:sp>
      <p:sp>
        <p:nvSpPr>
          <p:cNvPr id="9" name="answer-definition-1">
            <a:extLst xmlns:a="http://schemas.openxmlformats.org/drawingml/2006/main">
              <a:ext uri="{FF2B5EF4-FFF2-40B4-BE49-F238E27FC236}">
                <a16:creationId xmlns:a16="http://schemas.microsoft.com/office/drawing/2014/main" id="{AD92E865-3D21-4D75-9E42-6E7A689EBB80}"/>
              </a:ext>
            </a:extLst>
          </p:cNvPr>
          <p:cNvSpPr>
            <a:spLocks xmlns:a="http://schemas.openxmlformats.org/drawingml/2006/main" noGrp="1"/>
          </p:cNvSpPr>
          <p:nvPr/>
        </p:nvSpPr>
        <p:spPr>
          <a:xfrm xmlns:a="http://schemas.openxmlformats.org/drawingml/2006/main">
            <a:off x="723900" y="45148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memory address register holds the address to fetch from or write to memory.</a:t>
            </a:r>
          </a:p>
        </p:txBody>
      </p:sp>
    </p:spTree>
    <p:extLst>
      <p:ext uri="{BB962C8B-B14F-4D97-AF65-F5344CB8AC3E}">
        <p14:creationId xmlns:p14="http://schemas.microsoft.com/office/powerpoint/2010/main" val="1706860213"/>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4C06330F-D919-4485-ACC2-C8105AD591D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11A2E345-742E-42BE-B47A-CD1AD2F8223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04   /   EXPERIENCE</a:t>
            </a:r>
          </a:p>
        </p:txBody>
      </p:sp>
      <p:sp>
        <p:nvSpPr>
          <p:cNvPr id="3" name="heading">
            <a:extLst xmlns:a="http://schemas.openxmlformats.org/drawingml/2006/main">
              <a:ext uri="{FF2B5EF4-FFF2-40B4-BE49-F238E27FC236}">
                <a16:creationId xmlns:a16="http://schemas.microsoft.com/office/drawing/2014/main" id="{4F0338D4-5B17-47AE-BFC2-85D857DBC67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Worksheet + experience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aa86a0a5fd847d7"/>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725384FD-E693-4834-8FF8-305F000806B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7 / 19</a:t>
            </a:r>
          </a:p>
        </p:txBody>
      </p:sp>
      <p:sp>
        <p:nvSpPr>
          <p:cNvPr id="6" name="open-label">
            <a:extLst xmlns:a="http://schemas.openxmlformats.org/drawingml/2006/main">
              <a:ext uri="{FF2B5EF4-FFF2-40B4-BE49-F238E27FC236}">
                <a16:creationId xmlns:a16="http://schemas.microsoft.com/office/drawing/2014/main" id="{2A2E4F9B-AB5F-4FEB-80E5-E7C4D244D323}"/>
              </a:ext>
            </a:extLst>
          </p:cNvPr>
          <p:cNvSpPr>
            <a:spLocks xmlns:a="http://schemas.openxmlformats.org/drawingml/2006/main" noGrp="1"/>
          </p:cNvSpPr>
          <p:nvPr/>
        </p:nvSpPr>
        <p:spPr>
          <a:xfrm xmlns:a="http://schemas.openxmlformats.org/drawingml/2006/main">
            <a:off x="723900" y="15240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01   </a:t>
            </a:r>
            <a:r>
              <a:rPr sz="1425" b="1">
                <a:solidFill>
                  <a:srgbClr val="77D8FF"/>
                </a:solidFill>
                <a:latin typeface="DejaVu Sans"/>
                <a:ea typeface="DejaVu Sans"/>
                <a:cs typeface="DejaVu Sans"/>
                <a:hlinkClick xmlns:r="http://schemas.openxmlformats.org/officeDocument/2006/relationships" r:id="R184cd887c3094c82"/>
              </a:rPr>
              <a:t>OPEN EXPERIENCE ↗</a:t>
            </a:r>
          </a:p>
        </p:txBody>
      </p:sp>
      <p:sp>
        <p:nvSpPr>
          <p:cNvPr id="7" name="open-body">
            <a:extLst xmlns:a="http://schemas.openxmlformats.org/drawingml/2006/main">
              <a:ext uri="{FF2B5EF4-FFF2-40B4-BE49-F238E27FC236}">
                <a16:creationId xmlns:a16="http://schemas.microsoft.com/office/drawing/2014/main" id="{B0EE37EA-02CB-4E6C-B5C1-4FB98790CD0E}"/>
              </a:ext>
            </a:extLst>
          </p:cNvPr>
          <p:cNvSpPr>
            <a:spLocks xmlns:a="http://schemas.openxmlformats.org/drawingml/2006/main" noGrp="1"/>
          </p:cNvSpPr>
          <p:nvPr/>
        </p:nvSpPr>
        <p:spPr>
          <a:xfrm xmlns:a="http://schemas.openxmlformats.org/drawingml/2006/main">
            <a:off x="723900" y="1847850"/>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Smart home in Topic 1.1. Keep the worksheet beside you.</a:t>
            </a:r>
          </a:p>
        </p:txBody>
      </p:sp>
      <p:sp>
        <p:nvSpPr>
          <p:cNvPr id="8" name="station-label">
            <a:extLst xmlns:a="http://schemas.openxmlformats.org/drawingml/2006/main">
              <a:ext uri="{FF2B5EF4-FFF2-40B4-BE49-F238E27FC236}">
                <a16:creationId xmlns:a16="http://schemas.microsoft.com/office/drawing/2014/main" id="{373B732B-16BF-471A-A5C3-9E43C43DCFCD}"/>
              </a:ext>
            </a:extLst>
          </p:cNvPr>
          <p:cNvSpPr>
            <a:spLocks xmlns:a="http://schemas.openxmlformats.org/drawingml/2006/main" noGrp="1"/>
          </p:cNvSpPr>
          <p:nvPr/>
        </p:nvSpPr>
        <p:spPr>
          <a:xfrm xmlns:a="http://schemas.openxmlformats.org/drawingml/2006/main">
            <a:off x="723900" y="25908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02   SIX STATIONS</a:t>
            </a:r>
          </a:p>
        </p:txBody>
      </p:sp>
      <p:sp>
        <p:nvSpPr>
          <p:cNvPr id="9" name="station-body">
            <a:extLst xmlns:a="http://schemas.openxmlformats.org/drawingml/2006/main">
              <a:ext uri="{FF2B5EF4-FFF2-40B4-BE49-F238E27FC236}">
                <a16:creationId xmlns:a16="http://schemas.microsoft.com/office/drawing/2014/main" id="{C1762BC5-B899-4803-976A-E975483EEB52}"/>
              </a:ext>
            </a:extLst>
          </p:cNvPr>
          <p:cNvSpPr>
            <a:spLocks xmlns:a="http://schemas.openxmlformats.org/drawingml/2006/main" noGrp="1"/>
          </p:cNvSpPr>
          <p:nvPr/>
        </p:nvSpPr>
        <p:spPr>
          <a:xfrm xmlns:a="http://schemas.openxmlformats.org/drawingml/2006/main">
            <a:off x="723900" y="2914650"/>
            <a:ext cx="1057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Read each panel. Write the key fact IN YOUR OWN WORDS and answer the worksheet challenge before tapping its badge.</a:t>
            </a:r>
          </a:p>
        </p:txBody>
      </p:sp>
      <p:sp>
        <p:nvSpPr>
          <p:cNvPr id="10" name="finish-label">
            <a:extLst xmlns:a="http://schemas.openxmlformats.org/drawingml/2006/main">
              <a:ext uri="{FF2B5EF4-FFF2-40B4-BE49-F238E27FC236}">
                <a16:creationId xmlns:a16="http://schemas.microsoft.com/office/drawing/2014/main" id="{8062BDD0-1C8F-4017-B3C6-FEFA32627AFD}"/>
              </a:ext>
            </a:extLst>
          </p:cNvPr>
          <p:cNvSpPr>
            <a:spLocks xmlns:a="http://schemas.openxmlformats.org/drawingml/2006/main" noGrp="1"/>
          </p:cNvSpPr>
          <p:nvPr/>
        </p:nvSpPr>
        <p:spPr>
          <a:xfrm xmlns:a="http://schemas.openxmlformats.org/drawingml/2006/main">
            <a:off x="723900" y="3714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03   FINAL CHALLENGE</a:t>
            </a:r>
          </a:p>
        </p:txBody>
      </p:sp>
      <p:sp>
        <p:nvSpPr>
          <p:cNvPr id="11" name="finish-body">
            <a:extLst xmlns:a="http://schemas.openxmlformats.org/drawingml/2006/main">
              <a:ext uri="{FF2B5EF4-FFF2-40B4-BE49-F238E27FC236}">
                <a16:creationId xmlns:a16="http://schemas.microsoft.com/office/drawing/2014/main" id="{BB29D9A0-3F61-498E-ACED-D5B44D400822}"/>
              </a:ext>
            </a:extLst>
          </p:cNvPr>
          <p:cNvSpPr>
            <a:spLocks xmlns:a="http://schemas.openxmlformats.org/drawingml/2006/main" noGrp="1"/>
          </p:cNvSpPr>
          <p:nvPr/>
        </p:nvSpPr>
        <p:spPr>
          <a:xfrm xmlns:a="http://schemas.openxmlformats.org/drawingml/2006/main">
            <a:off x="723900" y="4048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Complete the ★ table before tapping the star. Copy your score (out of 24), then answer the worksheet key question.</a:t>
            </a:r>
          </a:p>
        </p:txBody>
      </p:sp>
      <p:sp>
        <p:nvSpPr>
          <p:cNvPr id="12" name="plenary-label">
            <a:extLst xmlns:a="http://schemas.openxmlformats.org/drawingml/2006/main">
              <a:ext uri="{FF2B5EF4-FFF2-40B4-BE49-F238E27FC236}">
                <a16:creationId xmlns:a16="http://schemas.microsoft.com/office/drawing/2014/main" id="{8776EB58-E145-4B24-9318-694336B6D31D}"/>
              </a:ext>
            </a:extLst>
          </p:cNvPr>
          <p:cNvSpPr>
            <a:spLocks xmlns:a="http://schemas.openxmlformats.org/drawingml/2006/main" noGrp="1"/>
          </p:cNvSpPr>
          <p:nvPr/>
        </p:nvSpPr>
        <p:spPr>
          <a:xfrm xmlns:a="http://schemas.openxmlformats.org/drawingml/2006/main">
            <a:off x="723900" y="49149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04   PLENARY</a:t>
            </a:r>
          </a:p>
        </p:txBody>
      </p:sp>
      <p:sp>
        <p:nvSpPr>
          <p:cNvPr id="13" name="plenary-body">
            <a:extLst xmlns:a="http://schemas.openxmlformats.org/drawingml/2006/main">
              <a:ext uri="{FF2B5EF4-FFF2-40B4-BE49-F238E27FC236}">
                <a16:creationId xmlns:a16="http://schemas.microsoft.com/office/drawing/2014/main" id="{1A6A37F7-41D1-42F6-93C1-C2D3996A97A1}"/>
              </a:ext>
            </a:extLst>
          </p:cNvPr>
          <p:cNvSpPr>
            <a:spLocks xmlns:a="http://schemas.openxmlformats.org/drawingml/2006/main" noGrp="1"/>
          </p:cNvSpPr>
          <p:nvPr/>
        </p:nvSpPr>
        <p:spPr>
          <a:xfrm xmlns:a="http://schemas.openxmlformats.org/drawingml/2006/main">
            <a:off x="723900" y="52387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FFFFFF"/>
                </a:solidFill>
                <a:latin typeface="DejaVu Sans"/>
                <a:ea typeface="DejaVu Sans"/>
                <a:cs typeface="DejaVu Sans"/>
              </a:defRPr>
            </a:pPr>
            <a:r>
              <a:rPr sz="1800" b="0">
                <a:solidFill>
                  <a:srgbClr val="FFFFFF"/>
                </a:solidFill>
                <a:latin typeface="DejaVu Sans"/>
                <a:ea typeface="DejaVu Sans"/>
                <a:cs typeface="DejaVu Sans"/>
              </a:rPr>
              <a:t>Finish the experience in this lesson. Near the end, close it for the plenary knowledge checks.</a:t>
            </a:r>
          </a:p>
        </p:txBody>
      </p:sp>
    </p:spTree>
    <p:extLst>
      <p:ext uri="{BB962C8B-B14F-4D97-AF65-F5344CB8AC3E}">
        <p14:creationId xmlns:p14="http://schemas.microsoft.com/office/powerpoint/2010/main" val="19861076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ooter background">
            <a:extLst xmlns:a="http://schemas.openxmlformats.org/drawingml/2006/main">
              <a:ext uri="{FF2B5EF4-FFF2-40B4-BE49-F238E27FC236}">
                <a16:creationId xmlns:a16="http://schemas.microsoft.com/office/drawing/2014/main" id="{CC034535-7958-4099-8682-CFF96CA9DA04}"/>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5067E98-43D0-4E7D-82FC-D61E22BB4BF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EXTENSION</a:t>
            </a:r>
          </a:p>
        </p:txBody>
      </p:sp>
      <p:sp>
        <p:nvSpPr>
          <p:cNvPr id="3" name="heading">
            <a:extLst xmlns:a="http://schemas.openxmlformats.org/drawingml/2006/main">
              <a:ext uri="{FF2B5EF4-FFF2-40B4-BE49-F238E27FC236}">
                <a16:creationId xmlns:a16="http://schemas.microsoft.com/office/drawing/2014/main" id="{3D51E801-35AC-4083-BFC1-790D4065CA6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28f251a57b34181"/>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7A3ECB42-C648-4238-9646-BFBA3430BEC9}"/>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19</a:t>
            </a:r>
          </a:p>
        </p:txBody>
      </p:sp>
      <p:sp>
        <p:nvSpPr>
          <p:cNvPr id="6" name="extension-prompt">
            <a:extLst xmlns:a="http://schemas.openxmlformats.org/drawingml/2006/main">
              <a:ext uri="{FF2B5EF4-FFF2-40B4-BE49-F238E27FC236}">
                <a16:creationId xmlns:a16="http://schemas.microsoft.com/office/drawing/2014/main" id="{1BD25F33-D185-4297-B22C-B8C72689D4B5}"/>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Design a smart greenhouse controller. Name two inputs, one processing decision and two outputs.</a:t>
            </a:r>
          </a:p>
        </p:txBody>
      </p:sp>
      <p:sp>
        <p:nvSpPr>
          <p:cNvPr id="7" name="extension-follow">
            <a:extLst xmlns:a="http://schemas.openxmlformats.org/drawingml/2006/main">
              <a:ext uri="{FF2B5EF4-FFF2-40B4-BE49-F238E27FC236}">
                <a16:creationId xmlns:a16="http://schemas.microsoft.com/office/drawing/2014/main" id="{C4FB574D-22C3-4AB6-8B70-0F7B0C06AF5D}"/>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Explain why your controller is an embedded system.</a:t>
            </a:r>
          </a:p>
        </p:txBody>
      </p:sp>
    </p:spTree>
    <p:extLst>
      <p:ext uri="{BB962C8B-B14F-4D97-AF65-F5344CB8AC3E}">
        <p14:creationId xmlns:p14="http://schemas.microsoft.com/office/powerpoint/2010/main" val="6819029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4BD634A7-CD0D-4EB3-917A-5E1B2A64FD9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8611DFDA-17DE-4B60-9F88-057820B59A6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EXTENSION</a:t>
            </a:r>
          </a:p>
        </p:txBody>
      </p:sp>
      <p:sp>
        <p:nvSpPr>
          <p:cNvPr id="3" name="heading">
            <a:extLst xmlns:a="http://schemas.openxmlformats.org/drawingml/2006/main">
              <a:ext uri="{FF2B5EF4-FFF2-40B4-BE49-F238E27FC236}">
                <a16:creationId xmlns:a16="http://schemas.microsoft.com/office/drawing/2014/main" id="{2DBF757B-031F-4C26-8DA4-97FAA573682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29ff1377a65486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8396E749-D684-4EE5-86C7-3098BCF4590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19</a:t>
            </a:r>
          </a:p>
        </p:txBody>
      </p:sp>
      <p:sp>
        <p:nvSpPr>
          <p:cNvPr id="6" name="extension-two">
            <a:extLst xmlns:a="http://schemas.openxmlformats.org/drawingml/2006/main">
              <a:ext uri="{FF2B5EF4-FFF2-40B4-BE49-F238E27FC236}">
                <a16:creationId xmlns:a16="http://schemas.microsoft.com/office/drawing/2014/main" id="{4AB42569-09D5-4DEC-BD0E-990F5979A653}"/>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A tablet controls a washing machine through an app. Which device contains an embedded system? Explain using the range of tasks each device can run.</a:t>
            </a:r>
          </a:p>
        </p:txBody>
      </p:sp>
    </p:spTree>
    <p:extLst>
      <p:ext uri="{BB962C8B-B14F-4D97-AF65-F5344CB8AC3E}">
        <p14:creationId xmlns:p14="http://schemas.microsoft.com/office/powerpoint/2010/main" val="854781400"/>
      </p:ext>
    </p:extLst>
  </p:cSld>
</p:sld>
</file>

<file path=ppt/slides/slide10.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52E1C02A-BF8E-41EA-A9A8-B524253DD1F9}"/>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D1080D6-6628-49D7-98B1-AB7CDC13D6D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3" name="heading">
            <a:extLst xmlns:a="http://schemas.openxmlformats.org/drawingml/2006/main">
              <a:ext uri="{FF2B5EF4-FFF2-40B4-BE49-F238E27FC236}">
                <a16:creationId xmlns:a16="http://schemas.microsoft.com/office/drawing/2014/main" id="{01F6DC0F-1C9C-41F6-8561-ABEBC87E6EC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58315e1de0c474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0B49C6D-6597-4D1F-896A-077BBD93F73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19</a:t>
            </a:r>
          </a:p>
        </p:txBody>
      </p:sp>
      <p:sp>
        <p:nvSpPr>
          <p:cNvPr id="6" name="extension-check">
            <a:extLst xmlns:a="http://schemas.openxmlformats.org/drawingml/2006/main">
              <a:ext uri="{FF2B5EF4-FFF2-40B4-BE49-F238E27FC236}">
                <a16:creationId xmlns:a16="http://schemas.microsoft.com/office/drawing/2014/main" id="{1A3DC8CD-DBFA-4E55-BC69-616F691803F8}"/>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7" name="answer-application">
            <a:extLst xmlns:a="http://schemas.openxmlformats.org/drawingml/2006/main">
              <a:ext uri="{FF2B5EF4-FFF2-40B4-BE49-F238E27FC236}">
                <a16:creationId xmlns:a16="http://schemas.microsoft.com/office/drawing/2014/main" id="{A1B9E558-8910-49BF-9FC2-E4E8F03443D3}"/>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8" name="answer-application-body">
            <a:extLst xmlns:a="http://schemas.openxmlformats.org/drawingml/2006/main">
              <a:ext uri="{FF2B5EF4-FFF2-40B4-BE49-F238E27FC236}">
                <a16:creationId xmlns:a16="http://schemas.microsoft.com/office/drawing/2014/main" id="{0EB38F5B-0F4A-4D33-8EBC-BFDBD066ADF6}"/>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Inputs could be soil moisture and temperature. The controller compares readings with limits, then switches a pump and fan. It has a dedicated job.</a:t>
            </a:r>
          </a:p>
        </p:txBody>
      </p:sp>
      <p:sp>
        <p:nvSpPr>
          <p:cNvPr id="9" name="answer-stretch">
            <a:extLst xmlns:a="http://schemas.openxmlformats.org/drawingml/2006/main">
              <a:ext uri="{FF2B5EF4-FFF2-40B4-BE49-F238E27FC236}">
                <a16:creationId xmlns:a16="http://schemas.microsoft.com/office/drawing/2014/main" id="{ABF6B2A5-877C-42EB-BBF1-3D3BF495D685}"/>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10" name="answer-stretch-body">
            <a:extLst xmlns:a="http://schemas.openxmlformats.org/drawingml/2006/main">
              <a:ext uri="{FF2B5EF4-FFF2-40B4-BE49-F238E27FC236}">
                <a16:creationId xmlns:a16="http://schemas.microsoft.com/office/drawing/2014/main" id="{E1F5ADB9-57E6-4AD0-A648-F3050063BFE4}"/>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The washing machine contains an embedded controller for wash functions. The tablet runs many apps, so it is general purpose.</a:t>
            </a:r>
          </a:p>
        </p:txBody>
      </p:sp>
    </p:spTree>
    <p:extLst>
      <p:ext uri="{BB962C8B-B14F-4D97-AF65-F5344CB8AC3E}">
        <p14:creationId xmlns:p14="http://schemas.microsoft.com/office/powerpoint/2010/main" val="1114745263"/>
      </p:ext>
    </p:extLst>
  </p:cSld>
</p:sld>
</file>

<file path=ppt/slides/slide11.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7F7F8793-87B1-4EC6-81DD-AEBF6EBE6AD0}"/>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AC66538-853F-4D2A-B018-6A002C86A96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ANSWERS</a:t>
            </a:r>
          </a:p>
        </p:txBody>
      </p:sp>
      <p:sp>
        <p:nvSpPr>
          <p:cNvPr id="3" name="heading">
            <a:extLst xmlns:a="http://schemas.openxmlformats.org/drawingml/2006/main">
              <a:ext uri="{FF2B5EF4-FFF2-40B4-BE49-F238E27FC236}">
                <a16:creationId xmlns:a16="http://schemas.microsoft.com/office/drawing/2014/main" id="{962B840B-A78D-4AE6-B5BA-26CB8F78079D}"/>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cd01c1f9eb24c9c"/>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D7676E5-A4F3-43FB-A49D-01894EA2E4D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19</a:t>
            </a:r>
          </a:p>
        </p:txBody>
      </p:sp>
      <p:sp>
        <p:nvSpPr>
          <p:cNvPr id="6" name="check-stations">
            <a:extLst xmlns:a="http://schemas.openxmlformats.org/drawingml/2006/main">
              <a:ext uri="{FF2B5EF4-FFF2-40B4-BE49-F238E27FC236}">
                <a16:creationId xmlns:a16="http://schemas.microsoft.com/office/drawing/2014/main" id="{89F10698-5B64-4212-98BA-BC5F9A63F63E}"/>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0">
            <a:extLst xmlns:a="http://schemas.openxmlformats.org/drawingml/2006/main">
              <a:ext uri="{FF2B5EF4-FFF2-40B4-BE49-F238E27FC236}">
                <a16:creationId xmlns:a16="http://schemas.microsoft.com/office/drawing/2014/main" id="{F6C1288D-0880-4FC0-90A5-70C1388A40D6}"/>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What is an embedded system?</a:t>
            </a:r>
          </a:p>
        </p:txBody>
      </p:sp>
      <p:sp>
        <p:nvSpPr>
          <p:cNvPr id="8" name="station-answer-0">
            <a:extLst xmlns:a="http://schemas.openxmlformats.org/drawingml/2006/main">
              <a:ext uri="{FF2B5EF4-FFF2-40B4-BE49-F238E27FC236}">
                <a16:creationId xmlns:a16="http://schemas.microsoft.com/office/drawing/2014/main" id="{C7F53A93-DF49-4076-9CEE-0714B380C2A8}"/>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An embedded system is a computer built into a larger device for a dedicated function.</a:t>
            </a:r>
          </a:p>
        </p:txBody>
      </p:sp>
      <p:sp>
        <p:nvSpPr>
          <p:cNvPr id="9" name="station-name-1">
            <a:extLst xmlns:a="http://schemas.openxmlformats.org/drawingml/2006/main">
              <a:ext uri="{FF2B5EF4-FFF2-40B4-BE49-F238E27FC236}">
                <a16:creationId xmlns:a16="http://schemas.microsoft.com/office/drawing/2014/main" id="{E6B953D3-D869-498E-AC9F-6129ECFF29C5}"/>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Characteristics</a:t>
            </a:r>
          </a:p>
        </p:txBody>
      </p:sp>
      <p:sp>
        <p:nvSpPr>
          <p:cNvPr id="10" name="station-answer-1">
            <a:extLst xmlns:a="http://schemas.openxmlformats.org/drawingml/2006/main">
              <a:ext uri="{FF2B5EF4-FFF2-40B4-BE49-F238E27FC236}">
                <a16:creationId xmlns:a16="http://schemas.microsoft.com/office/drawing/2014/main" id="{84955458-D3B5-42E8-96ED-87F42AEFF5D6}"/>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Typical traits include a specific task, small size, low power use and reliability.</a:t>
            </a:r>
          </a:p>
        </p:txBody>
      </p:sp>
      <p:sp>
        <p:nvSpPr>
          <p:cNvPr id="11" name="station-name-2">
            <a:extLst xmlns:a="http://schemas.openxmlformats.org/drawingml/2006/main">
              <a:ext uri="{FF2B5EF4-FFF2-40B4-BE49-F238E27FC236}">
                <a16:creationId xmlns:a16="http://schemas.microsoft.com/office/drawing/2014/main" id="{CC339DC6-BBD0-4FC0-A711-2CD6DC5FD4E4}"/>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Embedded systems everywhere</a:t>
            </a:r>
          </a:p>
        </p:txBody>
      </p:sp>
      <p:sp>
        <p:nvSpPr>
          <p:cNvPr id="12" name="station-answer-2">
            <a:extLst xmlns:a="http://schemas.openxmlformats.org/drawingml/2006/main">
              <a:ext uri="{FF2B5EF4-FFF2-40B4-BE49-F238E27FC236}">
                <a16:creationId xmlns:a16="http://schemas.microsoft.com/office/drawing/2014/main" id="{23F859A5-A7D9-48B8-B7D9-15A99B4B9AAB}"/>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Examples include a thermostat, microwave, washing machine, doorbell and car brakes.</a:t>
            </a:r>
          </a:p>
        </p:txBody>
      </p:sp>
    </p:spTree>
    <p:extLst>
      <p:ext uri="{BB962C8B-B14F-4D97-AF65-F5344CB8AC3E}">
        <p14:creationId xmlns:p14="http://schemas.microsoft.com/office/powerpoint/2010/main" val="1559131224"/>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FE4D9191-38DF-4F14-B02D-221BF0833F8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24C08A8-3922-4220-BBCD-2B9C67D6EF4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ANSWERS</a:t>
            </a:r>
          </a:p>
        </p:txBody>
      </p:sp>
      <p:sp>
        <p:nvSpPr>
          <p:cNvPr id="3" name="heading">
            <a:extLst xmlns:a="http://schemas.openxmlformats.org/drawingml/2006/main">
              <a:ext uri="{FF2B5EF4-FFF2-40B4-BE49-F238E27FC236}">
                <a16:creationId xmlns:a16="http://schemas.microsoft.com/office/drawing/2014/main" id="{6D3F467B-C020-46D5-9F96-FE9BA4CB3516}"/>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23caecff0e0462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6E58BAF0-968C-4AE0-A7FF-1FDB845A2F2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19</a:t>
            </a:r>
          </a:p>
        </p:txBody>
      </p:sp>
      <p:sp>
        <p:nvSpPr>
          <p:cNvPr id="6" name="check-stations">
            <a:extLst xmlns:a="http://schemas.openxmlformats.org/drawingml/2006/main">
              <a:ext uri="{FF2B5EF4-FFF2-40B4-BE49-F238E27FC236}">
                <a16:creationId xmlns:a16="http://schemas.microsoft.com/office/drawing/2014/main" id="{E68F0647-E74C-4281-9D66-97523913CAB9}"/>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3">
            <a:extLst xmlns:a="http://schemas.openxmlformats.org/drawingml/2006/main">
              <a:ext uri="{FF2B5EF4-FFF2-40B4-BE49-F238E27FC236}">
                <a16:creationId xmlns:a16="http://schemas.microsoft.com/office/drawing/2014/main" id="{18547719-0C77-453D-9EB2-15BC7BFEB387}"/>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Input, process, output</a:t>
            </a:r>
          </a:p>
        </p:txBody>
      </p:sp>
      <p:sp>
        <p:nvSpPr>
          <p:cNvPr id="8" name="station-answer-3">
            <a:extLst xmlns:a="http://schemas.openxmlformats.org/drawingml/2006/main">
              <a:ext uri="{FF2B5EF4-FFF2-40B4-BE49-F238E27FC236}">
                <a16:creationId xmlns:a16="http://schemas.microsoft.com/office/drawing/2014/main" id="{E4238521-D66C-43D7-B93A-667D3EEFEC24}"/>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Washing machine: dial and sensor are inputs; microcontroller processes; motor, heater and display are outputs.</a:t>
            </a:r>
          </a:p>
        </p:txBody>
      </p:sp>
      <p:sp>
        <p:nvSpPr>
          <p:cNvPr id="9" name="station-name-4">
            <a:extLst xmlns:a="http://schemas.openxmlformats.org/drawingml/2006/main">
              <a:ext uri="{FF2B5EF4-FFF2-40B4-BE49-F238E27FC236}">
                <a16:creationId xmlns:a16="http://schemas.microsoft.com/office/drawing/2014/main" id="{48DCA5BB-BC98-4F98-ACF0-415B7CBCB1DD}"/>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Programming embedded systems</a:t>
            </a:r>
          </a:p>
        </p:txBody>
      </p:sp>
      <p:sp>
        <p:nvSpPr>
          <p:cNvPr id="10" name="station-answer-4">
            <a:extLst xmlns:a="http://schemas.openxmlformats.org/drawingml/2006/main">
              <a:ext uri="{FF2B5EF4-FFF2-40B4-BE49-F238E27FC236}">
                <a16:creationId xmlns:a16="http://schemas.microsoft.com/office/drawing/2014/main" id="{D0199658-499E-4F09-B885-A675D08EAF29}"/>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C and C++ are common because they control hardware efficiently. Firmware is the stored control program.</a:t>
            </a:r>
          </a:p>
        </p:txBody>
      </p:sp>
      <p:sp>
        <p:nvSpPr>
          <p:cNvPr id="11" name="station-name-5">
            <a:extLst xmlns:a="http://schemas.openxmlformats.org/drawingml/2006/main">
              <a:ext uri="{FF2B5EF4-FFF2-40B4-BE49-F238E27FC236}">
                <a16:creationId xmlns:a16="http://schemas.microsoft.com/office/drawing/2014/main" id="{A8EF086D-3B95-425F-B250-0518D1D72473}"/>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Embedded or general purpose?</a:t>
            </a:r>
          </a:p>
        </p:txBody>
      </p:sp>
      <p:sp>
        <p:nvSpPr>
          <p:cNvPr id="12" name="station-answer-5">
            <a:extLst xmlns:a="http://schemas.openxmlformats.org/drawingml/2006/main">
              <a:ext uri="{FF2B5EF4-FFF2-40B4-BE49-F238E27FC236}">
                <a16:creationId xmlns:a16="http://schemas.microsoft.com/office/drawing/2014/main" id="{839E040D-53D1-42E8-B4F9-CCF8F2216419}"/>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 laptop is general purpose and runs many apps; an anti-lock brake controller has a dedicated function.</a:t>
            </a:r>
          </a:p>
        </p:txBody>
      </p:sp>
    </p:spTree>
    <p:extLst>
      <p:ext uri="{BB962C8B-B14F-4D97-AF65-F5344CB8AC3E}">
        <p14:creationId xmlns:p14="http://schemas.microsoft.com/office/powerpoint/2010/main" val="664466033"/>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23" name="footer background">
            <a:extLst xmlns:a="http://schemas.openxmlformats.org/drawingml/2006/main">
              <a:ext uri="{FF2B5EF4-FFF2-40B4-BE49-F238E27FC236}">
                <a16:creationId xmlns:a16="http://schemas.microsoft.com/office/drawing/2014/main" id="{906721E6-7114-4131-A7DA-FA75DDF5AD23}"/>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9E7D79D8-C68B-47AF-8FD5-C37A2D8EF8A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3" name="heading">
            <a:extLst xmlns:a="http://schemas.openxmlformats.org/drawingml/2006/main">
              <a:ext uri="{FF2B5EF4-FFF2-40B4-BE49-F238E27FC236}">
                <a16:creationId xmlns:a16="http://schemas.microsoft.com/office/drawing/2014/main" id="{236D06E6-CE89-4702-8E19-4714E97FC73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315327ff1cef4b5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515046E9-7903-44AB-9302-4FF4168FFF71}"/>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19</a:t>
            </a:r>
          </a:p>
        </p:txBody>
      </p:sp>
      <p:sp>
        <p:nvSpPr>
          <p:cNvPr id="6" name="star-key">
            <a:extLst xmlns:a="http://schemas.openxmlformats.org/drawingml/2006/main">
              <a:ext uri="{FF2B5EF4-FFF2-40B4-BE49-F238E27FC236}">
                <a16:creationId xmlns:a16="http://schemas.microsoft.com/office/drawing/2014/main" id="{5B42BDFC-E84B-4640-909F-D6EF00C2A1B5}"/>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7" name="number-1">
            <a:extLst xmlns:a="http://schemas.openxmlformats.org/drawingml/2006/main">
              <a:ext uri="{FF2B5EF4-FFF2-40B4-BE49-F238E27FC236}">
                <a16:creationId xmlns:a16="http://schemas.microsoft.com/office/drawing/2014/main" id="{486AE22E-038E-4AA8-A622-0247B284320D}"/>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919B7340-96F8-4316-BCA4-6C576FCD3811}"/>
              </a:ext>
            </a:extLst>
          </p:cNvPr>
          <p:cNvSpPr>
            <a:spLocks xmlns:a="http://schemas.openxmlformats.org/drawingml/2006/main" noGrp="1"/>
          </p:cNvSpPr>
          <p:nvPr/>
        </p:nvSpPr>
        <p:spPr>
          <a:xfrm xmlns:a="http://schemas.openxmlformats.org/drawingml/2006/main">
            <a:off x="1352550" y="210502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Washing machine: embedded</a:t>
            </a:r>
          </a:p>
        </p:txBody>
      </p:sp>
      <p:sp>
        <p:nvSpPr>
          <p:cNvPr id="9" name="number-2">
            <a:extLst xmlns:a="http://schemas.openxmlformats.org/drawingml/2006/main">
              <a:ext uri="{FF2B5EF4-FFF2-40B4-BE49-F238E27FC236}">
                <a16:creationId xmlns:a16="http://schemas.microsoft.com/office/drawing/2014/main" id="{2409FEA2-25FE-4F75-A833-8352E97F49CD}"/>
              </a:ext>
            </a:extLst>
          </p:cNvPr>
          <p:cNvSpPr>
            <a:spLocks xmlns:a="http://schemas.openxmlformats.org/drawingml/2006/main" noGrp="1"/>
          </p:cNvSpPr>
          <p:nvPr/>
        </p:nvSpPr>
        <p:spPr>
          <a:xfrm xmlns:a="http://schemas.openxmlformats.org/drawingml/2006/main">
            <a:off x="723900" y="26098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6B8F045D-8023-4EA0-8F2D-A1D288D152D7}"/>
              </a:ext>
            </a:extLst>
          </p:cNvPr>
          <p:cNvSpPr>
            <a:spLocks xmlns:a="http://schemas.openxmlformats.org/drawingml/2006/main" noGrp="1"/>
          </p:cNvSpPr>
          <p:nvPr/>
        </p:nvSpPr>
        <p:spPr>
          <a:xfrm xmlns:a="http://schemas.openxmlformats.org/drawingml/2006/main">
            <a:off x="1352550" y="260985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Microwave oven: embedded</a:t>
            </a:r>
          </a:p>
        </p:txBody>
      </p:sp>
      <p:sp>
        <p:nvSpPr>
          <p:cNvPr id="11" name="number-3">
            <a:extLst xmlns:a="http://schemas.openxmlformats.org/drawingml/2006/main">
              <a:ext uri="{FF2B5EF4-FFF2-40B4-BE49-F238E27FC236}">
                <a16:creationId xmlns:a16="http://schemas.microsoft.com/office/drawing/2014/main" id="{C7CA8F59-660D-47D5-A800-FC3D15AF1005}"/>
              </a:ext>
            </a:extLst>
          </p:cNvPr>
          <p:cNvSpPr>
            <a:spLocks xmlns:a="http://schemas.openxmlformats.org/drawingml/2006/main" noGrp="1"/>
          </p:cNvSpPr>
          <p:nvPr/>
        </p:nvSpPr>
        <p:spPr>
          <a:xfrm xmlns:a="http://schemas.openxmlformats.org/drawingml/2006/main">
            <a:off x="723900" y="31146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D896C6C9-5706-4840-8D63-BBE9CE55E94B}"/>
              </a:ext>
            </a:extLst>
          </p:cNvPr>
          <p:cNvSpPr>
            <a:spLocks xmlns:a="http://schemas.openxmlformats.org/drawingml/2006/main" noGrp="1"/>
          </p:cNvSpPr>
          <p:nvPr/>
        </p:nvSpPr>
        <p:spPr>
          <a:xfrm xmlns:a="http://schemas.openxmlformats.org/drawingml/2006/main">
            <a:off x="1352550" y="311467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Traffic lights: embedded</a:t>
            </a:r>
          </a:p>
        </p:txBody>
      </p:sp>
      <p:sp>
        <p:nvSpPr>
          <p:cNvPr id="13" name="number-4">
            <a:extLst xmlns:a="http://schemas.openxmlformats.org/drawingml/2006/main">
              <a:ext uri="{FF2B5EF4-FFF2-40B4-BE49-F238E27FC236}">
                <a16:creationId xmlns:a16="http://schemas.microsoft.com/office/drawing/2014/main" id="{61F6C830-7B8B-4B2A-9CF1-1BE6F1007EE0}"/>
              </a:ext>
            </a:extLst>
          </p:cNvPr>
          <p:cNvSpPr>
            <a:spLocks xmlns:a="http://schemas.openxmlformats.org/drawingml/2006/main" noGrp="1"/>
          </p:cNvSpPr>
          <p:nvPr/>
        </p:nvSpPr>
        <p:spPr>
          <a:xfrm xmlns:a="http://schemas.openxmlformats.org/drawingml/2006/main">
            <a:off x="723900" y="3619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4.</a:t>
            </a:r>
          </a:p>
        </p:txBody>
      </p:sp>
      <p:sp>
        <p:nvSpPr>
          <p:cNvPr id="14" name="item-4">
            <a:extLst xmlns:a="http://schemas.openxmlformats.org/drawingml/2006/main">
              <a:ext uri="{FF2B5EF4-FFF2-40B4-BE49-F238E27FC236}">
                <a16:creationId xmlns:a16="http://schemas.microsoft.com/office/drawing/2014/main" id="{FF19769F-B5CE-4493-91C8-49C0430F184E}"/>
              </a:ext>
            </a:extLst>
          </p:cNvPr>
          <p:cNvSpPr>
            <a:spLocks xmlns:a="http://schemas.openxmlformats.org/drawingml/2006/main" noGrp="1"/>
          </p:cNvSpPr>
          <p:nvPr/>
        </p:nvSpPr>
        <p:spPr>
          <a:xfrm xmlns:a="http://schemas.openxmlformats.org/drawingml/2006/main">
            <a:off x="1352550" y="361950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Car anti-lock brakes: embedded</a:t>
            </a:r>
          </a:p>
        </p:txBody>
      </p:sp>
      <p:sp>
        <p:nvSpPr>
          <p:cNvPr id="15" name="number-5">
            <a:extLst xmlns:a="http://schemas.openxmlformats.org/drawingml/2006/main">
              <a:ext uri="{FF2B5EF4-FFF2-40B4-BE49-F238E27FC236}">
                <a16:creationId xmlns:a16="http://schemas.microsoft.com/office/drawing/2014/main" id="{10690B53-CB1C-497C-978F-C8A9958B17E1}"/>
              </a:ext>
            </a:extLst>
          </p:cNvPr>
          <p:cNvSpPr>
            <a:spLocks xmlns:a="http://schemas.openxmlformats.org/drawingml/2006/main" noGrp="1"/>
          </p:cNvSpPr>
          <p:nvPr/>
        </p:nvSpPr>
        <p:spPr>
          <a:xfrm xmlns:a="http://schemas.openxmlformats.org/drawingml/2006/main">
            <a:off x="723900" y="41243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5.</a:t>
            </a:r>
          </a:p>
        </p:txBody>
      </p:sp>
      <p:sp>
        <p:nvSpPr>
          <p:cNvPr id="16" name="item-5">
            <a:extLst xmlns:a="http://schemas.openxmlformats.org/drawingml/2006/main">
              <a:ext uri="{FF2B5EF4-FFF2-40B4-BE49-F238E27FC236}">
                <a16:creationId xmlns:a16="http://schemas.microsoft.com/office/drawing/2014/main" id="{8D8A13C7-BE8C-4EBF-B76F-E93E38063681}"/>
              </a:ext>
            </a:extLst>
          </p:cNvPr>
          <p:cNvSpPr>
            <a:spLocks xmlns:a="http://schemas.openxmlformats.org/drawingml/2006/main" noGrp="1"/>
          </p:cNvSpPr>
          <p:nvPr/>
        </p:nvSpPr>
        <p:spPr>
          <a:xfrm xmlns:a="http://schemas.openxmlformats.org/drawingml/2006/main">
            <a:off x="1352550" y="412432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Smart thermostat: embedded</a:t>
            </a:r>
          </a:p>
        </p:txBody>
      </p:sp>
      <p:sp>
        <p:nvSpPr>
          <p:cNvPr id="17" name="number-6">
            <a:extLst xmlns:a="http://schemas.openxmlformats.org/drawingml/2006/main">
              <a:ext uri="{FF2B5EF4-FFF2-40B4-BE49-F238E27FC236}">
                <a16:creationId xmlns:a16="http://schemas.microsoft.com/office/drawing/2014/main" id="{8B97E4CA-D686-4029-AFBA-D8D0C6E5A94A}"/>
              </a:ext>
            </a:extLst>
          </p:cNvPr>
          <p:cNvSpPr>
            <a:spLocks xmlns:a="http://schemas.openxmlformats.org/drawingml/2006/main" noGrp="1"/>
          </p:cNvSpPr>
          <p:nvPr/>
        </p:nvSpPr>
        <p:spPr>
          <a:xfrm xmlns:a="http://schemas.openxmlformats.org/drawingml/2006/main">
            <a:off x="723900" y="4629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6.</a:t>
            </a:r>
          </a:p>
        </p:txBody>
      </p:sp>
      <p:sp>
        <p:nvSpPr>
          <p:cNvPr id="18" name="item-6">
            <a:extLst xmlns:a="http://schemas.openxmlformats.org/drawingml/2006/main">
              <a:ext uri="{FF2B5EF4-FFF2-40B4-BE49-F238E27FC236}">
                <a16:creationId xmlns:a16="http://schemas.microsoft.com/office/drawing/2014/main" id="{98C8DE22-87F0-46A0-A9CB-644E918ADE49}"/>
              </a:ext>
            </a:extLst>
          </p:cNvPr>
          <p:cNvSpPr>
            <a:spLocks xmlns:a="http://schemas.openxmlformats.org/drawingml/2006/main" noGrp="1"/>
          </p:cNvSpPr>
          <p:nvPr/>
        </p:nvSpPr>
        <p:spPr>
          <a:xfrm xmlns:a="http://schemas.openxmlformats.org/drawingml/2006/main">
            <a:off x="1352550" y="462915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Laptop: general purpose</a:t>
            </a:r>
          </a:p>
        </p:txBody>
      </p:sp>
      <p:sp>
        <p:nvSpPr>
          <p:cNvPr id="19" name="number-7">
            <a:extLst xmlns:a="http://schemas.openxmlformats.org/drawingml/2006/main">
              <a:ext uri="{FF2B5EF4-FFF2-40B4-BE49-F238E27FC236}">
                <a16:creationId xmlns:a16="http://schemas.microsoft.com/office/drawing/2014/main" id="{5399FCF3-48F9-49D9-ACD9-9785F67795AB}"/>
              </a:ext>
            </a:extLst>
          </p:cNvPr>
          <p:cNvSpPr>
            <a:spLocks xmlns:a="http://schemas.openxmlformats.org/drawingml/2006/main" noGrp="1"/>
          </p:cNvSpPr>
          <p:nvPr/>
        </p:nvSpPr>
        <p:spPr>
          <a:xfrm xmlns:a="http://schemas.openxmlformats.org/drawingml/2006/main">
            <a:off x="723900" y="51339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7.</a:t>
            </a:r>
          </a:p>
        </p:txBody>
      </p:sp>
      <p:sp>
        <p:nvSpPr>
          <p:cNvPr id="20" name="item-7">
            <a:extLst xmlns:a="http://schemas.openxmlformats.org/drawingml/2006/main">
              <a:ext uri="{FF2B5EF4-FFF2-40B4-BE49-F238E27FC236}">
                <a16:creationId xmlns:a16="http://schemas.microsoft.com/office/drawing/2014/main" id="{8F3EF134-9F9E-4982-814B-6BCC1C4BD4AD}"/>
              </a:ext>
            </a:extLst>
          </p:cNvPr>
          <p:cNvSpPr>
            <a:spLocks xmlns:a="http://schemas.openxmlformats.org/drawingml/2006/main" noGrp="1"/>
          </p:cNvSpPr>
          <p:nvPr/>
        </p:nvSpPr>
        <p:spPr>
          <a:xfrm xmlns:a="http://schemas.openxmlformats.org/drawingml/2006/main">
            <a:off x="1352550" y="5133975"/>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Desktop PC: general purpose</a:t>
            </a:r>
          </a:p>
        </p:txBody>
      </p:sp>
      <p:sp>
        <p:nvSpPr>
          <p:cNvPr id="21" name="number-8">
            <a:extLst xmlns:a="http://schemas.openxmlformats.org/drawingml/2006/main">
              <a:ext uri="{FF2B5EF4-FFF2-40B4-BE49-F238E27FC236}">
                <a16:creationId xmlns:a16="http://schemas.microsoft.com/office/drawing/2014/main" id="{30429FC4-BF11-4817-9911-88BCB9BAD6DA}"/>
              </a:ext>
            </a:extLst>
          </p:cNvPr>
          <p:cNvSpPr>
            <a:spLocks xmlns:a="http://schemas.openxmlformats.org/drawingml/2006/main" noGrp="1"/>
          </p:cNvSpPr>
          <p:nvPr/>
        </p:nvSpPr>
        <p:spPr>
          <a:xfrm xmlns:a="http://schemas.openxmlformats.org/drawingml/2006/main">
            <a:off x="723900" y="56388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8.</a:t>
            </a:r>
          </a:p>
        </p:txBody>
      </p:sp>
      <p:sp>
        <p:nvSpPr>
          <p:cNvPr id="22" name="item-8">
            <a:extLst xmlns:a="http://schemas.openxmlformats.org/drawingml/2006/main">
              <a:ext uri="{FF2B5EF4-FFF2-40B4-BE49-F238E27FC236}">
                <a16:creationId xmlns:a16="http://schemas.microsoft.com/office/drawing/2014/main" id="{06A4CA84-767B-4C7B-8BD4-5F8530A539DF}"/>
              </a:ext>
            </a:extLst>
          </p:cNvPr>
          <p:cNvSpPr>
            <a:spLocks xmlns:a="http://schemas.openxmlformats.org/drawingml/2006/main" noGrp="1"/>
          </p:cNvSpPr>
          <p:nvPr/>
        </p:nvSpPr>
        <p:spPr>
          <a:xfrm xmlns:a="http://schemas.openxmlformats.org/drawingml/2006/main">
            <a:off x="1352550" y="5638800"/>
            <a:ext cx="9925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Tablet running apps: general purpose</a:t>
            </a:r>
          </a:p>
        </p:txBody>
      </p:sp>
    </p:spTree>
    <p:extLst>
      <p:ext uri="{BB962C8B-B14F-4D97-AF65-F5344CB8AC3E}">
        <p14:creationId xmlns:p14="http://schemas.microsoft.com/office/powerpoint/2010/main" val="181708676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74462CEB-4FE1-4DF1-B3FC-400A6A4CCAB1}"/>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73E1C99E-7E88-475C-83E0-E3CC30104F4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PLENARY</a:t>
            </a:r>
          </a:p>
        </p:txBody>
      </p:sp>
      <p:sp>
        <p:nvSpPr>
          <p:cNvPr id="3" name="heading">
            <a:extLst xmlns:a="http://schemas.openxmlformats.org/drawingml/2006/main">
              <a:ext uri="{FF2B5EF4-FFF2-40B4-BE49-F238E27FC236}">
                <a16:creationId xmlns:a16="http://schemas.microsoft.com/office/drawing/2014/main" id="{B65B94A0-57D9-4559-8161-A5CED86A843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66ee28205d541d0"/>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343AB125-776F-453A-A2CA-F529DE05CA6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19</a:t>
            </a:r>
          </a:p>
        </p:txBody>
      </p:sp>
      <p:sp>
        <p:nvSpPr>
          <p:cNvPr id="6" name="plenary-instruction">
            <a:extLst xmlns:a="http://schemas.openxmlformats.org/drawingml/2006/main">
              <a:ext uri="{FF2B5EF4-FFF2-40B4-BE49-F238E27FC236}">
                <a16:creationId xmlns:a16="http://schemas.microsoft.com/office/drawing/2014/main" id="{3CBE1369-8724-4181-873F-49E3E9AAD0F1}"/>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7" name="a">
            <a:extLst xmlns:a="http://schemas.openxmlformats.org/drawingml/2006/main">
              <a:ext uri="{FF2B5EF4-FFF2-40B4-BE49-F238E27FC236}">
                <a16:creationId xmlns:a16="http://schemas.microsoft.com/office/drawing/2014/main" id="{95A9CBDF-6230-4C38-83CE-F60712AB8836}"/>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8" name="question-a">
            <a:extLst xmlns:a="http://schemas.openxmlformats.org/drawingml/2006/main">
              <a:ext uri="{FF2B5EF4-FFF2-40B4-BE49-F238E27FC236}">
                <a16:creationId xmlns:a16="http://schemas.microsoft.com/office/drawing/2014/main" id="{3F51F8BB-45DA-4E3D-B5A0-FA5B8989C458}"/>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Name an embedded system and explain why it is described as a computer. [3]</a:t>
            </a:r>
          </a:p>
        </p:txBody>
      </p:sp>
      <p:sp>
        <p:nvSpPr>
          <p:cNvPr id="9" name="b">
            <a:extLst xmlns:a="http://schemas.openxmlformats.org/drawingml/2006/main">
              <a:ext uri="{FF2B5EF4-FFF2-40B4-BE49-F238E27FC236}">
                <a16:creationId xmlns:a16="http://schemas.microsoft.com/office/drawing/2014/main" id="{B9743382-5BD4-46C9-9DE1-82FA2D3A1217}"/>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10" name="question-b">
            <a:extLst xmlns:a="http://schemas.openxmlformats.org/drawingml/2006/main">
              <a:ext uri="{FF2B5EF4-FFF2-40B4-BE49-F238E27FC236}">
                <a16:creationId xmlns:a16="http://schemas.microsoft.com/office/drawing/2014/main" id="{79D29432-EA2A-4F17-8947-28F8AC9D0384}"/>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Describe two characteristics of embedded systems. [4]</a:t>
            </a:r>
          </a:p>
        </p:txBody>
      </p:sp>
    </p:spTree>
    <p:extLst>
      <p:ext uri="{BB962C8B-B14F-4D97-AF65-F5344CB8AC3E}">
        <p14:creationId xmlns:p14="http://schemas.microsoft.com/office/powerpoint/2010/main" val="10276595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A8A098CF-1753-4140-AFAA-EE3C762EA743}"/>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05E8573-8BC9-44F0-B258-59768CDF874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PLENARY</a:t>
            </a:r>
          </a:p>
        </p:txBody>
      </p:sp>
      <p:sp>
        <p:nvSpPr>
          <p:cNvPr id="3" name="heading">
            <a:extLst xmlns:a="http://schemas.openxmlformats.org/drawingml/2006/main">
              <a:ext uri="{FF2B5EF4-FFF2-40B4-BE49-F238E27FC236}">
                <a16:creationId xmlns:a16="http://schemas.microsoft.com/office/drawing/2014/main" id="{F21D1B00-6C00-423A-B732-7C51366578D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0014724810d4d4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237E600-9053-4C0F-8AB2-6756FA9CCBA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19</a:t>
            </a:r>
          </a:p>
        </p:txBody>
      </p:sp>
      <p:sp>
        <p:nvSpPr>
          <p:cNvPr id="6" name="from-memory">
            <a:extLst xmlns:a="http://schemas.openxmlformats.org/drawingml/2006/main">
              <a:ext uri="{FF2B5EF4-FFF2-40B4-BE49-F238E27FC236}">
                <a16:creationId xmlns:a16="http://schemas.microsoft.com/office/drawing/2014/main" id="{D15E82D9-E7B1-4A4C-8E09-FCF0463DF09E}"/>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7" name="c">
            <a:extLst xmlns:a="http://schemas.openxmlformats.org/drawingml/2006/main">
              <a:ext uri="{FF2B5EF4-FFF2-40B4-BE49-F238E27FC236}">
                <a16:creationId xmlns:a16="http://schemas.microsoft.com/office/drawing/2014/main" id="{0DF83039-1EF1-47A7-BFB9-B2E0F72E9994}"/>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8" name="question-c">
            <a:extLst xmlns:a="http://schemas.openxmlformats.org/drawingml/2006/main">
              <a:ext uri="{FF2B5EF4-FFF2-40B4-BE49-F238E27FC236}">
                <a16:creationId xmlns:a16="http://schemas.microsoft.com/office/drawing/2014/main" id="{74EFE00A-29EE-46A4-B801-7473D3C35BC5}"/>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Explain why a laptop is not an embedded system. [2]</a:t>
            </a:r>
          </a:p>
        </p:txBody>
      </p:sp>
      <p:sp>
        <p:nvSpPr>
          <p:cNvPr id="9" name="marks">
            <a:extLst xmlns:a="http://schemas.openxmlformats.org/drawingml/2006/main">
              <a:ext uri="{FF2B5EF4-FFF2-40B4-BE49-F238E27FC236}">
                <a16:creationId xmlns:a16="http://schemas.microsoft.com/office/drawing/2014/main" id="{A44E8F17-6A91-4A79-97F5-AA2D50AE1AB7}"/>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117532588"/>
      </p:ext>
    </p:extLst>
  </p:cSld>
</p:sld>
</file>

<file path=ppt/slides/slide1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footer background">
            <a:extLst xmlns:a="http://schemas.openxmlformats.org/drawingml/2006/main">
              <a:ext uri="{FF2B5EF4-FFF2-40B4-BE49-F238E27FC236}">
                <a16:creationId xmlns:a16="http://schemas.microsoft.com/office/drawing/2014/main" id="{0DDE76AC-E437-43E5-AC25-7C78CB999CA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320C72C6-19EB-4FBE-95EA-C5D41304DBC3}"/>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3" name="heading">
            <a:extLst xmlns:a="http://schemas.openxmlformats.org/drawingml/2006/main">
              <a:ext uri="{FF2B5EF4-FFF2-40B4-BE49-F238E27FC236}">
                <a16:creationId xmlns:a16="http://schemas.microsoft.com/office/drawing/2014/main" id="{751AF8BC-D128-4452-ACC4-F2AAEDB10B7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ef467e886834023"/>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190284E-080B-498A-8754-E9778B48E8C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19</a:t>
            </a:r>
          </a:p>
        </p:txBody>
      </p:sp>
      <p:sp>
        <p:nvSpPr>
          <p:cNvPr id="6" name="scheme-intro">
            <a:extLst xmlns:a="http://schemas.openxmlformats.org/drawingml/2006/main">
              <a:ext uri="{FF2B5EF4-FFF2-40B4-BE49-F238E27FC236}">
                <a16:creationId xmlns:a16="http://schemas.microsoft.com/office/drawing/2014/main" id="{E5A6A01A-2A71-4E4B-9C01-EC120DF00B8B}"/>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7" name="scheme-a">
            <a:extLst xmlns:a="http://schemas.openxmlformats.org/drawingml/2006/main">
              <a:ext uri="{FF2B5EF4-FFF2-40B4-BE49-F238E27FC236}">
                <a16:creationId xmlns:a16="http://schemas.microsoft.com/office/drawing/2014/main" id="{F996ACBD-767A-44B6-A102-4DB9D9EF1C12}"/>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Example: a washing machine has a microcontroller that reads sensors or dial settings, processes them and controls the motor or heater.</a:t>
            </a:r>
          </a:p>
        </p:txBody>
      </p:sp>
      <p:sp>
        <p:nvSpPr>
          <p:cNvPr id="8" name="scheme-b">
            <a:extLst xmlns:a="http://schemas.openxmlformats.org/drawingml/2006/main">
              <a:ext uri="{FF2B5EF4-FFF2-40B4-BE49-F238E27FC236}">
                <a16:creationId xmlns:a16="http://schemas.microsoft.com/office/drawing/2014/main" id="{C3F4422A-87AE-479A-88A7-2E52AA1CA192}"/>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Examples: a dedicated function; built into a larger device; often small or low power; designed for reliability. Describe two, with a detail for each.</a:t>
            </a:r>
          </a:p>
        </p:txBody>
      </p:sp>
    </p:spTree>
    <p:extLst>
      <p:ext uri="{BB962C8B-B14F-4D97-AF65-F5344CB8AC3E}">
        <p14:creationId xmlns:p14="http://schemas.microsoft.com/office/powerpoint/2010/main" val="656039994"/>
      </p:ext>
    </p:extLst>
  </p:cSld>
</p:sld>
</file>

<file path=ppt/slides/slide17.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B9069385-63A3-4286-A332-3816E532CE5C}"/>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4ABC51B-6C98-4B42-B3E8-8B09A8084EE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CHECK</a:t>
            </a:r>
          </a:p>
        </p:txBody>
      </p:sp>
      <p:sp>
        <p:nvSpPr>
          <p:cNvPr id="3" name="heading">
            <a:extLst xmlns:a="http://schemas.openxmlformats.org/drawingml/2006/main">
              <a:ext uri="{FF2B5EF4-FFF2-40B4-BE49-F238E27FC236}">
                <a16:creationId xmlns:a16="http://schemas.microsoft.com/office/drawing/2014/main" id="{82CC8F89-72A2-4546-9E13-1BD879D25FCD}"/>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bc59ad09ee3435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651BBBF9-A629-483C-BB98-A28212DE3B01}"/>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19</a:t>
            </a:r>
          </a:p>
        </p:txBody>
      </p:sp>
      <p:sp>
        <p:nvSpPr>
          <p:cNvPr id="6" name="scheme-intro">
            <a:extLst xmlns:a="http://schemas.openxmlformats.org/drawingml/2006/main">
              <a:ext uri="{FF2B5EF4-FFF2-40B4-BE49-F238E27FC236}">
                <a16:creationId xmlns:a16="http://schemas.microsoft.com/office/drawing/2014/main" id="{69B74AF7-A2EF-41D4-8C3A-BA470906520F}"/>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7" name="number-1">
            <a:extLst xmlns:a="http://schemas.openxmlformats.org/drawingml/2006/main">
              <a:ext uri="{FF2B5EF4-FFF2-40B4-BE49-F238E27FC236}">
                <a16:creationId xmlns:a16="http://schemas.microsoft.com/office/drawing/2014/main" id="{D5669B79-716C-4E4B-8028-262E462B408B}"/>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057BAB73-26AC-47D8-916F-DA5A308D2D3D}"/>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laptop is a general-purpose computer that can run many different programs.</a:t>
            </a:r>
          </a:p>
        </p:txBody>
      </p:sp>
      <p:sp>
        <p:nvSpPr>
          <p:cNvPr id="9" name="number-2">
            <a:extLst xmlns:a="http://schemas.openxmlformats.org/drawingml/2006/main">
              <a:ext uri="{FF2B5EF4-FFF2-40B4-BE49-F238E27FC236}">
                <a16:creationId xmlns:a16="http://schemas.microsoft.com/office/drawing/2014/main" id="{59B08B48-4139-4FFF-92CD-95BFF55A4403}"/>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63DEE454-AA96-4D57-95A7-CC3E44FEC09D}"/>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Its user can install software and change the tasks it performs. An embedded system has a dedicated function.</a:t>
            </a:r>
          </a:p>
        </p:txBody>
      </p:sp>
    </p:spTree>
    <p:extLst>
      <p:ext uri="{BB962C8B-B14F-4D97-AF65-F5344CB8AC3E}">
        <p14:creationId xmlns:p14="http://schemas.microsoft.com/office/powerpoint/2010/main" val="175321947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footer background">
            <a:extLst xmlns:a="http://schemas.openxmlformats.org/drawingml/2006/main">
              <a:ext uri="{FF2B5EF4-FFF2-40B4-BE49-F238E27FC236}">
                <a16:creationId xmlns:a16="http://schemas.microsoft.com/office/drawing/2014/main" id="{D5F7DCB9-0887-4C45-9972-D28191DAE4C9}"/>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D991F6E-B8DC-47AD-A2FF-BB68009EA4F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WORKSHEET</a:t>
            </a:r>
          </a:p>
        </p:txBody>
      </p:sp>
      <p:sp>
        <p:nvSpPr>
          <p:cNvPr id="3" name="heading">
            <a:extLst xmlns:a="http://schemas.openxmlformats.org/drawingml/2006/main">
              <a:ext uri="{FF2B5EF4-FFF2-40B4-BE49-F238E27FC236}">
                <a16:creationId xmlns:a16="http://schemas.microsoft.com/office/drawing/2014/main" id="{95AB7E6C-49CB-4DA3-BA3C-953C2DED3EA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Revision checklist</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be5c2b122da453d"/>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5B100AF1-8B8B-40D9-B2B2-6B0BDBDD862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19</a:t>
            </a:r>
          </a:p>
        </p:txBody>
      </p:sp>
      <p:sp>
        <p:nvSpPr>
          <p:cNvPr id="6" name="rag">
            <a:extLst xmlns:a="http://schemas.openxmlformats.org/drawingml/2006/main">
              <a:ext uri="{FF2B5EF4-FFF2-40B4-BE49-F238E27FC236}">
                <a16:creationId xmlns:a16="http://schemas.microsoft.com/office/drawing/2014/main" id="{72A3908E-AD22-4AD2-B7F9-161BA947C256}"/>
              </a:ext>
            </a:extLst>
          </p:cNvPr>
          <p:cNvSpPr>
            <a:spLocks xmlns:a="http://schemas.openxmlformats.org/drawingml/2006/main" noGrp="1"/>
          </p:cNvSpPr>
          <p:nvPr/>
        </p:nvSpPr>
        <p:spPr>
          <a:xfrm xmlns:a="http://schemas.openxmlformats.org/drawingml/2006/main">
            <a:off x="704850" y="15621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RAG each Topic 1.1 area on the Smart home worksheet.</a:t>
            </a:r>
          </a:p>
        </p:txBody>
      </p:sp>
      <p:sp>
        <p:nvSpPr>
          <p:cNvPr id="7" name="number-1">
            <a:extLst xmlns:a="http://schemas.openxmlformats.org/drawingml/2006/main">
              <a:ext uri="{FF2B5EF4-FFF2-40B4-BE49-F238E27FC236}">
                <a16:creationId xmlns:a16="http://schemas.microsoft.com/office/drawing/2014/main" id="{88EEB572-FA2E-4DB5-8967-2F61A0DE7774}"/>
              </a:ext>
            </a:extLst>
          </p:cNvPr>
          <p:cNvSpPr>
            <a:spLocks xmlns:a="http://schemas.openxmlformats.org/drawingml/2006/main" noGrp="1"/>
          </p:cNvSpPr>
          <p:nvPr/>
        </p:nvSpPr>
        <p:spPr>
          <a:xfrm xmlns:a="http://schemas.openxmlformats.org/drawingml/2006/main">
            <a:off x="723900" y="2324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57538541-C0CF-47D0-B88C-9C84081E4C91}"/>
              </a:ext>
            </a:extLst>
          </p:cNvPr>
          <p:cNvSpPr>
            <a:spLocks xmlns:a="http://schemas.openxmlformats.org/drawingml/2006/main" noGrp="1"/>
          </p:cNvSpPr>
          <p:nvPr/>
        </p:nvSpPr>
        <p:spPr>
          <a:xfrm xmlns:a="http://schemas.openxmlformats.org/drawingml/2006/main">
            <a:off x="1352550" y="2324100"/>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The purpose of the CPU and the fetch-execute cycle</a:t>
            </a:r>
          </a:p>
        </p:txBody>
      </p:sp>
      <p:sp>
        <p:nvSpPr>
          <p:cNvPr id="9" name="number-2">
            <a:extLst xmlns:a="http://schemas.openxmlformats.org/drawingml/2006/main">
              <a:ext uri="{FF2B5EF4-FFF2-40B4-BE49-F238E27FC236}">
                <a16:creationId xmlns:a16="http://schemas.microsoft.com/office/drawing/2014/main" id="{69E91EA1-D32D-429A-9EDD-D801D8AD9264}"/>
              </a:ext>
            </a:extLst>
          </p:cNvPr>
          <p:cNvSpPr>
            <a:spLocks xmlns:a="http://schemas.openxmlformats.org/drawingml/2006/main" noGrp="1"/>
          </p:cNvSpPr>
          <p:nvPr/>
        </p:nvSpPr>
        <p:spPr>
          <a:xfrm xmlns:a="http://schemas.openxmlformats.org/drawingml/2006/main">
            <a:off x="723900" y="30575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F28BB811-396F-48D2-B24E-0C4BE17409AB}"/>
              </a:ext>
            </a:extLst>
          </p:cNvPr>
          <p:cNvSpPr>
            <a:spLocks xmlns:a="http://schemas.openxmlformats.org/drawingml/2006/main" noGrp="1"/>
          </p:cNvSpPr>
          <p:nvPr/>
        </p:nvSpPr>
        <p:spPr>
          <a:xfrm xmlns:a="http://schemas.openxmlformats.org/drawingml/2006/main">
            <a:off x="1352550" y="3057525"/>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Common CPU components: ALU, CU, cache, registers</a:t>
            </a:r>
          </a:p>
        </p:txBody>
      </p:sp>
      <p:sp>
        <p:nvSpPr>
          <p:cNvPr id="11" name="number-3">
            <a:extLst xmlns:a="http://schemas.openxmlformats.org/drawingml/2006/main">
              <a:ext uri="{FF2B5EF4-FFF2-40B4-BE49-F238E27FC236}">
                <a16:creationId xmlns:a16="http://schemas.microsoft.com/office/drawing/2014/main" id="{28B0682E-6228-4D83-B48E-38E5289EC3D4}"/>
              </a:ext>
            </a:extLst>
          </p:cNvPr>
          <p:cNvSpPr>
            <a:spLocks xmlns:a="http://schemas.openxmlformats.org/drawingml/2006/main" noGrp="1"/>
          </p:cNvSpPr>
          <p:nvPr/>
        </p:nvSpPr>
        <p:spPr>
          <a:xfrm xmlns:a="http://schemas.openxmlformats.org/drawingml/2006/main">
            <a:off x="723900" y="3790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CB50EFD1-13C8-4118-B851-880003DC646B}"/>
              </a:ext>
            </a:extLst>
          </p:cNvPr>
          <p:cNvSpPr>
            <a:spLocks xmlns:a="http://schemas.openxmlformats.org/drawingml/2006/main" noGrp="1"/>
          </p:cNvSpPr>
          <p:nvPr/>
        </p:nvSpPr>
        <p:spPr>
          <a:xfrm xmlns:a="http://schemas.openxmlformats.org/drawingml/2006/main">
            <a:off x="1352550" y="3790950"/>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Von Neumann architecture: MAR, MDR, PC, accumulator</a:t>
            </a:r>
          </a:p>
        </p:txBody>
      </p:sp>
      <p:sp>
        <p:nvSpPr>
          <p:cNvPr id="13" name="number-4">
            <a:extLst xmlns:a="http://schemas.openxmlformats.org/drawingml/2006/main">
              <a:ext uri="{FF2B5EF4-FFF2-40B4-BE49-F238E27FC236}">
                <a16:creationId xmlns:a16="http://schemas.microsoft.com/office/drawing/2014/main" id="{36E93222-E3A8-4C8A-82EE-FA9EF048395A}"/>
              </a:ext>
            </a:extLst>
          </p:cNvPr>
          <p:cNvSpPr>
            <a:spLocks xmlns:a="http://schemas.openxmlformats.org/drawingml/2006/main" noGrp="1"/>
          </p:cNvSpPr>
          <p:nvPr/>
        </p:nvSpPr>
        <p:spPr>
          <a:xfrm xmlns:a="http://schemas.openxmlformats.org/drawingml/2006/main">
            <a:off x="723900" y="4524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4.</a:t>
            </a:r>
          </a:p>
        </p:txBody>
      </p:sp>
      <p:sp>
        <p:nvSpPr>
          <p:cNvPr id="14" name="item-4">
            <a:extLst xmlns:a="http://schemas.openxmlformats.org/drawingml/2006/main">
              <a:ext uri="{FF2B5EF4-FFF2-40B4-BE49-F238E27FC236}">
                <a16:creationId xmlns:a16="http://schemas.microsoft.com/office/drawing/2014/main" id="{582207EA-A58A-4EB9-9BEE-CC5FD8576ADD}"/>
              </a:ext>
            </a:extLst>
          </p:cNvPr>
          <p:cNvSpPr>
            <a:spLocks xmlns:a="http://schemas.openxmlformats.org/drawingml/2006/main" noGrp="1"/>
          </p:cNvSpPr>
          <p:nvPr/>
        </p:nvSpPr>
        <p:spPr>
          <a:xfrm xmlns:a="http://schemas.openxmlformats.org/drawingml/2006/main">
            <a:off x="1352550" y="4524375"/>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How clock speed, cache size and number of cores affect performance</a:t>
            </a:r>
          </a:p>
        </p:txBody>
      </p:sp>
      <p:sp>
        <p:nvSpPr>
          <p:cNvPr id="15" name="number-5">
            <a:extLst xmlns:a="http://schemas.openxmlformats.org/drawingml/2006/main">
              <a:ext uri="{FF2B5EF4-FFF2-40B4-BE49-F238E27FC236}">
                <a16:creationId xmlns:a16="http://schemas.microsoft.com/office/drawing/2014/main" id="{15B6BBE7-BDAA-413E-A151-D47F3B50C065}"/>
              </a:ext>
            </a:extLst>
          </p:cNvPr>
          <p:cNvSpPr>
            <a:spLocks xmlns:a="http://schemas.openxmlformats.org/drawingml/2006/main" noGrp="1"/>
          </p:cNvSpPr>
          <p:nvPr/>
        </p:nvSpPr>
        <p:spPr>
          <a:xfrm xmlns:a="http://schemas.openxmlformats.org/drawingml/2006/main">
            <a:off x="723900" y="52578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2D63FF"/>
                </a:solidFill>
                <a:latin typeface="DejaVu Sans"/>
                <a:ea typeface="DejaVu Sans"/>
                <a:cs typeface="DejaVu Sans"/>
              </a:defRPr>
            </a:pPr>
            <a:r>
              <a:rPr sz="1725" b="1">
                <a:solidFill>
                  <a:srgbClr val="2D63FF"/>
                </a:solidFill>
                <a:latin typeface="DejaVu Sans"/>
                <a:ea typeface="DejaVu Sans"/>
                <a:cs typeface="DejaVu Sans"/>
              </a:rPr>
              <a:t>5.</a:t>
            </a:r>
          </a:p>
        </p:txBody>
      </p:sp>
      <p:sp>
        <p:nvSpPr>
          <p:cNvPr id="16" name="item-5">
            <a:extLst xmlns:a="http://schemas.openxmlformats.org/drawingml/2006/main">
              <a:ext uri="{FF2B5EF4-FFF2-40B4-BE49-F238E27FC236}">
                <a16:creationId xmlns:a16="http://schemas.microsoft.com/office/drawing/2014/main" id="{B30281FF-9D7F-4168-BAAD-D9F1A9D5CDBE}"/>
              </a:ext>
            </a:extLst>
          </p:cNvPr>
          <p:cNvSpPr>
            <a:spLocks xmlns:a="http://schemas.openxmlformats.org/drawingml/2006/main" noGrp="1"/>
          </p:cNvSpPr>
          <p:nvPr/>
        </p:nvSpPr>
        <p:spPr>
          <a:xfrm xmlns:a="http://schemas.openxmlformats.org/drawingml/2006/main">
            <a:off x="1352550" y="5257800"/>
            <a:ext cx="99250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The purpose, characteristics and examples of embedded systems</a:t>
            </a:r>
          </a:p>
        </p:txBody>
      </p:sp>
    </p:spTree>
    <p:extLst>
      <p:ext uri="{BB962C8B-B14F-4D97-AF65-F5344CB8AC3E}">
        <p14:creationId xmlns:p14="http://schemas.microsoft.com/office/powerpoint/2010/main" val="141316178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2B306028-4A07-4F94-85F4-3F5B5CF3DE4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33BB5B6-4E17-463C-B1E7-9754D181D31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04   /   SELF-CHECK</a:t>
            </a:r>
          </a:p>
        </p:txBody>
      </p:sp>
      <p:sp>
        <p:nvSpPr>
          <p:cNvPr id="3" name="heading">
            <a:extLst xmlns:a="http://schemas.openxmlformats.org/drawingml/2006/main">
              <a:ext uri="{FF2B5EF4-FFF2-40B4-BE49-F238E27FC236}">
                <a16:creationId xmlns:a16="http://schemas.microsoft.com/office/drawing/2014/main" id="{4DD31535-D5A4-4A1C-B116-E4ED72C114B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f1e0535ec154ac1"/>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F8A31E1-616E-4771-A03E-BB5AE355942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19 / 19</a:t>
            </a:r>
          </a:p>
        </p:txBody>
      </p:sp>
      <p:sp>
        <p:nvSpPr>
          <p:cNvPr id="6" name="confidence-instruction">
            <a:extLst xmlns:a="http://schemas.openxmlformats.org/drawingml/2006/main">
              <a:ext uri="{FF2B5EF4-FFF2-40B4-BE49-F238E27FC236}">
                <a16:creationId xmlns:a16="http://schemas.microsoft.com/office/drawing/2014/main" id="{1B6A9F34-BA2A-4228-8508-6A5E1670A74B}"/>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7" name="number-1">
            <a:extLst xmlns:a="http://schemas.openxmlformats.org/drawingml/2006/main">
              <a:ext uri="{FF2B5EF4-FFF2-40B4-BE49-F238E27FC236}">
                <a16:creationId xmlns:a16="http://schemas.microsoft.com/office/drawing/2014/main" id="{6E5C1606-5828-49C5-B7B0-FDB086EE096F}"/>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3A4EB701-0BB4-4D87-BC99-04DCEC1AF226}"/>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What an embedded system is</a:t>
            </a:r>
          </a:p>
        </p:txBody>
      </p:sp>
      <p:sp>
        <p:nvSpPr>
          <p:cNvPr id="9" name="number-2">
            <a:extLst xmlns:a="http://schemas.openxmlformats.org/drawingml/2006/main">
              <a:ext uri="{FF2B5EF4-FFF2-40B4-BE49-F238E27FC236}">
                <a16:creationId xmlns:a16="http://schemas.microsoft.com/office/drawing/2014/main" id="{C5BDCE23-D730-4BDE-B264-5DC8F40E6060}"/>
              </a:ext>
            </a:extLst>
          </p:cNvPr>
          <p:cNvSpPr>
            <a:spLocks xmlns:a="http://schemas.openxmlformats.org/drawingml/2006/main" noGrp="1"/>
          </p:cNvSpPr>
          <p:nvPr/>
        </p:nvSpPr>
        <p:spPr>
          <a:xfrm xmlns:a="http://schemas.openxmlformats.org/drawingml/2006/main">
            <a:off x="723900" y="35242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157B7670-CBC8-4159-AB08-E407FBC9C4AF}"/>
              </a:ext>
            </a:extLst>
          </p:cNvPr>
          <p:cNvSpPr>
            <a:spLocks xmlns:a="http://schemas.openxmlformats.org/drawingml/2006/main" noGrp="1"/>
          </p:cNvSpPr>
          <p:nvPr/>
        </p:nvSpPr>
        <p:spPr>
          <a:xfrm xmlns:a="http://schemas.openxmlformats.org/drawingml/2006/main">
            <a:off x="1352550" y="35242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Examples of embedded systems</a:t>
            </a:r>
          </a:p>
        </p:txBody>
      </p:sp>
      <p:sp>
        <p:nvSpPr>
          <p:cNvPr id="11" name="number-3">
            <a:extLst xmlns:a="http://schemas.openxmlformats.org/drawingml/2006/main">
              <a:ext uri="{FF2B5EF4-FFF2-40B4-BE49-F238E27FC236}">
                <a16:creationId xmlns:a16="http://schemas.microsoft.com/office/drawing/2014/main" id="{22804782-F5E6-4D57-8391-76875FC72955}"/>
              </a:ext>
            </a:extLst>
          </p:cNvPr>
          <p:cNvSpPr>
            <a:spLocks xmlns:a="http://schemas.openxmlformats.org/drawingml/2006/main" noGrp="1"/>
          </p:cNvSpPr>
          <p:nvPr/>
        </p:nvSpPr>
        <p:spPr>
          <a:xfrm xmlns:a="http://schemas.openxmlformats.org/drawingml/2006/main">
            <a:off x="723900" y="4533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15BF52D8-7449-4500-A06E-FFC728F7A65B}"/>
              </a:ext>
            </a:extLst>
          </p:cNvPr>
          <p:cNvSpPr>
            <a:spLocks xmlns:a="http://schemas.openxmlformats.org/drawingml/2006/main" noGrp="1"/>
          </p:cNvSpPr>
          <p:nvPr/>
        </p:nvSpPr>
        <p:spPr>
          <a:xfrm xmlns:a="http://schemas.openxmlformats.org/drawingml/2006/main">
            <a:off x="1352550" y="45339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embedded systems take input, process and output</a:t>
            </a:r>
          </a:p>
        </p:txBody>
      </p:sp>
    </p:spTree>
    <p:extLst>
      <p:ext uri="{BB962C8B-B14F-4D97-AF65-F5344CB8AC3E}">
        <p14:creationId xmlns:p14="http://schemas.microsoft.com/office/powerpoint/2010/main" val="41493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2026-09-25T12:41:55.5560000Z</dcterms:created>
  <dcterms:modified xsi:type="dcterms:W3CDTF">2026-09-25T12:41:55.5560000Z</dcterms:modified>
</coreProperties>
</file>