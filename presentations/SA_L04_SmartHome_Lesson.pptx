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46c8acee11453b" /><Relationship Type="http://schemas.openxmlformats.org/officeDocument/2006/relationships/extended-properties" Target="/docProps/app.xml" Id="Rba02e4bc8fa841da" /><Relationship Type="http://schemas.openxmlformats.org/officeDocument/2006/relationships/officeDocument" Target="/ppt/presentation.xml" Id="R1ddf57dce6f345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7993bfef0c453d"/>
  </p:sldMasterIdLst>
  <p:notesMasterIdLst>
    <p:notesMasterId xmlns:r="http://schemas.openxmlformats.org/officeDocument/2006/relationships" r:id="R464b6ac809bc448e"/>
  </p:notesMasterIdLst>
  <p:sldIdLst>
    <p:sldId xmlns:r="http://schemas.openxmlformats.org/officeDocument/2006/relationships" id="256" r:id="R3d3530753d1e437c"/>
    <p:sldId xmlns:r="http://schemas.openxmlformats.org/officeDocument/2006/relationships" id="257" r:id="R88803f7efbae4c1e"/>
    <p:sldId xmlns:r="http://schemas.openxmlformats.org/officeDocument/2006/relationships" id="258" r:id="R2b2989bf23cf4f78"/>
    <p:sldId xmlns:r="http://schemas.openxmlformats.org/officeDocument/2006/relationships" id="259" r:id="R2188942fa7864ec8"/>
    <p:sldId xmlns:r="http://schemas.openxmlformats.org/officeDocument/2006/relationships" id="260" r:id="R8ffc17d41f9e4758"/>
    <p:sldId xmlns:r="http://schemas.openxmlformats.org/officeDocument/2006/relationships" id="261" r:id="R737c9d20c58d41c9"/>
    <p:sldId xmlns:r="http://schemas.openxmlformats.org/officeDocument/2006/relationships" id="262" r:id="Ra7fac6fc980546ca"/>
    <p:sldId xmlns:r="http://schemas.openxmlformats.org/officeDocument/2006/relationships" id="263" r:id="Rd46557a05f3d4350"/>
    <p:sldId xmlns:r="http://schemas.openxmlformats.org/officeDocument/2006/relationships" id="264" r:id="R25e657d7b6cc44d0"/>
    <p:sldId xmlns:r="http://schemas.openxmlformats.org/officeDocument/2006/relationships" id="265" r:id="R25b511cf01fe43fc"/>
    <p:sldId xmlns:r="http://schemas.openxmlformats.org/officeDocument/2006/relationships" id="266" r:id="R2cced970e49248de"/>
    <p:sldId xmlns:r="http://schemas.openxmlformats.org/officeDocument/2006/relationships" id="267" r:id="R14955ff76f464662"/>
    <p:sldId xmlns:r="http://schemas.openxmlformats.org/officeDocument/2006/relationships" id="268" r:id="Re9cac3d18db94726"/>
    <p:sldId xmlns:r="http://schemas.openxmlformats.org/officeDocument/2006/relationships" id="269" r:id="Re2bd96f09278453d"/>
    <p:sldId xmlns:r="http://schemas.openxmlformats.org/officeDocument/2006/relationships" id="270" r:id="R72ca8bd24dea4b3b"/>
    <p:sldId xmlns:r="http://schemas.openxmlformats.org/officeDocument/2006/relationships" id="271" r:id="R96886eb212b94bd8"/>
    <p:sldId xmlns:r="http://schemas.openxmlformats.org/officeDocument/2006/relationships" id="272" r:id="R0beeda79f21f41da"/>
    <p:sldId xmlns:r="http://schemas.openxmlformats.org/officeDocument/2006/relationships" id="273" r:id="Rccdb3c33bc8b4d2b"/>
    <p:sldId xmlns:r="http://schemas.openxmlformats.org/officeDocument/2006/relationships" id="274" r:id="R7ca73d0fd2f54441"/>
    <p:sldId xmlns:r="http://schemas.openxmlformats.org/officeDocument/2006/relationships" id="275" r:id="R3af2ea2e2d6b41b4"/>
    <p:sldId xmlns:r="http://schemas.openxmlformats.org/officeDocument/2006/relationships" id="276" r:id="R082a528af29d4b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b34a8bb9814a6d" /><Relationship Type="http://schemas.openxmlformats.org/officeDocument/2006/relationships/slideMaster" Target="/ppt/slideMasters/slideMaster1.xml" Id="Rfa7993bfef0c453d" /><Relationship Type="http://schemas.openxmlformats.org/officeDocument/2006/relationships/notesMaster" Target="/ppt/notesMasters/notesMaster1.xml" Id="R464b6ac809bc448e" /><Relationship Type="http://schemas.openxmlformats.org/officeDocument/2006/relationships/presProps" Target="/ppt/presProps.xml" Id="Rf918353dd7d34476" /><Relationship Type="http://schemas.openxmlformats.org/officeDocument/2006/relationships/tableStyles" Target="/ppt/tableStyles.xml" Id="Rc4268f94f0864b01" /><Relationship Type="http://schemas.openxmlformats.org/officeDocument/2006/relationships/slide" Target="/ppt/slides/slide1.xml" Id="R3d3530753d1e437c" /><Relationship Type="http://schemas.openxmlformats.org/officeDocument/2006/relationships/slide" Target="/ppt/slides/slide2.xml" Id="R88803f7efbae4c1e" /><Relationship Type="http://schemas.openxmlformats.org/officeDocument/2006/relationships/slide" Target="/ppt/slides/slide3.xml" Id="R2b2989bf23cf4f78" /><Relationship Type="http://schemas.openxmlformats.org/officeDocument/2006/relationships/slide" Target="/ppt/slides/slide4.xml" Id="R2188942fa7864ec8" /><Relationship Type="http://schemas.openxmlformats.org/officeDocument/2006/relationships/slide" Target="/ppt/slides/slide5.xml" Id="R8ffc17d41f9e4758" /><Relationship Type="http://schemas.openxmlformats.org/officeDocument/2006/relationships/slide" Target="/ppt/slides/slide6.xml" Id="R737c9d20c58d41c9" /><Relationship Type="http://schemas.openxmlformats.org/officeDocument/2006/relationships/slide" Target="/ppt/slides/slide7.xml" Id="Ra7fac6fc980546ca" /><Relationship Type="http://schemas.openxmlformats.org/officeDocument/2006/relationships/slide" Target="/ppt/slides/slide8.xml" Id="Rd46557a05f3d4350" /><Relationship Type="http://schemas.openxmlformats.org/officeDocument/2006/relationships/slide" Target="/ppt/slides/slide9.xml" Id="R25e657d7b6cc44d0" /><Relationship Type="http://schemas.openxmlformats.org/officeDocument/2006/relationships/slide" Target="/ppt/slides/slide10.xml" Id="R25b511cf01fe43fc" /><Relationship Type="http://schemas.openxmlformats.org/officeDocument/2006/relationships/slide" Target="/ppt/slides/slide11.xml" Id="R2cced970e49248de" /><Relationship Type="http://schemas.openxmlformats.org/officeDocument/2006/relationships/slide" Target="/ppt/slides/slide12.xml" Id="R14955ff76f464662" /><Relationship Type="http://schemas.openxmlformats.org/officeDocument/2006/relationships/slide" Target="/ppt/slides/slide13.xml" Id="Re9cac3d18db94726" /><Relationship Type="http://schemas.openxmlformats.org/officeDocument/2006/relationships/slide" Target="/ppt/slides/slide14.xml" Id="Re2bd96f09278453d" /><Relationship Type="http://schemas.openxmlformats.org/officeDocument/2006/relationships/slide" Target="/ppt/slides/slide15.xml" Id="R72ca8bd24dea4b3b" /><Relationship Type="http://schemas.openxmlformats.org/officeDocument/2006/relationships/slide" Target="/ppt/slides/slide16.xml" Id="R96886eb212b94bd8" /><Relationship Type="http://schemas.openxmlformats.org/officeDocument/2006/relationships/slide" Target="/ppt/slides/slide17.xml" Id="R0beeda79f21f41da" /><Relationship Type="http://schemas.openxmlformats.org/officeDocument/2006/relationships/slide" Target="/ppt/slides/slide18.xml" Id="Rccdb3c33bc8b4d2b" /><Relationship Type="http://schemas.openxmlformats.org/officeDocument/2006/relationships/slide" Target="/ppt/slides/slide19.xml" Id="R7ca73d0fd2f54441" /><Relationship Type="http://schemas.openxmlformats.org/officeDocument/2006/relationships/slide" Target="/ppt/slides/slide20.xml" Id="R3af2ea2e2d6b41b4" /><Relationship Type="http://schemas.openxmlformats.org/officeDocument/2006/relationships/slide" Target="/ppt/slides/slide21.xml" Id="R082a528af29d4b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c630c3d12e4d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91ec6212464130" /><Relationship Type="http://schemas.openxmlformats.org/officeDocument/2006/relationships/notesMaster" Target="/ppt/notesMasters/notesMaster1.xml" Id="R8b388b449eb840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fbb3a951344c32" /><Relationship Type="http://schemas.openxmlformats.org/officeDocument/2006/relationships/notesMaster" Target="/ppt/notesMasters/notesMaster1.xml" Id="R4d5b5df4ff5d46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28a598a3d546be" /><Relationship Type="http://schemas.openxmlformats.org/officeDocument/2006/relationships/notesMaster" Target="/ppt/notesMasters/notesMaster1.xml" Id="Rf7c3de0f81ea45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d92698394a4dbc" /><Relationship Type="http://schemas.openxmlformats.org/officeDocument/2006/relationships/notesMaster" Target="/ppt/notesMasters/notesMaster1.xml" Id="R1926d0a6b2604f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d78be6dc264289" /><Relationship Type="http://schemas.openxmlformats.org/officeDocument/2006/relationships/notesMaster" Target="/ppt/notesMasters/notesMaster1.xml" Id="R9bb2c450738846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e7c42497224239" /><Relationship Type="http://schemas.openxmlformats.org/officeDocument/2006/relationships/notesMaster" Target="/ppt/notesMasters/notesMaster1.xml" Id="R6d6fe524e6854c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4860c2c40c4915" /><Relationship Type="http://schemas.openxmlformats.org/officeDocument/2006/relationships/notesMaster" Target="/ppt/notesMasters/notesMaster1.xml" Id="R4e5fdee5a17842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c0169a6f40a40cb" /><Relationship Type="http://schemas.openxmlformats.org/officeDocument/2006/relationships/notesMaster" Target="/ppt/notesMasters/notesMaster1.xml" Id="R0b4a9b1aa0724f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21fe2e781a4c4c" /><Relationship Type="http://schemas.openxmlformats.org/officeDocument/2006/relationships/notesMaster" Target="/ppt/notesMasters/notesMaster1.xml" Id="R6caede0c3e3b44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edfb53912640f5" /><Relationship Type="http://schemas.openxmlformats.org/officeDocument/2006/relationships/notesMaster" Target="/ppt/notesMasters/notesMaster1.xml" Id="Rd807a90276ab4c3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f2f37176d249c7" /><Relationship Type="http://schemas.openxmlformats.org/officeDocument/2006/relationships/notesMaster" Target="/ppt/notesMasters/notesMaster1.xml" Id="R97acb6b2cf4249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47af5a5d47481a" /><Relationship Type="http://schemas.openxmlformats.org/officeDocument/2006/relationships/notesMaster" Target="/ppt/notesMasters/notesMaster1.xml" Id="R9ea1841a030c4f2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4a3dd928884d8c" /><Relationship Type="http://schemas.openxmlformats.org/officeDocument/2006/relationships/notesMaster" Target="/ppt/notesMasters/notesMaster1.xml" Id="R5bf3d3036063417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b44c456e54e4eb1" /><Relationship Type="http://schemas.openxmlformats.org/officeDocument/2006/relationships/notesMaster" Target="/ppt/notesMasters/notesMaster1.xml" Id="R6da2ee18dd184ff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74f971021b94b22" /><Relationship Type="http://schemas.openxmlformats.org/officeDocument/2006/relationships/notesMaster" Target="/ppt/notesMasters/notesMaster1.xml" Id="R8bd2028b0e574a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bfb08219074197" /><Relationship Type="http://schemas.openxmlformats.org/officeDocument/2006/relationships/notesMaster" Target="/ppt/notesMasters/notesMaster1.xml" Id="R74011f9b53e44ac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bdc553382ae4b18" /><Relationship Type="http://schemas.openxmlformats.org/officeDocument/2006/relationships/notesMaster" Target="/ppt/notesMasters/notesMaster1.xml" Id="R01b0a2b1a5ee473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e378558b3bd4f9d" /><Relationship Type="http://schemas.openxmlformats.org/officeDocument/2006/relationships/notesMaster" Target="/ppt/notesMasters/notesMaster1.xml" Id="Re53860149197473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ba0b082387d4189" /><Relationship Type="http://schemas.openxmlformats.org/officeDocument/2006/relationships/notesMaster" Target="/ppt/notesMasters/notesMaster1.xml" Id="Ra88fc91e29fb494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d6268cc49914a3c" /><Relationship Type="http://schemas.openxmlformats.org/officeDocument/2006/relationships/notesMaster" Target="/ppt/notesMasters/notesMaster1.xml" Id="Rfd1cd8b811d8444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98798f0fbe84dc0" /><Relationship Type="http://schemas.openxmlformats.org/officeDocument/2006/relationships/notesMaster" Target="/ppt/notesMasters/notesMaster1.xml" Id="R1f74485824ae46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picture shows a straight-on perspective view of the actual 360 experience opening scene. Students should keep the experience closed until slide 7.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outcomes with the class. They follow the wording of the lesson worksheet.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pupils to attempt the exact starter question printed on the worksheet. Take a few suggestions before showing the model answer.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write definitions from memory. These two terms are the worksheet’s exact key terminology entries, including the recap terms in Lesson 4.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sample answers to the exact worksheet starter question. Accept other correct examples and explanations.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Both term definitions are visible for pupils to correct their quiz. Reveal this slide after attempts.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first slide where students open the experience file. Leave it visible while they get set up. The link opens the matching experience.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image is a straight-on perspective view of stations 1 and 2 in the actual experience. Students should record the key fact and their own answer before selecting each badge.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Once students have reached the score screen, they copy the mark straight away. The key question is printed on the worksheet after the score box.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extension is optional and comes after the experience. Give students time to reason in full sentences.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slide up while the rest of the class finishes. Do not reveal station answers until pupils have completed the experience.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sample answers after early finishers have attempted the two extension prompts. These are examples rather than a single required wording.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concise answers to the worksheet station prompts, shared only after pupils complete the experience. Correct wording can vary.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concise answers to the worksheet station prompts, shared only after pupils complete the experience. Correct wording can vary.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answers follow the final challenge in the interactive experience and the worksheet. Students should correct their table before the exam questions.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exact exam-practice questions a and b from the worksheet. Give independent writing time before revealing the answers.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exact worksheet exam-practice question c. Let students answer independently.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classroom answer points, not an official OCR mark scheme. Ask students to improve one response in a different colour.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worksheet also asks pupils to classify parts of a washing machine as input, process or output. Ask them to justify ambiguous examples by the dedicated function. Ask students to revise one sentence after self-check.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revision checklist appears after exam practice on the Lesson 4 worksheet. Ask students to circle red, amber or green in each row.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the exact confidence objectives listed in the worksheet. Ask students to identify one item to revisit next time.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61aa473f9645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48879b137d4005" /><Relationship Type="http://schemas.openxmlformats.org/officeDocument/2006/relationships/slideLayout" Target="/ppt/slideLayouts/slideLayout1.xml" Id="R166d3fe7fed24d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6d3fe7fed24d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57ecf59504f18" /><Relationship Type="http://schemas.openxmlformats.org/officeDocument/2006/relationships/image" Target="/ppt/media/image.jpeg" Id="Rd7e4c4b6b47e44d5" /><Relationship Type="http://schemas.openxmlformats.org/officeDocument/2006/relationships/notesSlide" Target="/ppt/notesSlides/notesSlide1.xml" Id="R6f90adbe86e249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eec6cb8db4fba" /><Relationship Type="http://schemas.openxmlformats.org/officeDocument/2006/relationships/notesSlide" Target="/ppt/notesSlides/notesSlide2.xml" Id="Rfce362668ae04e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2a2c19560448c" /><Relationship Type="http://schemas.openxmlformats.org/officeDocument/2006/relationships/notesSlide" Target="/ppt/notesSlides/notesSlide3.xml" Id="Re1032331075149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edc8138cc40b1" /><Relationship Type="http://schemas.openxmlformats.org/officeDocument/2006/relationships/notesSlide" Target="/ppt/notesSlides/notesSlide4.xml" Id="R1e1076c1c7204b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5b6ff38f84135" /><Relationship Type="http://schemas.openxmlformats.org/officeDocument/2006/relationships/notesSlide" Target="/ppt/notesSlides/notesSlide5.xml" Id="R13062bf7acb447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52e134f994dd2" /><Relationship Type="http://schemas.openxmlformats.org/officeDocument/2006/relationships/notesSlide" Target="/ppt/notesSlides/notesSlide6.xml" Id="Re1a7787a909042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e6304c43e410e" /><Relationship Type="http://schemas.openxmlformats.org/officeDocument/2006/relationships/hyperlink" Target="https://mrp-cs.github.io/Revise360/experience.html?id=sa-l04" TargetMode="External" Id="Rb0367d41fc1043a0" /><Relationship Type="http://schemas.openxmlformats.org/officeDocument/2006/relationships/notesSlide" Target="/ppt/notesSlides/notesSlide7.xml" Id="Rbd3948f709f549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344913e4c453d" /><Relationship Type="http://schemas.openxmlformats.org/officeDocument/2006/relationships/image" Target="/ppt/media/image2.jpeg" Id="R8af19dffa4264c80" /><Relationship Type="http://schemas.openxmlformats.org/officeDocument/2006/relationships/notesSlide" Target="/ppt/notesSlides/notesSlide8.xml" Id="R419d8faedd084f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6f17172574ca0" /><Relationship Type="http://schemas.openxmlformats.org/officeDocument/2006/relationships/notesSlide" Target="/ppt/notesSlides/notesSlide9.xml" Id="Rb9b28490e29146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d8b30afbd4a30" /><Relationship Type="http://schemas.openxmlformats.org/officeDocument/2006/relationships/notesSlide" Target="/ppt/notesSlides/notesSlide10.xml" Id="R46d33fa64ebb4c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ac5dfe5a04f16" /><Relationship Type="http://schemas.openxmlformats.org/officeDocument/2006/relationships/notesSlide" Target="/ppt/notesSlides/notesSlide11.xml" Id="R3e1ef626f9cb47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bb95cf09846e9" /><Relationship Type="http://schemas.openxmlformats.org/officeDocument/2006/relationships/notesSlide" Target="/ppt/notesSlides/notesSlide12.xml" Id="R534d98a52cfc49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a0449c8a84dd4" /><Relationship Type="http://schemas.openxmlformats.org/officeDocument/2006/relationships/notesSlide" Target="/ppt/notesSlides/notesSlide13.xml" Id="Recf13de4bb69411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ae73c2cba4b85" /><Relationship Type="http://schemas.openxmlformats.org/officeDocument/2006/relationships/notesSlide" Target="/ppt/notesSlides/notesSlide14.xml" Id="R3b9b46a2b4254c3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080a1e55c420e" /><Relationship Type="http://schemas.openxmlformats.org/officeDocument/2006/relationships/notesSlide" Target="/ppt/notesSlides/notesSlide15.xml" Id="R52481fd1ac24401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4374155804930" /><Relationship Type="http://schemas.openxmlformats.org/officeDocument/2006/relationships/notesSlide" Target="/ppt/notesSlides/notesSlide16.xml" Id="Re144b52921e744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2fad6c569467a" /><Relationship Type="http://schemas.openxmlformats.org/officeDocument/2006/relationships/notesSlide" Target="/ppt/notesSlides/notesSlide17.xml" Id="R6aa8983754104d5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7234a32284528" /><Relationship Type="http://schemas.openxmlformats.org/officeDocument/2006/relationships/notesSlide" Target="/ppt/notesSlides/notesSlide18.xml" Id="R76e83869e1e7485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8bcefc2f54e36" /><Relationship Type="http://schemas.openxmlformats.org/officeDocument/2006/relationships/notesSlide" Target="/ppt/notesSlides/notesSlide19.xml" Id="R78dd62825502401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6436d07fc4166" /><Relationship Type="http://schemas.openxmlformats.org/officeDocument/2006/relationships/notesSlide" Target="/ppt/notesSlides/notesSlide20.xml" Id="R3825667d05d64ac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61c72f6904810" /><Relationship Type="http://schemas.openxmlformats.org/officeDocument/2006/relationships/notesSlide" Target="/ppt/notesSlides/notesSlide21.xml" Id="Rfa169a71de8243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4968F539-1165-45FB-A865-32E8D421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C8A02DFC-B93D-4D7E-B64C-ED56CDE1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SMART HOME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E48D411-25AF-4F09-A9FB-51FF457E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A56441F-0445-4CA6-8F81-56049193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21</a:t>
            </a:r>
          </a:p>
        </p:txBody>
      </p:sp>
      <p:sp>
        <p:nvSpPr>
          <p:cNvPr id="5" name="subject">
            <a:extLst xmlns:a="http://schemas.openxmlformats.org/drawingml/2006/main">
              <a:ext uri="{FF2B5EF4-FFF2-40B4-BE49-F238E27FC236}">
                <a16:creationId xmlns:a16="http://schemas.microsoft.com/office/drawing/2014/main" id="{EA347C90-888D-4911-BAD1-3E41325B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Embedded systems</a:t>
            </a:r>
          </a:p>
        </p:txBody>
      </p:sp>
      <p:sp>
        <p:nvSpPr>
          <p:cNvPr id="6" name="cover-note">
            <a:extLst xmlns:a="http://schemas.openxmlformats.org/drawingml/2006/main">
              <a:ext uri="{FF2B5EF4-FFF2-40B4-BE49-F238E27FC236}">
                <a16:creationId xmlns:a16="http://schemas.microsoft.com/office/drawing/2014/main" id="{DDFAE38B-E05E-476E-9DF9-5F225AF6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5143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 with your worksheet.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the experience after the starter answers.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4c4b6b47e44d5"/>
          <a:stretch xmlns:a="http://schemas.openxmlformats.org/drawingml/2006/main"/>
        </p:blipFill>
        <p:spPr>
          <a:xfrm xmlns:a="http://schemas.openxmlformats.org/drawingml/2006/main">
            <a:off x="6076950" y="1819275"/>
            <a:ext cx="5400675" cy="3600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33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opic">
            <a:extLst xmlns:a="http://schemas.openxmlformats.org/drawingml/2006/main">
              <a:ext uri="{FF2B5EF4-FFF2-40B4-BE49-F238E27FC236}">
                <a16:creationId xmlns:a16="http://schemas.microsoft.com/office/drawing/2014/main" id="{9E4DF319-C6C1-4A4F-9153-A8637861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023198C-AFD0-4069-90A6-34FCF98B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66008C3-7BAB-4591-952E-355FB20C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6A044DE-33F3-46ED-82D1-5E74CE0D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21</a:t>
            </a:r>
          </a:p>
        </p:txBody>
      </p:sp>
      <p:sp>
        <p:nvSpPr>
          <p:cNvPr id="5" name="outcome-intro">
            <a:extLst xmlns:a="http://schemas.openxmlformats.org/drawingml/2006/main">
              <a:ext uri="{FF2B5EF4-FFF2-40B4-BE49-F238E27FC236}">
                <a16:creationId xmlns:a16="http://schemas.microsoft.com/office/drawing/2014/main" id="{465A3D2E-00D1-427E-B774-01B1E492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Your worksheet lists these learning outcomes: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AA1D073C-FA52-4584-A47E-6C8F7A2C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DE2E959A-A4B0-46DB-93D1-16A046CB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66950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Understand what is meant by the term embedded system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98E4AE2D-CBC7-47B9-B9E0-012B50D6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623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29CC748D-9916-4C05-8538-FF06F45C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62325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Know several examples of embedded systems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31D89F39-C7BF-43DC-BE4A-C08DE99B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3C001C71-55CB-4CD1-803C-76EAB3E5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57700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Understand how to program</a:t>
            </a:r>
          </a:p>
        </p:txBody>
      </p:sp>
      <p:sp>
        <p:nvSpPr>
          <p:cNvPr id="12" name="starter-next">
            <a:extLst xmlns:a="http://schemas.openxmlformats.org/drawingml/2006/main">
              <a:ext uri="{FF2B5EF4-FFF2-40B4-BE49-F238E27FC236}">
                <a16:creationId xmlns:a16="http://schemas.microsoft.com/office/drawing/2014/main" id="{2992AFD2-9DF0-472E-BE59-8D87CBB2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007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Complete the worksheet starter before opening the experience.</a:t>
            </a:r>
          </a:p>
        </p:txBody>
      </p:sp>
    </p:spTree>
    <p:extLst>
      <p:ext uri="{BB962C8B-B14F-4D97-AF65-F5344CB8AC3E}">
        <p14:creationId xmlns:p14="http://schemas.microsoft.com/office/powerpoint/2010/main" val="17096801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CAE5332B-43A3-4073-B759-E879568A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4CD2ADD-9C5E-441D-BF31-0204D148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46F2A6F-C2BA-4DCA-82E3-8C7D54E4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6D93CF3-04ED-46AC-B327-5DACEED6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21</a:t>
            </a:r>
          </a:p>
        </p:txBody>
      </p:sp>
      <p:sp>
        <p:nvSpPr>
          <p:cNvPr id="5" name="write-first">
            <a:extLst xmlns:a="http://schemas.openxmlformats.org/drawingml/2006/main">
              <a:ext uri="{FF2B5EF4-FFF2-40B4-BE49-F238E27FC236}">
                <a16:creationId xmlns:a16="http://schemas.microsoft.com/office/drawing/2014/main" id="{F3589CE2-237B-4519-9F07-6505CC73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Answer the starter question in the box on your worksheet.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431C16B7-4E21-4553-B558-363ED806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10572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List five devices in your home that contain a computer but don't look like one. What does each one do with the data it collects?</a:t>
            </a:r>
          </a:p>
        </p:txBody>
      </p:sp>
      <p:sp>
        <p:nvSpPr>
          <p:cNvPr id="7" name="no-open">
            <a:extLst xmlns:a="http://schemas.openxmlformats.org/drawingml/2006/main">
              <a:ext uri="{FF2B5EF4-FFF2-40B4-BE49-F238E27FC236}">
                <a16:creationId xmlns:a16="http://schemas.microsoft.com/office/drawing/2014/main" id="{48D05292-2139-45C9-BEA8-481F53ED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Keep the experience closed until the starter and key terms are checked.</a:t>
            </a:r>
          </a:p>
        </p:txBody>
      </p:sp>
    </p:spTree>
    <p:extLst>
      <p:ext uri="{BB962C8B-B14F-4D97-AF65-F5344CB8AC3E}">
        <p14:creationId xmlns:p14="http://schemas.microsoft.com/office/powerpoint/2010/main" val="397658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F4ED1A2D-99C2-44C7-BEDE-E9778560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F977AAE-AE77-4A74-8151-9B8878EC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80907CD-2113-484F-93BA-A564329E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 key terms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7A7B19C-DEE9-45BB-89EC-BF802F0A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21</a:t>
            </a:r>
          </a:p>
        </p:txBody>
      </p:sp>
      <p:sp>
        <p:nvSpPr>
          <p:cNvPr id="5" name="define-first">
            <a:extLst xmlns:a="http://schemas.openxmlformats.org/drawingml/2006/main">
              <a:ext uri="{FF2B5EF4-FFF2-40B4-BE49-F238E27FC236}">
                <a16:creationId xmlns:a16="http://schemas.microsoft.com/office/drawing/2014/main" id="{F9D17C89-FEC8-4F5E-928F-E7FD72FA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Define the two terms listed in the key terminology section of your worksheet.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45ABC92C-63A1-4869-8992-B9B243BD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DCE2A4F0-AAC7-4A68-AA8F-85532A96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86050"/>
            <a:ext cx="966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Von Neumann architecture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7E938744-A81A-4CD5-B9E1-347EBFEA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1624BD20-90D6-4B3E-A95A-322B8F25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24350"/>
            <a:ext cx="966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MAR</a:t>
            </a:r>
          </a:p>
        </p:txBody>
      </p:sp>
    </p:spTree>
    <p:extLst>
      <p:ext uri="{BB962C8B-B14F-4D97-AF65-F5344CB8AC3E}">
        <p14:creationId xmlns:p14="http://schemas.microsoft.com/office/powerpoint/2010/main" val="2975349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ic">
            <a:extLst xmlns:a="http://schemas.openxmlformats.org/drawingml/2006/main">
              <a:ext uri="{FF2B5EF4-FFF2-40B4-BE49-F238E27FC236}">
                <a16:creationId xmlns:a16="http://schemas.microsoft.com/office/drawing/2014/main" id="{63B6ADED-3500-462A-8DC1-31F0338B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A093BFC0-E2EB-4C1E-8932-BDA0C2D6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B93753B-0C72-4FC4-89B0-AEDE4F9C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339B776-7E03-4743-A0F2-699D0B11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21</a:t>
            </a:r>
          </a:p>
        </p:txBody>
      </p:sp>
      <p:sp>
        <p:nvSpPr>
          <p:cNvPr id="5" name="sample-note">
            <a:extLst xmlns:a="http://schemas.openxmlformats.org/drawingml/2006/main">
              <a:ext uri="{FF2B5EF4-FFF2-40B4-BE49-F238E27FC236}">
                <a16:creationId xmlns:a16="http://schemas.microsoft.com/office/drawing/2014/main" id="{5B2F39DF-9E8C-43A4-B9B9-0611CCD4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worksheet answer with these examples. Other accurate examples count.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70A63D04-7DAF-4224-90DD-3693955E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ABC3262D-D8F3-47ED-8CDB-E7F217BF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47900"/>
            <a:ext cx="99250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Washing machine: reads temperature and controls the heater.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C3A4803E-C9B5-4778-8F80-679112A7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5DAC106E-F694-45ED-875A-5A7B1D38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43225"/>
            <a:ext cx="99250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Thermostat: reads room temperature and switches the heating.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66EB0CD4-57EB-44B2-B8B6-7788CBD0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13E9CBC8-AA5C-4596-BD00-52552A39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38550"/>
            <a:ext cx="99250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Microwave: reads the timer and controls cooking.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7A712D85-71CE-4E51-8CBC-83FE4F5B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338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0206F6B7-2119-486A-8365-8814E9F2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33875"/>
            <a:ext cx="99250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Smart doorbell: detects motion and sends an alert.</a:t>
            </a:r>
          </a:p>
        </p:txBody>
      </p:sp>
      <p:sp>
        <p:nvSpPr>
          <p:cNvPr id="14" name="number-5">
            <a:extLst xmlns:a="http://schemas.openxmlformats.org/drawingml/2006/main">
              <a:ext uri="{FF2B5EF4-FFF2-40B4-BE49-F238E27FC236}">
                <a16:creationId xmlns:a16="http://schemas.microsoft.com/office/drawing/2014/main" id="{6BF49C99-7347-449A-AFF5-8E8118AD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5.</a:t>
            </a:r>
          </a:p>
        </p:txBody>
      </p:sp>
      <p:sp>
        <p:nvSpPr>
          <p:cNvPr id="15" name="item-5">
            <a:extLst xmlns:a="http://schemas.openxmlformats.org/drawingml/2006/main">
              <a:ext uri="{FF2B5EF4-FFF2-40B4-BE49-F238E27FC236}">
                <a16:creationId xmlns:a16="http://schemas.microsoft.com/office/drawing/2014/main" id="{49EB2935-46F0-4331-A1D3-995A8FD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29200"/>
            <a:ext cx="99250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Robot vacuum: senses obstacles and changes direction.</a:t>
            </a:r>
          </a:p>
        </p:txBody>
      </p:sp>
    </p:spTree>
    <p:extLst>
      <p:ext uri="{BB962C8B-B14F-4D97-AF65-F5344CB8AC3E}">
        <p14:creationId xmlns:p14="http://schemas.microsoft.com/office/powerpoint/2010/main" val="3525181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0DC7A3CE-6887-46F5-BE2B-1F1381BC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B2E83C98-1E76-410F-9765-66370F2A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8701C76-5292-4FEC-AA78-62E86860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3DDF225-BF89-4586-A2C3-69B0EF0A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21</a:t>
            </a:r>
          </a:p>
        </p:txBody>
      </p:sp>
      <p:sp>
        <p:nvSpPr>
          <p:cNvPr id="5" name="terms-note">
            <a:extLst xmlns:a="http://schemas.openxmlformats.org/drawingml/2006/main">
              <a:ext uri="{FF2B5EF4-FFF2-40B4-BE49-F238E27FC236}">
                <a16:creationId xmlns:a16="http://schemas.microsoft.com/office/drawing/2014/main" id="{64FB49E0-057E-4E7B-93CC-7EE6078D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Correct or improve your two definitions before opening the experience.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8F3E6341-5EDF-4149-BD61-E402AB03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Von Neumann architecture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CAFD34AF-5E3F-4693-B9AB-93AF3A6A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75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design in which program instructions and data share main memory.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1375ABED-C312-471B-9509-EE1C929F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33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MAR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E29841FD-8F31-4DE1-BAE4-603E2D65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memory address register holds the address to fetch from or write to memory.</a:t>
            </a:r>
          </a:p>
        </p:txBody>
      </p:sp>
    </p:spTree>
    <p:extLst>
      <p:ext uri="{BB962C8B-B14F-4D97-AF65-F5344CB8AC3E}">
        <p14:creationId xmlns:p14="http://schemas.microsoft.com/office/powerpoint/2010/main" val="11307229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879F15AB-6AB8-4ACF-84F5-F516312D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89FB5E6-720A-48B4-B22E-5A70EC3D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the experience now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6C5EA47-1186-451D-88EC-9A3C4B7B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61C1874-5E56-4F6D-A9EE-AA50F77B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21</a:t>
            </a:r>
          </a:p>
        </p:txBody>
      </p:sp>
      <p:sp>
        <p:nvSpPr>
          <p:cNvPr id="5" name="number-1">
            <a:extLst xmlns:a="http://schemas.openxmlformats.org/drawingml/2006/main">
              <a:ext uri="{FF2B5EF4-FFF2-40B4-BE49-F238E27FC236}">
                <a16:creationId xmlns:a16="http://schemas.microsoft.com/office/drawing/2014/main" id="{6896BF20-B9DE-4B03-A362-665CCADB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6" name="item-1">
            <a:extLst xmlns:a="http://schemas.openxmlformats.org/drawingml/2006/main">
              <a:ext uri="{FF2B5EF4-FFF2-40B4-BE49-F238E27FC236}">
                <a16:creationId xmlns:a16="http://schemas.microsoft.com/office/drawing/2014/main" id="{BB6310F4-2066-4ACD-8C42-7B46DD35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76400"/>
            <a:ext cx="9925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Select Smart home from Topic 1.1. Keep your worksheet beside you.</a:t>
            </a:r>
          </a:p>
        </p:txBody>
      </p:sp>
      <p:sp>
        <p:nvSpPr>
          <p:cNvPr id="7" name="number-2">
            <a:extLst xmlns:a="http://schemas.openxmlformats.org/drawingml/2006/main">
              <a:ext uri="{FF2B5EF4-FFF2-40B4-BE49-F238E27FC236}">
                <a16:creationId xmlns:a16="http://schemas.microsoft.com/office/drawing/2014/main" id="{403EE8D9-94AC-471F-9BAD-BB5049B7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8" name="item-2">
            <a:extLst xmlns:a="http://schemas.openxmlformats.org/drawingml/2006/main">
              <a:ext uri="{FF2B5EF4-FFF2-40B4-BE49-F238E27FC236}">
                <a16:creationId xmlns:a16="http://schemas.microsoft.com/office/drawing/2014/main" id="{CEE25E5E-F440-4B00-91DB-3F70FCB9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47950"/>
            <a:ext cx="992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At each station, read the wall panel and write the key fact and challenge answer before tapping the badge.</a:t>
            </a:r>
          </a:p>
        </p:txBody>
      </p:sp>
      <p:sp>
        <p:nvSpPr>
          <p:cNvPr id="9" name="number-3">
            <a:extLst xmlns:a="http://schemas.openxmlformats.org/drawingml/2006/main">
              <a:ext uri="{FF2B5EF4-FFF2-40B4-BE49-F238E27FC236}">
                <a16:creationId xmlns:a16="http://schemas.microsoft.com/office/drawing/2014/main" id="{EDBB2FB6-948C-4D94-9A75-B1F62E99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0" name="item-3">
            <a:extLst xmlns:a="http://schemas.openxmlformats.org/drawingml/2006/main">
              <a:ext uri="{FF2B5EF4-FFF2-40B4-BE49-F238E27FC236}">
                <a16:creationId xmlns:a16="http://schemas.microsoft.com/office/drawing/2014/main" id="{65F94DEE-11FF-4229-BDD7-B8AD91C5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05225"/>
            <a:ext cx="99250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Tap the badge and answer on screen. Your first answer is the one that counts.</a:t>
            </a:r>
          </a:p>
        </p:txBody>
      </p:sp>
      <p:sp>
        <p:nvSpPr>
          <p:cNvPr id="11" name="number-4">
            <a:extLst xmlns:a="http://schemas.openxmlformats.org/drawingml/2006/main">
              <a:ext uri="{FF2B5EF4-FFF2-40B4-BE49-F238E27FC236}">
                <a16:creationId xmlns:a16="http://schemas.microsoft.com/office/drawing/2014/main" id="{025C7C99-F101-4D2B-A8EA-1A35D76B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2" name="item-4">
            <a:extLst xmlns:a="http://schemas.openxmlformats.org/drawingml/2006/main">
              <a:ext uri="{FF2B5EF4-FFF2-40B4-BE49-F238E27FC236}">
                <a16:creationId xmlns:a16="http://schemas.microsoft.com/office/drawing/2014/main" id="{BFCE2D2F-92CC-4CDD-88BB-FBD9F1F4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When the score screen appears, copy your score into the yellow worksheet box (out of 24).</a:t>
            </a:r>
          </a:p>
        </p:txBody>
      </p:sp>
      <p:sp>
        <p:nvSpPr>
          <p:cNvPr id="13" name="open-link">
            <a:extLst xmlns:a="http://schemas.openxmlformats.org/drawingml/2006/main">
              <a:ext uri="{FF2B5EF4-FFF2-40B4-BE49-F238E27FC236}">
                <a16:creationId xmlns:a16="http://schemas.microsoft.com/office/drawing/2014/main" id="{0DD0FA88-1BF9-437F-A583-A3183A6A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4953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b0367d41fc1043a0"/>
              </a:rPr>
              <a:t>Open the experience online</a:t>
            </a:r>
          </a:p>
        </p:txBody>
      </p:sp>
    </p:spTree>
    <p:extLst>
      <p:ext uri="{BB962C8B-B14F-4D97-AF65-F5344CB8AC3E}">
        <p14:creationId xmlns:p14="http://schemas.microsoft.com/office/powerpoint/2010/main" val="1391415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ic">
            <a:extLst xmlns:a="http://schemas.openxmlformats.org/drawingml/2006/main">
              <a:ext uri="{FF2B5EF4-FFF2-40B4-BE49-F238E27FC236}">
                <a16:creationId xmlns:a16="http://schemas.microsoft.com/office/drawing/2014/main" id="{23E79DE6-EE2C-431B-9AAB-77BA8120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AA1AAF61-2D45-412E-84D4-8BBE07FF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stations in your worksheet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1388481-C63A-4C23-A9CF-6AFB422D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94227D7-0D35-4B73-AA4E-0CEA8ECF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21</a:t>
            </a:r>
          </a:p>
        </p:txBody>
      </p:sp>
      <p:sp>
        <p:nvSpPr>
          <p:cNvPr id="5" name="route-intro">
            <a:extLst xmlns:a="http://schemas.openxmlformats.org/drawingml/2006/main">
              <a:ext uri="{FF2B5EF4-FFF2-40B4-BE49-F238E27FC236}">
                <a16:creationId xmlns:a16="http://schemas.microsoft.com/office/drawing/2014/main" id="{3A21B642-768B-4042-9C25-892CB286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47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same route as the experience and worksheet:</a:t>
            </a:r>
          </a:p>
        </p:txBody>
      </p:sp>
      <p:sp>
        <p:nvSpPr>
          <p:cNvPr id="6" name="route-direction-0">
            <a:extLst xmlns:a="http://schemas.openxmlformats.org/drawingml/2006/main">
              <a:ext uri="{FF2B5EF4-FFF2-40B4-BE49-F238E27FC236}">
                <a16:creationId xmlns:a16="http://schemas.microsoft.com/office/drawing/2014/main" id="{C4E7B5A5-673F-436D-B1CE-8A103F35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RIGHT</a:t>
            </a:r>
          </a:p>
        </p:txBody>
      </p:sp>
      <p:sp>
        <p:nvSpPr>
          <p:cNvPr id="7" name="route-names-0">
            <a:extLst xmlns:a="http://schemas.openxmlformats.org/drawingml/2006/main">
              <a:ext uri="{FF2B5EF4-FFF2-40B4-BE49-F238E27FC236}">
                <a16:creationId xmlns:a16="http://schemas.microsoft.com/office/drawing/2014/main" id="{859D4A20-9B54-4FF6-971C-ED329F23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66950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1 What is an embedded system?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2 Characteristics</a:t>
            </a:r>
          </a:p>
        </p:txBody>
      </p:sp>
      <p:sp>
        <p:nvSpPr>
          <p:cNvPr id="8" name="route-direction-1">
            <a:extLst xmlns:a="http://schemas.openxmlformats.org/drawingml/2006/main">
              <a:ext uri="{FF2B5EF4-FFF2-40B4-BE49-F238E27FC236}">
                <a16:creationId xmlns:a16="http://schemas.microsoft.com/office/drawing/2014/main" id="{77B1508E-47BB-436E-A8D9-97147447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AROUND</a:t>
            </a:r>
          </a:p>
        </p:txBody>
      </p:sp>
      <p:sp>
        <p:nvSpPr>
          <p:cNvPr id="9" name="route-names-1">
            <a:extLst xmlns:a="http://schemas.openxmlformats.org/drawingml/2006/main">
              <a:ext uri="{FF2B5EF4-FFF2-40B4-BE49-F238E27FC236}">
                <a16:creationId xmlns:a16="http://schemas.microsoft.com/office/drawing/2014/main" id="{A6B5CFF8-D953-4372-B1CA-C62BF7E5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09925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3 Embedded systems everywhere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4 Input, process, output</a:t>
            </a:r>
          </a:p>
        </p:txBody>
      </p:sp>
      <p:sp>
        <p:nvSpPr>
          <p:cNvPr id="10" name="route-direction-2">
            <a:extLst xmlns:a="http://schemas.openxmlformats.org/drawingml/2006/main">
              <a:ext uri="{FF2B5EF4-FFF2-40B4-BE49-F238E27FC236}">
                <a16:creationId xmlns:a16="http://schemas.microsoft.com/office/drawing/2014/main" id="{1C0E5983-8D7C-4820-B91B-BA8E743C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62425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LEFT</a:t>
            </a:r>
          </a:p>
        </p:txBody>
      </p:sp>
      <p:sp>
        <p:nvSpPr>
          <p:cNvPr id="11" name="route-names-2">
            <a:extLst xmlns:a="http://schemas.openxmlformats.org/drawingml/2006/main">
              <a:ext uri="{FF2B5EF4-FFF2-40B4-BE49-F238E27FC236}">
                <a16:creationId xmlns:a16="http://schemas.microsoft.com/office/drawing/2014/main" id="{EEA177A2-B2F8-48D6-934C-7BDB3489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62425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5 Programming embedded systems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6 Embedded or general purpose?</a:t>
            </a:r>
          </a:p>
        </p:txBody>
      </p:sp>
      <p:sp>
        <p:nvSpPr>
          <p:cNvPr id="12" name="route-direction-3">
            <a:extLst xmlns:a="http://schemas.openxmlformats.org/drawingml/2006/main">
              <a:ext uri="{FF2B5EF4-FFF2-40B4-BE49-F238E27FC236}">
                <a16:creationId xmlns:a16="http://schemas.microsoft.com/office/drawing/2014/main" id="{21C560C7-E596-4B91-96C8-1170CBC5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DOWN</a:t>
            </a:r>
          </a:p>
        </p:txBody>
      </p:sp>
      <p:sp>
        <p:nvSpPr>
          <p:cNvPr id="13" name="route-names-3">
            <a:extLst xmlns:a="http://schemas.openxmlformats.org/drawingml/2006/main">
              <a:ext uri="{FF2B5EF4-FFF2-40B4-BE49-F238E27FC236}">
                <a16:creationId xmlns:a16="http://schemas.microsoft.com/office/drawing/2014/main" id="{5F7E6C59-28A0-4B5E-80DA-F0BBD411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14950"/>
            <a:ext cx="443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★ Final challenge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f19dffa4264c80"/>
          <a:stretch xmlns:a="http://schemas.openxmlformats.org/drawingml/2006/main"/>
        </p:blipFill>
        <p:spPr>
          <a:xfrm xmlns:a="http://schemas.openxmlformats.org/drawingml/2006/main">
            <a:off x="6505575" y="2241550"/>
            <a:ext cx="4933950" cy="3289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6551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0ED00092-8127-440F-B15F-750E0FAE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80330E1-DD6E-4388-94BB-7A3B4EE2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challenge, score and key question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2C14B5B-F6D7-46FD-9E9A-CC93474C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F94F4BA-DA5C-4472-BBDA-411B9139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21</a:t>
            </a:r>
          </a:p>
        </p:txBody>
      </p:sp>
      <p:sp>
        <p:nvSpPr>
          <p:cNvPr id="5" name="star">
            <a:extLst xmlns:a="http://schemas.openxmlformats.org/drawingml/2006/main">
              <a:ext uri="{FF2B5EF4-FFF2-40B4-BE49-F238E27FC236}">
                <a16:creationId xmlns:a16="http://schemas.microsoft.com/office/drawing/2014/main" id="{6C1ED202-F9E0-4161-AE3F-A94922A6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10572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Look down. Complete the ★ final challenge table on your worksheet before tapping the star.</a:t>
            </a:r>
          </a:p>
        </p:txBody>
      </p:sp>
      <p:sp>
        <p:nvSpPr>
          <p:cNvPr id="6" name="score">
            <a:extLst xmlns:a="http://schemas.openxmlformats.org/drawingml/2006/main">
              <a:ext uri="{FF2B5EF4-FFF2-40B4-BE49-F238E27FC236}">
                <a16:creationId xmlns:a16="http://schemas.microsoft.com/office/drawing/2014/main" id="{97E7D6B5-89E8-4467-B8F7-29139E42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Copy the result from the score screen:  ______ / 24</a:t>
            </a:r>
          </a:p>
        </p:txBody>
      </p:sp>
      <p:sp>
        <p:nvSpPr>
          <p:cNvPr id="7" name="key-label">
            <a:extLst xmlns:a="http://schemas.openxmlformats.org/drawingml/2006/main">
              <a:ext uri="{FF2B5EF4-FFF2-40B4-BE49-F238E27FC236}">
                <a16:creationId xmlns:a16="http://schemas.microsoft.com/office/drawing/2014/main" id="{7C5B2B5F-20A7-4595-B6E2-D11AE3D6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529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KEY QUESTION</a:t>
            </a:r>
          </a:p>
        </p:txBody>
      </p:sp>
      <p:sp>
        <p:nvSpPr>
          <p:cNvPr id="8" name="key-question">
            <a:extLst xmlns:a="http://schemas.openxmlformats.org/drawingml/2006/main">
              <a:ext uri="{FF2B5EF4-FFF2-40B4-BE49-F238E27FC236}">
                <a16:creationId xmlns:a16="http://schemas.microsoft.com/office/drawing/2014/main" id="{06AD5D83-3318-488C-B40B-77011BCF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67275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What are embedded systems, and what are their characteristics?</a:t>
            </a:r>
          </a:p>
        </p:txBody>
      </p:sp>
    </p:spTree>
    <p:extLst>
      <p:ext uri="{BB962C8B-B14F-4D97-AF65-F5344CB8AC3E}">
        <p14:creationId xmlns:p14="http://schemas.microsoft.com/office/powerpoint/2010/main" val="9666426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102F5424-F9CA-4857-9F3B-DCC4AAA3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5D393D68-E67D-4F4B-9873-0C3A0B81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apply it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5DC0A14-F4F1-4901-997F-E2D06544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FD31899-D63B-4E30-9F0E-8368FAF0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21</a:t>
            </a:r>
          </a:p>
        </p:txBody>
      </p:sp>
      <p:sp>
        <p:nvSpPr>
          <p:cNvPr id="5" name="extension-lead">
            <a:extLst xmlns:a="http://schemas.openxmlformats.org/drawingml/2006/main">
              <a:ext uri="{FF2B5EF4-FFF2-40B4-BE49-F238E27FC236}">
                <a16:creationId xmlns:a16="http://schemas.microsoft.com/office/drawing/2014/main" id="{48F36DFB-DBEF-4B20-AFF4-E2FC859C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7346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After completing the experience and recording your score: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DB8AAF87-7268-4E74-8AA9-3BE19060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Design a smart greenhouse controller. Name two inputs, one processing decision and two outputs.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00F15640-FE95-41CB-8864-56387B20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Explain why your controller is an embedded system.</a:t>
            </a:r>
          </a:p>
        </p:txBody>
      </p:sp>
    </p:spTree>
    <p:extLst>
      <p:ext uri="{BB962C8B-B14F-4D97-AF65-F5344CB8AC3E}">
        <p14:creationId xmlns:p14="http://schemas.microsoft.com/office/powerpoint/2010/main" val="19301419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E6B6B482-7281-411A-A352-74B05B8A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0AD92E9-857A-4822-96C2-F3EFBD8F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check and stretch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219125C-0E11-4483-B6D2-98854E84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3E5CA3C-B5FA-45AF-8D54-9CC7CF17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21</a:t>
            </a:r>
          </a:p>
        </p:txBody>
      </p:sp>
      <p:sp>
        <p:nvSpPr>
          <p:cNvPr id="5" name="review">
            <a:extLst xmlns:a="http://schemas.openxmlformats.org/drawingml/2006/main">
              <a:ext uri="{FF2B5EF4-FFF2-40B4-BE49-F238E27FC236}">
                <a16:creationId xmlns:a16="http://schemas.microsoft.com/office/drawing/2014/main" id="{CB295127-A136-421B-9293-BF212DBA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24025"/>
            <a:ext cx="1071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worksheet and the experience feedback.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F9B3C63A-1D1D-4ACA-88BA-0D271367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tablet controls a washing machine through an app. Which device contains an embedded system? Explain using the range of tasks each device can run.</a:t>
            </a:r>
          </a:p>
        </p:txBody>
      </p:sp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5284BBB3-0ADC-4CE4-83DA-3A0EE162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When the class is ready, close the experience and answer the plenary exam quiz.</a:t>
            </a:r>
          </a:p>
        </p:txBody>
      </p:sp>
    </p:spTree>
    <p:extLst>
      <p:ext uri="{BB962C8B-B14F-4D97-AF65-F5344CB8AC3E}">
        <p14:creationId xmlns:p14="http://schemas.microsoft.com/office/powerpoint/2010/main" val="3296408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EC46A121-B754-4455-9900-40C6C661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60953EA8-3522-443B-8234-FAD4B89E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sample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33D71FE-7D3C-44F7-A867-6323C75B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DD61E13-AF10-4618-9F71-0C3C6505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21</a:t>
            </a:r>
          </a:p>
        </p:txBody>
      </p:sp>
      <p:sp>
        <p:nvSpPr>
          <p:cNvPr id="5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811F73B4-C3C6-41A6-B114-749721E4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6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FA3E1E98-DB11-4616-86BB-A9A2122C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Application</a:t>
            </a:r>
          </a:p>
        </p:txBody>
      </p:sp>
      <p:sp>
        <p:nvSpPr>
          <p:cNvPr id="7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A18900C7-8432-4686-8242-85BA3F67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Inputs could be soil moisture and temperature. The controller compares readings with limits, then switches a pump and fan. It has a dedicated job.</a:t>
            </a:r>
          </a:p>
        </p:txBody>
      </p:sp>
      <p:sp>
        <p:nvSpPr>
          <p:cNvPr id="8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0B3C7FEB-447B-4AD4-89EC-40DD37AB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Check and stretch</a:t>
            </a:r>
          </a:p>
        </p:txBody>
      </p:sp>
      <p:sp>
        <p:nvSpPr>
          <p:cNvPr id="9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B31C9FF3-3B29-4A4B-936F-6341C6D5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washing machine contains an embedded controller for wash functions. The tablet runs many apps, so it is general purpose.</a:t>
            </a:r>
          </a:p>
        </p:txBody>
      </p:sp>
    </p:spTree>
    <p:extLst>
      <p:ext uri="{BB962C8B-B14F-4D97-AF65-F5344CB8AC3E}">
        <p14:creationId xmlns:p14="http://schemas.microsoft.com/office/powerpoint/2010/main" val="7314541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E07EC0D8-C5B1-4BA7-9D9D-7C295ACA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C840D353-2943-40B2-ABD5-0B1F3F2E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EA80C4C-9483-4B4B-84ED-6558CD37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8E7CC3E-03E1-4CDF-B7E5-7F34EAFC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21</a:t>
            </a:r>
          </a:p>
        </p:txBody>
      </p:sp>
      <p:sp>
        <p:nvSpPr>
          <p:cNvPr id="5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032D8D0E-2DE4-4989-B774-D169EB9D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Close the experience. Check your key facts and challenge responses.</a:t>
            </a:r>
          </a:p>
        </p:txBody>
      </p:sp>
      <p:sp>
        <p:nvSpPr>
          <p:cNvPr id="6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0212A158-806E-493E-A5DC-F9FAA7EA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What is an embedded system?</a:t>
            </a:r>
          </a:p>
        </p:txBody>
      </p:sp>
      <p:sp>
        <p:nvSpPr>
          <p:cNvPr id="7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30CF7D8A-DCA5-465A-B247-6BB12F26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embedded system is a computer built into a larger device for a dedicated function.</a:t>
            </a:r>
          </a:p>
        </p:txBody>
      </p:sp>
      <p:sp>
        <p:nvSpPr>
          <p:cNvPr id="8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EBA8C164-4A50-4B5C-A2D3-4066C315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Characteristics</a:t>
            </a:r>
          </a:p>
        </p:txBody>
      </p:sp>
      <p:sp>
        <p:nvSpPr>
          <p:cNvPr id="9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A46CFD6F-DCEE-4C36-952B-7C3FD41F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Typical traits include a specific task, small size, low power use and reliability.</a:t>
            </a:r>
          </a:p>
        </p:txBody>
      </p:sp>
      <p:sp>
        <p:nvSpPr>
          <p:cNvPr id="10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92E0CBCE-6632-470C-99D5-5D4B56F0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Embedded systems everywhere</a:t>
            </a:r>
          </a:p>
        </p:txBody>
      </p:sp>
      <p:sp>
        <p:nvSpPr>
          <p:cNvPr id="11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38D0DAEE-DCA8-49FE-94CC-AC91A2C3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Examples include a thermostat, microwave, washing machine, doorbell and car brakes.</a:t>
            </a:r>
          </a:p>
        </p:txBody>
      </p:sp>
    </p:spTree>
    <p:extLst>
      <p:ext uri="{BB962C8B-B14F-4D97-AF65-F5344CB8AC3E}">
        <p14:creationId xmlns:p14="http://schemas.microsoft.com/office/powerpoint/2010/main" val="9502080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A2C7C8A4-1597-42C6-B9DF-617EBCDF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699156AD-A9B5-485F-B4C9-62A0E15C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AF28FFC-7A15-4E94-A981-F3D1CB15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0BD631D-1074-4C48-92C5-389CC6ED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21</a:t>
            </a:r>
          </a:p>
        </p:txBody>
      </p:sp>
      <p:sp>
        <p:nvSpPr>
          <p:cNvPr id="5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39D42444-30FF-4A99-8564-5916F804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Continue checking the station notes on your worksheet.</a:t>
            </a:r>
          </a:p>
        </p:txBody>
      </p:sp>
      <p:sp>
        <p:nvSpPr>
          <p:cNvPr id="6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30758C56-8E3B-4036-92D1-CB4EF5AA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Input, process, output</a:t>
            </a:r>
          </a:p>
        </p:txBody>
      </p:sp>
      <p:sp>
        <p:nvSpPr>
          <p:cNvPr id="7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CF38FD7C-E14B-4FE4-B5CC-48ED93AE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Washing machine: dial and sensor are inputs; microcontroller processes; motor, heater and display are outputs.</a:t>
            </a:r>
          </a:p>
        </p:txBody>
      </p:sp>
      <p:sp>
        <p:nvSpPr>
          <p:cNvPr id="8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9D250191-A0AA-4135-88AE-402D3A3C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Programming embedded systems</a:t>
            </a:r>
          </a:p>
        </p:txBody>
      </p:sp>
      <p:sp>
        <p:nvSpPr>
          <p:cNvPr id="9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41E8D5BE-0976-44CE-AF83-2E3798A0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 and C++ are common because they control hardware efficiently. Firmware is the stored control program.</a:t>
            </a:r>
          </a:p>
        </p:txBody>
      </p:sp>
      <p:sp>
        <p:nvSpPr>
          <p:cNvPr id="10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BE380871-A220-4EC0-A828-CC3663E3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Embedded or general purpose?</a:t>
            </a:r>
          </a:p>
        </p:txBody>
      </p:sp>
      <p:sp>
        <p:nvSpPr>
          <p:cNvPr id="11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9126111F-C1DC-409F-95E4-81688F98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laptop is general purpose and runs many apps; an anti-lock brake controller has a dedicated function.</a:t>
            </a:r>
          </a:p>
        </p:txBody>
      </p:sp>
    </p:spTree>
    <p:extLst>
      <p:ext uri="{BB962C8B-B14F-4D97-AF65-F5344CB8AC3E}">
        <p14:creationId xmlns:p14="http://schemas.microsoft.com/office/powerpoint/2010/main" val="12870942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opic">
            <a:extLst xmlns:a="http://schemas.openxmlformats.org/drawingml/2006/main">
              <a:ext uri="{FF2B5EF4-FFF2-40B4-BE49-F238E27FC236}">
                <a16:creationId xmlns:a16="http://schemas.microsoft.com/office/drawing/2014/main" id="{03BCE581-1EF4-4D9C-A9AA-7BFEA2C3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5291FF5C-0505-41C5-A8EE-3BC5EA25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A0F54EC-BB6A-4149-A7DA-5A153C12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19D0CC7-A357-4BC8-8793-2206A3B6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21</a:t>
            </a:r>
          </a:p>
        </p:txBody>
      </p:sp>
      <p:sp>
        <p:nvSpPr>
          <p:cNvPr id="5" name="star-key">
            <a:extLst xmlns:a="http://schemas.openxmlformats.org/drawingml/2006/main">
              <a:ext uri="{FF2B5EF4-FFF2-40B4-BE49-F238E27FC236}">
                <a16:creationId xmlns:a16="http://schemas.microsoft.com/office/drawing/2014/main" id="{F0CD2051-E56E-4C6C-936E-3699C03C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star challenge table with the answers below.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3E792F7B-890E-4284-A623-3CAC8AF5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8BA10F9E-A193-4089-A4EF-11541451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05025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Washing machine: embedded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28DEC44E-1C72-48F0-8383-E2E17084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A8940DFA-7A5C-4B46-BC78-26A0CE7D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09850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Microwave oven: embedded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FF208505-28DE-418A-892E-DADF6FA7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146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D80F02E4-AF72-4391-A0AE-61982599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14675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Traffic lights: embedded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1B0A405D-8414-47CD-B38A-7E33733D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C453AFD0-5EDE-4ACB-B7A7-80E26BFF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19500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Car anti-lock brakes: embedded</a:t>
            </a:r>
          </a:p>
        </p:txBody>
      </p:sp>
      <p:sp>
        <p:nvSpPr>
          <p:cNvPr id="14" name="number-5">
            <a:extLst xmlns:a="http://schemas.openxmlformats.org/drawingml/2006/main">
              <a:ext uri="{FF2B5EF4-FFF2-40B4-BE49-F238E27FC236}">
                <a16:creationId xmlns:a16="http://schemas.microsoft.com/office/drawing/2014/main" id="{B7D38D9F-73DD-49BB-AB2F-262BAEE3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243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5.</a:t>
            </a:r>
          </a:p>
        </p:txBody>
      </p:sp>
      <p:sp>
        <p:nvSpPr>
          <p:cNvPr id="15" name="item-5">
            <a:extLst xmlns:a="http://schemas.openxmlformats.org/drawingml/2006/main">
              <a:ext uri="{FF2B5EF4-FFF2-40B4-BE49-F238E27FC236}">
                <a16:creationId xmlns:a16="http://schemas.microsoft.com/office/drawing/2014/main" id="{3024A983-796D-41D5-9F8C-C589D252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24325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Smart thermostat: embedded</a:t>
            </a:r>
          </a:p>
        </p:txBody>
      </p:sp>
      <p:sp>
        <p:nvSpPr>
          <p:cNvPr id="16" name="number-6">
            <a:extLst xmlns:a="http://schemas.openxmlformats.org/drawingml/2006/main">
              <a:ext uri="{FF2B5EF4-FFF2-40B4-BE49-F238E27FC236}">
                <a16:creationId xmlns:a16="http://schemas.microsoft.com/office/drawing/2014/main" id="{127C4C7F-2FA8-4443-B220-ADECA456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6.</a:t>
            </a:r>
          </a:p>
        </p:txBody>
      </p:sp>
      <p:sp>
        <p:nvSpPr>
          <p:cNvPr id="17" name="item-6">
            <a:extLst xmlns:a="http://schemas.openxmlformats.org/drawingml/2006/main">
              <a:ext uri="{FF2B5EF4-FFF2-40B4-BE49-F238E27FC236}">
                <a16:creationId xmlns:a16="http://schemas.microsoft.com/office/drawing/2014/main" id="{D36016BC-F60D-47B8-BF36-1636608B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Laptop: general purpose</a:t>
            </a:r>
          </a:p>
        </p:txBody>
      </p:sp>
      <p:sp>
        <p:nvSpPr>
          <p:cNvPr id="18" name="number-7">
            <a:extLst xmlns:a="http://schemas.openxmlformats.org/drawingml/2006/main">
              <a:ext uri="{FF2B5EF4-FFF2-40B4-BE49-F238E27FC236}">
                <a16:creationId xmlns:a16="http://schemas.microsoft.com/office/drawing/2014/main" id="{2659D5E3-CE1A-4FEF-A8F0-78EC090E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7.</a:t>
            </a:r>
          </a:p>
        </p:txBody>
      </p:sp>
      <p:sp>
        <p:nvSpPr>
          <p:cNvPr id="19" name="item-7">
            <a:extLst xmlns:a="http://schemas.openxmlformats.org/drawingml/2006/main">
              <a:ext uri="{FF2B5EF4-FFF2-40B4-BE49-F238E27FC236}">
                <a16:creationId xmlns:a16="http://schemas.microsoft.com/office/drawing/2014/main" id="{2FBE697B-8450-45ED-BD4A-86C8472A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33975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Desktop PC: general purpose</a:t>
            </a:r>
          </a:p>
        </p:txBody>
      </p:sp>
      <p:sp>
        <p:nvSpPr>
          <p:cNvPr id="20" name="number-8">
            <a:extLst xmlns:a="http://schemas.openxmlformats.org/drawingml/2006/main">
              <a:ext uri="{FF2B5EF4-FFF2-40B4-BE49-F238E27FC236}">
                <a16:creationId xmlns:a16="http://schemas.microsoft.com/office/drawing/2014/main" id="{A4562DCB-DD72-40A3-A7B4-257FF04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8.</a:t>
            </a:r>
          </a:p>
        </p:txBody>
      </p:sp>
      <p:sp>
        <p:nvSpPr>
          <p:cNvPr id="21" name="item-8">
            <a:extLst xmlns:a="http://schemas.openxmlformats.org/drawingml/2006/main">
              <a:ext uri="{FF2B5EF4-FFF2-40B4-BE49-F238E27FC236}">
                <a16:creationId xmlns:a16="http://schemas.microsoft.com/office/drawing/2014/main" id="{5ABD7E82-AE8C-4AF3-A863-BFD102A3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38800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Tablet running apps: general purpose</a:t>
            </a:r>
          </a:p>
        </p:txBody>
      </p:sp>
    </p:spTree>
    <p:extLst>
      <p:ext uri="{BB962C8B-B14F-4D97-AF65-F5344CB8AC3E}">
        <p14:creationId xmlns:p14="http://schemas.microsoft.com/office/powerpoint/2010/main" val="20839803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4B1B1E4B-3BD8-48D8-89D7-394AFE24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BB905F2B-AA7C-4391-AA59-84B0F14C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questions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B9E1AA9-7B11-4549-A034-068C72CF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3F3A0AB-CC29-4CD5-9EE1-D3E039F6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21</a:t>
            </a:r>
          </a:p>
        </p:txBody>
      </p:sp>
      <p:sp>
        <p:nvSpPr>
          <p:cNvPr id="5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8E6C0D3D-117A-4987-9507-7B2FD0FA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6" name="a">
            <a:extLst xmlns:a="http://schemas.openxmlformats.org/drawingml/2006/main">
              <a:ext uri="{FF2B5EF4-FFF2-40B4-BE49-F238E27FC236}">
                <a16:creationId xmlns:a16="http://schemas.microsoft.com/office/drawing/2014/main" id="{5A69A435-E7E8-4005-91A2-2181F423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7" name="question-a">
            <a:extLst xmlns:a="http://schemas.openxmlformats.org/drawingml/2006/main">
              <a:ext uri="{FF2B5EF4-FFF2-40B4-BE49-F238E27FC236}">
                <a16:creationId xmlns:a16="http://schemas.microsoft.com/office/drawing/2014/main" id="{F4201687-19EB-4F57-A776-EF932EC5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Name an embedded system and explain why it is described as a computer. [3]</a:t>
            </a:r>
          </a:p>
        </p:txBody>
      </p:sp>
      <p:sp>
        <p:nvSpPr>
          <p:cNvPr id="8" name="b">
            <a:extLst xmlns:a="http://schemas.openxmlformats.org/drawingml/2006/main">
              <a:ext uri="{FF2B5EF4-FFF2-40B4-BE49-F238E27FC236}">
                <a16:creationId xmlns:a16="http://schemas.microsoft.com/office/drawing/2014/main" id="{9C8B96B7-ED68-49E4-ACB3-3737AFAC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9" name="question-b">
            <a:extLst xmlns:a="http://schemas.openxmlformats.org/drawingml/2006/main">
              <a:ext uri="{FF2B5EF4-FFF2-40B4-BE49-F238E27FC236}">
                <a16:creationId xmlns:a16="http://schemas.microsoft.com/office/drawing/2014/main" id="{7F946D49-A39B-4447-9611-4B34DE73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Describe two characteristics of embedded systems. [4]</a:t>
            </a:r>
          </a:p>
        </p:txBody>
      </p:sp>
    </p:spTree>
    <p:extLst>
      <p:ext uri="{BB962C8B-B14F-4D97-AF65-F5344CB8AC3E}">
        <p14:creationId xmlns:p14="http://schemas.microsoft.com/office/powerpoint/2010/main" val="626079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CCD0F02B-0CB0-4759-8CA3-EE917FC3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9BC071B0-62DC-43EF-8053-1EFEAEA0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question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B91EFD1-57CD-4E57-A893-60B17F5F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63A257B-6265-40BF-A7CF-5A0669FE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21</a:t>
            </a:r>
          </a:p>
        </p:txBody>
      </p:sp>
      <p:sp>
        <p:nvSpPr>
          <p:cNvPr id="5" name="from-memory">
            <a:extLst xmlns:a="http://schemas.openxmlformats.org/drawingml/2006/main">
              <a:ext uri="{FF2B5EF4-FFF2-40B4-BE49-F238E27FC236}">
                <a16:creationId xmlns:a16="http://schemas.microsoft.com/office/drawing/2014/main" id="{BBB0FE7A-BCCD-4D44-9E3D-C6EE13C5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6" name="c">
            <a:extLst xmlns:a="http://schemas.openxmlformats.org/drawingml/2006/main">
              <a:ext uri="{FF2B5EF4-FFF2-40B4-BE49-F238E27FC236}">
                <a16:creationId xmlns:a16="http://schemas.microsoft.com/office/drawing/2014/main" id="{920884AF-314F-4019-87E6-52A5A6B5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7" name="question-c">
            <a:extLst xmlns:a="http://schemas.openxmlformats.org/drawingml/2006/main">
              <a:ext uri="{FF2B5EF4-FFF2-40B4-BE49-F238E27FC236}">
                <a16:creationId xmlns:a16="http://schemas.microsoft.com/office/drawing/2014/main" id="{49F022BB-A72F-4DD5-BDE6-C1F75410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why a laptop is not an embedded system. [2]</a:t>
            </a:r>
          </a:p>
        </p:txBody>
      </p:sp>
      <p:sp>
        <p:nvSpPr>
          <p:cNvPr id="8" name="marks">
            <a:extLst xmlns:a="http://schemas.openxmlformats.org/drawingml/2006/main">
              <a:ext uri="{FF2B5EF4-FFF2-40B4-BE49-F238E27FC236}">
                <a16:creationId xmlns:a16="http://schemas.microsoft.com/office/drawing/2014/main" id="{13A3680B-C7AB-49FB-9803-370F63FF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2096317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7D887887-C349-4B1E-9615-3C219CA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F4417DF-77AF-4F46-8C30-AF7B94F3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answers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F90DF8F-A055-4A77-914B-B039BBD2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C5ECB36-F4DA-4127-858F-C0C6AC6A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21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A7890CF1-F1DF-4D5B-9D0F-1D9EA08B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6" name="scheme-a">
            <a:extLst xmlns:a="http://schemas.openxmlformats.org/drawingml/2006/main">
              <a:ext uri="{FF2B5EF4-FFF2-40B4-BE49-F238E27FC236}">
                <a16:creationId xmlns:a16="http://schemas.microsoft.com/office/drawing/2014/main" id="{BA56D936-AEA3-4247-91BB-A687F1C5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Example: a washing machine has a microcontroller that reads sensors or dial settings, processes them and controls the motor or heater.</a:t>
            </a:r>
          </a:p>
        </p:txBody>
      </p:sp>
      <p:sp>
        <p:nvSpPr>
          <p:cNvPr id="7" name="scheme-b">
            <a:extLst xmlns:a="http://schemas.openxmlformats.org/drawingml/2006/main">
              <a:ext uri="{FF2B5EF4-FFF2-40B4-BE49-F238E27FC236}">
                <a16:creationId xmlns:a16="http://schemas.microsoft.com/office/drawing/2014/main" id="{736C410F-28A5-4399-A2F1-4CF13364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57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Examples: a dedicated function; built into a larger device; often small or low power; designed for reliability. Describe two, with a detail for each.</a:t>
            </a:r>
          </a:p>
        </p:txBody>
      </p:sp>
    </p:spTree>
    <p:extLst>
      <p:ext uri="{BB962C8B-B14F-4D97-AF65-F5344CB8AC3E}">
        <p14:creationId xmlns:p14="http://schemas.microsoft.com/office/powerpoint/2010/main" val="13129160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00F20D1A-7494-4AF0-805D-AE2729B7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A474B30E-EE15-45FE-A075-2BDD6FA5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answer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9732D44-F79A-43D2-BE80-C2EE284C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9DCBB90-D61E-48F5-B642-76BBA283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19 / 21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ED7DBB5E-75A8-408C-9F65-0CEE18F5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D76E041C-13D3-42FE-B9D4-B67C6CA8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992DD7F8-21EB-451F-9EA2-D2F75FA8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laptop is a general-purpose computer that can run many different programs.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7BB62B36-B120-4858-B9C8-6376814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4EB21408-F9C8-4BA7-B511-834F6ADC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Its user can install software and change the tasks it performs. An embedded system has a dedicated function.</a:t>
            </a:r>
          </a:p>
        </p:txBody>
      </p:sp>
    </p:spTree>
    <p:extLst>
      <p:ext uri="{BB962C8B-B14F-4D97-AF65-F5344CB8AC3E}">
        <p14:creationId xmlns:p14="http://schemas.microsoft.com/office/powerpoint/2010/main" val="4412084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ic">
            <a:extLst xmlns:a="http://schemas.openxmlformats.org/drawingml/2006/main">
              <a:ext uri="{FF2B5EF4-FFF2-40B4-BE49-F238E27FC236}">
                <a16:creationId xmlns:a16="http://schemas.microsoft.com/office/drawing/2014/main" id="{0E9D1AC6-FE83-493A-BDF9-62EF11B9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EE6B90AC-5F1A-4A1D-A8CE-1166B5B6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Revision checklist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1653937-E9B0-4726-B6EC-279EA2BC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D62FD18-3DF2-483E-804F-76C80A47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20 / 21</a:t>
            </a:r>
          </a:p>
        </p:txBody>
      </p:sp>
      <p:sp>
        <p:nvSpPr>
          <p:cNvPr id="5" name="rag">
            <a:extLst xmlns:a="http://schemas.openxmlformats.org/drawingml/2006/main">
              <a:ext uri="{FF2B5EF4-FFF2-40B4-BE49-F238E27FC236}">
                <a16:creationId xmlns:a16="http://schemas.microsoft.com/office/drawing/2014/main" id="{B2D437D9-2D0C-4332-BF8B-773304E9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RAG each Topic 1.1 area on the Smart home worksheet.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76500E13-806D-4B06-A2A2-1E2F7D2A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9BD3BD3C-80B8-4DFD-AFDF-06CED5B5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992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purpose of the CPU and the fetch-execute cycle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AF2C9CD9-A28D-4C35-BB5F-80DBEF53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75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ED1E3016-D316-4F4C-A4C7-3F4064D3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57525"/>
            <a:ext cx="992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Common CPU components: ALU, CU, cache, registers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DF20286F-E08C-4F53-9EFC-CFDE63F3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06F71B4C-72AA-4771-A0D0-F0EC4AAA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90950"/>
            <a:ext cx="992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Von Neumann architecture: MAR, MDR, PC, accumulator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712B9DB0-DBD2-4F39-9833-B8A222C4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0212E025-6E47-483C-B033-0E9FDE73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24375"/>
            <a:ext cx="992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clock speed, cache size and number of cores affect performance</a:t>
            </a:r>
          </a:p>
        </p:txBody>
      </p:sp>
      <p:sp>
        <p:nvSpPr>
          <p:cNvPr id="14" name="number-5">
            <a:extLst xmlns:a="http://schemas.openxmlformats.org/drawingml/2006/main">
              <a:ext uri="{FF2B5EF4-FFF2-40B4-BE49-F238E27FC236}">
                <a16:creationId xmlns:a16="http://schemas.microsoft.com/office/drawing/2014/main" id="{C3A9A64D-D2E9-4736-B69A-0256C040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5.</a:t>
            </a:r>
          </a:p>
        </p:txBody>
      </p:sp>
      <p:sp>
        <p:nvSpPr>
          <p:cNvPr id="15" name="item-5">
            <a:extLst xmlns:a="http://schemas.openxmlformats.org/drawingml/2006/main">
              <a:ext uri="{FF2B5EF4-FFF2-40B4-BE49-F238E27FC236}">
                <a16:creationId xmlns:a16="http://schemas.microsoft.com/office/drawing/2014/main" id="{7F4902DB-3135-47E9-B093-15371929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57800"/>
            <a:ext cx="992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purpose, characteristics and examples of embedded systems</a:t>
            </a:r>
          </a:p>
        </p:txBody>
      </p:sp>
    </p:spTree>
    <p:extLst>
      <p:ext uri="{BB962C8B-B14F-4D97-AF65-F5344CB8AC3E}">
        <p14:creationId xmlns:p14="http://schemas.microsoft.com/office/powerpoint/2010/main" val="52846816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FF2B1CCB-D555-4C14-9B85-0A5E62DD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772A654A-B76C-471E-B2D6-7E6547BE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DC48407-ACF8-42EA-B077-4D61124E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Self-check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56AF707-D53A-4279-8946-DA1D8B96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21 / 21</a:t>
            </a:r>
          </a:p>
        </p:txBody>
      </p:sp>
      <p:sp>
        <p:nvSpPr>
          <p:cNvPr id="5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D1D0518E-A1BC-4BDF-9163-527A180C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D9311198-7DC6-4AFD-9C50-74E32B21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F0770CD6-BAFF-4351-9009-3CF13E39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What an embedded system is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5FCFFBCC-0957-4AA6-ABDC-D6B1E817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EF277E5F-AEE5-4452-AB1B-2DED7590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242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Examples of embedded systems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1FC138DD-C904-46AD-8542-8BC4B98C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1C9FC649-61AA-4D4C-8FF2-BD1EEF0B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embedded systems take input, process and output</a:t>
            </a:r>
          </a:p>
        </p:txBody>
      </p:sp>
    </p:spTree>
    <p:extLst>
      <p:ext uri="{BB962C8B-B14F-4D97-AF65-F5344CB8AC3E}">
        <p14:creationId xmlns:p14="http://schemas.microsoft.com/office/powerpoint/2010/main" val="586613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2026-09-25T11:38:48.8270000Z</dcterms:created>
  <dcterms:modified xsi:type="dcterms:W3CDTF">2026-09-25T11:38:48.8270000Z</dcterms:modified>
</coreProperties>
</file>