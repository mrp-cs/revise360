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 Database break-in.
Open the experience at revise360.co.uk and hand out NS_L03_DatabaseBreakIn_Worksheet.docx.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Databases and SQL.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The dangerous line.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The attack.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What attackers gain.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Stopping injection.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Testing for holes.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D: It turns the rest of the line into a comment, so it is ignored.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The attack, and work through its example again, aloud, with the class watching, then re-ask this question.
The course's own response to a wrong answer here: Commenting out the rest removes anything that would break the attacker's query.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(ns-l03-s3-c2),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1.4 Network security  |  Lesson 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Database break-in</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login box is just a text box, and a text box can accept anything, including code. Find out how SQL injection works, what it lets attackers do, and how to shut it down.</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does an SQL injection attack work, and how can it be prevented?</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concept of SQL injection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to protect against SQL injection</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1005840"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SQL</a:t>
            </a:r>
            <a:endParaRPr lang="en-US" sz="1200" dirty="0"/>
          </a:p>
        </p:txBody>
      </p:sp>
      <p:sp>
        <p:nvSpPr>
          <p:cNvPr id="16" name="Shape 14"/>
          <p:cNvSpPr/>
          <p:nvPr/>
        </p:nvSpPr>
        <p:spPr>
          <a:xfrm>
            <a:off x="1682496" y="4535424"/>
            <a:ext cx="1627632"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1682496" y="4535424"/>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Database</a:t>
            </a:r>
            <a:endParaRPr lang="en-US" sz="1200" dirty="0"/>
          </a:p>
        </p:txBody>
      </p:sp>
      <p:sp>
        <p:nvSpPr>
          <p:cNvPr id="18" name="Shape 16"/>
          <p:cNvSpPr/>
          <p:nvPr/>
        </p:nvSpPr>
        <p:spPr>
          <a:xfrm>
            <a:off x="3438144" y="4535424"/>
            <a:ext cx="1773936" cy="402336"/>
          </a:xfrm>
          <a:prstGeom prst="roundRect">
            <a:avLst>
              <a:gd name="adj" fmla="val 50000"/>
            </a:avLst>
          </a:prstGeom>
          <a:solidFill>
            <a:srgbClr val="FFFFFF"/>
          </a:solidFill>
          <a:ln w="12700">
            <a:solidFill>
              <a:srgbClr val="2D63FF"/>
            </a:solidFill>
            <a:prstDash val="solid"/>
          </a:ln>
        </p:spPr>
      </p:sp>
      <p:sp>
        <p:nvSpPr>
          <p:cNvPr id="19" name="Text 17"/>
          <p:cNvSpPr txBox="1"/>
          <p:nvPr/>
        </p:nvSpPr>
        <p:spPr>
          <a:xfrm>
            <a:off x="3438144" y="4535424"/>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Injection</a:t>
            </a:r>
            <a:endParaRPr lang="en-US" sz="1200" dirty="0"/>
          </a:p>
        </p:txBody>
      </p:sp>
      <p:sp>
        <p:nvSpPr>
          <p:cNvPr id="20" name="Shape 18"/>
          <p:cNvSpPr/>
          <p:nvPr/>
        </p:nvSpPr>
        <p:spPr>
          <a:xfrm>
            <a:off x="5340096" y="4535424"/>
            <a:ext cx="2359152" cy="402336"/>
          </a:xfrm>
          <a:prstGeom prst="roundRect">
            <a:avLst>
              <a:gd name="adj" fmla="val 50000"/>
            </a:avLst>
          </a:prstGeom>
          <a:solidFill>
            <a:srgbClr val="FFFFFF"/>
          </a:solidFill>
          <a:ln w="12700">
            <a:solidFill>
              <a:srgbClr val="2D63FF"/>
            </a:solidFill>
            <a:prstDash val="solid"/>
          </a:ln>
        </p:spPr>
      </p:sp>
      <p:sp>
        <p:nvSpPr>
          <p:cNvPr id="21" name="Text 19"/>
          <p:cNvSpPr txBox="1"/>
          <p:nvPr/>
        </p:nvSpPr>
        <p:spPr>
          <a:xfrm>
            <a:off x="5340096" y="4535424"/>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Concatenation</a:t>
            </a:r>
            <a:endParaRPr lang="en-US" sz="1200" dirty="0"/>
          </a:p>
        </p:txBody>
      </p:sp>
      <p:sp>
        <p:nvSpPr>
          <p:cNvPr id="22" name="Shape 20"/>
          <p:cNvSpPr/>
          <p:nvPr/>
        </p:nvSpPr>
        <p:spPr>
          <a:xfrm>
            <a:off x="7827264" y="4535424"/>
            <a:ext cx="1920240" cy="402336"/>
          </a:xfrm>
          <a:prstGeom prst="roundRect">
            <a:avLst>
              <a:gd name="adj" fmla="val 50000"/>
            </a:avLst>
          </a:prstGeom>
          <a:solidFill>
            <a:srgbClr val="FFFFFF"/>
          </a:solidFill>
          <a:ln w="12700">
            <a:solidFill>
              <a:srgbClr val="2D63FF"/>
            </a:solidFill>
            <a:prstDash val="solid"/>
          </a:ln>
        </p:spPr>
      </p:sp>
      <p:sp>
        <p:nvSpPr>
          <p:cNvPr id="23" name="Text 21"/>
          <p:cNvSpPr txBox="1"/>
          <p:nvPr/>
        </p:nvSpPr>
        <p:spPr>
          <a:xfrm>
            <a:off x="7827264" y="4535424"/>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Validation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website login box passes whatever you type straight into a database query. Suggest what could go wrong, and who might take advantage of it.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Database break-in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Databases and SQL</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Websites store usernames, passwords and records in a database.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SQL (Structured Query Language) is used to ask the database for records, and to add, change or delete them.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 FROM users WHERE name = 'Sam' asks for Sam's record.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in your own words what SQL is used for.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is used to...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The dangerous line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code in your starter joins the user's input onto the query as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Joining a string to a variable like this is called concatenation.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Whatever the user types becomes part of the SQL command.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line of the starter code is the dangerous one, and why?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problem with the code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The attack</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attacker types SQL into the text box instead of a username.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Entering ' OR 1=1 -- makes the condition always true and comments out the rest.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database returns every record, and the attacker is logged in.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how typing ' OR 1=1 -- into a login box can work.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SQL injection attack works by...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attackers gain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Log in as another user, including an administrator.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every record: names, emails, passwords and card details.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Change or delete records, or even destroy whole tables.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could an attacker do with a school's student database?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successful SQL injection lets an attacker...</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Stopping injection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Validate input: check it matches what's expected, such as letters and numbers only.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Sanitise input: remove or escape dangerous characters like quotation marks.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Use parameterised queries, which keep the user's input separate from the SQL command.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Give the website's database account only the permissions it needs.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defence is the strongest, and why?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injection can be prevented by...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Testing for holes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Penetration testers deliberately try injection attacks to find weaknesses.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Detailed error messages help attackers, so live sites should hide them.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Old, unpatched website software is a common way in.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live website never show detailed database errors?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find weaknesses, organisations...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is the -- for?</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adds two records</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subtracts a value</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joins two tables</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turns the rest of the line into a comment, so it is ignored</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Secure the login</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The security team is reviewing a login page. Tap the star and sort each practice into safe or risky.</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Little Bobby Tables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famous web comic shows a pupil named 'Robert'); DROP TABLE Students;--' whose name deletes a school's database. It's a joke, but the attack is real.</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Still in the top ten</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Injection attacks have been in the OWASP list of the ten most serious web security risks for over 20 years.</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TalkTalk</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 2015, a UK telecoms company was fined £400,000 after an SQL injection attack exposed the details of around 157,000 customers.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It's not just logins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Search boxes, contact forms and even web addresses can all be injection points if the input isn't handled safely.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what happens during an SQL injection attack.</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two techniques a programmer can use to prevent SQL injection.</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SQL injection is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the attack works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to protect against it</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Database break-in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1.4 Network security  |  Lesson 3 — Database break-in</dc:title>
  <dc:subject>OCR J277 GCSE Computer Science</dc:subject>
  <dc:creator>Revise 360 Ltd</dc:creator>
  <cp:lastModifiedBy>Revise 360 Ltd</cp:lastModifiedBy>
  <cp:revision>1</cp:revision>
  <dcterms:created xsi:type="dcterms:W3CDTF">2026-10-03T17:08:49Z</dcterms:created>
  <dcterms:modified xsi:type="dcterms:W3CDTF">2026-10-03T17:08:49Z</dcterms:modified>
</cp:coreProperties>
</file>