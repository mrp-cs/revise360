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10: Fault finder.
Open the experience at revise360.co.uk and hand out AL_L10_FaultFinder_Worksheet.docx.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Share the objectives, then go straight into the starter. Devices stay away for the first five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Silent start. Take two or three answers before moving on: this is where misconceptions surface.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Insist on writing before tapping. That single rule is the difference between revision and a quiz game.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1: Syntax errors.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2: Logic errors.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3: Telling them apart.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4: Finding the line.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5: Suggesting a fix.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6: Answering error questions.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answer is C: It shows exactly where what happens stops matching what should happen.
Do not say it yet. Every pupil commits first - fingers, whiteboards or a show of hands on each letter in turn - and you count the split before anyone can change their mind.
IF MOST OF THE CLASS IS RIGHT: say why it is right in one sentence and go straight on to the independent work.
IF A SIGNIFICANT GROUP IS ON ONE WRONG LETTER: that option is the misconception to teach against before anyone goes on. Go back to station 4, Finding the line, and work through its example again, aloud, with the class watching, then re-ask this question.
The course's own response to a wrong answer here: That is what a trace table is for, in the next lesson.
A limitation, stated rather than papered over: one response covers every wrong option; it does not say what to revisit for each one. The course does not record what each separate wrong option means, and this slide does not invent it. Decide your own reteach for each option before the lesson; the options above are the start of it.
This is a real activity from the experience (al-l10-s4-c2), so the wording here is the wording a pupil will see.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Make them commit to an answer on paper before they tap the star. Guessing first costs them the learning.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these as a settler, or as something for early finishers to read in the experience.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Timed and silent. Mark against the answer sheet, then ask students to record their weakest area.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Students copy their score-screen breakdown onto the worksheet, then rate themselves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01828"/>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822960" y="1417320"/>
            <a:ext cx="10515600" cy="411480"/>
          </a:xfrm>
          <a:prstGeom prst="rect">
            <a:avLst/>
          </a:prstGeom>
          <a:noFill/>
          <a:ln/>
        </p:spPr>
        <p:txBody>
          <a:bodyPr wrap="square" lIns="0" tIns="0" rIns="0" bIns="0" rtlCol="0" anchor="ctr"/>
          <a:lstStyle/>
          <a:p>
            <a:pPr indent="0" marL="0">
              <a:buNone/>
            </a:pPr>
            <a:r>
              <a:rPr lang="en-US" sz="1500" dirty="0">
                <a:solidFill>
                  <a:srgbClr val="F4B942"/>
                </a:solidFill>
                <a:latin typeface="IBM Plex Mono" pitchFamily="34" charset="0"/>
                <a:ea typeface="IBM Plex Mono" pitchFamily="34" charset="-122"/>
                <a:cs typeface="IBM Plex Mono" pitchFamily="34" charset="-120"/>
              </a:rPr>
              <a:t>2.1 Algorithms  |  Lesson 10</a:t>
            </a:r>
            <a:endParaRPr lang="en-US" sz="1500" dirty="0"/>
          </a:p>
        </p:txBody>
      </p:sp>
      <p:sp>
        <p:nvSpPr>
          <p:cNvPr id="4" name="Text 2"/>
          <p:cNvSpPr txBox="1"/>
          <p:nvPr/>
        </p:nvSpPr>
        <p:spPr>
          <a:xfrm>
            <a:off x="822960" y="1920240"/>
            <a:ext cx="10515600" cy="1280160"/>
          </a:xfrm>
          <a:prstGeom prst="rect">
            <a:avLst/>
          </a:prstGeom>
          <a:noFill/>
          <a:ln/>
        </p:spPr>
        <p:txBody>
          <a:bodyPr wrap="square" lIns="0" tIns="0" rIns="0" bIns="0" rtlCol="0" anchor="ctr"/>
          <a:lstStyle/>
          <a:p>
            <a:pPr indent="0" marL="0">
              <a:buNone/>
            </a:pPr>
            <a:r>
              <a:rPr lang="en-US" sz="6000" b="1" dirty="0">
                <a:solidFill>
                  <a:srgbClr val="FFFFFF"/>
                </a:solidFill>
                <a:latin typeface="IBM Plex Sans" pitchFamily="34" charset="0"/>
                <a:ea typeface="IBM Plex Sans" pitchFamily="34" charset="-122"/>
                <a:cs typeface="IBM Plex Sans" pitchFamily="34" charset="-120"/>
              </a:rPr>
              <a:t>Fault finder</a:t>
            </a:r>
            <a:endParaRPr lang="en-US" sz="6000" dirty="0"/>
          </a:p>
        </p:txBody>
      </p:sp>
      <p:sp>
        <p:nvSpPr>
          <p:cNvPr id="5" name="Text 3"/>
          <p:cNvSpPr txBox="1"/>
          <p:nvPr/>
        </p:nvSpPr>
        <p:spPr>
          <a:xfrm>
            <a:off x="822960" y="3291840"/>
            <a:ext cx="9509760" cy="1371600"/>
          </a:xfrm>
          <a:prstGeom prst="rect">
            <a:avLst/>
          </a:prstGeom>
          <a:noFill/>
          <a:ln/>
        </p:spPr>
        <p:txBody>
          <a:bodyPr wrap="square" lIns="0" tIns="0" rIns="0" bIns="0" rtlCol="0" anchor="ctr"/>
          <a:lstStyle/>
          <a:p>
            <a:pPr indent="0" marL="0">
              <a:lnSpc>
                <a:spcPct val="125000"/>
              </a:lnSpc>
              <a:buNone/>
            </a:pPr>
            <a:r>
              <a:rPr lang="en-US" sz="1800" dirty="0">
                <a:solidFill>
                  <a:srgbClr val="C7CDD9"/>
                </a:solidFill>
                <a:latin typeface="IBM Plex Sans" pitchFamily="34" charset="0"/>
                <a:ea typeface="IBM Plex Sans" pitchFamily="34" charset="-122"/>
                <a:cs typeface="IBM Plex Sans" pitchFamily="34" charset="-120"/>
              </a:rPr>
              <a:t>A program that will not run and a program that runs but gives the wrong answer are two very different problems. Learn to name each kind of error, find it in the code and say how to fix it.</a:t>
            </a:r>
            <a:endParaRPr lang="en-US" sz="1800" dirty="0"/>
          </a:p>
        </p:txBody>
      </p:sp>
      <p:sp>
        <p:nvSpPr>
          <p:cNvPr id="6" name="Shape 4"/>
          <p:cNvSpPr/>
          <p:nvPr/>
        </p:nvSpPr>
        <p:spPr>
          <a:xfrm>
            <a:off x="822960" y="4846320"/>
            <a:ext cx="2926080" cy="0"/>
          </a:xfrm>
          <a:prstGeom prst="line">
            <a:avLst/>
          </a:prstGeom>
          <a:noFill/>
          <a:ln w="31750">
            <a:solidFill>
              <a:srgbClr val="2D63FF"/>
            </a:solidFill>
            <a:prstDash val="solid"/>
          </a:ln>
        </p:spPr>
      </p:sp>
      <p:sp>
        <p:nvSpPr>
          <p:cNvPr id="7" name="Text 5"/>
          <p:cNvSpPr txBox="1"/>
          <p:nvPr/>
        </p:nvSpPr>
        <p:spPr>
          <a:xfrm>
            <a:off x="822960" y="5029200"/>
            <a:ext cx="10515600" cy="365760"/>
          </a:xfrm>
          <a:prstGeom prst="rect">
            <a:avLst/>
          </a:prstGeom>
          <a:noFill/>
          <a:ln/>
        </p:spPr>
        <p:txBody>
          <a:bodyPr wrap="square" lIns="0" tIns="0" rIns="0" bIns="0" rtlCol="0" anchor="ctr"/>
          <a:lstStyle/>
          <a:p>
            <a:pPr indent="0" marL="0">
              <a:buNone/>
            </a:pPr>
            <a:r>
              <a:rPr lang="en-US" sz="1300" dirty="0">
                <a:solidFill>
                  <a:srgbClr val="667085"/>
                </a:solidFill>
                <a:latin typeface="IBM Plex Mono" pitchFamily="34" charset="0"/>
                <a:ea typeface="IBM Plex Mono" pitchFamily="34" charset="-122"/>
                <a:cs typeface="IBM Plex Mono" pitchFamily="34" charset="-120"/>
              </a:rPr>
              <a:t>OCR J277 Paper 2  |  Computational thinking, algorithms and programming</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2.1 Algorithms  |  Lesson 10</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502920" y="411480"/>
            <a:ext cx="11155680" cy="777240"/>
          </a:xfrm>
          <a:prstGeom prst="rect">
            <a:avLst/>
          </a:prstGeom>
          <a:noFill/>
          <a:ln/>
        </p:spPr>
        <p:txBody>
          <a:bodyPr wrap="square" lIns="0" tIns="0" rIns="0" bIns="0" rtlCol="0" anchor="ctr"/>
          <a:lstStyle/>
          <a:p>
            <a:pPr indent="0" marL="0">
              <a:buNone/>
            </a:pPr>
            <a:r>
              <a:rPr lang="en-US" sz="3200" b="1" dirty="0">
                <a:solidFill>
                  <a:srgbClr val="101828"/>
                </a:solidFill>
                <a:latin typeface="IBM Plex Sans" pitchFamily="34" charset="0"/>
                <a:ea typeface="IBM Plex Sans" pitchFamily="34" charset="-122"/>
                <a:cs typeface="IBM Plex Sans" pitchFamily="34" charset="-120"/>
              </a:rPr>
              <a:t>By the end of this lesson</a:t>
            </a:r>
            <a:endParaRPr lang="en-US" sz="3200" dirty="0"/>
          </a:p>
        </p:txBody>
      </p:sp>
      <p:sp>
        <p:nvSpPr>
          <p:cNvPr id="6" name="Text 4"/>
          <p:cNvSpPr txBox="1"/>
          <p:nvPr/>
        </p:nvSpPr>
        <p:spPr>
          <a:xfrm>
            <a:off x="502920" y="1170432"/>
            <a:ext cx="11155680" cy="41148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What kinds of error occur when programming, and how are they found?</a:t>
            </a:r>
            <a:endParaRPr lang="en-US" sz="1500" dirty="0"/>
          </a:p>
        </p:txBody>
      </p:sp>
      <p:sp>
        <p:nvSpPr>
          <p:cNvPr id="7" name="Shape 5"/>
          <p:cNvSpPr/>
          <p:nvPr/>
        </p:nvSpPr>
        <p:spPr>
          <a:xfrm>
            <a:off x="548640" y="1965960"/>
            <a:ext cx="566928" cy="566928"/>
          </a:xfrm>
          <a:prstGeom prst="ellipse">
            <a:avLst/>
          </a:prstGeom>
          <a:solidFill>
            <a:srgbClr val="2D63FF"/>
          </a:solidFill>
          <a:ln/>
        </p:spPr>
      </p:sp>
      <p:sp>
        <p:nvSpPr>
          <p:cNvPr id="8" name="Text 6"/>
          <p:cNvSpPr txBox="1"/>
          <p:nvPr/>
        </p:nvSpPr>
        <p:spPr>
          <a:xfrm>
            <a:off x="548640" y="196596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1</a:t>
            </a:r>
            <a:endParaRPr lang="en-US" sz="2000" dirty="0"/>
          </a:p>
        </p:txBody>
      </p:sp>
      <p:sp>
        <p:nvSpPr>
          <p:cNvPr id="9" name="Text 7"/>
          <p:cNvSpPr txBox="1"/>
          <p:nvPr/>
        </p:nvSpPr>
        <p:spPr>
          <a:xfrm>
            <a:off x="1325880" y="1965960"/>
            <a:ext cx="10332720" cy="566928"/>
          </a:xfrm>
          <a:prstGeom prst="rect">
            <a:avLst/>
          </a:prstGeom>
          <a:noFill/>
          <a:ln/>
        </p:spPr>
        <p:txBody>
          <a:bodyPr wrap="square" lIns="0" tIns="0" rIns="0" bIns="0" rtlCol="0" anchor="ctr"/>
          <a:lstStyle/>
          <a:p>
            <a:pPr indent="0" marL="0">
              <a:buNone/>
            </a:pPr>
            <a:r>
              <a:rPr lang="en-US" sz="1900" dirty="0">
                <a:solidFill>
                  <a:srgbClr val="101828"/>
                </a:solidFill>
                <a:latin typeface="IBM Plex Sans" pitchFamily="34" charset="0"/>
                <a:ea typeface="IBM Plex Sans" pitchFamily="34" charset="-122"/>
                <a:cs typeface="IBM Plex Sans" pitchFamily="34" charset="-120"/>
              </a:rPr>
              <a:t>Know what a syntax error is</a:t>
            </a:r>
            <a:endParaRPr lang="en-US" sz="1900" dirty="0"/>
          </a:p>
        </p:txBody>
      </p:sp>
      <p:sp>
        <p:nvSpPr>
          <p:cNvPr id="10" name="Shape 8"/>
          <p:cNvSpPr/>
          <p:nvPr/>
        </p:nvSpPr>
        <p:spPr>
          <a:xfrm>
            <a:off x="548640" y="2898648"/>
            <a:ext cx="566928" cy="566928"/>
          </a:xfrm>
          <a:prstGeom prst="ellipse">
            <a:avLst/>
          </a:prstGeom>
          <a:solidFill>
            <a:srgbClr val="2D63FF"/>
          </a:solidFill>
          <a:ln/>
        </p:spPr>
      </p:sp>
      <p:sp>
        <p:nvSpPr>
          <p:cNvPr id="11" name="Text 9"/>
          <p:cNvSpPr txBox="1"/>
          <p:nvPr/>
        </p:nvSpPr>
        <p:spPr>
          <a:xfrm>
            <a:off x="548640" y="2898648"/>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2</a:t>
            </a:r>
            <a:endParaRPr lang="en-US" sz="2000" dirty="0"/>
          </a:p>
        </p:txBody>
      </p:sp>
      <p:sp>
        <p:nvSpPr>
          <p:cNvPr id="12" name="Text 10"/>
          <p:cNvSpPr txBox="1"/>
          <p:nvPr/>
        </p:nvSpPr>
        <p:spPr>
          <a:xfrm>
            <a:off x="1325880" y="2898648"/>
            <a:ext cx="10332720" cy="566928"/>
          </a:xfrm>
          <a:prstGeom prst="rect">
            <a:avLst/>
          </a:prstGeom>
          <a:noFill/>
          <a:ln/>
        </p:spPr>
        <p:txBody>
          <a:bodyPr wrap="square" lIns="0" tIns="0" rIns="0" bIns="0" rtlCol="0" anchor="ctr"/>
          <a:lstStyle/>
          <a:p>
            <a:pPr indent="0" marL="0">
              <a:buNone/>
            </a:pPr>
            <a:r>
              <a:rPr lang="en-US" sz="1900" dirty="0">
                <a:solidFill>
                  <a:srgbClr val="101828"/>
                </a:solidFill>
                <a:latin typeface="IBM Plex Sans" pitchFamily="34" charset="0"/>
                <a:ea typeface="IBM Plex Sans" pitchFamily="34" charset="-122"/>
                <a:cs typeface="IBM Plex Sans" pitchFamily="34" charset="-120"/>
              </a:rPr>
              <a:t>Know what a logic error is</a:t>
            </a:r>
            <a:endParaRPr lang="en-US" sz="1900" dirty="0"/>
          </a:p>
        </p:txBody>
      </p:sp>
      <p:sp>
        <p:nvSpPr>
          <p:cNvPr id="13" name="Shape 11"/>
          <p:cNvSpPr/>
          <p:nvPr/>
        </p:nvSpPr>
        <p:spPr>
          <a:xfrm>
            <a:off x="548640" y="3831336"/>
            <a:ext cx="566928" cy="566928"/>
          </a:xfrm>
          <a:prstGeom prst="ellipse">
            <a:avLst/>
          </a:prstGeom>
          <a:solidFill>
            <a:srgbClr val="2D63FF"/>
          </a:solidFill>
          <a:ln/>
        </p:spPr>
      </p:sp>
      <p:sp>
        <p:nvSpPr>
          <p:cNvPr id="14" name="Text 12"/>
          <p:cNvSpPr txBox="1"/>
          <p:nvPr/>
        </p:nvSpPr>
        <p:spPr>
          <a:xfrm>
            <a:off x="548640" y="3831336"/>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3</a:t>
            </a:r>
            <a:endParaRPr lang="en-US" sz="2000" dirty="0"/>
          </a:p>
        </p:txBody>
      </p:sp>
      <p:sp>
        <p:nvSpPr>
          <p:cNvPr id="15" name="Text 13"/>
          <p:cNvSpPr txBox="1"/>
          <p:nvPr/>
        </p:nvSpPr>
        <p:spPr>
          <a:xfrm>
            <a:off x="1325880" y="3831336"/>
            <a:ext cx="10332720" cy="566928"/>
          </a:xfrm>
          <a:prstGeom prst="rect">
            <a:avLst/>
          </a:prstGeom>
          <a:noFill/>
          <a:ln/>
        </p:spPr>
        <p:txBody>
          <a:bodyPr wrap="square" lIns="0" tIns="0" rIns="0" bIns="0" rtlCol="0" anchor="ctr"/>
          <a:lstStyle/>
          <a:p>
            <a:pPr indent="0" marL="0">
              <a:buNone/>
            </a:pPr>
            <a:r>
              <a:rPr lang="en-US" sz="1900" dirty="0">
                <a:solidFill>
                  <a:srgbClr val="101828"/>
                </a:solidFill>
                <a:latin typeface="IBM Plex Sans" pitchFamily="34" charset="0"/>
                <a:ea typeface="IBM Plex Sans" pitchFamily="34" charset="-122"/>
                <a:cs typeface="IBM Plex Sans" pitchFamily="34" charset="-120"/>
              </a:rPr>
              <a:t>Be able to identify errors in code and suggest fixes</a:t>
            </a:r>
            <a:endParaRPr lang="en-US" sz="1900" dirty="0"/>
          </a:p>
        </p:txBody>
      </p:sp>
      <p:sp>
        <p:nvSpPr>
          <p:cNvPr id="16" name="Text 14"/>
          <p:cNvSpPr txBox="1"/>
          <p:nvPr/>
        </p:nvSpPr>
        <p:spPr>
          <a:xfrm>
            <a:off x="548640" y="5084064"/>
            <a:ext cx="2743200" cy="320040"/>
          </a:xfrm>
          <a:prstGeom prst="rect">
            <a:avLst/>
          </a:prstGeom>
          <a:noFill/>
          <a:ln/>
        </p:spPr>
        <p:txBody>
          <a:bodyPr wrap="square" lIns="0" tIns="0" rIns="0" bIns="0" rtlCol="0" anchor="ctr"/>
          <a:lstStyle/>
          <a:p>
            <a:pPr indent="0" marL="0">
              <a:buNone/>
            </a:pPr>
            <a:r>
              <a:rPr lang="en-US" sz="1200" dirty="0">
                <a:solidFill>
                  <a:srgbClr val="667085"/>
                </a:solidFill>
                <a:latin typeface="IBM Plex Mono" pitchFamily="34" charset="0"/>
                <a:ea typeface="IBM Plex Mono" pitchFamily="34" charset="-122"/>
                <a:cs typeface="IBM Plex Mono" pitchFamily="34" charset="-120"/>
              </a:rPr>
              <a:t>Key words</a:t>
            </a:r>
            <a:endParaRPr lang="en-US" sz="1200" dirty="0"/>
          </a:p>
        </p:txBody>
      </p:sp>
      <p:sp>
        <p:nvSpPr>
          <p:cNvPr id="17" name="Shape 15"/>
          <p:cNvSpPr/>
          <p:nvPr/>
        </p:nvSpPr>
        <p:spPr>
          <a:xfrm>
            <a:off x="548640" y="5468112"/>
            <a:ext cx="2212848" cy="402336"/>
          </a:xfrm>
          <a:prstGeom prst="roundRect">
            <a:avLst>
              <a:gd name="adj" fmla="val 50000"/>
            </a:avLst>
          </a:prstGeom>
          <a:solidFill>
            <a:srgbClr val="FFFFFF"/>
          </a:solidFill>
          <a:ln w="12700">
            <a:solidFill>
              <a:srgbClr val="2D63FF"/>
            </a:solidFill>
            <a:prstDash val="solid"/>
          </a:ln>
        </p:spPr>
      </p:sp>
      <p:sp>
        <p:nvSpPr>
          <p:cNvPr id="18" name="Text 16"/>
          <p:cNvSpPr txBox="1"/>
          <p:nvPr/>
        </p:nvSpPr>
        <p:spPr>
          <a:xfrm>
            <a:off x="548640" y="5468112"/>
            <a:ext cx="2212848"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Syntax error</a:t>
            </a:r>
            <a:endParaRPr lang="en-US" sz="1200" dirty="0"/>
          </a:p>
        </p:txBody>
      </p:sp>
      <p:sp>
        <p:nvSpPr>
          <p:cNvPr id="19" name="Shape 17"/>
          <p:cNvSpPr/>
          <p:nvPr/>
        </p:nvSpPr>
        <p:spPr>
          <a:xfrm>
            <a:off x="2889504" y="5468112"/>
            <a:ext cx="2066544" cy="402336"/>
          </a:xfrm>
          <a:prstGeom prst="roundRect">
            <a:avLst>
              <a:gd name="adj" fmla="val 50000"/>
            </a:avLst>
          </a:prstGeom>
          <a:solidFill>
            <a:srgbClr val="FFFFFF"/>
          </a:solidFill>
          <a:ln w="12700">
            <a:solidFill>
              <a:srgbClr val="2D63FF"/>
            </a:solidFill>
            <a:prstDash val="solid"/>
          </a:ln>
        </p:spPr>
      </p:sp>
      <p:sp>
        <p:nvSpPr>
          <p:cNvPr id="20" name="Text 18"/>
          <p:cNvSpPr txBox="1"/>
          <p:nvPr/>
        </p:nvSpPr>
        <p:spPr>
          <a:xfrm>
            <a:off x="2889504" y="5468112"/>
            <a:ext cx="2066544"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Logic error</a:t>
            </a:r>
            <a:endParaRPr lang="en-US" sz="1200" dirty="0"/>
          </a:p>
        </p:txBody>
      </p:sp>
      <p:sp>
        <p:nvSpPr>
          <p:cNvPr id="21" name="Shape 19"/>
          <p:cNvSpPr/>
          <p:nvPr/>
        </p:nvSpPr>
        <p:spPr>
          <a:xfrm>
            <a:off x="5084064" y="5468112"/>
            <a:ext cx="1005840" cy="402336"/>
          </a:xfrm>
          <a:prstGeom prst="roundRect">
            <a:avLst>
              <a:gd name="adj" fmla="val 50000"/>
            </a:avLst>
          </a:prstGeom>
          <a:solidFill>
            <a:srgbClr val="FFFFFF"/>
          </a:solidFill>
          <a:ln w="12700">
            <a:solidFill>
              <a:srgbClr val="2D63FF"/>
            </a:solidFill>
            <a:prstDash val="solid"/>
          </a:ln>
        </p:spPr>
      </p:sp>
      <p:sp>
        <p:nvSpPr>
          <p:cNvPr id="22" name="Text 20"/>
          <p:cNvSpPr txBox="1"/>
          <p:nvPr/>
        </p:nvSpPr>
        <p:spPr>
          <a:xfrm>
            <a:off x="5084064" y="5468112"/>
            <a:ext cx="1005840"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Bug</a:t>
            </a:r>
            <a:endParaRPr lang="en-US" sz="1200" dirty="0"/>
          </a:p>
        </p:txBody>
      </p:sp>
      <p:sp>
        <p:nvSpPr>
          <p:cNvPr id="23" name="Shape 21"/>
          <p:cNvSpPr/>
          <p:nvPr/>
        </p:nvSpPr>
        <p:spPr>
          <a:xfrm>
            <a:off x="6217920" y="5468112"/>
            <a:ext cx="1773936" cy="402336"/>
          </a:xfrm>
          <a:prstGeom prst="roundRect">
            <a:avLst>
              <a:gd name="adj" fmla="val 50000"/>
            </a:avLst>
          </a:prstGeom>
          <a:solidFill>
            <a:srgbClr val="FFFFFF"/>
          </a:solidFill>
          <a:ln w="12700">
            <a:solidFill>
              <a:srgbClr val="2D63FF"/>
            </a:solidFill>
            <a:prstDash val="solid"/>
          </a:ln>
        </p:spPr>
      </p:sp>
      <p:sp>
        <p:nvSpPr>
          <p:cNvPr id="24" name="Text 22"/>
          <p:cNvSpPr txBox="1"/>
          <p:nvPr/>
        </p:nvSpPr>
        <p:spPr>
          <a:xfrm>
            <a:off x="6217920" y="5468112"/>
            <a:ext cx="1773936"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Debugging</a:t>
            </a:r>
            <a:endParaRPr lang="en-US" sz="1200" dirty="0"/>
          </a:p>
        </p:txBody>
      </p:sp>
      <p:sp>
        <p:nvSpPr>
          <p:cNvPr id="25" name="Shape 23"/>
          <p:cNvSpPr/>
          <p:nvPr/>
        </p:nvSpPr>
        <p:spPr>
          <a:xfrm>
            <a:off x="8119872" y="5468112"/>
            <a:ext cx="1005840" cy="402336"/>
          </a:xfrm>
          <a:prstGeom prst="roundRect">
            <a:avLst>
              <a:gd name="adj" fmla="val 50000"/>
            </a:avLst>
          </a:prstGeom>
          <a:solidFill>
            <a:srgbClr val="FFFFFF"/>
          </a:solidFill>
          <a:ln w="12700">
            <a:solidFill>
              <a:srgbClr val="2D63FF"/>
            </a:solidFill>
            <a:prstDash val="solid"/>
          </a:ln>
        </p:spPr>
      </p:sp>
      <p:sp>
        <p:nvSpPr>
          <p:cNvPr id="26" name="Text 24"/>
          <p:cNvSpPr txBox="1"/>
          <p:nvPr/>
        </p:nvSpPr>
        <p:spPr>
          <a:xfrm>
            <a:off x="8119872" y="5468112"/>
            <a:ext cx="1005840"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Fix</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2.1 Algorithms  |  Lesson 10</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Shape 3"/>
          <p:cNvSpPr/>
          <p:nvPr/>
        </p:nvSpPr>
        <p:spPr>
          <a:xfrm>
            <a:off x="502920" y="457200"/>
            <a:ext cx="2103120" cy="457200"/>
          </a:xfrm>
          <a:prstGeom prst="roundRect">
            <a:avLst>
              <a:gd name="adj" fmla="val 20000"/>
            </a:avLst>
          </a:prstGeom>
          <a:solidFill>
            <a:srgbClr val="F4B942"/>
          </a:solidFill>
          <a:ln/>
        </p:spPr>
      </p:sp>
      <p:sp>
        <p:nvSpPr>
          <p:cNvPr id="6" name="Text 4"/>
          <p:cNvSpPr txBox="1"/>
          <p:nvPr/>
        </p:nvSpPr>
        <p:spPr>
          <a:xfrm>
            <a:off x="502920" y="457200"/>
            <a:ext cx="2103120" cy="457200"/>
          </a:xfrm>
          <a:prstGeom prst="rect">
            <a:avLst/>
          </a:prstGeom>
          <a:noFill/>
          <a:ln/>
        </p:spPr>
        <p:txBody>
          <a:bodyPr wrap="square" lIns="0" tIns="0" rIns="0" bIns="0" rtlCol="0" anchor="ctr"/>
          <a:lstStyle/>
          <a:p>
            <a:pPr algn="ctr" indent="0" marL="0">
              <a:buNone/>
            </a:pPr>
            <a:r>
              <a:rPr lang="en-US" sz="1300" b="1" dirty="0">
                <a:solidFill>
                  <a:srgbClr val="101828"/>
                </a:solidFill>
                <a:latin typeface="IBM Plex Mono" pitchFamily="34" charset="0"/>
                <a:ea typeface="IBM Plex Mono" pitchFamily="34" charset="-122"/>
                <a:cs typeface="IBM Plex Mono" pitchFamily="34" charset="-120"/>
              </a:rPr>
              <a:t>STARTER</a:t>
            </a:r>
            <a:endParaRPr lang="en-US" sz="1300" dirty="0"/>
          </a:p>
        </p:txBody>
      </p:sp>
      <p:sp>
        <p:nvSpPr>
          <p:cNvPr id="7" name="Text 5"/>
          <p:cNvSpPr txBox="1"/>
          <p:nvPr/>
        </p:nvSpPr>
        <p:spPr>
          <a:xfrm>
            <a:off x="2788920" y="457200"/>
            <a:ext cx="5486400" cy="457200"/>
          </a:xfrm>
          <a:prstGeom prst="rect">
            <a:avLst/>
          </a:prstGeom>
          <a:noFill/>
          <a:ln/>
        </p:spPr>
        <p:txBody>
          <a:bodyPr wrap="square" lIns="0" tIns="0" rIns="0" bIns="0" rtlCol="0" anchor="ctr"/>
          <a:lstStyle/>
          <a:p>
            <a:pPr indent="0" marL="0">
              <a:buNone/>
            </a:pPr>
            <a:r>
              <a:rPr lang="en-US" sz="1400" dirty="0">
                <a:solidFill>
                  <a:srgbClr val="667085"/>
                </a:solidFill>
                <a:latin typeface="IBM Plex Sans" pitchFamily="34" charset="0"/>
                <a:ea typeface="IBM Plex Sans" pitchFamily="34" charset="-122"/>
                <a:cs typeface="IBM Plex Sans" pitchFamily="34" charset="-120"/>
              </a:rPr>
              <a:t>Five minutes, on paper</a:t>
            </a:r>
            <a:endParaRPr lang="en-US" sz="1400" dirty="0"/>
          </a:p>
        </p:txBody>
      </p:sp>
      <p:sp>
        <p:nvSpPr>
          <p:cNvPr id="8" name="Shape 6"/>
          <p:cNvSpPr/>
          <p:nvPr/>
        </p:nvSpPr>
        <p:spPr>
          <a:xfrm>
            <a:off x="502920" y="1234440"/>
            <a:ext cx="11155680" cy="3200400"/>
          </a:xfrm>
          <a:prstGeom prst="roundRect">
            <a:avLst>
              <a:gd name="adj" fmla="val 3429"/>
            </a:avLst>
          </a:prstGeom>
          <a:solidFill>
            <a:srgbClr val="FFFFFF"/>
          </a:solidFill>
          <a:ln w="15875">
            <a:solidFill>
              <a:srgbClr val="2D63FF"/>
            </a:solidFill>
            <a:prstDash val="solid"/>
          </a:ln>
        </p:spPr>
      </p:sp>
      <p:sp>
        <p:nvSpPr>
          <p:cNvPr id="9" name="Text 7"/>
          <p:cNvSpPr txBox="1"/>
          <p:nvPr/>
        </p:nvSpPr>
        <p:spPr>
          <a:xfrm>
            <a:off x="1005840" y="1645920"/>
            <a:ext cx="10149840" cy="2377440"/>
          </a:xfrm>
          <a:prstGeom prst="rect">
            <a:avLst/>
          </a:prstGeom>
          <a:noFill/>
          <a:ln/>
        </p:spPr>
        <p:txBody>
          <a:bodyPr wrap="square" lIns="0" tIns="0" rIns="0" bIns="0" rtlCol="0" anchor="ctr"/>
          <a:lstStyle/>
          <a:p>
            <a:pPr indent="0" marL="0">
              <a:lnSpc>
                <a:spcPct val="130000"/>
              </a:lnSpc>
              <a:buNone/>
            </a:pPr>
            <a:r>
              <a:rPr lang="en-US" sz="2600" dirty="0">
                <a:solidFill>
                  <a:srgbClr val="101828"/>
                </a:solidFill>
                <a:latin typeface="IBM Plex Sans" pitchFamily="34" charset="0"/>
                <a:ea typeface="IBM Plex Sans" pitchFamily="34" charset="-122"/>
                <a:cs typeface="IBM Plex Sans" pitchFamily="34" charset="-120"/>
              </a:rPr>
              <a:t>Write down the last time a program of yours didn't work. Did it refuse to run, or run and do the wrong thing?</a:t>
            </a:r>
            <a:endParaRPr lang="en-US" sz="2600" dirty="0"/>
          </a:p>
        </p:txBody>
      </p:sp>
      <p:sp>
        <p:nvSpPr>
          <p:cNvPr id="10" name="Text 8"/>
          <p:cNvSpPr txBox="1"/>
          <p:nvPr/>
        </p:nvSpPr>
        <p:spPr>
          <a:xfrm>
            <a:off x="502920" y="4709160"/>
            <a:ext cx="11155680" cy="45720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No devices yet. Write your answer on the worksheet before anyone talks.</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2.1 Algorithms  |  Lesson 10</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502920" y="411480"/>
            <a:ext cx="11155680" cy="777240"/>
          </a:xfrm>
          <a:prstGeom prst="rect">
            <a:avLst/>
          </a:prstGeom>
          <a:noFill/>
          <a:ln/>
        </p:spPr>
        <p:txBody>
          <a:bodyPr wrap="square" lIns="0" tIns="0" rIns="0" bIns="0" rtlCol="0" anchor="ctr"/>
          <a:lstStyle/>
          <a:p>
            <a:pPr indent="0" marL="0">
              <a:buNone/>
            </a:pPr>
            <a:r>
              <a:rPr lang="en-US" sz="3200" b="1" dirty="0">
                <a:solidFill>
                  <a:srgbClr val="101828"/>
                </a:solidFill>
                <a:latin typeface="IBM Plex Sans" pitchFamily="34" charset="0"/>
                <a:ea typeface="IBM Plex Sans" pitchFamily="34" charset="-122"/>
                <a:cs typeface="IBM Plex Sans" pitchFamily="34" charset="-120"/>
              </a:rPr>
              <a:t>Into the experience</a:t>
            </a:r>
            <a:endParaRPr lang="en-US" sz="3200" dirty="0"/>
          </a:p>
        </p:txBody>
      </p:sp>
      <p:sp>
        <p:nvSpPr>
          <p:cNvPr id="6" name="Text 4"/>
          <p:cNvSpPr txBox="1"/>
          <p:nvPr/>
        </p:nvSpPr>
        <p:spPr>
          <a:xfrm>
            <a:off x="502920" y="1170432"/>
            <a:ext cx="11155680" cy="41148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Open Fault finder on revise360.co.uk</a:t>
            </a:r>
            <a:endParaRPr lang="en-US" sz="1500" dirty="0"/>
          </a:p>
        </p:txBody>
      </p:sp>
      <p:sp>
        <p:nvSpPr>
          <p:cNvPr id="7" name="Shape 5"/>
          <p:cNvSpPr/>
          <p:nvPr/>
        </p:nvSpPr>
        <p:spPr>
          <a:xfrm>
            <a:off x="548640" y="1874520"/>
            <a:ext cx="566928" cy="566928"/>
          </a:xfrm>
          <a:prstGeom prst="ellipse">
            <a:avLst/>
          </a:prstGeom>
          <a:solidFill>
            <a:srgbClr val="08A6A6"/>
          </a:solidFill>
          <a:ln/>
        </p:spPr>
      </p:sp>
      <p:sp>
        <p:nvSpPr>
          <p:cNvPr id="8" name="Text 6"/>
          <p:cNvSpPr txBox="1"/>
          <p:nvPr/>
        </p:nvSpPr>
        <p:spPr>
          <a:xfrm>
            <a:off x="548640" y="187452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1</a:t>
            </a:r>
            <a:endParaRPr lang="en-US" sz="2000" dirty="0"/>
          </a:p>
        </p:txBody>
      </p:sp>
      <p:sp>
        <p:nvSpPr>
          <p:cNvPr id="9" name="Text 7"/>
          <p:cNvSpPr txBox="1"/>
          <p:nvPr/>
        </p:nvSpPr>
        <p:spPr>
          <a:xfrm>
            <a:off x="1325880" y="1856232"/>
            <a:ext cx="3017520" cy="320040"/>
          </a:xfrm>
          <a:prstGeom prst="rect">
            <a:avLst/>
          </a:prstGeom>
          <a:noFill/>
          <a:ln/>
        </p:spPr>
        <p:txBody>
          <a:bodyPr wrap="square" lIns="0" tIns="0" rIns="0" bIns="0" rtlCol="0" anchor="ctr"/>
          <a:lstStyle/>
          <a:p>
            <a:pPr indent="0" marL="0">
              <a:buNone/>
            </a:pPr>
            <a:r>
              <a:rPr lang="en-US" sz="1700" b="1" dirty="0">
                <a:solidFill>
                  <a:srgbClr val="101828"/>
                </a:solidFill>
                <a:latin typeface="IBM Plex Sans" pitchFamily="34" charset="0"/>
                <a:ea typeface="IBM Plex Sans" pitchFamily="34" charset="-122"/>
                <a:cs typeface="IBM Plex Sans" pitchFamily="34" charset="-120"/>
              </a:rPr>
              <a:t>Look around</a:t>
            </a:r>
            <a:endParaRPr lang="en-US" sz="1700" dirty="0"/>
          </a:p>
        </p:txBody>
      </p:sp>
      <p:sp>
        <p:nvSpPr>
          <p:cNvPr id="10" name="Text 8"/>
          <p:cNvSpPr txBox="1"/>
          <p:nvPr/>
        </p:nvSpPr>
        <p:spPr>
          <a:xfrm>
            <a:off x="1325880" y="2148840"/>
            <a:ext cx="10241280" cy="457200"/>
          </a:xfrm>
          <a:prstGeom prst="rect">
            <a:avLst/>
          </a:prstGeom>
          <a:noFill/>
          <a:ln/>
        </p:spPr>
        <p:txBody>
          <a:bodyPr wrap="square" lIns="0" tIns="0" rIns="0" bIns="0" rtlCol="0" anchor="t"/>
          <a:lstStyle/>
          <a:p>
            <a:pPr indent="0" marL="0">
              <a:buNone/>
            </a:pPr>
            <a:r>
              <a:rPr lang="en-US" sz="1400" dirty="0">
                <a:solidFill>
                  <a:srgbClr val="667085"/>
                </a:solidFill>
                <a:latin typeface="IBM Plex Sans" pitchFamily="34" charset="0"/>
                <a:ea typeface="IBM Plex Sans" pitchFamily="34" charset="-122"/>
                <a:cs typeface="IBM Plex Sans" pitchFamily="34" charset="-120"/>
              </a:rPr>
              <a:t>Six numbered stations are arranged around you. Turn right for 1 and 2, around for 3 and 4, left for 5 and 6.</a:t>
            </a:r>
            <a:endParaRPr lang="en-US" sz="1400" dirty="0"/>
          </a:p>
        </p:txBody>
      </p:sp>
      <p:sp>
        <p:nvSpPr>
          <p:cNvPr id="11" name="Shape 9"/>
          <p:cNvSpPr/>
          <p:nvPr/>
        </p:nvSpPr>
        <p:spPr>
          <a:xfrm>
            <a:off x="548640" y="2898648"/>
            <a:ext cx="566928" cy="566928"/>
          </a:xfrm>
          <a:prstGeom prst="ellipse">
            <a:avLst/>
          </a:prstGeom>
          <a:solidFill>
            <a:srgbClr val="08A6A6"/>
          </a:solidFill>
          <a:ln/>
        </p:spPr>
      </p:sp>
      <p:sp>
        <p:nvSpPr>
          <p:cNvPr id="12" name="Text 10"/>
          <p:cNvSpPr txBox="1"/>
          <p:nvPr/>
        </p:nvSpPr>
        <p:spPr>
          <a:xfrm>
            <a:off x="548640" y="2898648"/>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2</a:t>
            </a:r>
            <a:endParaRPr lang="en-US" sz="2000" dirty="0"/>
          </a:p>
        </p:txBody>
      </p:sp>
      <p:sp>
        <p:nvSpPr>
          <p:cNvPr id="13" name="Text 11"/>
          <p:cNvSpPr txBox="1"/>
          <p:nvPr/>
        </p:nvSpPr>
        <p:spPr>
          <a:xfrm>
            <a:off x="1325880" y="2880360"/>
            <a:ext cx="3017520" cy="320040"/>
          </a:xfrm>
          <a:prstGeom prst="rect">
            <a:avLst/>
          </a:prstGeom>
          <a:noFill/>
          <a:ln/>
        </p:spPr>
        <p:txBody>
          <a:bodyPr wrap="square" lIns="0" tIns="0" rIns="0" bIns="0" rtlCol="0" anchor="ctr"/>
          <a:lstStyle/>
          <a:p>
            <a:pPr indent="0" marL="0">
              <a:buNone/>
            </a:pPr>
            <a:r>
              <a:rPr lang="en-US" sz="1700" b="1" dirty="0">
                <a:solidFill>
                  <a:srgbClr val="101828"/>
                </a:solidFill>
                <a:latin typeface="IBM Plex Sans" pitchFamily="34" charset="0"/>
                <a:ea typeface="IBM Plex Sans" pitchFamily="34" charset="-122"/>
                <a:cs typeface="IBM Plex Sans" pitchFamily="34" charset="-120"/>
              </a:rPr>
              <a:t>Read, then write</a:t>
            </a:r>
            <a:endParaRPr lang="en-US" sz="1700" dirty="0"/>
          </a:p>
        </p:txBody>
      </p:sp>
      <p:sp>
        <p:nvSpPr>
          <p:cNvPr id="14" name="Text 12"/>
          <p:cNvSpPr txBox="1"/>
          <p:nvPr/>
        </p:nvSpPr>
        <p:spPr>
          <a:xfrm>
            <a:off x="1325880" y="3172968"/>
            <a:ext cx="10241280" cy="457200"/>
          </a:xfrm>
          <a:prstGeom prst="rect">
            <a:avLst/>
          </a:prstGeom>
          <a:noFill/>
          <a:ln/>
        </p:spPr>
        <p:txBody>
          <a:bodyPr wrap="square" lIns="0" tIns="0" rIns="0" bIns="0" rtlCol="0" anchor="t"/>
          <a:lstStyle/>
          <a:p>
            <a:pPr indent="0" marL="0">
              <a:buNone/>
            </a:pPr>
            <a:r>
              <a:rPr lang="en-US" sz="1400" dirty="0">
                <a:solidFill>
                  <a:srgbClr val="667085"/>
                </a:solidFill>
                <a:latin typeface="IBM Plex Sans" pitchFamily="34" charset="0"/>
                <a:ea typeface="IBM Plex Sans" pitchFamily="34" charset="-122"/>
                <a:cs typeface="IBM Plex Sans" pitchFamily="34" charset="-120"/>
              </a:rPr>
              <a:t>Read the wall, write the key fact and your answer to the challenge on the worksheet.</a:t>
            </a:r>
            <a:endParaRPr lang="en-US" sz="1400" dirty="0"/>
          </a:p>
        </p:txBody>
      </p:sp>
      <p:sp>
        <p:nvSpPr>
          <p:cNvPr id="15" name="Shape 13"/>
          <p:cNvSpPr/>
          <p:nvPr/>
        </p:nvSpPr>
        <p:spPr>
          <a:xfrm>
            <a:off x="548640" y="3922776"/>
            <a:ext cx="566928" cy="566928"/>
          </a:xfrm>
          <a:prstGeom prst="ellipse">
            <a:avLst/>
          </a:prstGeom>
          <a:solidFill>
            <a:srgbClr val="08A6A6"/>
          </a:solidFill>
          <a:ln/>
        </p:spPr>
      </p:sp>
      <p:sp>
        <p:nvSpPr>
          <p:cNvPr id="16" name="Text 14"/>
          <p:cNvSpPr txBox="1"/>
          <p:nvPr/>
        </p:nvSpPr>
        <p:spPr>
          <a:xfrm>
            <a:off x="548640" y="3922776"/>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3</a:t>
            </a:r>
            <a:endParaRPr lang="en-US" sz="2000" dirty="0"/>
          </a:p>
        </p:txBody>
      </p:sp>
      <p:sp>
        <p:nvSpPr>
          <p:cNvPr id="17" name="Text 15"/>
          <p:cNvSpPr txBox="1"/>
          <p:nvPr/>
        </p:nvSpPr>
        <p:spPr>
          <a:xfrm>
            <a:off x="1325880" y="3904488"/>
            <a:ext cx="3017520" cy="320040"/>
          </a:xfrm>
          <a:prstGeom prst="rect">
            <a:avLst/>
          </a:prstGeom>
          <a:noFill/>
          <a:ln/>
        </p:spPr>
        <p:txBody>
          <a:bodyPr wrap="square" lIns="0" tIns="0" rIns="0" bIns="0" rtlCol="0" anchor="ctr"/>
          <a:lstStyle/>
          <a:p>
            <a:pPr indent="0" marL="0">
              <a:buNone/>
            </a:pPr>
            <a:r>
              <a:rPr lang="en-US" sz="1700" b="1" dirty="0">
                <a:solidFill>
                  <a:srgbClr val="101828"/>
                </a:solidFill>
                <a:latin typeface="IBM Plex Sans" pitchFamily="34" charset="0"/>
                <a:ea typeface="IBM Plex Sans" pitchFamily="34" charset="-122"/>
                <a:cs typeface="IBM Plex Sans" pitchFamily="34" charset="-120"/>
              </a:rPr>
              <a:t>Then tap the badge</a:t>
            </a:r>
            <a:endParaRPr lang="en-US" sz="1700" dirty="0"/>
          </a:p>
        </p:txBody>
      </p:sp>
      <p:sp>
        <p:nvSpPr>
          <p:cNvPr id="18" name="Text 16"/>
          <p:cNvSpPr txBox="1"/>
          <p:nvPr/>
        </p:nvSpPr>
        <p:spPr>
          <a:xfrm>
            <a:off x="1325880" y="4197096"/>
            <a:ext cx="10241280" cy="457200"/>
          </a:xfrm>
          <a:prstGeom prst="rect">
            <a:avLst/>
          </a:prstGeom>
          <a:noFill/>
          <a:ln/>
        </p:spPr>
        <p:txBody>
          <a:bodyPr wrap="square" lIns="0" tIns="0" rIns="0" bIns="0" rtlCol="0" anchor="t"/>
          <a:lstStyle/>
          <a:p>
            <a:pPr indent="0" marL="0">
              <a:buNone/>
            </a:pPr>
            <a:r>
              <a:rPr lang="en-US" sz="1400" dirty="0">
                <a:solidFill>
                  <a:srgbClr val="667085"/>
                </a:solidFill>
                <a:latin typeface="IBM Plex Sans" pitchFamily="34" charset="0"/>
                <a:ea typeface="IBM Plex Sans" pitchFamily="34" charset="-122"/>
                <a:cs typeface="IBM Plex Sans" pitchFamily="34" charset="-120"/>
              </a:rPr>
              <a:t>Only answer the questions once you have written. Your first answer is the one that counts.</a:t>
            </a:r>
            <a:endParaRPr lang="en-US" sz="1400" dirty="0"/>
          </a:p>
        </p:txBody>
      </p:sp>
      <p:sp>
        <p:nvSpPr>
          <p:cNvPr id="19" name="Shape 17"/>
          <p:cNvSpPr/>
          <p:nvPr/>
        </p:nvSpPr>
        <p:spPr>
          <a:xfrm>
            <a:off x="548640" y="4946904"/>
            <a:ext cx="566928" cy="566928"/>
          </a:xfrm>
          <a:prstGeom prst="ellipse">
            <a:avLst/>
          </a:prstGeom>
          <a:solidFill>
            <a:srgbClr val="F4B942"/>
          </a:solidFill>
          <a:ln/>
        </p:spPr>
      </p:sp>
      <p:sp>
        <p:nvSpPr>
          <p:cNvPr id="20" name="Text 18"/>
          <p:cNvSpPr txBox="1"/>
          <p:nvPr/>
        </p:nvSpPr>
        <p:spPr>
          <a:xfrm>
            <a:off x="548640" y="4946904"/>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4</a:t>
            </a:r>
            <a:endParaRPr lang="en-US" sz="2000" dirty="0"/>
          </a:p>
        </p:txBody>
      </p:sp>
      <p:sp>
        <p:nvSpPr>
          <p:cNvPr id="21" name="Text 19"/>
          <p:cNvSpPr txBox="1"/>
          <p:nvPr/>
        </p:nvSpPr>
        <p:spPr>
          <a:xfrm>
            <a:off x="1325880" y="4928616"/>
            <a:ext cx="3017520" cy="320040"/>
          </a:xfrm>
          <a:prstGeom prst="rect">
            <a:avLst/>
          </a:prstGeom>
          <a:noFill/>
          <a:ln/>
        </p:spPr>
        <p:txBody>
          <a:bodyPr wrap="square" lIns="0" tIns="0" rIns="0" bIns="0" rtlCol="0" anchor="ctr"/>
          <a:lstStyle/>
          <a:p>
            <a:pPr indent="0" marL="0">
              <a:buNone/>
            </a:pPr>
            <a:r>
              <a:rPr lang="en-US" sz="1700" b="1" dirty="0">
                <a:solidFill>
                  <a:srgbClr val="101828"/>
                </a:solidFill>
                <a:latin typeface="IBM Plex Sans" pitchFamily="34" charset="0"/>
                <a:ea typeface="IBM Plex Sans" pitchFamily="34" charset="-122"/>
                <a:cs typeface="IBM Plex Sans" pitchFamily="34" charset="-120"/>
              </a:rPr>
              <a:t>Look down at the end</a:t>
            </a:r>
            <a:endParaRPr lang="en-US" sz="1700" dirty="0"/>
          </a:p>
        </p:txBody>
      </p:sp>
      <p:sp>
        <p:nvSpPr>
          <p:cNvPr id="22" name="Text 20"/>
          <p:cNvSpPr txBox="1"/>
          <p:nvPr/>
        </p:nvSpPr>
        <p:spPr>
          <a:xfrm>
            <a:off x="1325880" y="5221224"/>
            <a:ext cx="10241280" cy="457200"/>
          </a:xfrm>
          <a:prstGeom prst="rect">
            <a:avLst/>
          </a:prstGeom>
          <a:noFill/>
          <a:ln/>
        </p:spPr>
        <p:txBody>
          <a:bodyPr wrap="square" lIns="0" tIns="0" rIns="0" bIns="0" rtlCol="0" anchor="t"/>
          <a:lstStyle/>
          <a:p>
            <a:pPr indent="0" marL="0">
              <a:buNone/>
            </a:pPr>
            <a:r>
              <a:rPr lang="en-US" sz="1400" dirty="0">
                <a:solidFill>
                  <a:srgbClr val="667085"/>
                </a:solidFill>
                <a:latin typeface="IBM Plex Sans" pitchFamily="34" charset="0"/>
                <a:ea typeface="IBM Plex Sans" pitchFamily="34" charset="-122"/>
                <a:cs typeface="IBM Plex Sans" pitchFamily="34" charset="-120"/>
              </a:rPr>
              <a:t>The starred final challenge is on the floor. Predict on paper first.</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2.1 Algorithms  |  Lesson 10</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1</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1</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Syntax errors</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A syntax error breaks the rules of the language.</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The program will not run at all: the translator reports the problem.</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Typical causes: a missing bracket, a missing quotation mark, a misspelt keyword.</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Write three examples of syntax errors in a language you use.</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A syntax error is...</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2.1 Algorithms  |  Lesson 10</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2</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2</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Logic errors</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A logic error follows the rules of the language but does the wrong thing.</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The program runs to the end and produces an answer, which is wrong.</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Typical causes: the wrong operator, the wrong order of tests, a loop that runs the wrong number of times.</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Describe a logic error that would not stop a program running.</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A logic error is...</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2.1 Algorithms  |  Lesson 10</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3</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3</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Telling them apart</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Ask one question: does the program run?</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If it will not run, it is a syntax error.</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If it runs but the answer is wrong, it is a logic error.</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Sort six mistakes into syntax and logic errors.</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To tell the two apart, I ask...</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2.1 Algorithms  |  Lesson 10</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4</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4</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Finding the line</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For a syntax error, the translator usually names the line, or the one just after it.</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For a logic error, work through the program by hand with a known input.</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Compare what should happen at each line with what actually happens.</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Work through a short program by hand and find where it goes wrong.</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To find an error, I...</a:t>
            </a:r>
            <a:endParaRPr lang="en-US" sz="1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2.1 Algorithms  |  Lesson 10</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5</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5</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Suggesting a fix</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A fix should say what to change and what to change it to.</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'Correct the error' earns nothing: 'change &gt; to &gt;=' earns the mark.</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Check the fix does not break another case.</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Write a fix for a loop that runs one time too many.</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A good fix says...</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2.1 Algorithms  |  Lesson 10</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6</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6</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Answering error questions</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State the line number, the type of error, and the fix.</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Use the words syntax and logic: the marks are attached to them.</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If the question gives line numbers, always quote them.</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Plan a four-mark answer identifying and fixing an error.</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To answer an error question, I should...</a:t>
            </a:r>
            <a:endParaRPr lang="en-US" sz="1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2.1 Algorithms  |  Lesson 10</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Shape 3"/>
          <p:cNvSpPr/>
          <p:nvPr/>
        </p:nvSpPr>
        <p:spPr>
          <a:xfrm>
            <a:off x="502920" y="457200"/>
            <a:ext cx="1051560" cy="420624"/>
          </a:xfrm>
          <a:prstGeom prst="roundRect">
            <a:avLst>
              <a:gd name="adj" fmla="val 21739"/>
            </a:avLst>
          </a:prstGeom>
          <a:solidFill>
            <a:srgbClr val="F4B942"/>
          </a:solidFill>
          <a:ln/>
        </p:spPr>
      </p:sp>
      <p:sp>
        <p:nvSpPr>
          <p:cNvPr id="6" name="Text 4"/>
          <p:cNvSpPr txBox="1"/>
          <p:nvPr/>
        </p:nvSpPr>
        <p:spPr>
          <a:xfrm>
            <a:off x="502920" y="457200"/>
            <a:ext cx="1051560" cy="420624"/>
          </a:xfrm>
          <a:prstGeom prst="rect">
            <a:avLst/>
          </a:prstGeom>
          <a:noFill/>
          <a:ln/>
        </p:spPr>
        <p:txBody>
          <a:bodyPr wrap="square" lIns="0" tIns="0" rIns="0" bIns="0" rtlCol="0" anchor="ctr"/>
          <a:lstStyle/>
          <a:p>
            <a:pPr algn="ctr" indent="0" marL="0">
              <a:buNone/>
            </a:pPr>
            <a:r>
              <a:rPr lang="en-US" sz="1200" b="1" dirty="0">
                <a:solidFill>
                  <a:srgbClr val="101828"/>
                </a:solidFill>
                <a:latin typeface="IBM Plex Mono" pitchFamily="34" charset="0"/>
                <a:ea typeface="IBM Plex Mono" pitchFamily="34" charset="-122"/>
                <a:cs typeface="IBM Plex Mono" pitchFamily="34" charset="-120"/>
              </a:rPr>
              <a:t>CHECK</a:t>
            </a:r>
            <a:endParaRPr lang="en-US" sz="1200" dirty="0"/>
          </a:p>
        </p:txBody>
      </p:sp>
      <p:sp>
        <p:nvSpPr>
          <p:cNvPr id="7" name="Text 5"/>
          <p:cNvSpPr txBox="1"/>
          <p:nvPr/>
        </p:nvSpPr>
        <p:spPr>
          <a:xfrm>
            <a:off x="1737360" y="457200"/>
            <a:ext cx="9875520" cy="420624"/>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Hands down. Everyone commits.</a:t>
            </a:r>
            <a:endParaRPr lang="en-US" sz="1500" dirty="0"/>
          </a:p>
        </p:txBody>
      </p:sp>
      <p:sp>
        <p:nvSpPr>
          <p:cNvPr id="8" name="Text 6"/>
          <p:cNvSpPr txBox="1"/>
          <p:nvPr/>
        </p:nvSpPr>
        <p:spPr>
          <a:xfrm>
            <a:off x="502920" y="1097280"/>
            <a:ext cx="11155680" cy="914400"/>
          </a:xfrm>
          <a:prstGeom prst="rect">
            <a:avLst/>
          </a:prstGeom>
          <a:noFill/>
          <a:ln/>
        </p:spPr>
        <p:txBody>
          <a:bodyPr wrap="square" lIns="0" tIns="0" rIns="0" bIns="0" rtlCol="0" anchor="ctr"/>
          <a:lstStyle/>
          <a:p>
            <a:pPr indent="0" marL="0">
              <a:lnSpc>
                <a:spcPct val="115000"/>
              </a:lnSpc>
              <a:buNone/>
            </a:pPr>
            <a:r>
              <a:rPr lang="en-US" sz="2600" b="1" dirty="0">
                <a:solidFill>
                  <a:srgbClr val="101828"/>
                </a:solidFill>
                <a:latin typeface="IBM Plex Sans" pitchFamily="34" charset="0"/>
                <a:ea typeface="IBM Plex Sans" pitchFamily="34" charset="-122"/>
                <a:cs typeface="IBM Plex Sans" pitchFamily="34" charset="-120"/>
              </a:rPr>
              <a:t>Why work through a program with a specific input?</a:t>
            </a:r>
            <a:endParaRPr lang="en-US" sz="2600" dirty="0"/>
          </a:p>
        </p:txBody>
      </p:sp>
      <p:sp>
        <p:nvSpPr>
          <p:cNvPr id="9" name="Shape 7"/>
          <p:cNvSpPr/>
          <p:nvPr/>
        </p:nvSpPr>
        <p:spPr>
          <a:xfrm>
            <a:off x="502920" y="2148840"/>
            <a:ext cx="11155680" cy="731520"/>
          </a:xfrm>
          <a:prstGeom prst="roundRect">
            <a:avLst>
              <a:gd name="adj" fmla="val 15000"/>
            </a:avLst>
          </a:prstGeom>
          <a:solidFill>
            <a:srgbClr val="FFFFFF"/>
          </a:solidFill>
          <a:ln w="15875">
            <a:solidFill>
              <a:srgbClr val="D9DEE7"/>
            </a:solidFill>
            <a:prstDash val="solid"/>
          </a:ln>
        </p:spPr>
      </p:sp>
      <p:sp>
        <p:nvSpPr>
          <p:cNvPr id="10" name="Shape 8"/>
          <p:cNvSpPr/>
          <p:nvPr/>
        </p:nvSpPr>
        <p:spPr>
          <a:xfrm>
            <a:off x="777240" y="2295144"/>
            <a:ext cx="438912" cy="438912"/>
          </a:xfrm>
          <a:prstGeom prst="roundRect">
            <a:avLst>
              <a:gd name="adj" fmla="val 20833"/>
            </a:avLst>
          </a:prstGeom>
          <a:solidFill>
            <a:srgbClr val="EEF2FB"/>
          </a:solidFill>
          <a:ln/>
        </p:spPr>
      </p:sp>
      <p:sp>
        <p:nvSpPr>
          <p:cNvPr id="11" name="Text 9"/>
          <p:cNvSpPr txBox="1"/>
          <p:nvPr/>
        </p:nvSpPr>
        <p:spPr>
          <a:xfrm>
            <a:off x="777240" y="2295144"/>
            <a:ext cx="438912" cy="438912"/>
          </a:xfrm>
          <a:prstGeom prst="rect">
            <a:avLst/>
          </a:prstGeom>
          <a:noFill/>
          <a:ln/>
        </p:spPr>
        <p:txBody>
          <a:bodyPr wrap="square" lIns="0" tIns="0" rIns="0" bIns="0" rtlCol="0" anchor="ctr"/>
          <a:lstStyle/>
          <a:p>
            <a:pPr algn="ctr" indent="0" marL="0">
              <a:buNone/>
            </a:pPr>
            <a:r>
              <a:rPr lang="en-US" sz="1300" b="1" dirty="0">
                <a:solidFill>
                  <a:srgbClr val="2D63FF"/>
                </a:solidFill>
                <a:latin typeface="IBM Plex Mono" pitchFamily="34" charset="0"/>
                <a:ea typeface="IBM Plex Mono" pitchFamily="34" charset="-122"/>
                <a:cs typeface="IBM Plex Mono" pitchFamily="34" charset="-120"/>
              </a:rPr>
              <a:t>A</a:t>
            </a:r>
            <a:endParaRPr lang="en-US" sz="1300" dirty="0"/>
          </a:p>
        </p:txBody>
      </p:sp>
      <p:sp>
        <p:nvSpPr>
          <p:cNvPr id="12" name="Text 10"/>
          <p:cNvSpPr txBox="1"/>
          <p:nvPr/>
        </p:nvSpPr>
        <p:spPr>
          <a:xfrm>
            <a:off x="1417320" y="2148840"/>
            <a:ext cx="10058400" cy="731520"/>
          </a:xfrm>
          <a:prstGeom prst="rect">
            <a:avLst/>
          </a:prstGeom>
          <a:noFill/>
          <a:ln/>
        </p:spPr>
        <p:txBody>
          <a:bodyPr wrap="square" lIns="0" tIns="0" rIns="0" bIns="0" rtlCol="0" anchor="ctr"/>
          <a:lstStyle/>
          <a:p>
            <a:pPr indent="0" marL="0">
              <a:lnSpc>
                <a:spcPct val="115000"/>
              </a:lnSpc>
              <a:buNone/>
            </a:pPr>
            <a:r>
              <a:rPr lang="en-US" sz="1700" dirty="0">
                <a:solidFill>
                  <a:srgbClr val="101828"/>
                </a:solidFill>
                <a:latin typeface="IBM Plex Sans" pitchFamily="34" charset="0"/>
                <a:ea typeface="IBM Plex Sans" pitchFamily="34" charset="-122"/>
                <a:cs typeface="IBM Plex Sans" pitchFamily="34" charset="-120"/>
              </a:rPr>
              <a:t>It fixes syntax errors</a:t>
            </a:r>
            <a:endParaRPr lang="en-US" sz="1700" dirty="0"/>
          </a:p>
        </p:txBody>
      </p:sp>
      <p:sp>
        <p:nvSpPr>
          <p:cNvPr id="13" name="Shape 11"/>
          <p:cNvSpPr/>
          <p:nvPr/>
        </p:nvSpPr>
        <p:spPr>
          <a:xfrm>
            <a:off x="502920" y="3017520"/>
            <a:ext cx="11155680" cy="731520"/>
          </a:xfrm>
          <a:prstGeom prst="roundRect">
            <a:avLst>
              <a:gd name="adj" fmla="val 15000"/>
            </a:avLst>
          </a:prstGeom>
          <a:solidFill>
            <a:srgbClr val="FFFFFF"/>
          </a:solidFill>
          <a:ln w="15875">
            <a:solidFill>
              <a:srgbClr val="D9DEE7"/>
            </a:solidFill>
            <a:prstDash val="solid"/>
          </a:ln>
        </p:spPr>
      </p:sp>
      <p:sp>
        <p:nvSpPr>
          <p:cNvPr id="14" name="Shape 12"/>
          <p:cNvSpPr/>
          <p:nvPr/>
        </p:nvSpPr>
        <p:spPr>
          <a:xfrm>
            <a:off x="777240" y="3163824"/>
            <a:ext cx="438912" cy="438912"/>
          </a:xfrm>
          <a:prstGeom prst="roundRect">
            <a:avLst>
              <a:gd name="adj" fmla="val 20833"/>
            </a:avLst>
          </a:prstGeom>
          <a:solidFill>
            <a:srgbClr val="EEF2FB"/>
          </a:solidFill>
          <a:ln/>
        </p:spPr>
      </p:sp>
      <p:sp>
        <p:nvSpPr>
          <p:cNvPr id="15" name="Text 13"/>
          <p:cNvSpPr txBox="1"/>
          <p:nvPr/>
        </p:nvSpPr>
        <p:spPr>
          <a:xfrm>
            <a:off x="777240" y="3163824"/>
            <a:ext cx="438912" cy="438912"/>
          </a:xfrm>
          <a:prstGeom prst="rect">
            <a:avLst/>
          </a:prstGeom>
          <a:noFill/>
          <a:ln/>
        </p:spPr>
        <p:txBody>
          <a:bodyPr wrap="square" lIns="0" tIns="0" rIns="0" bIns="0" rtlCol="0" anchor="ctr"/>
          <a:lstStyle/>
          <a:p>
            <a:pPr algn="ctr" indent="0" marL="0">
              <a:buNone/>
            </a:pPr>
            <a:r>
              <a:rPr lang="en-US" sz="1300" b="1" dirty="0">
                <a:solidFill>
                  <a:srgbClr val="2D63FF"/>
                </a:solidFill>
                <a:latin typeface="IBM Plex Mono" pitchFamily="34" charset="0"/>
                <a:ea typeface="IBM Plex Mono" pitchFamily="34" charset="-122"/>
                <a:cs typeface="IBM Plex Mono" pitchFamily="34" charset="-120"/>
              </a:rPr>
              <a:t>B</a:t>
            </a:r>
            <a:endParaRPr lang="en-US" sz="1300" dirty="0"/>
          </a:p>
        </p:txBody>
      </p:sp>
      <p:sp>
        <p:nvSpPr>
          <p:cNvPr id="16" name="Text 14"/>
          <p:cNvSpPr txBox="1"/>
          <p:nvPr/>
        </p:nvSpPr>
        <p:spPr>
          <a:xfrm>
            <a:off x="1417320" y="3017520"/>
            <a:ext cx="10058400" cy="731520"/>
          </a:xfrm>
          <a:prstGeom prst="rect">
            <a:avLst/>
          </a:prstGeom>
          <a:noFill/>
          <a:ln/>
        </p:spPr>
        <p:txBody>
          <a:bodyPr wrap="square" lIns="0" tIns="0" rIns="0" bIns="0" rtlCol="0" anchor="ctr"/>
          <a:lstStyle/>
          <a:p>
            <a:pPr indent="0" marL="0">
              <a:lnSpc>
                <a:spcPct val="115000"/>
              </a:lnSpc>
              <a:buNone/>
            </a:pPr>
            <a:r>
              <a:rPr lang="en-US" sz="1700" dirty="0">
                <a:solidFill>
                  <a:srgbClr val="101828"/>
                </a:solidFill>
                <a:latin typeface="IBM Plex Sans" pitchFamily="34" charset="0"/>
                <a:ea typeface="IBM Plex Sans" pitchFamily="34" charset="-122"/>
                <a:cs typeface="IBM Plex Sans" pitchFamily="34" charset="-120"/>
              </a:rPr>
              <a:t>It removes the need for testing</a:t>
            </a:r>
            <a:endParaRPr lang="en-US" sz="1700" dirty="0"/>
          </a:p>
        </p:txBody>
      </p:sp>
      <p:sp>
        <p:nvSpPr>
          <p:cNvPr id="17" name="Shape 15"/>
          <p:cNvSpPr/>
          <p:nvPr/>
        </p:nvSpPr>
        <p:spPr>
          <a:xfrm>
            <a:off x="502920" y="3886200"/>
            <a:ext cx="11155680" cy="731520"/>
          </a:xfrm>
          <a:prstGeom prst="roundRect">
            <a:avLst>
              <a:gd name="adj" fmla="val 15000"/>
            </a:avLst>
          </a:prstGeom>
          <a:solidFill>
            <a:srgbClr val="FFFFFF"/>
          </a:solidFill>
          <a:ln w="15875">
            <a:solidFill>
              <a:srgbClr val="D9DEE7"/>
            </a:solidFill>
            <a:prstDash val="solid"/>
          </a:ln>
        </p:spPr>
      </p:sp>
      <p:sp>
        <p:nvSpPr>
          <p:cNvPr id="18" name="Shape 16"/>
          <p:cNvSpPr/>
          <p:nvPr/>
        </p:nvSpPr>
        <p:spPr>
          <a:xfrm>
            <a:off x="777240" y="4032504"/>
            <a:ext cx="438912" cy="438912"/>
          </a:xfrm>
          <a:prstGeom prst="roundRect">
            <a:avLst>
              <a:gd name="adj" fmla="val 20833"/>
            </a:avLst>
          </a:prstGeom>
          <a:solidFill>
            <a:srgbClr val="EEF2FB"/>
          </a:solidFill>
          <a:ln/>
        </p:spPr>
      </p:sp>
      <p:sp>
        <p:nvSpPr>
          <p:cNvPr id="19" name="Text 17"/>
          <p:cNvSpPr txBox="1"/>
          <p:nvPr/>
        </p:nvSpPr>
        <p:spPr>
          <a:xfrm>
            <a:off x="777240" y="4032504"/>
            <a:ext cx="438912" cy="438912"/>
          </a:xfrm>
          <a:prstGeom prst="rect">
            <a:avLst/>
          </a:prstGeom>
          <a:noFill/>
          <a:ln/>
        </p:spPr>
        <p:txBody>
          <a:bodyPr wrap="square" lIns="0" tIns="0" rIns="0" bIns="0" rtlCol="0" anchor="ctr"/>
          <a:lstStyle/>
          <a:p>
            <a:pPr algn="ctr" indent="0" marL="0">
              <a:buNone/>
            </a:pPr>
            <a:r>
              <a:rPr lang="en-US" sz="1300" b="1" dirty="0">
                <a:solidFill>
                  <a:srgbClr val="2D63FF"/>
                </a:solidFill>
                <a:latin typeface="IBM Plex Mono" pitchFamily="34" charset="0"/>
                <a:ea typeface="IBM Plex Mono" pitchFamily="34" charset="-122"/>
                <a:cs typeface="IBM Plex Mono" pitchFamily="34" charset="-120"/>
              </a:rPr>
              <a:t>C</a:t>
            </a:r>
            <a:endParaRPr lang="en-US" sz="1300" dirty="0"/>
          </a:p>
        </p:txBody>
      </p:sp>
      <p:sp>
        <p:nvSpPr>
          <p:cNvPr id="20" name="Text 18"/>
          <p:cNvSpPr txBox="1"/>
          <p:nvPr/>
        </p:nvSpPr>
        <p:spPr>
          <a:xfrm>
            <a:off x="1417320" y="3886200"/>
            <a:ext cx="10058400" cy="731520"/>
          </a:xfrm>
          <a:prstGeom prst="rect">
            <a:avLst/>
          </a:prstGeom>
          <a:noFill/>
          <a:ln/>
        </p:spPr>
        <p:txBody>
          <a:bodyPr wrap="square" lIns="0" tIns="0" rIns="0" bIns="0" rtlCol="0" anchor="ctr"/>
          <a:lstStyle/>
          <a:p>
            <a:pPr indent="0" marL="0">
              <a:lnSpc>
                <a:spcPct val="115000"/>
              </a:lnSpc>
              <a:buNone/>
            </a:pPr>
            <a:r>
              <a:rPr lang="en-US" sz="1700" dirty="0">
                <a:solidFill>
                  <a:srgbClr val="101828"/>
                </a:solidFill>
                <a:latin typeface="IBM Plex Sans" pitchFamily="34" charset="0"/>
                <a:ea typeface="IBM Plex Sans" pitchFamily="34" charset="-122"/>
                <a:cs typeface="IBM Plex Sans" pitchFamily="34" charset="-120"/>
              </a:rPr>
              <a:t>It shows exactly where what happens stops matching what should happen</a:t>
            </a:r>
            <a:endParaRPr lang="en-US" sz="1700" dirty="0"/>
          </a:p>
        </p:txBody>
      </p:sp>
      <p:sp>
        <p:nvSpPr>
          <p:cNvPr id="21" name="Shape 19"/>
          <p:cNvSpPr/>
          <p:nvPr/>
        </p:nvSpPr>
        <p:spPr>
          <a:xfrm>
            <a:off x="502920" y="4754880"/>
            <a:ext cx="11155680" cy="731520"/>
          </a:xfrm>
          <a:prstGeom prst="roundRect">
            <a:avLst>
              <a:gd name="adj" fmla="val 15000"/>
            </a:avLst>
          </a:prstGeom>
          <a:solidFill>
            <a:srgbClr val="FFFFFF"/>
          </a:solidFill>
          <a:ln w="15875">
            <a:solidFill>
              <a:srgbClr val="D9DEE7"/>
            </a:solidFill>
            <a:prstDash val="solid"/>
          </a:ln>
        </p:spPr>
      </p:sp>
      <p:sp>
        <p:nvSpPr>
          <p:cNvPr id="22" name="Shape 20"/>
          <p:cNvSpPr/>
          <p:nvPr/>
        </p:nvSpPr>
        <p:spPr>
          <a:xfrm>
            <a:off x="777240" y="4901184"/>
            <a:ext cx="438912" cy="438912"/>
          </a:xfrm>
          <a:prstGeom prst="roundRect">
            <a:avLst>
              <a:gd name="adj" fmla="val 20833"/>
            </a:avLst>
          </a:prstGeom>
          <a:solidFill>
            <a:srgbClr val="EEF2FB"/>
          </a:solidFill>
          <a:ln/>
        </p:spPr>
      </p:sp>
      <p:sp>
        <p:nvSpPr>
          <p:cNvPr id="23" name="Text 21"/>
          <p:cNvSpPr txBox="1"/>
          <p:nvPr/>
        </p:nvSpPr>
        <p:spPr>
          <a:xfrm>
            <a:off x="777240" y="4901184"/>
            <a:ext cx="438912" cy="438912"/>
          </a:xfrm>
          <a:prstGeom prst="rect">
            <a:avLst/>
          </a:prstGeom>
          <a:noFill/>
          <a:ln/>
        </p:spPr>
        <p:txBody>
          <a:bodyPr wrap="square" lIns="0" tIns="0" rIns="0" bIns="0" rtlCol="0" anchor="ctr"/>
          <a:lstStyle/>
          <a:p>
            <a:pPr algn="ctr" indent="0" marL="0">
              <a:buNone/>
            </a:pPr>
            <a:r>
              <a:rPr lang="en-US" sz="1300" b="1" dirty="0">
                <a:solidFill>
                  <a:srgbClr val="2D63FF"/>
                </a:solidFill>
                <a:latin typeface="IBM Plex Mono" pitchFamily="34" charset="0"/>
                <a:ea typeface="IBM Plex Mono" pitchFamily="34" charset="-122"/>
                <a:cs typeface="IBM Plex Mono" pitchFamily="34" charset="-120"/>
              </a:rPr>
              <a:t>D</a:t>
            </a:r>
            <a:endParaRPr lang="en-US" sz="1300" dirty="0"/>
          </a:p>
        </p:txBody>
      </p:sp>
      <p:sp>
        <p:nvSpPr>
          <p:cNvPr id="24" name="Text 22"/>
          <p:cNvSpPr txBox="1"/>
          <p:nvPr/>
        </p:nvSpPr>
        <p:spPr>
          <a:xfrm>
            <a:off x="1417320" y="4754880"/>
            <a:ext cx="10058400" cy="731520"/>
          </a:xfrm>
          <a:prstGeom prst="rect">
            <a:avLst/>
          </a:prstGeom>
          <a:noFill/>
          <a:ln/>
        </p:spPr>
        <p:txBody>
          <a:bodyPr wrap="square" lIns="0" tIns="0" rIns="0" bIns="0" rtlCol="0" anchor="ctr"/>
          <a:lstStyle/>
          <a:p>
            <a:pPr indent="0" marL="0">
              <a:lnSpc>
                <a:spcPct val="115000"/>
              </a:lnSpc>
              <a:buNone/>
            </a:pPr>
            <a:r>
              <a:rPr lang="en-US" sz="1700" dirty="0">
                <a:solidFill>
                  <a:srgbClr val="101828"/>
                </a:solidFill>
                <a:latin typeface="IBM Plex Sans" pitchFamily="34" charset="0"/>
                <a:ea typeface="IBM Plex Sans" pitchFamily="34" charset="-122"/>
                <a:cs typeface="IBM Plex Sans" pitchFamily="34" charset="-120"/>
              </a:rPr>
              <a:t>It makes the program faster</a:t>
            </a:r>
            <a:endParaRPr lang="en-US" sz="17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2.1 Algorithms  |  Lesson 10</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Shape 3"/>
          <p:cNvSpPr/>
          <p:nvPr/>
        </p:nvSpPr>
        <p:spPr>
          <a:xfrm>
            <a:off x="502920" y="438912"/>
            <a:ext cx="3108960" cy="502920"/>
          </a:xfrm>
          <a:prstGeom prst="roundRect">
            <a:avLst>
              <a:gd name="adj" fmla="val 18182"/>
            </a:avLst>
          </a:prstGeom>
          <a:solidFill>
            <a:srgbClr val="F4B942"/>
          </a:solidFill>
          <a:ln/>
        </p:spPr>
      </p:sp>
      <p:sp>
        <p:nvSpPr>
          <p:cNvPr id="6" name="Text 4"/>
          <p:cNvSpPr txBox="1"/>
          <p:nvPr/>
        </p:nvSpPr>
        <p:spPr>
          <a:xfrm>
            <a:off x="502920" y="438912"/>
            <a:ext cx="3108960" cy="502920"/>
          </a:xfrm>
          <a:prstGeom prst="rect">
            <a:avLst/>
          </a:prstGeom>
          <a:noFill/>
          <a:ln/>
        </p:spPr>
        <p:txBody>
          <a:bodyPr wrap="square" lIns="0" tIns="0" rIns="0" bIns="0" rtlCol="0" anchor="ctr"/>
          <a:lstStyle/>
          <a:p>
            <a:pPr algn="ctr" indent="0" marL="0">
              <a:buNone/>
            </a:pPr>
            <a:r>
              <a:rPr lang="en-US" sz="1300" b="1" dirty="0">
                <a:solidFill>
                  <a:srgbClr val="101828"/>
                </a:solidFill>
                <a:latin typeface="IBM Plex Mono" pitchFamily="34" charset="0"/>
                <a:ea typeface="IBM Plex Mono" pitchFamily="34" charset="-122"/>
                <a:cs typeface="IBM Plex Mono" pitchFamily="34" charset="-120"/>
              </a:rPr>
              <a:t>★  FINAL CHALLENGE</a:t>
            </a:r>
            <a:endParaRPr lang="en-US" sz="1300" dirty="0"/>
          </a:p>
        </p:txBody>
      </p:sp>
      <p:sp>
        <p:nvSpPr>
          <p:cNvPr id="7" name="Text 5"/>
          <p:cNvSpPr txBox="1"/>
          <p:nvPr/>
        </p:nvSpPr>
        <p:spPr>
          <a:xfrm>
            <a:off x="502920" y="1097280"/>
            <a:ext cx="11155680" cy="731520"/>
          </a:xfrm>
          <a:prstGeom prst="rect">
            <a:avLst/>
          </a:prstGeom>
          <a:noFill/>
          <a:ln/>
        </p:spPr>
        <p:txBody>
          <a:bodyPr wrap="square" lIns="0" tIns="0" rIns="0" bIns="0" rtlCol="0" anchor="ctr"/>
          <a:lstStyle/>
          <a:p>
            <a:pPr indent="0" marL="0">
              <a:buNone/>
            </a:pPr>
            <a:r>
              <a:rPr lang="en-US" sz="3400" b="1" dirty="0">
                <a:solidFill>
                  <a:srgbClr val="101828"/>
                </a:solidFill>
                <a:latin typeface="IBM Plex Sans" pitchFamily="34" charset="0"/>
                <a:ea typeface="IBM Plex Sans" pitchFamily="34" charset="-122"/>
                <a:cs typeface="IBM Plex Sans" pitchFamily="34" charset="-120"/>
              </a:rPr>
              <a:t>Debug it</a:t>
            </a:r>
            <a:endParaRPr lang="en-US" sz="3400" dirty="0"/>
          </a:p>
        </p:txBody>
      </p:sp>
      <p:sp>
        <p:nvSpPr>
          <p:cNvPr id="8" name="Shape 6"/>
          <p:cNvSpPr/>
          <p:nvPr/>
        </p:nvSpPr>
        <p:spPr>
          <a:xfrm>
            <a:off x="502920" y="2011680"/>
            <a:ext cx="11155680" cy="2194560"/>
          </a:xfrm>
          <a:prstGeom prst="roundRect">
            <a:avLst>
              <a:gd name="adj" fmla="val 5000"/>
            </a:avLst>
          </a:prstGeom>
          <a:solidFill>
            <a:srgbClr val="FFFFFF"/>
          </a:solidFill>
          <a:ln w="15875">
            <a:solidFill>
              <a:srgbClr val="2D63FF"/>
            </a:solidFill>
            <a:prstDash val="solid"/>
          </a:ln>
        </p:spPr>
      </p:sp>
      <p:sp>
        <p:nvSpPr>
          <p:cNvPr id="9" name="Text 7"/>
          <p:cNvSpPr txBox="1"/>
          <p:nvPr/>
        </p:nvSpPr>
        <p:spPr>
          <a:xfrm>
            <a:off x="1005840" y="2331720"/>
            <a:ext cx="10149840" cy="1554480"/>
          </a:xfrm>
          <a:prstGeom prst="rect">
            <a:avLst/>
          </a:prstGeom>
          <a:noFill/>
          <a:ln/>
        </p:spPr>
        <p:txBody>
          <a:bodyPr wrap="square" lIns="0" tIns="0" rIns="0" bIns="0" rtlCol="0" anchor="ctr"/>
          <a:lstStyle/>
          <a:p>
            <a:pPr indent="0" marL="0">
              <a:lnSpc>
                <a:spcPct val="130000"/>
              </a:lnSpc>
              <a:buNone/>
            </a:pPr>
            <a:r>
              <a:rPr lang="en-US" sz="2200" dirty="0">
                <a:solidFill>
                  <a:srgbClr val="101828"/>
                </a:solidFill>
                <a:latin typeface="IBM Plex Sans" pitchFamily="34" charset="0"/>
                <a:ea typeface="IBM Plex Sans" pitchFamily="34" charset="-122"/>
                <a:cs typeface="IBM Plex Sans" pitchFamily="34" charset="-120"/>
              </a:rPr>
              <a:t>Two faulty programs and a sorting task. Tap the star to begin.</a:t>
            </a:r>
            <a:endParaRPr lang="en-US" sz="2200" dirty="0"/>
          </a:p>
        </p:txBody>
      </p:sp>
      <p:sp>
        <p:nvSpPr>
          <p:cNvPr id="10" name="Text 8"/>
          <p:cNvSpPr txBox="1"/>
          <p:nvPr/>
        </p:nvSpPr>
        <p:spPr>
          <a:xfrm>
            <a:off x="502920" y="4526280"/>
            <a:ext cx="11155680" cy="457200"/>
          </a:xfrm>
          <a:prstGeom prst="rect">
            <a:avLst/>
          </a:prstGeom>
          <a:noFill/>
          <a:ln/>
        </p:spPr>
        <p:txBody>
          <a:bodyPr wrap="square" lIns="0" tIns="0" rIns="0" bIns="0" rtlCol="0" anchor="ctr"/>
          <a:lstStyle/>
          <a:p>
            <a:pPr indent="0" marL="0">
              <a:buNone/>
            </a:pPr>
            <a:r>
              <a:rPr lang="en-US" sz="1600" dirty="0">
                <a:solidFill>
                  <a:srgbClr val="667085"/>
                </a:solidFill>
                <a:latin typeface="IBM Plex Sans" pitchFamily="34" charset="0"/>
                <a:ea typeface="IBM Plex Sans" pitchFamily="34" charset="-122"/>
                <a:cs typeface="IBM Plex Sans" pitchFamily="34" charset="-120"/>
              </a:rPr>
              <a:t>Predict on paper first, then look down and test it.</a:t>
            </a:r>
            <a:endParaRPr lang="en-US" sz="16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2.1 Algorithms  |  Lesson 10</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502920" y="411480"/>
            <a:ext cx="11155680" cy="777240"/>
          </a:xfrm>
          <a:prstGeom prst="rect">
            <a:avLst/>
          </a:prstGeom>
          <a:noFill/>
          <a:ln/>
        </p:spPr>
        <p:txBody>
          <a:bodyPr wrap="square" lIns="0" tIns="0" rIns="0" bIns="0" rtlCol="0" anchor="ctr"/>
          <a:lstStyle/>
          <a:p>
            <a:pPr indent="0" marL="0">
              <a:buNone/>
            </a:pPr>
            <a:r>
              <a:rPr lang="en-US" sz="3200" b="1" dirty="0">
                <a:solidFill>
                  <a:srgbClr val="101828"/>
                </a:solidFill>
                <a:latin typeface="IBM Plex Sans" pitchFamily="34" charset="0"/>
                <a:ea typeface="IBM Plex Sans" pitchFamily="34" charset="-122"/>
                <a:cs typeface="IBM Plex Sans" pitchFamily="34" charset="-120"/>
              </a:rPr>
              <a:t>Worth knowing</a:t>
            </a:r>
            <a:endParaRPr lang="en-US" sz="3200" dirty="0"/>
          </a:p>
        </p:txBody>
      </p:sp>
      <p:sp>
        <p:nvSpPr>
          <p:cNvPr id="6" name="Text 4"/>
          <p:cNvSpPr txBox="1"/>
          <p:nvPr/>
        </p:nvSpPr>
        <p:spPr>
          <a:xfrm>
            <a:off x="502920" y="1170432"/>
            <a:ext cx="11155680" cy="41148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The information markers dotted around the room</a:t>
            </a:r>
            <a:endParaRPr lang="en-US" sz="1500" dirty="0"/>
          </a:p>
        </p:txBody>
      </p:sp>
      <p:sp>
        <p:nvSpPr>
          <p:cNvPr id="7" name="Shape 5"/>
          <p:cNvSpPr/>
          <p:nvPr/>
        </p:nvSpPr>
        <p:spPr>
          <a:xfrm>
            <a:off x="502920" y="1828800"/>
            <a:ext cx="5394960" cy="1737360"/>
          </a:xfrm>
          <a:prstGeom prst="roundRect">
            <a:avLst>
              <a:gd name="adj" fmla="val 6316"/>
            </a:avLst>
          </a:prstGeom>
          <a:solidFill>
            <a:srgbClr val="FFFFFF"/>
          </a:solidFill>
          <a:ln w="15875">
            <a:solidFill>
              <a:srgbClr val="2D63FF"/>
            </a:solidFill>
            <a:prstDash val="solid"/>
          </a:ln>
        </p:spPr>
      </p:sp>
      <p:sp>
        <p:nvSpPr>
          <p:cNvPr id="8" name="Text 6"/>
          <p:cNvSpPr txBox="1"/>
          <p:nvPr/>
        </p:nvSpPr>
        <p:spPr>
          <a:xfrm>
            <a:off x="822960" y="2011680"/>
            <a:ext cx="4754880" cy="36576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The first bug</a:t>
            </a:r>
            <a:endParaRPr lang="en-US" sz="1600" dirty="0"/>
          </a:p>
        </p:txBody>
      </p:sp>
      <p:sp>
        <p:nvSpPr>
          <p:cNvPr id="9" name="Text 7"/>
          <p:cNvSpPr txBox="1"/>
          <p:nvPr/>
        </p:nvSpPr>
        <p:spPr>
          <a:xfrm>
            <a:off x="822960" y="2395728"/>
            <a:ext cx="4754880" cy="1005840"/>
          </a:xfrm>
          <a:prstGeom prst="rect">
            <a:avLst/>
          </a:prstGeom>
          <a:noFill/>
          <a:ln/>
        </p:spPr>
        <p:txBody>
          <a:bodyPr wrap="square" lIns="0" tIns="0" rIns="0" bIns="0" rtlCol="0" anchor="t"/>
          <a:lstStyle/>
          <a:p>
            <a:pPr indent="0" marL="0">
              <a:lnSpc>
                <a:spcPct val="120000"/>
              </a:lnSpc>
              <a:buNone/>
            </a:pPr>
            <a:r>
              <a:rPr lang="en-US" sz="1300" dirty="0">
                <a:solidFill>
                  <a:srgbClr val="667085"/>
                </a:solidFill>
                <a:latin typeface="IBM Plex Sans" pitchFamily="34" charset="0"/>
                <a:ea typeface="IBM Plex Sans" pitchFamily="34" charset="-122"/>
                <a:cs typeface="IBM Plex Sans" pitchFamily="34" charset="-120"/>
              </a:rPr>
              <a:t>In 1947 a moth was found jammed in a relay of the Harvard Mark II. The team taped it into the logbook and called it the first actual case of a bug being found.</a:t>
            </a:r>
            <a:endParaRPr lang="en-US" sz="1300" dirty="0"/>
          </a:p>
        </p:txBody>
      </p:sp>
      <p:sp>
        <p:nvSpPr>
          <p:cNvPr id="10" name="Shape 8"/>
          <p:cNvSpPr/>
          <p:nvPr/>
        </p:nvSpPr>
        <p:spPr>
          <a:xfrm>
            <a:off x="6217920" y="1828800"/>
            <a:ext cx="5394960" cy="1737360"/>
          </a:xfrm>
          <a:prstGeom prst="roundRect">
            <a:avLst>
              <a:gd name="adj" fmla="val 6316"/>
            </a:avLst>
          </a:prstGeom>
          <a:solidFill>
            <a:srgbClr val="FFFFFF"/>
          </a:solidFill>
          <a:ln w="15875">
            <a:solidFill>
              <a:srgbClr val="08A6A6"/>
            </a:solidFill>
            <a:prstDash val="solid"/>
          </a:ln>
        </p:spPr>
      </p:sp>
      <p:sp>
        <p:nvSpPr>
          <p:cNvPr id="11" name="Text 9"/>
          <p:cNvSpPr txBox="1"/>
          <p:nvPr/>
        </p:nvSpPr>
        <p:spPr>
          <a:xfrm>
            <a:off x="6537960" y="2011680"/>
            <a:ext cx="4754880" cy="365760"/>
          </a:xfrm>
          <a:prstGeom prst="rect">
            <a:avLst/>
          </a:prstGeom>
          <a:noFill/>
          <a:ln/>
        </p:spPr>
        <p:txBody>
          <a:bodyPr wrap="square" lIns="0" tIns="0" rIns="0" bIns="0" rtlCol="0" anchor="ctr"/>
          <a:lstStyle/>
          <a:p>
            <a:pPr indent="0" marL="0">
              <a:buNone/>
            </a:pPr>
            <a:r>
              <a:rPr lang="en-US" sz="1600" b="1" dirty="0">
                <a:solidFill>
                  <a:srgbClr val="08A6A6"/>
                </a:solidFill>
                <a:latin typeface="IBM Plex Sans" pitchFamily="34" charset="0"/>
                <a:ea typeface="IBM Plex Sans" pitchFamily="34" charset="-122"/>
                <a:cs typeface="IBM Plex Sans" pitchFamily="34" charset="-120"/>
              </a:rPr>
              <a:t>Syntax errors are the friendly ones</a:t>
            </a:r>
            <a:endParaRPr lang="en-US" sz="1600" dirty="0"/>
          </a:p>
        </p:txBody>
      </p:sp>
      <p:sp>
        <p:nvSpPr>
          <p:cNvPr id="12" name="Text 10"/>
          <p:cNvSpPr txBox="1"/>
          <p:nvPr/>
        </p:nvSpPr>
        <p:spPr>
          <a:xfrm>
            <a:off x="6537960" y="2395728"/>
            <a:ext cx="4754880" cy="1005840"/>
          </a:xfrm>
          <a:prstGeom prst="rect">
            <a:avLst/>
          </a:prstGeom>
          <a:noFill/>
          <a:ln/>
        </p:spPr>
        <p:txBody>
          <a:bodyPr wrap="square" lIns="0" tIns="0" rIns="0" bIns="0" rtlCol="0" anchor="t"/>
          <a:lstStyle/>
          <a:p>
            <a:pPr indent="0" marL="0">
              <a:lnSpc>
                <a:spcPct val="120000"/>
              </a:lnSpc>
              <a:buNone/>
            </a:pPr>
            <a:r>
              <a:rPr lang="en-US" sz="1300" dirty="0">
                <a:solidFill>
                  <a:srgbClr val="667085"/>
                </a:solidFill>
                <a:latin typeface="IBM Plex Sans" pitchFamily="34" charset="0"/>
                <a:ea typeface="IBM Plex Sans" pitchFamily="34" charset="-122"/>
                <a:cs typeface="IBM Plex Sans" pitchFamily="34" charset="-120"/>
              </a:rPr>
              <a:t>They stop the program immediately and tell you roughly where. Logic errors can survive into released software for years.</a:t>
            </a:r>
            <a:endParaRPr lang="en-US" sz="1300" dirty="0"/>
          </a:p>
        </p:txBody>
      </p:sp>
      <p:sp>
        <p:nvSpPr>
          <p:cNvPr id="13" name="Shape 11"/>
          <p:cNvSpPr/>
          <p:nvPr/>
        </p:nvSpPr>
        <p:spPr>
          <a:xfrm>
            <a:off x="502920" y="3794760"/>
            <a:ext cx="5394960" cy="1737360"/>
          </a:xfrm>
          <a:prstGeom prst="roundRect">
            <a:avLst>
              <a:gd name="adj" fmla="val 6316"/>
            </a:avLst>
          </a:prstGeom>
          <a:solidFill>
            <a:srgbClr val="FFFFFF"/>
          </a:solidFill>
          <a:ln w="15875">
            <a:solidFill>
              <a:srgbClr val="2D63FF"/>
            </a:solidFill>
            <a:prstDash val="solid"/>
          </a:ln>
        </p:spPr>
      </p:sp>
      <p:sp>
        <p:nvSpPr>
          <p:cNvPr id="14" name="Text 12"/>
          <p:cNvSpPr txBox="1"/>
          <p:nvPr/>
        </p:nvSpPr>
        <p:spPr>
          <a:xfrm>
            <a:off x="822960" y="3977640"/>
            <a:ext cx="4754880" cy="36576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Off by one</a:t>
            </a:r>
            <a:endParaRPr lang="en-US" sz="1600" dirty="0"/>
          </a:p>
        </p:txBody>
      </p:sp>
      <p:sp>
        <p:nvSpPr>
          <p:cNvPr id="15" name="Text 13"/>
          <p:cNvSpPr txBox="1"/>
          <p:nvPr/>
        </p:nvSpPr>
        <p:spPr>
          <a:xfrm>
            <a:off x="822960" y="4361688"/>
            <a:ext cx="4754880" cy="1005840"/>
          </a:xfrm>
          <a:prstGeom prst="rect">
            <a:avLst/>
          </a:prstGeom>
          <a:noFill/>
          <a:ln/>
        </p:spPr>
        <p:txBody>
          <a:bodyPr wrap="square" lIns="0" tIns="0" rIns="0" bIns="0" rtlCol="0" anchor="t"/>
          <a:lstStyle/>
          <a:p>
            <a:pPr indent="0" marL="0">
              <a:lnSpc>
                <a:spcPct val="120000"/>
              </a:lnSpc>
              <a:buNone/>
            </a:pPr>
            <a:r>
              <a:rPr lang="en-US" sz="1300" dirty="0">
                <a:solidFill>
                  <a:srgbClr val="667085"/>
                </a:solidFill>
                <a:latin typeface="IBM Plex Sans" pitchFamily="34" charset="0"/>
                <a:ea typeface="IBM Plex Sans" pitchFamily="34" charset="-122"/>
                <a:cs typeface="IBM Plex Sans" pitchFamily="34" charset="-120"/>
              </a:rPr>
              <a:t>Loops that run one time too many or too few are so common they have their own name: off-by-one errors.</a:t>
            </a:r>
            <a:endParaRPr lang="en-US" sz="1300" dirty="0"/>
          </a:p>
        </p:txBody>
      </p:sp>
      <p:sp>
        <p:nvSpPr>
          <p:cNvPr id="16" name="Shape 14"/>
          <p:cNvSpPr/>
          <p:nvPr/>
        </p:nvSpPr>
        <p:spPr>
          <a:xfrm>
            <a:off x="6217920" y="3794760"/>
            <a:ext cx="5394960" cy="1737360"/>
          </a:xfrm>
          <a:prstGeom prst="roundRect">
            <a:avLst>
              <a:gd name="adj" fmla="val 6316"/>
            </a:avLst>
          </a:prstGeom>
          <a:solidFill>
            <a:srgbClr val="FFFFFF"/>
          </a:solidFill>
          <a:ln w="15875">
            <a:solidFill>
              <a:srgbClr val="08A6A6"/>
            </a:solidFill>
            <a:prstDash val="solid"/>
          </a:ln>
        </p:spPr>
      </p:sp>
      <p:sp>
        <p:nvSpPr>
          <p:cNvPr id="17" name="Text 15"/>
          <p:cNvSpPr txBox="1"/>
          <p:nvPr/>
        </p:nvSpPr>
        <p:spPr>
          <a:xfrm>
            <a:off x="6537960" y="3977640"/>
            <a:ext cx="4754880" cy="365760"/>
          </a:xfrm>
          <a:prstGeom prst="rect">
            <a:avLst/>
          </a:prstGeom>
          <a:noFill/>
          <a:ln/>
        </p:spPr>
        <p:txBody>
          <a:bodyPr wrap="square" lIns="0" tIns="0" rIns="0" bIns="0" rtlCol="0" anchor="ctr"/>
          <a:lstStyle/>
          <a:p>
            <a:pPr indent="0" marL="0">
              <a:buNone/>
            </a:pPr>
            <a:r>
              <a:rPr lang="en-US" sz="1600" b="1" dirty="0">
                <a:solidFill>
                  <a:srgbClr val="08A6A6"/>
                </a:solidFill>
                <a:latin typeface="IBM Plex Sans" pitchFamily="34" charset="0"/>
                <a:ea typeface="IBM Plex Sans" pitchFamily="34" charset="-122"/>
                <a:cs typeface="IBM Plex Sans" pitchFamily="34" charset="-120"/>
              </a:rPr>
              <a:t>Runtime errors</a:t>
            </a:r>
            <a:endParaRPr lang="en-US" sz="1600" dirty="0"/>
          </a:p>
        </p:txBody>
      </p:sp>
      <p:sp>
        <p:nvSpPr>
          <p:cNvPr id="18" name="Text 16"/>
          <p:cNvSpPr txBox="1"/>
          <p:nvPr/>
        </p:nvSpPr>
        <p:spPr>
          <a:xfrm>
            <a:off x="6537960" y="4361688"/>
            <a:ext cx="4754880" cy="1005840"/>
          </a:xfrm>
          <a:prstGeom prst="rect">
            <a:avLst/>
          </a:prstGeom>
          <a:noFill/>
          <a:ln/>
        </p:spPr>
        <p:txBody>
          <a:bodyPr wrap="square" lIns="0" tIns="0" rIns="0" bIns="0" rtlCol="0" anchor="t"/>
          <a:lstStyle/>
          <a:p>
            <a:pPr indent="0" marL="0">
              <a:lnSpc>
                <a:spcPct val="120000"/>
              </a:lnSpc>
              <a:buNone/>
            </a:pPr>
            <a:r>
              <a:rPr lang="en-US" sz="1300" dirty="0">
                <a:solidFill>
                  <a:srgbClr val="667085"/>
                </a:solidFill>
                <a:latin typeface="IBM Plex Sans" pitchFamily="34" charset="0"/>
                <a:ea typeface="IBM Plex Sans" pitchFamily="34" charset="-122"/>
                <a:cs typeface="IBM Plex Sans" pitchFamily="34" charset="-120"/>
              </a:rPr>
              <a:t>There is a third kind: errors that appear only while running, such as dividing by zero. At GCSE the focus is syntax and logic.</a:t>
            </a:r>
            <a:endParaRPr lang="en-US" sz="13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2.1 Algorithms  |  Lesson 10</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502920" y="411480"/>
            <a:ext cx="11155680" cy="777240"/>
          </a:xfrm>
          <a:prstGeom prst="rect">
            <a:avLst/>
          </a:prstGeom>
          <a:noFill/>
          <a:ln/>
        </p:spPr>
        <p:txBody>
          <a:bodyPr wrap="square" lIns="0" tIns="0" rIns="0" bIns="0" rtlCol="0" anchor="ctr"/>
          <a:lstStyle/>
          <a:p>
            <a:pPr indent="0" marL="0">
              <a:buNone/>
            </a:pPr>
            <a:r>
              <a:rPr lang="en-US" sz="3200" b="1" dirty="0">
                <a:solidFill>
                  <a:srgbClr val="101828"/>
                </a:solidFill>
                <a:latin typeface="IBM Plex Sans" pitchFamily="34" charset="0"/>
                <a:ea typeface="IBM Plex Sans" pitchFamily="34" charset="-122"/>
                <a:cs typeface="IBM Plex Sans" pitchFamily="34" charset="-120"/>
              </a:rPr>
              <a:t>Exam practice</a:t>
            </a:r>
            <a:endParaRPr lang="en-US" sz="3200" dirty="0"/>
          </a:p>
        </p:txBody>
      </p:sp>
      <p:sp>
        <p:nvSpPr>
          <p:cNvPr id="6" name="Text 4"/>
          <p:cNvSpPr txBox="1"/>
          <p:nvPr/>
        </p:nvSpPr>
        <p:spPr>
          <a:xfrm>
            <a:off x="502920" y="1170432"/>
            <a:ext cx="11155680" cy="41148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Devices away. Answer from memory on the worksheet.</a:t>
            </a:r>
            <a:endParaRPr lang="en-US" sz="1500" dirty="0"/>
          </a:p>
        </p:txBody>
      </p:sp>
      <p:sp>
        <p:nvSpPr>
          <p:cNvPr id="7" name="Shape 5"/>
          <p:cNvSpPr/>
          <p:nvPr/>
        </p:nvSpPr>
        <p:spPr>
          <a:xfrm>
            <a:off x="502920" y="1828800"/>
            <a:ext cx="11155680" cy="1097280"/>
          </a:xfrm>
          <a:prstGeom prst="roundRect">
            <a:avLst>
              <a:gd name="adj" fmla="val 10000"/>
            </a:avLst>
          </a:prstGeom>
          <a:solidFill>
            <a:srgbClr val="FFFFFF"/>
          </a:solidFill>
          <a:ln w="15875">
            <a:solidFill>
              <a:srgbClr val="D9DEE7"/>
            </a:solidFill>
            <a:prstDash val="solid"/>
          </a:ln>
        </p:spPr>
      </p:sp>
      <p:sp>
        <p:nvSpPr>
          <p:cNvPr id="8" name="Text 6"/>
          <p:cNvSpPr txBox="1"/>
          <p:nvPr/>
        </p:nvSpPr>
        <p:spPr>
          <a:xfrm>
            <a:off x="914400" y="1938528"/>
            <a:ext cx="9418320" cy="877824"/>
          </a:xfrm>
          <a:prstGeom prst="rect">
            <a:avLst/>
          </a:prstGeom>
          <a:noFill/>
          <a:ln/>
        </p:spPr>
        <p:txBody>
          <a:bodyPr wrap="square" lIns="0" tIns="0" rIns="0" bIns="0" rtlCol="0" anchor="ctr"/>
          <a:lstStyle/>
          <a:p>
            <a:pPr indent="0" marL="0">
              <a:lnSpc>
                <a:spcPct val="118000"/>
              </a:lnSpc>
              <a:buNone/>
            </a:pPr>
            <a:r>
              <a:rPr lang="en-US" sz="1700" dirty="0">
                <a:solidFill>
                  <a:srgbClr val="101828"/>
                </a:solidFill>
                <a:latin typeface="IBM Plex Sans" pitchFamily="34" charset="0"/>
                <a:ea typeface="IBM Plex Sans" pitchFamily="34" charset="-122"/>
                <a:cs typeface="IBM Plex Sans" pitchFamily="34" charset="-120"/>
              </a:rPr>
              <a:t>State the difference between a syntax error and a logic error.</a:t>
            </a:r>
            <a:endParaRPr lang="en-US" sz="1700" dirty="0"/>
          </a:p>
        </p:txBody>
      </p:sp>
      <p:sp>
        <p:nvSpPr>
          <p:cNvPr id="9" name="Shape 7"/>
          <p:cNvSpPr/>
          <p:nvPr/>
        </p:nvSpPr>
        <p:spPr>
          <a:xfrm>
            <a:off x="10515600" y="2130552"/>
            <a:ext cx="868680" cy="493776"/>
          </a:xfrm>
          <a:prstGeom prst="roundRect">
            <a:avLst>
              <a:gd name="adj" fmla="val 18519"/>
            </a:avLst>
          </a:prstGeom>
          <a:solidFill>
            <a:srgbClr val="EEF2FB"/>
          </a:solidFill>
          <a:ln/>
        </p:spPr>
      </p:sp>
      <p:sp>
        <p:nvSpPr>
          <p:cNvPr id="10" name="Text 8"/>
          <p:cNvSpPr txBox="1"/>
          <p:nvPr/>
        </p:nvSpPr>
        <p:spPr>
          <a:xfrm>
            <a:off x="10515600" y="2130552"/>
            <a:ext cx="868680" cy="493776"/>
          </a:xfrm>
          <a:prstGeom prst="rect">
            <a:avLst/>
          </a:prstGeom>
          <a:noFill/>
          <a:ln/>
        </p:spPr>
        <p:txBody>
          <a:bodyPr wrap="square" lIns="0" tIns="0" rIns="0" bIns="0" rtlCol="0" anchor="ctr"/>
          <a:lstStyle/>
          <a:p>
            <a:pPr algn="ctr" indent="0" marL="0">
              <a:buNone/>
            </a:pPr>
            <a:r>
              <a:rPr lang="en-US" sz="1500" b="1" dirty="0">
                <a:solidFill>
                  <a:srgbClr val="2D63FF"/>
                </a:solidFill>
                <a:latin typeface="IBM Plex Mono" pitchFamily="34" charset="0"/>
                <a:ea typeface="IBM Plex Mono" pitchFamily="34" charset="-122"/>
                <a:cs typeface="IBM Plex Mono" pitchFamily="34" charset="-120"/>
              </a:rPr>
              <a:t>[2]</a:t>
            </a:r>
            <a:endParaRPr lang="en-US" sz="1500" dirty="0"/>
          </a:p>
        </p:txBody>
      </p:sp>
      <p:sp>
        <p:nvSpPr>
          <p:cNvPr id="11" name="Shape 9"/>
          <p:cNvSpPr/>
          <p:nvPr/>
        </p:nvSpPr>
        <p:spPr>
          <a:xfrm>
            <a:off x="502920" y="3127248"/>
            <a:ext cx="11155680" cy="1097280"/>
          </a:xfrm>
          <a:prstGeom prst="roundRect">
            <a:avLst>
              <a:gd name="adj" fmla="val 10000"/>
            </a:avLst>
          </a:prstGeom>
          <a:solidFill>
            <a:srgbClr val="FFFFFF"/>
          </a:solidFill>
          <a:ln w="15875">
            <a:solidFill>
              <a:srgbClr val="D9DEE7"/>
            </a:solidFill>
            <a:prstDash val="solid"/>
          </a:ln>
        </p:spPr>
      </p:sp>
      <p:sp>
        <p:nvSpPr>
          <p:cNvPr id="12" name="Text 10"/>
          <p:cNvSpPr txBox="1"/>
          <p:nvPr/>
        </p:nvSpPr>
        <p:spPr>
          <a:xfrm>
            <a:off x="914400" y="3236976"/>
            <a:ext cx="9418320" cy="877824"/>
          </a:xfrm>
          <a:prstGeom prst="rect">
            <a:avLst/>
          </a:prstGeom>
          <a:noFill/>
          <a:ln/>
        </p:spPr>
        <p:txBody>
          <a:bodyPr wrap="square" lIns="0" tIns="0" rIns="0" bIns="0" rtlCol="0" anchor="ctr"/>
          <a:lstStyle/>
          <a:p>
            <a:pPr indent="0" marL="0">
              <a:lnSpc>
                <a:spcPct val="118000"/>
              </a:lnSpc>
              <a:buNone/>
            </a:pPr>
            <a:r>
              <a:rPr lang="en-US" sz="1700" dirty="0">
                <a:solidFill>
                  <a:srgbClr val="101828"/>
                </a:solidFill>
                <a:latin typeface="IBM Plex Sans" pitchFamily="34" charset="0"/>
                <a:ea typeface="IBM Plex Sans" pitchFamily="34" charset="-122"/>
                <a:cs typeface="IBM Plex Sans" pitchFamily="34" charset="-120"/>
              </a:rPr>
              <a:t>A program runs but always outputs one more than it should. What type of error is this? Explain your answer.</a:t>
            </a:r>
            <a:endParaRPr lang="en-US" sz="1700" dirty="0"/>
          </a:p>
        </p:txBody>
      </p:sp>
      <p:sp>
        <p:nvSpPr>
          <p:cNvPr id="13" name="Shape 11"/>
          <p:cNvSpPr/>
          <p:nvPr/>
        </p:nvSpPr>
        <p:spPr>
          <a:xfrm>
            <a:off x="10515600" y="3429000"/>
            <a:ext cx="868680" cy="493776"/>
          </a:xfrm>
          <a:prstGeom prst="roundRect">
            <a:avLst>
              <a:gd name="adj" fmla="val 18519"/>
            </a:avLst>
          </a:prstGeom>
          <a:solidFill>
            <a:srgbClr val="EEF2FB"/>
          </a:solidFill>
          <a:ln/>
        </p:spPr>
      </p:sp>
      <p:sp>
        <p:nvSpPr>
          <p:cNvPr id="14" name="Text 12"/>
          <p:cNvSpPr txBox="1"/>
          <p:nvPr/>
        </p:nvSpPr>
        <p:spPr>
          <a:xfrm>
            <a:off x="10515600" y="3429000"/>
            <a:ext cx="868680" cy="493776"/>
          </a:xfrm>
          <a:prstGeom prst="rect">
            <a:avLst/>
          </a:prstGeom>
          <a:noFill/>
          <a:ln/>
        </p:spPr>
        <p:txBody>
          <a:bodyPr wrap="square" lIns="0" tIns="0" rIns="0" bIns="0" rtlCol="0" anchor="ctr"/>
          <a:lstStyle/>
          <a:p>
            <a:pPr algn="ctr" indent="0" marL="0">
              <a:buNone/>
            </a:pPr>
            <a:r>
              <a:rPr lang="en-US" sz="1500" b="1" dirty="0">
                <a:solidFill>
                  <a:srgbClr val="2D63FF"/>
                </a:solidFill>
                <a:latin typeface="IBM Plex Mono" pitchFamily="34" charset="0"/>
                <a:ea typeface="IBM Plex Mono" pitchFamily="34" charset="-122"/>
                <a:cs typeface="IBM Plex Mono" pitchFamily="34" charset="-120"/>
              </a:rPr>
              <a:t>[3]</a:t>
            </a:r>
            <a:endParaRPr lang="en-US" sz="1500" dirty="0"/>
          </a:p>
        </p:txBody>
      </p:sp>
      <p:sp>
        <p:nvSpPr>
          <p:cNvPr id="15" name="Shape 13"/>
          <p:cNvSpPr/>
          <p:nvPr/>
        </p:nvSpPr>
        <p:spPr>
          <a:xfrm>
            <a:off x="502920" y="4425696"/>
            <a:ext cx="11155680" cy="1097280"/>
          </a:xfrm>
          <a:prstGeom prst="roundRect">
            <a:avLst>
              <a:gd name="adj" fmla="val 10000"/>
            </a:avLst>
          </a:prstGeom>
          <a:solidFill>
            <a:srgbClr val="FFFFFF"/>
          </a:solidFill>
          <a:ln w="15875">
            <a:solidFill>
              <a:srgbClr val="D9DEE7"/>
            </a:solidFill>
            <a:prstDash val="solid"/>
          </a:ln>
        </p:spPr>
      </p:sp>
      <p:sp>
        <p:nvSpPr>
          <p:cNvPr id="16" name="Text 14"/>
          <p:cNvSpPr txBox="1"/>
          <p:nvPr/>
        </p:nvSpPr>
        <p:spPr>
          <a:xfrm>
            <a:off x="914400" y="4535424"/>
            <a:ext cx="9418320" cy="877824"/>
          </a:xfrm>
          <a:prstGeom prst="rect">
            <a:avLst/>
          </a:prstGeom>
          <a:noFill/>
          <a:ln/>
        </p:spPr>
        <p:txBody>
          <a:bodyPr wrap="square" lIns="0" tIns="0" rIns="0" bIns="0" rtlCol="0" anchor="ctr"/>
          <a:lstStyle/>
          <a:p>
            <a:pPr indent="0" marL="0">
              <a:lnSpc>
                <a:spcPct val="118000"/>
              </a:lnSpc>
              <a:buNone/>
            </a:pPr>
            <a:r>
              <a:rPr lang="en-US" sz="1700" dirty="0">
                <a:solidFill>
                  <a:srgbClr val="101828"/>
                </a:solidFill>
                <a:latin typeface="IBM Plex Sans" pitchFamily="34" charset="0"/>
                <a:ea typeface="IBM Plex Sans" pitchFamily="34" charset="-122"/>
                <a:cs typeface="IBM Plex Sans" pitchFamily="34" charset="-120"/>
              </a:rPr>
              <a:t>Identify the error in the following program, state its type, and describe how to correct it.</a:t>
            </a:r>
            <a:endParaRPr lang="en-US" sz="1700" dirty="0"/>
          </a:p>
        </p:txBody>
      </p:sp>
      <p:sp>
        <p:nvSpPr>
          <p:cNvPr id="17" name="Shape 15"/>
          <p:cNvSpPr/>
          <p:nvPr/>
        </p:nvSpPr>
        <p:spPr>
          <a:xfrm>
            <a:off x="10515600" y="4727448"/>
            <a:ext cx="868680" cy="493776"/>
          </a:xfrm>
          <a:prstGeom prst="roundRect">
            <a:avLst>
              <a:gd name="adj" fmla="val 18519"/>
            </a:avLst>
          </a:prstGeom>
          <a:solidFill>
            <a:srgbClr val="EEF2FB"/>
          </a:solidFill>
          <a:ln/>
        </p:spPr>
      </p:sp>
      <p:sp>
        <p:nvSpPr>
          <p:cNvPr id="18" name="Text 16"/>
          <p:cNvSpPr txBox="1"/>
          <p:nvPr/>
        </p:nvSpPr>
        <p:spPr>
          <a:xfrm>
            <a:off x="10515600" y="4727448"/>
            <a:ext cx="868680" cy="493776"/>
          </a:xfrm>
          <a:prstGeom prst="rect">
            <a:avLst/>
          </a:prstGeom>
          <a:noFill/>
          <a:ln/>
        </p:spPr>
        <p:txBody>
          <a:bodyPr wrap="square" lIns="0" tIns="0" rIns="0" bIns="0" rtlCol="0" anchor="ctr"/>
          <a:lstStyle/>
          <a:p>
            <a:pPr algn="ctr" indent="0" marL="0">
              <a:buNone/>
            </a:pPr>
            <a:r>
              <a:rPr lang="en-US" sz="1500" b="1" dirty="0">
                <a:solidFill>
                  <a:srgbClr val="2D63FF"/>
                </a:solidFill>
                <a:latin typeface="IBM Plex Mono" pitchFamily="34" charset="0"/>
                <a:ea typeface="IBM Plex Mono" pitchFamily="34" charset="-122"/>
                <a:cs typeface="IBM Plex Mono" pitchFamily="34" charset="-120"/>
              </a:rPr>
              <a:t>[3]</a:t>
            </a:r>
            <a:endParaRPr lang="en-US" sz="15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2.1 Algorithms  |  Lesson 10</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502920" y="411480"/>
            <a:ext cx="11155680" cy="777240"/>
          </a:xfrm>
          <a:prstGeom prst="rect">
            <a:avLst/>
          </a:prstGeom>
          <a:noFill/>
          <a:ln/>
        </p:spPr>
        <p:txBody>
          <a:bodyPr wrap="square" lIns="0" tIns="0" rIns="0" bIns="0" rtlCol="0" anchor="ctr"/>
          <a:lstStyle/>
          <a:p>
            <a:pPr indent="0" marL="0">
              <a:buNone/>
            </a:pPr>
            <a:r>
              <a:rPr lang="en-US" sz="3200" b="1" dirty="0">
                <a:solidFill>
                  <a:srgbClr val="101828"/>
                </a:solidFill>
                <a:latin typeface="IBM Plex Sans" pitchFamily="34" charset="0"/>
                <a:ea typeface="IBM Plex Sans" pitchFamily="34" charset="-122"/>
                <a:cs typeface="IBM Plex Sans" pitchFamily="34" charset="-120"/>
              </a:rPr>
              <a:t>Before you go</a:t>
            </a:r>
            <a:endParaRPr lang="en-US" sz="3200" dirty="0"/>
          </a:p>
        </p:txBody>
      </p:sp>
      <p:sp>
        <p:nvSpPr>
          <p:cNvPr id="6" name="Text 4"/>
          <p:cNvSpPr txBox="1"/>
          <p:nvPr/>
        </p:nvSpPr>
        <p:spPr>
          <a:xfrm>
            <a:off x="502920" y="1170432"/>
            <a:ext cx="11155680" cy="41148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Rate yourself on each of these</a:t>
            </a:r>
            <a:endParaRPr lang="en-US" sz="1500" dirty="0"/>
          </a:p>
        </p:txBody>
      </p:sp>
      <p:sp>
        <p:nvSpPr>
          <p:cNvPr id="7" name="Shape 5"/>
          <p:cNvSpPr/>
          <p:nvPr/>
        </p:nvSpPr>
        <p:spPr>
          <a:xfrm>
            <a:off x="502920" y="1920240"/>
            <a:ext cx="7863840" cy="777240"/>
          </a:xfrm>
          <a:prstGeom prst="roundRect">
            <a:avLst>
              <a:gd name="adj" fmla="val 14118"/>
            </a:avLst>
          </a:prstGeom>
          <a:solidFill>
            <a:srgbClr val="FFFFFF"/>
          </a:solidFill>
          <a:ln w="15875">
            <a:solidFill>
              <a:srgbClr val="D9DEE7"/>
            </a:solidFill>
            <a:prstDash val="solid"/>
          </a:ln>
        </p:spPr>
      </p:sp>
      <p:sp>
        <p:nvSpPr>
          <p:cNvPr id="8" name="Text 6"/>
          <p:cNvSpPr txBox="1"/>
          <p:nvPr/>
        </p:nvSpPr>
        <p:spPr>
          <a:xfrm>
            <a:off x="914400" y="1920240"/>
            <a:ext cx="7132320" cy="777240"/>
          </a:xfrm>
          <a:prstGeom prst="rect">
            <a:avLst/>
          </a:prstGeom>
          <a:noFill/>
          <a:ln/>
        </p:spPr>
        <p:txBody>
          <a:bodyPr wrap="square" lIns="0" tIns="0" rIns="0" bIns="0" rtlCol="0" anchor="ctr"/>
          <a:lstStyle/>
          <a:p>
            <a:pPr indent="0" marL="0">
              <a:buNone/>
            </a:pPr>
            <a:r>
              <a:rPr lang="en-US" sz="1800" dirty="0">
                <a:solidFill>
                  <a:srgbClr val="101828"/>
                </a:solidFill>
                <a:latin typeface="IBM Plex Sans" pitchFamily="34" charset="0"/>
                <a:ea typeface="IBM Plex Sans" pitchFamily="34" charset="-122"/>
                <a:cs typeface="IBM Plex Sans" pitchFamily="34" charset="-120"/>
              </a:rPr>
              <a:t>Syntax errors</a:t>
            </a:r>
            <a:endParaRPr lang="en-US" sz="1800" dirty="0"/>
          </a:p>
        </p:txBody>
      </p:sp>
      <p:sp>
        <p:nvSpPr>
          <p:cNvPr id="9" name="Shape 7"/>
          <p:cNvSpPr/>
          <p:nvPr/>
        </p:nvSpPr>
        <p:spPr>
          <a:xfrm>
            <a:off x="8595360" y="2066544"/>
            <a:ext cx="987552" cy="484632"/>
          </a:xfrm>
          <a:prstGeom prst="roundRect">
            <a:avLst>
              <a:gd name="adj" fmla="val 18868"/>
            </a:avLst>
          </a:prstGeom>
          <a:solidFill>
            <a:srgbClr val="FFFFFF"/>
          </a:solidFill>
          <a:ln w="15875">
            <a:solidFill>
              <a:srgbClr val="08A6A6"/>
            </a:solidFill>
            <a:prstDash val="solid"/>
          </a:ln>
        </p:spPr>
      </p:sp>
      <p:sp>
        <p:nvSpPr>
          <p:cNvPr id="10" name="Text 8"/>
          <p:cNvSpPr txBox="1"/>
          <p:nvPr/>
        </p:nvSpPr>
        <p:spPr>
          <a:xfrm>
            <a:off x="8595360" y="2066544"/>
            <a:ext cx="987552" cy="484632"/>
          </a:xfrm>
          <a:prstGeom prst="rect">
            <a:avLst/>
          </a:prstGeom>
          <a:noFill/>
          <a:ln/>
        </p:spPr>
        <p:txBody>
          <a:bodyPr wrap="square" lIns="0" tIns="0" rIns="0" bIns="0" rtlCol="0" anchor="ctr"/>
          <a:lstStyle/>
          <a:p>
            <a:pPr algn="ctr" indent="0" marL="0">
              <a:buNone/>
            </a:pPr>
            <a:r>
              <a:rPr lang="en-US" sz="1000" dirty="0">
                <a:solidFill>
                  <a:srgbClr val="08A6A6"/>
                </a:solidFill>
                <a:latin typeface="IBM Plex Sans" pitchFamily="34" charset="0"/>
                <a:ea typeface="IBM Plex Sans" pitchFamily="34" charset="-122"/>
                <a:cs typeface="IBM Plex Sans" pitchFamily="34" charset="-120"/>
              </a:rPr>
              <a:t>Secure</a:t>
            </a:r>
            <a:endParaRPr lang="en-US" sz="1000" dirty="0"/>
          </a:p>
        </p:txBody>
      </p:sp>
      <p:sp>
        <p:nvSpPr>
          <p:cNvPr id="11" name="Shape 9"/>
          <p:cNvSpPr/>
          <p:nvPr/>
        </p:nvSpPr>
        <p:spPr>
          <a:xfrm>
            <a:off x="9674352" y="2066544"/>
            <a:ext cx="987552" cy="484632"/>
          </a:xfrm>
          <a:prstGeom prst="roundRect">
            <a:avLst>
              <a:gd name="adj" fmla="val 18868"/>
            </a:avLst>
          </a:prstGeom>
          <a:solidFill>
            <a:srgbClr val="FFFFFF"/>
          </a:solidFill>
          <a:ln w="15875">
            <a:solidFill>
              <a:srgbClr val="F4B942"/>
            </a:solidFill>
            <a:prstDash val="solid"/>
          </a:ln>
        </p:spPr>
      </p:sp>
      <p:sp>
        <p:nvSpPr>
          <p:cNvPr id="12" name="Text 10"/>
          <p:cNvSpPr txBox="1"/>
          <p:nvPr/>
        </p:nvSpPr>
        <p:spPr>
          <a:xfrm>
            <a:off x="9674352" y="2066544"/>
            <a:ext cx="987552" cy="484632"/>
          </a:xfrm>
          <a:prstGeom prst="rect">
            <a:avLst/>
          </a:prstGeom>
          <a:noFill/>
          <a:ln/>
        </p:spPr>
        <p:txBody>
          <a:bodyPr wrap="square" lIns="0" tIns="0" rIns="0" bIns="0" rtlCol="0" anchor="ctr"/>
          <a:lstStyle/>
          <a:p>
            <a:pPr algn="ctr" indent="0" marL="0">
              <a:buNone/>
            </a:pPr>
            <a:r>
              <a:rPr lang="en-US" sz="1000" dirty="0">
                <a:solidFill>
                  <a:srgbClr val="F4B942"/>
                </a:solidFill>
                <a:latin typeface="IBM Plex Sans" pitchFamily="34" charset="0"/>
                <a:ea typeface="IBM Plex Sans" pitchFamily="34" charset="-122"/>
                <a:cs typeface="IBM Plex Sans" pitchFamily="34" charset="-120"/>
              </a:rPr>
              <a:t>Revise</a:t>
            </a:r>
            <a:endParaRPr lang="en-US" sz="1000" dirty="0"/>
          </a:p>
        </p:txBody>
      </p:sp>
      <p:sp>
        <p:nvSpPr>
          <p:cNvPr id="13" name="Shape 11"/>
          <p:cNvSpPr/>
          <p:nvPr/>
        </p:nvSpPr>
        <p:spPr>
          <a:xfrm>
            <a:off x="10753344" y="2066544"/>
            <a:ext cx="987552" cy="484632"/>
          </a:xfrm>
          <a:prstGeom prst="roundRect">
            <a:avLst>
              <a:gd name="adj" fmla="val 18868"/>
            </a:avLst>
          </a:prstGeom>
          <a:solidFill>
            <a:srgbClr val="FFFFFF"/>
          </a:solidFill>
          <a:ln w="15875">
            <a:solidFill>
              <a:srgbClr val="E2574C"/>
            </a:solidFill>
            <a:prstDash val="solid"/>
          </a:ln>
        </p:spPr>
      </p:sp>
      <p:sp>
        <p:nvSpPr>
          <p:cNvPr id="14" name="Text 12"/>
          <p:cNvSpPr txBox="1"/>
          <p:nvPr/>
        </p:nvSpPr>
        <p:spPr>
          <a:xfrm>
            <a:off x="10753344" y="2066544"/>
            <a:ext cx="987552" cy="484632"/>
          </a:xfrm>
          <a:prstGeom prst="rect">
            <a:avLst/>
          </a:prstGeom>
          <a:noFill/>
          <a:ln/>
        </p:spPr>
        <p:txBody>
          <a:bodyPr wrap="square" lIns="0" tIns="0" rIns="0" bIns="0" rtlCol="0" anchor="ctr"/>
          <a:lstStyle/>
          <a:p>
            <a:pPr algn="ctr" indent="0" marL="0">
              <a:buNone/>
            </a:pPr>
            <a:r>
              <a:rPr lang="en-US" sz="1000" dirty="0">
                <a:solidFill>
                  <a:srgbClr val="E2574C"/>
                </a:solidFill>
                <a:latin typeface="IBM Plex Sans" pitchFamily="34" charset="0"/>
                <a:ea typeface="IBM Plex Sans" pitchFamily="34" charset="-122"/>
                <a:cs typeface="IBM Plex Sans" pitchFamily="34" charset="-120"/>
              </a:rPr>
              <a:t>Focus here</a:t>
            </a:r>
            <a:endParaRPr lang="en-US" sz="1000" dirty="0"/>
          </a:p>
        </p:txBody>
      </p:sp>
      <p:sp>
        <p:nvSpPr>
          <p:cNvPr id="15" name="Shape 13"/>
          <p:cNvSpPr/>
          <p:nvPr/>
        </p:nvSpPr>
        <p:spPr>
          <a:xfrm>
            <a:off x="502920" y="2880360"/>
            <a:ext cx="7863840" cy="777240"/>
          </a:xfrm>
          <a:prstGeom prst="roundRect">
            <a:avLst>
              <a:gd name="adj" fmla="val 14118"/>
            </a:avLst>
          </a:prstGeom>
          <a:solidFill>
            <a:srgbClr val="FFFFFF"/>
          </a:solidFill>
          <a:ln w="15875">
            <a:solidFill>
              <a:srgbClr val="D9DEE7"/>
            </a:solidFill>
            <a:prstDash val="solid"/>
          </a:ln>
        </p:spPr>
      </p:sp>
      <p:sp>
        <p:nvSpPr>
          <p:cNvPr id="16" name="Text 14"/>
          <p:cNvSpPr txBox="1"/>
          <p:nvPr/>
        </p:nvSpPr>
        <p:spPr>
          <a:xfrm>
            <a:off x="914400" y="2880360"/>
            <a:ext cx="7132320" cy="777240"/>
          </a:xfrm>
          <a:prstGeom prst="rect">
            <a:avLst/>
          </a:prstGeom>
          <a:noFill/>
          <a:ln/>
        </p:spPr>
        <p:txBody>
          <a:bodyPr wrap="square" lIns="0" tIns="0" rIns="0" bIns="0" rtlCol="0" anchor="ctr"/>
          <a:lstStyle/>
          <a:p>
            <a:pPr indent="0" marL="0">
              <a:buNone/>
            </a:pPr>
            <a:r>
              <a:rPr lang="en-US" sz="1800" dirty="0">
                <a:solidFill>
                  <a:srgbClr val="101828"/>
                </a:solidFill>
                <a:latin typeface="IBM Plex Sans" pitchFamily="34" charset="0"/>
                <a:ea typeface="IBM Plex Sans" pitchFamily="34" charset="-122"/>
                <a:cs typeface="IBM Plex Sans" pitchFamily="34" charset="-120"/>
              </a:rPr>
              <a:t>Logic errors</a:t>
            </a:r>
            <a:endParaRPr lang="en-US" sz="1800" dirty="0"/>
          </a:p>
        </p:txBody>
      </p:sp>
      <p:sp>
        <p:nvSpPr>
          <p:cNvPr id="17" name="Shape 15"/>
          <p:cNvSpPr/>
          <p:nvPr/>
        </p:nvSpPr>
        <p:spPr>
          <a:xfrm>
            <a:off x="8595360" y="3026664"/>
            <a:ext cx="987552" cy="484632"/>
          </a:xfrm>
          <a:prstGeom prst="roundRect">
            <a:avLst>
              <a:gd name="adj" fmla="val 18868"/>
            </a:avLst>
          </a:prstGeom>
          <a:solidFill>
            <a:srgbClr val="FFFFFF"/>
          </a:solidFill>
          <a:ln w="15875">
            <a:solidFill>
              <a:srgbClr val="08A6A6"/>
            </a:solidFill>
            <a:prstDash val="solid"/>
          </a:ln>
        </p:spPr>
      </p:sp>
      <p:sp>
        <p:nvSpPr>
          <p:cNvPr id="18" name="Text 16"/>
          <p:cNvSpPr txBox="1"/>
          <p:nvPr/>
        </p:nvSpPr>
        <p:spPr>
          <a:xfrm>
            <a:off x="8595360" y="3026664"/>
            <a:ext cx="987552" cy="484632"/>
          </a:xfrm>
          <a:prstGeom prst="rect">
            <a:avLst/>
          </a:prstGeom>
          <a:noFill/>
          <a:ln/>
        </p:spPr>
        <p:txBody>
          <a:bodyPr wrap="square" lIns="0" tIns="0" rIns="0" bIns="0" rtlCol="0" anchor="ctr"/>
          <a:lstStyle/>
          <a:p>
            <a:pPr algn="ctr" indent="0" marL="0">
              <a:buNone/>
            </a:pPr>
            <a:r>
              <a:rPr lang="en-US" sz="1000" dirty="0">
                <a:solidFill>
                  <a:srgbClr val="08A6A6"/>
                </a:solidFill>
                <a:latin typeface="IBM Plex Sans" pitchFamily="34" charset="0"/>
                <a:ea typeface="IBM Plex Sans" pitchFamily="34" charset="-122"/>
                <a:cs typeface="IBM Plex Sans" pitchFamily="34" charset="-120"/>
              </a:rPr>
              <a:t>Secure</a:t>
            </a:r>
            <a:endParaRPr lang="en-US" sz="1000" dirty="0"/>
          </a:p>
        </p:txBody>
      </p:sp>
      <p:sp>
        <p:nvSpPr>
          <p:cNvPr id="19" name="Shape 17"/>
          <p:cNvSpPr/>
          <p:nvPr/>
        </p:nvSpPr>
        <p:spPr>
          <a:xfrm>
            <a:off x="9674352" y="3026664"/>
            <a:ext cx="987552" cy="484632"/>
          </a:xfrm>
          <a:prstGeom prst="roundRect">
            <a:avLst>
              <a:gd name="adj" fmla="val 18868"/>
            </a:avLst>
          </a:prstGeom>
          <a:solidFill>
            <a:srgbClr val="FFFFFF"/>
          </a:solidFill>
          <a:ln w="15875">
            <a:solidFill>
              <a:srgbClr val="F4B942"/>
            </a:solidFill>
            <a:prstDash val="solid"/>
          </a:ln>
        </p:spPr>
      </p:sp>
      <p:sp>
        <p:nvSpPr>
          <p:cNvPr id="20" name="Text 18"/>
          <p:cNvSpPr txBox="1"/>
          <p:nvPr/>
        </p:nvSpPr>
        <p:spPr>
          <a:xfrm>
            <a:off x="9674352" y="3026664"/>
            <a:ext cx="987552" cy="484632"/>
          </a:xfrm>
          <a:prstGeom prst="rect">
            <a:avLst/>
          </a:prstGeom>
          <a:noFill/>
          <a:ln/>
        </p:spPr>
        <p:txBody>
          <a:bodyPr wrap="square" lIns="0" tIns="0" rIns="0" bIns="0" rtlCol="0" anchor="ctr"/>
          <a:lstStyle/>
          <a:p>
            <a:pPr algn="ctr" indent="0" marL="0">
              <a:buNone/>
            </a:pPr>
            <a:r>
              <a:rPr lang="en-US" sz="1000" dirty="0">
                <a:solidFill>
                  <a:srgbClr val="F4B942"/>
                </a:solidFill>
                <a:latin typeface="IBM Plex Sans" pitchFamily="34" charset="0"/>
                <a:ea typeface="IBM Plex Sans" pitchFamily="34" charset="-122"/>
                <a:cs typeface="IBM Plex Sans" pitchFamily="34" charset="-120"/>
              </a:rPr>
              <a:t>Revise</a:t>
            </a:r>
            <a:endParaRPr lang="en-US" sz="1000" dirty="0"/>
          </a:p>
        </p:txBody>
      </p:sp>
      <p:sp>
        <p:nvSpPr>
          <p:cNvPr id="21" name="Shape 19"/>
          <p:cNvSpPr/>
          <p:nvPr/>
        </p:nvSpPr>
        <p:spPr>
          <a:xfrm>
            <a:off x="10753344" y="3026664"/>
            <a:ext cx="987552" cy="484632"/>
          </a:xfrm>
          <a:prstGeom prst="roundRect">
            <a:avLst>
              <a:gd name="adj" fmla="val 18868"/>
            </a:avLst>
          </a:prstGeom>
          <a:solidFill>
            <a:srgbClr val="FFFFFF"/>
          </a:solidFill>
          <a:ln w="15875">
            <a:solidFill>
              <a:srgbClr val="E2574C"/>
            </a:solidFill>
            <a:prstDash val="solid"/>
          </a:ln>
        </p:spPr>
      </p:sp>
      <p:sp>
        <p:nvSpPr>
          <p:cNvPr id="22" name="Text 20"/>
          <p:cNvSpPr txBox="1"/>
          <p:nvPr/>
        </p:nvSpPr>
        <p:spPr>
          <a:xfrm>
            <a:off x="10753344" y="3026664"/>
            <a:ext cx="987552" cy="484632"/>
          </a:xfrm>
          <a:prstGeom prst="rect">
            <a:avLst/>
          </a:prstGeom>
          <a:noFill/>
          <a:ln/>
        </p:spPr>
        <p:txBody>
          <a:bodyPr wrap="square" lIns="0" tIns="0" rIns="0" bIns="0" rtlCol="0" anchor="ctr"/>
          <a:lstStyle/>
          <a:p>
            <a:pPr algn="ctr" indent="0" marL="0">
              <a:buNone/>
            </a:pPr>
            <a:r>
              <a:rPr lang="en-US" sz="1000" dirty="0">
                <a:solidFill>
                  <a:srgbClr val="E2574C"/>
                </a:solidFill>
                <a:latin typeface="IBM Plex Sans" pitchFamily="34" charset="0"/>
                <a:ea typeface="IBM Plex Sans" pitchFamily="34" charset="-122"/>
                <a:cs typeface="IBM Plex Sans" pitchFamily="34" charset="-120"/>
              </a:rPr>
              <a:t>Focus here</a:t>
            </a:r>
            <a:endParaRPr lang="en-US" sz="1000" dirty="0"/>
          </a:p>
        </p:txBody>
      </p:sp>
      <p:sp>
        <p:nvSpPr>
          <p:cNvPr id="23" name="Shape 21"/>
          <p:cNvSpPr/>
          <p:nvPr/>
        </p:nvSpPr>
        <p:spPr>
          <a:xfrm>
            <a:off x="502920" y="3840480"/>
            <a:ext cx="7863840" cy="777240"/>
          </a:xfrm>
          <a:prstGeom prst="roundRect">
            <a:avLst>
              <a:gd name="adj" fmla="val 14118"/>
            </a:avLst>
          </a:prstGeom>
          <a:solidFill>
            <a:srgbClr val="FFFFFF"/>
          </a:solidFill>
          <a:ln w="15875">
            <a:solidFill>
              <a:srgbClr val="D9DEE7"/>
            </a:solidFill>
            <a:prstDash val="solid"/>
          </a:ln>
        </p:spPr>
      </p:sp>
      <p:sp>
        <p:nvSpPr>
          <p:cNvPr id="24" name="Text 22"/>
          <p:cNvSpPr txBox="1"/>
          <p:nvPr/>
        </p:nvSpPr>
        <p:spPr>
          <a:xfrm>
            <a:off x="914400" y="3840480"/>
            <a:ext cx="7132320" cy="777240"/>
          </a:xfrm>
          <a:prstGeom prst="rect">
            <a:avLst/>
          </a:prstGeom>
          <a:noFill/>
          <a:ln/>
        </p:spPr>
        <p:txBody>
          <a:bodyPr wrap="square" lIns="0" tIns="0" rIns="0" bIns="0" rtlCol="0" anchor="ctr"/>
          <a:lstStyle/>
          <a:p>
            <a:pPr indent="0" marL="0">
              <a:buNone/>
            </a:pPr>
            <a:r>
              <a:rPr lang="en-US" sz="1800" dirty="0">
                <a:solidFill>
                  <a:srgbClr val="101828"/>
                </a:solidFill>
                <a:latin typeface="IBM Plex Sans" pitchFamily="34" charset="0"/>
                <a:ea typeface="IBM Plex Sans" pitchFamily="34" charset="-122"/>
                <a:cs typeface="IBM Plex Sans" pitchFamily="34" charset="-120"/>
              </a:rPr>
              <a:t>Finding the line and suggesting a fix</a:t>
            </a:r>
            <a:endParaRPr lang="en-US" sz="1800" dirty="0"/>
          </a:p>
        </p:txBody>
      </p:sp>
      <p:sp>
        <p:nvSpPr>
          <p:cNvPr id="25" name="Shape 23"/>
          <p:cNvSpPr/>
          <p:nvPr/>
        </p:nvSpPr>
        <p:spPr>
          <a:xfrm>
            <a:off x="8595360" y="3986784"/>
            <a:ext cx="987552" cy="484632"/>
          </a:xfrm>
          <a:prstGeom prst="roundRect">
            <a:avLst>
              <a:gd name="adj" fmla="val 18868"/>
            </a:avLst>
          </a:prstGeom>
          <a:solidFill>
            <a:srgbClr val="FFFFFF"/>
          </a:solidFill>
          <a:ln w="15875">
            <a:solidFill>
              <a:srgbClr val="08A6A6"/>
            </a:solidFill>
            <a:prstDash val="solid"/>
          </a:ln>
        </p:spPr>
      </p:sp>
      <p:sp>
        <p:nvSpPr>
          <p:cNvPr id="26" name="Text 24"/>
          <p:cNvSpPr txBox="1"/>
          <p:nvPr/>
        </p:nvSpPr>
        <p:spPr>
          <a:xfrm>
            <a:off x="8595360" y="3986784"/>
            <a:ext cx="987552" cy="484632"/>
          </a:xfrm>
          <a:prstGeom prst="rect">
            <a:avLst/>
          </a:prstGeom>
          <a:noFill/>
          <a:ln/>
        </p:spPr>
        <p:txBody>
          <a:bodyPr wrap="square" lIns="0" tIns="0" rIns="0" bIns="0" rtlCol="0" anchor="ctr"/>
          <a:lstStyle/>
          <a:p>
            <a:pPr algn="ctr" indent="0" marL="0">
              <a:buNone/>
            </a:pPr>
            <a:r>
              <a:rPr lang="en-US" sz="1000" dirty="0">
                <a:solidFill>
                  <a:srgbClr val="08A6A6"/>
                </a:solidFill>
                <a:latin typeface="IBM Plex Sans" pitchFamily="34" charset="0"/>
                <a:ea typeface="IBM Plex Sans" pitchFamily="34" charset="-122"/>
                <a:cs typeface="IBM Plex Sans" pitchFamily="34" charset="-120"/>
              </a:rPr>
              <a:t>Secure</a:t>
            </a:r>
            <a:endParaRPr lang="en-US" sz="1000" dirty="0"/>
          </a:p>
        </p:txBody>
      </p:sp>
      <p:sp>
        <p:nvSpPr>
          <p:cNvPr id="27" name="Shape 25"/>
          <p:cNvSpPr/>
          <p:nvPr/>
        </p:nvSpPr>
        <p:spPr>
          <a:xfrm>
            <a:off x="9674352" y="3986784"/>
            <a:ext cx="987552" cy="484632"/>
          </a:xfrm>
          <a:prstGeom prst="roundRect">
            <a:avLst>
              <a:gd name="adj" fmla="val 18868"/>
            </a:avLst>
          </a:prstGeom>
          <a:solidFill>
            <a:srgbClr val="FFFFFF"/>
          </a:solidFill>
          <a:ln w="15875">
            <a:solidFill>
              <a:srgbClr val="F4B942"/>
            </a:solidFill>
            <a:prstDash val="solid"/>
          </a:ln>
        </p:spPr>
      </p:sp>
      <p:sp>
        <p:nvSpPr>
          <p:cNvPr id="28" name="Text 26"/>
          <p:cNvSpPr txBox="1"/>
          <p:nvPr/>
        </p:nvSpPr>
        <p:spPr>
          <a:xfrm>
            <a:off x="9674352" y="3986784"/>
            <a:ext cx="987552" cy="484632"/>
          </a:xfrm>
          <a:prstGeom prst="rect">
            <a:avLst/>
          </a:prstGeom>
          <a:noFill/>
          <a:ln/>
        </p:spPr>
        <p:txBody>
          <a:bodyPr wrap="square" lIns="0" tIns="0" rIns="0" bIns="0" rtlCol="0" anchor="ctr"/>
          <a:lstStyle/>
          <a:p>
            <a:pPr algn="ctr" indent="0" marL="0">
              <a:buNone/>
            </a:pPr>
            <a:r>
              <a:rPr lang="en-US" sz="1000" dirty="0">
                <a:solidFill>
                  <a:srgbClr val="F4B942"/>
                </a:solidFill>
                <a:latin typeface="IBM Plex Sans" pitchFamily="34" charset="0"/>
                <a:ea typeface="IBM Plex Sans" pitchFamily="34" charset="-122"/>
                <a:cs typeface="IBM Plex Sans" pitchFamily="34" charset="-120"/>
              </a:rPr>
              <a:t>Revise</a:t>
            </a:r>
            <a:endParaRPr lang="en-US" sz="1000" dirty="0"/>
          </a:p>
        </p:txBody>
      </p:sp>
      <p:sp>
        <p:nvSpPr>
          <p:cNvPr id="29" name="Shape 27"/>
          <p:cNvSpPr/>
          <p:nvPr/>
        </p:nvSpPr>
        <p:spPr>
          <a:xfrm>
            <a:off x="10753344" y="3986784"/>
            <a:ext cx="987552" cy="484632"/>
          </a:xfrm>
          <a:prstGeom prst="roundRect">
            <a:avLst>
              <a:gd name="adj" fmla="val 18868"/>
            </a:avLst>
          </a:prstGeom>
          <a:solidFill>
            <a:srgbClr val="FFFFFF"/>
          </a:solidFill>
          <a:ln w="15875">
            <a:solidFill>
              <a:srgbClr val="E2574C"/>
            </a:solidFill>
            <a:prstDash val="solid"/>
          </a:ln>
        </p:spPr>
      </p:sp>
      <p:sp>
        <p:nvSpPr>
          <p:cNvPr id="30" name="Text 28"/>
          <p:cNvSpPr txBox="1"/>
          <p:nvPr/>
        </p:nvSpPr>
        <p:spPr>
          <a:xfrm>
            <a:off x="10753344" y="3986784"/>
            <a:ext cx="987552" cy="484632"/>
          </a:xfrm>
          <a:prstGeom prst="rect">
            <a:avLst/>
          </a:prstGeom>
          <a:noFill/>
          <a:ln/>
        </p:spPr>
        <p:txBody>
          <a:bodyPr wrap="square" lIns="0" tIns="0" rIns="0" bIns="0" rtlCol="0" anchor="ctr"/>
          <a:lstStyle/>
          <a:p>
            <a:pPr algn="ctr" indent="0" marL="0">
              <a:buNone/>
            </a:pPr>
            <a:r>
              <a:rPr lang="en-US" sz="1000" dirty="0">
                <a:solidFill>
                  <a:srgbClr val="E2574C"/>
                </a:solidFill>
                <a:latin typeface="IBM Plex Sans" pitchFamily="34" charset="0"/>
                <a:ea typeface="IBM Plex Sans" pitchFamily="34" charset="-122"/>
                <a:cs typeface="IBM Plex Sans" pitchFamily="34" charset="-120"/>
              </a:rPr>
              <a:t>Focus here</a:t>
            </a:r>
            <a:endParaRPr lang="en-US" sz="1000" dirty="0"/>
          </a:p>
        </p:txBody>
      </p:sp>
      <p:sp>
        <p:nvSpPr>
          <p:cNvPr id="31" name="Text 29"/>
          <p:cNvSpPr txBox="1"/>
          <p:nvPr/>
        </p:nvSpPr>
        <p:spPr>
          <a:xfrm>
            <a:off x="502920" y="5074920"/>
            <a:ext cx="11155680" cy="54864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Anything marked Focus here: reopen Fault finder and use review mode on the questions you got wrong.</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Revise 360 Ltd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2.1 Algorithms  |  Lesson 10 — Fault finder</dc:title>
  <dc:subject>OCR J277 GCSE Computer Science</dc:subject>
  <dc:creator>Revise 360 Ltd</dc:creator>
  <cp:lastModifiedBy>Revise 360 Ltd</cp:lastModifiedBy>
  <cp:revision>1</cp:revision>
  <dcterms:created xsi:type="dcterms:W3CDTF">2026-10-03T17:08:50Z</dcterms:created>
  <dcterms:modified xsi:type="dcterms:W3CDTF">2026-10-03T17:08:50Z</dcterms:modified>
</cp:coreProperties>
</file>