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7: Halving hall.
Open the experience at revise360.co.uk and hand out AL_L07_HalvingHall_Worksheet.docx.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How it works.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The one condition.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Why it is so fast.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Comparing the two searches.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Writing it down.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Answering binary search questions.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B: It needs one extra comparison.
Do not say it yet. Every pupil commits first - fingers, whiteboards or a show of hands on each letter in turn - and you count the split before anyone can change their mind.
IF MOST OF THE CLASS IS RIGHT: say why it is right in one sentence and go straight on to the independent work.
IF A SIGNIFICANT GROUP IS ON ONE WRONG LETTER: that option is the misconception to teach against before anyone goes on. Go back to station 3, Why it is so fast, and work through its example again, aloud, with the class watching, then re-ask this question.
The course's own response to a wrong answer here: That is why it copes with enormous data.
A limitation, stated rather than papered over: one response covers every wrong option; it does not say what to revisit for each one. The course does not record what each separate wrong option means, and this slide does not invent it. Decide your own reteach for each option before the lesson; the options above are the start of it.
This is a real activity from the experience (al-l07-s3-c2), so the wording here is the wording a pupil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2.1 Algorithms  |  Lesson 7</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Halving hall</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Look at the middle item and you can throw away half the list in one comparison. A binary search is dramatically faster than a linear search, at one price: the list must be in order.</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OCR J277 Paper 2  |  Computational thinking, algorithms and programming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How does a binary search work, and why is it so much faster?</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the binary search algorithm</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the condition a list must meet for a binary search to work</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which searching algorithm is quicker</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2359152"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Binary search</a:t>
            </a:r>
            <a:endParaRPr lang="en-US" sz="1200" dirty="0"/>
          </a:p>
        </p:txBody>
      </p:sp>
      <p:sp>
        <p:nvSpPr>
          <p:cNvPr id="19" name="Shape 17"/>
          <p:cNvSpPr/>
          <p:nvPr/>
        </p:nvSpPr>
        <p:spPr>
          <a:xfrm>
            <a:off x="3035808" y="5468112"/>
            <a:ext cx="2066544"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3035808" y="5468112"/>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Sorted list</a:t>
            </a:r>
            <a:endParaRPr lang="en-US" sz="1200" dirty="0"/>
          </a:p>
        </p:txBody>
      </p:sp>
      <p:sp>
        <p:nvSpPr>
          <p:cNvPr id="21" name="Shape 19"/>
          <p:cNvSpPr/>
          <p:nvPr/>
        </p:nvSpPr>
        <p:spPr>
          <a:xfrm>
            <a:off x="5230368" y="5468112"/>
            <a:ext cx="1627632"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5230368" y="5468112"/>
            <a:ext cx="162763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Midpoint</a:t>
            </a:r>
            <a:endParaRPr lang="en-US" sz="1200" dirty="0"/>
          </a:p>
        </p:txBody>
      </p:sp>
      <p:sp>
        <p:nvSpPr>
          <p:cNvPr id="23" name="Shape 21"/>
          <p:cNvSpPr/>
          <p:nvPr/>
        </p:nvSpPr>
        <p:spPr>
          <a:xfrm>
            <a:off x="6986016" y="5468112"/>
            <a:ext cx="3090672"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6986016" y="5468112"/>
            <a:ext cx="309067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Divide and conquer</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Think of a number between 1 and 100. How many yes/no questions would a friend need to guess it? What is the best question to ask first?</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Halving hall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then write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wall, write the key fact and your answer to the challenge on the worksheet.</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Then tap the badge</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Only answer the questions once you have written. Your first answer is the one that counts.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down at the end</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The starred final challenge is on the floor. Predict on paper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How it works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Check the middle item of the list.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If it matches, stop. If the target is larger, discard the lower half; if smaller, discard the upper half.</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Repeat on what is left until you find it or nothing remains.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Describe a binary search in four steps of your own.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binary search works by...</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The one condition</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list must be in order, or the algorithm cannot know which half to discard.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If the data is unsorted, it must be sorted first, which takes time.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Sorting once and searching many times is the situation where it pays.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Explain why a binary search cannot be used on an unsorted list.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binary search requires...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Why it is so fast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Each comparison halves what is left.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list of 1,000 items takes about 10 checks; a million takes about 20.</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Doubling the list adds one comparison, not a thousand.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Work out roughly how many checks a binary search needs for 64 items.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binary search is fast because...</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Comparing the two searches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Linear: any order, simple, slow on large data.</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Binary: must be sorted, more complex, very fast on large data.</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For a handful of items the difference doesn't matter; for millions it decides whether the system works.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Make a table comparing linear and binary search on three points.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Linear and binary searches differ because...</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Writing it down</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Keep two pointers: left at 0 and right at the last index.</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midpoint is (left + right) divided by two, rounded down.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Move left or right past the midpoint depending on the comparison.</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pseudocode for a binary search.</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Pseudocode for a binary search...</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Answering binary search questions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Always state that the list must be sorted: it is usually worth a mark.</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Describe the midpoint comparison and the discarding of half.</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If asked to show the steps, write down the midpoint checked at each stage.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Plan a five-mark answer describing a binary search on a list of 15 names.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To answer a binary search question, I should...</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1051560" cy="420624"/>
          </a:xfrm>
          <a:prstGeom prst="roundRect">
            <a:avLst>
              <a:gd name="adj" fmla="val 21739"/>
            </a:avLst>
          </a:prstGeom>
          <a:solidFill>
            <a:srgbClr val="F4B942"/>
          </a:solidFill>
          <a:ln/>
        </p:spPr>
      </p:sp>
      <p:sp>
        <p:nvSpPr>
          <p:cNvPr id="6" name="Text 4"/>
          <p:cNvSpPr txBox="1"/>
          <p:nvPr/>
        </p:nvSpPr>
        <p:spPr>
          <a:xfrm>
            <a:off x="502920" y="457200"/>
            <a:ext cx="1051560" cy="420624"/>
          </a:xfrm>
          <a:prstGeom prst="rect">
            <a:avLst/>
          </a:prstGeom>
          <a:noFill/>
          <a:ln/>
        </p:spPr>
        <p:txBody>
          <a:bodyPr wrap="square" lIns="0" tIns="0" rIns="0" bIns="0" rtlCol="0" anchor="ctr"/>
          <a:lstStyle/>
          <a:p>
            <a:pPr algn="ctr" indent="0" marL="0">
              <a:buNone/>
            </a:pPr>
            <a:r>
              <a:rPr lang="en-US" sz="1200" b="1" dirty="0">
                <a:solidFill>
                  <a:srgbClr val="101828"/>
                </a:solidFill>
                <a:latin typeface="IBM Plex Mono" pitchFamily="34" charset="0"/>
                <a:ea typeface="IBM Plex Mono" pitchFamily="34" charset="-122"/>
                <a:cs typeface="IBM Plex Mono" pitchFamily="34" charset="-120"/>
              </a:rPr>
              <a:t>CHECK</a:t>
            </a:r>
            <a:endParaRPr lang="en-US" sz="1200" dirty="0"/>
          </a:p>
        </p:txBody>
      </p:sp>
      <p:sp>
        <p:nvSpPr>
          <p:cNvPr id="7" name="Text 5"/>
          <p:cNvSpPr txBox="1"/>
          <p:nvPr/>
        </p:nvSpPr>
        <p:spPr>
          <a:xfrm>
            <a:off x="1737360" y="457200"/>
            <a:ext cx="9875520" cy="420624"/>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Hands down. Everyone commits.</a:t>
            </a:r>
            <a:endParaRPr lang="en-US" sz="1500" dirty="0"/>
          </a:p>
        </p:txBody>
      </p:sp>
      <p:sp>
        <p:nvSpPr>
          <p:cNvPr id="8" name="Text 6"/>
          <p:cNvSpPr txBox="1"/>
          <p:nvPr/>
        </p:nvSpPr>
        <p:spPr>
          <a:xfrm>
            <a:off x="502920" y="1097280"/>
            <a:ext cx="11155680" cy="914400"/>
          </a:xfrm>
          <a:prstGeom prst="rect">
            <a:avLst/>
          </a:prstGeom>
          <a:noFill/>
          <a:ln/>
        </p:spPr>
        <p:txBody>
          <a:bodyPr wrap="square" lIns="0" tIns="0" rIns="0" bIns="0" rtlCol="0" anchor="ctr"/>
          <a:lstStyle/>
          <a:p>
            <a:pPr indent="0" marL="0">
              <a:lnSpc>
                <a:spcPct val="115000"/>
              </a:lnSpc>
              <a:buNone/>
            </a:pPr>
            <a:r>
              <a:rPr lang="en-US" sz="2600" b="1" dirty="0">
                <a:solidFill>
                  <a:srgbClr val="101828"/>
                </a:solidFill>
                <a:latin typeface="IBM Plex Sans" pitchFamily="34" charset="0"/>
                <a:ea typeface="IBM Plex Sans" pitchFamily="34" charset="-122"/>
                <a:cs typeface="IBM Plex Sans" pitchFamily="34" charset="-120"/>
              </a:rPr>
              <a:t>A list doubles in size. What happens to a binary search?</a:t>
            </a:r>
            <a:endParaRPr lang="en-US" sz="2600" dirty="0"/>
          </a:p>
        </p:txBody>
      </p:sp>
      <p:sp>
        <p:nvSpPr>
          <p:cNvPr id="9" name="Shape 7"/>
          <p:cNvSpPr/>
          <p:nvPr/>
        </p:nvSpPr>
        <p:spPr>
          <a:xfrm>
            <a:off x="502920" y="2148840"/>
            <a:ext cx="11155680" cy="731520"/>
          </a:xfrm>
          <a:prstGeom prst="roundRect">
            <a:avLst>
              <a:gd name="adj" fmla="val 15000"/>
            </a:avLst>
          </a:prstGeom>
          <a:solidFill>
            <a:srgbClr val="FFFFFF"/>
          </a:solidFill>
          <a:ln w="15875">
            <a:solidFill>
              <a:srgbClr val="D9DEE7"/>
            </a:solidFill>
            <a:prstDash val="solid"/>
          </a:ln>
        </p:spPr>
      </p:sp>
      <p:sp>
        <p:nvSpPr>
          <p:cNvPr id="10" name="Shape 8"/>
          <p:cNvSpPr/>
          <p:nvPr/>
        </p:nvSpPr>
        <p:spPr>
          <a:xfrm>
            <a:off x="777240" y="2295144"/>
            <a:ext cx="438912" cy="438912"/>
          </a:xfrm>
          <a:prstGeom prst="roundRect">
            <a:avLst>
              <a:gd name="adj" fmla="val 20833"/>
            </a:avLst>
          </a:prstGeom>
          <a:solidFill>
            <a:srgbClr val="EEF2FB"/>
          </a:solidFill>
          <a:ln/>
        </p:spPr>
      </p:sp>
      <p:sp>
        <p:nvSpPr>
          <p:cNvPr id="11" name="Text 9"/>
          <p:cNvSpPr txBox="1"/>
          <p:nvPr/>
        </p:nvSpPr>
        <p:spPr>
          <a:xfrm>
            <a:off x="777240" y="229514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A</a:t>
            </a:r>
            <a:endParaRPr lang="en-US" sz="1300" dirty="0"/>
          </a:p>
        </p:txBody>
      </p:sp>
      <p:sp>
        <p:nvSpPr>
          <p:cNvPr id="12" name="Text 10"/>
          <p:cNvSpPr txBox="1"/>
          <p:nvPr/>
        </p:nvSpPr>
        <p:spPr>
          <a:xfrm>
            <a:off x="1417320" y="214884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Nothing changes</a:t>
            </a:r>
            <a:endParaRPr lang="en-US" sz="1700" dirty="0"/>
          </a:p>
        </p:txBody>
      </p:sp>
      <p:sp>
        <p:nvSpPr>
          <p:cNvPr id="13" name="Shape 11"/>
          <p:cNvSpPr/>
          <p:nvPr/>
        </p:nvSpPr>
        <p:spPr>
          <a:xfrm>
            <a:off x="502920" y="3017520"/>
            <a:ext cx="11155680" cy="731520"/>
          </a:xfrm>
          <a:prstGeom prst="roundRect">
            <a:avLst>
              <a:gd name="adj" fmla="val 15000"/>
            </a:avLst>
          </a:prstGeom>
          <a:solidFill>
            <a:srgbClr val="FFFFFF"/>
          </a:solidFill>
          <a:ln w="15875">
            <a:solidFill>
              <a:srgbClr val="D9DEE7"/>
            </a:solidFill>
            <a:prstDash val="solid"/>
          </a:ln>
        </p:spPr>
      </p:sp>
      <p:sp>
        <p:nvSpPr>
          <p:cNvPr id="14" name="Shape 12"/>
          <p:cNvSpPr/>
          <p:nvPr/>
        </p:nvSpPr>
        <p:spPr>
          <a:xfrm>
            <a:off x="777240" y="3163824"/>
            <a:ext cx="438912" cy="438912"/>
          </a:xfrm>
          <a:prstGeom prst="roundRect">
            <a:avLst>
              <a:gd name="adj" fmla="val 20833"/>
            </a:avLst>
          </a:prstGeom>
          <a:solidFill>
            <a:srgbClr val="EEF2FB"/>
          </a:solidFill>
          <a:ln/>
        </p:spPr>
      </p:sp>
      <p:sp>
        <p:nvSpPr>
          <p:cNvPr id="15" name="Text 13"/>
          <p:cNvSpPr txBox="1"/>
          <p:nvPr/>
        </p:nvSpPr>
        <p:spPr>
          <a:xfrm>
            <a:off x="777240" y="316382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B</a:t>
            </a:r>
            <a:endParaRPr lang="en-US" sz="1300" dirty="0"/>
          </a:p>
        </p:txBody>
      </p:sp>
      <p:sp>
        <p:nvSpPr>
          <p:cNvPr id="16" name="Text 14"/>
          <p:cNvSpPr txBox="1"/>
          <p:nvPr/>
        </p:nvSpPr>
        <p:spPr>
          <a:xfrm>
            <a:off x="1417320" y="301752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It needs one extra comparison</a:t>
            </a:r>
            <a:endParaRPr lang="en-US" sz="1700" dirty="0"/>
          </a:p>
        </p:txBody>
      </p:sp>
      <p:sp>
        <p:nvSpPr>
          <p:cNvPr id="17" name="Shape 15"/>
          <p:cNvSpPr/>
          <p:nvPr/>
        </p:nvSpPr>
        <p:spPr>
          <a:xfrm>
            <a:off x="502920" y="3886200"/>
            <a:ext cx="11155680" cy="731520"/>
          </a:xfrm>
          <a:prstGeom prst="roundRect">
            <a:avLst>
              <a:gd name="adj" fmla="val 15000"/>
            </a:avLst>
          </a:prstGeom>
          <a:solidFill>
            <a:srgbClr val="FFFFFF"/>
          </a:solidFill>
          <a:ln w="15875">
            <a:solidFill>
              <a:srgbClr val="D9DEE7"/>
            </a:solidFill>
            <a:prstDash val="solid"/>
          </a:ln>
        </p:spPr>
      </p:sp>
      <p:sp>
        <p:nvSpPr>
          <p:cNvPr id="18" name="Shape 16"/>
          <p:cNvSpPr/>
          <p:nvPr/>
        </p:nvSpPr>
        <p:spPr>
          <a:xfrm>
            <a:off x="777240" y="4032504"/>
            <a:ext cx="438912" cy="438912"/>
          </a:xfrm>
          <a:prstGeom prst="roundRect">
            <a:avLst>
              <a:gd name="adj" fmla="val 20833"/>
            </a:avLst>
          </a:prstGeom>
          <a:solidFill>
            <a:srgbClr val="EEF2FB"/>
          </a:solidFill>
          <a:ln/>
        </p:spPr>
      </p:sp>
      <p:sp>
        <p:nvSpPr>
          <p:cNvPr id="19" name="Text 17"/>
          <p:cNvSpPr txBox="1"/>
          <p:nvPr/>
        </p:nvSpPr>
        <p:spPr>
          <a:xfrm>
            <a:off x="777240" y="403250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C</a:t>
            </a:r>
            <a:endParaRPr lang="en-US" sz="1300" dirty="0"/>
          </a:p>
        </p:txBody>
      </p:sp>
      <p:sp>
        <p:nvSpPr>
          <p:cNvPr id="20" name="Text 18"/>
          <p:cNvSpPr txBox="1"/>
          <p:nvPr/>
        </p:nvSpPr>
        <p:spPr>
          <a:xfrm>
            <a:off x="1417320" y="388620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It takes twice as long</a:t>
            </a:r>
            <a:endParaRPr lang="en-US" sz="1700" dirty="0"/>
          </a:p>
        </p:txBody>
      </p:sp>
      <p:sp>
        <p:nvSpPr>
          <p:cNvPr id="21" name="Shape 19"/>
          <p:cNvSpPr/>
          <p:nvPr/>
        </p:nvSpPr>
        <p:spPr>
          <a:xfrm>
            <a:off x="502920" y="4754880"/>
            <a:ext cx="11155680" cy="731520"/>
          </a:xfrm>
          <a:prstGeom prst="roundRect">
            <a:avLst>
              <a:gd name="adj" fmla="val 15000"/>
            </a:avLst>
          </a:prstGeom>
          <a:solidFill>
            <a:srgbClr val="FFFFFF"/>
          </a:solidFill>
          <a:ln w="15875">
            <a:solidFill>
              <a:srgbClr val="D9DEE7"/>
            </a:solidFill>
            <a:prstDash val="solid"/>
          </a:ln>
        </p:spPr>
      </p:sp>
      <p:sp>
        <p:nvSpPr>
          <p:cNvPr id="22" name="Shape 20"/>
          <p:cNvSpPr/>
          <p:nvPr/>
        </p:nvSpPr>
        <p:spPr>
          <a:xfrm>
            <a:off x="777240" y="4901184"/>
            <a:ext cx="438912" cy="438912"/>
          </a:xfrm>
          <a:prstGeom prst="roundRect">
            <a:avLst>
              <a:gd name="adj" fmla="val 20833"/>
            </a:avLst>
          </a:prstGeom>
          <a:solidFill>
            <a:srgbClr val="EEF2FB"/>
          </a:solidFill>
          <a:ln/>
        </p:spPr>
      </p:sp>
      <p:sp>
        <p:nvSpPr>
          <p:cNvPr id="23" name="Text 21"/>
          <p:cNvSpPr txBox="1"/>
          <p:nvPr/>
        </p:nvSpPr>
        <p:spPr>
          <a:xfrm>
            <a:off x="777240" y="490118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D</a:t>
            </a:r>
            <a:endParaRPr lang="en-US" sz="1300" dirty="0"/>
          </a:p>
        </p:txBody>
      </p:sp>
      <p:sp>
        <p:nvSpPr>
          <p:cNvPr id="24" name="Text 22"/>
          <p:cNvSpPr txBox="1"/>
          <p:nvPr/>
        </p:nvSpPr>
        <p:spPr>
          <a:xfrm>
            <a:off x="1417320" y="475488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It takes four times as long</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Halve it</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A sorted list of eleven values. Tap the star and run two binary searches.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The dictionary method</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Opening a dictionary in the middle and deciding which half to keep is a binary search. Most people do it without being taught.</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Famously hard to write</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study found most programmers write a buggy binary search on the first attempt, usually getting the midpoint or the pointers wrong.</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Twenty questions</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The game works because twenty yes/no questions can distinguish about a million possibilities, exactly the binary search maths.</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Big O</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At A level this is O(log n): the work grows with the logarithm of the list size, which is why it barely grows at all.</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Describe how a binary search works.</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State the condition a list must meet before a binary search can be used.</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[1]</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sorted list contains 1,000 items. Compare the number of comparisons needed by a linear search and a binary search in the worst case.</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How a binary search works</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Why the list must be sorted</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Comparing linear and binary searches</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Halving hall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2.1 Algorithms  |  Lesson 7 — Halving hall</dc:title>
  <dc:subject>OCR J277 GCSE Computer Science</dc:subject>
  <dc:creator>Revise 360 Ltd</dc:creator>
  <cp:lastModifiedBy>Revise 360 Ltd</cp:lastModifiedBy>
  <cp:revision>1</cp:revision>
  <dcterms:created xsi:type="dcterms:W3CDTF">2026-10-03T17:08:50Z</dcterms:created>
  <dcterms:modified xsi:type="dcterms:W3CDTF">2026-10-03T17:08:50Z</dcterms:modified>
</cp:coreProperties>
</file>