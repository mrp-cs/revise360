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288b33fa744398" /><Relationship Type="http://schemas.openxmlformats.org/officeDocument/2006/relationships/extended-properties" Target="/docProps/app.xml" Id="Re6a39c5cc5214752" /><Relationship Type="http://schemas.openxmlformats.org/officeDocument/2006/relationships/officeDocument" Target="/ppt/presentation.xml" Id="R5d1e6359a7ff4441" /></Relationships>
</file>

<file path=ppt/presentation.xml><?xml version="1.0" encoding="utf-8"?>
<p:presentation xmlns:p="http://schemas.openxmlformats.org/presentationml/2006/main">
  <p:sldMasterIdLst>
    <p:sldMasterId xmlns:r="http://schemas.openxmlformats.org/officeDocument/2006/relationships" id="2147483648" r:id="R133800e8f1e34f41"/>
  </p:sldMasterIdLst>
  <p:notesMasterIdLst>
    <p:notesMasterId xmlns:r="http://schemas.openxmlformats.org/officeDocument/2006/relationships" r:id="Rfcba0bc089e54775"/>
  </p:notesMasterIdLst>
  <p:sldIdLst>
    <p:sldId xmlns:r="http://schemas.openxmlformats.org/officeDocument/2006/relationships" id="256" r:id="Rd284f8dd08bf4ec8"/>
    <p:sldId xmlns:r="http://schemas.openxmlformats.org/officeDocument/2006/relationships" id="257" r:id="R4be6ee1ad0a54a09"/>
    <p:sldId xmlns:r="http://schemas.openxmlformats.org/officeDocument/2006/relationships" id="258" r:id="R6fe93237ec6246d4"/>
    <p:sldId xmlns:r="http://schemas.openxmlformats.org/officeDocument/2006/relationships" id="259" r:id="R2d61145cc06b47f1"/>
    <p:sldId xmlns:r="http://schemas.openxmlformats.org/officeDocument/2006/relationships" id="260" r:id="R52988aadae7348d8"/>
    <p:sldId xmlns:r="http://schemas.openxmlformats.org/officeDocument/2006/relationships" id="261" r:id="Rc7dda9604138426d"/>
    <p:sldId xmlns:r="http://schemas.openxmlformats.org/officeDocument/2006/relationships" id="262" r:id="R41a402d580a54842"/>
    <p:sldId xmlns:r="http://schemas.openxmlformats.org/officeDocument/2006/relationships" id="263" r:id="R70b57cd8ef7246a0"/>
    <p:sldId xmlns:r="http://schemas.openxmlformats.org/officeDocument/2006/relationships" id="264" r:id="Rb4070aade6ba4d44"/>
    <p:sldId xmlns:r="http://schemas.openxmlformats.org/officeDocument/2006/relationships" id="265" r:id="R9da93bc5963c43e5"/>
    <p:sldId xmlns:r="http://schemas.openxmlformats.org/officeDocument/2006/relationships" id="266" r:id="Rec288c2f99754922"/>
    <p:sldId xmlns:r="http://schemas.openxmlformats.org/officeDocument/2006/relationships" id="267" r:id="R52d6672cd75a4110"/>
    <p:sldId xmlns:r="http://schemas.openxmlformats.org/officeDocument/2006/relationships" id="268" r:id="Rb7b8262ca79d44d5"/>
    <p:sldId xmlns:r="http://schemas.openxmlformats.org/officeDocument/2006/relationships" id="269" r:id="Rc1347d5fa43e4840"/>
    <p:sldId xmlns:r="http://schemas.openxmlformats.org/officeDocument/2006/relationships" id="270" r:id="R7ca39e0521374a8e"/>
    <p:sldId xmlns:r="http://schemas.openxmlformats.org/officeDocument/2006/relationships" id="271" r:id="R1ad97bd8321149a6"/>
    <p:sldId xmlns:r="http://schemas.openxmlformats.org/officeDocument/2006/relationships" id="272" r:id="Re1bdb18dd30c4103"/>
    <p:sldId xmlns:r="http://schemas.openxmlformats.org/officeDocument/2006/relationships" id="273" r:id="Ra1099eb9fff744bf"/>
    <p:sldId xmlns:r="http://schemas.openxmlformats.org/officeDocument/2006/relationships" id="274" r:id="Rdd34022bedf24c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24272124764838" /><Relationship Type="http://schemas.openxmlformats.org/officeDocument/2006/relationships/slideMaster" Target="/ppt/slideMasters/slideMaster1.xml" Id="R133800e8f1e34f41" /><Relationship Type="http://schemas.openxmlformats.org/officeDocument/2006/relationships/notesMaster" Target="/ppt/notesMasters/notesMaster1.xml" Id="Rfcba0bc089e54775" /><Relationship Type="http://schemas.openxmlformats.org/officeDocument/2006/relationships/presProps" Target="/ppt/presProps.xml" Id="R5f5bb5b7e8bf4524" /><Relationship Type="http://schemas.openxmlformats.org/officeDocument/2006/relationships/tableStyles" Target="/ppt/tableStyles.xml" Id="R6e598d8b50c74469" /><Relationship Type="http://schemas.openxmlformats.org/officeDocument/2006/relationships/slide" Target="/ppt/slides/slide1.xml" Id="Rd284f8dd08bf4ec8" /><Relationship Type="http://schemas.openxmlformats.org/officeDocument/2006/relationships/slide" Target="/ppt/slides/slide2.xml" Id="R4be6ee1ad0a54a09" /><Relationship Type="http://schemas.openxmlformats.org/officeDocument/2006/relationships/slide" Target="/ppt/slides/slide3.xml" Id="R6fe93237ec6246d4" /><Relationship Type="http://schemas.openxmlformats.org/officeDocument/2006/relationships/slide" Target="/ppt/slides/slide4.xml" Id="R2d61145cc06b47f1" /><Relationship Type="http://schemas.openxmlformats.org/officeDocument/2006/relationships/slide" Target="/ppt/slides/slide5.xml" Id="R52988aadae7348d8" /><Relationship Type="http://schemas.openxmlformats.org/officeDocument/2006/relationships/slide" Target="/ppt/slides/slide6.xml" Id="Rc7dda9604138426d" /><Relationship Type="http://schemas.openxmlformats.org/officeDocument/2006/relationships/slide" Target="/ppt/slides/slide7.xml" Id="R41a402d580a54842" /><Relationship Type="http://schemas.openxmlformats.org/officeDocument/2006/relationships/slide" Target="/ppt/slides/slide8.xml" Id="R70b57cd8ef7246a0" /><Relationship Type="http://schemas.openxmlformats.org/officeDocument/2006/relationships/slide" Target="/ppt/slides/slide9.xml" Id="Rb4070aade6ba4d44" /><Relationship Type="http://schemas.openxmlformats.org/officeDocument/2006/relationships/slide" Target="/ppt/slides/slide10.xml" Id="R9da93bc5963c43e5" /><Relationship Type="http://schemas.openxmlformats.org/officeDocument/2006/relationships/slide" Target="/ppt/slides/slide11.xml" Id="Rec288c2f99754922" /><Relationship Type="http://schemas.openxmlformats.org/officeDocument/2006/relationships/slide" Target="/ppt/slides/slide12.xml" Id="R52d6672cd75a4110" /><Relationship Type="http://schemas.openxmlformats.org/officeDocument/2006/relationships/slide" Target="/ppt/slides/slide13.xml" Id="Rb7b8262ca79d44d5" /><Relationship Type="http://schemas.openxmlformats.org/officeDocument/2006/relationships/slide" Target="/ppt/slides/slide14.xml" Id="Rc1347d5fa43e4840" /><Relationship Type="http://schemas.openxmlformats.org/officeDocument/2006/relationships/slide" Target="/ppt/slides/slide15.xml" Id="R7ca39e0521374a8e" /><Relationship Type="http://schemas.openxmlformats.org/officeDocument/2006/relationships/slide" Target="/ppt/slides/slide16.xml" Id="R1ad97bd8321149a6" /><Relationship Type="http://schemas.openxmlformats.org/officeDocument/2006/relationships/slide" Target="/ppt/slides/slide17.xml" Id="Re1bdb18dd30c4103" /><Relationship Type="http://schemas.openxmlformats.org/officeDocument/2006/relationships/slide" Target="/ppt/slides/slide18.xml" Id="Ra1099eb9fff744bf" /><Relationship Type="http://schemas.openxmlformats.org/officeDocument/2006/relationships/slide" Target="/ppt/slides/slide19.xml" Id="Rdd34022bedf24c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c9900a04ea43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71e75890924dbd" /><Relationship Type="http://schemas.openxmlformats.org/officeDocument/2006/relationships/notesMaster" Target="/ppt/notesMasters/notesMaster1.xml" Id="R0fd46b9cbbde45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689b31153f42bb" /><Relationship Type="http://schemas.openxmlformats.org/officeDocument/2006/relationships/notesMaster" Target="/ppt/notesMasters/notesMaster1.xml" Id="R1fca74dffb8240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e762a3d0454946" /><Relationship Type="http://schemas.openxmlformats.org/officeDocument/2006/relationships/notesMaster" Target="/ppt/notesMasters/notesMaster1.xml" Id="R6bd158f1aee34f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775f50837d48f0" /><Relationship Type="http://schemas.openxmlformats.org/officeDocument/2006/relationships/notesMaster" Target="/ppt/notesMasters/notesMaster1.xml" Id="R9fc05dcd9dce49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d5c7e9a79244b6" /><Relationship Type="http://schemas.openxmlformats.org/officeDocument/2006/relationships/notesMaster" Target="/ppt/notesMasters/notesMaster1.xml" Id="R3401c70556e147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18b82364eb4d1e" /><Relationship Type="http://schemas.openxmlformats.org/officeDocument/2006/relationships/notesMaster" Target="/ppt/notesMasters/notesMaster1.xml" Id="R39635063bfd54b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6225487d194175" /><Relationship Type="http://schemas.openxmlformats.org/officeDocument/2006/relationships/notesMaster" Target="/ppt/notesMasters/notesMaster1.xml" Id="R65b15ca78d1747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ec375e4aef4540" /><Relationship Type="http://schemas.openxmlformats.org/officeDocument/2006/relationships/notesMaster" Target="/ppt/notesMasters/notesMaster1.xml" Id="R15dd8f08e63045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691e90c1814464" /><Relationship Type="http://schemas.openxmlformats.org/officeDocument/2006/relationships/notesMaster" Target="/ppt/notesMasters/notesMaster1.xml" Id="Ra61a71b735704e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71fbb1ff294ad2" /><Relationship Type="http://schemas.openxmlformats.org/officeDocument/2006/relationships/notesMaster" Target="/ppt/notesMasters/notesMaster1.xml" Id="R929127654ac04e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423b104bf64177" /><Relationship Type="http://schemas.openxmlformats.org/officeDocument/2006/relationships/notesMaster" Target="/ppt/notesMasters/notesMaster1.xml" Id="Ra8e29bc1774b4b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c2db9f4ef94b05" /><Relationship Type="http://schemas.openxmlformats.org/officeDocument/2006/relationships/notesMaster" Target="/ppt/notesMasters/notesMaster1.xml" Id="R26844e206c9a4d4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f1a7aaa3c7c4c1a" /><Relationship Type="http://schemas.openxmlformats.org/officeDocument/2006/relationships/notesMaster" Target="/ppt/notesMasters/notesMaster1.xml" Id="Rd7a8d426e31b406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34d30317ea04b77" /><Relationship Type="http://schemas.openxmlformats.org/officeDocument/2006/relationships/notesMaster" Target="/ppt/notesMasters/notesMaster1.xml" Id="R45623a2ec91440f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3a7482719744b0a" /><Relationship Type="http://schemas.openxmlformats.org/officeDocument/2006/relationships/notesMaster" Target="/ppt/notesMasters/notesMaster1.xml" Id="R7960d0162af5462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04d9f165a8c42f3" /><Relationship Type="http://schemas.openxmlformats.org/officeDocument/2006/relationships/notesMaster" Target="/ppt/notesMasters/notesMaster1.xml" Id="R9f90922f3ab14a8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fe33ef562ef4fce" /><Relationship Type="http://schemas.openxmlformats.org/officeDocument/2006/relationships/notesMaster" Target="/ppt/notesMasters/notesMaster1.xml" Id="Rf0ae210f7ca24bb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7955f75b32b4ea6" /><Relationship Type="http://schemas.openxmlformats.org/officeDocument/2006/relationships/notesMaster" Target="/ppt/notesMasters/notesMaster1.xml" Id="R09743fe3c3d64a8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d556fbfe3474720" /><Relationship Type="http://schemas.openxmlformats.org/officeDocument/2006/relationships/notesMaster" Target="/ppt/notesMasters/notesMaster1.xml" Id="Rd8450ee7c74744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image shows the actual opening scene of the experience. Begin with the worksheet starter, or the brief opening question for lessons without one.</a:t>
            </a:r>
          </a:p>
          <a:p xmlns:a="http://schemas.openxmlformats.org/drawingml/2006/main">
            <a:r>
              <a:t>Sources: Revise 360 experiences/nw-l10.json and worksheets/NW_L10_CipherRoom_Worksheet.docx. Answers are indicative classroom examples, not an official OCR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learning outcomes follow the lesson worksheet.</a:t>
            </a:r>
          </a:p>
          <a:p xmlns:a="http://schemas.openxmlformats.org/drawingml/2006/main">
            <a:r>
              <a:t>Sources: Revise 360 experiences/nw-l10.json and worksheets/NW_L10_CipherRoom_Worksheet.docx. Answers are indicative classroom examples, not an official OCR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answer the worksheet starter before showing the sample answers.</a:t>
            </a:r>
          </a:p>
          <a:p xmlns:a="http://schemas.openxmlformats.org/drawingml/2006/main">
            <a:r>
              <a:t>Sources: Revise 360 experiences/nw-l10.json and worksheets/NW_L10_CipherRoom_Worksheet.docx. Answers are indicative classroom examples, not an official OCR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 equivalent correct explanations. Reveal after the question so it can be marked as students go.</a:t>
            </a:r>
          </a:p>
          <a:p xmlns:a="http://schemas.openxmlformats.org/drawingml/2006/main">
            <a:r>
              <a:t>Sources: Revise 360 experiences/nw-l10.json and worksheets/NW_L10_CipherRoom_Worksheet.docx. Answers are indicative classroom examples, not an official OCR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define the exact terms listed on their worksheet.</a:t>
            </a:r>
          </a:p>
          <a:p xmlns:a="http://schemas.openxmlformats.org/drawingml/2006/main">
            <a:r>
              <a:t>Sources: Revise 360 experiences/nw-l10.json and worksheets/NW_L10_CipherRoom_Worksheet.docx. Answers are indicative classroom examples, not an official OCR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after the key terminology quiz. Accept accurate definitions in students’ own words.</a:t>
            </a:r>
          </a:p>
          <a:p xmlns:a="http://schemas.openxmlformats.org/drawingml/2006/main">
            <a:r>
              <a:t>Sources: Revise 360 experiences/nw-l10.json and worksheets/NW_L10_CipherRoom_Worksheet.docx. Answers are indicative classroom examples, not an official OCR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Leave this combined worksheet and experience instruction slide on the board. The OPEN EXPERIENCE label is a clickable link. Students should complete the experience and reach the plenary near the end of the lesson. First on-screen answers count.</a:t>
            </a:r>
          </a:p>
          <a:p xmlns:a="http://schemas.openxmlformats.org/drawingml/2006/main">
            <a:r>
              <a:t>Sources: Revise 360 experiences/nw-l10.json and worksheets/NW_L10_CipherRoom_Worksheet.docx. Answers are indicative classroom examples, not an official OCR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post-experience task, key question or revision results on the worksheet.</a:t>
            </a:r>
          </a:p>
          <a:p xmlns:a="http://schemas.openxmlformats.org/drawingml/2006/main">
            <a:r>
              <a:t>Sources: Revise 360 experiences/nw-l10.json and worksheets/NW_L10_CipherRoom_Worksheet.docx. Answers are indicative classroom examples, not an official OCR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question to extend or improve an explanation before the plenary.</a:t>
            </a:r>
          </a:p>
          <a:p xmlns:a="http://schemas.openxmlformats.org/drawingml/2006/main">
            <a:r>
              <a:t>Sources: Revise 360 experiences/nw-l10.json and worksheets/NW_L10_CipherRoom_Worksheet.docx. Answers are indicative classroom examples, not an official OCR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indicative answers. Credit other accurate examples or justified choices.</a:t>
            </a:r>
          </a:p>
          <a:p xmlns:a="http://schemas.openxmlformats.org/drawingml/2006/main">
            <a:r>
              <a:t>Sources: Revise 360 experiences/nw-l10.json and worksheets/NW_L10_CipherRoom_Worksheet.docx. Answers are indicative classroom examples, not an official OCR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after completion. These concise points address the worksheet station challenges and help students improve their own wording.</a:t>
            </a:r>
          </a:p>
          <a:p xmlns:a="http://schemas.openxmlformats.org/drawingml/2006/main">
            <a:r>
              <a:t>Sources: Revise 360 experiences/nw-l10.json and worksheets/NW_L10_CipherRoom_Worksheet.docx. Answers are indicative classroom examples, not an official OCR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after completion. These concise points address the worksheet station challenges and help students improve their own wording.</a:t>
            </a:r>
          </a:p>
          <a:p xmlns:a="http://schemas.openxmlformats.org/drawingml/2006/main">
            <a:r>
              <a:t>Sources: Revise 360 experiences/nw-l10.json and worksheets/NW_L10_CipherRoom_Worksheet.docx. Answers are indicative classroom examples, not an official OCR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matches, sort categories or ordered steps from the interactive experience task. Use them to check the corresponding worksheet work.</a:t>
            </a:r>
          </a:p>
          <a:p xmlns:a="http://schemas.openxmlformats.org/drawingml/2006/main">
            <a:r>
              <a:t>Sources: Revise 360 experiences/nw-l10.json and worksheets/NW_L10_CipherRoom_Worksheet.docx. Answers are indicative classroom examples, not an official OCR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matches, sort categories or ordered steps from the interactive experience task. Use them to check the corresponding worksheet work.</a:t>
            </a:r>
          </a:p>
          <a:p xmlns:a="http://schemas.openxmlformats.org/drawingml/2006/main">
            <a:r>
              <a:t>Sources: Revise 360 experiences/nw-l10.json and worksheets/NW_L10_CipherRoom_Worksheet.docx. Answers are indicative classroom examples, not an official OCR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exit, exam-practice or test-ready questions from the worksheet. Allow independent writing before the answers.</a:t>
            </a:r>
          </a:p>
          <a:p xmlns:a="http://schemas.openxmlformats.org/drawingml/2006/main">
            <a:r>
              <a:t>Sources: Revise 360 experiences/nw-l10.json and worksheets/NW_L10_CipherRoom_Worksheet.docx. Answers are indicative classroom examples, not an official OCR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exit, exam-practice or test-ready questions from the worksheet. Allow independent writing before the answers.</a:t>
            </a:r>
          </a:p>
          <a:p xmlns:a="http://schemas.openxmlformats.org/drawingml/2006/main">
            <a:r>
              <a:t>Sources: Revise 360 experiences/nw-l10.json and worksheets/NW_L10_CipherRoom_Worksheet.docx. Answers are indicative classroom examples, not an official OCR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Classroom answer points, not an official OCR mark scheme. Ask students to improve one answer.</a:t>
            </a:r>
          </a:p>
          <a:p xmlns:a="http://schemas.openxmlformats.org/drawingml/2006/main">
            <a:r>
              <a:t>Sources: Revise 360 experiences/nw-l10.json and worksheets/NW_L10_CipherRoom_Worksheet.docx. Answers are indicative classroom examples, not an official OCR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Classroom answer points, not an official OCR mark scheme. Ask students to improve one answer.</a:t>
            </a:r>
          </a:p>
          <a:p xmlns:a="http://schemas.openxmlformats.org/drawingml/2006/main">
            <a:r>
              <a:t>Sources: Revise 360 experiences/nw-l10.json and worksheets/NW_L10_CipherRoom_Worksheet.docx. Answers are indicative classroom examples, not an official OCR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exact confidence objectives from the worksheet. Students identify one area to revisit.</a:t>
            </a:r>
          </a:p>
          <a:p xmlns:a="http://schemas.openxmlformats.org/drawingml/2006/main">
            <a:r>
              <a:t>Sources: Revise 360 experiences/nw-l10.json and worksheets/NW_L10_CipherRoom_Worksheet.docx. Answers are indicative classroom examples, not an official OCR mark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fd489242d549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917ecf3345458e" /><Relationship Type="http://schemas.openxmlformats.org/officeDocument/2006/relationships/slideLayout" Target="/ppt/slideLayouts/slideLayout1.xml" Id="Rdf5319726fc84b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5319726fc84b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8e6e11281cf4e51" /><Relationship Type="http://schemas.openxmlformats.org/officeDocument/2006/relationships/image" Target="/ppt/media/image.png" Id="R9f9582d72ea94098" /><Relationship Type="http://schemas.openxmlformats.org/officeDocument/2006/relationships/image" Target="/ppt/media/image.jpeg" Id="Rcb97dca0cfcf428b" /><Relationship Type="http://schemas.openxmlformats.org/officeDocument/2006/relationships/notesSlide" Target="/ppt/notesSlides/notesSlide1.xml" Id="R9d9b79f20a0a40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16bfa12baf4e38" /><Relationship Type="http://schemas.openxmlformats.org/officeDocument/2006/relationships/image" Target="/ppt/media/image2.png" Id="R26441944346142e4" /><Relationship Type="http://schemas.openxmlformats.org/officeDocument/2006/relationships/notesSlide" Target="/ppt/notesSlides/notesSlide2.xml" Id="R576495e7da9e46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338ed12fb5946fd" /><Relationship Type="http://schemas.openxmlformats.org/officeDocument/2006/relationships/image" Target="/ppt/media/image3.png" Id="Rcb0d231ad5a34ea1" /><Relationship Type="http://schemas.openxmlformats.org/officeDocument/2006/relationships/notesSlide" Target="/ppt/notesSlides/notesSlide3.xml" Id="R55f6f9b0e83f4e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853fd7b175948b2" /><Relationship Type="http://schemas.openxmlformats.org/officeDocument/2006/relationships/image" Target="/ppt/media/image4.png" Id="R71522721132d4e5a" /><Relationship Type="http://schemas.openxmlformats.org/officeDocument/2006/relationships/notesSlide" Target="/ppt/notesSlides/notesSlide4.xml" Id="R73de92cfdfba46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694e27a6db49fa" /><Relationship Type="http://schemas.openxmlformats.org/officeDocument/2006/relationships/image" Target="/ppt/media/image5.png" Id="Recb0ed3435274a6c" /><Relationship Type="http://schemas.openxmlformats.org/officeDocument/2006/relationships/notesSlide" Target="/ppt/notesSlides/notesSlide5.xml" Id="Rabdfd97799ee4d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0a8d24291a14706" /><Relationship Type="http://schemas.openxmlformats.org/officeDocument/2006/relationships/image" Target="/ppt/media/image6.png" Id="R701efa37f7d1490b" /><Relationship Type="http://schemas.openxmlformats.org/officeDocument/2006/relationships/notesSlide" Target="/ppt/notesSlides/notesSlide6.xml" Id="R6bb5662364ba40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b3736357b54c10" /><Relationship Type="http://schemas.openxmlformats.org/officeDocument/2006/relationships/image" Target="/ppt/media/image7.png" Id="Rf2c99eda66374dba" /><Relationship Type="http://schemas.openxmlformats.org/officeDocument/2006/relationships/hyperlink" Target="https://mrp-cs.github.io/Revise360/experience.html?id=nw-l10" TargetMode="External" Id="R0d2c3c66a4f74250" /><Relationship Type="http://schemas.openxmlformats.org/officeDocument/2006/relationships/notesSlide" Target="/ppt/notesSlides/notesSlide7.xml" Id="R455ef25fa17748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b39b8139a4e43fe" /><Relationship Type="http://schemas.openxmlformats.org/officeDocument/2006/relationships/image" Target="/ppt/media/image8.png" Id="R1b785b8bf9604cd6" /><Relationship Type="http://schemas.openxmlformats.org/officeDocument/2006/relationships/notesSlide" Target="/ppt/notesSlides/notesSlide8.xml" Id="Ra53d73a38b4842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3a21fdcaf394147" /><Relationship Type="http://schemas.openxmlformats.org/officeDocument/2006/relationships/image" Target="/ppt/media/image9.png" Id="R29bfff0cbb8a4595" /><Relationship Type="http://schemas.openxmlformats.org/officeDocument/2006/relationships/notesSlide" Target="/ppt/notesSlides/notesSlide9.xml" Id="R71f97c5af2fb4e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d8e09a178d24d71" /><Relationship Type="http://schemas.openxmlformats.org/officeDocument/2006/relationships/image" Target="/ppt/media/image10.png" Id="R724533253a1f4b23" /><Relationship Type="http://schemas.openxmlformats.org/officeDocument/2006/relationships/notesSlide" Target="/ppt/notesSlides/notesSlide10.xml" Id="R465419bc383e460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6f9f06174dc424f" /><Relationship Type="http://schemas.openxmlformats.org/officeDocument/2006/relationships/image" Target="/ppt/media/image11.png" Id="Rc4534d44f0494b00" /><Relationship Type="http://schemas.openxmlformats.org/officeDocument/2006/relationships/notesSlide" Target="/ppt/notesSlides/notesSlide11.xml" Id="R2484659058b746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3f8c7079b104b61" /><Relationship Type="http://schemas.openxmlformats.org/officeDocument/2006/relationships/image" Target="/ppt/media/image12.png" Id="Rbfcf4f14af164318" /><Relationship Type="http://schemas.openxmlformats.org/officeDocument/2006/relationships/notesSlide" Target="/ppt/notesSlides/notesSlide12.xml" Id="Rd073e249c25b4c3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f8d695113f24c04" /><Relationship Type="http://schemas.openxmlformats.org/officeDocument/2006/relationships/image" Target="/ppt/media/image13.png" Id="R6b19db9a5e394f9e" /><Relationship Type="http://schemas.openxmlformats.org/officeDocument/2006/relationships/notesSlide" Target="/ppt/notesSlides/notesSlide13.xml" Id="R827e193e9c0947c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a91cbf7531340c6" /><Relationship Type="http://schemas.openxmlformats.org/officeDocument/2006/relationships/image" Target="/ppt/media/image14.png" Id="Rc2fdc98dafa048b9" /><Relationship Type="http://schemas.openxmlformats.org/officeDocument/2006/relationships/notesSlide" Target="/ppt/notesSlides/notesSlide14.xml" Id="Rb63016795e704f0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af4e2a2018442d6" /><Relationship Type="http://schemas.openxmlformats.org/officeDocument/2006/relationships/image" Target="/ppt/media/image15.png" Id="R81e82daa73f14fca" /><Relationship Type="http://schemas.openxmlformats.org/officeDocument/2006/relationships/notesSlide" Target="/ppt/notesSlides/notesSlide15.xml" Id="R711b1fb0157a459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e63b3810e564cbb" /><Relationship Type="http://schemas.openxmlformats.org/officeDocument/2006/relationships/image" Target="/ppt/media/image16.png" Id="Rffe34b13520c4d9b" /><Relationship Type="http://schemas.openxmlformats.org/officeDocument/2006/relationships/notesSlide" Target="/ppt/notesSlides/notesSlide16.xml" Id="R69be5e14b604482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145d34290c94b43" /><Relationship Type="http://schemas.openxmlformats.org/officeDocument/2006/relationships/image" Target="/ppt/media/image17.png" Id="Ra9e3f034c2a74373" /><Relationship Type="http://schemas.openxmlformats.org/officeDocument/2006/relationships/notesSlide" Target="/ppt/notesSlides/notesSlide17.xml" Id="Re586e25c71b740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dbbcf8fc13c424a" /><Relationship Type="http://schemas.openxmlformats.org/officeDocument/2006/relationships/image" Target="/ppt/media/image18.png" Id="Re44077bd69ff4b97" /><Relationship Type="http://schemas.openxmlformats.org/officeDocument/2006/relationships/notesSlide" Target="/ppt/notesSlides/notesSlide18.xml" Id="R97a9ae7a02b8438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2bdcd47bcc84130" /><Relationship Type="http://schemas.openxmlformats.org/officeDocument/2006/relationships/image" Target="/ppt/media/image19.png" Id="R65fecfcf17a74bbd" /><Relationship Type="http://schemas.openxmlformats.org/officeDocument/2006/relationships/notesSlide" Target="/ppt/notesSlides/notesSlide19.xml" Id="R294b176aa9f24780" /></Relationships>
</file>

<file path=ppt/slides/slide1.xml><?xml version="1.0" encoding="utf-8"?>
<p:sld xmlns:p="http://schemas.openxmlformats.org/presentationml/2006/main">
  <p:cSld>
    <p:bg>
      <p:bgPr>
        <a:solidFill xmlns:a="http://schemas.openxmlformats.org/drawingml/2006/main">
          <a:srgbClr val="122448"/>
        </a:solidFill>
      </p:bgPr>
    </p:bg>
    <p:spTree>
      <p:nvGrpSpPr>
        <p:cNvPr id="1" name=""/>
        <p:cNvGrpSpPr/>
        <p:nvPr/>
      </p:nvGrpSpPr>
      <p:grpSpPr>
        <a:xfrm xmlns:a="http://schemas.openxmlformats.org/drawingml/2006/main"/>
      </p:grpSpPr>
      <p:sp>
        <p:nvSpPr>
          <p:cNvPr id="10" name="footer background">
            <a:extLst xmlns:a="http://schemas.openxmlformats.org/drawingml/2006/main">
              <a:ext uri="{FF2B5EF4-FFF2-40B4-BE49-F238E27FC236}">
                <a16:creationId xmlns:a16="http://schemas.microsoft.com/office/drawing/2014/main" id="{46BA1197-1427-4A68-8907-342C8A416156}"/>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F32B2558-EBD3-42E4-913E-DACFAD3185F7}"/>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77D8FF"/>
                </a:solidFill>
                <a:latin typeface="DejaVu Sans"/>
                <a:ea typeface="DejaVu Sans"/>
                <a:cs typeface="DejaVu Sans"/>
              </a:defRPr>
            </a:pPr>
            <a:r>
              <a:rPr sz="1125" b="1">
                <a:solidFill>
                  <a:srgbClr val="77D8FF"/>
                </a:solidFill>
                <a:latin typeface="DejaVu Sans"/>
                <a:ea typeface="DejaVu Sans"/>
                <a:cs typeface="DejaVu Sans"/>
              </a:rPr>
              <a:t>TOPIC 1.3   /   LESSON 10</a:t>
            </a:r>
          </a:p>
        </p:txBody>
      </p:sp>
      <p:sp>
        <p:nvSpPr>
          <p:cNvPr id="3" name="heading">
            <a:extLst xmlns:a="http://schemas.openxmlformats.org/drawingml/2006/main">
              <a:ext uri="{FF2B5EF4-FFF2-40B4-BE49-F238E27FC236}">
                <a16:creationId xmlns:a16="http://schemas.microsoft.com/office/drawing/2014/main" id="{7E039849-A80F-45F9-B7F0-D9F64CF54A1A}"/>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CIPHER ROOM</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f9582d72ea94098"/>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E870969E-06A0-4C2E-9376-1130D51369B9}"/>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 / 19</a:t>
            </a:r>
          </a:p>
        </p:txBody>
      </p:sp>
      <p:sp>
        <p:nvSpPr>
          <p:cNvPr id="6" name="subject">
            <a:extLst xmlns:a="http://schemas.openxmlformats.org/drawingml/2006/main">
              <a:ext uri="{FF2B5EF4-FFF2-40B4-BE49-F238E27FC236}">
                <a16:creationId xmlns:a16="http://schemas.microsoft.com/office/drawing/2014/main" id="{C545F3BC-0510-4FC5-B7BF-43087B42681B}"/>
              </a:ext>
            </a:extLst>
          </p:cNvPr>
          <p:cNvSpPr>
            <a:spLocks xmlns:a="http://schemas.openxmlformats.org/drawingml/2006/main" noGrp="1"/>
          </p:cNvSpPr>
          <p:nvPr/>
        </p:nvSpPr>
        <p:spPr>
          <a:xfrm xmlns:a="http://schemas.openxmlformats.org/drawingml/2006/main">
            <a:off x="685800" y="1762125"/>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77D8FF"/>
                </a:solidFill>
                <a:latin typeface="DejaVu Sans"/>
                <a:ea typeface="DejaVu Sans"/>
                <a:cs typeface="DejaVu Sans"/>
              </a:defRPr>
            </a:pPr>
            <a:r>
              <a:rPr sz="2325" b="0">
                <a:solidFill>
                  <a:srgbClr val="77D8FF"/>
                </a:solidFill>
                <a:latin typeface="DejaVu Sans"/>
                <a:ea typeface="DejaVu Sans"/>
                <a:cs typeface="DejaVu Sans"/>
              </a:rPr>
              <a:t>Wi-Fi encryption</a:t>
            </a:r>
          </a:p>
        </p:txBody>
      </p:sp>
      <p:sp>
        <p:nvSpPr>
          <p:cNvPr id="7" name="cover-key-label">
            <a:extLst xmlns:a="http://schemas.openxmlformats.org/drawingml/2006/main">
              <a:ext uri="{FF2B5EF4-FFF2-40B4-BE49-F238E27FC236}">
                <a16:creationId xmlns:a16="http://schemas.microsoft.com/office/drawing/2014/main" id="{9882D130-83C5-4574-9276-EE9F3B7DB377}"/>
              </a:ext>
            </a:extLst>
          </p:cNvPr>
          <p:cNvSpPr>
            <a:spLocks xmlns:a="http://schemas.openxmlformats.org/drawingml/2006/main" noGrp="1"/>
          </p:cNvSpPr>
          <p:nvPr/>
        </p:nvSpPr>
        <p:spPr>
          <a:xfrm xmlns:a="http://schemas.openxmlformats.org/drawingml/2006/main">
            <a:off x="685800" y="3038475"/>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7D8FF"/>
                </a:solidFill>
                <a:latin typeface="DejaVu Sans"/>
                <a:ea typeface="DejaVu Sans"/>
                <a:cs typeface="DejaVu Sans"/>
              </a:defRPr>
            </a:pPr>
            <a:r>
              <a:rPr sz="1425" b="1">
                <a:solidFill>
                  <a:srgbClr val="77D8FF"/>
                </a:solidFill>
                <a:latin typeface="DejaVu Sans"/>
                <a:ea typeface="DejaVu Sans"/>
                <a:cs typeface="DejaVu Sans"/>
              </a:rPr>
              <a:t>KEY QUESTION</a:t>
            </a:r>
          </a:p>
        </p:txBody>
      </p:sp>
      <p:sp>
        <p:nvSpPr>
          <p:cNvPr id="8" name="cover-key-question">
            <a:extLst xmlns:a="http://schemas.openxmlformats.org/drawingml/2006/main">
              <a:ext uri="{FF2B5EF4-FFF2-40B4-BE49-F238E27FC236}">
                <a16:creationId xmlns:a16="http://schemas.microsoft.com/office/drawing/2014/main" id="{E4B9C7A9-AA19-4C03-B66C-982E9F08DF5F}"/>
              </a:ext>
            </a:extLst>
          </p:cNvPr>
          <p:cNvSpPr>
            <a:spLocks xmlns:a="http://schemas.openxmlformats.org/drawingml/2006/main" noGrp="1"/>
          </p:cNvSpPr>
          <p:nvPr/>
        </p:nvSpPr>
        <p:spPr>
          <a:xfrm xmlns:a="http://schemas.openxmlformats.org/drawingml/2006/main">
            <a:off x="685800" y="3429000"/>
            <a:ext cx="4762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What is the purpose of encryption?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b97dca0cfcf428b"/>
          <a:stretch xmlns:a="http://schemas.openxmlformats.org/drawingml/2006/main"/>
        </p:blipFill>
        <p:spPr>
          <a:xfrm xmlns:a="http://schemas.openxmlformats.org/drawingml/2006/main">
            <a:off x="6076950" y="1819275"/>
            <a:ext cx="5400675" cy="3600450"/>
          </a:xfrm>
          <a:prstGeom xmlns:a="http://schemas.openxmlformats.org/drawingml/2006/main" prst="rect">
            <a:avLst/>
          </a:prstGeom>
        </p:spPr>
      </p:pic>
    </p:spTree>
    <p:extLst>
      <p:ext uri="{BB962C8B-B14F-4D97-AF65-F5344CB8AC3E}">
        <p14:creationId xmlns:p14="http://schemas.microsoft.com/office/powerpoint/2010/main" val="8538308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footer background">
            <a:extLst xmlns:a="http://schemas.openxmlformats.org/drawingml/2006/main">
              <a:ext uri="{FF2B5EF4-FFF2-40B4-BE49-F238E27FC236}">
                <a16:creationId xmlns:a16="http://schemas.microsoft.com/office/drawing/2014/main" id="{5EC8213D-23BC-4071-9A7D-9BE777EA5B22}"/>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91F7D1E0-EFCE-4793-AE55-E27FB3172A86}"/>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1.3   /   LESSON 10   /   WORKSHEET</a:t>
            </a:r>
          </a:p>
        </p:txBody>
      </p:sp>
      <p:sp>
        <p:nvSpPr>
          <p:cNvPr id="3" name="heading">
            <a:extLst xmlns:a="http://schemas.openxmlformats.org/drawingml/2006/main">
              <a:ext uri="{FF2B5EF4-FFF2-40B4-BE49-F238E27FC236}">
                <a16:creationId xmlns:a16="http://schemas.microsoft.com/office/drawing/2014/main" id="{09CFAF06-23A4-4D00-AFE6-6846BD3115E4}"/>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By the end of this lesson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6441944346142e4"/>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F4AFBDF2-62E8-4480-90F9-F065874A3D1C}"/>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2 / 19</a:t>
            </a:r>
          </a:p>
        </p:txBody>
      </p:sp>
      <p:sp>
        <p:nvSpPr>
          <p:cNvPr id="6" name="number-1">
            <a:extLst xmlns:a="http://schemas.openxmlformats.org/drawingml/2006/main">
              <a:ext uri="{FF2B5EF4-FFF2-40B4-BE49-F238E27FC236}">
                <a16:creationId xmlns:a16="http://schemas.microsoft.com/office/drawing/2014/main" id="{E7AD27C5-5966-482C-8033-B9AC0EF2EAF5}"/>
              </a:ext>
            </a:extLst>
          </p:cNvPr>
          <p:cNvSpPr>
            <a:spLocks xmlns:a="http://schemas.openxmlformats.org/drawingml/2006/main" noGrp="1"/>
          </p:cNvSpPr>
          <p:nvPr/>
        </p:nvSpPr>
        <p:spPr>
          <a:xfrm xmlns:a="http://schemas.openxmlformats.org/drawingml/2006/main">
            <a:off x="723900" y="19431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392FA664-C369-4194-86A6-EB4C2D23E4BB}"/>
              </a:ext>
            </a:extLst>
          </p:cNvPr>
          <p:cNvSpPr>
            <a:spLocks xmlns:a="http://schemas.openxmlformats.org/drawingml/2006/main" noGrp="1"/>
          </p:cNvSpPr>
          <p:nvPr/>
        </p:nvSpPr>
        <p:spPr>
          <a:xfrm xmlns:a="http://schemas.openxmlformats.org/drawingml/2006/main">
            <a:off x="1352550" y="1943100"/>
            <a:ext cx="99250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know the basics of how cryptography can work with a simple key</a:t>
            </a:r>
          </a:p>
        </p:txBody>
      </p:sp>
      <p:sp>
        <p:nvSpPr>
          <p:cNvPr id="8" name="number-2">
            <a:extLst xmlns:a="http://schemas.openxmlformats.org/drawingml/2006/main">
              <a:ext uri="{FF2B5EF4-FFF2-40B4-BE49-F238E27FC236}">
                <a16:creationId xmlns:a16="http://schemas.microsoft.com/office/drawing/2014/main" id="{12011654-7B48-4249-AE77-0AE1AF866BA4}"/>
              </a:ext>
            </a:extLst>
          </p:cNvPr>
          <p:cNvSpPr>
            <a:spLocks xmlns:a="http://schemas.openxmlformats.org/drawingml/2006/main" noGrp="1"/>
          </p:cNvSpPr>
          <p:nvPr/>
        </p:nvSpPr>
        <p:spPr>
          <a:xfrm xmlns:a="http://schemas.openxmlformats.org/drawingml/2006/main">
            <a:off x="723900" y="29051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2.</a:t>
            </a:r>
          </a:p>
        </p:txBody>
      </p:sp>
      <p:sp>
        <p:nvSpPr>
          <p:cNvPr id="9" name="item-2">
            <a:extLst xmlns:a="http://schemas.openxmlformats.org/drawingml/2006/main">
              <a:ext uri="{FF2B5EF4-FFF2-40B4-BE49-F238E27FC236}">
                <a16:creationId xmlns:a16="http://schemas.microsoft.com/office/drawing/2014/main" id="{0E842477-6678-4CA2-A6BF-3E8A82BDF202}"/>
              </a:ext>
            </a:extLst>
          </p:cNvPr>
          <p:cNvSpPr>
            <a:spLocks xmlns:a="http://schemas.openxmlformats.org/drawingml/2006/main" noGrp="1"/>
          </p:cNvSpPr>
          <p:nvPr/>
        </p:nvSpPr>
        <p:spPr>
          <a:xfrm xmlns:a="http://schemas.openxmlformats.org/drawingml/2006/main">
            <a:off x="1352550" y="2905125"/>
            <a:ext cx="99250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know how wireless devices authenticate each other before communicating data</a:t>
            </a:r>
          </a:p>
        </p:txBody>
      </p:sp>
      <p:sp>
        <p:nvSpPr>
          <p:cNvPr id="10" name="number-3">
            <a:extLst xmlns:a="http://schemas.openxmlformats.org/drawingml/2006/main">
              <a:ext uri="{FF2B5EF4-FFF2-40B4-BE49-F238E27FC236}">
                <a16:creationId xmlns:a16="http://schemas.microsoft.com/office/drawing/2014/main" id="{578311D0-5460-4229-AE7F-ED6703A59908}"/>
              </a:ext>
            </a:extLst>
          </p:cNvPr>
          <p:cNvSpPr>
            <a:spLocks xmlns:a="http://schemas.openxmlformats.org/drawingml/2006/main" noGrp="1"/>
          </p:cNvSpPr>
          <p:nvPr/>
        </p:nvSpPr>
        <p:spPr>
          <a:xfrm xmlns:a="http://schemas.openxmlformats.org/drawingml/2006/main">
            <a:off x="723900" y="386715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3.</a:t>
            </a:r>
          </a:p>
        </p:txBody>
      </p:sp>
      <p:sp>
        <p:nvSpPr>
          <p:cNvPr id="11" name="item-3">
            <a:extLst xmlns:a="http://schemas.openxmlformats.org/drawingml/2006/main">
              <a:ext uri="{FF2B5EF4-FFF2-40B4-BE49-F238E27FC236}">
                <a16:creationId xmlns:a16="http://schemas.microsoft.com/office/drawing/2014/main" id="{EA81FD29-ED1F-49FD-8EF5-634EC62AD750}"/>
              </a:ext>
            </a:extLst>
          </p:cNvPr>
          <p:cNvSpPr>
            <a:spLocks xmlns:a="http://schemas.openxmlformats.org/drawingml/2006/main" noGrp="1"/>
          </p:cNvSpPr>
          <p:nvPr/>
        </p:nvSpPr>
        <p:spPr>
          <a:xfrm xmlns:a="http://schemas.openxmlformats.org/drawingml/2006/main">
            <a:off x="1352550" y="3867150"/>
            <a:ext cx="99250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understand the difference between private and public keys</a:t>
            </a:r>
          </a:p>
        </p:txBody>
      </p:sp>
      <p:sp>
        <p:nvSpPr>
          <p:cNvPr id="12" name="number-4">
            <a:extLst xmlns:a="http://schemas.openxmlformats.org/drawingml/2006/main">
              <a:ext uri="{FF2B5EF4-FFF2-40B4-BE49-F238E27FC236}">
                <a16:creationId xmlns:a16="http://schemas.microsoft.com/office/drawing/2014/main" id="{ADA241D2-9FB3-4C74-AD5D-EF12D2BDE6C3}"/>
              </a:ext>
            </a:extLst>
          </p:cNvPr>
          <p:cNvSpPr>
            <a:spLocks xmlns:a="http://schemas.openxmlformats.org/drawingml/2006/main" noGrp="1"/>
          </p:cNvSpPr>
          <p:nvPr/>
        </p:nvSpPr>
        <p:spPr>
          <a:xfrm xmlns:a="http://schemas.openxmlformats.org/drawingml/2006/main">
            <a:off x="723900" y="48291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4.</a:t>
            </a:r>
          </a:p>
        </p:txBody>
      </p:sp>
      <p:sp>
        <p:nvSpPr>
          <p:cNvPr id="13" name="item-4">
            <a:extLst xmlns:a="http://schemas.openxmlformats.org/drawingml/2006/main">
              <a:ext uri="{FF2B5EF4-FFF2-40B4-BE49-F238E27FC236}">
                <a16:creationId xmlns:a16="http://schemas.microsoft.com/office/drawing/2014/main" id="{5D9FF0AF-0C5E-4C24-8BCF-F939871ED2B2}"/>
              </a:ext>
            </a:extLst>
          </p:cNvPr>
          <p:cNvSpPr>
            <a:spLocks xmlns:a="http://schemas.openxmlformats.org/drawingml/2006/main" noGrp="1"/>
          </p:cNvSpPr>
          <p:nvPr/>
        </p:nvSpPr>
        <p:spPr>
          <a:xfrm xmlns:a="http://schemas.openxmlformats.org/drawingml/2006/main">
            <a:off x="1352550" y="4829175"/>
            <a:ext cx="99250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understand why private keys are never shared</a:t>
            </a:r>
          </a:p>
        </p:txBody>
      </p:sp>
    </p:spTree>
    <p:extLst>
      <p:ext uri="{BB962C8B-B14F-4D97-AF65-F5344CB8AC3E}">
        <p14:creationId xmlns:p14="http://schemas.microsoft.com/office/powerpoint/2010/main" val="1240877756"/>
      </p:ext>
    </p:extLst>
  </p:cSld>
</p:sld>
</file>

<file path=ppt/slides/slide3.xml><?xml version="1.0" encoding="utf-8"?>
<p:sld xmlns:p="http://schemas.openxmlformats.org/presentationml/2006/main">
  <p:cSld>
    <p:bg>
      <p:bgPr>
        <a:solidFill xmlns:a="http://schemas.openxmlformats.org/drawingml/2006/main">
          <a:srgbClr val="FFF8E9"/>
        </a:solidFill>
      </p:bgPr>
    </p:bg>
    <p:spTree>
      <p:nvGrpSpPr>
        <p:cNvPr id="1" name=""/>
        <p:cNvGrpSpPr/>
        <p:nvPr/>
      </p:nvGrpSpPr>
      <p:grpSpPr>
        <a:xfrm xmlns:a="http://schemas.openxmlformats.org/drawingml/2006/main"/>
      </p:grpSpPr>
      <p:sp>
        <p:nvSpPr>
          <p:cNvPr id="7" name="footer background">
            <a:extLst xmlns:a="http://schemas.openxmlformats.org/drawingml/2006/main">
              <a:ext uri="{FF2B5EF4-FFF2-40B4-BE49-F238E27FC236}">
                <a16:creationId xmlns:a16="http://schemas.microsoft.com/office/drawing/2014/main" id="{4666F88E-5577-4BDE-99BE-EDE1FC048E56}"/>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8E8CCFB8-516E-4427-9143-46E5BA8E15B6}"/>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1.3   /   LESSON 10   /   WORKSHEET STARTER</a:t>
            </a:r>
          </a:p>
        </p:txBody>
      </p:sp>
      <p:sp>
        <p:nvSpPr>
          <p:cNvPr id="3" name="heading">
            <a:extLst xmlns:a="http://schemas.openxmlformats.org/drawingml/2006/main">
              <a:ext uri="{FF2B5EF4-FFF2-40B4-BE49-F238E27FC236}">
                <a16:creationId xmlns:a16="http://schemas.microsoft.com/office/drawing/2014/main" id="{26267811-0F99-4D65-8864-475653B2C137}"/>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Starter: before the experience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b0d231ad5a34ea1"/>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AA44A3D2-C760-46E2-BDBF-09BAECB66126}"/>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3 / 19</a:t>
            </a:r>
          </a:p>
        </p:txBody>
      </p:sp>
      <p:sp>
        <p:nvSpPr>
          <p:cNvPr id="6" name="starter">
            <a:extLst xmlns:a="http://schemas.openxmlformats.org/drawingml/2006/main">
              <a:ext uri="{FF2B5EF4-FFF2-40B4-BE49-F238E27FC236}">
                <a16:creationId xmlns:a16="http://schemas.microsoft.com/office/drawing/2014/main" id="{554752CB-9629-4396-8790-EB7855104C23}"/>
              </a:ext>
            </a:extLst>
          </p:cNvPr>
          <p:cNvSpPr>
            <a:spLocks xmlns:a="http://schemas.openxmlformats.org/drawingml/2006/main" noGrp="1"/>
          </p:cNvSpPr>
          <p:nvPr/>
        </p:nvSpPr>
        <p:spPr>
          <a:xfrm xmlns:a="http://schemas.openxmlformats.org/drawingml/2006/main">
            <a:off x="704850" y="2095500"/>
            <a:ext cx="10572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01828"/>
                </a:solidFill>
                <a:latin typeface="DejaVu Sans"/>
                <a:ea typeface="DejaVu Sans"/>
                <a:cs typeface="DejaVu Sans"/>
              </a:defRPr>
            </a:pPr>
            <a:r>
              <a:rPr sz="2550" b="1">
                <a:solidFill>
                  <a:srgbClr val="101828"/>
                </a:solidFill>
                <a:latin typeface="DejaVu Sans"/>
                <a:ea typeface="DejaVu Sans"/>
                <a:cs typeface="DejaVu Sans"/>
              </a:rPr>
              <a:t>Shift every letter of MEET AT NOON forward by 5 places. Swap with a partner and decode theirs. What would make this code harder to crack?</a:t>
            </a:r>
          </a:p>
        </p:txBody>
      </p:sp>
    </p:spTree>
    <p:extLst>
      <p:ext uri="{BB962C8B-B14F-4D97-AF65-F5344CB8AC3E}">
        <p14:creationId xmlns:p14="http://schemas.microsoft.com/office/powerpoint/2010/main" val="98979325"/>
      </p:ext>
    </p:extLst>
  </p:cSld>
</p:sld>
</file>

<file path=ppt/slides/slide4.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0" name="footer background">
            <a:extLst xmlns:a="http://schemas.openxmlformats.org/drawingml/2006/main">
              <a:ext uri="{FF2B5EF4-FFF2-40B4-BE49-F238E27FC236}">
                <a16:creationId xmlns:a16="http://schemas.microsoft.com/office/drawing/2014/main" id="{2DD03BE9-01EF-482D-B946-FD5FB0AAA7ED}"/>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0778BE46-E53A-4B7A-A543-D18C61EAA1F4}"/>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1.3   /   LESSON 10   /   CHECK</a:t>
            </a:r>
          </a:p>
        </p:txBody>
      </p:sp>
      <p:sp>
        <p:nvSpPr>
          <p:cNvPr id="3" name="heading">
            <a:extLst xmlns:a="http://schemas.openxmlformats.org/drawingml/2006/main">
              <a:ext uri="{FF2B5EF4-FFF2-40B4-BE49-F238E27FC236}">
                <a16:creationId xmlns:a16="http://schemas.microsoft.com/office/drawing/2014/main" id="{ECF2410D-72BD-4A3C-8B3E-4F65F2F5EF93}"/>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Starter: sample answers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1522721132d4e5a"/>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977B7EC2-446F-479A-BA7C-597A7888BE8E}"/>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4 / 19</a:t>
            </a:r>
          </a:p>
        </p:txBody>
      </p:sp>
      <p:sp>
        <p:nvSpPr>
          <p:cNvPr id="6" name="number-1">
            <a:extLst xmlns:a="http://schemas.openxmlformats.org/drawingml/2006/main">
              <a:ext uri="{FF2B5EF4-FFF2-40B4-BE49-F238E27FC236}">
                <a16:creationId xmlns:a16="http://schemas.microsoft.com/office/drawing/2014/main" id="{0556825D-630C-4FD7-9263-F196AD528157}"/>
              </a:ext>
            </a:extLst>
          </p:cNvPr>
          <p:cNvSpPr>
            <a:spLocks xmlns:a="http://schemas.openxmlformats.org/drawingml/2006/main" noGrp="1"/>
          </p:cNvSpPr>
          <p:nvPr/>
        </p:nvSpPr>
        <p:spPr>
          <a:xfrm xmlns:a="http://schemas.openxmlformats.org/drawingml/2006/main">
            <a:off x="723900" y="21336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D63FF"/>
                </a:solidFill>
                <a:latin typeface="DejaVu Sans"/>
                <a:ea typeface="DejaVu Sans"/>
                <a:cs typeface="DejaVu Sans"/>
              </a:defRPr>
            </a:pPr>
            <a:r>
              <a:rPr sz="2250"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88190563-DA57-43F4-B8BB-4DA8BEF76495}"/>
              </a:ext>
            </a:extLst>
          </p:cNvPr>
          <p:cNvSpPr>
            <a:spLocks xmlns:a="http://schemas.openxmlformats.org/drawingml/2006/main" noGrp="1"/>
          </p:cNvSpPr>
          <p:nvPr/>
        </p:nvSpPr>
        <p:spPr>
          <a:xfrm xmlns:a="http://schemas.openxmlformats.org/drawingml/2006/main">
            <a:off x="1352550" y="2133600"/>
            <a:ext cx="9925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01828"/>
                </a:solidFill>
                <a:latin typeface="DejaVu Sans"/>
                <a:ea typeface="DejaVu Sans"/>
                <a:cs typeface="DejaVu Sans"/>
              </a:defRPr>
            </a:pPr>
            <a:r>
              <a:rPr sz="2250" b="0">
                <a:solidFill>
                  <a:srgbClr val="101828"/>
                </a:solidFill>
                <a:latin typeface="DejaVu Sans"/>
                <a:ea typeface="DejaVu Sans"/>
                <a:cs typeface="DejaVu Sans"/>
              </a:rPr>
              <a:t>MEET AT NOON shifted forward five places becomes RJJY FY STTS.</a:t>
            </a:r>
          </a:p>
        </p:txBody>
      </p:sp>
      <p:sp>
        <p:nvSpPr>
          <p:cNvPr id="8" name="number-2">
            <a:extLst xmlns:a="http://schemas.openxmlformats.org/drawingml/2006/main">
              <a:ext uri="{FF2B5EF4-FFF2-40B4-BE49-F238E27FC236}">
                <a16:creationId xmlns:a16="http://schemas.microsoft.com/office/drawing/2014/main" id="{4C6C048C-51F2-4D5D-BC32-60C41CAFABAF}"/>
              </a:ext>
            </a:extLst>
          </p:cNvPr>
          <p:cNvSpPr>
            <a:spLocks xmlns:a="http://schemas.openxmlformats.org/drawingml/2006/main" noGrp="1"/>
          </p:cNvSpPr>
          <p:nvPr/>
        </p:nvSpPr>
        <p:spPr>
          <a:xfrm xmlns:a="http://schemas.openxmlformats.org/drawingml/2006/main">
            <a:off x="723900" y="37338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D63FF"/>
                </a:solidFill>
                <a:latin typeface="DejaVu Sans"/>
                <a:ea typeface="DejaVu Sans"/>
                <a:cs typeface="DejaVu Sans"/>
              </a:defRPr>
            </a:pPr>
            <a:r>
              <a:rPr sz="2250" b="1">
                <a:solidFill>
                  <a:srgbClr val="2D63FF"/>
                </a:solidFill>
                <a:latin typeface="DejaVu Sans"/>
                <a:ea typeface="DejaVu Sans"/>
                <a:cs typeface="DejaVu Sans"/>
              </a:rPr>
              <a:t>2.</a:t>
            </a:r>
          </a:p>
        </p:txBody>
      </p:sp>
      <p:sp>
        <p:nvSpPr>
          <p:cNvPr id="9" name="item-2">
            <a:extLst xmlns:a="http://schemas.openxmlformats.org/drawingml/2006/main">
              <a:ext uri="{FF2B5EF4-FFF2-40B4-BE49-F238E27FC236}">
                <a16:creationId xmlns:a16="http://schemas.microsoft.com/office/drawing/2014/main" id="{0F8F9FE0-ECF3-4D75-85D4-70F053A399A0}"/>
              </a:ext>
            </a:extLst>
          </p:cNvPr>
          <p:cNvSpPr>
            <a:spLocks xmlns:a="http://schemas.openxmlformats.org/drawingml/2006/main" noGrp="1"/>
          </p:cNvSpPr>
          <p:nvPr/>
        </p:nvSpPr>
        <p:spPr>
          <a:xfrm xmlns:a="http://schemas.openxmlformats.org/drawingml/2006/main">
            <a:off x="1352550" y="3733800"/>
            <a:ext cx="9925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01828"/>
                </a:solidFill>
                <a:latin typeface="DejaVu Sans"/>
                <a:ea typeface="DejaVu Sans"/>
                <a:cs typeface="DejaVu Sans"/>
              </a:defRPr>
            </a:pPr>
            <a:r>
              <a:rPr sz="2250" b="0">
                <a:solidFill>
                  <a:srgbClr val="101828"/>
                </a:solidFill>
                <a:latin typeface="DejaVu Sans"/>
                <a:ea typeface="DejaVu Sans"/>
                <a:cs typeface="DejaVu Sans"/>
              </a:rPr>
              <a:t>A simple fixed shift is easy to try or analyse. A less predictable key and stronger algorithm make a code harder to break.</a:t>
            </a:r>
          </a:p>
        </p:txBody>
      </p:sp>
    </p:spTree>
    <p:extLst>
      <p:ext uri="{BB962C8B-B14F-4D97-AF65-F5344CB8AC3E}">
        <p14:creationId xmlns:p14="http://schemas.microsoft.com/office/powerpoint/2010/main" val="505277347"/>
      </p:ext>
    </p:extLst>
  </p:cSld>
</p:sld>
</file>

<file path=ppt/slides/slide5.xml><?xml version="1.0" encoding="utf-8"?>
<p:sld xmlns:p="http://schemas.openxmlformats.org/presentationml/2006/main">
  <p:cSld>
    <p:bg>
      <p:bgPr>
        <a:solidFill xmlns:a="http://schemas.openxmlformats.org/drawingml/2006/main">
          <a:srgbClr val="FFF8E9"/>
        </a:solidFill>
      </p:bgPr>
    </p:bg>
    <p:spTree>
      <p:nvGrpSpPr>
        <p:cNvPr id="1" name=""/>
        <p:cNvGrpSpPr/>
        <p:nvPr/>
      </p:nvGrpSpPr>
      <p:grpSpPr>
        <a:xfrm xmlns:a="http://schemas.openxmlformats.org/drawingml/2006/main"/>
      </p:grpSpPr>
      <p:sp>
        <p:nvSpPr>
          <p:cNvPr id="12" name="footer background">
            <a:extLst xmlns:a="http://schemas.openxmlformats.org/drawingml/2006/main">
              <a:ext uri="{FF2B5EF4-FFF2-40B4-BE49-F238E27FC236}">
                <a16:creationId xmlns:a16="http://schemas.microsoft.com/office/drawing/2014/main" id="{F1584B5D-174F-4F45-AE11-EA8EE701DF4C}"/>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190A519D-D2DB-4B4A-95F7-7D50360B8248}"/>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1.3   /   LESSON 10   /   WORKSHEET KEY TERMS</a:t>
            </a:r>
          </a:p>
        </p:txBody>
      </p:sp>
      <p:sp>
        <p:nvSpPr>
          <p:cNvPr id="3" name="heading">
            <a:extLst xmlns:a="http://schemas.openxmlformats.org/drawingml/2006/main">
              <a:ext uri="{FF2B5EF4-FFF2-40B4-BE49-F238E27FC236}">
                <a16:creationId xmlns:a16="http://schemas.microsoft.com/office/drawing/2014/main" id="{B97F8A7A-9BB2-460E-8438-7D562C466176}"/>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Key terminology quiz</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cb0ed3435274a6c"/>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B95C0422-EA13-47BB-BEB8-781C338C91D9}"/>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5 / 19</a:t>
            </a:r>
          </a:p>
        </p:txBody>
      </p:sp>
      <p:sp>
        <p:nvSpPr>
          <p:cNvPr id="6" name="term-number-0">
            <a:extLst xmlns:a="http://schemas.openxmlformats.org/drawingml/2006/main">
              <a:ext uri="{FF2B5EF4-FFF2-40B4-BE49-F238E27FC236}">
                <a16:creationId xmlns:a16="http://schemas.microsoft.com/office/drawing/2014/main" id="{697A0B1D-6877-44C5-B869-03E7D0E764E6}"/>
              </a:ext>
            </a:extLst>
          </p:cNvPr>
          <p:cNvSpPr>
            <a:spLocks xmlns:a="http://schemas.openxmlformats.org/drawingml/2006/main" noGrp="1"/>
          </p:cNvSpPr>
          <p:nvPr/>
        </p:nvSpPr>
        <p:spPr>
          <a:xfrm xmlns:a="http://schemas.openxmlformats.org/drawingml/2006/main">
            <a:off x="723900" y="2028825"/>
            <a:ext cx="59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2D63FF"/>
                </a:solidFill>
                <a:latin typeface="DejaVu Sans"/>
                <a:ea typeface="DejaVu Sans"/>
                <a:cs typeface="DejaVu Sans"/>
              </a:defRPr>
            </a:pPr>
            <a:r>
              <a:rPr sz="2700" b="1">
                <a:solidFill>
                  <a:srgbClr val="2D63FF"/>
                </a:solidFill>
                <a:latin typeface="DejaVu Sans"/>
                <a:ea typeface="DejaVu Sans"/>
                <a:cs typeface="DejaVu Sans"/>
              </a:rPr>
              <a:t>1.</a:t>
            </a:r>
          </a:p>
        </p:txBody>
      </p:sp>
      <p:sp>
        <p:nvSpPr>
          <p:cNvPr id="7" name="term-0">
            <a:extLst xmlns:a="http://schemas.openxmlformats.org/drawingml/2006/main">
              <a:ext uri="{FF2B5EF4-FFF2-40B4-BE49-F238E27FC236}">
                <a16:creationId xmlns:a16="http://schemas.microsoft.com/office/drawing/2014/main" id="{4FE418B9-E286-4615-975C-B9ED888D79B9}"/>
              </a:ext>
            </a:extLst>
          </p:cNvPr>
          <p:cNvSpPr>
            <a:spLocks xmlns:a="http://schemas.openxmlformats.org/drawingml/2006/main" noGrp="1"/>
          </p:cNvSpPr>
          <p:nvPr/>
        </p:nvSpPr>
        <p:spPr>
          <a:xfrm xmlns:a="http://schemas.openxmlformats.org/drawingml/2006/main">
            <a:off x="1371600" y="2028825"/>
            <a:ext cx="9667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01828"/>
                </a:solidFill>
                <a:latin typeface="DejaVu Sans"/>
                <a:ea typeface="DejaVu Sans"/>
                <a:cs typeface="DejaVu Sans"/>
              </a:defRPr>
            </a:pPr>
            <a:r>
              <a:rPr sz="2775" b="1">
                <a:solidFill>
                  <a:srgbClr val="101828"/>
                </a:solidFill>
                <a:latin typeface="DejaVu Sans"/>
                <a:ea typeface="DejaVu Sans"/>
                <a:cs typeface="DejaVu Sans"/>
              </a:rPr>
              <a:t>Encryption</a:t>
            </a:r>
          </a:p>
        </p:txBody>
      </p:sp>
      <p:sp>
        <p:nvSpPr>
          <p:cNvPr id="8" name="term-number-1">
            <a:extLst xmlns:a="http://schemas.openxmlformats.org/drawingml/2006/main">
              <a:ext uri="{FF2B5EF4-FFF2-40B4-BE49-F238E27FC236}">
                <a16:creationId xmlns:a16="http://schemas.microsoft.com/office/drawing/2014/main" id="{4204FB6D-6834-4F5E-9C64-1253980B7D3D}"/>
              </a:ext>
            </a:extLst>
          </p:cNvPr>
          <p:cNvSpPr>
            <a:spLocks xmlns:a="http://schemas.openxmlformats.org/drawingml/2006/main" noGrp="1"/>
          </p:cNvSpPr>
          <p:nvPr/>
        </p:nvSpPr>
        <p:spPr>
          <a:xfrm xmlns:a="http://schemas.openxmlformats.org/drawingml/2006/main">
            <a:off x="723900" y="3257550"/>
            <a:ext cx="59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2D63FF"/>
                </a:solidFill>
                <a:latin typeface="DejaVu Sans"/>
                <a:ea typeface="DejaVu Sans"/>
                <a:cs typeface="DejaVu Sans"/>
              </a:defRPr>
            </a:pPr>
            <a:r>
              <a:rPr sz="2700" b="1">
                <a:solidFill>
                  <a:srgbClr val="2D63FF"/>
                </a:solidFill>
                <a:latin typeface="DejaVu Sans"/>
                <a:ea typeface="DejaVu Sans"/>
                <a:cs typeface="DejaVu Sans"/>
              </a:rPr>
              <a:t>2.</a:t>
            </a:r>
          </a:p>
        </p:txBody>
      </p:sp>
      <p:sp>
        <p:nvSpPr>
          <p:cNvPr id="9" name="term-1">
            <a:extLst xmlns:a="http://schemas.openxmlformats.org/drawingml/2006/main">
              <a:ext uri="{FF2B5EF4-FFF2-40B4-BE49-F238E27FC236}">
                <a16:creationId xmlns:a16="http://schemas.microsoft.com/office/drawing/2014/main" id="{A47BA940-944F-431B-9034-3F9CB577DDD0}"/>
              </a:ext>
            </a:extLst>
          </p:cNvPr>
          <p:cNvSpPr>
            <a:spLocks xmlns:a="http://schemas.openxmlformats.org/drawingml/2006/main" noGrp="1"/>
          </p:cNvSpPr>
          <p:nvPr/>
        </p:nvSpPr>
        <p:spPr>
          <a:xfrm xmlns:a="http://schemas.openxmlformats.org/drawingml/2006/main">
            <a:off x="1371600" y="3257550"/>
            <a:ext cx="9667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01828"/>
                </a:solidFill>
                <a:latin typeface="DejaVu Sans"/>
                <a:ea typeface="DejaVu Sans"/>
                <a:cs typeface="DejaVu Sans"/>
              </a:defRPr>
            </a:pPr>
            <a:r>
              <a:rPr sz="2775" b="1">
                <a:solidFill>
                  <a:srgbClr val="101828"/>
                </a:solidFill>
                <a:latin typeface="DejaVu Sans"/>
                <a:ea typeface="DejaVu Sans"/>
                <a:cs typeface="DejaVu Sans"/>
              </a:rPr>
              <a:t>Public key</a:t>
            </a:r>
          </a:p>
        </p:txBody>
      </p:sp>
      <p:sp>
        <p:nvSpPr>
          <p:cNvPr id="10" name="term-number-2">
            <a:extLst xmlns:a="http://schemas.openxmlformats.org/drawingml/2006/main">
              <a:ext uri="{FF2B5EF4-FFF2-40B4-BE49-F238E27FC236}">
                <a16:creationId xmlns:a16="http://schemas.microsoft.com/office/drawing/2014/main" id="{27B6915F-D5FD-462F-9136-9DF9990C6603}"/>
              </a:ext>
            </a:extLst>
          </p:cNvPr>
          <p:cNvSpPr>
            <a:spLocks xmlns:a="http://schemas.openxmlformats.org/drawingml/2006/main" noGrp="1"/>
          </p:cNvSpPr>
          <p:nvPr/>
        </p:nvSpPr>
        <p:spPr>
          <a:xfrm xmlns:a="http://schemas.openxmlformats.org/drawingml/2006/main">
            <a:off x="723900" y="4486275"/>
            <a:ext cx="59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2D63FF"/>
                </a:solidFill>
                <a:latin typeface="DejaVu Sans"/>
                <a:ea typeface="DejaVu Sans"/>
                <a:cs typeface="DejaVu Sans"/>
              </a:defRPr>
            </a:pPr>
            <a:r>
              <a:rPr sz="2700" b="1">
                <a:solidFill>
                  <a:srgbClr val="2D63FF"/>
                </a:solidFill>
                <a:latin typeface="DejaVu Sans"/>
                <a:ea typeface="DejaVu Sans"/>
                <a:cs typeface="DejaVu Sans"/>
              </a:rPr>
              <a:t>3.</a:t>
            </a:r>
          </a:p>
        </p:txBody>
      </p:sp>
      <p:sp>
        <p:nvSpPr>
          <p:cNvPr id="11" name="term-2">
            <a:extLst xmlns:a="http://schemas.openxmlformats.org/drawingml/2006/main">
              <a:ext uri="{FF2B5EF4-FFF2-40B4-BE49-F238E27FC236}">
                <a16:creationId xmlns:a16="http://schemas.microsoft.com/office/drawing/2014/main" id="{23921D5A-EC24-466E-8266-FF5A5D886FFA}"/>
              </a:ext>
            </a:extLst>
          </p:cNvPr>
          <p:cNvSpPr>
            <a:spLocks xmlns:a="http://schemas.openxmlformats.org/drawingml/2006/main" noGrp="1"/>
          </p:cNvSpPr>
          <p:nvPr/>
        </p:nvSpPr>
        <p:spPr>
          <a:xfrm xmlns:a="http://schemas.openxmlformats.org/drawingml/2006/main">
            <a:off x="1371600" y="4486275"/>
            <a:ext cx="9667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01828"/>
                </a:solidFill>
                <a:latin typeface="DejaVu Sans"/>
                <a:ea typeface="DejaVu Sans"/>
                <a:cs typeface="DejaVu Sans"/>
              </a:defRPr>
            </a:pPr>
            <a:r>
              <a:rPr sz="2775" b="1">
                <a:solidFill>
                  <a:srgbClr val="101828"/>
                </a:solidFill>
                <a:latin typeface="DejaVu Sans"/>
                <a:ea typeface="DejaVu Sans"/>
                <a:cs typeface="DejaVu Sans"/>
              </a:rPr>
              <a:t>Private key</a:t>
            </a:r>
          </a:p>
        </p:txBody>
      </p:sp>
    </p:spTree>
    <p:extLst>
      <p:ext uri="{BB962C8B-B14F-4D97-AF65-F5344CB8AC3E}">
        <p14:creationId xmlns:p14="http://schemas.microsoft.com/office/powerpoint/2010/main" val="1929634513"/>
      </p:ext>
    </p:extLst>
  </p:cSld>
</p:sld>
</file>

<file path=ppt/slides/slide6.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2" name="footer background">
            <a:extLst xmlns:a="http://schemas.openxmlformats.org/drawingml/2006/main">
              <a:ext uri="{FF2B5EF4-FFF2-40B4-BE49-F238E27FC236}">
                <a16:creationId xmlns:a16="http://schemas.microsoft.com/office/drawing/2014/main" id="{A8574F50-BF92-4194-93A4-4F3F836E11A8}"/>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A4B1AF42-CC2E-4A62-9513-77FD70CE6D37}"/>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1.3   /   LESSON 10   /   CHECK</a:t>
            </a:r>
          </a:p>
        </p:txBody>
      </p:sp>
      <p:sp>
        <p:nvSpPr>
          <p:cNvPr id="3" name="heading">
            <a:extLst xmlns:a="http://schemas.openxmlformats.org/drawingml/2006/main">
              <a:ext uri="{FF2B5EF4-FFF2-40B4-BE49-F238E27FC236}">
                <a16:creationId xmlns:a16="http://schemas.microsoft.com/office/drawing/2014/main" id="{ADA1C7F1-7685-4C7E-980D-1EE9EFEE5FBC}"/>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Key terminology: answers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01efa37f7d1490b"/>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EF4D89C8-70F1-4D6F-88A1-A2424B963C5D}"/>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6 / 19</a:t>
            </a:r>
          </a:p>
        </p:txBody>
      </p:sp>
      <p:sp>
        <p:nvSpPr>
          <p:cNvPr id="6" name="term-label-0">
            <a:extLst xmlns:a="http://schemas.openxmlformats.org/drawingml/2006/main">
              <a:ext uri="{FF2B5EF4-FFF2-40B4-BE49-F238E27FC236}">
                <a16:creationId xmlns:a16="http://schemas.microsoft.com/office/drawing/2014/main" id="{E2E50658-97A3-4770-A30A-700A457EFC84}"/>
              </a:ext>
            </a:extLst>
          </p:cNvPr>
          <p:cNvSpPr>
            <a:spLocks xmlns:a="http://schemas.openxmlformats.org/drawingml/2006/main" noGrp="1"/>
          </p:cNvSpPr>
          <p:nvPr/>
        </p:nvSpPr>
        <p:spPr>
          <a:xfrm xmlns:a="http://schemas.openxmlformats.org/drawingml/2006/main">
            <a:off x="723900" y="1847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2D63FF"/>
                </a:solidFill>
                <a:latin typeface="DejaVu Sans"/>
                <a:ea typeface="DejaVu Sans"/>
                <a:cs typeface="DejaVu Sans"/>
              </a:defRPr>
            </a:pPr>
            <a:r>
              <a:rPr sz="2325" b="1">
                <a:solidFill>
                  <a:srgbClr val="2D63FF"/>
                </a:solidFill>
                <a:latin typeface="DejaVu Sans"/>
                <a:ea typeface="DejaVu Sans"/>
                <a:cs typeface="DejaVu Sans"/>
              </a:rPr>
              <a:t>Encryption</a:t>
            </a:r>
          </a:p>
        </p:txBody>
      </p:sp>
      <p:sp>
        <p:nvSpPr>
          <p:cNvPr id="7" name="term-definition-0">
            <a:extLst xmlns:a="http://schemas.openxmlformats.org/drawingml/2006/main">
              <a:ext uri="{FF2B5EF4-FFF2-40B4-BE49-F238E27FC236}">
                <a16:creationId xmlns:a16="http://schemas.microsoft.com/office/drawing/2014/main" id="{3B3503ED-EEFA-41AE-AB58-6D11B7D05ED3}"/>
              </a:ext>
            </a:extLst>
          </p:cNvPr>
          <p:cNvSpPr>
            <a:spLocks xmlns:a="http://schemas.openxmlformats.org/drawingml/2006/main" noGrp="1"/>
          </p:cNvSpPr>
          <p:nvPr/>
        </p:nvSpPr>
        <p:spPr>
          <a:xfrm xmlns:a="http://schemas.openxmlformats.org/drawingml/2006/main">
            <a:off x="723900" y="23336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Encryption: converting readable plaintext into ciphertext so someone without the right key cannot read it.</a:t>
            </a:r>
          </a:p>
        </p:txBody>
      </p:sp>
      <p:sp>
        <p:nvSpPr>
          <p:cNvPr id="8" name="term-label-1">
            <a:extLst xmlns:a="http://schemas.openxmlformats.org/drawingml/2006/main">
              <a:ext uri="{FF2B5EF4-FFF2-40B4-BE49-F238E27FC236}">
                <a16:creationId xmlns:a16="http://schemas.microsoft.com/office/drawing/2014/main" id="{B3C5B2F2-DB40-48F3-AA96-01F8F54897E8}"/>
              </a:ext>
            </a:extLst>
          </p:cNvPr>
          <p:cNvSpPr>
            <a:spLocks xmlns:a="http://schemas.openxmlformats.org/drawingml/2006/main" noGrp="1"/>
          </p:cNvSpPr>
          <p:nvPr/>
        </p:nvSpPr>
        <p:spPr>
          <a:xfrm xmlns:a="http://schemas.openxmlformats.org/drawingml/2006/main">
            <a:off x="723900" y="31623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2D63FF"/>
                </a:solidFill>
                <a:latin typeface="DejaVu Sans"/>
                <a:ea typeface="DejaVu Sans"/>
                <a:cs typeface="DejaVu Sans"/>
              </a:defRPr>
            </a:pPr>
            <a:r>
              <a:rPr sz="2325" b="1">
                <a:solidFill>
                  <a:srgbClr val="2D63FF"/>
                </a:solidFill>
                <a:latin typeface="DejaVu Sans"/>
                <a:ea typeface="DejaVu Sans"/>
                <a:cs typeface="DejaVu Sans"/>
              </a:rPr>
              <a:t>Public key</a:t>
            </a:r>
          </a:p>
        </p:txBody>
      </p:sp>
      <p:sp>
        <p:nvSpPr>
          <p:cNvPr id="9" name="term-definition-1">
            <a:extLst xmlns:a="http://schemas.openxmlformats.org/drawingml/2006/main">
              <a:ext uri="{FF2B5EF4-FFF2-40B4-BE49-F238E27FC236}">
                <a16:creationId xmlns:a16="http://schemas.microsoft.com/office/drawing/2014/main" id="{4A003189-2420-4536-B1D6-6D6B89AA1E85}"/>
              </a:ext>
            </a:extLst>
          </p:cNvPr>
          <p:cNvSpPr>
            <a:spLocks xmlns:a="http://schemas.openxmlformats.org/drawingml/2006/main" noGrp="1"/>
          </p:cNvSpPr>
          <p:nvPr/>
        </p:nvSpPr>
        <p:spPr>
          <a:xfrm xmlns:a="http://schemas.openxmlformats.org/drawingml/2006/main">
            <a:off x="723900" y="36480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Public key: a key that can be shared openly and used to encrypt data for its owner.</a:t>
            </a:r>
          </a:p>
        </p:txBody>
      </p:sp>
      <p:sp>
        <p:nvSpPr>
          <p:cNvPr id="10" name="term-label-2">
            <a:extLst xmlns:a="http://schemas.openxmlformats.org/drawingml/2006/main">
              <a:ext uri="{FF2B5EF4-FFF2-40B4-BE49-F238E27FC236}">
                <a16:creationId xmlns:a16="http://schemas.microsoft.com/office/drawing/2014/main" id="{5ED56721-B433-48F5-9538-394F1024CCEA}"/>
              </a:ext>
            </a:extLst>
          </p:cNvPr>
          <p:cNvSpPr>
            <a:spLocks xmlns:a="http://schemas.openxmlformats.org/drawingml/2006/main" noGrp="1"/>
          </p:cNvSpPr>
          <p:nvPr/>
        </p:nvSpPr>
        <p:spPr>
          <a:xfrm xmlns:a="http://schemas.openxmlformats.org/drawingml/2006/main">
            <a:off x="723900" y="44767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2D63FF"/>
                </a:solidFill>
                <a:latin typeface="DejaVu Sans"/>
                <a:ea typeface="DejaVu Sans"/>
                <a:cs typeface="DejaVu Sans"/>
              </a:defRPr>
            </a:pPr>
            <a:r>
              <a:rPr sz="2325" b="1">
                <a:solidFill>
                  <a:srgbClr val="2D63FF"/>
                </a:solidFill>
                <a:latin typeface="DejaVu Sans"/>
                <a:ea typeface="DejaVu Sans"/>
                <a:cs typeface="DejaVu Sans"/>
              </a:rPr>
              <a:t>Private key</a:t>
            </a:r>
          </a:p>
        </p:txBody>
      </p:sp>
      <p:sp>
        <p:nvSpPr>
          <p:cNvPr id="11" name="term-definition-2">
            <a:extLst xmlns:a="http://schemas.openxmlformats.org/drawingml/2006/main">
              <a:ext uri="{FF2B5EF4-FFF2-40B4-BE49-F238E27FC236}">
                <a16:creationId xmlns:a16="http://schemas.microsoft.com/office/drawing/2014/main" id="{CAEDCC1F-6F3C-4E68-B2AF-D2EBA26EBAF9}"/>
              </a:ext>
            </a:extLst>
          </p:cNvPr>
          <p:cNvSpPr>
            <a:spLocks xmlns:a="http://schemas.openxmlformats.org/drawingml/2006/main" noGrp="1"/>
          </p:cNvSpPr>
          <p:nvPr/>
        </p:nvSpPr>
        <p:spPr>
          <a:xfrm xmlns:a="http://schemas.openxmlformats.org/drawingml/2006/main">
            <a:off x="723900" y="49625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01828"/>
                </a:solidFill>
                <a:latin typeface="DejaVu Sans"/>
                <a:ea typeface="DejaVu Sans"/>
                <a:cs typeface="DejaVu Sans"/>
              </a:defRPr>
            </a:pPr>
            <a:r>
              <a:rPr sz="1875" b="0">
                <a:solidFill>
                  <a:srgbClr val="101828"/>
                </a:solidFill>
                <a:latin typeface="DejaVu Sans"/>
                <a:ea typeface="DejaVu Sans"/>
                <a:cs typeface="DejaVu Sans"/>
              </a:rPr>
              <a:t>Private key: the matching secret key kept by its owner and used to decrypt that data.</a:t>
            </a:r>
          </a:p>
        </p:txBody>
      </p:sp>
    </p:spTree>
    <p:extLst>
      <p:ext uri="{BB962C8B-B14F-4D97-AF65-F5344CB8AC3E}">
        <p14:creationId xmlns:p14="http://schemas.microsoft.com/office/powerpoint/2010/main" val="984258990"/>
      </p:ext>
    </p:extLst>
  </p:cSld>
</p:sld>
</file>

<file path=ppt/slides/slide7.xml><?xml version="1.0" encoding="utf-8"?>
<p:sld xmlns:p="http://schemas.openxmlformats.org/presentationml/2006/main">
  <p:cSld>
    <p:bg>
      <p:bgPr>
        <a:solidFill xmlns:a="http://schemas.openxmlformats.org/drawingml/2006/main">
          <a:srgbClr val="122448"/>
        </a:solidFill>
      </p:bgPr>
    </p:bg>
    <p:spTree>
      <p:nvGrpSpPr>
        <p:cNvPr id="1" name=""/>
        <p:cNvGrpSpPr/>
        <p:nvPr/>
      </p:nvGrpSpPr>
      <p:grpSpPr>
        <a:xfrm xmlns:a="http://schemas.openxmlformats.org/drawingml/2006/main"/>
      </p:grpSpPr>
      <p:sp>
        <p:nvSpPr>
          <p:cNvPr id="14" name="footer background">
            <a:extLst xmlns:a="http://schemas.openxmlformats.org/drawingml/2006/main">
              <a:ext uri="{FF2B5EF4-FFF2-40B4-BE49-F238E27FC236}">
                <a16:creationId xmlns:a16="http://schemas.microsoft.com/office/drawing/2014/main" id="{BF147B04-2258-49E7-9848-AE606855B086}"/>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E7A38CDC-515D-4035-858B-69E0F007DE68}"/>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77D8FF"/>
                </a:solidFill>
                <a:latin typeface="DejaVu Sans"/>
                <a:ea typeface="DejaVu Sans"/>
                <a:cs typeface="DejaVu Sans"/>
              </a:defRPr>
            </a:pPr>
            <a:r>
              <a:rPr sz="1125" b="1">
                <a:solidFill>
                  <a:srgbClr val="77D8FF"/>
                </a:solidFill>
                <a:latin typeface="DejaVu Sans"/>
                <a:ea typeface="DejaVu Sans"/>
                <a:cs typeface="DejaVu Sans"/>
              </a:rPr>
              <a:t>TOPIC 1.3   /   LESSON 10   /   EXPERIENCE</a:t>
            </a:r>
          </a:p>
        </p:txBody>
      </p:sp>
      <p:sp>
        <p:nvSpPr>
          <p:cNvPr id="3" name="heading">
            <a:extLst xmlns:a="http://schemas.openxmlformats.org/drawingml/2006/main">
              <a:ext uri="{FF2B5EF4-FFF2-40B4-BE49-F238E27FC236}">
                <a16:creationId xmlns:a16="http://schemas.microsoft.com/office/drawing/2014/main" id="{AA36BF69-22B0-4C03-ADFE-B098962926A1}"/>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Worksheet + experience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2c99eda66374dba"/>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4A27409C-D6EA-4E32-8CDA-EA5A1EBA9DE7}"/>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7 / 19</a:t>
            </a:r>
          </a:p>
        </p:txBody>
      </p:sp>
      <p:sp>
        <p:nvSpPr>
          <p:cNvPr id="6" name="open-label">
            <a:extLst xmlns:a="http://schemas.openxmlformats.org/drawingml/2006/main">
              <a:ext uri="{FF2B5EF4-FFF2-40B4-BE49-F238E27FC236}">
                <a16:creationId xmlns:a16="http://schemas.microsoft.com/office/drawing/2014/main" id="{10A01ABB-DE15-4DB4-88B6-053931D20E7E}"/>
              </a:ext>
            </a:extLst>
          </p:cNvPr>
          <p:cNvSpPr>
            <a:spLocks xmlns:a="http://schemas.openxmlformats.org/drawingml/2006/main" noGrp="1"/>
          </p:cNvSpPr>
          <p:nvPr/>
        </p:nvSpPr>
        <p:spPr>
          <a:xfrm xmlns:a="http://schemas.openxmlformats.org/drawingml/2006/main">
            <a:off x="723900" y="15240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7D8FF"/>
                </a:solidFill>
                <a:latin typeface="DejaVu Sans"/>
                <a:ea typeface="DejaVu Sans"/>
                <a:cs typeface="DejaVu Sans"/>
              </a:defRPr>
            </a:pPr>
            <a:r>
              <a:rPr sz="1425" b="1">
                <a:solidFill>
                  <a:srgbClr val="77D8FF"/>
                </a:solidFill>
                <a:latin typeface="DejaVu Sans"/>
                <a:ea typeface="DejaVu Sans"/>
                <a:cs typeface="DejaVu Sans"/>
              </a:rPr>
              <a:t>01   </a:t>
            </a:r>
            <a:r>
              <a:rPr sz="1425" b="1">
                <a:solidFill>
                  <a:srgbClr val="77D8FF"/>
                </a:solidFill>
                <a:latin typeface="DejaVu Sans"/>
                <a:ea typeface="DejaVu Sans"/>
                <a:cs typeface="DejaVu Sans"/>
                <a:hlinkClick xmlns:r="http://schemas.openxmlformats.org/officeDocument/2006/relationships" r:id="R0d2c3c66a4f74250"/>
              </a:rPr>
              <a:t>OPEN EXPERIENCE ↗</a:t>
            </a:r>
          </a:p>
        </p:txBody>
      </p:sp>
      <p:sp>
        <p:nvSpPr>
          <p:cNvPr id="7" name="open-body">
            <a:extLst xmlns:a="http://schemas.openxmlformats.org/drawingml/2006/main">
              <a:ext uri="{FF2B5EF4-FFF2-40B4-BE49-F238E27FC236}">
                <a16:creationId xmlns:a16="http://schemas.microsoft.com/office/drawing/2014/main" id="{74F81627-21DD-4F8B-9855-68C44D230DF8}"/>
              </a:ext>
            </a:extLst>
          </p:cNvPr>
          <p:cNvSpPr>
            <a:spLocks xmlns:a="http://schemas.openxmlformats.org/drawingml/2006/main" noGrp="1"/>
          </p:cNvSpPr>
          <p:nvPr/>
        </p:nvSpPr>
        <p:spPr>
          <a:xfrm xmlns:a="http://schemas.openxmlformats.org/drawingml/2006/main">
            <a:off x="723900" y="18478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Open Cipher room in Topic 1.3. Keep the worksheet beside you.</a:t>
            </a:r>
          </a:p>
        </p:txBody>
      </p:sp>
      <p:sp>
        <p:nvSpPr>
          <p:cNvPr id="8" name="station-label">
            <a:extLst xmlns:a="http://schemas.openxmlformats.org/drawingml/2006/main">
              <a:ext uri="{FF2B5EF4-FFF2-40B4-BE49-F238E27FC236}">
                <a16:creationId xmlns:a16="http://schemas.microsoft.com/office/drawing/2014/main" id="{36C06813-C5E7-4D4F-8521-E085F98E7F0C}"/>
              </a:ext>
            </a:extLst>
          </p:cNvPr>
          <p:cNvSpPr>
            <a:spLocks xmlns:a="http://schemas.openxmlformats.org/drawingml/2006/main" noGrp="1"/>
          </p:cNvSpPr>
          <p:nvPr/>
        </p:nvSpPr>
        <p:spPr>
          <a:xfrm xmlns:a="http://schemas.openxmlformats.org/drawingml/2006/main">
            <a:off x="723900" y="25908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7D8FF"/>
                </a:solidFill>
                <a:latin typeface="DejaVu Sans"/>
                <a:ea typeface="DejaVu Sans"/>
                <a:cs typeface="DejaVu Sans"/>
              </a:defRPr>
            </a:pPr>
            <a:r>
              <a:rPr sz="1425" b="1">
                <a:solidFill>
                  <a:srgbClr val="77D8FF"/>
                </a:solidFill>
                <a:latin typeface="DejaVu Sans"/>
                <a:ea typeface="DejaVu Sans"/>
                <a:cs typeface="DejaVu Sans"/>
              </a:rPr>
              <a:t>02   SIX STATIONS</a:t>
            </a:r>
          </a:p>
        </p:txBody>
      </p:sp>
      <p:sp>
        <p:nvSpPr>
          <p:cNvPr id="9" name="station-body">
            <a:extLst xmlns:a="http://schemas.openxmlformats.org/drawingml/2006/main">
              <a:ext uri="{FF2B5EF4-FFF2-40B4-BE49-F238E27FC236}">
                <a16:creationId xmlns:a16="http://schemas.microsoft.com/office/drawing/2014/main" id="{4D42D598-4DAD-4002-ABE7-24479275E04E}"/>
              </a:ext>
            </a:extLst>
          </p:cNvPr>
          <p:cNvSpPr>
            <a:spLocks xmlns:a="http://schemas.openxmlformats.org/drawingml/2006/main" noGrp="1"/>
          </p:cNvSpPr>
          <p:nvPr/>
        </p:nvSpPr>
        <p:spPr>
          <a:xfrm xmlns:a="http://schemas.openxmlformats.org/drawingml/2006/main">
            <a:off x="723900" y="2914650"/>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Read each panel. Write the key fact IN YOUR OWN WORDS and answer the worksheet challenge before tapping its badge.</a:t>
            </a:r>
          </a:p>
        </p:txBody>
      </p:sp>
      <p:sp>
        <p:nvSpPr>
          <p:cNvPr id="10" name="finish-label">
            <a:extLst xmlns:a="http://schemas.openxmlformats.org/drawingml/2006/main">
              <a:ext uri="{FF2B5EF4-FFF2-40B4-BE49-F238E27FC236}">
                <a16:creationId xmlns:a16="http://schemas.microsoft.com/office/drawing/2014/main" id="{01A4A0FB-A9BF-4E3C-A4A5-5C8E7DDBA730}"/>
              </a:ext>
            </a:extLst>
          </p:cNvPr>
          <p:cNvSpPr>
            <a:spLocks xmlns:a="http://schemas.openxmlformats.org/drawingml/2006/main" noGrp="1"/>
          </p:cNvSpPr>
          <p:nvPr/>
        </p:nvSpPr>
        <p:spPr>
          <a:xfrm xmlns:a="http://schemas.openxmlformats.org/drawingml/2006/main">
            <a:off x="723900" y="371475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7D8FF"/>
                </a:solidFill>
                <a:latin typeface="DejaVu Sans"/>
                <a:ea typeface="DejaVu Sans"/>
                <a:cs typeface="DejaVu Sans"/>
              </a:defRPr>
            </a:pPr>
            <a:r>
              <a:rPr sz="1425" b="1">
                <a:solidFill>
                  <a:srgbClr val="77D8FF"/>
                </a:solidFill>
                <a:latin typeface="DejaVu Sans"/>
                <a:ea typeface="DejaVu Sans"/>
                <a:cs typeface="DejaVu Sans"/>
              </a:rPr>
              <a:t>03   FINAL CHALLENGE</a:t>
            </a:r>
          </a:p>
        </p:txBody>
      </p:sp>
      <p:sp>
        <p:nvSpPr>
          <p:cNvPr id="11" name="finish-body">
            <a:extLst xmlns:a="http://schemas.openxmlformats.org/drawingml/2006/main">
              <a:ext uri="{FF2B5EF4-FFF2-40B4-BE49-F238E27FC236}">
                <a16:creationId xmlns:a16="http://schemas.microsoft.com/office/drawing/2014/main" id="{1699E19E-73AF-486F-82D7-7EC06463C509}"/>
              </a:ext>
            </a:extLst>
          </p:cNvPr>
          <p:cNvSpPr>
            <a:spLocks xmlns:a="http://schemas.openxmlformats.org/drawingml/2006/main" noGrp="1"/>
          </p:cNvSpPr>
          <p:nvPr/>
        </p:nvSpPr>
        <p:spPr>
          <a:xfrm xmlns:a="http://schemas.openxmlformats.org/drawingml/2006/main">
            <a:off x="723900" y="4048125"/>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Complete the ★ task before tapping the star. Copy your score (out of 24), then complete the worksheet task or review.</a:t>
            </a:r>
          </a:p>
        </p:txBody>
      </p:sp>
      <p:sp>
        <p:nvSpPr>
          <p:cNvPr id="12" name="plenary-label">
            <a:extLst xmlns:a="http://schemas.openxmlformats.org/drawingml/2006/main">
              <a:ext uri="{FF2B5EF4-FFF2-40B4-BE49-F238E27FC236}">
                <a16:creationId xmlns:a16="http://schemas.microsoft.com/office/drawing/2014/main" id="{0E62C7F2-9FCE-42D6-85C0-231EB673124F}"/>
              </a:ext>
            </a:extLst>
          </p:cNvPr>
          <p:cNvSpPr>
            <a:spLocks xmlns:a="http://schemas.openxmlformats.org/drawingml/2006/main" noGrp="1"/>
          </p:cNvSpPr>
          <p:nvPr/>
        </p:nvSpPr>
        <p:spPr>
          <a:xfrm xmlns:a="http://schemas.openxmlformats.org/drawingml/2006/main">
            <a:off x="723900" y="4914900"/>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7D8FF"/>
                </a:solidFill>
                <a:latin typeface="DejaVu Sans"/>
                <a:ea typeface="DejaVu Sans"/>
                <a:cs typeface="DejaVu Sans"/>
              </a:defRPr>
            </a:pPr>
            <a:r>
              <a:rPr sz="1425" b="1">
                <a:solidFill>
                  <a:srgbClr val="77D8FF"/>
                </a:solidFill>
                <a:latin typeface="DejaVu Sans"/>
                <a:ea typeface="DejaVu Sans"/>
                <a:cs typeface="DejaVu Sans"/>
              </a:rPr>
              <a:t>04   PLENARY</a:t>
            </a:r>
          </a:p>
        </p:txBody>
      </p:sp>
      <p:sp>
        <p:nvSpPr>
          <p:cNvPr id="13" name="plenary-body">
            <a:extLst xmlns:a="http://schemas.openxmlformats.org/drawingml/2006/main">
              <a:ext uri="{FF2B5EF4-FFF2-40B4-BE49-F238E27FC236}">
                <a16:creationId xmlns:a16="http://schemas.microsoft.com/office/drawing/2014/main" id="{97120AE2-54CA-4614-85A7-7381A05DC6D5}"/>
              </a:ext>
            </a:extLst>
          </p:cNvPr>
          <p:cNvSpPr>
            <a:spLocks xmlns:a="http://schemas.openxmlformats.org/drawingml/2006/main" noGrp="1"/>
          </p:cNvSpPr>
          <p:nvPr/>
        </p:nvSpPr>
        <p:spPr>
          <a:xfrm xmlns:a="http://schemas.openxmlformats.org/drawingml/2006/main">
            <a:off x="723900" y="52387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Finish the experience in this lesson. Near the end, close it for the plenary knowledge checks.</a:t>
            </a:r>
          </a:p>
        </p:txBody>
      </p:sp>
    </p:spTree>
    <p:extLst>
      <p:ext uri="{BB962C8B-B14F-4D97-AF65-F5344CB8AC3E}">
        <p14:creationId xmlns:p14="http://schemas.microsoft.com/office/powerpoint/2010/main" val="2518493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ooter background">
            <a:extLst xmlns:a="http://schemas.openxmlformats.org/drawingml/2006/main">
              <a:ext uri="{FF2B5EF4-FFF2-40B4-BE49-F238E27FC236}">
                <a16:creationId xmlns:a16="http://schemas.microsoft.com/office/drawing/2014/main" id="{E365BCC0-AE89-4250-980F-544585BEAFD4}"/>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261633A3-006E-4F19-A4D1-3C244A986ABA}"/>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1.3   /   LESSON 10   /   EXTENSION</a:t>
            </a:r>
          </a:p>
        </p:txBody>
      </p:sp>
      <p:sp>
        <p:nvSpPr>
          <p:cNvPr id="3" name="heading">
            <a:extLst xmlns:a="http://schemas.openxmlformats.org/drawingml/2006/main">
              <a:ext uri="{FF2B5EF4-FFF2-40B4-BE49-F238E27FC236}">
                <a16:creationId xmlns:a16="http://schemas.microsoft.com/office/drawing/2014/main" id="{179F1D41-015C-4F40-93AD-040A78F2C1E2}"/>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Apply your learning</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b785b8bf9604cd6"/>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32978590-1CF1-4D9F-88E1-71AC4DFC76A3}"/>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8 / 19</a:t>
            </a:r>
          </a:p>
        </p:txBody>
      </p:sp>
      <p:sp>
        <p:nvSpPr>
          <p:cNvPr id="6" name="application-prompt">
            <a:extLst xmlns:a="http://schemas.openxmlformats.org/drawingml/2006/main">
              <a:ext uri="{FF2B5EF4-FFF2-40B4-BE49-F238E27FC236}">
                <a16:creationId xmlns:a16="http://schemas.microsoft.com/office/drawing/2014/main" id="{47ADACD2-618C-40D5-8FFE-031AB4B9177C}"/>
              </a:ext>
            </a:extLst>
          </p:cNvPr>
          <p:cNvSpPr>
            <a:spLocks xmlns:a="http://schemas.openxmlformats.org/drawingml/2006/main" noGrp="1"/>
          </p:cNvSpPr>
          <p:nvPr/>
        </p:nvSpPr>
        <p:spPr>
          <a:xfrm xmlns:a="http://schemas.openxmlformats.org/drawingml/2006/main">
            <a:off x="704850" y="2295525"/>
            <a:ext cx="105727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01828"/>
                </a:solidFill>
                <a:latin typeface="DejaVu Sans"/>
                <a:ea typeface="DejaVu Sans"/>
                <a:cs typeface="DejaVu Sans"/>
              </a:defRPr>
            </a:pPr>
            <a:r>
              <a:rPr sz="2400" b="1">
                <a:solidFill>
                  <a:srgbClr val="101828"/>
                </a:solidFill>
                <a:latin typeface="DejaVu Sans"/>
                <a:ea typeface="DejaVu Sans"/>
                <a:cs typeface="DejaVu Sans"/>
              </a:rPr>
              <a:t>Answer the key question: what is the purpose of encryption?</a:t>
            </a:r>
          </a:p>
        </p:txBody>
      </p:sp>
      <p:sp>
        <p:nvSpPr>
          <p:cNvPr id="7" name="application-note">
            <a:extLst xmlns:a="http://schemas.openxmlformats.org/drawingml/2006/main">
              <a:ext uri="{FF2B5EF4-FFF2-40B4-BE49-F238E27FC236}">
                <a16:creationId xmlns:a16="http://schemas.microsoft.com/office/drawing/2014/main" id="{51456B9A-369A-4BD1-87F9-4CF4AACCE522}"/>
              </a:ext>
            </a:extLst>
          </p:cNvPr>
          <p:cNvSpPr>
            <a:spLocks xmlns:a="http://schemas.openxmlformats.org/drawingml/2006/main" noGrp="1"/>
          </p:cNvSpPr>
          <p:nvPr/>
        </p:nvSpPr>
        <p:spPr>
          <a:xfrm xmlns:a="http://schemas.openxmlformats.org/drawingml/2006/main">
            <a:off x="704850" y="4953000"/>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D63FF"/>
                </a:solidFill>
                <a:latin typeface="DejaVu Sans"/>
                <a:ea typeface="DejaVu Sans"/>
                <a:cs typeface="DejaVu Sans"/>
              </a:defRPr>
            </a:pPr>
            <a:r>
              <a:rPr sz="1875" b="0">
                <a:solidFill>
                  <a:srgbClr val="2D63FF"/>
                </a:solidFill>
                <a:latin typeface="DejaVu Sans"/>
                <a:ea typeface="DejaVu Sans"/>
                <a:cs typeface="DejaVu Sans"/>
              </a:rPr>
              <a:t>Use the task and table on your worksheet.</a:t>
            </a:r>
          </a:p>
        </p:txBody>
      </p:sp>
    </p:spTree>
    <p:extLst>
      <p:ext uri="{BB962C8B-B14F-4D97-AF65-F5344CB8AC3E}">
        <p14:creationId xmlns:p14="http://schemas.microsoft.com/office/powerpoint/2010/main" val="18559617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footer background">
            <a:extLst xmlns:a="http://schemas.openxmlformats.org/drawingml/2006/main">
              <a:ext uri="{FF2B5EF4-FFF2-40B4-BE49-F238E27FC236}">
                <a16:creationId xmlns:a16="http://schemas.microsoft.com/office/drawing/2014/main" id="{61F41215-0F11-4ECD-9164-7F372CE22CB8}"/>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273B201D-DD80-40B7-A007-AF2222664A51}"/>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1.3   /   LESSON 10   /   EXTENSION</a:t>
            </a:r>
          </a:p>
        </p:txBody>
      </p:sp>
      <p:sp>
        <p:nvSpPr>
          <p:cNvPr id="3" name="heading">
            <a:extLst xmlns:a="http://schemas.openxmlformats.org/drawingml/2006/main">
              <a:ext uri="{FF2B5EF4-FFF2-40B4-BE49-F238E27FC236}">
                <a16:creationId xmlns:a16="http://schemas.microsoft.com/office/drawing/2014/main" id="{D789932B-B1CA-4234-A7AF-A28584831E97}"/>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Check and improve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9bfff0cbb8a4595"/>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0BC0E831-D20B-485B-A807-D66A7D4FACEF}"/>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9 / 19</a:t>
            </a:r>
          </a:p>
        </p:txBody>
      </p:sp>
      <p:sp>
        <p:nvSpPr>
          <p:cNvPr id="6" name="review-prompt">
            <a:extLst xmlns:a="http://schemas.openxmlformats.org/drawingml/2006/main">
              <a:ext uri="{FF2B5EF4-FFF2-40B4-BE49-F238E27FC236}">
                <a16:creationId xmlns:a16="http://schemas.microsoft.com/office/drawing/2014/main" id="{BBA7D77E-28D3-41E2-A7DD-4DD8EE53005D}"/>
              </a:ext>
            </a:extLst>
          </p:cNvPr>
          <p:cNvSpPr>
            <a:spLocks xmlns:a="http://schemas.openxmlformats.org/drawingml/2006/main" noGrp="1"/>
          </p:cNvSpPr>
          <p:nvPr/>
        </p:nvSpPr>
        <p:spPr>
          <a:xfrm xmlns:a="http://schemas.openxmlformats.org/drawingml/2006/main">
            <a:off x="704850" y="2514600"/>
            <a:ext cx="1057275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01828"/>
                </a:solidFill>
                <a:latin typeface="DejaVu Sans"/>
                <a:ea typeface="DejaVu Sans"/>
                <a:cs typeface="DejaVu Sans"/>
              </a:defRPr>
            </a:pPr>
            <a:r>
              <a:rPr sz="2400" b="1">
                <a:solidFill>
                  <a:srgbClr val="101828"/>
                </a:solidFill>
                <a:latin typeface="DejaVu Sans"/>
                <a:ea typeface="DejaVu Sans"/>
                <a:cs typeface="DejaVu Sans"/>
              </a:rPr>
              <a:t>Why does sharing a public key help, while sharing a private key is dangerous?</a:t>
            </a:r>
          </a:p>
        </p:txBody>
      </p:sp>
    </p:spTree>
    <p:extLst>
      <p:ext uri="{BB962C8B-B14F-4D97-AF65-F5344CB8AC3E}">
        <p14:creationId xmlns:p14="http://schemas.microsoft.com/office/powerpoint/2010/main" val="1295092312"/>
      </p:ext>
    </p:extLst>
  </p:cSld>
</p:sld>
</file>

<file path=ppt/slides/slide10.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4" name="footer background">
            <a:extLst xmlns:a="http://schemas.openxmlformats.org/drawingml/2006/main">
              <a:ext uri="{FF2B5EF4-FFF2-40B4-BE49-F238E27FC236}">
                <a16:creationId xmlns:a16="http://schemas.microsoft.com/office/drawing/2014/main" id="{E8952316-E40C-4A82-A5A8-CAA0E0213617}"/>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2BB5B521-92EB-455C-A1D8-53DFDDD7CBCF}"/>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1.3   /   LESSON 10   /   CHECK</a:t>
            </a:r>
          </a:p>
        </p:txBody>
      </p:sp>
      <p:sp>
        <p:nvSpPr>
          <p:cNvPr id="3" name="heading">
            <a:extLst xmlns:a="http://schemas.openxmlformats.org/drawingml/2006/main">
              <a:ext uri="{FF2B5EF4-FFF2-40B4-BE49-F238E27FC236}">
                <a16:creationId xmlns:a16="http://schemas.microsoft.com/office/drawing/2014/main" id="{F8C4ADBE-F5C3-4704-9E1E-FD3E0E482F69}"/>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Application: sample answers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24533253a1f4b23"/>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E596E053-17E5-46CA-9D58-BB0807E21DF6}"/>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10 / 19</a:t>
            </a:r>
          </a:p>
        </p:txBody>
      </p:sp>
      <p:sp>
        <p:nvSpPr>
          <p:cNvPr id="6" name="number-1">
            <a:extLst xmlns:a="http://schemas.openxmlformats.org/drawingml/2006/main">
              <a:ext uri="{FF2B5EF4-FFF2-40B4-BE49-F238E27FC236}">
                <a16:creationId xmlns:a16="http://schemas.microsoft.com/office/drawing/2014/main" id="{2656BAD1-DB7C-4C79-AC60-5E0DC42B6AB2}"/>
              </a:ext>
            </a:extLst>
          </p:cNvPr>
          <p:cNvSpPr>
            <a:spLocks xmlns:a="http://schemas.openxmlformats.org/drawingml/2006/main" noGrp="1"/>
          </p:cNvSpPr>
          <p:nvPr/>
        </p:nvSpPr>
        <p:spPr>
          <a:xfrm xmlns:a="http://schemas.openxmlformats.org/drawingml/2006/main">
            <a:off x="723900" y="184785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D63FF"/>
                </a:solidFill>
                <a:latin typeface="DejaVu Sans"/>
                <a:ea typeface="DejaVu Sans"/>
                <a:cs typeface="DejaVu Sans"/>
              </a:defRPr>
            </a:pPr>
            <a:r>
              <a:rPr sz="1800"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99EBF77E-A518-4179-9B87-DEE70973D64A}"/>
              </a:ext>
            </a:extLst>
          </p:cNvPr>
          <p:cNvSpPr>
            <a:spLocks xmlns:a="http://schemas.openxmlformats.org/drawingml/2006/main" noGrp="1"/>
          </p:cNvSpPr>
          <p:nvPr/>
        </p:nvSpPr>
        <p:spPr>
          <a:xfrm xmlns:a="http://schemas.openxmlformats.org/drawingml/2006/main">
            <a:off x="1352550" y="1847850"/>
            <a:ext cx="99250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Encryption turns readable plaintext into ciphertext using a key.</a:t>
            </a:r>
          </a:p>
        </p:txBody>
      </p:sp>
      <p:sp>
        <p:nvSpPr>
          <p:cNvPr id="8" name="number-2">
            <a:extLst xmlns:a="http://schemas.openxmlformats.org/drawingml/2006/main">
              <a:ext uri="{FF2B5EF4-FFF2-40B4-BE49-F238E27FC236}">
                <a16:creationId xmlns:a16="http://schemas.microsoft.com/office/drawing/2014/main" id="{765750DF-7451-4880-9D1E-A206643F818D}"/>
              </a:ext>
            </a:extLst>
          </p:cNvPr>
          <p:cNvSpPr>
            <a:spLocks xmlns:a="http://schemas.openxmlformats.org/drawingml/2006/main" noGrp="1"/>
          </p:cNvSpPr>
          <p:nvPr/>
        </p:nvSpPr>
        <p:spPr>
          <a:xfrm xmlns:a="http://schemas.openxmlformats.org/drawingml/2006/main">
            <a:off x="723900" y="28479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D63FF"/>
                </a:solidFill>
                <a:latin typeface="DejaVu Sans"/>
                <a:ea typeface="DejaVu Sans"/>
                <a:cs typeface="DejaVu Sans"/>
              </a:defRPr>
            </a:pPr>
            <a:r>
              <a:rPr sz="1800" b="1">
                <a:solidFill>
                  <a:srgbClr val="2D63FF"/>
                </a:solidFill>
                <a:latin typeface="DejaVu Sans"/>
                <a:ea typeface="DejaVu Sans"/>
                <a:cs typeface="DejaVu Sans"/>
              </a:rPr>
              <a:t>2.</a:t>
            </a:r>
          </a:p>
        </p:txBody>
      </p:sp>
      <p:sp>
        <p:nvSpPr>
          <p:cNvPr id="9" name="item-2">
            <a:extLst xmlns:a="http://schemas.openxmlformats.org/drawingml/2006/main">
              <a:ext uri="{FF2B5EF4-FFF2-40B4-BE49-F238E27FC236}">
                <a16:creationId xmlns:a16="http://schemas.microsoft.com/office/drawing/2014/main" id="{36070F19-5403-4FC5-9354-045998FA22EB}"/>
              </a:ext>
            </a:extLst>
          </p:cNvPr>
          <p:cNvSpPr>
            <a:spLocks xmlns:a="http://schemas.openxmlformats.org/drawingml/2006/main" noGrp="1"/>
          </p:cNvSpPr>
          <p:nvPr/>
        </p:nvSpPr>
        <p:spPr>
          <a:xfrm xmlns:a="http://schemas.openxmlformats.org/drawingml/2006/main">
            <a:off x="1352550" y="2847975"/>
            <a:ext cx="99250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Only someone with the appropriate key can recover the original data.</a:t>
            </a:r>
          </a:p>
        </p:txBody>
      </p:sp>
      <p:sp>
        <p:nvSpPr>
          <p:cNvPr id="10" name="number-3">
            <a:extLst xmlns:a="http://schemas.openxmlformats.org/drawingml/2006/main">
              <a:ext uri="{FF2B5EF4-FFF2-40B4-BE49-F238E27FC236}">
                <a16:creationId xmlns:a16="http://schemas.microsoft.com/office/drawing/2014/main" id="{C16DC1E6-A931-49D7-A07B-D492EA65E94B}"/>
              </a:ext>
            </a:extLst>
          </p:cNvPr>
          <p:cNvSpPr>
            <a:spLocks xmlns:a="http://schemas.openxmlformats.org/drawingml/2006/main" noGrp="1"/>
          </p:cNvSpPr>
          <p:nvPr/>
        </p:nvSpPr>
        <p:spPr>
          <a:xfrm xmlns:a="http://schemas.openxmlformats.org/drawingml/2006/main">
            <a:off x="723900" y="38481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D63FF"/>
                </a:solidFill>
                <a:latin typeface="DejaVu Sans"/>
                <a:ea typeface="DejaVu Sans"/>
                <a:cs typeface="DejaVu Sans"/>
              </a:defRPr>
            </a:pPr>
            <a:r>
              <a:rPr sz="1800" b="1">
                <a:solidFill>
                  <a:srgbClr val="2D63FF"/>
                </a:solidFill>
                <a:latin typeface="DejaVu Sans"/>
                <a:ea typeface="DejaVu Sans"/>
                <a:cs typeface="DejaVu Sans"/>
              </a:rPr>
              <a:t>3.</a:t>
            </a:r>
          </a:p>
        </p:txBody>
      </p:sp>
      <p:sp>
        <p:nvSpPr>
          <p:cNvPr id="11" name="item-3">
            <a:extLst xmlns:a="http://schemas.openxmlformats.org/drawingml/2006/main">
              <a:ext uri="{FF2B5EF4-FFF2-40B4-BE49-F238E27FC236}">
                <a16:creationId xmlns:a16="http://schemas.microsoft.com/office/drawing/2014/main" id="{96B8F512-0ACD-4ABD-BA82-096012354DD5}"/>
              </a:ext>
            </a:extLst>
          </p:cNvPr>
          <p:cNvSpPr>
            <a:spLocks xmlns:a="http://schemas.openxmlformats.org/drawingml/2006/main" noGrp="1"/>
          </p:cNvSpPr>
          <p:nvPr/>
        </p:nvSpPr>
        <p:spPr>
          <a:xfrm xmlns:a="http://schemas.openxmlformats.org/drawingml/2006/main">
            <a:off x="1352550" y="3848100"/>
            <a:ext cx="99250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It protects wireless traffic that nearby people could otherwise intercept.</a:t>
            </a:r>
          </a:p>
        </p:txBody>
      </p:sp>
      <p:sp>
        <p:nvSpPr>
          <p:cNvPr id="12" name="number-4">
            <a:extLst xmlns:a="http://schemas.openxmlformats.org/drawingml/2006/main">
              <a:ext uri="{FF2B5EF4-FFF2-40B4-BE49-F238E27FC236}">
                <a16:creationId xmlns:a16="http://schemas.microsoft.com/office/drawing/2014/main" id="{99AE66AB-EDE9-436C-BA9F-955357996529}"/>
              </a:ext>
            </a:extLst>
          </p:cNvPr>
          <p:cNvSpPr>
            <a:spLocks xmlns:a="http://schemas.openxmlformats.org/drawingml/2006/main" noGrp="1"/>
          </p:cNvSpPr>
          <p:nvPr/>
        </p:nvSpPr>
        <p:spPr>
          <a:xfrm xmlns:a="http://schemas.openxmlformats.org/drawingml/2006/main">
            <a:off x="723900" y="48482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D63FF"/>
                </a:solidFill>
                <a:latin typeface="DejaVu Sans"/>
                <a:ea typeface="DejaVu Sans"/>
                <a:cs typeface="DejaVu Sans"/>
              </a:defRPr>
            </a:pPr>
            <a:r>
              <a:rPr sz="1800" b="1">
                <a:solidFill>
                  <a:srgbClr val="2D63FF"/>
                </a:solidFill>
                <a:latin typeface="DejaVu Sans"/>
                <a:ea typeface="DejaVu Sans"/>
                <a:cs typeface="DejaVu Sans"/>
              </a:rPr>
              <a:t>4.</a:t>
            </a:r>
          </a:p>
        </p:txBody>
      </p:sp>
      <p:sp>
        <p:nvSpPr>
          <p:cNvPr id="13" name="item-4">
            <a:extLst xmlns:a="http://schemas.openxmlformats.org/drawingml/2006/main">
              <a:ext uri="{FF2B5EF4-FFF2-40B4-BE49-F238E27FC236}">
                <a16:creationId xmlns:a16="http://schemas.microsoft.com/office/drawing/2014/main" id="{388EB5B9-7940-4D1D-83E9-07918240EE75}"/>
              </a:ext>
            </a:extLst>
          </p:cNvPr>
          <p:cNvSpPr>
            <a:spLocks xmlns:a="http://schemas.openxmlformats.org/drawingml/2006/main" noGrp="1"/>
          </p:cNvSpPr>
          <p:nvPr/>
        </p:nvSpPr>
        <p:spPr>
          <a:xfrm xmlns:a="http://schemas.openxmlformats.org/drawingml/2006/main">
            <a:off x="1352550" y="4848225"/>
            <a:ext cx="99250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Other people use the public key to encrypt for the owner. The matching private key decrypts, so exposing it would let an attacker read protected messages.</a:t>
            </a:r>
          </a:p>
        </p:txBody>
      </p:sp>
    </p:spTree>
    <p:extLst>
      <p:ext uri="{BB962C8B-B14F-4D97-AF65-F5344CB8AC3E}">
        <p14:creationId xmlns:p14="http://schemas.microsoft.com/office/powerpoint/2010/main" val="79151950"/>
      </p:ext>
    </p:extLst>
  </p:cSld>
</p:sld>
</file>

<file path=ppt/slides/slide11.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3" name="footer background">
            <a:extLst xmlns:a="http://schemas.openxmlformats.org/drawingml/2006/main">
              <a:ext uri="{FF2B5EF4-FFF2-40B4-BE49-F238E27FC236}">
                <a16:creationId xmlns:a16="http://schemas.microsoft.com/office/drawing/2014/main" id="{29DABCD2-5DA8-4B9D-8D09-9E6C346904D2}"/>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8ECD0DB5-59AF-4FBA-B339-AFFBF33C96A7}"/>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1.3   /   LESSON 10   /   ANSWERS</a:t>
            </a:r>
          </a:p>
        </p:txBody>
      </p:sp>
      <p:sp>
        <p:nvSpPr>
          <p:cNvPr id="3" name="heading">
            <a:extLst xmlns:a="http://schemas.openxmlformats.org/drawingml/2006/main">
              <a:ext uri="{FF2B5EF4-FFF2-40B4-BE49-F238E27FC236}">
                <a16:creationId xmlns:a16="http://schemas.microsoft.com/office/drawing/2014/main" id="{C805FA8F-1D09-409B-9B46-57A71C732C12}"/>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After the experience: stations 1–3</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4534d44f0494b00"/>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5041382C-7C16-4F93-8EF0-FFAA619C8F40}"/>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11 / 19</a:t>
            </a:r>
          </a:p>
        </p:txBody>
      </p:sp>
      <p:sp>
        <p:nvSpPr>
          <p:cNvPr id="6" name="station-intro">
            <a:extLst xmlns:a="http://schemas.openxmlformats.org/drawingml/2006/main">
              <a:ext uri="{FF2B5EF4-FFF2-40B4-BE49-F238E27FC236}">
                <a16:creationId xmlns:a16="http://schemas.microsoft.com/office/drawing/2014/main" id="{7BD7DC4F-0530-4831-889A-53BE85988330}"/>
              </a:ext>
            </a:extLst>
          </p:cNvPr>
          <p:cNvSpPr>
            <a:spLocks xmlns:a="http://schemas.openxmlformats.org/drawingml/2006/main" noGrp="1"/>
          </p:cNvSpPr>
          <p:nvPr/>
        </p:nvSpPr>
        <p:spPr>
          <a:xfrm xmlns:a="http://schemas.openxmlformats.org/drawingml/2006/main">
            <a:off x="704850" y="15430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Check your key facts and challenge responses.</a:t>
            </a:r>
          </a:p>
        </p:txBody>
      </p:sp>
      <p:sp>
        <p:nvSpPr>
          <p:cNvPr id="7" name="station-name-0">
            <a:extLst xmlns:a="http://schemas.openxmlformats.org/drawingml/2006/main">
              <a:ext uri="{FF2B5EF4-FFF2-40B4-BE49-F238E27FC236}">
                <a16:creationId xmlns:a16="http://schemas.microsoft.com/office/drawing/2014/main" id="{4421C1A9-9604-49E3-B090-DE12E487C9FC}"/>
              </a:ext>
            </a:extLst>
          </p:cNvPr>
          <p:cNvSpPr>
            <a:spLocks xmlns:a="http://schemas.openxmlformats.org/drawingml/2006/main" noGrp="1"/>
          </p:cNvSpPr>
          <p:nvPr/>
        </p:nvSpPr>
        <p:spPr>
          <a:xfrm xmlns:a="http://schemas.openxmlformats.org/drawingml/2006/main">
            <a:off x="723900" y="217170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1  Why encrypt?</a:t>
            </a:r>
          </a:p>
        </p:txBody>
      </p:sp>
      <p:sp>
        <p:nvSpPr>
          <p:cNvPr id="8" name="station-answer-0">
            <a:extLst xmlns:a="http://schemas.openxmlformats.org/drawingml/2006/main">
              <a:ext uri="{FF2B5EF4-FFF2-40B4-BE49-F238E27FC236}">
                <a16:creationId xmlns:a16="http://schemas.microsoft.com/office/drawing/2014/main" id="{293DEBA5-78D4-4E00-B3C3-BAFD9C8F10F1}"/>
              </a:ext>
            </a:extLst>
          </p:cNvPr>
          <p:cNvSpPr>
            <a:spLocks xmlns:a="http://schemas.openxmlformats.org/drawingml/2006/main" noGrp="1"/>
          </p:cNvSpPr>
          <p:nvPr/>
        </p:nvSpPr>
        <p:spPr>
          <a:xfrm xmlns:a="http://schemas.openxmlformats.org/drawingml/2006/main">
            <a:off x="723900" y="257175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Encryption protects the confidentiality of data. Wireless radio traffic can be received by nearby devices, so protection matters.</a:t>
            </a:r>
          </a:p>
        </p:txBody>
      </p:sp>
      <p:sp>
        <p:nvSpPr>
          <p:cNvPr id="9" name="station-name-1">
            <a:extLst xmlns:a="http://schemas.openxmlformats.org/drawingml/2006/main">
              <a:ext uri="{FF2B5EF4-FFF2-40B4-BE49-F238E27FC236}">
                <a16:creationId xmlns:a16="http://schemas.microsoft.com/office/drawing/2014/main" id="{9307EE14-149D-4CD6-81BD-649C78F4253D}"/>
              </a:ext>
            </a:extLst>
          </p:cNvPr>
          <p:cNvSpPr>
            <a:spLocks xmlns:a="http://schemas.openxmlformats.org/drawingml/2006/main" noGrp="1"/>
          </p:cNvSpPr>
          <p:nvPr/>
        </p:nvSpPr>
        <p:spPr>
          <a:xfrm xmlns:a="http://schemas.openxmlformats.org/drawingml/2006/main">
            <a:off x="723900" y="345757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2  ROT13 and the Romans</a:t>
            </a:r>
          </a:p>
        </p:txBody>
      </p:sp>
      <p:sp>
        <p:nvSpPr>
          <p:cNvPr id="10" name="station-answer-1">
            <a:extLst xmlns:a="http://schemas.openxmlformats.org/drawingml/2006/main">
              <a:ext uri="{FF2B5EF4-FFF2-40B4-BE49-F238E27FC236}">
                <a16:creationId xmlns:a16="http://schemas.microsoft.com/office/drawing/2014/main" id="{D6AABB20-4E6C-4243-BA68-7D1CF353AEDE}"/>
              </a:ext>
            </a:extLst>
          </p:cNvPr>
          <p:cNvSpPr>
            <a:spLocks xmlns:a="http://schemas.openxmlformats.org/drawingml/2006/main" noGrp="1"/>
          </p:cNvSpPr>
          <p:nvPr/>
        </p:nvSpPr>
        <p:spPr>
          <a:xfrm xmlns:a="http://schemas.openxmlformats.org/drawingml/2006/main">
            <a:off x="723900" y="385762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URYYB JBEYQ in ROT13 is HELLO WORLD. ROT13 is weak because anyone can reverse the fixed shift.</a:t>
            </a:r>
          </a:p>
        </p:txBody>
      </p:sp>
      <p:sp>
        <p:nvSpPr>
          <p:cNvPr id="11" name="station-name-2">
            <a:extLst xmlns:a="http://schemas.openxmlformats.org/drawingml/2006/main">
              <a:ext uri="{FF2B5EF4-FFF2-40B4-BE49-F238E27FC236}">
                <a16:creationId xmlns:a16="http://schemas.microsoft.com/office/drawing/2014/main" id="{376C7422-F94F-46DD-AE26-AE15035604C9}"/>
              </a:ext>
            </a:extLst>
          </p:cNvPr>
          <p:cNvSpPr>
            <a:spLocks xmlns:a="http://schemas.openxmlformats.org/drawingml/2006/main" noGrp="1"/>
          </p:cNvSpPr>
          <p:nvPr/>
        </p:nvSpPr>
        <p:spPr>
          <a:xfrm xmlns:a="http://schemas.openxmlformats.org/drawingml/2006/main">
            <a:off x="723900" y="474345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3  Keys</a:t>
            </a:r>
          </a:p>
        </p:txBody>
      </p:sp>
      <p:sp>
        <p:nvSpPr>
          <p:cNvPr id="12" name="station-answer-2">
            <a:extLst xmlns:a="http://schemas.openxmlformats.org/drawingml/2006/main">
              <a:ext uri="{FF2B5EF4-FFF2-40B4-BE49-F238E27FC236}">
                <a16:creationId xmlns:a16="http://schemas.microsoft.com/office/drawing/2014/main" id="{A8227502-92E0-42AC-B274-D504B7B83998}"/>
              </a:ext>
            </a:extLst>
          </p:cNvPr>
          <p:cNvSpPr>
            <a:spLocks xmlns:a="http://schemas.openxmlformats.org/drawingml/2006/main" noGrp="1"/>
          </p:cNvSpPr>
          <p:nvPr/>
        </p:nvSpPr>
        <p:spPr>
          <a:xfrm xmlns:a="http://schemas.openxmlformats.org/drawingml/2006/main">
            <a:off x="723900" y="514350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The key controls encryption and decryption. Sending a secret key with the message lets an eavesdropper read both.</a:t>
            </a:r>
          </a:p>
        </p:txBody>
      </p:sp>
    </p:spTree>
    <p:extLst>
      <p:ext uri="{BB962C8B-B14F-4D97-AF65-F5344CB8AC3E}">
        <p14:creationId xmlns:p14="http://schemas.microsoft.com/office/powerpoint/2010/main" val="1357596722"/>
      </p:ext>
    </p:extLst>
  </p:cSld>
</p:sld>
</file>

<file path=ppt/slides/slide12.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3" name="footer background">
            <a:extLst xmlns:a="http://schemas.openxmlformats.org/drawingml/2006/main">
              <a:ext uri="{FF2B5EF4-FFF2-40B4-BE49-F238E27FC236}">
                <a16:creationId xmlns:a16="http://schemas.microsoft.com/office/drawing/2014/main" id="{FCFD0CAF-640A-494D-A3E6-C24A531EFDC3}"/>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91E0874E-0ED2-4792-B89A-C14BC60B88E5}"/>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1.3   /   LESSON 10   /   ANSWERS</a:t>
            </a:r>
          </a:p>
        </p:txBody>
      </p:sp>
      <p:sp>
        <p:nvSpPr>
          <p:cNvPr id="3" name="heading">
            <a:extLst xmlns:a="http://schemas.openxmlformats.org/drawingml/2006/main">
              <a:ext uri="{FF2B5EF4-FFF2-40B4-BE49-F238E27FC236}">
                <a16:creationId xmlns:a16="http://schemas.microsoft.com/office/drawing/2014/main" id="{C57EE3B2-CCE2-4E19-8D54-AA94D748040A}"/>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After the experience: stations 4–6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fcf4f14af164318"/>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EF1C7304-0FF4-48DD-AF92-C40C53BF37A5}"/>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12 / 19</a:t>
            </a:r>
          </a:p>
        </p:txBody>
      </p:sp>
      <p:sp>
        <p:nvSpPr>
          <p:cNvPr id="6" name="station-intro">
            <a:extLst xmlns:a="http://schemas.openxmlformats.org/drawingml/2006/main">
              <a:ext uri="{FF2B5EF4-FFF2-40B4-BE49-F238E27FC236}">
                <a16:creationId xmlns:a16="http://schemas.microsoft.com/office/drawing/2014/main" id="{FF409780-2959-4C24-8523-5FDE843DC3BF}"/>
              </a:ext>
            </a:extLst>
          </p:cNvPr>
          <p:cNvSpPr>
            <a:spLocks xmlns:a="http://schemas.openxmlformats.org/drawingml/2006/main" noGrp="1"/>
          </p:cNvSpPr>
          <p:nvPr/>
        </p:nvSpPr>
        <p:spPr>
          <a:xfrm xmlns:a="http://schemas.openxmlformats.org/drawingml/2006/main">
            <a:off x="704850" y="15430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Check your key facts and challenge responses.</a:t>
            </a:r>
          </a:p>
        </p:txBody>
      </p:sp>
      <p:sp>
        <p:nvSpPr>
          <p:cNvPr id="7" name="station-name-3">
            <a:extLst xmlns:a="http://schemas.openxmlformats.org/drawingml/2006/main">
              <a:ext uri="{FF2B5EF4-FFF2-40B4-BE49-F238E27FC236}">
                <a16:creationId xmlns:a16="http://schemas.microsoft.com/office/drawing/2014/main" id="{0CD3DC20-1B1F-4A12-8C45-6655E43B1FE6}"/>
              </a:ext>
            </a:extLst>
          </p:cNvPr>
          <p:cNvSpPr>
            <a:spLocks xmlns:a="http://schemas.openxmlformats.org/drawingml/2006/main" noGrp="1"/>
          </p:cNvSpPr>
          <p:nvPr/>
        </p:nvSpPr>
        <p:spPr>
          <a:xfrm xmlns:a="http://schemas.openxmlformats.org/drawingml/2006/main">
            <a:off x="723900" y="217170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4  Public and private keys</a:t>
            </a:r>
          </a:p>
        </p:txBody>
      </p:sp>
      <p:sp>
        <p:nvSpPr>
          <p:cNvPr id="8" name="station-answer-3">
            <a:extLst xmlns:a="http://schemas.openxmlformats.org/drawingml/2006/main">
              <a:ext uri="{FF2B5EF4-FFF2-40B4-BE49-F238E27FC236}">
                <a16:creationId xmlns:a16="http://schemas.microsoft.com/office/drawing/2014/main" id="{50FCA209-78CA-464D-8DBB-50FFB3406DF3}"/>
              </a:ext>
            </a:extLst>
          </p:cNvPr>
          <p:cNvSpPr>
            <a:spLocks xmlns:a="http://schemas.openxmlformats.org/drawingml/2006/main" noGrp="1"/>
          </p:cNvSpPr>
          <p:nvPr/>
        </p:nvSpPr>
        <p:spPr>
          <a:xfrm xmlns:a="http://schemas.openxmlformats.org/drawingml/2006/main">
            <a:off x="723900" y="257175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The public key may be shared; the private key must stay with its owner. Leaking it lets another person decrypt data meant for the owner.</a:t>
            </a:r>
          </a:p>
        </p:txBody>
      </p:sp>
      <p:sp>
        <p:nvSpPr>
          <p:cNvPr id="9" name="station-name-4">
            <a:extLst xmlns:a="http://schemas.openxmlformats.org/drawingml/2006/main">
              <a:ext uri="{FF2B5EF4-FFF2-40B4-BE49-F238E27FC236}">
                <a16:creationId xmlns:a16="http://schemas.microsoft.com/office/drawing/2014/main" id="{22906C0B-7416-4C9F-9E6C-8F6568066BE3}"/>
              </a:ext>
            </a:extLst>
          </p:cNvPr>
          <p:cNvSpPr>
            <a:spLocks xmlns:a="http://schemas.openxmlformats.org/drawingml/2006/main" noGrp="1"/>
          </p:cNvSpPr>
          <p:nvPr/>
        </p:nvSpPr>
        <p:spPr>
          <a:xfrm xmlns:a="http://schemas.openxmlformats.org/drawingml/2006/main">
            <a:off x="723900" y="345757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5  The WPA2 handshake</a:t>
            </a:r>
          </a:p>
        </p:txBody>
      </p:sp>
      <p:sp>
        <p:nvSpPr>
          <p:cNvPr id="10" name="station-answer-4">
            <a:extLst xmlns:a="http://schemas.openxmlformats.org/drawingml/2006/main">
              <a:ext uri="{FF2B5EF4-FFF2-40B4-BE49-F238E27FC236}">
                <a16:creationId xmlns:a16="http://schemas.microsoft.com/office/drawing/2014/main" id="{751EDFCF-BE7F-4FFA-84B0-D49640920BA8}"/>
              </a:ext>
            </a:extLst>
          </p:cNvPr>
          <p:cNvSpPr>
            <a:spLocks xmlns:a="http://schemas.openxmlformats.org/drawingml/2006/main" noGrp="1"/>
          </p:cNvSpPr>
          <p:nvPr/>
        </p:nvSpPr>
        <p:spPr>
          <a:xfrm xmlns:a="http://schemas.openxmlformats.org/drawingml/2006/main">
            <a:off x="723900" y="3857625"/>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WPA2 authenticates a device and access point, then establishes protected communication without sending the Wi-Fi master password in the clear.</a:t>
            </a:r>
          </a:p>
        </p:txBody>
      </p:sp>
      <p:sp>
        <p:nvSpPr>
          <p:cNvPr id="11" name="station-name-5">
            <a:extLst xmlns:a="http://schemas.openxmlformats.org/drawingml/2006/main">
              <a:ext uri="{FF2B5EF4-FFF2-40B4-BE49-F238E27FC236}">
                <a16:creationId xmlns:a16="http://schemas.microsoft.com/office/drawing/2014/main" id="{46877191-F234-4469-9E40-8B1C83FCD609}"/>
              </a:ext>
            </a:extLst>
          </p:cNvPr>
          <p:cNvSpPr>
            <a:spLocks xmlns:a="http://schemas.openxmlformats.org/drawingml/2006/main" noGrp="1"/>
          </p:cNvSpPr>
          <p:nvPr/>
        </p:nvSpPr>
        <p:spPr>
          <a:xfrm xmlns:a="http://schemas.openxmlformats.org/drawingml/2006/main">
            <a:off x="723900" y="474345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D63FF"/>
                </a:solidFill>
                <a:latin typeface="DejaVu Sans"/>
                <a:ea typeface="DejaVu Sans"/>
                <a:cs typeface="DejaVu Sans"/>
              </a:defRPr>
            </a:pPr>
            <a:r>
              <a:rPr sz="1950" b="1">
                <a:solidFill>
                  <a:srgbClr val="2D63FF"/>
                </a:solidFill>
                <a:latin typeface="DejaVu Sans"/>
                <a:ea typeface="DejaVu Sans"/>
                <a:cs typeface="DejaVu Sans"/>
              </a:rPr>
              <a:t>6  Staying safe on Wi-Fi</a:t>
            </a:r>
          </a:p>
        </p:txBody>
      </p:sp>
      <p:sp>
        <p:nvSpPr>
          <p:cNvPr id="12" name="station-answer-5">
            <a:extLst xmlns:a="http://schemas.openxmlformats.org/drawingml/2006/main">
              <a:ext uri="{FF2B5EF4-FFF2-40B4-BE49-F238E27FC236}">
                <a16:creationId xmlns:a16="http://schemas.microsoft.com/office/drawing/2014/main" id="{22145BC1-918E-400E-B609-ACBCE50E6234}"/>
              </a:ext>
            </a:extLst>
          </p:cNvPr>
          <p:cNvSpPr>
            <a:spLocks xmlns:a="http://schemas.openxmlformats.org/drawingml/2006/main" noGrp="1"/>
          </p:cNvSpPr>
          <p:nvPr/>
        </p:nvSpPr>
        <p:spPr>
          <a:xfrm xmlns:a="http://schemas.openxmlformats.org/drawingml/2006/main">
            <a:off x="723900" y="5143500"/>
            <a:ext cx="1047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1828"/>
                </a:solidFill>
                <a:latin typeface="DejaVu Sans"/>
                <a:ea typeface="DejaVu Sans"/>
                <a:cs typeface="DejaVu Sans"/>
              </a:defRPr>
            </a:pPr>
            <a:r>
              <a:rPr sz="1725" b="0">
                <a:solidFill>
                  <a:srgbClr val="101828"/>
                </a:solidFill>
                <a:latin typeface="DejaVu Sans"/>
                <a:ea typeface="DejaVu Sans"/>
                <a:cs typeface="DejaVu Sans"/>
              </a:rPr>
              <a:t>Open café Wi-Fi may expose traffic to interception or fake access points. Use trusted encrypted connections and avoid sensitive tasks on an untrusted network.</a:t>
            </a:r>
          </a:p>
        </p:txBody>
      </p:sp>
    </p:spTree>
    <p:extLst>
      <p:ext uri="{BB962C8B-B14F-4D97-AF65-F5344CB8AC3E}">
        <p14:creationId xmlns:p14="http://schemas.microsoft.com/office/powerpoint/2010/main" val="1698053730"/>
      </p:ext>
    </p:extLst>
  </p:cSld>
</p:sld>
</file>

<file path=ppt/slides/slide13.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4" name="footer background">
            <a:extLst xmlns:a="http://schemas.openxmlformats.org/drawingml/2006/main">
              <a:ext uri="{FF2B5EF4-FFF2-40B4-BE49-F238E27FC236}">
                <a16:creationId xmlns:a16="http://schemas.microsoft.com/office/drawing/2014/main" id="{5A69F9FE-E674-45AB-AE74-CBB1186AAFBE}"/>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ED3A34AA-C221-4D30-8436-554077655E93}"/>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1.3   /   LESSON 10   /   CHECK</a:t>
            </a:r>
          </a:p>
        </p:txBody>
      </p:sp>
      <p:sp>
        <p:nvSpPr>
          <p:cNvPr id="3" name="heading">
            <a:extLst xmlns:a="http://schemas.openxmlformats.org/drawingml/2006/main">
              <a:ext uri="{FF2B5EF4-FFF2-40B4-BE49-F238E27FC236}">
                <a16:creationId xmlns:a16="http://schemas.microsoft.com/office/drawing/2014/main" id="{86DB1083-7FE9-4CF2-9DA3-46425BA93C3D}"/>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Final challenge · answers 1–4</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b19db9a5e394f9e"/>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F6FC92F1-5128-4344-A4C7-EE1CB51A3976}"/>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13 / 19</a:t>
            </a:r>
          </a:p>
        </p:txBody>
      </p:sp>
      <p:sp>
        <p:nvSpPr>
          <p:cNvPr id="6" name="number-1">
            <a:extLst xmlns:a="http://schemas.openxmlformats.org/drawingml/2006/main">
              <a:ext uri="{FF2B5EF4-FFF2-40B4-BE49-F238E27FC236}">
                <a16:creationId xmlns:a16="http://schemas.microsoft.com/office/drawing/2014/main" id="{15707E09-1420-4552-8EE2-E4145A98B20C}"/>
              </a:ext>
            </a:extLst>
          </p:cNvPr>
          <p:cNvSpPr>
            <a:spLocks xmlns:a="http://schemas.openxmlformats.org/drawingml/2006/main" noGrp="1"/>
          </p:cNvSpPr>
          <p:nvPr/>
        </p:nvSpPr>
        <p:spPr>
          <a:xfrm xmlns:a="http://schemas.openxmlformats.org/drawingml/2006/main">
            <a:off x="723900" y="18192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D63FF"/>
                </a:solidFill>
                <a:latin typeface="DejaVu Sans"/>
                <a:ea typeface="DejaVu Sans"/>
                <a:cs typeface="DejaVu Sans"/>
              </a:defRPr>
            </a:pPr>
            <a:r>
              <a:rPr sz="1800" b="1">
                <a:solidFill>
                  <a:srgbClr val="2D63FF"/>
                </a:solidFill>
                <a:latin typeface="DejaVu Sans"/>
                <a:ea typeface="DejaVu Sans"/>
                <a:cs typeface="DejaVu Sans"/>
              </a:rPr>
              <a:t>1.</a:t>
            </a:r>
          </a:p>
        </p:txBody>
      </p:sp>
      <p:sp>
        <p:nvSpPr>
          <p:cNvPr id="7" name="item-1">
            <a:extLst xmlns:a="http://schemas.openxmlformats.org/drawingml/2006/main">
              <a:ext uri="{FF2B5EF4-FFF2-40B4-BE49-F238E27FC236}">
                <a16:creationId xmlns:a16="http://schemas.microsoft.com/office/drawing/2014/main" id="{2A7ADB57-6D1E-4BAC-943A-63E337A8CB48}"/>
              </a:ext>
            </a:extLst>
          </p:cNvPr>
          <p:cNvSpPr>
            <a:spLocks xmlns:a="http://schemas.openxmlformats.org/drawingml/2006/main" noGrp="1"/>
          </p:cNvSpPr>
          <p:nvPr/>
        </p:nvSpPr>
        <p:spPr>
          <a:xfrm xmlns:a="http://schemas.openxmlformats.org/drawingml/2006/main">
            <a:off x="1352550" y="1819275"/>
            <a:ext cx="99250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Plaintext → The original, readable message</a:t>
            </a:r>
          </a:p>
        </p:txBody>
      </p:sp>
      <p:sp>
        <p:nvSpPr>
          <p:cNvPr id="8" name="number-2">
            <a:extLst xmlns:a="http://schemas.openxmlformats.org/drawingml/2006/main">
              <a:ext uri="{FF2B5EF4-FFF2-40B4-BE49-F238E27FC236}">
                <a16:creationId xmlns:a16="http://schemas.microsoft.com/office/drawing/2014/main" id="{DDFBA922-94D0-4E3E-B31B-5E0E168F09ED}"/>
              </a:ext>
            </a:extLst>
          </p:cNvPr>
          <p:cNvSpPr>
            <a:spLocks xmlns:a="http://schemas.openxmlformats.org/drawingml/2006/main" noGrp="1"/>
          </p:cNvSpPr>
          <p:nvPr/>
        </p:nvSpPr>
        <p:spPr>
          <a:xfrm xmlns:a="http://schemas.openxmlformats.org/drawingml/2006/main">
            <a:off x="723900" y="27813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D63FF"/>
                </a:solidFill>
                <a:latin typeface="DejaVu Sans"/>
                <a:ea typeface="DejaVu Sans"/>
                <a:cs typeface="DejaVu Sans"/>
              </a:defRPr>
            </a:pPr>
            <a:r>
              <a:rPr sz="1800" b="1">
                <a:solidFill>
                  <a:srgbClr val="2D63FF"/>
                </a:solidFill>
                <a:latin typeface="DejaVu Sans"/>
                <a:ea typeface="DejaVu Sans"/>
                <a:cs typeface="DejaVu Sans"/>
              </a:rPr>
              <a:t>2.</a:t>
            </a:r>
          </a:p>
        </p:txBody>
      </p:sp>
      <p:sp>
        <p:nvSpPr>
          <p:cNvPr id="9" name="item-2">
            <a:extLst xmlns:a="http://schemas.openxmlformats.org/drawingml/2006/main">
              <a:ext uri="{FF2B5EF4-FFF2-40B4-BE49-F238E27FC236}">
                <a16:creationId xmlns:a16="http://schemas.microsoft.com/office/drawing/2014/main" id="{3D68203E-EDBB-4DEC-94A5-8BCCD189E7A0}"/>
              </a:ext>
            </a:extLst>
          </p:cNvPr>
          <p:cNvSpPr>
            <a:spLocks xmlns:a="http://schemas.openxmlformats.org/drawingml/2006/main" noGrp="1"/>
          </p:cNvSpPr>
          <p:nvPr/>
        </p:nvSpPr>
        <p:spPr>
          <a:xfrm xmlns:a="http://schemas.openxmlformats.org/drawingml/2006/main">
            <a:off x="1352550" y="2781300"/>
            <a:ext cx="99250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Ciphertext → The scrambled message</a:t>
            </a:r>
          </a:p>
        </p:txBody>
      </p:sp>
      <p:sp>
        <p:nvSpPr>
          <p:cNvPr id="10" name="number-3">
            <a:extLst xmlns:a="http://schemas.openxmlformats.org/drawingml/2006/main">
              <a:ext uri="{FF2B5EF4-FFF2-40B4-BE49-F238E27FC236}">
                <a16:creationId xmlns:a16="http://schemas.microsoft.com/office/drawing/2014/main" id="{03EE0A34-B7BB-403F-A0B1-F8370075BBA3}"/>
              </a:ext>
            </a:extLst>
          </p:cNvPr>
          <p:cNvSpPr>
            <a:spLocks xmlns:a="http://schemas.openxmlformats.org/drawingml/2006/main" noGrp="1"/>
          </p:cNvSpPr>
          <p:nvPr/>
        </p:nvSpPr>
        <p:spPr>
          <a:xfrm xmlns:a="http://schemas.openxmlformats.org/drawingml/2006/main">
            <a:off x="723900" y="374332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D63FF"/>
                </a:solidFill>
                <a:latin typeface="DejaVu Sans"/>
                <a:ea typeface="DejaVu Sans"/>
                <a:cs typeface="DejaVu Sans"/>
              </a:defRPr>
            </a:pPr>
            <a:r>
              <a:rPr sz="1800" b="1">
                <a:solidFill>
                  <a:srgbClr val="2D63FF"/>
                </a:solidFill>
                <a:latin typeface="DejaVu Sans"/>
                <a:ea typeface="DejaVu Sans"/>
                <a:cs typeface="DejaVu Sans"/>
              </a:rPr>
              <a:t>3.</a:t>
            </a:r>
          </a:p>
        </p:txBody>
      </p:sp>
      <p:sp>
        <p:nvSpPr>
          <p:cNvPr id="11" name="item-3">
            <a:extLst xmlns:a="http://schemas.openxmlformats.org/drawingml/2006/main">
              <a:ext uri="{FF2B5EF4-FFF2-40B4-BE49-F238E27FC236}">
                <a16:creationId xmlns:a16="http://schemas.microsoft.com/office/drawing/2014/main" id="{F03B8B37-4714-4B23-872E-3FD410A71DA6}"/>
              </a:ext>
            </a:extLst>
          </p:cNvPr>
          <p:cNvSpPr>
            <a:spLocks xmlns:a="http://schemas.openxmlformats.org/drawingml/2006/main" noGrp="1"/>
          </p:cNvSpPr>
          <p:nvPr/>
        </p:nvSpPr>
        <p:spPr>
          <a:xfrm xmlns:a="http://schemas.openxmlformats.org/drawingml/2006/main">
            <a:off x="1352550" y="3743325"/>
            <a:ext cx="99250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Key → The secret used to encrypt and decrypt</a:t>
            </a:r>
          </a:p>
        </p:txBody>
      </p:sp>
      <p:sp>
        <p:nvSpPr>
          <p:cNvPr id="12" name="number-4">
            <a:extLst xmlns:a="http://schemas.openxmlformats.org/drawingml/2006/main">
              <a:ext uri="{FF2B5EF4-FFF2-40B4-BE49-F238E27FC236}">
                <a16:creationId xmlns:a16="http://schemas.microsoft.com/office/drawing/2014/main" id="{E0348169-7F4A-4A9F-81F7-A27CA50D9A76}"/>
              </a:ext>
            </a:extLst>
          </p:cNvPr>
          <p:cNvSpPr>
            <a:spLocks xmlns:a="http://schemas.openxmlformats.org/drawingml/2006/main" noGrp="1"/>
          </p:cNvSpPr>
          <p:nvPr/>
        </p:nvSpPr>
        <p:spPr>
          <a:xfrm xmlns:a="http://schemas.openxmlformats.org/drawingml/2006/main">
            <a:off x="723900" y="470535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D63FF"/>
                </a:solidFill>
                <a:latin typeface="DejaVu Sans"/>
                <a:ea typeface="DejaVu Sans"/>
                <a:cs typeface="DejaVu Sans"/>
              </a:defRPr>
            </a:pPr>
            <a:r>
              <a:rPr sz="1800" b="1">
                <a:solidFill>
                  <a:srgbClr val="2D63FF"/>
                </a:solidFill>
                <a:latin typeface="DejaVu Sans"/>
                <a:ea typeface="DejaVu Sans"/>
                <a:cs typeface="DejaVu Sans"/>
              </a:rPr>
              <a:t>4.</a:t>
            </a:r>
          </a:p>
        </p:txBody>
      </p:sp>
      <p:sp>
        <p:nvSpPr>
          <p:cNvPr id="13" name="item-4">
            <a:extLst xmlns:a="http://schemas.openxmlformats.org/drawingml/2006/main">
              <a:ext uri="{FF2B5EF4-FFF2-40B4-BE49-F238E27FC236}">
                <a16:creationId xmlns:a16="http://schemas.microsoft.com/office/drawing/2014/main" id="{B048762C-C9C6-4DA9-A4F7-8AF2D805E343}"/>
              </a:ext>
            </a:extLst>
          </p:cNvPr>
          <p:cNvSpPr>
            <a:spLocks xmlns:a="http://schemas.openxmlformats.org/drawingml/2006/main" noGrp="1"/>
          </p:cNvSpPr>
          <p:nvPr/>
        </p:nvSpPr>
        <p:spPr>
          <a:xfrm xmlns:a="http://schemas.openxmlformats.org/drawingml/2006/main">
            <a:off x="1352550" y="4705350"/>
            <a:ext cx="99250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Public key → Shared with anyone and used to encrypt</a:t>
            </a:r>
          </a:p>
        </p:txBody>
      </p:sp>
    </p:spTree>
    <p:extLst>
      <p:ext uri="{BB962C8B-B14F-4D97-AF65-F5344CB8AC3E}">
        <p14:creationId xmlns:p14="http://schemas.microsoft.com/office/powerpoint/2010/main" val="526489685"/>
      </p:ext>
    </p:extLst>
  </p:cSld>
</p:sld>
</file>

<file path=ppt/slides/slide14.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0" name="footer background">
            <a:extLst xmlns:a="http://schemas.openxmlformats.org/drawingml/2006/main">
              <a:ext uri="{FF2B5EF4-FFF2-40B4-BE49-F238E27FC236}">
                <a16:creationId xmlns:a16="http://schemas.microsoft.com/office/drawing/2014/main" id="{2EBF401D-D0AC-41A3-B91F-4C87D7DEE14A}"/>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B219B5F8-1984-4424-B38C-D8CD10DFC719}"/>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1.3   /   LESSON 10   /   CHECK</a:t>
            </a:r>
          </a:p>
        </p:txBody>
      </p:sp>
      <p:sp>
        <p:nvSpPr>
          <p:cNvPr id="3" name="heading">
            <a:extLst xmlns:a="http://schemas.openxmlformats.org/drawingml/2006/main">
              <a:ext uri="{FF2B5EF4-FFF2-40B4-BE49-F238E27FC236}">
                <a16:creationId xmlns:a16="http://schemas.microsoft.com/office/drawing/2014/main" id="{B307676A-5E92-4F2A-BC3A-0219F1829723}"/>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Final challenge · answers 5–6</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2fdc98dafa048b9"/>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89255648-A065-46BF-BF0F-162BB24B7A7B}"/>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14 / 19</a:t>
            </a:r>
          </a:p>
        </p:txBody>
      </p:sp>
      <p:sp>
        <p:nvSpPr>
          <p:cNvPr id="6" name="number-5">
            <a:extLst xmlns:a="http://schemas.openxmlformats.org/drawingml/2006/main">
              <a:ext uri="{FF2B5EF4-FFF2-40B4-BE49-F238E27FC236}">
                <a16:creationId xmlns:a16="http://schemas.microsoft.com/office/drawing/2014/main" id="{AB050570-3265-4AAE-A1B4-184E513F3859}"/>
              </a:ext>
            </a:extLst>
          </p:cNvPr>
          <p:cNvSpPr>
            <a:spLocks xmlns:a="http://schemas.openxmlformats.org/drawingml/2006/main" noGrp="1"/>
          </p:cNvSpPr>
          <p:nvPr/>
        </p:nvSpPr>
        <p:spPr>
          <a:xfrm xmlns:a="http://schemas.openxmlformats.org/drawingml/2006/main">
            <a:off x="723900" y="18192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D63FF"/>
                </a:solidFill>
                <a:latin typeface="DejaVu Sans"/>
                <a:ea typeface="DejaVu Sans"/>
                <a:cs typeface="DejaVu Sans"/>
              </a:defRPr>
            </a:pPr>
            <a:r>
              <a:rPr sz="1800" b="1">
                <a:solidFill>
                  <a:srgbClr val="2D63FF"/>
                </a:solidFill>
                <a:latin typeface="DejaVu Sans"/>
                <a:ea typeface="DejaVu Sans"/>
                <a:cs typeface="DejaVu Sans"/>
              </a:rPr>
              <a:t>5.</a:t>
            </a:r>
          </a:p>
        </p:txBody>
      </p:sp>
      <p:sp>
        <p:nvSpPr>
          <p:cNvPr id="7" name="item-5">
            <a:extLst xmlns:a="http://schemas.openxmlformats.org/drawingml/2006/main">
              <a:ext uri="{FF2B5EF4-FFF2-40B4-BE49-F238E27FC236}">
                <a16:creationId xmlns:a16="http://schemas.microsoft.com/office/drawing/2014/main" id="{D0FF3363-642D-4355-8419-80D57E6E6829}"/>
              </a:ext>
            </a:extLst>
          </p:cNvPr>
          <p:cNvSpPr>
            <a:spLocks xmlns:a="http://schemas.openxmlformats.org/drawingml/2006/main" noGrp="1"/>
          </p:cNvSpPr>
          <p:nvPr/>
        </p:nvSpPr>
        <p:spPr>
          <a:xfrm xmlns:a="http://schemas.openxmlformats.org/drawingml/2006/main">
            <a:off x="1352550" y="1819275"/>
            <a:ext cx="99250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Private key → Kept secret and used to decrypt</a:t>
            </a:r>
          </a:p>
        </p:txBody>
      </p:sp>
      <p:sp>
        <p:nvSpPr>
          <p:cNvPr id="8" name="number-6">
            <a:extLst xmlns:a="http://schemas.openxmlformats.org/drawingml/2006/main">
              <a:ext uri="{FF2B5EF4-FFF2-40B4-BE49-F238E27FC236}">
                <a16:creationId xmlns:a16="http://schemas.microsoft.com/office/drawing/2014/main" id="{4F76B0E0-F818-41F0-8DF5-B48319FF9CD5}"/>
              </a:ext>
            </a:extLst>
          </p:cNvPr>
          <p:cNvSpPr>
            <a:spLocks xmlns:a="http://schemas.openxmlformats.org/drawingml/2006/main" noGrp="1"/>
          </p:cNvSpPr>
          <p:nvPr/>
        </p:nvSpPr>
        <p:spPr>
          <a:xfrm xmlns:a="http://schemas.openxmlformats.org/drawingml/2006/main">
            <a:off x="723900" y="3533775"/>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D63FF"/>
                </a:solidFill>
                <a:latin typeface="DejaVu Sans"/>
                <a:ea typeface="DejaVu Sans"/>
                <a:cs typeface="DejaVu Sans"/>
              </a:defRPr>
            </a:pPr>
            <a:r>
              <a:rPr sz="1800" b="1">
                <a:solidFill>
                  <a:srgbClr val="2D63FF"/>
                </a:solidFill>
                <a:latin typeface="DejaVu Sans"/>
                <a:ea typeface="DejaVu Sans"/>
                <a:cs typeface="DejaVu Sans"/>
              </a:rPr>
              <a:t>6.</a:t>
            </a:r>
          </a:p>
        </p:txBody>
      </p:sp>
      <p:sp>
        <p:nvSpPr>
          <p:cNvPr id="9" name="item-6">
            <a:extLst xmlns:a="http://schemas.openxmlformats.org/drawingml/2006/main">
              <a:ext uri="{FF2B5EF4-FFF2-40B4-BE49-F238E27FC236}">
                <a16:creationId xmlns:a16="http://schemas.microsoft.com/office/drawing/2014/main" id="{45A51890-32F0-4AA2-8E77-E5FA2EC8B4CF}"/>
              </a:ext>
            </a:extLst>
          </p:cNvPr>
          <p:cNvSpPr>
            <a:spLocks xmlns:a="http://schemas.openxmlformats.org/drawingml/2006/main" noGrp="1"/>
          </p:cNvSpPr>
          <p:nvPr/>
        </p:nvSpPr>
        <p:spPr>
          <a:xfrm xmlns:a="http://schemas.openxmlformats.org/drawingml/2006/main">
            <a:off x="1352550" y="3533775"/>
            <a:ext cx="99250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01828"/>
                </a:solidFill>
                <a:latin typeface="DejaVu Sans"/>
                <a:ea typeface="DejaVu Sans"/>
                <a:cs typeface="DejaVu Sans"/>
              </a:defRPr>
            </a:pPr>
            <a:r>
              <a:rPr sz="1800" b="0">
                <a:solidFill>
                  <a:srgbClr val="101828"/>
                </a:solidFill>
                <a:latin typeface="DejaVu Sans"/>
                <a:ea typeface="DejaVu Sans"/>
                <a:cs typeface="DejaVu Sans"/>
              </a:rPr>
              <a:t>Encryption → Scrambling data so it can't be read without the key</a:t>
            </a:r>
          </a:p>
        </p:txBody>
      </p:sp>
    </p:spTree>
    <p:extLst>
      <p:ext uri="{BB962C8B-B14F-4D97-AF65-F5344CB8AC3E}">
        <p14:creationId xmlns:p14="http://schemas.microsoft.com/office/powerpoint/2010/main" val="185537463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footer background">
            <a:extLst xmlns:a="http://schemas.openxmlformats.org/drawingml/2006/main">
              <a:ext uri="{FF2B5EF4-FFF2-40B4-BE49-F238E27FC236}">
                <a16:creationId xmlns:a16="http://schemas.microsoft.com/office/drawing/2014/main" id="{1142A5A6-4E21-43B4-B4A7-AA57239E74E7}"/>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818C96AE-0A12-468F-9869-12D2E8C23206}"/>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1.3   /   LESSON 10   /   PLENARY</a:t>
            </a:r>
          </a:p>
        </p:txBody>
      </p:sp>
      <p:sp>
        <p:nvSpPr>
          <p:cNvPr id="3" name="heading">
            <a:extLst xmlns:a="http://schemas.openxmlformats.org/drawingml/2006/main">
              <a:ext uri="{FF2B5EF4-FFF2-40B4-BE49-F238E27FC236}">
                <a16:creationId xmlns:a16="http://schemas.microsoft.com/office/drawing/2014/main" id="{9CE9DBE8-76F2-4D08-B65A-E866D0A8132E}"/>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Plenary: questions 1–2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1e82daa73f14fca"/>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5BB3916D-251B-46DF-A613-95C576AEABA4}"/>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15 / 19</a:t>
            </a:r>
          </a:p>
        </p:txBody>
      </p:sp>
      <p:sp>
        <p:nvSpPr>
          <p:cNvPr id="6" name="plenary-instruction">
            <a:extLst xmlns:a="http://schemas.openxmlformats.org/drawingml/2006/main">
              <a:ext uri="{FF2B5EF4-FFF2-40B4-BE49-F238E27FC236}">
                <a16:creationId xmlns:a16="http://schemas.microsoft.com/office/drawing/2014/main" id="{CDFEC4B7-0993-422B-B915-80A5B8609C99}"/>
              </a:ext>
            </a:extLst>
          </p:cNvPr>
          <p:cNvSpPr>
            <a:spLocks xmlns:a="http://schemas.openxmlformats.org/drawingml/2006/main" noGrp="1"/>
          </p:cNvSpPr>
          <p:nvPr/>
        </p:nvSpPr>
        <p:spPr>
          <a:xfrm xmlns:a="http://schemas.openxmlformats.org/drawingml/2006/main">
            <a:off x="704850" y="1562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Close the experience. Answer from memory on the worksheet.</a:t>
            </a:r>
          </a:p>
        </p:txBody>
      </p:sp>
      <p:sp>
        <p:nvSpPr>
          <p:cNvPr id="7" name="question-0">
            <a:extLst xmlns:a="http://schemas.openxmlformats.org/drawingml/2006/main">
              <a:ext uri="{FF2B5EF4-FFF2-40B4-BE49-F238E27FC236}">
                <a16:creationId xmlns:a16="http://schemas.microsoft.com/office/drawing/2014/main" id="{DA1BA6BC-0C56-43FA-AE7A-12508267B02C}"/>
              </a:ext>
            </a:extLst>
          </p:cNvPr>
          <p:cNvSpPr>
            <a:spLocks xmlns:a="http://schemas.openxmlformats.org/drawingml/2006/main" noGrp="1"/>
          </p:cNvSpPr>
          <p:nvPr/>
        </p:nvSpPr>
        <p:spPr>
          <a:xfrm xmlns:a="http://schemas.openxmlformats.org/drawingml/2006/main">
            <a:off x="723900" y="2533650"/>
            <a:ext cx="1047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01828"/>
                </a:solidFill>
                <a:latin typeface="DejaVu Sans"/>
                <a:ea typeface="DejaVu Sans"/>
                <a:cs typeface="DejaVu Sans"/>
              </a:defRPr>
            </a:pPr>
            <a:r>
              <a:rPr sz="2175" b="0">
                <a:solidFill>
                  <a:srgbClr val="101828"/>
                </a:solidFill>
                <a:latin typeface="DejaVu Sans"/>
                <a:ea typeface="DejaVu Sans"/>
                <a:cs typeface="DejaVu Sans"/>
              </a:rPr>
              <a:t>a)  Explain why wireless traffic needs encrypting more urgently than traffic on a cable.  [3]</a:t>
            </a:r>
          </a:p>
        </p:txBody>
      </p:sp>
      <p:sp>
        <p:nvSpPr>
          <p:cNvPr id="8" name="question-1">
            <a:extLst xmlns:a="http://schemas.openxmlformats.org/drawingml/2006/main">
              <a:ext uri="{FF2B5EF4-FFF2-40B4-BE49-F238E27FC236}">
                <a16:creationId xmlns:a16="http://schemas.microsoft.com/office/drawing/2014/main" id="{E6DEE450-1C49-4B6C-9576-4820D0D3A3D4}"/>
              </a:ext>
            </a:extLst>
          </p:cNvPr>
          <p:cNvSpPr>
            <a:spLocks xmlns:a="http://schemas.openxmlformats.org/drawingml/2006/main" noGrp="1"/>
          </p:cNvSpPr>
          <p:nvPr/>
        </p:nvSpPr>
        <p:spPr>
          <a:xfrm xmlns:a="http://schemas.openxmlformats.org/drawingml/2006/main">
            <a:off x="723900" y="4210050"/>
            <a:ext cx="1047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01828"/>
                </a:solidFill>
                <a:latin typeface="DejaVu Sans"/>
                <a:ea typeface="DejaVu Sans"/>
                <a:cs typeface="DejaVu Sans"/>
              </a:defRPr>
            </a:pPr>
            <a:r>
              <a:rPr sz="2175" b="0">
                <a:solidFill>
                  <a:srgbClr val="101828"/>
                </a:solidFill>
                <a:latin typeface="DejaVu Sans"/>
                <a:ea typeface="DejaVu Sans"/>
                <a:cs typeface="DejaVu Sans"/>
              </a:rPr>
              <a:t>b)  Describe how a public key and a private key are used together.  [4]</a:t>
            </a:r>
          </a:p>
        </p:txBody>
      </p:sp>
    </p:spTree>
    <p:extLst>
      <p:ext uri="{BB962C8B-B14F-4D97-AF65-F5344CB8AC3E}">
        <p14:creationId xmlns:p14="http://schemas.microsoft.com/office/powerpoint/2010/main" val="2815059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ooter background">
            <a:extLst xmlns:a="http://schemas.openxmlformats.org/drawingml/2006/main">
              <a:ext uri="{FF2B5EF4-FFF2-40B4-BE49-F238E27FC236}">
                <a16:creationId xmlns:a16="http://schemas.microsoft.com/office/drawing/2014/main" id="{4091CD29-38BA-485D-84DC-2EACE3DC83AE}"/>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A64BFCA4-92D6-4346-BD92-6BA70154DBB5}"/>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1.3   /   LESSON 10   /   PLENARY</a:t>
            </a:r>
          </a:p>
        </p:txBody>
      </p:sp>
      <p:sp>
        <p:nvSpPr>
          <p:cNvPr id="3" name="heading">
            <a:extLst xmlns:a="http://schemas.openxmlformats.org/drawingml/2006/main">
              <a:ext uri="{FF2B5EF4-FFF2-40B4-BE49-F238E27FC236}">
                <a16:creationId xmlns:a16="http://schemas.microsoft.com/office/drawing/2014/main" id="{DF9D3EDC-115C-494B-BD0E-90FE42B42B3B}"/>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Plenary: question 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fe34b13520c4d9b"/>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78725A78-7084-4374-9FED-BA0974FD82CF}"/>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16 / 19</a:t>
            </a:r>
          </a:p>
        </p:txBody>
      </p:sp>
      <p:sp>
        <p:nvSpPr>
          <p:cNvPr id="6" name="plenary-instruction">
            <a:extLst xmlns:a="http://schemas.openxmlformats.org/drawingml/2006/main">
              <a:ext uri="{FF2B5EF4-FFF2-40B4-BE49-F238E27FC236}">
                <a16:creationId xmlns:a16="http://schemas.microsoft.com/office/drawing/2014/main" id="{91ED3061-0E48-4076-9420-D75372ED58B4}"/>
              </a:ext>
            </a:extLst>
          </p:cNvPr>
          <p:cNvSpPr>
            <a:spLocks xmlns:a="http://schemas.openxmlformats.org/drawingml/2006/main" noGrp="1"/>
          </p:cNvSpPr>
          <p:nvPr/>
        </p:nvSpPr>
        <p:spPr>
          <a:xfrm xmlns:a="http://schemas.openxmlformats.org/drawingml/2006/main">
            <a:off x="704850" y="1562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174"/>
                </a:solidFill>
                <a:latin typeface="DejaVu Sans"/>
                <a:ea typeface="DejaVu Sans"/>
                <a:cs typeface="DejaVu Sans"/>
              </a:defRPr>
            </a:pPr>
            <a:r>
              <a:rPr sz="1875" b="0">
                <a:solidFill>
                  <a:srgbClr val="526174"/>
                </a:solidFill>
                <a:latin typeface="DejaVu Sans"/>
                <a:ea typeface="DejaVu Sans"/>
                <a:cs typeface="DejaVu Sans"/>
              </a:rPr>
              <a:t>Close the experience. Answer from memory on the worksheet.</a:t>
            </a:r>
          </a:p>
        </p:txBody>
      </p:sp>
      <p:sp>
        <p:nvSpPr>
          <p:cNvPr id="7" name="question">
            <a:extLst xmlns:a="http://schemas.openxmlformats.org/drawingml/2006/main">
              <a:ext uri="{FF2B5EF4-FFF2-40B4-BE49-F238E27FC236}">
                <a16:creationId xmlns:a16="http://schemas.microsoft.com/office/drawing/2014/main" id="{CC975602-95D9-4ADA-AC35-611EFBFA88C5}"/>
              </a:ext>
            </a:extLst>
          </p:cNvPr>
          <p:cNvSpPr>
            <a:spLocks xmlns:a="http://schemas.openxmlformats.org/drawingml/2006/main" noGrp="1"/>
          </p:cNvSpPr>
          <p:nvPr/>
        </p:nvSpPr>
        <p:spPr>
          <a:xfrm xmlns:a="http://schemas.openxmlformats.org/drawingml/2006/main">
            <a:off x="723900" y="2781300"/>
            <a:ext cx="10477500"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101828"/>
                </a:solidFill>
                <a:latin typeface="DejaVu Sans"/>
                <a:ea typeface="DejaVu Sans"/>
                <a:cs typeface="DejaVu Sans"/>
              </a:defRPr>
            </a:pPr>
            <a:r>
              <a:rPr sz="2475" b="0">
                <a:solidFill>
                  <a:srgbClr val="101828"/>
                </a:solidFill>
                <a:latin typeface="DejaVu Sans"/>
                <a:ea typeface="DejaVu Sans"/>
                <a:cs typeface="DejaVu Sans"/>
              </a:rPr>
              <a:t>c)  Explain why the Wi-Fi key itself is never sent between the device and the access point.  [3]</a:t>
            </a:r>
          </a:p>
        </p:txBody>
      </p:sp>
    </p:spTree>
    <p:extLst>
      <p:ext uri="{BB962C8B-B14F-4D97-AF65-F5344CB8AC3E}">
        <p14:creationId xmlns:p14="http://schemas.microsoft.com/office/powerpoint/2010/main" val="1164082805"/>
      </p:ext>
    </p:extLst>
  </p:cSld>
</p:sld>
</file>

<file path=ppt/slides/slide17.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9" name="footer background">
            <a:extLst xmlns:a="http://schemas.openxmlformats.org/drawingml/2006/main">
              <a:ext uri="{FF2B5EF4-FFF2-40B4-BE49-F238E27FC236}">
                <a16:creationId xmlns:a16="http://schemas.microsoft.com/office/drawing/2014/main" id="{3FA49976-0063-43FC-AF00-203D7C65CEF3}"/>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14FF1D15-8467-4F47-BEAB-200EE31CD654}"/>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1.3   /   LESSON 10   /   CHECK</a:t>
            </a:r>
          </a:p>
        </p:txBody>
      </p:sp>
      <p:sp>
        <p:nvSpPr>
          <p:cNvPr id="3" name="heading">
            <a:extLst xmlns:a="http://schemas.openxmlformats.org/drawingml/2006/main">
              <a:ext uri="{FF2B5EF4-FFF2-40B4-BE49-F238E27FC236}">
                <a16:creationId xmlns:a16="http://schemas.microsoft.com/office/drawing/2014/main" id="{68C53B91-7DBF-40B8-857F-F6A095392643}"/>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Plenary: answers 1–2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9e3f034c2a74373"/>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738A9C14-C455-48FF-B72C-F62CE6B89D14}"/>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17 / 19</a:t>
            </a:r>
          </a:p>
        </p:txBody>
      </p:sp>
      <p:sp>
        <p:nvSpPr>
          <p:cNvPr id="6" name="scheme-intro">
            <a:extLst xmlns:a="http://schemas.openxmlformats.org/drawingml/2006/main">
              <a:ext uri="{FF2B5EF4-FFF2-40B4-BE49-F238E27FC236}">
                <a16:creationId xmlns:a16="http://schemas.microsoft.com/office/drawing/2014/main" id="{9206C341-148A-4218-8B1B-200246C4D2C5}"/>
              </a:ext>
            </a:extLst>
          </p:cNvPr>
          <p:cNvSpPr>
            <a:spLocks xmlns:a="http://schemas.openxmlformats.org/drawingml/2006/main" noGrp="1"/>
          </p:cNvSpPr>
          <p:nvPr/>
        </p:nvSpPr>
        <p:spPr>
          <a:xfrm xmlns:a="http://schemas.openxmlformats.org/drawingml/2006/main">
            <a:off x="704850" y="15335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Indicative points. Credit accurate answers in students’ own words.</a:t>
            </a:r>
          </a:p>
        </p:txBody>
      </p:sp>
      <p:sp>
        <p:nvSpPr>
          <p:cNvPr id="7" name="answer-0">
            <a:extLst xmlns:a="http://schemas.openxmlformats.org/drawingml/2006/main">
              <a:ext uri="{FF2B5EF4-FFF2-40B4-BE49-F238E27FC236}">
                <a16:creationId xmlns:a16="http://schemas.microsoft.com/office/drawing/2014/main" id="{316503F0-0DB0-4D9A-9CFD-610F076B74DE}"/>
              </a:ext>
            </a:extLst>
          </p:cNvPr>
          <p:cNvSpPr>
            <a:spLocks xmlns:a="http://schemas.openxmlformats.org/drawingml/2006/main" noGrp="1"/>
          </p:cNvSpPr>
          <p:nvPr/>
        </p:nvSpPr>
        <p:spPr>
          <a:xfrm xmlns:a="http://schemas.openxmlformats.org/drawingml/2006/main">
            <a:off x="723900" y="2266950"/>
            <a:ext cx="10572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a) Wireless signals travel through the air and nearby people can capture them. Encryption makes intercepted data unreadable without the key, protecting confidential information.</a:t>
            </a:r>
          </a:p>
        </p:txBody>
      </p:sp>
      <p:sp>
        <p:nvSpPr>
          <p:cNvPr id="8" name="answer-1">
            <a:extLst xmlns:a="http://schemas.openxmlformats.org/drawingml/2006/main">
              <a:ext uri="{FF2B5EF4-FFF2-40B4-BE49-F238E27FC236}">
                <a16:creationId xmlns:a16="http://schemas.microsoft.com/office/drawing/2014/main" id="{AD9695EC-C791-4D43-AF4E-FE43F07ACAF6}"/>
              </a:ext>
            </a:extLst>
          </p:cNvPr>
          <p:cNvSpPr>
            <a:spLocks xmlns:a="http://schemas.openxmlformats.org/drawingml/2006/main" noGrp="1"/>
          </p:cNvSpPr>
          <p:nvPr/>
        </p:nvSpPr>
        <p:spPr>
          <a:xfrm xmlns:a="http://schemas.openxmlformats.org/drawingml/2006/main">
            <a:off x="723900" y="4048125"/>
            <a:ext cx="10572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01828"/>
                </a:solidFill>
                <a:latin typeface="DejaVu Sans"/>
                <a:ea typeface="DejaVu Sans"/>
                <a:cs typeface="DejaVu Sans"/>
              </a:defRPr>
            </a:pPr>
            <a:r>
              <a:rPr sz="1950" b="0">
                <a:solidFill>
                  <a:srgbClr val="101828"/>
                </a:solidFill>
                <a:latin typeface="DejaVu Sans"/>
                <a:ea typeface="DejaVu Sans"/>
                <a:cs typeface="DejaVu Sans"/>
              </a:rPr>
              <a:t>b) The owner shares the public key. A sender encrypts data with it; only the matching private key, kept secret by the owner, decrypts that data.</a:t>
            </a:r>
          </a:p>
        </p:txBody>
      </p:sp>
    </p:spTree>
    <p:extLst>
      <p:ext uri="{BB962C8B-B14F-4D97-AF65-F5344CB8AC3E}">
        <p14:creationId xmlns:p14="http://schemas.microsoft.com/office/powerpoint/2010/main" val="125302693"/>
      </p:ext>
    </p:extLst>
  </p:cSld>
</p:sld>
</file>

<file path=ppt/slides/slide18.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8" name="footer background">
            <a:extLst xmlns:a="http://schemas.openxmlformats.org/drawingml/2006/main">
              <a:ext uri="{FF2B5EF4-FFF2-40B4-BE49-F238E27FC236}">
                <a16:creationId xmlns:a16="http://schemas.microsoft.com/office/drawing/2014/main" id="{93796DC4-62EE-4E9E-A839-02D40F7E7BFE}"/>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BB90169F-73DD-4274-90C0-8B233D0480AC}"/>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1.3   /   LESSON 10   /   CHECK</a:t>
            </a:r>
          </a:p>
        </p:txBody>
      </p:sp>
      <p:sp>
        <p:nvSpPr>
          <p:cNvPr id="3" name="heading">
            <a:extLst xmlns:a="http://schemas.openxmlformats.org/drawingml/2006/main">
              <a:ext uri="{FF2B5EF4-FFF2-40B4-BE49-F238E27FC236}">
                <a16:creationId xmlns:a16="http://schemas.microsoft.com/office/drawing/2014/main" id="{7246B6F0-24EB-456F-8528-A3A976B56FB3}"/>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Plenary: answer 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44077bd69ff4b97"/>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4193B7CE-A0B5-48FE-99E9-4C5BC14234EC}"/>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18 / 19</a:t>
            </a:r>
          </a:p>
        </p:txBody>
      </p:sp>
      <p:sp>
        <p:nvSpPr>
          <p:cNvPr id="6" name="scheme-intro">
            <a:extLst xmlns:a="http://schemas.openxmlformats.org/drawingml/2006/main">
              <a:ext uri="{FF2B5EF4-FFF2-40B4-BE49-F238E27FC236}">
                <a16:creationId xmlns:a16="http://schemas.microsoft.com/office/drawing/2014/main" id="{2B8EC61C-DCB9-46F6-AE21-3391B0566D99}"/>
              </a:ext>
            </a:extLst>
          </p:cNvPr>
          <p:cNvSpPr>
            <a:spLocks xmlns:a="http://schemas.openxmlformats.org/drawingml/2006/main" noGrp="1"/>
          </p:cNvSpPr>
          <p:nvPr/>
        </p:nvSpPr>
        <p:spPr>
          <a:xfrm xmlns:a="http://schemas.openxmlformats.org/drawingml/2006/main">
            <a:off x="704850" y="15335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Indicative points. Credit accurate answers in students’ own words.</a:t>
            </a:r>
          </a:p>
        </p:txBody>
      </p:sp>
      <p:sp>
        <p:nvSpPr>
          <p:cNvPr id="7" name="answer">
            <a:extLst xmlns:a="http://schemas.openxmlformats.org/drawingml/2006/main">
              <a:ext uri="{FF2B5EF4-FFF2-40B4-BE49-F238E27FC236}">
                <a16:creationId xmlns:a16="http://schemas.microsoft.com/office/drawing/2014/main" id="{E05E40C9-AC1A-4D08-B4D6-9D894035C34B}"/>
              </a:ext>
            </a:extLst>
          </p:cNvPr>
          <p:cNvSpPr>
            <a:spLocks xmlns:a="http://schemas.openxmlformats.org/drawingml/2006/main" noGrp="1"/>
          </p:cNvSpPr>
          <p:nvPr/>
        </p:nvSpPr>
        <p:spPr>
          <a:xfrm xmlns:a="http://schemas.openxmlformats.org/drawingml/2006/main">
            <a:off x="723900" y="2714625"/>
            <a:ext cx="1057275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1828"/>
                </a:solidFill>
                <a:latin typeface="DejaVu Sans"/>
                <a:ea typeface="DejaVu Sans"/>
                <a:cs typeface="DejaVu Sans"/>
              </a:defRPr>
            </a:pPr>
            <a:r>
              <a:rPr sz="2100" b="0">
                <a:solidFill>
                  <a:srgbClr val="101828"/>
                </a:solidFill>
                <a:latin typeface="DejaVu Sans"/>
                <a:ea typeface="DejaVu Sans"/>
                <a:cs typeface="DejaVu Sans"/>
              </a:rPr>
              <a:t>c) If the Wi-Fi secret were sent over the air, an eavesdropper could capture it. The WPA2 handshake proves the devices know it and creates session protection without transmitting the master password in the clear.</a:t>
            </a:r>
          </a:p>
        </p:txBody>
      </p:sp>
    </p:spTree>
    <p:extLst>
      <p:ext uri="{BB962C8B-B14F-4D97-AF65-F5344CB8AC3E}">
        <p14:creationId xmlns:p14="http://schemas.microsoft.com/office/powerpoint/2010/main" val="209488473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ooter background">
            <a:extLst xmlns:a="http://schemas.openxmlformats.org/drawingml/2006/main">
              <a:ext uri="{FF2B5EF4-FFF2-40B4-BE49-F238E27FC236}">
                <a16:creationId xmlns:a16="http://schemas.microsoft.com/office/drawing/2014/main" id="{C181C908-8326-41DB-AFFC-7BE7CD9E1F08}"/>
              </a:ext>
            </a:extLst>
          </p:cNvPr>
          <p:cNvSpPr>
            <a:spLocks xmlns:a="http://schemas.openxmlformats.org/drawingml/2006/main" noGrp="1"/>
          </p:cNvSpPr>
          <p:nvPr/>
        </p:nvSpPr>
        <p:spPr>
          <a:xfrm xmlns:a="http://schemas.openxmlformats.org/drawingml/2006/main">
            <a:off x="0" y="6124575"/>
            <a:ext cx="12192000" cy="7334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topic">
            <a:extLst xmlns:a="http://schemas.openxmlformats.org/drawingml/2006/main">
              <a:ext uri="{FF2B5EF4-FFF2-40B4-BE49-F238E27FC236}">
                <a16:creationId xmlns:a16="http://schemas.microsoft.com/office/drawing/2014/main" id="{586FB3F9-288F-4902-852A-08BEE9F35AE1}"/>
              </a:ext>
            </a:extLst>
          </p:cNvPr>
          <p:cNvSpPr>
            <a:spLocks xmlns:a="http://schemas.openxmlformats.org/drawingml/2006/main" noGrp="1"/>
          </p:cNvSpPr>
          <p:nvPr/>
        </p:nvSpPr>
        <p:spPr>
          <a:xfrm xmlns:a="http://schemas.openxmlformats.org/drawingml/2006/main">
            <a:off x="666750" y="323850"/>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D63FF"/>
                </a:solidFill>
                <a:latin typeface="DejaVu Sans"/>
                <a:ea typeface="DejaVu Sans"/>
                <a:cs typeface="DejaVu Sans"/>
              </a:defRPr>
            </a:pPr>
            <a:r>
              <a:rPr sz="1125" b="1">
                <a:solidFill>
                  <a:srgbClr val="2D63FF"/>
                </a:solidFill>
                <a:latin typeface="DejaVu Sans"/>
                <a:ea typeface="DejaVu Sans"/>
                <a:cs typeface="DejaVu Sans"/>
              </a:rPr>
              <a:t>TOPIC 1.3   /   LESSON 10   /   SELF-CHECK</a:t>
            </a:r>
          </a:p>
        </p:txBody>
      </p:sp>
      <p:sp>
        <p:nvSpPr>
          <p:cNvPr id="3" name="heading">
            <a:extLst xmlns:a="http://schemas.openxmlformats.org/drawingml/2006/main">
              <a:ext uri="{FF2B5EF4-FFF2-40B4-BE49-F238E27FC236}">
                <a16:creationId xmlns:a16="http://schemas.microsoft.com/office/drawing/2014/main" id="{DFE56470-C3B5-494A-B96F-3218A3309F01}"/>
              </a:ext>
            </a:extLst>
          </p:cNvPr>
          <p:cNvSpPr>
            <a:spLocks xmlns:a="http://schemas.openxmlformats.org/drawingml/2006/main" noGrp="1"/>
          </p:cNvSpPr>
          <p:nvPr/>
        </p:nvSpPr>
        <p:spPr>
          <a:xfrm xmlns:a="http://schemas.openxmlformats.org/drawingml/2006/main">
            <a:off x="666750" y="7620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01828"/>
                </a:solidFill>
                <a:latin typeface="DejaVu Sans"/>
                <a:ea typeface="DejaVu Sans"/>
                <a:cs typeface="DejaVu Sans"/>
              </a:defRPr>
            </a:pPr>
            <a:r>
              <a:rPr sz="3225" b="1">
                <a:solidFill>
                  <a:srgbClr val="101828"/>
                </a:solidFill>
                <a:latin typeface="DejaVu Sans"/>
                <a:ea typeface="DejaVu Sans"/>
                <a:cs typeface="DejaVu Sans"/>
              </a:rPr>
              <a:t>How confident am I?</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5fecfcf17a74bbd"/>
          <a:stretch xmlns:a="http://schemas.openxmlformats.org/drawingml/2006/main"/>
        </p:blipFill>
        <p:spPr>
          <a:xfrm xmlns:a="http://schemas.openxmlformats.org/drawingml/2006/main">
            <a:off x="666750" y="6241242"/>
            <a:ext cx="2038350" cy="395316"/>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1AA730E2-38B4-4238-B638-0C2E35963FB1}"/>
              </a:ext>
            </a:extLst>
          </p:cNvPr>
          <p:cNvSpPr>
            <a:spLocks xmlns:a="http://schemas.openxmlformats.org/drawingml/2006/main" noGrp="1"/>
          </p:cNvSpPr>
          <p:nvPr/>
        </p:nvSpPr>
        <p:spPr>
          <a:xfrm xmlns:a="http://schemas.openxmlformats.org/drawingml/2006/main">
            <a:off x="10668000" y="64008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26174"/>
                </a:solidFill>
                <a:latin typeface="DejaVu Sans"/>
                <a:ea typeface="DejaVu Sans"/>
                <a:cs typeface="DejaVu Sans"/>
              </a:defRPr>
            </a:pPr>
            <a:r>
              <a:rPr sz="1050" b="0">
                <a:solidFill>
                  <a:srgbClr val="526174"/>
                </a:solidFill>
                <a:latin typeface="DejaVu Sans"/>
                <a:ea typeface="DejaVu Sans"/>
                <a:cs typeface="DejaVu Sans"/>
              </a:rPr>
              <a:t>19 / 19</a:t>
            </a:r>
          </a:p>
        </p:txBody>
      </p:sp>
      <p:sp>
        <p:nvSpPr>
          <p:cNvPr id="6" name="confidence-intro">
            <a:extLst xmlns:a="http://schemas.openxmlformats.org/drawingml/2006/main">
              <a:ext uri="{FF2B5EF4-FFF2-40B4-BE49-F238E27FC236}">
                <a16:creationId xmlns:a16="http://schemas.microsoft.com/office/drawing/2014/main" id="{189EFE78-33DB-43E2-BAB3-8DE3EBF84D68}"/>
              </a:ext>
            </a:extLst>
          </p:cNvPr>
          <p:cNvSpPr>
            <a:spLocks xmlns:a="http://schemas.openxmlformats.org/drawingml/2006/main" noGrp="1"/>
          </p:cNvSpPr>
          <p:nvPr/>
        </p:nvSpPr>
        <p:spPr>
          <a:xfrm xmlns:a="http://schemas.openxmlformats.org/drawingml/2006/main">
            <a:off x="704850" y="1571625"/>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174"/>
                </a:solidFill>
                <a:latin typeface="DejaVu Sans"/>
                <a:ea typeface="DejaVu Sans"/>
                <a:cs typeface="DejaVu Sans"/>
              </a:defRPr>
            </a:pPr>
            <a:r>
              <a:rPr sz="1800" b="0">
                <a:solidFill>
                  <a:srgbClr val="526174"/>
                </a:solidFill>
                <a:latin typeface="DejaVu Sans"/>
                <a:ea typeface="DejaVu Sans"/>
                <a:cs typeface="DejaVu Sans"/>
              </a:rPr>
              <a:t>Select Not yet, Getting there or Confident for each objective on the worksheet.</a:t>
            </a:r>
          </a:p>
        </p:txBody>
      </p:sp>
      <p:sp>
        <p:nvSpPr>
          <p:cNvPr id="7" name="number-1">
            <a:extLst xmlns:a="http://schemas.openxmlformats.org/drawingml/2006/main">
              <a:ext uri="{FF2B5EF4-FFF2-40B4-BE49-F238E27FC236}">
                <a16:creationId xmlns:a16="http://schemas.microsoft.com/office/drawing/2014/main" id="{309E3C2D-27C5-4770-87A8-EC3DEC8A1FA6}"/>
              </a:ext>
            </a:extLst>
          </p:cNvPr>
          <p:cNvSpPr>
            <a:spLocks xmlns:a="http://schemas.openxmlformats.org/drawingml/2006/main" noGrp="1"/>
          </p:cNvSpPr>
          <p:nvPr/>
        </p:nvSpPr>
        <p:spPr>
          <a:xfrm xmlns:a="http://schemas.openxmlformats.org/drawingml/2006/main">
            <a:off x="723900" y="25146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1.</a:t>
            </a:r>
          </a:p>
        </p:txBody>
      </p:sp>
      <p:sp>
        <p:nvSpPr>
          <p:cNvPr id="8" name="item-1">
            <a:extLst xmlns:a="http://schemas.openxmlformats.org/drawingml/2006/main">
              <a:ext uri="{FF2B5EF4-FFF2-40B4-BE49-F238E27FC236}">
                <a16:creationId xmlns:a16="http://schemas.microsoft.com/office/drawing/2014/main" id="{CF087FDF-48F5-4AA7-A04A-AF8FC45D5980}"/>
              </a:ext>
            </a:extLst>
          </p:cNvPr>
          <p:cNvSpPr>
            <a:spLocks xmlns:a="http://schemas.openxmlformats.org/drawingml/2006/main" noGrp="1"/>
          </p:cNvSpPr>
          <p:nvPr/>
        </p:nvSpPr>
        <p:spPr>
          <a:xfrm xmlns:a="http://schemas.openxmlformats.org/drawingml/2006/main">
            <a:off x="1352550" y="2514600"/>
            <a:ext cx="99250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How a simple substitution cipher works</a:t>
            </a:r>
          </a:p>
        </p:txBody>
      </p:sp>
      <p:sp>
        <p:nvSpPr>
          <p:cNvPr id="9" name="number-2">
            <a:extLst xmlns:a="http://schemas.openxmlformats.org/drawingml/2006/main">
              <a:ext uri="{FF2B5EF4-FFF2-40B4-BE49-F238E27FC236}">
                <a16:creationId xmlns:a16="http://schemas.microsoft.com/office/drawing/2014/main" id="{9BF2288F-66B8-42A9-A033-2EEBA374FEF7}"/>
              </a:ext>
            </a:extLst>
          </p:cNvPr>
          <p:cNvSpPr>
            <a:spLocks xmlns:a="http://schemas.openxmlformats.org/drawingml/2006/main" noGrp="1"/>
          </p:cNvSpPr>
          <p:nvPr/>
        </p:nvSpPr>
        <p:spPr>
          <a:xfrm xmlns:a="http://schemas.openxmlformats.org/drawingml/2006/main">
            <a:off x="723900" y="35433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2.</a:t>
            </a:r>
          </a:p>
        </p:txBody>
      </p:sp>
      <p:sp>
        <p:nvSpPr>
          <p:cNvPr id="10" name="item-2">
            <a:extLst xmlns:a="http://schemas.openxmlformats.org/drawingml/2006/main">
              <a:ext uri="{FF2B5EF4-FFF2-40B4-BE49-F238E27FC236}">
                <a16:creationId xmlns:a16="http://schemas.microsoft.com/office/drawing/2014/main" id="{BAE04074-7ECA-480A-9496-E3A1CE7CBC30}"/>
              </a:ext>
            </a:extLst>
          </p:cNvPr>
          <p:cNvSpPr>
            <a:spLocks xmlns:a="http://schemas.openxmlformats.org/drawingml/2006/main" noGrp="1"/>
          </p:cNvSpPr>
          <p:nvPr/>
        </p:nvSpPr>
        <p:spPr>
          <a:xfrm xmlns:a="http://schemas.openxmlformats.org/drawingml/2006/main">
            <a:off x="1352550" y="3543300"/>
            <a:ext cx="99250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How devices authenticate with WPA2</a:t>
            </a:r>
          </a:p>
        </p:txBody>
      </p:sp>
      <p:sp>
        <p:nvSpPr>
          <p:cNvPr id="11" name="number-3">
            <a:extLst xmlns:a="http://schemas.openxmlformats.org/drawingml/2006/main">
              <a:ext uri="{FF2B5EF4-FFF2-40B4-BE49-F238E27FC236}">
                <a16:creationId xmlns:a16="http://schemas.microsoft.com/office/drawing/2014/main" id="{25C722D6-02F8-4AE0-884B-D6936208EED7}"/>
              </a:ext>
            </a:extLst>
          </p:cNvPr>
          <p:cNvSpPr>
            <a:spLocks xmlns:a="http://schemas.openxmlformats.org/drawingml/2006/main" noGrp="1"/>
          </p:cNvSpPr>
          <p:nvPr/>
        </p:nvSpPr>
        <p:spPr>
          <a:xfrm xmlns:a="http://schemas.openxmlformats.org/drawingml/2006/main">
            <a:off x="723900" y="4572000"/>
            <a:ext cx="590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D63FF"/>
                </a:solidFill>
                <a:latin typeface="DejaVu Sans"/>
                <a:ea typeface="DejaVu Sans"/>
                <a:cs typeface="DejaVu Sans"/>
              </a:defRPr>
            </a:pPr>
            <a:r>
              <a:rPr sz="2025" b="1">
                <a:solidFill>
                  <a:srgbClr val="2D63FF"/>
                </a:solidFill>
                <a:latin typeface="DejaVu Sans"/>
                <a:ea typeface="DejaVu Sans"/>
                <a:cs typeface="DejaVu Sans"/>
              </a:rPr>
              <a:t>3.</a:t>
            </a:r>
          </a:p>
        </p:txBody>
      </p:sp>
      <p:sp>
        <p:nvSpPr>
          <p:cNvPr id="12" name="item-3">
            <a:extLst xmlns:a="http://schemas.openxmlformats.org/drawingml/2006/main">
              <a:ext uri="{FF2B5EF4-FFF2-40B4-BE49-F238E27FC236}">
                <a16:creationId xmlns:a16="http://schemas.microsoft.com/office/drawing/2014/main" id="{E45A1776-EC69-4AD3-B039-16D930CFD993}"/>
              </a:ext>
            </a:extLst>
          </p:cNvPr>
          <p:cNvSpPr>
            <a:spLocks xmlns:a="http://schemas.openxmlformats.org/drawingml/2006/main" noGrp="1"/>
          </p:cNvSpPr>
          <p:nvPr/>
        </p:nvSpPr>
        <p:spPr>
          <a:xfrm xmlns:a="http://schemas.openxmlformats.org/drawingml/2006/main">
            <a:off x="1352550" y="4572000"/>
            <a:ext cx="99250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01828"/>
                </a:solidFill>
                <a:latin typeface="DejaVu Sans"/>
                <a:ea typeface="DejaVu Sans"/>
                <a:cs typeface="DejaVu Sans"/>
              </a:defRPr>
            </a:pPr>
            <a:r>
              <a:rPr sz="2025" b="0">
                <a:solidFill>
                  <a:srgbClr val="101828"/>
                </a:solidFill>
                <a:latin typeface="DejaVu Sans"/>
                <a:ea typeface="DejaVu Sans"/>
                <a:cs typeface="DejaVu Sans"/>
              </a:rPr>
              <a:t>Public and private keys</a:t>
            </a:r>
          </a:p>
        </p:txBody>
      </p:sp>
    </p:spTree>
    <p:extLst>
      <p:ext uri="{BB962C8B-B14F-4D97-AF65-F5344CB8AC3E}">
        <p14:creationId xmlns:p14="http://schemas.microsoft.com/office/powerpoint/2010/main" val="19543554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2026-09-25T14:15:43.1580000Z</dcterms:created>
  <dcterms:modified xsi:type="dcterms:W3CDTF">2026-09-25T14:15:43.1580000Z</dcterms:modified>
</coreProperties>
</file>