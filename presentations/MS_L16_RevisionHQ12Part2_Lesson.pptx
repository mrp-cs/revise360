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756ceb6f514261" /><Relationship Type="http://schemas.openxmlformats.org/officeDocument/2006/relationships/extended-properties" Target="/docProps/app.xml" Id="Rfe169a3aa0374a20" /><Relationship Type="http://schemas.openxmlformats.org/officeDocument/2006/relationships/officeDocument" Target="/ppt/presentation.xml" Id="Rbe234b62d553466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6044322b6e4c0a"/>
  </p:sldMasterIdLst>
  <p:notesMasterIdLst>
    <p:notesMasterId xmlns:r="http://schemas.openxmlformats.org/officeDocument/2006/relationships" r:id="R2b9f6b02a5bf4f61"/>
  </p:notesMasterIdLst>
  <p:sldIdLst>
    <p:sldId xmlns:r="http://schemas.openxmlformats.org/officeDocument/2006/relationships" id="256" r:id="Rc41a631457184827"/>
    <p:sldId xmlns:r="http://schemas.openxmlformats.org/officeDocument/2006/relationships" id="257" r:id="Rc8a8379f2b7c411e"/>
    <p:sldId xmlns:r="http://schemas.openxmlformats.org/officeDocument/2006/relationships" id="258" r:id="R16e13d4937084bbd"/>
    <p:sldId xmlns:r="http://schemas.openxmlformats.org/officeDocument/2006/relationships" id="259" r:id="Re03e8100267b4933"/>
    <p:sldId xmlns:r="http://schemas.openxmlformats.org/officeDocument/2006/relationships" id="260" r:id="Rd348f65d9ad847b7"/>
    <p:sldId xmlns:r="http://schemas.openxmlformats.org/officeDocument/2006/relationships" id="261" r:id="Rf128ce2bbd4047ff"/>
    <p:sldId xmlns:r="http://schemas.openxmlformats.org/officeDocument/2006/relationships" id="262" r:id="R1849859cb2ca478c"/>
    <p:sldId xmlns:r="http://schemas.openxmlformats.org/officeDocument/2006/relationships" id="263" r:id="Ra0b6c7193bcb4482"/>
    <p:sldId xmlns:r="http://schemas.openxmlformats.org/officeDocument/2006/relationships" id="264" r:id="R15016f6d4502428e"/>
    <p:sldId xmlns:r="http://schemas.openxmlformats.org/officeDocument/2006/relationships" id="265" r:id="R66376fe0037c4f00"/>
    <p:sldId xmlns:r="http://schemas.openxmlformats.org/officeDocument/2006/relationships" id="266" r:id="R7b4b0527ad1444ac"/>
    <p:sldId xmlns:r="http://schemas.openxmlformats.org/officeDocument/2006/relationships" id="267" r:id="R8804395ccfa240ba"/>
    <p:sldId xmlns:r="http://schemas.openxmlformats.org/officeDocument/2006/relationships" id="268" r:id="Re596af74c8e4494e"/>
    <p:sldId xmlns:r="http://schemas.openxmlformats.org/officeDocument/2006/relationships" id="269" r:id="R1b48e9c44bf94cf7"/>
    <p:sldId xmlns:r="http://schemas.openxmlformats.org/officeDocument/2006/relationships" id="270" r:id="Rb8947d0ee045461a"/>
    <p:sldId xmlns:r="http://schemas.openxmlformats.org/officeDocument/2006/relationships" id="271" r:id="R548f0c3ea87b493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2fcc038e2a476d" /><Relationship Type="http://schemas.openxmlformats.org/officeDocument/2006/relationships/slideMaster" Target="/ppt/slideMasters/slideMaster1.xml" Id="R5c6044322b6e4c0a" /><Relationship Type="http://schemas.openxmlformats.org/officeDocument/2006/relationships/notesMaster" Target="/ppt/notesMasters/notesMaster1.xml" Id="R2b9f6b02a5bf4f61" /><Relationship Type="http://schemas.openxmlformats.org/officeDocument/2006/relationships/presProps" Target="/ppt/presProps.xml" Id="R835aa671ee144c8f" /><Relationship Type="http://schemas.openxmlformats.org/officeDocument/2006/relationships/tableStyles" Target="/ppt/tableStyles.xml" Id="Rc55294ceefd94f81" /><Relationship Type="http://schemas.openxmlformats.org/officeDocument/2006/relationships/slide" Target="/ppt/slides/slide1.xml" Id="Rc41a631457184827" /><Relationship Type="http://schemas.openxmlformats.org/officeDocument/2006/relationships/slide" Target="/ppt/slides/slide2.xml" Id="Rc8a8379f2b7c411e" /><Relationship Type="http://schemas.openxmlformats.org/officeDocument/2006/relationships/slide" Target="/ppt/slides/slide3.xml" Id="R16e13d4937084bbd" /><Relationship Type="http://schemas.openxmlformats.org/officeDocument/2006/relationships/slide" Target="/ppt/slides/slide4.xml" Id="Re03e8100267b4933" /><Relationship Type="http://schemas.openxmlformats.org/officeDocument/2006/relationships/slide" Target="/ppt/slides/slide5.xml" Id="Rd348f65d9ad847b7" /><Relationship Type="http://schemas.openxmlformats.org/officeDocument/2006/relationships/slide" Target="/ppt/slides/slide6.xml" Id="Rf128ce2bbd4047ff" /><Relationship Type="http://schemas.openxmlformats.org/officeDocument/2006/relationships/slide" Target="/ppt/slides/slide7.xml" Id="R1849859cb2ca478c" /><Relationship Type="http://schemas.openxmlformats.org/officeDocument/2006/relationships/slide" Target="/ppt/slides/slide8.xml" Id="Ra0b6c7193bcb4482" /><Relationship Type="http://schemas.openxmlformats.org/officeDocument/2006/relationships/slide" Target="/ppt/slides/slide9.xml" Id="R15016f6d4502428e" /><Relationship Type="http://schemas.openxmlformats.org/officeDocument/2006/relationships/slide" Target="/ppt/slides/slide10.xml" Id="R66376fe0037c4f00" /><Relationship Type="http://schemas.openxmlformats.org/officeDocument/2006/relationships/slide" Target="/ppt/slides/slide11.xml" Id="R7b4b0527ad1444ac" /><Relationship Type="http://schemas.openxmlformats.org/officeDocument/2006/relationships/slide" Target="/ppt/slides/slide12.xml" Id="R8804395ccfa240ba" /><Relationship Type="http://schemas.openxmlformats.org/officeDocument/2006/relationships/slide" Target="/ppt/slides/slide13.xml" Id="Re596af74c8e4494e" /><Relationship Type="http://schemas.openxmlformats.org/officeDocument/2006/relationships/slide" Target="/ppt/slides/slide14.xml" Id="R1b48e9c44bf94cf7" /><Relationship Type="http://schemas.openxmlformats.org/officeDocument/2006/relationships/slide" Target="/ppt/slides/slide15.xml" Id="Rb8947d0ee045461a" /><Relationship Type="http://schemas.openxmlformats.org/officeDocument/2006/relationships/slide" Target="/ppt/slides/slide16.xml" Id="R548f0c3ea87b49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c63fb6677c04d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622aedabfa4fa9" /><Relationship Type="http://schemas.openxmlformats.org/officeDocument/2006/relationships/notesMaster" Target="/ppt/notesMasters/notesMaster1.xml" Id="R6ee2e1361ab548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739c02973f647dd" /><Relationship Type="http://schemas.openxmlformats.org/officeDocument/2006/relationships/notesMaster" Target="/ppt/notesMasters/notesMaster1.xml" Id="R32ce6f8fb2b74ec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f1333639b24a48" /><Relationship Type="http://schemas.openxmlformats.org/officeDocument/2006/relationships/notesMaster" Target="/ppt/notesMasters/notesMaster1.xml" Id="Rcc59ef26262e497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29337c8e064fa2" /><Relationship Type="http://schemas.openxmlformats.org/officeDocument/2006/relationships/notesMaster" Target="/ppt/notesMasters/notesMaster1.xml" Id="Rbf6a85b7a892405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d747b5c98ef4647" /><Relationship Type="http://schemas.openxmlformats.org/officeDocument/2006/relationships/notesMaster" Target="/ppt/notesMasters/notesMaster1.xml" Id="R2ccfec13f7d345d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5053b8abba04fdd" /><Relationship Type="http://schemas.openxmlformats.org/officeDocument/2006/relationships/notesMaster" Target="/ppt/notesMasters/notesMaster1.xml" Id="R0e7433e7f6f8415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b3c5df4f84844ea" /><Relationship Type="http://schemas.openxmlformats.org/officeDocument/2006/relationships/notesMaster" Target="/ppt/notesMasters/notesMaster1.xml" Id="R279a5e5c6dd04a3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8c732af61bc4064" /><Relationship Type="http://schemas.openxmlformats.org/officeDocument/2006/relationships/notesMaster" Target="/ppt/notesMasters/notesMaster1.xml" Id="R2d65ff2545314b0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4aabbcf7a614ac0" /><Relationship Type="http://schemas.openxmlformats.org/officeDocument/2006/relationships/notesMaster" Target="/ppt/notesMasters/notesMaster1.xml" Id="Ra5d4e8aa3d774ba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3b71bd80aa24d3f" /><Relationship Type="http://schemas.openxmlformats.org/officeDocument/2006/relationships/notesMaster" Target="/ppt/notesMasters/notesMaster1.xml" Id="Rd1e51106bad4462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83c951c76a4411b" /><Relationship Type="http://schemas.openxmlformats.org/officeDocument/2006/relationships/notesMaster" Target="/ppt/notesMasters/notesMaster1.xml" Id="R32ecdefe147f443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4f07a0921f543ff" /><Relationship Type="http://schemas.openxmlformats.org/officeDocument/2006/relationships/notesMaster" Target="/ppt/notesMasters/notesMaster1.xml" Id="R09e9c8aa56a649f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bbfabc382274ab6" /><Relationship Type="http://schemas.openxmlformats.org/officeDocument/2006/relationships/notesMaster" Target="/ppt/notesMasters/notesMaster1.xml" Id="Rf85c1ca94e204d7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b9570305b184074" /><Relationship Type="http://schemas.openxmlformats.org/officeDocument/2006/relationships/notesMaster" Target="/ppt/notesMasters/notesMaster1.xml" Id="R70124aeaa10244b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74723f4b7a14170" /><Relationship Type="http://schemas.openxmlformats.org/officeDocument/2006/relationships/notesMaster" Target="/ppt/notesMasters/notesMaster1.xml" Id="R3998cb7061644a2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1daad06d5de4237" /><Relationship Type="http://schemas.openxmlformats.org/officeDocument/2006/relationships/notesMaster" Target="/ppt/notesMasters/notesMaster1.xml" Id="Rc888169e3e0742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image is a straight-on perspective preview of the actual experience. Start with the worksheet starter.</a:t>
            </a:r>
          </a:p>
          <a:p xmlns:a="http://schemas.openxmlformats.org/drawingml/2006/main">
            <a:r>
              <a:t>Sources: Revise 360 experiences/ms-l16.json and worksheets/MS_L16_RevisionHQ12Part2_Worksheet.docx.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outcomes follow the wording of the lesson worksheet.</a:t>
            </a:r>
          </a:p>
          <a:p xmlns:a="http://schemas.openxmlformats.org/drawingml/2006/main">
            <a:r>
              <a:t>Sources: Revise 360 experiences/ms-l16.json and worksheets/MS_L16_RevisionHQ12Part2_Worksheet.docx.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Allow students to answer the exact worksheet starter before showing the sample answers.</a:t>
            </a:r>
          </a:p>
          <a:p xmlns:a="http://schemas.openxmlformats.org/drawingml/2006/main">
            <a:r>
              <a:t>Sources: Revise 360 experiences/ms-l16.json and worksheets/MS_L16_RevisionHQ12Part2_Worksheet.docx.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Accept equivalent correct responses. These examples respond to the worksheet starter.</a:t>
            </a:r>
          </a:p>
          <a:p xmlns:a="http://schemas.openxmlformats.org/drawingml/2006/main">
            <a:r>
              <a:t>Sources: Revise 360 experiences/ms-l16.json and worksheets/MS_L16_RevisionHQ12Part2_Worksheet.docx.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Leave this board slide visible during the experience. The OPEN EXPERIENCE label is a clickable link. Everyone should complete the experience and reach the plenary near the end of the lesson. First on-screen responses count.</a:t>
            </a:r>
          </a:p>
          <a:p xmlns:a="http://schemas.openxmlformats.org/drawingml/2006/main">
            <a:r>
              <a:t>Sources: Revise 360 experiences/ms-l16.json and worksheets/MS_L16_RevisionHQ12Part2_Worksheet.docx.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follows the task after the score on the worksheet. For revision, students use their results and outstanding work list.</a:t>
            </a:r>
          </a:p>
          <a:p xmlns:a="http://schemas.openxmlformats.org/drawingml/2006/main">
            <a:r>
              <a:t>Sources: Revise 360 experiences/ms-l16.json and worksheets/MS_L16_RevisionHQ12Part2_Worksheet.docx.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question to deepen or correct the worksheet response before the plenary.</a:t>
            </a:r>
          </a:p>
          <a:p xmlns:a="http://schemas.openxmlformats.org/drawingml/2006/main">
            <a:r>
              <a:t>Sources: Revise 360 experiences/ms-l16.json and worksheets/MS_L16_RevisionHQ12Part2_Worksheet.docx.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sample answers or a sample revision action. Ratings and open choices may vary with a justified device and context.</a:t>
            </a:r>
          </a:p>
          <a:p xmlns:a="http://schemas.openxmlformats.org/drawingml/2006/main">
            <a:r>
              <a:t>Sources: Revise 360 experiences/ms-l16.json and worksheets/MS_L16_RevisionHQ12Part2_Worksheet.docx.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after students have completed the experience. These concise points answer the station challenges and help students improve their own wording.</a:t>
            </a:r>
          </a:p>
          <a:p xmlns:a="http://schemas.openxmlformats.org/drawingml/2006/main">
            <a:r>
              <a:t>Sources: Revise 360 experiences/ms-l16.json and worksheets/MS_L16_RevisionHQ12Part2_Worksheet.docx.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after students have completed the experience. These concise points answer the station challenges and help students improve their own wording.</a:t>
            </a:r>
          </a:p>
          <a:p xmlns:a="http://schemas.openxmlformats.org/drawingml/2006/main">
            <a:r>
              <a:t>Sources: Revise 360 experiences/ms-l16.json and worksheets/MS_L16_RevisionHQ12Part2_Worksheet.docx.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Answers are in the same order as the worksheet final challenge and the experience star task. Pixel and sound sketches should be checked against the interactive pattern or wave.</a:t>
            </a:r>
          </a:p>
          <a:p xmlns:a="http://schemas.openxmlformats.org/drawingml/2006/main">
            <a:r>
              <a:t>Sources: Revise 360 experiences/ms-l16.json and worksheets/MS_L16_RevisionHQ12Part2_Worksheet.docx.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Answers are in the same order as the worksheet final challenge and the experience star task. Pixel and sound sketches should be checked against the interactive pattern or wave.</a:t>
            </a:r>
          </a:p>
          <a:p xmlns:a="http://schemas.openxmlformats.org/drawingml/2006/main">
            <a:r>
              <a:t>Sources: Revise 360 experiences/ms-l16.json and worksheets/MS_L16_RevisionHQ12Part2_Worksheet.docx.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exact exam-practice questions from the worksheet. Allow independent writing before displaying the answer slides.</a:t>
            </a:r>
          </a:p>
          <a:p xmlns:a="http://schemas.openxmlformats.org/drawingml/2006/main">
            <a:r>
              <a:t>Sources: Revise 360 experiences/ms-l16.json and worksheets/MS_L16_RevisionHQ12Part2_Worksheet.docx.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Classroom answer points, not an official OCR mark scheme. Ask students to correct or improve one answer.</a:t>
            </a:r>
          </a:p>
          <a:p xmlns:a="http://schemas.openxmlformats.org/drawingml/2006/main">
            <a:r>
              <a:t>Sources: Revise 360 experiences/ms-l16.json and worksheets/MS_L16_RevisionHQ12Part2_Worksheet.docx.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checklist follows the revision worksheet. Students mark red, amber or green and select a next task from their results.</a:t>
            </a:r>
          </a:p>
          <a:p xmlns:a="http://schemas.openxmlformats.org/drawingml/2006/main">
            <a:r>
              <a:t>Sources: Revise 360 experiences/ms-l16.json and worksheets/MS_L16_RevisionHQ12Part2_Worksheet.docx.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exact confidence objectives from the worksheet. Students identify one area to revisit.</a:t>
            </a:r>
          </a:p>
          <a:p xmlns:a="http://schemas.openxmlformats.org/drawingml/2006/main">
            <a:r>
              <a:t>Sources: Revise 360 experiences/ms-l16.json and worksheets/MS_L16_RevisionHQ12Part2_Worksheet.docx.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19008502d243c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47f6f3c75947d2" /><Relationship Type="http://schemas.openxmlformats.org/officeDocument/2006/relationships/slideLayout" Target="/ppt/slideLayouts/slideLayout1.xml" Id="R9b62ffc94333436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62ffc94333436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c309608dee46c7" /><Relationship Type="http://schemas.openxmlformats.org/officeDocument/2006/relationships/image" Target="/ppt/media/image.png" Id="Rb8802c1985694709" /><Relationship Type="http://schemas.openxmlformats.org/officeDocument/2006/relationships/image" Target="/ppt/media/image.jpeg" Id="Rc9edcbfd3efc40d4" /><Relationship Type="http://schemas.openxmlformats.org/officeDocument/2006/relationships/notesSlide" Target="/ppt/notesSlides/notesSlide1.xml" Id="R221a31c585f144b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efc5e5b7204811" /><Relationship Type="http://schemas.openxmlformats.org/officeDocument/2006/relationships/image" Target="/ppt/media/image2.png" Id="R3741a91062054740" /><Relationship Type="http://schemas.openxmlformats.org/officeDocument/2006/relationships/notesSlide" Target="/ppt/notesSlides/notesSlide2.xml" Id="Rd7eedf53b56f459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bf555d62a740a4" /><Relationship Type="http://schemas.openxmlformats.org/officeDocument/2006/relationships/image" Target="/ppt/media/image3.png" Id="Rbd739139e63044aa" /><Relationship Type="http://schemas.openxmlformats.org/officeDocument/2006/relationships/notesSlide" Target="/ppt/notesSlides/notesSlide3.xml" Id="Re1c148927f3f41f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50a602a06a49fd" /><Relationship Type="http://schemas.openxmlformats.org/officeDocument/2006/relationships/image" Target="/ppt/media/image4.png" Id="R97967b08195447a7" /><Relationship Type="http://schemas.openxmlformats.org/officeDocument/2006/relationships/notesSlide" Target="/ppt/notesSlides/notesSlide4.xml" Id="R5d576c92d1ce4bb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8d2cf4bc3e4a48" /><Relationship Type="http://schemas.openxmlformats.org/officeDocument/2006/relationships/image" Target="/ppt/media/image5.png" Id="R5ca74ea78dfb4162" /><Relationship Type="http://schemas.openxmlformats.org/officeDocument/2006/relationships/hyperlink" Target="https://mrp-cs.github.io/Revise360/experience.html?id=ms-l16" TargetMode="External" Id="Rbd171c189ce948a3" /><Relationship Type="http://schemas.openxmlformats.org/officeDocument/2006/relationships/notesSlide" Target="/ppt/notesSlides/notesSlide5.xml" Id="R2c15cbe8dbe4410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41d76965a142d3" /><Relationship Type="http://schemas.openxmlformats.org/officeDocument/2006/relationships/image" Target="/ppt/media/image6.png" Id="Rf61e8e3e6d404ff3" /><Relationship Type="http://schemas.openxmlformats.org/officeDocument/2006/relationships/notesSlide" Target="/ppt/notesSlides/notesSlide6.xml" Id="R61970d25a683404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507b5479d4432b" /><Relationship Type="http://schemas.openxmlformats.org/officeDocument/2006/relationships/image" Target="/ppt/media/image7.png" Id="R3f5c30902c474d89" /><Relationship Type="http://schemas.openxmlformats.org/officeDocument/2006/relationships/notesSlide" Target="/ppt/notesSlides/notesSlide7.xml" Id="R99b2e3e3895a4c3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03a695344940cb" /><Relationship Type="http://schemas.openxmlformats.org/officeDocument/2006/relationships/image" Target="/ppt/media/image8.png" Id="R87b550eefe4f4da0" /><Relationship Type="http://schemas.openxmlformats.org/officeDocument/2006/relationships/notesSlide" Target="/ppt/notesSlides/notesSlide8.xml" Id="R27bf45dcdb864e3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409a932d124344" /><Relationship Type="http://schemas.openxmlformats.org/officeDocument/2006/relationships/image" Target="/ppt/media/image9.png" Id="R0fd40b4207b3471a" /><Relationship Type="http://schemas.openxmlformats.org/officeDocument/2006/relationships/notesSlide" Target="/ppt/notesSlides/notesSlide9.xml" Id="Ra1cdf029b2054e2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ecf4b81b604703" /><Relationship Type="http://schemas.openxmlformats.org/officeDocument/2006/relationships/image" Target="/ppt/media/image10.png" Id="R9ad141de3b654bd9" /><Relationship Type="http://schemas.openxmlformats.org/officeDocument/2006/relationships/notesSlide" Target="/ppt/notesSlides/notesSlide10.xml" Id="R98bd2ce9007c440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a9fb59eea64350" /><Relationship Type="http://schemas.openxmlformats.org/officeDocument/2006/relationships/image" Target="/ppt/media/image11.png" Id="Rd977775c9eab4ce2" /><Relationship Type="http://schemas.openxmlformats.org/officeDocument/2006/relationships/notesSlide" Target="/ppt/notesSlides/notesSlide11.xml" Id="R30608db94e2a4ca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f3da28784b43e7" /><Relationship Type="http://schemas.openxmlformats.org/officeDocument/2006/relationships/image" Target="/ppt/media/image12.png" Id="Re7e2a5c3cbfb410a" /><Relationship Type="http://schemas.openxmlformats.org/officeDocument/2006/relationships/notesSlide" Target="/ppt/notesSlides/notesSlide12.xml" Id="Rf3e4b5f42ef24b3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8e438f6e424fb9" /><Relationship Type="http://schemas.openxmlformats.org/officeDocument/2006/relationships/image" Target="/ppt/media/image13.png" Id="R2a880c5ecd9444bc" /><Relationship Type="http://schemas.openxmlformats.org/officeDocument/2006/relationships/notesSlide" Target="/ppt/notesSlides/notesSlide13.xml" Id="R09166d431d6e448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7eafc7382743b8" /><Relationship Type="http://schemas.openxmlformats.org/officeDocument/2006/relationships/image" Target="/ppt/media/image14.png" Id="R7750d7038e2c4d46" /><Relationship Type="http://schemas.openxmlformats.org/officeDocument/2006/relationships/notesSlide" Target="/ppt/notesSlides/notesSlide14.xml" Id="R97a1d2cccf184fc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83e3d1f6334abb" /><Relationship Type="http://schemas.openxmlformats.org/officeDocument/2006/relationships/image" Target="/ppt/media/image15.png" Id="R250befff11754496" /><Relationship Type="http://schemas.openxmlformats.org/officeDocument/2006/relationships/notesSlide" Target="/ppt/notesSlides/notesSlide15.xml" Id="R6210fda1caca450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ed5ae1b2ed4bc2" /><Relationship Type="http://schemas.openxmlformats.org/officeDocument/2006/relationships/image" Target="/ppt/media/image16.png" Id="Rec925289c6944ed3" /><Relationship Type="http://schemas.openxmlformats.org/officeDocument/2006/relationships/notesSlide" Target="/ppt/notesSlides/notesSlide16.xml" Id="R741681a660d1450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D97730D1-D5C9-4842-B0BD-5BFE6522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CA44016F-6213-481A-8EB5-0D1F3568D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1.2   /   LESSON 16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67D5FF3B-A3D2-437E-AB20-601D4384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REVISION HQ 1.2 PART 2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802c1985694709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507B804-23C2-4FF1-9AD0-92BD79AD0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 / 16</a:t>
            </a:r>
          </a:p>
        </p:txBody>
      </p:sp>
      <p:sp>
        <p:nvSpPr>
          <p:cNvPr id="6" name="subject">
            <a:extLst xmlns:a="http://schemas.openxmlformats.org/drawingml/2006/main">
              <a:ext uri="{FF2B5EF4-FFF2-40B4-BE49-F238E27FC236}">
                <a16:creationId xmlns:a16="http://schemas.microsoft.com/office/drawing/2014/main" id="{C70B0524-03B2-458E-8FC5-40B57156B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143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Catch-up and revision: lessons 12 to 16</a:t>
            </a:r>
          </a:p>
        </p:txBody>
      </p:sp>
      <p:sp>
        <p:nvSpPr>
          <p:cNvPr id="7" name="cover-key-label">
            <a:extLst xmlns:a="http://schemas.openxmlformats.org/drawingml/2006/main">
              <a:ext uri="{FF2B5EF4-FFF2-40B4-BE49-F238E27FC236}">
                <a16:creationId xmlns:a16="http://schemas.microsoft.com/office/drawing/2014/main" id="{B3515860-CEA0-4E39-8D15-0F7A9D2E6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REVISION FOCUS</a:t>
            </a:r>
          </a:p>
        </p:txBody>
      </p:sp>
      <p:sp>
        <p:nvSpPr>
          <p:cNvPr id="8" name="cover-key-question">
            <a:extLst xmlns:a="http://schemas.openxmlformats.org/drawingml/2006/main">
              <a:ext uri="{FF2B5EF4-FFF2-40B4-BE49-F238E27FC236}">
                <a16:creationId xmlns:a16="http://schemas.microsoft.com/office/drawing/2014/main" id="{8DA08A21-D20B-468A-8B97-7CA318A7C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762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Which areas need more practice?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edcbfd3efc40d4"/>
          <a:stretch xmlns:a="http://schemas.openxmlformats.org/drawingml/2006/main"/>
        </p:blipFill>
        <p:spPr>
          <a:xfrm xmlns:a="http://schemas.openxmlformats.org/drawingml/2006/main">
            <a:off x="6076950" y="1819275"/>
            <a:ext cx="5400675" cy="3600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863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F861F7E8-6F54-4652-919D-5723FFE91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2DE710C5-DCEA-417A-932A-3974B26E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16   /   WORKSHEET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9D325B8B-0482-49E6-ABC7-839DB93E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By the end of this lesson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41a91062054740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3094113-386D-4164-BEB1-8B4DF4911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2 / 16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8E1E0C94-6149-4B61-9FF6-4C0BCF86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DC815D8C-E3D2-4422-8200-6C046899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43100"/>
            <a:ext cx="99250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know which parts of data representation I am secure on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B8926980-0C3B-4DC3-97D5-CC2C3ADD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004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F5E4562C-5F02-42B1-B03B-2ED1021F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00450"/>
            <a:ext cx="99250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finish outstanding tasks from lessons 12 to 15</a:t>
            </a:r>
          </a:p>
        </p:txBody>
      </p:sp>
    </p:spTree>
    <p:extLst>
      <p:ext uri="{BB962C8B-B14F-4D97-AF65-F5344CB8AC3E}">
        <p14:creationId xmlns:p14="http://schemas.microsoft.com/office/powerpoint/2010/main" val="7070243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9B3319EE-17AB-426A-8661-4BC5EF74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029F0E1B-44CC-4953-A104-F1C7BB39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16   /   WORKSHEET STARTER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BA2F0FE9-6274-43B4-B50E-A4F69E2E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Starter: before the experience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739139e63044aa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5D5136F-E95B-4AC2-B4B8-D6BCE03E5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3 / 16</a:t>
            </a:r>
          </a:p>
        </p:txBody>
      </p:sp>
      <p:sp>
        <p:nvSpPr>
          <p:cNvPr id="6" name="worksheet-starter">
            <a:extLst xmlns:a="http://schemas.openxmlformats.org/drawingml/2006/main">
              <a:ext uri="{FF2B5EF4-FFF2-40B4-BE49-F238E27FC236}">
                <a16:creationId xmlns:a16="http://schemas.microsoft.com/office/drawing/2014/main" id="{929E7E3D-A7B3-428A-9D99-4C46742C9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572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Without notes, write the three file size formulas: images, sound and text.</a:t>
            </a:r>
          </a:p>
        </p:txBody>
      </p:sp>
    </p:spTree>
    <p:extLst>
      <p:ext uri="{BB962C8B-B14F-4D97-AF65-F5344CB8AC3E}">
        <p14:creationId xmlns:p14="http://schemas.microsoft.com/office/powerpoint/2010/main" val="8004313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B1A8962-5B7C-4BDF-A1DD-A09EAB34A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9A9C43DF-400E-4B87-A0A0-72418FE27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16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EBB3F560-4678-4108-9E95-0A5053C0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Starter: sample answers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967b08195447a7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BB620C3-9888-4829-83A1-FF7AF77F3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4 / 16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17E2A436-E7D7-4024-BDE0-4C2A3035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A68D294A-8E7E-4740-9A4B-FEC47DD1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33600"/>
            <a:ext cx="99250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Image bits = width × height × colour depth. Sound bits = sample rate × bit depth × duration × channels.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F56E2A2A-9638-4230-ACD5-A28B92ACE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952C634D-80A1-4AD8-9035-7507C7F3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33800"/>
            <a:ext cx="99250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Text bits = number of characters × bits per character. Divide bits by 8 to get bytes.</a:t>
            </a:r>
          </a:p>
        </p:txBody>
      </p:sp>
    </p:spTree>
    <p:extLst>
      <p:ext uri="{BB962C8B-B14F-4D97-AF65-F5344CB8AC3E}">
        <p14:creationId xmlns:p14="http://schemas.microsoft.com/office/powerpoint/2010/main" val="15304391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38EC3330-2C99-4FDE-B9A6-6E27DCCD2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D731895D-62E9-4EB4-A293-121FD1D4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1.2   /   LESSON 16   /   EXPERIENCE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A047E4BE-B5A0-4018-A77A-C73E5FBAD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Worksheet + experience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a74ea78dfb4162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1A497E8-FDCD-4F4A-AA3C-821066AF7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5 / 16</a:t>
            </a:r>
          </a:p>
        </p:txBody>
      </p:sp>
      <p:sp>
        <p:nvSpPr>
          <p:cNvPr id="6" name="open-label">
            <a:extLst xmlns:a="http://schemas.openxmlformats.org/drawingml/2006/main">
              <a:ext uri="{FF2B5EF4-FFF2-40B4-BE49-F238E27FC236}">
                <a16:creationId xmlns:a16="http://schemas.microsoft.com/office/drawing/2014/main" id="{35D17214-2C61-4F7C-8DF5-7A6E49B8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01   </a:t>
            </a: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bd171c189ce948a3"/>
              </a:rPr>
              <a:t>OPEN EXPERIENCE ↗</a:t>
            </a:r>
          </a:p>
        </p:txBody>
      </p:sp>
      <p:sp>
        <p:nvSpPr>
          <p:cNvPr id="7" name="open-body">
            <a:extLst xmlns:a="http://schemas.openxmlformats.org/drawingml/2006/main">
              <a:ext uri="{FF2B5EF4-FFF2-40B4-BE49-F238E27FC236}">
                <a16:creationId xmlns:a16="http://schemas.microsoft.com/office/drawing/2014/main" id="{68786B1C-D6A4-45E9-8209-2CCC2839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Open Revision HQ 1.2 part 2 in Topic 1.2. Keep the worksheet beside you.</a:t>
            </a:r>
          </a:p>
        </p:txBody>
      </p:sp>
      <p:sp>
        <p:nvSpPr>
          <p:cNvPr id="8" name="station-label">
            <a:extLst xmlns:a="http://schemas.openxmlformats.org/drawingml/2006/main">
              <a:ext uri="{FF2B5EF4-FFF2-40B4-BE49-F238E27FC236}">
                <a16:creationId xmlns:a16="http://schemas.microsoft.com/office/drawing/2014/main" id="{E9B88CEE-3739-42A1-AB04-10E33190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02   SIX STATIONS</a:t>
            </a:r>
          </a:p>
        </p:txBody>
      </p:sp>
      <p:sp>
        <p:nvSpPr>
          <p:cNvPr id="9" name="station-body">
            <a:extLst xmlns:a="http://schemas.openxmlformats.org/drawingml/2006/main">
              <a:ext uri="{FF2B5EF4-FFF2-40B4-BE49-F238E27FC236}">
                <a16:creationId xmlns:a16="http://schemas.microsoft.com/office/drawing/2014/main" id="{4CA6DB9B-AE88-4841-8693-3DF9C678B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10572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Read each panel. Write THREE key facts IN YOUR OWN WORDS and answer the worksheet challenge before tapping its badge.</a:t>
            </a:r>
          </a:p>
        </p:txBody>
      </p:sp>
      <p:sp>
        <p:nvSpPr>
          <p:cNvPr id="10" name="finish-label">
            <a:extLst xmlns:a="http://schemas.openxmlformats.org/drawingml/2006/main">
              <a:ext uri="{FF2B5EF4-FFF2-40B4-BE49-F238E27FC236}">
                <a16:creationId xmlns:a16="http://schemas.microsoft.com/office/drawing/2014/main" id="{9F0A63F1-67C8-4049-93FD-0B5661BBF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03   FINAL CHALLENGE</a:t>
            </a:r>
          </a:p>
        </p:txBody>
      </p:sp>
      <p:sp>
        <p:nvSpPr>
          <p:cNvPr id="11" name="finish-body">
            <a:extLst xmlns:a="http://schemas.openxmlformats.org/drawingml/2006/main">
              <a:ext uri="{FF2B5EF4-FFF2-40B4-BE49-F238E27FC236}">
                <a16:creationId xmlns:a16="http://schemas.microsoft.com/office/drawing/2014/main" id="{8D300DD1-E8C1-4965-914F-5E103C16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057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Complete the ★ task before tapping the star. Copy your score (out of 27), then finish the worksheet task or review.</a:t>
            </a:r>
          </a:p>
        </p:txBody>
      </p:sp>
      <p:sp>
        <p:nvSpPr>
          <p:cNvPr id="12" name="plenary-label">
            <a:extLst xmlns:a="http://schemas.openxmlformats.org/drawingml/2006/main">
              <a:ext uri="{FF2B5EF4-FFF2-40B4-BE49-F238E27FC236}">
                <a16:creationId xmlns:a16="http://schemas.microsoft.com/office/drawing/2014/main" id="{13F0F1DB-BA61-4196-9962-1D6CBB27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04   PLENARY</a:t>
            </a:r>
          </a:p>
        </p:txBody>
      </p:sp>
      <p:sp>
        <p:nvSpPr>
          <p:cNvPr id="13" name="plenary-body">
            <a:extLst xmlns:a="http://schemas.openxmlformats.org/drawingml/2006/main">
              <a:ext uri="{FF2B5EF4-FFF2-40B4-BE49-F238E27FC236}">
                <a16:creationId xmlns:a16="http://schemas.microsoft.com/office/drawing/2014/main" id="{8AB031B5-0C84-4812-8FF6-3020AB99B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Finish the experience in this lesson. Near the end, close it for the plenary knowledge checks.</a:t>
            </a:r>
          </a:p>
        </p:txBody>
      </p:sp>
    </p:spTree>
    <p:extLst>
      <p:ext uri="{BB962C8B-B14F-4D97-AF65-F5344CB8AC3E}">
        <p14:creationId xmlns:p14="http://schemas.microsoft.com/office/powerpoint/2010/main" val="17749402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956C41E3-B6BB-4823-A5A9-222C00EEE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95ADA01D-A76C-45DE-A990-5ED0ABF2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16   /   EXTENSION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95A33B4A-3E53-40F0-815A-4D3AABD38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Apply your learning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1e8e3e6d404ff3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031F947-2207-4368-8F3F-ED2DB95A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6 / 16</a:t>
            </a:r>
          </a:p>
        </p:txBody>
      </p:sp>
      <p:sp>
        <p:nvSpPr>
          <p:cNvPr id="6" name="application-prompt">
            <a:extLst xmlns:a="http://schemas.openxmlformats.org/drawingml/2006/main">
              <a:ext uri="{FF2B5EF4-FFF2-40B4-BE49-F238E27FC236}">
                <a16:creationId xmlns:a16="http://schemas.microsoft.com/office/drawing/2014/main" id="{0CA31386-FF11-4111-A3D0-8DB3DF62A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95525"/>
            <a:ext cx="105727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Use the My results table and outstanding programs checklist. Choose one weak area and a specific task to complete.</a:t>
            </a:r>
          </a:p>
        </p:txBody>
      </p:sp>
      <p:sp>
        <p:nvSpPr>
          <p:cNvPr id="7" name="application-note">
            <a:extLst xmlns:a="http://schemas.openxmlformats.org/drawingml/2006/main">
              <a:ext uri="{FF2B5EF4-FFF2-40B4-BE49-F238E27FC236}">
                <a16:creationId xmlns:a16="http://schemas.microsoft.com/office/drawing/2014/main" id="{9BF07ABE-2034-47BC-BD89-2E2E64171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10572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Use the task and table on your worksheet.</a:t>
            </a:r>
          </a:p>
        </p:txBody>
      </p:sp>
    </p:spTree>
    <p:extLst>
      <p:ext uri="{BB962C8B-B14F-4D97-AF65-F5344CB8AC3E}">
        <p14:creationId xmlns:p14="http://schemas.microsoft.com/office/powerpoint/2010/main" val="19019546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D1B823BA-94AF-45DF-9510-984BE9AA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D18D79B8-692C-4952-A92F-87CAAFD82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16   /   EXTENSION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26FF570B-37CC-466A-88FD-C4127034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Check and improve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5c30902c474d89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D18A8BF-6B32-4695-8513-0674BBE3C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7 / 16</a:t>
            </a:r>
          </a:p>
        </p:txBody>
      </p:sp>
      <p:sp>
        <p:nvSpPr>
          <p:cNvPr id="6" name="review-prompt">
            <a:extLst xmlns:a="http://schemas.openxmlformats.org/drawingml/2006/main">
              <a:ext uri="{FF2B5EF4-FFF2-40B4-BE49-F238E27FC236}">
                <a16:creationId xmlns:a16="http://schemas.microsoft.com/office/drawing/2014/main" id="{DEF3C0D0-3849-4644-B855-3058192E4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1057275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An image is 500 × 500 pixels at 8-bit colour depth. Explain each unit conversion in its raw file size.</a:t>
            </a:r>
          </a:p>
        </p:txBody>
      </p:sp>
    </p:spTree>
    <p:extLst>
      <p:ext uri="{BB962C8B-B14F-4D97-AF65-F5344CB8AC3E}">
        <p14:creationId xmlns:p14="http://schemas.microsoft.com/office/powerpoint/2010/main" val="2701496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558A400-3917-4ED3-BA97-DC0223CCC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8152672F-7553-46E8-B596-0A31C01A4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16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775ACF66-9386-44F7-AF9C-F0EFEC9C5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Application: sample answers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b550eefe4f4da0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10F202B-493B-45A4-B305-15EB4C0D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8 / 16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3E141A9E-63AB-44F4-B336-B1D1156F0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1C02977F-082E-4D39-9C69-FAA88B428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47850"/>
            <a:ext cx="9925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Choose an area using your score and on-screen feedback rather than guessing.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AFC4B295-6EC4-4992-9F0E-C9E66C5A5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146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859AB2A3-F373-48AD-9EEC-4FD23AC91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14675"/>
            <a:ext cx="9925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Write an action such as “redo the Pixel studio file size table, showing bits → bytes → kB.”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80276ACE-98CA-4B85-B3B4-9F7B091AE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item-3">
            <a:extLst xmlns:a="http://schemas.openxmlformats.org/drawingml/2006/main">
              <a:ext uri="{FF2B5EF4-FFF2-40B4-BE49-F238E27FC236}">
                <a16:creationId xmlns:a16="http://schemas.microsoft.com/office/drawing/2014/main" id="{4EAB1852-4793-4761-ACD4-78A80F76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81500"/>
            <a:ext cx="9925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500 × 500 × 8 = 2,000,000 bits; ÷ 8 = 250,000 bytes; ÷ 1,000 = 250 kB. This excludes metadata and compression.</a:t>
            </a:r>
          </a:p>
        </p:txBody>
      </p:sp>
    </p:spTree>
    <p:extLst>
      <p:ext uri="{BB962C8B-B14F-4D97-AF65-F5344CB8AC3E}">
        <p14:creationId xmlns:p14="http://schemas.microsoft.com/office/powerpoint/2010/main" val="921968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EC2D100B-379F-42C7-862A-8A9B3069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9FF760F1-77E9-425F-AB2B-98406E18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16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E0713A64-CC14-4C2F-A0E5-520B8EFD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experience: stations 1–3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d40b4207b3471a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220C160-14DB-4423-8C68-E155FDB34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9 / 16</a:t>
            </a:r>
          </a:p>
        </p:txBody>
      </p:sp>
      <p:sp>
        <p:nvSpPr>
          <p:cNvPr id="6" name="station-intro">
            <a:extLst xmlns:a="http://schemas.openxmlformats.org/drawingml/2006/main">
              <a:ext uri="{FF2B5EF4-FFF2-40B4-BE49-F238E27FC236}">
                <a16:creationId xmlns:a16="http://schemas.microsoft.com/office/drawing/2014/main" id="{ED2BBE20-CEBC-4F49-8318-A1EF2E45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0">
            <a:extLst xmlns:a="http://schemas.openxmlformats.org/drawingml/2006/main">
              <a:ext uri="{FF2B5EF4-FFF2-40B4-BE49-F238E27FC236}">
                <a16:creationId xmlns:a16="http://schemas.microsoft.com/office/drawing/2014/main" id="{78F6046C-C22A-4A83-937E-0371ADE4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  Character sets</a:t>
            </a:r>
          </a:p>
        </p:txBody>
      </p:sp>
      <p:sp>
        <p:nvSpPr>
          <p:cNvPr id="8" name="station-answer-0">
            <a:extLst xmlns:a="http://schemas.openxmlformats.org/drawingml/2006/main">
              <a:ext uri="{FF2B5EF4-FFF2-40B4-BE49-F238E27FC236}">
                <a16:creationId xmlns:a16="http://schemas.microsoft.com/office/drawing/2014/main" id="{594D7559-9194-480A-BDA5-536AE2D1D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ASCII has a small basic set; Unicode supports many more scripts and symbols. Some encodings use more bytes for some characters.</a:t>
            </a:r>
          </a:p>
        </p:txBody>
      </p:sp>
      <p:sp>
        <p:nvSpPr>
          <p:cNvPr id="9" name="station-name-1">
            <a:extLst xmlns:a="http://schemas.openxmlformats.org/drawingml/2006/main">
              <a:ext uri="{FF2B5EF4-FFF2-40B4-BE49-F238E27FC236}">
                <a16:creationId xmlns:a16="http://schemas.microsoft.com/office/drawing/2014/main" id="{F38125B9-5477-4A0A-B551-7609313AC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  Images</a:t>
            </a:r>
          </a:p>
        </p:txBody>
      </p:sp>
      <p:sp>
        <p:nvSpPr>
          <p:cNvPr id="10" name="station-answer-1">
            <a:extLst xmlns:a="http://schemas.openxmlformats.org/drawingml/2006/main">
              <a:ext uri="{FF2B5EF4-FFF2-40B4-BE49-F238E27FC236}">
                <a16:creationId xmlns:a16="http://schemas.microsoft.com/office/drawing/2014/main" id="{F99CCFDC-9EC7-4F78-8DA7-9BAD9BA0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500 × 500 × 8 = 2,000,000 bits = 250,000 bytes = 250 kB.</a:t>
            </a:r>
          </a:p>
        </p:txBody>
      </p:sp>
      <p:sp>
        <p:nvSpPr>
          <p:cNvPr id="11" name="station-name-2">
            <a:extLst xmlns:a="http://schemas.openxmlformats.org/drawingml/2006/main">
              <a:ext uri="{FF2B5EF4-FFF2-40B4-BE49-F238E27FC236}">
                <a16:creationId xmlns:a16="http://schemas.microsoft.com/office/drawing/2014/main" id="{C11E9D67-907C-497C-9E3E-E42F1572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  Sound</a:t>
            </a:r>
          </a:p>
        </p:txBody>
      </p:sp>
      <p:sp>
        <p:nvSpPr>
          <p:cNvPr id="12" name="station-answer-2">
            <a:extLst xmlns:a="http://schemas.openxmlformats.org/drawingml/2006/main">
              <a:ext uri="{FF2B5EF4-FFF2-40B4-BE49-F238E27FC236}">
                <a16:creationId xmlns:a16="http://schemas.microsoft.com/office/drawing/2014/main" id="{8F748DEE-CAB7-43AE-BC73-176C52CCC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20 × 16,000 × 8 = 2,560,000 bits = 320,000 bytes = 320 kB for mono sound.</a:t>
            </a:r>
          </a:p>
        </p:txBody>
      </p:sp>
    </p:spTree>
    <p:extLst>
      <p:ext uri="{BB962C8B-B14F-4D97-AF65-F5344CB8AC3E}">
        <p14:creationId xmlns:p14="http://schemas.microsoft.com/office/powerpoint/2010/main" val="36150809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2DE6DA5E-88F9-4083-877B-4A282781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4D621ED3-07ED-4543-B7BE-D514DF90F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16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AE22DC4F-692F-4320-B454-6C7DFB285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experience: stations 4–6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d141de3b654bd9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7F72382-5B93-4CA6-A1EE-CA5D36F15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10 / 16</a:t>
            </a:r>
          </a:p>
        </p:txBody>
      </p:sp>
      <p:sp>
        <p:nvSpPr>
          <p:cNvPr id="6" name="station-intro">
            <a:extLst xmlns:a="http://schemas.openxmlformats.org/drawingml/2006/main">
              <a:ext uri="{FF2B5EF4-FFF2-40B4-BE49-F238E27FC236}">
                <a16:creationId xmlns:a16="http://schemas.microsoft.com/office/drawing/2014/main" id="{8A55BD20-ABB8-4D9A-AADB-DAC9C340A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3">
            <a:extLst xmlns:a="http://schemas.openxmlformats.org/drawingml/2006/main">
              <a:ext uri="{FF2B5EF4-FFF2-40B4-BE49-F238E27FC236}">
                <a16:creationId xmlns:a16="http://schemas.microsoft.com/office/drawing/2014/main" id="{97DD2EF1-896A-4EEA-95F1-2DF18866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  Compression</a:t>
            </a:r>
          </a:p>
        </p:txBody>
      </p:sp>
      <p:sp>
        <p:nvSpPr>
          <p:cNvPr id="8" name="station-answer-3">
            <a:extLst xmlns:a="http://schemas.openxmlformats.org/drawingml/2006/main">
              <a:ext uri="{FF2B5EF4-FFF2-40B4-BE49-F238E27FC236}">
                <a16:creationId xmlns:a16="http://schemas.microsoft.com/office/drawing/2014/main" id="{7726466E-33A5-42F1-96C7-C66CC53D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Compression reduces storage and transmission time; lossless recovers exact data, while lossy removes detail.</a:t>
            </a:r>
          </a:p>
        </p:txBody>
      </p:sp>
      <p:sp>
        <p:nvSpPr>
          <p:cNvPr id="9" name="station-name-4">
            <a:extLst xmlns:a="http://schemas.openxmlformats.org/drawingml/2006/main">
              <a:ext uri="{FF2B5EF4-FFF2-40B4-BE49-F238E27FC236}">
                <a16:creationId xmlns:a16="http://schemas.microsoft.com/office/drawing/2014/main" id="{FE4784AE-7E26-44BB-8221-B4429A6A2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5  Calculations practice</a:t>
            </a:r>
          </a:p>
        </p:txBody>
      </p:sp>
      <p:sp>
        <p:nvSpPr>
          <p:cNvPr id="10" name="station-answer-4">
            <a:extLst xmlns:a="http://schemas.openxmlformats.org/drawingml/2006/main">
              <a:ext uri="{FF2B5EF4-FFF2-40B4-BE49-F238E27FC236}">
                <a16:creationId xmlns:a16="http://schemas.microsoft.com/office/drawing/2014/main" id="{9C5A1F3B-8FC4-4A5E-89D1-0AD89E74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For each image, sound or text problem, choose the correct formula, calculate bits, then convert to bytes and a sensible unit.</a:t>
            </a:r>
          </a:p>
        </p:txBody>
      </p:sp>
      <p:sp>
        <p:nvSpPr>
          <p:cNvPr id="11" name="station-name-5">
            <a:extLst xmlns:a="http://schemas.openxmlformats.org/drawingml/2006/main">
              <a:ext uri="{FF2B5EF4-FFF2-40B4-BE49-F238E27FC236}">
                <a16:creationId xmlns:a16="http://schemas.microsoft.com/office/drawing/2014/main" id="{44430C66-404C-4779-92B9-A6526109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6  Exam technique</a:t>
            </a:r>
          </a:p>
        </p:txBody>
      </p:sp>
      <p:sp>
        <p:nvSpPr>
          <p:cNvPr id="12" name="station-answer-5">
            <a:extLst xmlns:a="http://schemas.openxmlformats.org/drawingml/2006/main">
              <a:ext uri="{FF2B5EF4-FFF2-40B4-BE49-F238E27FC236}">
                <a16:creationId xmlns:a16="http://schemas.microsoft.com/office/drawing/2014/main" id="{67F681FE-5EE4-4A21-9DA8-37B56C19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State gives a brief fact; describe gives detail; explain links cause and effect; calculate shows the method and units.</a:t>
            </a:r>
          </a:p>
        </p:txBody>
      </p:sp>
    </p:spTree>
    <p:extLst>
      <p:ext uri="{BB962C8B-B14F-4D97-AF65-F5344CB8AC3E}">
        <p14:creationId xmlns:p14="http://schemas.microsoft.com/office/powerpoint/2010/main" val="170589079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A2AAAC25-FC8E-4DB4-BA1F-1929A887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F3BACEDD-F8DD-495E-A607-7B43B399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16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CD33C22C-C41E-48D6-BC49-407E15D3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Final challenge: answers 1–5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77775c9eab4ce2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E3FEDB0-9E64-4EDE-84DA-4D9C8360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11 / 16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C497DC15-B624-4BAD-A0BD-43EFB39A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90674CB0-08C3-4659-9E8E-4C4533AE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19275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Convert the character code 90 (the letter Z) into 8-bit binary → 01011010. 90 is 01011010.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CFB18288-AB22-49E1-93FC-109F7A1A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574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5808B397-4F75-477B-939D-36A87DE7A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57475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ASCII uses 7 bits per character → Text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42BA83A3-454D-4F5A-9564-88640A5D9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956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item-3">
            <a:extLst xmlns:a="http://schemas.openxmlformats.org/drawingml/2006/main">
              <a:ext uri="{FF2B5EF4-FFF2-40B4-BE49-F238E27FC236}">
                <a16:creationId xmlns:a16="http://schemas.microsoft.com/office/drawing/2014/main" id="{4CF84569-E260-4313-A625-42B6CAB8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95675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Colour depth is bits per pixel → Images</a:t>
            </a:r>
          </a:p>
        </p:txBody>
      </p:sp>
      <p:sp>
        <p:nvSpPr>
          <p:cNvPr id="12" name="number-4">
            <a:extLst xmlns:a="http://schemas.openxmlformats.org/drawingml/2006/main">
              <a:ext uri="{FF2B5EF4-FFF2-40B4-BE49-F238E27FC236}">
                <a16:creationId xmlns:a16="http://schemas.microsoft.com/office/drawing/2014/main" id="{721338DC-E9C9-4803-B490-4BF409F26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338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4.</a:t>
            </a:r>
          </a:p>
        </p:txBody>
      </p:sp>
      <p:sp>
        <p:nvSpPr>
          <p:cNvPr id="13" name="item-4">
            <a:extLst xmlns:a="http://schemas.openxmlformats.org/drawingml/2006/main">
              <a:ext uri="{FF2B5EF4-FFF2-40B4-BE49-F238E27FC236}">
                <a16:creationId xmlns:a16="http://schemas.microsoft.com/office/drawing/2014/main" id="{E522E78C-0938-4FC0-88EE-18383B91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33875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Sample rate is measured in hertz → Sound</a:t>
            </a:r>
          </a:p>
        </p:txBody>
      </p:sp>
      <p:sp>
        <p:nvSpPr>
          <p:cNvPr id="14" name="number-5">
            <a:extLst xmlns:a="http://schemas.openxmlformats.org/drawingml/2006/main">
              <a:ext uri="{FF2B5EF4-FFF2-40B4-BE49-F238E27FC236}">
                <a16:creationId xmlns:a16="http://schemas.microsoft.com/office/drawing/2014/main" id="{B9B2C52D-7AE6-4EA9-918F-98E53933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720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5.</a:t>
            </a:r>
          </a:p>
        </p:txBody>
      </p:sp>
      <p:sp>
        <p:nvSpPr>
          <p:cNvPr id="15" name="item-5">
            <a:extLst xmlns:a="http://schemas.openxmlformats.org/drawingml/2006/main">
              <a:ext uri="{FF2B5EF4-FFF2-40B4-BE49-F238E27FC236}">
                <a16:creationId xmlns:a16="http://schemas.microsoft.com/office/drawing/2014/main" id="{13EC9DBD-B4D7-4042-BD03-B7E0FE47C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72075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Lossy removes data permanently → Compression</a:t>
            </a:r>
          </a:p>
        </p:txBody>
      </p:sp>
    </p:spTree>
    <p:extLst>
      <p:ext uri="{BB962C8B-B14F-4D97-AF65-F5344CB8AC3E}">
        <p14:creationId xmlns:p14="http://schemas.microsoft.com/office/powerpoint/2010/main" val="203499035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A56665FB-C27E-4A4F-A9C3-75F04B44D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D034576D-D460-43CB-A332-F1D7B4A71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16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C6D6F6AB-9916-43E7-9116-B74A6572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Final challenge: answers 6–9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e2a5c3cbfb410a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1006B89-842C-4500-A7C3-698F67D4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12 / 16</a:t>
            </a:r>
          </a:p>
        </p:txBody>
      </p:sp>
      <p:sp>
        <p:nvSpPr>
          <p:cNvPr id="6" name="number-6">
            <a:extLst xmlns:a="http://schemas.openxmlformats.org/drawingml/2006/main">
              <a:ext uri="{FF2B5EF4-FFF2-40B4-BE49-F238E27FC236}">
                <a16:creationId xmlns:a16="http://schemas.microsoft.com/office/drawing/2014/main" id="{B46CAE1A-A239-4E16-BAAA-3FC5D356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6.</a:t>
            </a:r>
          </a:p>
        </p:txBody>
      </p:sp>
      <p:sp>
        <p:nvSpPr>
          <p:cNvPr id="7" name="item-6">
            <a:extLst xmlns:a="http://schemas.openxmlformats.org/drawingml/2006/main">
              <a:ext uri="{FF2B5EF4-FFF2-40B4-BE49-F238E27FC236}">
                <a16:creationId xmlns:a16="http://schemas.microsoft.com/office/drawing/2014/main" id="{03B5DE34-8328-4BFF-91D5-C1C654A88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19275"/>
            <a:ext cx="99250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Metadata stores the dimensions → Images</a:t>
            </a:r>
          </a:p>
        </p:txBody>
      </p:sp>
      <p:sp>
        <p:nvSpPr>
          <p:cNvPr id="8" name="number-7">
            <a:extLst xmlns:a="http://schemas.openxmlformats.org/drawingml/2006/main">
              <a:ext uri="{FF2B5EF4-FFF2-40B4-BE49-F238E27FC236}">
                <a16:creationId xmlns:a16="http://schemas.microsoft.com/office/drawing/2014/main" id="{E280433B-7187-4081-A8FD-B6DC345A7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7.</a:t>
            </a:r>
          </a:p>
        </p:txBody>
      </p:sp>
      <p:sp>
        <p:nvSpPr>
          <p:cNvPr id="9" name="item-7">
            <a:extLst xmlns:a="http://schemas.openxmlformats.org/drawingml/2006/main">
              <a:ext uri="{FF2B5EF4-FFF2-40B4-BE49-F238E27FC236}">
                <a16:creationId xmlns:a16="http://schemas.microsoft.com/office/drawing/2014/main" id="{B7792041-7E3D-4004-96CA-40AA6C26C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00350"/>
            <a:ext cx="99250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Unicode covers every writing system → Text</a:t>
            </a:r>
          </a:p>
        </p:txBody>
      </p:sp>
      <p:sp>
        <p:nvSpPr>
          <p:cNvPr id="10" name="number-8">
            <a:extLst xmlns:a="http://schemas.openxmlformats.org/drawingml/2006/main">
              <a:ext uri="{FF2B5EF4-FFF2-40B4-BE49-F238E27FC236}">
                <a16:creationId xmlns:a16="http://schemas.microsoft.com/office/drawing/2014/main" id="{E6AEF612-F73D-4F16-B460-0E242860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814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8.</a:t>
            </a:r>
          </a:p>
        </p:txBody>
      </p:sp>
      <p:sp>
        <p:nvSpPr>
          <p:cNvPr id="11" name="item-8">
            <a:extLst xmlns:a="http://schemas.openxmlformats.org/drawingml/2006/main">
              <a:ext uri="{FF2B5EF4-FFF2-40B4-BE49-F238E27FC236}">
                <a16:creationId xmlns:a16="http://schemas.microsoft.com/office/drawing/2014/main" id="{623E391F-DB56-4CA7-A908-5F0993D8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81425"/>
            <a:ext cx="99250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Bit depth sets the number of levels → Sound</a:t>
            </a:r>
          </a:p>
        </p:txBody>
      </p:sp>
      <p:sp>
        <p:nvSpPr>
          <p:cNvPr id="12" name="number-9">
            <a:extLst xmlns:a="http://schemas.openxmlformats.org/drawingml/2006/main">
              <a:ext uri="{FF2B5EF4-FFF2-40B4-BE49-F238E27FC236}">
                <a16:creationId xmlns:a16="http://schemas.microsoft.com/office/drawing/2014/main" id="{4FC33EE5-B0E7-4929-8CEC-4CA42E98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9.</a:t>
            </a:r>
          </a:p>
        </p:txBody>
      </p:sp>
      <p:sp>
        <p:nvSpPr>
          <p:cNvPr id="13" name="item-9">
            <a:extLst xmlns:a="http://schemas.openxmlformats.org/drawingml/2006/main">
              <a:ext uri="{FF2B5EF4-FFF2-40B4-BE49-F238E27FC236}">
                <a16:creationId xmlns:a16="http://schemas.microsoft.com/office/drawing/2014/main" id="{FF7A063E-72BC-4203-8287-3DE1E7C0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62500"/>
            <a:ext cx="99250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Run-length encoding is lossless → Compression</a:t>
            </a:r>
          </a:p>
        </p:txBody>
      </p:sp>
    </p:spTree>
    <p:extLst>
      <p:ext uri="{BB962C8B-B14F-4D97-AF65-F5344CB8AC3E}">
        <p14:creationId xmlns:p14="http://schemas.microsoft.com/office/powerpoint/2010/main" val="211090860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FFA27A8-5577-45C7-BE2D-E82A415C7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ACE5ACC9-F284-4F93-B117-E147D79A2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16   /   PLENARY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60F92F1B-9589-4539-BFBF-EAC0A430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questions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880c5ecd9444bc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A270396-B937-4494-8853-E16D99D1F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13 / 16</a:t>
            </a:r>
          </a:p>
        </p:txBody>
      </p:sp>
      <p:sp>
        <p:nvSpPr>
          <p:cNvPr id="6" name="plenary-instruction">
            <a:extLst xmlns:a="http://schemas.openxmlformats.org/drawingml/2006/main">
              <a:ext uri="{FF2B5EF4-FFF2-40B4-BE49-F238E27FC236}">
                <a16:creationId xmlns:a16="http://schemas.microsoft.com/office/drawing/2014/main" id="{C6A62C5E-3080-4D47-A0F6-34A67094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Close the experience. Answer from memory on the worksheet.</a:t>
            </a:r>
          </a:p>
        </p:txBody>
      </p:sp>
      <p:sp>
        <p:nvSpPr>
          <p:cNvPr id="7" name="question-0">
            <a:extLst xmlns:a="http://schemas.openxmlformats.org/drawingml/2006/main">
              <a:ext uri="{FF2B5EF4-FFF2-40B4-BE49-F238E27FC236}">
                <a16:creationId xmlns:a16="http://schemas.microsoft.com/office/drawing/2014/main" id="{C982E18C-5956-475F-BE6D-71230BFB0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a)  Describe the difference between lossy and lossless compression.  [4]</a:t>
            </a:r>
          </a:p>
        </p:txBody>
      </p:sp>
      <p:sp>
        <p:nvSpPr>
          <p:cNvPr id="8" name="question-1">
            <a:extLst xmlns:a="http://schemas.openxmlformats.org/drawingml/2006/main">
              <a:ext uri="{FF2B5EF4-FFF2-40B4-BE49-F238E27FC236}">
                <a16:creationId xmlns:a16="http://schemas.microsoft.com/office/drawing/2014/main" id="{26F9DD35-56A2-4F15-A660-7C7201641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b)  An image is 640 × 480 with 8-bit colour depth. Calculate its size in kilobytes.  [3]</a:t>
            </a:r>
          </a:p>
        </p:txBody>
      </p:sp>
    </p:spTree>
    <p:extLst>
      <p:ext uri="{BB962C8B-B14F-4D97-AF65-F5344CB8AC3E}">
        <p14:creationId xmlns:p14="http://schemas.microsoft.com/office/powerpoint/2010/main" val="125718364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33CB7C3E-999B-4753-B770-472CDA597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80376117-27B0-4B69-9148-72164CC1C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16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035064B9-50D1-4C53-9C8E-33B554411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answers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50d7038e2c4d46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E5CD535-461B-4863-A06A-D980035B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14 / 16</a:t>
            </a:r>
          </a:p>
        </p:txBody>
      </p:sp>
      <p:sp>
        <p:nvSpPr>
          <p:cNvPr id="6" name="scheme-intro">
            <a:extLst xmlns:a="http://schemas.openxmlformats.org/drawingml/2006/main">
              <a:ext uri="{FF2B5EF4-FFF2-40B4-BE49-F238E27FC236}">
                <a16:creationId xmlns:a16="http://schemas.microsoft.com/office/drawing/2014/main" id="{0B1372E3-3336-4759-8BBB-851D146C0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071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Indicative points. Credit accurate answers in students’ own words.</a:t>
            </a:r>
          </a:p>
        </p:txBody>
      </p:sp>
      <p:sp>
        <p:nvSpPr>
          <p:cNvPr id="7" name="answer-0">
            <a:extLst xmlns:a="http://schemas.openxmlformats.org/drawingml/2006/main">
              <a:ext uri="{FF2B5EF4-FFF2-40B4-BE49-F238E27FC236}">
                <a16:creationId xmlns:a16="http://schemas.microsoft.com/office/drawing/2014/main" id="{710B356A-9C8C-44CA-9315-BD0D1A37B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1057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a) Lossy permanently removes some data, so the exact original cannot be restored. Lossless reduces size while allowing all original data to be reconstructed.</a:t>
            </a:r>
          </a:p>
        </p:txBody>
      </p:sp>
      <p:sp>
        <p:nvSpPr>
          <p:cNvPr id="8" name="answer-1">
            <a:extLst xmlns:a="http://schemas.openxmlformats.org/drawingml/2006/main">
              <a:ext uri="{FF2B5EF4-FFF2-40B4-BE49-F238E27FC236}">
                <a16:creationId xmlns:a16="http://schemas.microsoft.com/office/drawing/2014/main" id="{28398DB8-2DAC-4E03-A64C-2B41FF112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057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b) 640 × 480 × 8 = 2,457,600 bits; ÷ 8 = 307,200 bytes; ÷ 1,000 = 307.2 kB.</a:t>
            </a:r>
          </a:p>
        </p:txBody>
      </p:sp>
    </p:spTree>
    <p:extLst>
      <p:ext uri="{BB962C8B-B14F-4D97-AF65-F5344CB8AC3E}">
        <p14:creationId xmlns:p14="http://schemas.microsoft.com/office/powerpoint/2010/main" val="17652825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9CB79CBD-E0B0-4CAD-B1AD-17884987B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83F99316-AD12-4B2C-A5A5-1093E2358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16   /   WORKSHEET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4F55A8DA-BCAB-46EC-B8A6-982C857D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Revision checklist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0befff11754496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D5AE352-D4BD-4ABA-94B1-6B3F8C84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15 / 16</a:t>
            </a:r>
          </a:p>
        </p:txBody>
      </p:sp>
      <p:sp>
        <p:nvSpPr>
          <p:cNvPr id="6" name="rag">
            <a:extLst xmlns:a="http://schemas.openxmlformats.org/drawingml/2006/main">
              <a:ext uri="{FF2B5EF4-FFF2-40B4-BE49-F238E27FC236}">
                <a16:creationId xmlns:a16="http://schemas.microsoft.com/office/drawing/2014/main" id="{D88D5817-EAD8-4EE3-9F7F-2F1389E7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RAG the Topic 1.2 areas on your worksheet.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2C4DEA95-6707-467F-A049-A2C43A55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6BEBD725-3A97-4477-B0E0-00C7C15C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47875"/>
            <a:ext cx="9925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Character sets: ASCII and Unicode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5E00C7BF-0E42-4FE6-B03B-B1702B58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03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7B555353-0776-4E16-8A8F-5B31C9CB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00325"/>
            <a:ext cx="9925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Images: pixels, colour depth, resolution, metadata</a:t>
            </a: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5DB4E8AC-672A-49F3-9D3E-73B443C2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527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F3EF436D-A511-4500-B8DB-34B4B7232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52775"/>
            <a:ext cx="9925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Image file size calculations</a:t>
            </a:r>
          </a:p>
        </p:txBody>
      </p:sp>
      <p:sp>
        <p:nvSpPr>
          <p:cNvPr id="13" name="number-4">
            <a:extLst xmlns:a="http://schemas.openxmlformats.org/drawingml/2006/main">
              <a:ext uri="{FF2B5EF4-FFF2-40B4-BE49-F238E27FC236}">
                <a16:creationId xmlns:a16="http://schemas.microsoft.com/office/drawing/2014/main" id="{623D81EA-E89B-4B5C-9E1E-86CB8D435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052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4.</a:t>
            </a:r>
          </a:p>
        </p:txBody>
      </p:sp>
      <p:sp>
        <p:nvSpPr>
          <p:cNvPr id="14" name="item-4">
            <a:extLst xmlns:a="http://schemas.openxmlformats.org/drawingml/2006/main">
              <a:ext uri="{FF2B5EF4-FFF2-40B4-BE49-F238E27FC236}">
                <a16:creationId xmlns:a16="http://schemas.microsoft.com/office/drawing/2014/main" id="{0249DB0E-0805-46A3-8AF8-FE69BAFA8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05225"/>
            <a:ext cx="9925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Sound: sampling, sample rate, bit depth</a:t>
            </a:r>
          </a:p>
        </p:txBody>
      </p:sp>
      <p:sp>
        <p:nvSpPr>
          <p:cNvPr id="15" name="number-5">
            <a:extLst xmlns:a="http://schemas.openxmlformats.org/drawingml/2006/main">
              <a:ext uri="{FF2B5EF4-FFF2-40B4-BE49-F238E27FC236}">
                <a16:creationId xmlns:a16="http://schemas.microsoft.com/office/drawing/2014/main" id="{33E3F888-63F1-4163-BF87-8027D9EB4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576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5.</a:t>
            </a:r>
          </a:p>
        </p:txBody>
      </p:sp>
      <p:sp>
        <p:nvSpPr>
          <p:cNvPr id="16" name="item-5">
            <a:extLst xmlns:a="http://schemas.openxmlformats.org/drawingml/2006/main">
              <a:ext uri="{FF2B5EF4-FFF2-40B4-BE49-F238E27FC236}">
                <a16:creationId xmlns:a16="http://schemas.microsoft.com/office/drawing/2014/main" id="{B235E2EF-D01C-4346-A535-154B7D035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57675"/>
            <a:ext cx="9925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Sound file size calculations</a:t>
            </a:r>
          </a:p>
        </p:txBody>
      </p:sp>
      <p:sp>
        <p:nvSpPr>
          <p:cNvPr id="17" name="number-6">
            <a:extLst xmlns:a="http://schemas.openxmlformats.org/drawingml/2006/main">
              <a:ext uri="{FF2B5EF4-FFF2-40B4-BE49-F238E27FC236}">
                <a16:creationId xmlns:a16="http://schemas.microsoft.com/office/drawing/2014/main" id="{B5987A70-8F6F-4007-AED3-A8CAD509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6.</a:t>
            </a:r>
          </a:p>
        </p:txBody>
      </p:sp>
      <p:sp>
        <p:nvSpPr>
          <p:cNvPr id="18" name="item-6">
            <a:extLst xmlns:a="http://schemas.openxmlformats.org/drawingml/2006/main">
              <a:ext uri="{FF2B5EF4-FFF2-40B4-BE49-F238E27FC236}">
                <a16:creationId xmlns:a16="http://schemas.microsoft.com/office/drawing/2014/main" id="{F4D7C006-53DE-4BA8-A319-BF06F59C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10125"/>
            <a:ext cx="9925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Compression: lossy and lossless</a:t>
            </a:r>
          </a:p>
        </p:txBody>
      </p:sp>
      <p:sp>
        <p:nvSpPr>
          <p:cNvPr id="19" name="number-7">
            <a:extLst xmlns:a="http://schemas.openxmlformats.org/drawingml/2006/main">
              <a:ext uri="{FF2B5EF4-FFF2-40B4-BE49-F238E27FC236}">
                <a16:creationId xmlns:a16="http://schemas.microsoft.com/office/drawing/2014/main" id="{9FC05618-77C3-468E-A615-F22DA319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625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7.</a:t>
            </a:r>
          </a:p>
        </p:txBody>
      </p:sp>
      <p:sp>
        <p:nvSpPr>
          <p:cNvPr id="20" name="item-7">
            <a:extLst xmlns:a="http://schemas.openxmlformats.org/drawingml/2006/main">
              <a:ext uri="{FF2B5EF4-FFF2-40B4-BE49-F238E27FC236}">
                <a16:creationId xmlns:a16="http://schemas.microsoft.com/office/drawing/2014/main" id="{BB97A31D-1465-4710-BBCB-709AB115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362575"/>
            <a:ext cx="9925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Run-length encoding</a:t>
            </a:r>
          </a:p>
        </p:txBody>
      </p:sp>
    </p:spTree>
    <p:extLst>
      <p:ext uri="{BB962C8B-B14F-4D97-AF65-F5344CB8AC3E}">
        <p14:creationId xmlns:p14="http://schemas.microsoft.com/office/powerpoint/2010/main" val="123288628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9F15BC9A-F3F2-4C67-9269-646BAFBF6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AB0B7B0-4D5B-4621-BE4C-0E3AE4D0F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16   /   SELF-CHECK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4396A231-A5CA-4AC0-ADF6-5279E465F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How confident am I?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925289c6944ed3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755C1D5-6012-45D5-9222-1B7CF7739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16 / 16</a:t>
            </a:r>
          </a:p>
        </p:txBody>
      </p:sp>
      <p:sp>
        <p:nvSpPr>
          <p:cNvPr id="6" name="confidence-intro">
            <a:extLst xmlns:a="http://schemas.openxmlformats.org/drawingml/2006/main">
              <a:ext uri="{FF2B5EF4-FFF2-40B4-BE49-F238E27FC236}">
                <a16:creationId xmlns:a16="http://schemas.microsoft.com/office/drawing/2014/main" id="{1406B4B5-8589-44F4-97F2-498C69BCE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Select Not yet, Getting there or Confident for each objective on the worksheet.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8769540E-786A-497B-BD9A-368BA9F0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577E1906-1320-4E35-A88D-0ED243CD7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14600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Character sets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6DAB0319-65F6-4646-995C-E55ECAFC6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08B621E5-FA65-48AF-9B78-1B28129F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43300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Images and sound</a:t>
            </a: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C90D3D34-BF70-4D52-AC0A-7B03156FD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A9958982-BE6C-495F-88FA-1AB63C16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72000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Compression</a:t>
            </a:r>
          </a:p>
        </p:txBody>
      </p:sp>
    </p:spTree>
    <p:extLst>
      <p:ext uri="{BB962C8B-B14F-4D97-AF65-F5344CB8AC3E}">
        <p14:creationId xmlns:p14="http://schemas.microsoft.com/office/powerpoint/2010/main" val="17882816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2026-09-25T13:18:30.2530000Z</dcterms:created>
  <dcterms:modified xsi:type="dcterms:W3CDTF">2026-09-25T13:18:30.2530000Z</dcterms:modified>
</coreProperties>
</file>