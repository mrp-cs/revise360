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3476f94fb24ab7" /><Relationship Type="http://schemas.openxmlformats.org/officeDocument/2006/relationships/extended-properties" Target="/docProps/app.xml" Id="Rebbd0f4a4486458b" /><Relationship Type="http://schemas.openxmlformats.org/officeDocument/2006/relationships/officeDocument" Target="/ppt/presentation.xml" Id="R1de07c4d6be84a23" /></Relationships>
</file>

<file path=ppt/presentation.xml><?xml version="1.0" encoding="utf-8"?>
<p:presentation xmlns:p="http://schemas.openxmlformats.org/presentationml/2006/main">
  <p:sldMasterIdLst>
    <p:sldMasterId xmlns:r="http://schemas.openxmlformats.org/officeDocument/2006/relationships" id="2147483648" r:id="Rdba358905c1146f1"/>
  </p:sldMasterIdLst>
  <p:notesMasterIdLst>
    <p:notesMasterId xmlns:r="http://schemas.openxmlformats.org/officeDocument/2006/relationships" r:id="R544a1e12d67c4602"/>
  </p:notesMasterIdLst>
  <p:sldIdLst>
    <p:sldId xmlns:r="http://schemas.openxmlformats.org/officeDocument/2006/relationships" id="256" r:id="Ra4bb7739c6b9478d"/>
    <p:sldId xmlns:r="http://schemas.openxmlformats.org/officeDocument/2006/relationships" id="257" r:id="R7ef1d21eefc645e5"/>
    <p:sldId xmlns:r="http://schemas.openxmlformats.org/officeDocument/2006/relationships" id="258" r:id="Rb9e7bb974510446f"/>
    <p:sldId xmlns:r="http://schemas.openxmlformats.org/officeDocument/2006/relationships" id="259" r:id="R027a2236f47a4180"/>
    <p:sldId xmlns:r="http://schemas.openxmlformats.org/officeDocument/2006/relationships" id="260" r:id="R6d74c0a20f5d4643"/>
    <p:sldId xmlns:r="http://schemas.openxmlformats.org/officeDocument/2006/relationships" id="261" r:id="R7164fbcfdf4248ce"/>
    <p:sldId xmlns:r="http://schemas.openxmlformats.org/officeDocument/2006/relationships" id="262" r:id="Ref3d7bc7d67944b7"/>
    <p:sldId xmlns:r="http://schemas.openxmlformats.org/officeDocument/2006/relationships" id="263" r:id="Ra1b548711c01482a"/>
    <p:sldId xmlns:r="http://schemas.openxmlformats.org/officeDocument/2006/relationships" id="264" r:id="Rea15d34e784a431d"/>
    <p:sldId xmlns:r="http://schemas.openxmlformats.org/officeDocument/2006/relationships" id="265" r:id="Rb4f7939f4ae74c3a"/>
    <p:sldId xmlns:r="http://schemas.openxmlformats.org/officeDocument/2006/relationships" id="266" r:id="Rec425ffab74d4f4f"/>
    <p:sldId xmlns:r="http://schemas.openxmlformats.org/officeDocument/2006/relationships" id="267" r:id="Rda5f6f1828ca476f"/>
    <p:sldId xmlns:r="http://schemas.openxmlformats.org/officeDocument/2006/relationships" id="268" r:id="Rcbb2eee5e9974740"/>
    <p:sldId xmlns:r="http://schemas.openxmlformats.org/officeDocument/2006/relationships" id="269" r:id="R52335eb6ae134828"/>
    <p:sldId xmlns:r="http://schemas.openxmlformats.org/officeDocument/2006/relationships" id="270" r:id="Rc0177d05e9a94a37"/>
    <p:sldId xmlns:r="http://schemas.openxmlformats.org/officeDocument/2006/relationships" id="271" r:id="Ra2d5bdc68f344eca"/>
    <p:sldId xmlns:r="http://schemas.openxmlformats.org/officeDocument/2006/relationships" id="272" r:id="R7ac73359fea04116"/>
    <p:sldId xmlns:r="http://schemas.openxmlformats.org/officeDocument/2006/relationships" id="273" r:id="R0f1c3d335b9a49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4df69fed67411c" /><Relationship Type="http://schemas.openxmlformats.org/officeDocument/2006/relationships/slideMaster" Target="/ppt/slideMasters/slideMaster1.xml" Id="Rdba358905c1146f1" /><Relationship Type="http://schemas.openxmlformats.org/officeDocument/2006/relationships/notesMaster" Target="/ppt/notesMasters/notesMaster1.xml" Id="R544a1e12d67c4602" /><Relationship Type="http://schemas.openxmlformats.org/officeDocument/2006/relationships/presProps" Target="/ppt/presProps.xml" Id="R003671c1323f4ccb" /><Relationship Type="http://schemas.openxmlformats.org/officeDocument/2006/relationships/tableStyles" Target="/ppt/tableStyles.xml" Id="R38d39206c00b49d1" /><Relationship Type="http://schemas.openxmlformats.org/officeDocument/2006/relationships/slide" Target="/ppt/slides/slide1.xml" Id="Ra4bb7739c6b9478d" /><Relationship Type="http://schemas.openxmlformats.org/officeDocument/2006/relationships/slide" Target="/ppt/slides/slide2.xml" Id="R7ef1d21eefc645e5" /><Relationship Type="http://schemas.openxmlformats.org/officeDocument/2006/relationships/slide" Target="/ppt/slides/slide3.xml" Id="Rb9e7bb974510446f" /><Relationship Type="http://schemas.openxmlformats.org/officeDocument/2006/relationships/slide" Target="/ppt/slides/slide4.xml" Id="R027a2236f47a4180" /><Relationship Type="http://schemas.openxmlformats.org/officeDocument/2006/relationships/slide" Target="/ppt/slides/slide5.xml" Id="R6d74c0a20f5d4643" /><Relationship Type="http://schemas.openxmlformats.org/officeDocument/2006/relationships/slide" Target="/ppt/slides/slide6.xml" Id="R7164fbcfdf4248ce" /><Relationship Type="http://schemas.openxmlformats.org/officeDocument/2006/relationships/slide" Target="/ppt/slides/slide7.xml" Id="Ref3d7bc7d67944b7" /><Relationship Type="http://schemas.openxmlformats.org/officeDocument/2006/relationships/slide" Target="/ppt/slides/slide8.xml" Id="Ra1b548711c01482a" /><Relationship Type="http://schemas.openxmlformats.org/officeDocument/2006/relationships/slide" Target="/ppt/slides/slide9.xml" Id="Rea15d34e784a431d" /><Relationship Type="http://schemas.openxmlformats.org/officeDocument/2006/relationships/slide" Target="/ppt/slides/slide10.xml" Id="Rb4f7939f4ae74c3a" /><Relationship Type="http://schemas.openxmlformats.org/officeDocument/2006/relationships/slide" Target="/ppt/slides/slide11.xml" Id="Rec425ffab74d4f4f" /><Relationship Type="http://schemas.openxmlformats.org/officeDocument/2006/relationships/slide" Target="/ppt/slides/slide12.xml" Id="Rda5f6f1828ca476f" /><Relationship Type="http://schemas.openxmlformats.org/officeDocument/2006/relationships/slide" Target="/ppt/slides/slide13.xml" Id="Rcbb2eee5e9974740" /><Relationship Type="http://schemas.openxmlformats.org/officeDocument/2006/relationships/slide" Target="/ppt/slides/slide14.xml" Id="R52335eb6ae134828" /><Relationship Type="http://schemas.openxmlformats.org/officeDocument/2006/relationships/slide" Target="/ppt/slides/slide15.xml" Id="Rc0177d05e9a94a37" /><Relationship Type="http://schemas.openxmlformats.org/officeDocument/2006/relationships/slide" Target="/ppt/slides/slide16.xml" Id="Ra2d5bdc68f344eca" /><Relationship Type="http://schemas.openxmlformats.org/officeDocument/2006/relationships/slide" Target="/ppt/slides/slide17.xml" Id="R7ac73359fea04116" /><Relationship Type="http://schemas.openxmlformats.org/officeDocument/2006/relationships/slide" Target="/ppt/slides/slide18.xml" Id="R0f1c3d335b9a49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53e28a912e4c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62366ab9ae468c" /><Relationship Type="http://schemas.openxmlformats.org/officeDocument/2006/relationships/notesMaster" Target="/ppt/notesMasters/notesMaster1.xml" Id="R1bd6067a1dfc44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4f2e37089c4612" /><Relationship Type="http://schemas.openxmlformats.org/officeDocument/2006/relationships/notesMaster" Target="/ppt/notesMasters/notesMaster1.xml" Id="Rfc767f9a83bd41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da6ed833154e87" /><Relationship Type="http://schemas.openxmlformats.org/officeDocument/2006/relationships/notesMaster" Target="/ppt/notesMasters/notesMaster1.xml" Id="R86c900ca1cac4b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154c08d6974924" /><Relationship Type="http://schemas.openxmlformats.org/officeDocument/2006/relationships/notesMaster" Target="/ppt/notesMasters/notesMaster1.xml" Id="R1b180cb042864d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56afc2f5d44c3f" /><Relationship Type="http://schemas.openxmlformats.org/officeDocument/2006/relationships/notesMaster" Target="/ppt/notesMasters/notesMaster1.xml" Id="Refab4a5fc68a49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d57ca88f574030" /><Relationship Type="http://schemas.openxmlformats.org/officeDocument/2006/relationships/notesMaster" Target="/ppt/notesMasters/notesMaster1.xml" Id="Re0bdacc2344543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142c640570459d" /><Relationship Type="http://schemas.openxmlformats.org/officeDocument/2006/relationships/notesMaster" Target="/ppt/notesMasters/notesMaster1.xml" Id="Ra50eb3e7dfa34c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ad85ed6171452f" /><Relationship Type="http://schemas.openxmlformats.org/officeDocument/2006/relationships/notesMaster" Target="/ppt/notesMasters/notesMaster1.xml" Id="R15f1eeaefc6a41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f6e8634c04455c" /><Relationship Type="http://schemas.openxmlformats.org/officeDocument/2006/relationships/notesMaster" Target="/ppt/notesMasters/notesMaster1.xml" Id="R405a736238f445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d58953b2824464" /><Relationship Type="http://schemas.openxmlformats.org/officeDocument/2006/relationships/notesMaster" Target="/ppt/notesMasters/notesMaster1.xml" Id="Rb840cd9869d747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e066d0542e46d2" /><Relationship Type="http://schemas.openxmlformats.org/officeDocument/2006/relationships/notesMaster" Target="/ppt/notesMasters/notesMaster1.xml" Id="R94402ae833af433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e9a13217e146f2" /><Relationship Type="http://schemas.openxmlformats.org/officeDocument/2006/relationships/notesMaster" Target="/ppt/notesMasters/notesMaster1.xml" Id="R3b1b04de055b4e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ca71881b364cec" /><Relationship Type="http://schemas.openxmlformats.org/officeDocument/2006/relationships/notesMaster" Target="/ppt/notesMasters/notesMaster1.xml" Id="R5622f533d30b40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c13d5b04fe4e1c" /><Relationship Type="http://schemas.openxmlformats.org/officeDocument/2006/relationships/notesMaster" Target="/ppt/notesMasters/notesMaster1.xml" Id="R466f88829a8b4ed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a4e0e4fbbf48c4" /><Relationship Type="http://schemas.openxmlformats.org/officeDocument/2006/relationships/notesMaster" Target="/ppt/notesMasters/notesMaster1.xml" Id="Rc0b7bf68c44d4b2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e54559a6a4647a6" /><Relationship Type="http://schemas.openxmlformats.org/officeDocument/2006/relationships/notesMaster" Target="/ppt/notesMasters/notesMaster1.xml" Id="R4633b592f0e9442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3d3101a11794607" /><Relationship Type="http://schemas.openxmlformats.org/officeDocument/2006/relationships/notesMaster" Target="/ppt/notesMasters/notesMaster1.xml" Id="R18e445126fea443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7917e9a0a13441c" /><Relationship Type="http://schemas.openxmlformats.org/officeDocument/2006/relationships/notesMaster" Target="/ppt/notesMasters/notesMaster1.xml" Id="R2e2133f4118f46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Revise360 original lesson content. Teaching examples support OCR J277 Topic 2.5. Scope: OCR J277 specification v3.1, May 2026, printed page 21, sections 2.5.1 and 2.5.2. https://www.ocr.org.uk/images/558027-specification-gcse-computer-science-j277.pdf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c75744d42040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dd02f3509d4a8d" /><Relationship Type="http://schemas.openxmlformats.org/officeDocument/2006/relationships/slideLayout" Target="/ppt/slideLayouts/slideLayout1.xml" Id="R1946de00098544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46de00098544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734f141e5a4b64" /><Relationship Type="http://schemas.openxmlformats.org/officeDocument/2006/relationships/image" Target="/ppt/media/image.png" Id="R5678261a18ae4687" /><Relationship Type="http://schemas.openxmlformats.org/officeDocument/2006/relationships/image" Target="/ppt/media/image2.png" Id="R38e5ccf1d32942c7" /><Relationship Type="http://schemas.openxmlformats.org/officeDocument/2006/relationships/notesSlide" Target="/ppt/notesSlides/notesSlide1.xml" Id="R40a7f059ad6949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8d0ad912c743d2" /><Relationship Type="http://schemas.openxmlformats.org/officeDocument/2006/relationships/image" Target="/ppt/media/image3.png" Id="Ra910c713b4f04ac5" /><Relationship Type="http://schemas.openxmlformats.org/officeDocument/2006/relationships/notesSlide" Target="/ppt/notesSlides/notesSlide2.xml" Id="R5b370034f4c14d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05360579d24f84" /><Relationship Type="http://schemas.openxmlformats.org/officeDocument/2006/relationships/image" Target="/ppt/media/image4.png" Id="R8547c2c779774531" /><Relationship Type="http://schemas.openxmlformats.org/officeDocument/2006/relationships/notesSlide" Target="/ppt/notesSlides/notesSlide3.xml" Id="R0422943ae37445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9d23f26a394932" /><Relationship Type="http://schemas.openxmlformats.org/officeDocument/2006/relationships/image" Target="/ppt/media/image5.png" Id="R1671a20116a147b7" /><Relationship Type="http://schemas.openxmlformats.org/officeDocument/2006/relationships/notesSlide" Target="/ppt/notesSlides/notesSlide4.xml" Id="R377ff67c667c4b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1e6d86c1b14b03" /><Relationship Type="http://schemas.openxmlformats.org/officeDocument/2006/relationships/image" Target="/ppt/media/image6.png" Id="Ra0ef2ace55b340d5" /><Relationship Type="http://schemas.openxmlformats.org/officeDocument/2006/relationships/notesSlide" Target="/ppt/notesSlides/notesSlide5.xml" Id="R9fc5c39b09b145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1ad0b208524124" /><Relationship Type="http://schemas.openxmlformats.org/officeDocument/2006/relationships/image" Target="/ppt/media/image7.png" Id="R1370287ce6ea48f9" /><Relationship Type="http://schemas.openxmlformats.org/officeDocument/2006/relationships/notesSlide" Target="/ppt/notesSlides/notesSlide6.xml" Id="R210d1533211a4a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263574ae5547d2" /><Relationship Type="http://schemas.openxmlformats.org/officeDocument/2006/relationships/image" Target="/ppt/media/image8.png" Id="R30a2e08720ea4f1c" /><Relationship Type="http://schemas.openxmlformats.org/officeDocument/2006/relationships/notesSlide" Target="/ppt/notesSlides/notesSlide7.xml" Id="R5ef74e14d3e641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0cd5888443459a" /><Relationship Type="http://schemas.openxmlformats.org/officeDocument/2006/relationships/image" Target="/ppt/media/image9.png" Id="R9ea0e4b179e442b0" /><Relationship Type="http://schemas.openxmlformats.org/officeDocument/2006/relationships/notesSlide" Target="/ppt/notesSlides/notesSlide8.xml" Id="Rfbc2412389384e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a320704fda47d6" /><Relationship Type="http://schemas.openxmlformats.org/officeDocument/2006/relationships/image" Target="/ppt/media/image10.png" Id="Rd043841f51104e25" /><Relationship Type="http://schemas.openxmlformats.org/officeDocument/2006/relationships/notesSlide" Target="/ppt/notesSlides/notesSlide9.xml" Id="R199508341ebb49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0289574cd5e415c" /><Relationship Type="http://schemas.openxmlformats.org/officeDocument/2006/relationships/image" Target="/ppt/media/image11.png" Id="Rc979f30c0f404117" /><Relationship Type="http://schemas.openxmlformats.org/officeDocument/2006/relationships/notesSlide" Target="/ppt/notesSlides/notesSlide10.xml" Id="Rfd196cac2d564f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31a339920044cc2" /><Relationship Type="http://schemas.openxmlformats.org/officeDocument/2006/relationships/image" Target="/ppt/media/image12.png" Id="Re84da1d2b73247b0" /><Relationship Type="http://schemas.openxmlformats.org/officeDocument/2006/relationships/notesSlide" Target="/ppt/notesSlides/notesSlide11.xml" Id="Reae188d5e49448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df0e4cf0c34630" /><Relationship Type="http://schemas.openxmlformats.org/officeDocument/2006/relationships/image" Target="/ppt/media/image13.png" Id="Rc918fc6e63104dea" /><Relationship Type="http://schemas.openxmlformats.org/officeDocument/2006/relationships/notesSlide" Target="/ppt/notesSlides/notesSlide12.xml" Id="R08cf1f427c9049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100a1cfeffb491f" /><Relationship Type="http://schemas.openxmlformats.org/officeDocument/2006/relationships/image" Target="/ppt/media/image14.png" Id="R41132d4e741747a9" /><Relationship Type="http://schemas.openxmlformats.org/officeDocument/2006/relationships/notesSlide" Target="/ppt/notesSlides/notesSlide13.xml" Id="Ra5bb942abac14d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68a6eff9d914f9f" /><Relationship Type="http://schemas.openxmlformats.org/officeDocument/2006/relationships/image" Target="/ppt/media/image15.png" Id="R6ec44ad4792942ea" /><Relationship Type="http://schemas.openxmlformats.org/officeDocument/2006/relationships/notesSlide" Target="/ppt/notesSlides/notesSlide14.xml" Id="Rb2b270d8dabc4c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35385d7476f4d4b" /><Relationship Type="http://schemas.openxmlformats.org/officeDocument/2006/relationships/image" Target="/ppt/media/image16.png" Id="Rad6ef03cc5724033" /><Relationship Type="http://schemas.openxmlformats.org/officeDocument/2006/relationships/notesSlide" Target="/ppt/notesSlides/notesSlide15.xml" Id="Rb2eca08d7a264fc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cfe4bc3a08d47f3" /><Relationship Type="http://schemas.openxmlformats.org/officeDocument/2006/relationships/image" Target="/ppt/media/image17.png" Id="Re97b385b9c6f41f8" /><Relationship Type="http://schemas.openxmlformats.org/officeDocument/2006/relationships/notesSlide" Target="/ppt/notesSlides/notesSlide16.xml" Id="Ra49aaf7f2aa944b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1158c6597ab4dae" /><Relationship Type="http://schemas.openxmlformats.org/officeDocument/2006/relationships/image" Target="/ppt/media/image18.png" Id="R97cad8def4a140b1" /><Relationship Type="http://schemas.openxmlformats.org/officeDocument/2006/relationships/notesSlide" Target="/ppt/notesSlides/notesSlide17.xml" Id="R558cd93de0634db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ec1000b98f7488f" /><Relationship Type="http://schemas.openxmlformats.org/officeDocument/2006/relationships/image" Target="/ppt/media/image19.png" Id="R2da3157343594c9b" /><Relationship Type="http://schemas.openxmlformats.org/officeDocument/2006/relationships/notesSlide" Target="/ppt/notesSlides/notesSlide18.xml" Id="Rbb7cf5e0b31744dc" /></Relationships>
</file>

<file path=ppt/slides/slide1.xml><?xml version="1.0" encoding="utf-8"?>
<p:sld xmlns:p="http://schemas.openxmlformats.org/presentationml/2006/main">
  <p:cSld>
    <p:bg>
      <p:bgPr>
        <a:solidFill xmlns:a="http://schemas.openxmlformats.org/drawingml/2006/main">
          <a:srgbClr val="122448"/>
        </a:solidFill>
      </p:bgPr>
    </p:bg>
    <p:spTree>
      <p:nvGrpSpPr>
        <p:cNvPr id="1" name=""/>
        <p:cNvGrpSpPr/>
        <p:nvPr/>
      </p:nvGrpSpPr>
      <p:grpSpPr>
        <a:xfrm xmlns:a="http://schemas.openxmlformats.org/drawingml/2006/main"/>
      </p:grpSpPr>
      <p:sp>
        <p:nvSpPr>
          <p:cNvPr id="10" name="footer background">
            <a:extLst xmlns:a="http://schemas.openxmlformats.org/drawingml/2006/main">
              <a:ext uri="{FF2B5EF4-FFF2-40B4-BE49-F238E27FC236}">
                <a16:creationId xmlns:a16="http://schemas.microsoft.com/office/drawing/2014/main" id="{7A49B242-0A93-4CAA-A976-B7B854145934}"/>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7C87B069-4AE3-41FB-8E32-622FAD070C7B}"/>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77D8FF"/>
                </a:solidFill>
                <a:latin typeface="DejaVu Sans"/>
                <a:ea typeface="DejaVu Sans"/>
                <a:cs typeface="DejaVu Sans"/>
              </a:defRPr>
            </a:pPr>
            <a:r>
              <a:rPr sz="1125" b="1">
                <a:solidFill>
                  <a:srgbClr val="77D8FF"/>
                </a:solidFill>
                <a:latin typeface="DejaVu Sans"/>
                <a:ea typeface="DejaVu Sans"/>
                <a:cs typeface="DejaVu Sans"/>
              </a:rPr>
              <a:t>TOPIC 2.5   /   LESSON 05</a:t>
            </a:r>
          </a:p>
        </p:txBody>
      </p:sp>
      <p:sp>
        <p:nvSpPr>
          <p:cNvPr id="3" name="heading">
            <a:extLst xmlns:a="http://schemas.openxmlformats.org/drawingml/2006/main">
              <a:ext uri="{FF2B5EF4-FFF2-40B4-BE49-F238E27FC236}">
                <a16:creationId xmlns:a16="http://schemas.microsoft.com/office/drawing/2014/main" id="{53815F20-9933-4640-9E82-67A009EF0759}"/>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LANGUAGE REVIEW HQ</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678261a18ae4687"/>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248E3C81-C842-45B0-92BB-277816F0B5BD}"/>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 / 18</a:t>
            </a:r>
          </a:p>
        </p:txBody>
      </p:sp>
      <p:sp>
        <p:nvSpPr>
          <p:cNvPr id="6" name="subject">
            <a:extLst xmlns:a="http://schemas.openxmlformats.org/drawingml/2006/main">
              <a:ext uri="{FF2B5EF4-FFF2-40B4-BE49-F238E27FC236}">
                <a16:creationId xmlns:a16="http://schemas.microsoft.com/office/drawing/2014/main" id="{1D1867E6-9160-4B7B-B718-C2045EBD660D}"/>
              </a:ext>
            </a:extLst>
          </p:cNvPr>
          <p:cNvSpPr>
            <a:spLocks xmlns:a="http://schemas.openxmlformats.org/drawingml/2006/main" noGrp="1"/>
          </p:cNvSpPr>
          <p:nvPr/>
        </p:nvSpPr>
        <p:spPr>
          <a:xfrm xmlns:a="http://schemas.openxmlformats.org/drawingml/2006/main">
            <a:off x="685800" y="176212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77D8FF"/>
                </a:solidFill>
                <a:latin typeface="DejaVu Sans"/>
                <a:ea typeface="DejaVu Sans"/>
                <a:cs typeface="DejaVu Sans"/>
              </a:defRPr>
            </a:pPr>
            <a:r>
              <a:rPr sz="2325" b="0">
                <a:solidFill>
                  <a:srgbClr val="77D8FF"/>
                </a:solidFill>
                <a:latin typeface="DejaVu Sans"/>
                <a:ea typeface="DejaVu Sans"/>
                <a:cs typeface="DejaVu Sans"/>
              </a:rPr>
              <a:t>Topic 2.5 knowledge review</a:t>
            </a:r>
          </a:p>
        </p:txBody>
      </p:sp>
      <p:sp>
        <p:nvSpPr>
          <p:cNvPr id="7" name="cover-key-label">
            <a:extLst xmlns:a="http://schemas.openxmlformats.org/drawingml/2006/main">
              <a:ext uri="{FF2B5EF4-FFF2-40B4-BE49-F238E27FC236}">
                <a16:creationId xmlns:a16="http://schemas.microsoft.com/office/drawing/2014/main" id="{DB6C6EAB-F00F-49E7-BB96-0088CAEA29FE}"/>
              </a:ext>
            </a:extLst>
          </p:cNvPr>
          <p:cNvSpPr>
            <a:spLocks xmlns:a="http://schemas.openxmlformats.org/drawingml/2006/main" noGrp="1"/>
          </p:cNvSpPr>
          <p:nvPr/>
        </p:nvSpPr>
        <p:spPr>
          <a:xfrm xmlns:a="http://schemas.openxmlformats.org/drawingml/2006/main">
            <a:off x="685800" y="3038475"/>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DO NOW: RESEARCH AND DISCUSS</a:t>
            </a:r>
          </a:p>
        </p:txBody>
      </p:sp>
      <p:sp>
        <p:nvSpPr>
          <p:cNvPr id="8" name="cover-key-question">
            <a:extLst xmlns:a="http://schemas.openxmlformats.org/drawingml/2006/main">
              <a:ext uri="{FF2B5EF4-FFF2-40B4-BE49-F238E27FC236}">
                <a16:creationId xmlns:a16="http://schemas.microsoft.com/office/drawing/2014/main" id="{00081038-3E7F-400E-8756-EE3640E7E6AE}"/>
              </a:ext>
            </a:extLst>
          </p:cNvPr>
          <p:cNvSpPr>
            <a:spLocks xmlns:a="http://schemas.openxmlformats.org/drawingml/2006/main" noGrp="1"/>
          </p:cNvSpPr>
          <p:nvPr/>
        </p:nvSpPr>
        <p:spPr>
          <a:xfrm xmlns:a="http://schemas.openxmlformats.org/drawingml/2006/main">
            <a:off x="685800" y="3429000"/>
            <a:ext cx="4762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Which tool or language choice would most help you build a reliable revision app?</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8e5ccf1d32942c7"/>
          <a:stretch xmlns:a="http://schemas.openxmlformats.org/drawingml/2006/main"/>
        </p:blipFill>
        <p:spPr>
          <a:xfrm xmlns:a="http://schemas.openxmlformats.org/drawingml/2006/main">
            <a:off x="6076950" y="1931789"/>
            <a:ext cx="5400675" cy="3375422"/>
          </a:xfrm>
          <a:prstGeom xmlns:a="http://schemas.openxmlformats.org/drawingml/2006/main" prst="rect">
            <a:avLst/>
          </a:prstGeom>
        </p:spPr>
      </p:pic>
    </p:spTree>
    <p:extLst>
      <p:ext uri="{BB962C8B-B14F-4D97-AF65-F5344CB8AC3E}">
        <p14:creationId xmlns:p14="http://schemas.microsoft.com/office/powerpoint/2010/main" val="8310518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footer background">
            <a:extLst xmlns:a="http://schemas.openxmlformats.org/drawingml/2006/main">
              <a:ext uri="{FF2B5EF4-FFF2-40B4-BE49-F238E27FC236}">
                <a16:creationId xmlns:a16="http://schemas.microsoft.com/office/drawing/2014/main" id="{729D0D74-D405-4298-8504-19625DD8F4AB}"/>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BC94BCC8-515D-47EA-B6E2-2B7D4AC1DC02}"/>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WORKSHEET</a:t>
            </a:r>
          </a:p>
        </p:txBody>
      </p:sp>
      <p:sp>
        <p:nvSpPr>
          <p:cNvPr id="3" name="heading">
            <a:extLst xmlns:a="http://schemas.openxmlformats.org/drawingml/2006/main">
              <a:ext uri="{FF2B5EF4-FFF2-40B4-BE49-F238E27FC236}">
                <a16:creationId xmlns:a16="http://schemas.microsoft.com/office/drawing/2014/main" id="{EB715B87-24C3-4EB0-A531-09F29276D912}"/>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By the end of this lesson</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910c713b4f04ac5"/>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B946EE4D-4656-4BC2-8F50-308BDCE2BA98}"/>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2 / 18</a:t>
            </a:r>
          </a:p>
        </p:txBody>
      </p:sp>
      <p:sp>
        <p:nvSpPr>
          <p:cNvPr id="6" name="number-1">
            <a:extLst xmlns:a="http://schemas.openxmlformats.org/drawingml/2006/main">
              <a:ext uri="{FF2B5EF4-FFF2-40B4-BE49-F238E27FC236}">
                <a16:creationId xmlns:a16="http://schemas.microsoft.com/office/drawing/2014/main" id="{4F21E87F-93E4-451F-AB4E-8822ED37930E}"/>
              </a:ext>
            </a:extLst>
          </p:cNvPr>
          <p:cNvSpPr>
            <a:spLocks xmlns:a="http://schemas.openxmlformats.org/drawingml/2006/main" noGrp="1"/>
          </p:cNvSpPr>
          <p:nvPr/>
        </p:nvSpPr>
        <p:spPr>
          <a:xfrm xmlns:a="http://schemas.openxmlformats.org/drawingml/2006/main">
            <a:off x="723900" y="19431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46CD32E7-7220-4C45-83BD-1A75D52228BD}"/>
              </a:ext>
            </a:extLst>
          </p:cNvPr>
          <p:cNvSpPr>
            <a:spLocks xmlns:a="http://schemas.openxmlformats.org/drawingml/2006/main" noGrp="1"/>
          </p:cNvSpPr>
          <p:nvPr/>
        </p:nvSpPr>
        <p:spPr>
          <a:xfrm xmlns:a="http://schemas.openxmlformats.org/drawingml/2006/main">
            <a:off x="1352550" y="1943100"/>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Recall language levels and translator behaviour.</a:t>
            </a:r>
          </a:p>
        </p:txBody>
      </p:sp>
      <p:sp>
        <p:nvSpPr>
          <p:cNvPr id="8" name="number-2">
            <a:extLst xmlns:a="http://schemas.openxmlformats.org/drawingml/2006/main">
              <a:ext uri="{FF2B5EF4-FFF2-40B4-BE49-F238E27FC236}">
                <a16:creationId xmlns:a16="http://schemas.microsoft.com/office/drawing/2014/main" id="{27D15F66-C79A-48FB-A458-5FCABD7105D6}"/>
              </a:ext>
            </a:extLst>
          </p:cNvPr>
          <p:cNvSpPr>
            <a:spLocks xmlns:a="http://schemas.openxmlformats.org/drawingml/2006/main" noGrp="1"/>
          </p:cNvSpPr>
          <p:nvPr/>
        </p:nvSpPr>
        <p:spPr>
          <a:xfrm xmlns:a="http://schemas.openxmlformats.org/drawingml/2006/main">
            <a:off x="723900" y="29051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6D66A0FC-FF53-4CDB-B571-D4D170C6C54A}"/>
              </a:ext>
            </a:extLst>
          </p:cNvPr>
          <p:cNvSpPr>
            <a:spLocks xmlns:a="http://schemas.openxmlformats.org/drawingml/2006/main" noGrp="1"/>
          </p:cNvSpPr>
          <p:nvPr/>
        </p:nvSpPr>
        <p:spPr>
          <a:xfrm xmlns:a="http://schemas.openxmlformats.org/drawingml/2006/main">
            <a:off x="1352550" y="2905125"/>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Select IDE tools for specific problems.</a:t>
            </a:r>
          </a:p>
        </p:txBody>
      </p:sp>
      <p:sp>
        <p:nvSpPr>
          <p:cNvPr id="10" name="number-3">
            <a:extLst xmlns:a="http://schemas.openxmlformats.org/drawingml/2006/main">
              <a:ext uri="{FF2B5EF4-FFF2-40B4-BE49-F238E27FC236}">
                <a16:creationId xmlns:a16="http://schemas.microsoft.com/office/drawing/2014/main" id="{214AB879-F5E1-46A1-B3B7-732C3DA05963}"/>
              </a:ext>
            </a:extLst>
          </p:cNvPr>
          <p:cNvSpPr>
            <a:spLocks xmlns:a="http://schemas.openxmlformats.org/drawingml/2006/main" noGrp="1"/>
          </p:cNvSpPr>
          <p:nvPr/>
        </p:nvSpPr>
        <p:spPr>
          <a:xfrm xmlns:a="http://schemas.openxmlformats.org/drawingml/2006/main">
            <a:off x="723900" y="38671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47E0FF81-472A-4959-B572-95A0EA47CE0B}"/>
              </a:ext>
            </a:extLst>
          </p:cNvPr>
          <p:cNvSpPr>
            <a:spLocks xmlns:a="http://schemas.openxmlformats.org/drawingml/2006/main" noGrp="1"/>
          </p:cNvSpPr>
          <p:nvPr/>
        </p:nvSpPr>
        <p:spPr>
          <a:xfrm xmlns:a="http://schemas.openxmlformats.org/drawingml/2006/main">
            <a:off x="1352550" y="3867150"/>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Write explanations linked to the needs of a scenario.</a:t>
            </a:r>
          </a:p>
        </p:txBody>
      </p:sp>
      <p:sp>
        <p:nvSpPr>
          <p:cNvPr id="12" name="number-4">
            <a:extLst xmlns:a="http://schemas.openxmlformats.org/drawingml/2006/main">
              <a:ext uri="{FF2B5EF4-FFF2-40B4-BE49-F238E27FC236}">
                <a16:creationId xmlns:a16="http://schemas.microsoft.com/office/drawing/2014/main" id="{43B6C4DF-53E7-4684-A2E0-0FBDE1EFF723}"/>
              </a:ext>
            </a:extLst>
          </p:cNvPr>
          <p:cNvSpPr>
            <a:spLocks xmlns:a="http://schemas.openxmlformats.org/drawingml/2006/main" noGrp="1"/>
          </p:cNvSpPr>
          <p:nvPr/>
        </p:nvSpPr>
        <p:spPr>
          <a:xfrm xmlns:a="http://schemas.openxmlformats.org/drawingml/2006/main">
            <a:off x="723900" y="48291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
            </a:r>
          </a:p>
        </p:txBody>
      </p:sp>
      <p:sp>
        <p:nvSpPr>
          <p:cNvPr id="13" name="item-4">
            <a:extLst xmlns:a="http://schemas.openxmlformats.org/drawingml/2006/main">
              <a:ext uri="{FF2B5EF4-FFF2-40B4-BE49-F238E27FC236}">
                <a16:creationId xmlns:a16="http://schemas.microsoft.com/office/drawing/2014/main" id="{B7588F05-DB7C-4321-91CF-115D386798E9}"/>
              </a:ext>
            </a:extLst>
          </p:cNvPr>
          <p:cNvSpPr>
            <a:spLocks xmlns:a="http://schemas.openxmlformats.org/drawingml/2006/main" noGrp="1"/>
          </p:cNvSpPr>
          <p:nvPr/>
        </p:nvSpPr>
        <p:spPr>
          <a:xfrm xmlns:a="http://schemas.openxmlformats.org/drawingml/2006/main">
            <a:off x="1352550" y="4829175"/>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
            </a:r>
          </a:p>
        </p:txBody>
      </p:sp>
    </p:spTree>
    <p:extLst>
      <p:ext uri="{BB962C8B-B14F-4D97-AF65-F5344CB8AC3E}">
        <p14:creationId xmlns:p14="http://schemas.microsoft.com/office/powerpoint/2010/main" val="1695093205"/>
      </p:ext>
    </p:extLst>
  </p:cSld>
</p:sld>
</file>

<file path=ppt/slides/slide3.xml><?xml version="1.0" encoding="utf-8"?>
<p:sld xmlns:p="http://schemas.openxmlformats.org/presentationml/2006/main">
  <p:cSld>
    <p:bg>
      <p:bgPr>
        <a:solidFill xmlns:a="http://schemas.openxmlformats.org/drawingml/2006/main">
          <a:srgbClr val="FFF8E9"/>
        </a:solidFill>
      </p:bgPr>
    </p:bg>
    <p:spTree>
      <p:nvGrpSpPr>
        <p:cNvPr id="1" name=""/>
        <p:cNvGrpSpPr/>
        <p:nvPr/>
      </p:nvGrpSpPr>
      <p:grpSpPr>
        <a:xfrm xmlns:a="http://schemas.openxmlformats.org/drawingml/2006/main"/>
      </p:grpSpPr>
      <p:sp>
        <p:nvSpPr>
          <p:cNvPr id="7" name="footer background">
            <a:extLst xmlns:a="http://schemas.openxmlformats.org/drawingml/2006/main">
              <a:ext uri="{FF2B5EF4-FFF2-40B4-BE49-F238E27FC236}">
                <a16:creationId xmlns:a16="http://schemas.microsoft.com/office/drawing/2014/main" id="{389AE9BD-4456-44D0-A496-4A715994B34E}"/>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3D7E3F66-12BD-4737-B732-CF062507385B}"/>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WORKSHEET STARTER</a:t>
            </a:r>
          </a:p>
        </p:txBody>
      </p:sp>
      <p:sp>
        <p:nvSpPr>
          <p:cNvPr id="3" name="heading">
            <a:extLst xmlns:a="http://schemas.openxmlformats.org/drawingml/2006/main">
              <a:ext uri="{FF2B5EF4-FFF2-40B4-BE49-F238E27FC236}">
                <a16:creationId xmlns:a16="http://schemas.microsoft.com/office/drawing/2014/main" id="{62E71EDE-630B-477B-8324-3C6B882C3B74}"/>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Starter: before the experience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547c2c779774531"/>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D4CED2EF-8770-4B94-8FF7-8186209CBA59}"/>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3 / 18</a:t>
            </a:r>
          </a:p>
        </p:txBody>
      </p:sp>
      <p:sp>
        <p:nvSpPr>
          <p:cNvPr id="6" name="worksheet-starter">
            <a:extLst xmlns:a="http://schemas.openxmlformats.org/drawingml/2006/main">
              <a:ext uri="{FF2B5EF4-FFF2-40B4-BE49-F238E27FC236}">
                <a16:creationId xmlns:a16="http://schemas.microsoft.com/office/drawing/2014/main" id="{4CABB616-5B19-458F-ADE4-F043686843F3}"/>
              </a:ext>
            </a:extLst>
          </p:cNvPr>
          <p:cNvSpPr>
            <a:spLocks xmlns:a="http://schemas.openxmlformats.org/drawingml/2006/main" noGrp="1"/>
          </p:cNvSpPr>
          <p:nvPr/>
        </p:nvSpPr>
        <p:spPr>
          <a:xfrm xmlns:a="http://schemas.openxmlformats.org/drawingml/2006/main">
            <a:off x="704850" y="2095500"/>
            <a:ext cx="10572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01828"/>
                </a:solidFill>
                <a:latin typeface="DejaVu Sans"/>
                <a:ea typeface="DejaVu Sans"/>
                <a:cs typeface="DejaVu Sans"/>
              </a:defRPr>
            </a:pPr>
            <a:r>
              <a:rPr sz="2400" b="1">
                <a:solidFill>
                  <a:srgbClr val="101828"/>
                </a:solidFill>
                <a:latin typeface="DejaVu Sans"/>
                <a:ea typeface="DejaVu Sans"/>
                <a:cs typeface="DejaVu Sans"/>
              </a:rPr>
              <a:t>A programmer wants readable source that is easy to update. Which language level usually suits this requirement, and why?</a:t>
            </a:r>
          </a:p>
        </p:txBody>
      </p:sp>
    </p:spTree>
    <p:extLst>
      <p:ext uri="{BB962C8B-B14F-4D97-AF65-F5344CB8AC3E}">
        <p14:creationId xmlns:p14="http://schemas.microsoft.com/office/powerpoint/2010/main" val="2061250395"/>
      </p:ext>
    </p:extLst>
  </p:cSld>
</p:sld>
</file>

<file path=ppt/slides/slide4.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0" name="footer background">
            <a:extLst xmlns:a="http://schemas.openxmlformats.org/drawingml/2006/main">
              <a:ext uri="{FF2B5EF4-FFF2-40B4-BE49-F238E27FC236}">
                <a16:creationId xmlns:a16="http://schemas.microsoft.com/office/drawing/2014/main" id="{0CE6C1A7-1190-46F6-B558-07CF48F64720}"/>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61A9E94E-2324-4A21-8E1F-53F061811860}"/>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CHECK</a:t>
            </a:r>
          </a:p>
        </p:txBody>
      </p:sp>
      <p:sp>
        <p:nvSpPr>
          <p:cNvPr id="3" name="heading">
            <a:extLst xmlns:a="http://schemas.openxmlformats.org/drawingml/2006/main">
              <a:ext uri="{FF2B5EF4-FFF2-40B4-BE49-F238E27FC236}">
                <a16:creationId xmlns:a16="http://schemas.microsoft.com/office/drawing/2014/main" id="{42F7C639-9A4F-4B2E-A66B-E7FC7229A804}"/>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Starter: sample answers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671a20116a147b7"/>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6810CE3C-06F6-401D-921D-2679EFD1E6FB}"/>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4 / 18</a:t>
            </a:r>
          </a:p>
        </p:txBody>
      </p:sp>
      <p:sp>
        <p:nvSpPr>
          <p:cNvPr id="6" name="number-1">
            <a:extLst xmlns:a="http://schemas.openxmlformats.org/drawingml/2006/main">
              <a:ext uri="{FF2B5EF4-FFF2-40B4-BE49-F238E27FC236}">
                <a16:creationId xmlns:a16="http://schemas.microsoft.com/office/drawing/2014/main" id="{04B18CF0-64CE-463F-A9B8-6A6A21EDEFFA}"/>
              </a:ext>
            </a:extLst>
          </p:cNvPr>
          <p:cNvSpPr>
            <a:spLocks xmlns:a="http://schemas.openxmlformats.org/drawingml/2006/main" noGrp="1"/>
          </p:cNvSpPr>
          <p:nvPr/>
        </p:nvSpPr>
        <p:spPr>
          <a:xfrm xmlns:a="http://schemas.openxmlformats.org/drawingml/2006/main">
            <a:off x="723900" y="22860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2D63FF"/>
                </a:solidFill>
                <a:latin typeface="DejaVu Sans"/>
                <a:ea typeface="DejaVu Sans"/>
                <a:cs typeface="DejaVu Sans"/>
              </a:defRPr>
            </a:pPr>
            <a:r>
              <a:rPr sz="2250"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D57E31F4-31D7-4905-A796-BE34CBF25ECA}"/>
              </a:ext>
            </a:extLst>
          </p:cNvPr>
          <p:cNvSpPr>
            <a:spLocks xmlns:a="http://schemas.openxmlformats.org/drawingml/2006/main" noGrp="1"/>
          </p:cNvSpPr>
          <p:nvPr/>
        </p:nvSpPr>
        <p:spPr>
          <a:xfrm xmlns:a="http://schemas.openxmlformats.org/drawingml/2006/main">
            <a:off x="1352550" y="2286000"/>
            <a:ext cx="99250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01828"/>
                </a:solidFill>
                <a:latin typeface="DejaVu Sans"/>
                <a:ea typeface="DejaVu Sans"/>
                <a:cs typeface="DejaVu Sans"/>
              </a:defRPr>
            </a:pPr>
            <a:r>
              <a:rPr sz="2250" b="0">
                <a:solidFill>
                  <a:srgbClr val="101828"/>
                </a:solidFill>
                <a:latin typeface="DejaVu Sans"/>
                <a:ea typeface="DejaVu Sans"/>
                <a:cs typeface="DejaVu Sans"/>
              </a:rPr>
              <a:t>A high-level language usually suits it because readable words and structures make the code easier to understand and maintain.</a:t>
            </a:r>
          </a:p>
        </p:txBody>
      </p:sp>
      <p:sp>
        <p:nvSpPr>
          <p:cNvPr id="8" name="number-2">
            <a:extLst xmlns:a="http://schemas.openxmlformats.org/drawingml/2006/main">
              <a:ext uri="{FF2B5EF4-FFF2-40B4-BE49-F238E27FC236}">
                <a16:creationId xmlns:a16="http://schemas.microsoft.com/office/drawing/2014/main" id="{F9E7E19B-3986-45FC-B0B8-7910C783A9EE}"/>
              </a:ext>
            </a:extLst>
          </p:cNvPr>
          <p:cNvSpPr>
            <a:spLocks xmlns:a="http://schemas.openxmlformats.org/drawingml/2006/main" noGrp="1"/>
          </p:cNvSpPr>
          <p:nvPr/>
        </p:nvSpPr>
        <p:spPr>
          <a:xfrm xmlns:a="http://schemas.openxmlformats.org/drawingml/2006/main">
            <a:off x="723900" y="38671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2D63FF"/>
                </a:solidFill>
                <a:latin typeface="DejaVu Sans"/>
                <a:ea typeface="DejaVu Sans"/>
                <a:cs typeface="DejaVu Sans"/>
              </a:defRPr>
            </a:pPr>
            <a:r>
              <a:rPr sz="2250" b="1">
                <a:solidFill>
                  <a:srgbClr val="2D63FF"/>
                </a:solidFill>
                <a:latin typeface="DejaVu Sans"/>
                <a:ea typeface="DejaVu Sans"/>
                <a:cs typeface="DejaVu Sans"/>
              </a:rPr>
              <a:t/>
            </a:r>
          </a:p>
        </p:txBody>
      </p:sp>
      <p:sp>
        <p:nvSpPr>
          <p:cNvPr id="9" name="item-2">
            <a:extLst xmlns:a="http://schemas.openxmlformats.org/drawingml/2006/main">
              <a:ext uri="{FF2B5EF4-FFF2-40B4-BE49-F238E27FC236}">
                <a16:creationId xmlns:a16="http://schemas.microsoft.com/office/drawing/2014/main" id="{AA142279-1763-4095-BB35-E7C2790BE720}"/>
              </a:ext>
            </a:extLst>
          </p:cNvPr>
          <p:cNvSpPr>
            <a:spLocks xmlns:a="http://schemas.openxmlformats.org/drawingml/2006/main" noGrp="1"/>
          </p:cNvSpPr>
          <p:nvPr/>
        </p:nvSpPr>
        <p:spPr>
          <a:xfrm xmlns:a="http://schemas.openxmlformats.org/drawingml/2006/main">
            <a:off x="1352550" y="3867150"/>
            <a:ext cx="99250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101828"/>
                </a:solidFill>
                <a:latin typeface="DejaVu Sans"/>
                <a:ea typeface="DejaVu Sans"/>
                <a:cs typeface="DejaVu Sans"/>
              </a:defRPr>
            </a:pPr>
            <a:r>
              <a:rPr sz="2250" b="0">
                <a:solidFill>
                  <a:srgbClr val="101828"/>
                </a:solidFill>
                <a:latin typeface="DejaVu Sans"/>
                <a:ea typeface="DejaVu Sans"/>
                <a:cs typeface="DejaVu Sans"/>
              </a:rPr>
              <a:t/>
            </a:r>
          </a:p>
        </p:txBody>
      </p:sp>
    </p:spTree>
    <p:extLst>
      <p:ext uri="{BB962C8B-B14F-4D97-AF65-F5344CB8AC3E}">
        <p14:creationId xmlns:p14="http://schemas.microsoft.com/office/powerpoint/2010/main" val="1019256133"/>
      </p:ext>
    </p:extLst>
  </p:cSld>
</p:sld>
</file>

<file path=ppt/slides/slide5.xml><?xml version="1.0" encoding="utf-8"?>
<p:sld xmlns:p="http://schemas.openxmlformats.org/presentationml/2006/main">
  <p:cSld>
    <p:bg>
      <p:bgPr>
        <a:solidFill xmlns:a="http://schemas.openxmlformats.org/drawingml/2006/main">
          <a:srgbClr val="FFF8E9"/>
        </a:solidFill>
      </p:bgPr>
    </p:bg>
    <p:spTree>
      <p:nvGrpSpPr>
        <p:cNvPr id="1" name=""/>
        <p:cNvGrpSpPr/>
        <p:nvPr/>
      </p:nvGrpSpPr>
      <p:grpSpPr>
        <a:xfrm xmlns:a="http://schemas.openxmlformats.org/drawingml/2006/main"/>
      </p:grpSpPr>
      <p:sp>
        <p:nvSpPr>
          <p:cNvPr id="10" name="footer background">
            <a:extLst xmlns:a="http://schemas.openxmlformats.org/drawingml/2006/main">
              <a:ext uri="{FF2B5EF4-FFF2-40B4-BE49-F238E27FC236}">
                <a16:creationId xmlns:a16="http://schemas.microsoft.com/office/drawing/2014/main" id="{08B0042C-2776-4B77-8450-5D698DB3BE8F}"/>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53158093-4E51-4193-8466-193E324E1CFE}"/>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WORKSHEET KEY TERMS</a:t>
            </a:r>
          </a:p>
        </p:txBody>
      </p:sp>
      <p:sp>
        <p:nvSpPr>
          <p:cNvPr id="3" name="heading">
            <a:extLst xmlns:a="http://schemas.openxmlformats.org/drawingml/2006/main">
              <a:ext uri="{FF2B5EF4-FFF2-40B4-BE49-F238E27FC236}">
                <a16:creationId xmlns:a16="http://schemas.microsoft.com/office/drawing/2014/main" id="{18721011-60E3-4A46-ACE7-07BEAB793CD0}"/>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Key terminology quiz</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0ef2ace55b340d5"/>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CFC27DE5-76DC-4F16-881C-303A19162346}"/>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5 / 18</a:t>
            </a:r>
          </a:p>
        </p:txBody>
      </p:sp>
      <p:sp>
        <p:nvSpPr>
          <p:cNvPr id="6" name="term-number-0">
            <a:extLst xmlns:a="http://schemas.openxmlformats.org/drawingml/2006/main">
              <a:ext uri="{FF2B5EF4-FFF2-40B4-BE49-F238E27FC236}">
                <a16:creationId xmlns:a16="http://schemas.microsoft.com/office/drawing/2014/main" id="{B76E08EA-1329-4F7D-B904-1FFEF4D21EC1}"/>
              </a:ext>
            </a:extLst>
          </p:cNvPr>
          <p:cNvSpPr>
            <a:spLocks xmlns:a="http://schemas.openxmlformats.org/drawingml/2006/main" noGrp="1"/>
          </p:cNvSpPr>
          <p:nvPr/>
        </p:nvSpPr>
        <p:spPr>
          <a:xfrm xmlns:a="http://schemas.openxmlformats.org/drawingml/2006/main">
            <a:off x="723900" y="2276475"/>
            <a:ext cx="59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1">
                <a:solidFill>
                  <a:srgbClr val="2D63FF"/>
                </a:solidFill>
                <a:latin typeface="DejaVu Sans"/>
                <a:ea typeface="DejaVu Sans"/>
                <a:cs typeface="DejaVu Sans"/>
              </a:defRPr>
            </a:pPr>
            <a:r>
              <a:rPr sz="2700" b="1">
                <a:solidFill>
                  <a:srgbClr val="2D63FF"/>
                </a:solidFill>
                <a:latin typeface="DejaVu Sans"/>
                <a:ea typeface="DejaVu Sans"/>
                <a:cs typeface="DejaVu Sans"/>
              </a:rPr>
              <a:t>1.</a:t>
            </a:r>
          </a:p>
        </p:txBody>
      </p:sp>
      <p:sp>
        <p:nvSpPr>
          <p:cNvPr id="7" name="term-0">
            <a:extLst xmlns:a="http://schemas.openxmlformats.org/drawingml/2006/main">
              <a:ext uri="{FF2B5EF4-FFF2-40B4-BE49-F238E27FC236}">
                <a16:creationId xmlns:a16="http://schemas.microsoft.com/office/drawing/2014/main" id="{072ACAD3-9670-4434-9EBA-05DBFA231D62}"/>
              </a:ext>
            </a:extLst>
          </p:cNvPr>
          <p:cNvSpPr>
            <a:spLocks xmlns:a="http://schemas.openxmlformats.org/drawingml/2006/main" noGrp="1"/>
          </p:cNvSpPr>
          <p:nvPr/>
        </p:nvSpPr>
        <p:spPr>
          <a:xfrm xmlns:a="http://schemas.openxmlformats.org/drawingml/2006/main">
            <a:off x="1371600" y="2276475"/>
            <a:ext cx="966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75" b="1">
                <a:solidFill>
                  <a:srgbClr val="101828"/>
                </a:solidFill>
                <a:latin typeface="DejaVu Sans"/>
                <a:ea typeface="DejaVu Sans"/>
                <a:cs typeface="DejaVu Sans"/>
              </a:defRPr>
            </a:pPr>
            <a:r>
              <a:rPr sz="2775" b="1">
                <a:solidFill>
                  <a:srgbClr val="101828"/>
                </a:solidFill>
                <a:latin typeface="DejaVu Sans"/>
                <a:ea typeface="DejaVu Sans"/>
                <a:cs typeface="DejaVu Sans"/>
              </a:rPr>
              <a:t>Source code</a:t>
            </a:r>
          </a:p>
        </p:txBody>
      </p:sp>
      <p:sp>
        <p:nvSpPr>
          <p:cNvPr id="8" name="term-number-1">
            <a:extLst xmlns:a="http://schemas.openxmlformats.org/drawingml/2006/main">
              <a:ext uri="{FF2B5EF4-FFF2-40B4-BE49-F238E27FC236}">
                <a16:creationId xmlns:a16="http://schemas.microsoft.com/office/drawing/2014/main" id="{A8F18C87-2E1F-4B72-8996-4CD90B504D72}"/>
              </a:ext>
            </a:extLst>
          </p:cNvPr>
          <p:cNvSpPr>
            <a:spLocks xmlns:a="http://schemas.openxmlformats.org/drawingml/2006/main" noGrp="1"/>
          </p:cNvSpPr>
          <p:nvPr/>
        </p:nvSpPr>
        <p:spPr>
          <a:xfrm xmlns:a="http://schemas.openxmlformats.org/drawingml/2006/main">
            <a:off x="723900" y="4086225"/>
            <a:ext cx="59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1">
                <a:solidFill>
                  <a:srgbClr val="2D63FF"/>
                </a:solidFill>
                <a:latin typeface="DejaVu Sans"/>
                <a:ea typeface="DejaVu Sans"/>
                <a:cs typeface="DejaVu Sans"/>
              </a:defRPr>
            </a:pPr>
            <a:r>
              <a:rPr sz="2700" b="1">
                <a:solidFill>
                  <a:srgbClr val="2D63FF"/>
                </a:solidFill>
                <a:latin typeface="DejaVu Sans"/>
                <a:ea typeface="DejaVu Sans"/>
                <a:cs typeface="DejaVu Sans"/>
              </a:rPr>
              <a:t>2.</a:t>
            </a:r>
          </a:p>
        </p:txBody>
      </p:sp>
      <p:sp>
        <p:nvSpPr>
          <p:cNvPr id="9" name="term-1">
            <a:extLst xmlns:a="http://schemas.openxmlformats.org/drawingml/2006/main">
              <a:ext uri="{FF2B5EF4-FFF2-40B4-BE49-F238E27FC236}">
                <a16:creationId xmlns:a16="http://schemas.microsoft.com/office/drawing/2014/main" id="{1C1C0B9C-20D9-4654-9F28-D51D1DA95329}"/>
              </a:ext>
            </a:extLst>
          </p:cNvPr>
          <p:cNvSpPr>
            <a:spLocks xmlns:a="http://schemas.openxmlformats.org/drawingml/2006/main" noGrp="1"/>
          </p:cNvSpPr>
          <p:nvPr/>
        </p:nvSpPr>
        <p:spPr>
          <a:xfrm xmlns:a="http://schemas.openxmlformats.org/drawingml/2006/main">
            <a:off x="1371600" y="4086225"/>
            <a:ext cx="966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75" b="1">
                <a:solidFill>
                  <a:srgbClr val="101828"/>
                </a:solidFill>
                <a:latin typeface="DejaVu Sans"/>
                <a:ea typeface="DejaVu Sans"/>
                <a:cs typeface="DejaVu Sans"/>
              </a:defRPr>
            </a:pPr>
            <a:r>
              <a:rPr sz="2775" b="1">
                <a:solidFill>
                  <a:srgbClr val="101828"/>
                </a:solidFill>
                <a:latin typeface="DejaVu Sans"/>
                <a:ea typeface="DejaVu Sans"/>
                <a:cs typeface="DejaVu Sans"/>
              </a:rPr>
              <a:t>Run-time environment</a:t>
            </a:r>
          </a:p>
        </p:txBody>
      </p:sp>
    </p:spTree>
    <p:extLst>
      <p:ext uri="{BB962C8B-B14F-4D97-AF65-F5344CB8AC3E}">
        <p14:creationId xmlns:p14="http://schemas.microsoft.com/office/powerpoint/2010/main" val="942032124"/>
      </p:ext>
    </p:extLst>
  </p:cSld>
</p:sld>
</file>

<file path=ppt/slides/slide6.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0" name="footer background">
            <a:extLst xmlns:a="http://schemas.openxmlformats.org/drawingml/2006/main">
              <a:ext uri="{FF2B5EF4-FFF2-40B4-BE49-F238E27FC236}">
                <a16:creationId xmlns:a16="http://schemas.microsoft.com/office/drawing/2014/main" id="{207CAA27-6A33-4D26-8EEC-DDD6F1951844}"/>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2C8C088F-E4C7-463F-A500-13D6952381E5}"/>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CHECK</a:t>
            </a:r>
          </a:p>
        </p:txBody>
      </p:sp>
      <p:sp>
        <p:nvSpPr>
          <p:cNvPr id="3" name="heading">
            <a:extLst xmlns:a="http://schemas.openxmlformats.org/drawingml/2006/main">
              <a:ext uri="{FF2B5EF4-FFF2-40B4-BE49-F238E27FC236}">
                <a16:creationId xmlns:a16="http://schemas.microsoft.com/office/drawing/2014/main" id="{1AF3A2E8-08E7-4B52-8CB0-E9EDFA86CC37}"/>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Key terminology: answers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370287ce6ea48f9"/>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71FD2F40-F2E4-4894-A4B9-2F16BF1E3100}"/>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6 / 18</a:t>
            </a:r>
          </a:p>
        </p:txBody>
      </p:sp>
      <p:sp>
        <p:nvSpPr>
          <p:cNvPr id="6" name="answer-term-0">
            <a:extLst xmlns:a="http://schemas.openxmlformats.org/drawingml/2006/main">
              <a:ext uri="{FF2B5EF4-FFF2-40B4-BE49-F238E27FC236}">
                <a16:creationId xmlns:a16="http://schemas.microsoft.com/office/drawing/2014/main" id="{C05575DA-F440-47EE-AADE-AE15CCD16C2C}"/>
              </a:ext>
            </a:extLst>
          </p:cNvPr>
          <p:cNvSpPr>
            <a:spLocks xmlns:a="http://schemas.openxmlformats.org/drawingml/2006/main" noGrp="1"/>
          </p:cNvSpPr>
          <p:nvPr/>
        </p:nvSpPr>
        <p:spPr>
          <a:xfrm xmlns:a="http://schemas.openxmlformats.org/drawingml/2006/main">
            <a:off x="723900" y="2047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2D63FF"/>
                </a:solidFill>
                <a:latin typeface="DejaVu Sans"/>
                <a:ea typeface="DejaVu Sans"/>
                <a:cs typeface="DejaVu Sans"/>
              </a:defRPr>
            </a:pPr>
            <a:r>
              <a:rPr sz="2550" b="1">
                <a:solidFill>
                  <a:srgbClr val="2D63FF"/>
                </a:solidFill>
                <a:latin typeface="DejaVu Sans"/>
                <a:ea typeface="DejaVu Sans"/>
                <a:cs typeface="DejaVu Sans"/>
              </a:rPr>
              <a:t>Source code</a:t>
            </a:r>
          </a:p>
        </p:txBody>
      </p:sp>
      <p:sp>
        <p:nvSpPr>
          <p:cNvPr id="7" name="answer-definition-0">
            <a:extLst xmlns:a="http://schemas.openxmlformats.org/drawingml/2006/main">
              <a:ext uri="{FF2B5EF4-FFF2-40B4-BE49-F238E27FC236}">
                <a16:creationId xmlns:a16="http://schemas.microsoft.com/office/drawing/2014/main" id="{C6F926E0-3B0C-455B-B77A-C8974AE3E04D}"/>
              </a:ext>
            </a:extLst>
          </p:cNvPr>
          <p:cNvSpPr>
            <a:spLocks xmlns:a="http://schemas.openxmlformats.org/drawingml/2006/main" noGrp="1"/>
          </p:cNvSpPr>
          <p:nvPr/>
        </p:nvSpPr>
        <p:spPr>
          <a:xfrm xmlns:a="http://schemas.openxmlformats.org/drawingml/2006/main">
            <a:off x="723900" y="262890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program text written by a programmer before translation.</a:t>
            </a:r>
          </a:p>
        </p:txBody>
      </p:sp>
      <p:sp>
        <p:nvSpPr>
          <p:cNvPr id="8" name="answer-term-1">
            <a:extLst xmlns:a="http://schemas.openxmlformats.org/drawingml/2006/main">
              <a:ext uri="{FF2B5EF4-FFF2-40B4-BE49-F238E27FC236}">
                <a16:creationId xmlns:a16="http://schemas.microsoft.com/office/drawing/2014/main" id="{C9190DB0-181E-4A8A-9E5E-95B19960F40A}"/>
              </a:ext>
            </a:extLst>
          </p:cNvPr>
          <p:cNvSpPr>
            <a:spLocks xmlns:a="http://schemas.openxmlformats.org/drawingml/2006/main" noGrp="1"/>
          </p:cNvSpPr>
          <p:nvPr/>
        </p:nvSpPr>
        <p:spPr>
          <a:xfrm xmlns:a="http://schemas.openxmlformats.org/drawingml/2006/main">
            <a:off x="723900" y="39338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2D63FF"/>
                </a:solidFill>
                <a:latin typeface="DejaVu Sans"/>
                <a:ea typeface="DejaVu Sans"/>
                <a:cs typeface="DejaVu Sans"/>
              </a:defRPr>
            </a:pPr>
            <a:r>
              <a:rPr sz="2550" b="1">
                <a:solidFill>
                  <a:srgbClr val="2D63FF"/>
                </a:solidFill>
                <a:latin typeface="DejaVu Sans"/>
                <a:ea typeface="DejaVu Sans"/>
                <a:cs typeface="DejaVu Sans"/>
              </a:rPr>
              <a:t>Run-time environment</a:t>
            </a:r>
          </a:p>
        </p:txBody>
      </p:sp>
      <p:sp>
        <p:nvSpPr>
          <p:cNvPr id="9" name="answer-definition-1">
            <a:extLst xmlns:a="http://schemas.openxmlformats.org/drawingml/2006/main">
              <a:ext uri="{FF2B5EF4-FFF2-40B4-BE49-F238E27FC236}">
                <a16:creationId xmlns:a16="http://schemas.microsoft.com/office/drawing/2014/main" id="{B865E412-4386-4ED0-B8E9-05D05365D030}"/>
              </a:ext>
            </a:extLst>
          </p:cNvPr>
          <p:cNvSpPr>
            <a:spLocks xmlns:a="http://schemas.openxmlformats.org/drawingml/2006/main" noGrp="1"/>
          </p:cNvSpPr>
          <p:nvPr/>
        </p:nvSpPr>
        <p:spPr>
          <a:xfrm xmlns:a="http://schemas.openxmlformats.org/drawingml/2006/main">
            <a:off x="723900" y="451485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facilities used to run a program and interact with it during execution.</a:t>
            </a:r>
          </a:p>
        </p:txBody>
      </p:sp>
    </p:spTree>
    <p:extLst>
      <p:ext uri="{BB962C8B-B14F-4D97-AF65-F5344CB8AC3E}">
        <p14:creationId xmlns:p14="http://schemas.microsoft.com/office/powerpoint/2010/main" val="544340808"/>
      </p:ext>
    </p:extLst>
  </p:cSld>
</p:sld>
</file>

<file path=ppt/slides/slide7.xml><?xml version="1.0" encoding="utf-8"?>
<p:sld xmlns:p="http://schemas.openxmlformats.org/presentationml/2006/main">
  <p:cSld>
    <p:bg>
      <p:bgPr>
        <a:solidFill xmlns:a="http://schemas.openxmlformats.org/drawingml/2006/main">
          <a:srgbClr val="122448"/>
        </a:solidFill>
      </p:bgPr>
    </p:bg>
    <p:spTree>
      <p:nvGrpSpPr>
        <p:cNvPr id="1" name=""/>
        <p:cNvGrpSpPr/>
        <p:nvPr/>
      </p:nvGrpSpPr>
      <p:grpSpPr>
        <a:xfrm xmlns:a="http://schemas.openxmlformats.org/drawingml/2006/main"/>
      </p:grpSpPr>
      <p:sp>
        <p:nvSpPr>
          <p:cNvPr id="14" name="footer background">
            <a:extLst xmlns:a="http://schemas.openxmlformats.org/drawingml/2006/main">
              <a:ext uri="{FF2B5EF4-FFF2-40B4-BE49-F238E27FC236}">
                <a16:creationId xmlns:a16="http://schemas.microsoft.com/office/drawing/2014/main" id="{4BA66B78-BFDC-4298-A4DA-5CB5A7709FE5}"/>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EDA0D920-036D-4124-8F12-38EB1186A159}"/>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77D8FF"/>
                </a:solidFill>
                <a:latin typeface="DejaVu Sans"/>
                <a:ea typeface="DejaVu Sans"/>
                <a:cs typeface="DejaVu Sans"/>
              </a:defRPr>
            </a:pPr>
            <a:r>
              <a:rPr sz="1125" b="1">
                <a:solidFill>
                  <a:srgbClr val="77D8FF"/>
                </a:solidFill>
                <a:latin typeface="DejaVu Sans"/>
                <a:ea typeface="DejaVu Sans"/>
                <a:cs typeface="DejaVu Sans"/>
              </a:rPr>
              <a:t>TOPIC 2.5   /   LESSON 05   /   EXPERIENCE</a:t>
            </a:r>
          </a:p>
        </p:txBody>
      </p:sp>
      <p:sp>
        <p:nvSpPr>
          <p:cNvPr id="3" name="heading">
            <a:extLst xmlns:a="http://schemas.openxmlformats.org/drawingml/2006/main">
              <a:ext uri="{FF2B5EF4-FFF2-40B4-BE49-F238E27FC236}">
                <a16:creationId xmlns:a16="http://schemas.microsoft.com/office/drawing/2014/main" id="{F5191E8A-E142-4BC2-8435-1D8EA13B170B}"/>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Worksheet + experience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0a2e08720ea4f1c"/>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A0A45757-2C05-40D6-9E75-84F5AEC8FE82}"/>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7 / 18</a:t>
            </a:r>
          </a:p>
        </p:txBody>
      </p:sp>
      <p:sp>
        <p:nvSpPr>
          <p:cNvPr id="6" name="open-label">
            <a:extLst xmlns:a="http://schemas.openxmlformats.org/drawingml/2006/main">
              <a:ext uri="{FF2B5EF4-FFF2-40B4-BE49-F238E27FC236}">
                <a16:creationId xmlns:a16="http://schemas.microsoft.com/office/drawing/2014/main" id="{3B14933E-F008-4A1E-B920-32134F7F650F}"/>
              </a:ext>
            </a:extLst>
          </p:cNvPr>
          <p:cNvSpPr>
            <a:spLocks xmlns:a="http://schemas.openxmlformats.org/drawingml/2006/main" noGrp="1"/>
          </p:cNvSpPr>
          <p:nvPr/>
        </p:nvSpPr>
        <p:spPr>
          <a:xfrm xmlns:a="http://schemas.openxmlformats.org/drawingml/2006/main">
            <a:off x="723900" y="15240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01   OPEN THE EXPERIENCE NOW</a:t>
            </a:r>
          </a:p>
        </p:txBody>
      </p:sp>
      <p:sp>
        <p:nvSpPr>
          <p:cNvPr id="7" name="open-body">
            <a:extLst xmlns:a="http://schemas.openxmlformats.org/drawingml/2006/main">
              <a:ext uri="{FF2B5EF4-FFF2-40B4-BE49-F238E27FC236}">
                <a16:creationId xmlns:a16="http://schemas.microsoft.com/office/drawing/2014/main" id="{7A71894B-6674-45BD-B430-F339D03A05C8}"/>
              </a:ext>
            </a:extLst>
          </p:cNvPr>
          <p:cNvSpPr>
            <a:spLocks xmlns:a="http://schemas.openxmlformats.org/drawingml/2006/main" noGrp="1"/>
          </p:cNvSpPr>
          <p:nvPr/>
        </p:nvSpPr>
        <p:spPr>
          <a:xfrm xmlns:a="http://schemas.openxmlformats.org/drawingml/2006/main">
            <a:off x="723900" y="18478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Open Language review HQ in Topic 2.5. Keep the worksheet beside you.</a:t>
            </a:r>
          </a:p>
        </p:txBody>
      </p:sp>
      <p:sp>
        <p:nvSpPr>
          <p:cNvPr id="8" name="station-label">
            <a:extLst xmlns:a="http://schemas.openxmlformats.org/drawingml/2006/main">
              <a:ext uri="{FF2B5EF4-FFF2-40B4-BE49-F238E27FC236}">
                <a16:creationId xmlns:a16="http://schemas.microsoft.com/office/drawing/2014/main" id="{B90E3C20-8F8E-412D-B38A-D521747F0BF7}"/>
              </a:ext>
            </a:extLst>
          </p:cNvPr>
          <p:cNvSpPr>
            <a:spLocks xmlns:a="http://schemas.openxmlformats.org/drawingml/2006/main" noGrp="1"/>
          </p:cNvSpPr>
          <p:nvPr/>
        </p:nvSpPr>
        <p:spPr>
          <a:xfrm xmlns:a="http://schemas.openxmlformats.org/drawingml/2006/main">
            <a:off x="723900" y="25908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02   SIX STATIONS</a:t>
            </a:r>
          </a:p>
        </p:txBody>
      </p:sp>
      <p:sp>
        <p:nvSpPr>
          <p:cNvPr id="9" name="station-body">
            <a:extLst xmlns:a="http://schemas.openxmlformats.org/drawingml/2006/main">
              <a:ext uri="{FF2B5EF4-FFF2-40B4-BE49-F238E27FC236}">
                <a16:creationId xmlns:a16="http://schemas.microsoft.com/office/drawing/2014/main" id="{B45B51EE-5945-44D5-9C7B-668BC232AEF3}"/>
              </a:ext>
            </a:extLst>
          </p:cNvPr>
          <p:cNvSpPr>
            <a:spLocks xmlns:a="http://schemas.openxmlformats.org/drawingml/2006/main" noGrp="1"/>
          </p:cNvSpPr>
          <p:nvPr/>
        </p:nvSpPr>
        <p:spPr>
          <a:xfrm xmlns:a="http://schemas.openxmlformats.org/drawingml/2006/main">
            <a:off x="723900" y="2914650"/>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At each station, write key facts IN YOUR OWN WORDS. Answer its worksheet challenge before tapping the badge.</a:t>
            </a:r>
          </a:p>
        </p:txBody>
      </p:sp>
      <p:sp>
        <p:nvSpPr>
          <p:cNvPr id="10" name="finish-label">
            <a:extLst xmlns:a="http://schemas.openxmlformats.org/drawingml/2006/main">
              <a:ext uri="{FF2B5EF4-FFF2-40B4-BE49-F238E27FC236}">
                <a16:creationId xmlns:a16="http://schemas.microsoft.com/office/drawing/2014/main" id="{0B3F37C6-3223-43C3-B5C5-0734100D7938}"/>
              </a:ext>
            </a:extLst>
          </p:cNvPr>
          <p:cNvSpPr>
            <a:spLocks xmlns:a="http://schemas.openxmlformats.org/drawingml/2006/main" noGrp="1"/>
          </p:cNvSpPr>
          <p:nvPr/>
        </p:nvSpPr>
        <p:spPr>
          <a:xfrm xmlns:a="http://schemas.openxmlformats.org/drawingml/2006/main">
            <a:off x="723900" y="371475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03   FINAL CHALLENGE</a:t>
            </a:r>
          </a:p>
        </p:txBody>
      </p:sp>
      <p:sp>
        <p:nvSpPr>
          <p:cNvPr id="11" name="finish-body">
            <a:extLst xmlns:a="http://schemas.openxmlformats.org/drawingml/2006/main">
              <a:ext uri="{FF2B5EF4-FFF2-40B4-BE49-F238E27FC236}">
                <a16:creationId xmlns:a16="http://schemas.microsoft.com/office/drawing/2014/main" id="{23A69AAC-E055-45B3-BEBA-D02CB8128F7B}"/>
              </a:ext>
            </a:extLst>
          </p:cNvPr>
          <p:cNvSpPr>
            <a:spLocks xmlns:a="http://schemas.openxmlformats.org/drawingml/2006/main" noGrp="1"/>
          </p:cNvSpPr>
          <p:nvPr/>
        </p:nvSpPr>
        <p:spPr>
          <a:xfrm xmlns:a="http://schemas.openxmlformats.org/drawingml/2006/main">
            <a:off x="723900" y="40481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Attempt the worksheet final challenge before tapping the star. Record your score, then use review mode to correct mistakes.</a:t>
            </a:r>
          </a:p>
        </p:txBody>
      </p:sp>
      <p:sp>
        <p:nvSpPr>
          <p:cNvPr id="12" name="plenary-label">
            <a:extLst xmlns:a="http://schemas.openxmlformats.org/drawingml/2006/main">
              <a:ext uri="{FF2B5EF4-FFF2-40B4-BE49-F238E27FC236}">
                <a16:creationId xmlns:a16="http://schemas.microsoft.com/office/drawing/2014/main" id="{97D05B46-012B-43E3-B865-D49BCF331FE8}"/>
              </a:ext>
            </a:extLst>
          </p:cNvPr>
          <p:cNvSpPr>
            <a:spLocks xmlns:a="http://schemas.openxmlformats.org/drawingml/2006/main" noGrp="1"/>
          </p:cNvSpPr>
          <p:nvPr/>
        </p:nvSpPr>
        <p:spPr>
          <a:xfrm xmlns:a="http://schemas.openxmlformats.org/drawingml/2006/main">
            <a:off x="723900" y="4914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04   PLENARY</a:t>
            </a:r>
          </a:p>
        </p:txBody>
      </p:sp>
      <p:sp>
        <p:nvSpPr>
          <p:cNvPr id="13" name="plenary-body">
            <a:extLst xmlns:a="http://schemas.openxmlformats.org/drawingml/2006/main">
              <a:ext uri="{FF2B5EF4-FFF2-40B4-BE49-F238E27FC236}">
                <a16:creationId xmlns:a16="http://schemas.microsoft.com/office/drawing/2014/main" id="{93D16BC3-41C8-47E2-B0D7-08EC3C3CDAAD}"/>
              </a:ext>
            </a:extLst>
          </p:cNvPr>
          <p:cNvSpPr>
            <a:spLocks xmlns:a="http://schemas.openxmlformats.org/drawingml/2006/main" noGrp="1"/>
          </p:cNvSpPr>
          <p:nvPr/>
        </p:nvSpPr>
        <p:spPr>
          <a:xfrm xmlns:a="http://schemas.openxmlformats.org/drawingml/2006/main">
            <a:off x="723900" y="52387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Finish the experience in this lesson. Near the end, close it for the plenary knowledge checks.</a:t>
            </a:r>
          </a:p>
        </p:txBody>
      </p:sp>
    </p:spTree>
    <p:extLst>
      <p:ext uri="{BB962C8B-B14F-4D97-AF65-F5344CB8AC3E}">
        <p14:creationId xmlns:p14="http://schemas.microsoft.com/office/powerpoint/2010/main" val="87235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ooter background">
            <a:extLst xmlns:a="http://schemas.openxmlformats.org/drawingml/2006/main">
              <a:ext uri="{FF2B5EF4-FFF2-40B4-BE49-F238E27FC236}">
                <a16:creationId xmlns:a16="http://schemas.microsoft.com/office/drawing/2014/main" id="{58C536E9-5669-4451-9AAB-579BAC1AD3C5}"/>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819AAF36-B8DE-4251-8DE6-E6BCCD541D1B}"/>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CONSOLIDATION</a:t>
            </a:r>
          </a:p>
        </p:txBody>
      </p:sp>
      <p:sp>
        <p:nvSpPr>
          <p:cNvPr id="3" name="heading">
            <a:extLst xmlns:a="http://schemas.openxmlformats.org/drawingml/2006/main">
              <a:ext uri="{FF2B5EF4-FFF2-40B4-BE49-F238E27FC236}">
                <a16:creationId xmlns:a16="http://schemas.microsoft.com/office/drawing/2014/main" id="{2722D1D8-2EB7-4550-BC01-C8F4AA1B446C}"/>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After the experience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ea0e4b179e442b0"/>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48D3831D-CA2C-4D2B-8512-1C6B95BF2ECB}"/>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8 / 18</a:t>
            </a:r>
          </a:p>
        </p:txBody>
      </p:sp>
      <p:sp>
        <p:nvSpPr>
          <p:cNvPr id="6" name="extension-prompt">
            <a:extLst xmlns:a="http://schemas.openxmlformats.org/drawingml/2006/main">
              <a:ext uri="{FF2B5EF4-FFF2-40B4-BE49-F238E27FC236}">
                <a16:creationId xmlns:a16="http://schemas.microsoft.com/office/drawing/2014/main" id="{3D632867-A970-4622-9F75-EC7929A63A0C}"/>
              </a:ext>
            </a:extLst>
          </p:cNvPr>
          <p:cNvSpPr>
            <a:spLocks xmlns:a="http://schemas.openxmlformats.org/drawingml/2006/main" noGrp="1"/>
          </p:cNvSpPr>
          <p:nvPr/>
        </p:nvSpPr>
        <p:spPr>
          <a:xfrm xmlns:a="http://schemas.openxmlformats.org/drawingml/2006/main">
            <a:off x="714375" y="2419350"/>
            <a:ext cx="10572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01828"/>
                </a:solidFill>
                <a:latin typeface="DejaVu Sans"/>
                <a:ea typeface="DejaVu Sans"/>
                <a:cs typeface="DejaVu Sans"/>
              </a:defRPr>
            </a:pPr>
            <a:r>
              <a:rPr sz="2400" b="1">
                <a:solidFill>
                  <a:srgbClr val="101828"/>
                </a:solidFill>
                <a:latin typeface="DejaVu Sans"/>
                <a:ea typeface="DejaVu Sans"/>
                <a:cs typeface="DejaVu Sans"/>
              </a:rPr>
              <a:t>Return to the Do Now question. Use two things you learned in the room to improve your original answer.</a:t>
            </a:r>
          </a:p>
        </p:txBody>
      </p:sp>
      <p:sp>
        <p:nvSpPr>
          <p:cNvPr id="7" name="extension-follow">
            <a:extLst xmlns:a="http://schemas.openxmlformats.org/drawingml/2006/main">
              <a:ext uri="{FF2B5EF4-FFF2-40B4-BE49-F238E27FC236}">
                <a16:creationId xmlns:a16="http://schemas.microsoft.com/office/drawing/2014/main" id="{0C21F904-CB27-4E5D-A9F7-D13B95D2EFE6}"/>
              </a:ext>
            </a:extLst>
          </p:cNvPr>
          <p:cNvSpPr>
            <a:spLocks xmlns:a="http://schemas.openxmlformats.org/drawingml/2006/main" noGrp="1"/>
          </p:cNvSpPr>
          <p:nvPr/>
        </p:nvSpPr>
        <p:spPr>
          <a:xfrm xmlns:a="http://schemas.openxmlformats.org/drawingml/2006/main">
            <a:off x="714375" y="46482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D63FF"/>
                </a:solidFill>
                <a:latin typeface="DejaVu Sans"/>
                <a:ea typeface="DejaVu Sans"/>
                <a:cs typeface="DejaVu Sans"/>
              </a:defRPr>
            </a:pPr>
            <a:r>
              <a:rPr sz="1950" b="0">
                <a:solidFill>
                  <a:srgbClr val="2D63FF"/>
                </a:solidFill>
                <a:latin typeface="DejaVu Sans"/>
                <a:ea typeface="DejaVu Sans"/>
                <a:cs typeface="DejaVu Sans"/>
              </a:rPr>
              <a:t>Check that each reason links a specific characteristic or tool to the task.</a:t>
            </a:r>
          </a:p>
        </p:txBody>
      </p:sp>
    </p:spTree>
    <p:extLst>
      <p:ext uri="{BB962C8B-B14F-4D97-AF65-F5344CB8AC3E}">
        <p14:creationId xmlns:p14="http://schemas.microsoft.com/office/powerpoint/2010/main" val="7409979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oter background">
            <a:extLst xmlns:a="http://schemas.openxmlformats.org/drawingml/2006/main">
              <a:ext uri="{FF2B5EF4-FFF2-40B4-BE49-F238E27FC236}">
                <a16:creationId xmlns:a16="http://schemas.microsoft.com/office/drawing/2014/main" id="{9B263055-5EA4-4302-98FD-2C08B0E0EA02}"/>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2A5B0DE7-189B-4E0D-AC5D-CF4265922C54}"/>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CONSOLIDATION</a:t>
            </a:r>
          </a:p>
        </p:txBody>
      </p:sp>
      <p:sp>
        <p:nvSpPr>
          <p:cNvPr id="3" name="heading">
            <a:extLst xmlns:a="http://schemas.openxmlformats.org/drawingml/2006/main">
              <a:ext uri="{FF2B5EF4-FFF2-40B4-BE49-F238E27FC236}">
                <a16:creationId xmlns:a16="http://schemas.microsoft.com/office/drawing/2014/main" id="{641086F9-DF63-4768-BF4E-D1F572BCC269}"/>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Check and improve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043841f51104e25"/>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A14C2577-C6E7-49B9-B106-D65BE85AE0C1}"/>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9 / 18</a:t>
            </a:r>
          </a:p>
        </p:txBody>
      </p:sp>
      <p:sp>
        <p:nvSpPr>
          <p:cNvPr id="6" name="extension-two">
            <a:extLst xmlns:a="http://schemas.openxmlformats.org/drawingml/2006/main">
              <a:ext uri="{FF2B5EF4-FFF2-40B4-BE49-F238E27FC236}">
                <a16:creationId xmlns:a16="http://schemas.microsoft.com/office/drawing/2014/main" id="{29844E22-D648-40A0-BC22-276A81AE0068}"/>
              </a:ext>
            </a:extLst>
          </p:cNvPr>
          <p:cNvSpPr>
            <a:spLocks xmlns:a="http://schemas.openxmlformats.org/drawingml/2006/main" noGrp="1"/>
          </p:cNvSpPr>
          <p:nvPr/>
        </p:nvSpPr>
        <p:spPr>
          <a:xfrm xmlns:a="http://schemas.openxmlformats.org/drawingml/2006/main">
            <a:off x="704850" y="2676525"/>
            <a:ext cx="1062037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01828"/>
                </a:solidFill>
                <a:latin typeface="DejaVu Sans"/>
                <a:ea typeface="DejaVu Sans"/>
                <a:cs typeface="DejaVu Sans"/>
              </a:defRPr>
            </a:pPr>
            <a:r>
              <a:rPr sz="2400" b="1">
                <a:solidFill>
                  <a:srgbClr val="101828"/>
                </a:solidFill>
                <a:latin typeface="DejaVu Sans"/>
                <a:ea typeface="DejaVu Sans"/>
                <a:cs typeface="DejaVu Sans"/>
              </a:rPr>
              <a:t>Use review mode to correct any mistakes. Write one correction and explain why the right answer fits. Then move on to the plenary knowledge checks.</a:t>
            </a:r>
          </a:p>
        </p:txBody>
      </p:sp>
    </p:spTree>
    <p:extLst>
      <p:ext uri="{BB962C8B-B14F-4D97-AF65-F5344CB8AC3E}">
        <p14:creationId xmlns:p14="http://schemas.microsoft.com/office/powerpoint/2010/main" val="1610668184"/>
      </p:ext>
    </p:extLst>
  </p:cSld>
</p:sld>
</file>

<file path=ppt/slides/slide10.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1" name="footer background">
            <a:extLst xmlns:a="http://schemas.openxmlformats.org/drawingml/2006/main">
              <a:ext uri="{FF2B5EF4-FFF2-40B4-BE49-F238E27FC236}">
                <a16:creationId xmlns:a16="http://schemas.microsoft.com/office/drawing/2014/main" id="{078803E9-413E-4B42-B661-1890FAB9A3C6}"/>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FF0305E1-8E4B-4FE7-9B7B-B01E262E5BEB}"/>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CHECK</a:t>
            </a:r>
          </a:p>
        </p:txBody>
      </p:sp>
      <p:sp>
        <p:nvSpPr>
          <p:cNvPr id="3" name="heading">
            <a:extLst xmlns:a="http://schemas.openxmlformats.org/drawingml/2006/main">
              <a:ext uri="{FF2B5EF4-FFF2-40B4-BE49-F238E27FC236}">
                <a16:creationId xmlns:a16="http://schemas.microsoft.com/office/drawing/2014/main" id="{571FFA7C-71E3-407E-A084-8AAA873463D6}"/>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 stronger explanation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979f30c0f404117"/>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C5BD4D03-162B-45A5-AA28-72FD38F49F88}"/>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10 / 18</a:t>
            </a:r>
          </a:p>
        </p:txBody>
      </p:sp>
      <p:sp>
        <p:nvSpPr>
          <p:cNvPr id="6" name="extension-check">
            <a:extLst xmlns:a="http://schemas.openxmlformats.org/drawingml/2006/main">
              <a:ext uri="{FF2B5EF4-FFF2-40B4-BE49-F238E27FC236}">
                <a16:creationId xmlns:a16="http://schemas.microsoft.com/office/drawing/2014/main" id="{06547FB7-89E1-430C-BA4E-A0059FB7D2F2}"/>
              </a:ext>
            </a:extLst>
          </p:cNvPr>
          <p:cNvSpPr>
            <a:spLocks xmlns:a="http://schemas.openxmlformats.org/drawingml/2006/main" noGrp="1"/>
          </p:cNvSpPr>
          <p:nvPr/>
        </p:nvSpPr>
        <p:spPr>
          <a:xfrm xmlns:a="http://schemas.openxmlformats.org/drawingml/2006/main">
            <a:off x="704850" y="15335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Compare your reasoning, then improve one sentence on your worksheet.</a:t>
            </a:r>
          </a:p>
        </p:txBody>
      </p:sp>
      <p:sp>
        <p:nvSpPr>
          <p:cNvPr id="7" name="answer-application">
            <a:extLst xmlns:a="http://schemas.openxmlformats.org/drawingml/2006/main">
              <a:ext uri="{FF2B5EF4-FFF2-40B4-BE49-F238E27FC236}">
                <a16:creationId xmlns:a16="http://schemas.microsoft.com/office/drawing/2014/main" id="{7F1A9A78-A783-4735-9B4E-2787A5EE5E46}"/>
              </a:ext>
            </a:extLst>
          </p:cNvPr>
          <p:cNvSpPr>
            <a:spLocks xmlns:a="http://schemas.openxmlformats.org/drawingml/2006/main" noGrp="1"/>
          </p:cNvSpPr>
          <p:nvPr/>
        </p:nvSpPr>
        <p:spPr>
          <a:xfrm xmlns:a="http://schemas.openxmlformats.org/drawingml/2006/main">
            <a:off x="723900" y="23050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Writing an explanation</a:t>
            </a:r>
          </a:p>
        </p:txBody>
      </p:sp>
      <p:sp>
        <p:nvSpPr>
          <p:cNvPr id="8" name="answer-application-body">
            <a:extLst xmlns:a="http://schemas.openxmlformats.org/drawingml/2006/main">
              <a:ext uri="{FF2B5EF4-FFF2-40B4-BE49-F238E27FC236}">
                <a16:creationId xmlns:a16="http://schemas.microsoft.com/office/drawing/2014/main" id="{28087EFB-17A1-4A2B-B86E-2733BD05E32E}"/>
              </a:ext>
            </a:extLst>
          </p:cNvPr>
          <p:cNvSpPr>
            <a:spLocks xmlns:a="http://schemas.openxmlformats.org/drawingml/2006/main" noGrp="1"/>
          </p:cNvSpPr>
          <p:nvPr/>
        </p:nvSpPr>
        <p:spPr>
          <a:xfrm xmlns:a="http://schemas.openxmlformats.org/drawingml/2006/main">
            <a:off x="723900" y="2771775"/>
            <a:ext cx="10477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Error diagnostics can identify the problem and its location, helping the programmer find the source to correct.</a:t>
            </a:r>
          </a:p>
        </p:txBody>
      </p:sp>
      <p:sp>
        <p:nvSpPr>
          <p:cNvPr id="9" name="answer-stretch">
            <a:extLst xmlns:a="http://schemas.openxmlformats.org/drawingml/2006/main">
              <a:ext uri="{FF2B5EF4-FFF2-40B4-BE49-F238E27FC236}">
                <a16:creationId xmlns:a16="http://schemas.microsoft.com/office/drawing/2014/main" id="{5A018C42-6685-447F-818E-7126648E85A1}"/>
              </a:ext>
            </a:extLst>
          </p:cNvPr>
          <p:cNvSpPr>
            <a:spLocks xmlns:a="http://schemas.openxmlformats.org/drawingml/2006/main" noGrp="1"/>
          </p:cNvSpPr>
          <p:nvPr/>
        </p:nvSpPr>
        <p:spPr>
          <a:xfrm xmlns:a="http://schemas.openxmlformats.org/drawingml/2006/main">
            <a:off x="723900" y="43529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Review and explain</a:t>
            </a:r>
          </a:p>
        </p:txBody>
      </p:sp>
      <p:sp>
        <p:nvSpPr>
          <p:cNvPr id="10" name="answer-stretch-body">
            <a:extLst xmlns:a="http://schemas.openxmlformats.org/drawingml/2006/main">
              <a:ext uri="{FF2B5EF4-FFF2-40B4-BE49-F238E27FC236}">
                <a16:creationId xmlns:a16="http://schemas.microsoft.com/office/drawing/2014/main" id="{0C0236B0-96D2-4CB9-BE2E-068D8FFE21AF}"/>
              </a:ext>
            </a:extLst>
          </p:cNvPr>
          <p:cNvSpPr>
            <a:spLocks xmlns:a="http://schemas.openxmlformats.org/drawingml/2006/main" noGrp="1"/>
          </p:cNvSpPr>
          <p:nvPr/>
        </p:nvSpPr>
        <p:spPr>
          <a:xfrm xmlns:a="http://schemas.openxmlformats.org/drawingml/2006/main">
            <a:off x="723900" y="4810125"/>
            <a:ext cx="10477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Your correction should name the correct idea and explain why it fits the question. Use the experience feedback to check it.</a:t>
            </a:r>
          </a:p>
        </p:txBody>
      </p:sp>
    </p:spTree>
    <p:extLst>
      <p:ext uri="{BB962C8B-B14F-4D97-AF65-F5344CB8AC3E}">
        <p14:creationId xmlns:p14="http://schemas.microsoft.com/office/powerpoint/2010/main" val="1077196823"/>
      </p:ext>
    </p:extLst>
  </p:cSld>
</p:sld>
</file>

<file path=ppt/slides/slide11.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3" name="footer background">
            <a:extLst xmlns:a="http://schemas.openxmlformats.org/drawingml/2006/main">
              <a:ext uri="{FF2B5EF4-FFF2-40B4-BE49-F238E27FC236}">
                <a16:creationId xmlns:a16="http://schemas.microsoft.com/office/drawing/2014/main" id="{7EF7E645-4366-476F-A5B1-90C7C70ADD28}"/>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159341AF-F465-4757-AC09-3A0C4AF7B54A}"/>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ANSWERS</a:t>
            </a:r>
          </a:p>
        </p:txBody>
      </p:sp>
      <p:sp>
        <p:nvSpPr>
          <p:cNvPr id="3" name="heading">
            <a:extLst xmlns:a="http://schemas.openxmlformats.org/drawingml/2006/main">
              <a:ext uri="{FF2B5EF4-FFF2-40B4-BE49-F238E27FC236}">
                <a16:creationId xmlns:a16="http://schemas.microsoft.com/office/drawing/2014/main" id="{5EBF8C94-893F-4F9B-8993-606E888EB0EC}"/>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After the experience: stations 1–3</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84da1d2b73247b0"/>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9E93BEC9-DC57-4892-87B7-6699B7FBD7FD}"/>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11 / 18</a:t>
            </a:r>
          </a:p>
        </p:txBody>
      </p:sp>
      <p:sp>
        <p:nvSpPr>
          <p:cNvPr id="6" name="check-stations">
            <a:extLst xmlns:a="http://schemas.openxmlformats.org/drawingml/2006/main">
              <a:ext uri="{FF2B5EF4-FFF2-40B4-BE49-F238E27FC236}">
                <a16:creationId xmlns:a16="http://schemas.microsoft.com/office/drawing/2014/main" id="{51C9C7E2-F4F1-420D-88E1-62F2A7BC64EE}"/>
              </a:ext>
            </a:extLst>
          </p:cNvPr>
          <p:cNvSpPr>
            <a:spLocks xmlns:a="http://schemas.openxmlformats.org/drawingml/2006/main" noGrp="1"/>
          </p:cNvSpPr>
          <p:nvPr/>
        </p:nvSpPr>
        <p:spPr>
          <a:xfrm xmlns:a="http://schemas.openxmlformats.org/drawingml/2006/main">
            <a:off x="704850" y="1543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Check your key facts and challenge responses.</a:t>
            </a:r>
          </a:p>
        </p:txBody>
      </p:sp>
      <p:sp>
        <p:nvSpPr>
          <p:cNvPr id="7" name="station-name-0">
            <a:extLst xmlns:a="http://schemas.openxmlformats.org/drawingml/2006/main">
              <a:ext uri="{FF2B5EF4-FFF2-40B4-BE49-F238E27FC236}">
                <a16:creationId xmlns:a16="http://schemas.microsoft.com/office/drawing/2014/main" id="{D616DF12-F12D-4F89-BE2A-F5A3C233BF19}"/>
              </a:ext>
            </a:extLst>
          </p:cNvPr>
          <p:cNvSpPr>
            <a:spLocks xmlns:a="http://schemas.openxmlformats.org/drawingml/2006/main" noGrp="1"/>
          </p:cNvSpPr>
          <p:nvPr/>
        </p:nvSpPr>
        <p:spPr>
          <a:xfrm xmlns:a="http://schemas.openxmlformats.org/drawingml/2006/main">
            <a:off x="723900" y="22098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1  Language decisions</a:t>
            </a:r>
          </a:p>
        </p:txBody>
      </p:sp>
      <p:sp>
        <p:nvSpPr>
          <p:cNvPr id="8" name="station-answer-0">
            <a:extLst xmlns:a="http://schemas.openxmlformats.org/drawingml/2006/main">
              <a:ext uri="{FF2B5EF4-FFF2-40B4-BE49-F238E27FC236}">
                <a16:creationId xmlns:a16="http://schemas.microsoft.com/office/drawing/2014/main" id="{F6BEAF51-6593-4158-B949-6DCAF3DF8AF3}"/>
              </a:ext>
            </a:extLst>
          </p:cNvPr>
          <p:cNvSpPr>
            <a:spLocks xmlns:a="http://schemas.openxmlformats.org/drawingml/2006/main" noGrp="1"/>
          </p:cNvSpPr>
          <p:nvPr/>
        </p:nvSpPr>
        <p:spPr>
          <a:xfrm xmlns:a="http://schemas.openxmlformats.org/drawingml/2006/main">
            <a:off x="723900" y="26384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High-level code is usually easier to read and maintain, helping staff update the app.</a:t>
            </a:r>
          </a:p>
        </p:txBody>
      </p:sp>
      <p:sp>
        <p:nvSpPr>
          <p:cNvPr id="9" name="station-name-1">
            <a:extLst xmlns:a="http://schemas.openxmlformats.org/drawingml/2006/main">
              <a:ext uri="{FF2B5EF4-FFF2-40B4-BE49-F238E27FC236}">
                <a16:creationId xmlns:a16="http://schemas.microsoft.com/office/drawing/2014/main" id="{1C2437BA-61EC-4CC1-A291-672A28BCBD0B}"/>
              </a:ext>
            </a:extLst>
          </p:cNvPr>
          <p:cNvSpPr>
            <a:spLocks xmlns:a="http://schemas.openxmlformats.org/drawingml/2006/main" noGrp="1"/>
          </p:cNvSpPr>
          <p:nvPr/>
        </p:nvSpPr>
        <p:spPr>
          <a:xfrm xmlns:a="http://schemas.openxmlformats.org/drawingml/2006/main">
            <a:off x="723900" y="3533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2  Source and execution</a:t>
            </a:r>
          </a:p>
        </p:txBody>
      </p:sp>
      <p:sp>
        <p:nvSpPr>
          <p:cNvPr id="10" name="station-answer-1">
            <a:extLst xmlns:a="http://schemas.openxmlformats.org/drawingml/2006/main">
              <a:ext uri="{FF2B5EF4-FFF2-40B4-BE49-F238E27FC236}">
                <a16:creationId xmlns:a16="http://schemas.microsoft.com/office/drawing/2014/main" id="{2AD176F9-D05F-473B-8386-F181E623F611}"/>
              </a:ext>
            </a:extLst>
          </p:cNvPr>
          <p:cNvSpPr>
            <a:spLocks xmlns:a="http://schemas.openxmlformats.org/drawingml/2006/main" noGrp="1"/>
          </p:cNvSpPr>
          <p:nvPr/>
        </p:nvSpPr>
        <p:spPr>
          <a:xfrm xmlns:a="http://schemas.openxmlformats.org/drawingml/2006/main">
            <a:off x="723900" y="39624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Its instruction set uses machine code. The high-level source must be translated for its instructions to execute.</a:t>
            </a:r>
          </a:p>
        </p:txBody>
      </p:sp>
      <p:sp>
        <p:nvSpPr>
          <p:cNvPr id="11" name="station-name-2">
            <a:extLst xmlns:a="http://schemas.openxmlformats.org/drawingml/2006/main">
              <a:ext uri="{FF2B5EF4-FFF2-40B4-BE49-F238E27FC236}">
                <a16:creationId xmlns:a16="http://schemas.microsoft.com/office/drawing/2014/main" id="{D795BB1C-F6B4-4C53-AB97-8133E2500684}"/>
              </a:ext>
            </a:extLst>
          </p:cNvPr>
          <p:cNvSpPr>
            <a:spLocks xmlns:a="http://schemas.openxmlformats.org/drawingml/2006/main" noGrp="1"/>
          </p:cNvSpPr>
          <p:nvPr/>
        </p:nvSpPr>
        <p:spPr>
          <a:xfrm xmlns:a="http://schemas.openxmlformats.org/drawingml/2006/main">
            <a:off x="723900" y="48577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3  Translator choices</a:t>
            </a:r>
          </a:p>
        </p:txBody>
      </p:sp>
      <p:sp>
        <p:nvSpPr>
          <p:cNvPr id="12" name="station-answer-2">
            <a:extLst xmlns:a="http://schemas.openxmlformats.org/drawingml/2006/main">
              <a:ext uri="{FF2B5EF4-FFF2-40B4-BE49-F238E27FC236}">
                <a16:creationId xmlns:a16="http://schemas.microsoft.com/office/drawing/2014/main" id="{36B68946-29BE-4832-BBD8-102C229E46B8}"/>
              </a:ext>
            </a:extLst>
          </p:cNvPr>
          <p:cNvSpPr>
            <a:spLocks xmlns:a="http://schemas.openxmlformats.org/drawingml/2006/main" noGrp="1"/>
          </p:cNvSpPr>
          <p:nvPr/>
        </p:nvSpPr>
        <p:spPr>
          <a:xfrm xmlns:a="http://schemas.openxmlformats.org/drawingml/2006/main">
            <a:off x="723900" y="528637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An interpreter supports quick edit-and-run cycles without a separate whole-program compilation step.</a:t>
            </a:r>
          </a:p>
        </p:txBody>
      </p:sp>
    </p:spTree>
    <p:extLst>
      <p:ext uri="{BB962C8B-B14F-4D97-AF65-F5344CB8AC3E}">
        <p14:creationId xmlns:p14="http://schemas.microsoft.com/office/powerpoint/2010/main" val="853594405"/>
      </p:ext>
    </p:extLst>
  </p:cSld>
</p:sld>
</file>

<file path=ppt/slides/slide12.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3" name="footer background">
            <a:extLst xmlns:a="http://schemas.openxmlformats.org/drawingml/2006/main">
              <a:ext uri="{FF2B5EF4-FFF2-40B4-BE49-F238E27FC236}">
                <a16:creationId xmlns:a16="http://schemas.microsoft.com/office/drawing/2014/main" id="{E51900B3-0610-4E01-90E0-77DC6FF3162F}"/>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B0525AC8-4A6A-4190-909D-B5EB30CD8368}"/>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ANSWERS</a:t>
            </a:r>
          </a:p>
        </p:txBody>
      </p:sp>
      <p:sp>
        <p:nvSpPr>
          <p:cNvPr id="3" name="heading">
            <a:extLst xmlns:a="http://schemas.openxmlformats.org/drawingml/2006/main">
              <a:ext uri="{FF2B5EF4-FFF2-40B4-BE49-F238E27FC236}">
                <a16:creationId xmlns:a16="http://schemas.microsoft.com/office/drawing/2014/main" id="{7AFF9494-BEC4-4AEA-BD48-105C969A58D2}"/>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After the experience: stations 4–6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918fc6e63104dea"/>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28FF5AE6-5314-4952-A1CD-C9E9FC07E586}"/>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12 / 18</a:t>
            </a:r>
          </a:p>
        </p:txBody>
      </p:sp>
      <p:sp>
        <p:nvSpPr>
          <p:cNvPr id="6" name="check-stations">
            <a:extLst xmlns:a="http://schemas.openxmlformats.org/drawingml/2006/main">
              <a:ext uri="{FF2B5EF4-FFF2-40B4-BE49-F238E27FC236}">
                <a16:creationId xmlns:a16="http://schemas.microsoft.com/office/drawing/2014/main" id="{478BE9EE-4B04-4078-A860-876FCD869E9E}"/>
              </a:ext>
            </a:extLst>
          </p:cNvPr>
          <p:cNvSpPr>
            <a:spLocks xmlns:a="http://schemas.openxmlformats.org/drawingml/2006/main" noGrp="1"/>
          </p:cNvSpPr>
          <p:nvPr/>
        </p:nvSpPr>
        <p:spPr>
          <a:xfrm xmlns:a="http://schemas.openxmlformats.org/drawingml/2006/main">
            <a:off x="704850" y="1543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Check your key facts and challenge responses.</a:t>
            </a:r>
          </a:p>
        </p:txBody>
      </p:sp>
      <p:sp>
        <p:nvSpPr>
          <p:cNvPr id="7" name="station-name-3">
            <a:extLst xmlns:a="http://schemas.openxmlformats.org/drawingml/2006/main">
              <a:ext uri="{FF2B5EF4-FFF2-40B4-BE49-F238E27FC236}">
                <a16:creationId xmlns:a16="http://schemas.microsoft.com/office/drawing/2014/main" id="{0F0EBA09-E83B-415E-AD99-3550F935C4E4}"/>
              </a:ext>
            </a:extLst>
          </p:cNvPr>
          <p:cNvSpPr>
            <a:spLocks xmlns:a="http://schemas.openxmlformats.org/drawingml/2006/main" noGrp="1"/>
          </p:cNvSpPr>
          <p:nvPr/>
        </p:nvSpPr>
        <p:spPr>
          <a:xfrm xmlns:a="http://schemas.openxmlformats.org/drawingml/2006/main">
            <a:off x="723900" y="22098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4  Editing and diagnostics</a:t>
            </a:r>
          </a:p>
        </p:txBody>
      </p:sp>
      <p:sp>
        <p:nvSpPr>
          <p:cNvPr id="8" name="station-answer-3">
            <a:extLst xmlns:a="http://schemas.openxmlformats.org/drawingml/2006/main">
              <a:ext uri="{FF2B5EF4-FFF2-40B4-BE49-F238E27FC236}">
                <a16:creationId xmlns:a16="http://schemas.microsoft.com/office/drawing/2014/main" id="{8D150509-4F43-452B-BA18-B44519063679}"/>
              </a:ext>
            </a:extLst>
          </p:cNvPr>
          <p:cNvSpPr>
            <a:spLocks xmlns:a="http://schemas.openxmlformats.org/drawingml/2006/main" noGrp="1"/>
          </p:cNvSpPr>
          <p:nvPr/>
        </p:nvSpPr>
        <p:spPr>
          <a:xfrm xmlns:a="http://schemas.openxmlformats.org/drawingml/2006/main">
            <a:off x="723900" y="26384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The diagnostic helps locate and explain the problem. The programmer uses the editor to change the source.</a:t>
            </a:r>
          </a:p>
        </p:txBody>
      </p:sp>
      <p:sp>
        <p:nvSpPr>
          <p:cNvPr id="9" name="station-name-4">
            <a:extLst xmlns:a="http://schemas.openxmlformats.org/drawingml/2006/main">
              <a:ext uri="{FF2B5EF4-FFF2-40B4-BE49-F238E27FC236}">
                <a16:creationId xmlns:a16="http://schemas.microsoft.com/office/drawing/2014/main" id="{F40CAFDA-7B28-4DDD-97A6-7FEB15E5ACB5}"/>
              </a:ext>
            </a:extLst>
          </p:cNvPr>
          <p:cNvSpPr>
            <a:spLocks xmlns:a="http://schemas.openxmlformats.org/drawingml/2006/main" noGrp="1"/>
          </p:cNvSpPr>
          <p:nvPr/>
        </p:nvSpPr>
        <p:spPr>
          <a:xfrm xmlns:a="http://schemas.openxmlformats.org/drawingml/2006/main">
            <a:off x="723900" y="3533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5  Translation and running</a:t>
            </a:r>
          </a:p>
        </p:txBody>
      </p:sp>
      <p:sp>
        <p:nvSpPr>
          <p:cNvPr id="10" name="station-answer-4">
            <a:extLst xmlns:a="http://schemas.openxmlformats.org/drawingml/2006/main">
              <a:ext uri="{FF2B5EF4-FFF2-40B4-BE49-F238E27FC236}">
                <a16:creationId xmlns:a16="http://schemas.microsoft.com/office/drawing/2014/main" id="{DF6939EB-FAE7-4750-B799-6DB46BA86AA3}"/>
              </a:ext>
            </a:extLst>
          </p:cNvPr>
          <p:cNvSpPr>
            <a:spLocks xmlns:a="http://schemas.openxmlformats.org/drawingml/2006/main" noGrp="1"/>
          </p:cNvSpPr>
          <p:nvPr/>
        </p:nvSpPr>
        <p:spPr>
          <a:xfrm xmlns:a="http://schemas.openxmlformats.org/drawingml/2006/main">
            <a:off x="723900" y="39624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The translator processes the source. The run-time environment executes it and lets you observe output.</a:t>
            </a:r>
          </a:p>
        </p:txBody>
      </p:sp>
      <p:sp>
        <p:nvSpPr>
          <p:cNvPr id="11" name="station-name-5">
            <a:extLst xmlns:a="http://schemas.openxmlformats.org/drawingml/2006/main">
              <a:ext uri="{FF2B5EF4-FFF2-40B4-BE49-F238E27FC236}">
                <a16:creationId xmlns:a16="http://schemas.microsoft.com/office/drawing/2014/main" id="{1F7890C8-2979-416E-AA29-BEE1AB3B05F4}"/>
              </a:ext>
            </a:extLst>
          </p:cNvPr>
          <p:cNvSpPr>
            <a:spLocks xmlns:a="http://schemas.openxmlformats.org/drawingml/2006/main" noGrp="1"/>
          </p:cNvSpPr>
          <p:nvPr/>
        </p:nvSpPr>
        <p:spPr>
          <a:xfrm xmlns:a="http://schemas.openxmlformats.org/drawingml/2006/main">
            <a:off x="723900" y="48577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6  Writing an explanation</a:t>
            </a:r>
          </a:p>
        </p:txBody>
      </p:sp>
      <p:sp>
        <p:nvSpPr>
          <p:cNvPr id="12" name="station-answer-5">
            <a:extLst xmlns:a="http://schemas.openxmlformats.org/drawingml/2006/main">
              <a:ext uri="{FF2B5EF4-FFF2-40B4-BE49-F238E27FC236}">
                <a16:creationId xmlns:a16="http://schemas.microsoft.com/office/drawing/2014/main" id="{07216969-988D-4AF8-B64A-611D4169CA0C}"/>
              </a:ext>
            </a:extLst>
          </p:cNvPr>
          <p:cNvSpPr>
            <a:spLocks xmlns:a="http://schemas.openxmlformats.org/drawingml/2006/main" noGrp="1"/>
          </p:cNvSpPr>
          <p:nvPr/>
        </p:nvSpPr>
        <p:spPr>
          <a:xfrm xmlns:a="http://schemas.openxmlformats.org/drawingml/2006/main">
            <a:off x="723900" y="528637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Error diagnostics can identify the problem and its location, helping the programmer find the source to correct.</a:t>
            </a:r>
          </a:p>
        </p:txBody>
      </p:sp>
    </p:spTree>
    <p:extLst>
      <p:ext uri="{BB962C8B-B14F-4D97-AF65-F5344CB8AC3E}">
        <p14:creationId xmlns:p14="http://schemas.microsoft.com/office/powerpoint/2010/main" val="806977669"/>
      </p:ext>
    </p:extLst>
  </p:cSld>
</p:sld>
</file>

<file path=ppt/slides/slide13.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9" name="footer background">
            <a:extLst xmlns:a="http://schemas.openxmlformats.org/drawingml/2006/main">
              <a:ext uri="{FF2B5EF4-FFF2-40B4-BE49-F238E27FC236}">
                <a16:creationId xmlns:a16="http://schemas.microsoft.com/office/drawing/2014/main" id="{4782CCF1-F8AC-4963-BE7C-39F589ECB868}"/>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6DA98E84-19B5-4128-9F22-3EF63F2AE1FC}"/>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CHECK</a:t>
            </a:r>
          </a:p>
        </p:txBody>
      </p:sp>
      <p:sp>
        <p:nvSpPr>
          <p:cNvPr id="3" name="heading">
            <a:extLst xmlns:a="http://schemas.openxmlformats.org/drawingml/2006/main">
              <a:ext uri="{FF2B5EF4-FFF2-40B4-BE49-F238E27FC236}">
                <a16:creationId xmlns:a16="http://schemas.microsoft.com/office/drawing/2014/main" id="{3D092674-2E5F-4365-B13E-1BCD7239359D}"/>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Final challenge: answers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1132d4e741747a9"/>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C371B726-81B4-4823-AF8C-B2AEE4C1C20D}"/>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13 / 18</a:t>
            </a:r>
          </a:p>
        </p:txBody>
      </p:sp>
      <p:sp>
        <p:nvSpPr>
          <p:cNvPr id="6" name="star-key">
            <a:extLst xmlns:a="http://schemas.openxmlformats.org/drawingml/2006/main">
              <a:ext uri="{FF2B5EF4-FFF2-40B4-BE49-F238E27FC236}">
                <a16:creationId xmlns:a16="http://schemas.microsoft.com/office/drawing/2014/main" id="{4E2C5E58-B348-4B06-A627-247270C07C8A}"/>
              </a:ext>
            </a:extLst>
          </p:cNvPr>
          <p:cNvSpPr>
            <a:spLocks xmlns:a="http://schemas.openxmlformats.org/drawingml/2006/main" noGrp="1"/>
          </p:cNvSpPr>
          <p:nvPr/>
        </p:nvSpPr>
        <p:spPr>
          <a:xfrm xmlns:a="http://schemas.openxmlformats.org/drawingml/2006/main">
            <a:off x="704850" y="15240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Check your choices and the reasons you gave.</a:t>
            </a:r>
          </a:p>
        </p:txBody>
      </p:sp>
      <p:sp>
        <p:nvSpPr>
          <p:cNvPr id="7" name="number-1">
            <a:extLst xmlns:a="http://schemas.openxmlformats.org/drawingml/2006/main">
              <a:ext uri="{FF2B5EF4-FFF2-40B4-BE49-F238E27FC236}">
                <a16:creationId xmlns:a16="http://schemas.microsoft.com/office/drawing/2014/main" id="{D13603A8-78DC-40B6-A8F6-04D146FD5290}"/>
              </a:ext>
            </a:extLst>
          </p:cNvPr>
          <p:cNvSpPr>
            <a:spLocks xmlns:a="http://schemas.openxmlformats.org/drawingml/2006/main" noGrp="1"/>
          </p:cNvSpPr>
          <p:nvPr/>
        </p:nvSpPr>
        <p:spPr>
          <a:xfrm xmlns:a="http://schemas.openxmlformats.org/drawingml/2006/main">
            <a:off x="723900" y="21050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
            </a:r>
          </a:p>
        </p:txBody>
      </p:sp>
      <p:sp>
        <p:nvSpPr>
          <p:cNvPr id="8" name="item-1">
            <a:extLst xmlns:a="http://schemas.openxmlformats.org/drawingml/2006/main">
              <a:ext uri="{FF2B5EF4-FFF2-40B4-BE49-F238E27FC236}">
                <a16:creationId xmlns:a16="http://schemas.microsoft.com/office/drawing/2014/main" id="{DA3F8A68-07AA-4136-A4C5-7B3C68E60649}"/>
              </a:ext>
            </a:extLst>
          </p:cNvPr>
          <p:cNvSpPr>
            <a:spLocks xmlns:a="http://schemas.openxmlformats.org/drawingml/2006/main" noGrp="1"/>
          </p:cNvSpPr>
          <p:nvPr/>
        </p:nvSpPr>
        <p:spPr>
          <a:xfrm xmlns:a="http://schemas.openxmlformats.org/drawingml/2006/main">
            <a:off x="1352550" y="2143125"/>
            <a:ext cx="99250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Quickly try frequent source edits: Interpreter. Maintain a frequently updated app: High-level language. Describe a detected source problem: Error diagnostics. Run the program and see output: Run-time environment</a:t>
            </a:r>
          </a:p>
          <a:p xmlns:a="http://schemas.openxmlformats.org/drawingml/2006/main">
            <a:pPr algn="l">
              <a:buNone/>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
            </a:r>
          </a:p>
          <a:p xmlns:a="http://schemas.openxmlformats.org/drawingml/2006/main">
            <a:pPr algn="l">
              <a:buNone/>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Low-level code gives detailed hardware control. Compiled code can run again without source translation</a:t>
            </a:r>
          </a:p>
        </p:txBody>
      </p:sp>
      <p:sp>
        <p:nvSpPr>
          <p:cNvPr id="9" name="number-2">
            <a:extLst xmlns:a="http://schemas.openxmlformats.org/drawingml/2006/main">
              <a:ext uri="{FF2B5EF4-FFF2-40B4-BE49-F238E27FC236}">
                <a16:creationId xmlns:a16="http://schemas.microsoft.com/office/drawing/2014/main" id="{D63D0CFC-FB29-4A55-9634-1938AE0CED54}"/>
              </a:ext>
            </a:extLst>
          </p:cNvPr>
          <p:cNvSpPr>
            <a:spLocks xmlns:a="http://schemas.openxmlformats.org/drawingml/2006/main" noGrp="1"/>
          </p:cNvSpPr>
          <p:nvPr/>
        </p:nvSpPr>
        <p:spPr>
          <a:xfrm xmlns:a="http://schemas.openxmlformats.org/drawingml/2006/main">
            <a:off x="723900" y="27432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
            </a:r>
          </a:p>
        </p:txBody>
      </p:sp>
      <p:sp>
        <p:nvSpPr>
          <p:cNvPr id="10" name="item-2">
            <a:extLst xmlns:a="http://schemas.openxmlformats.org/drawingml/2006/main">
              <a:ext uri="{FF2B5EF4-FFF2-40B4-BE49-F238E27FC236}">
                <a16:creationId xmlns:a16="http://schemas.microsoft.com/office/drawing/2014/main" id="{1AF0E8F5-58C1-4699-8D32-68538ACE647E}"/>
              </a:ext>
            </a:extLst>
          </p:cNvPr>
          <p:cNvSpPr>
            <a:spLocks xmlns:a="http://schemas.openxmlformats.org/drawingml/2006/main" noGrp="1"/>
          </p:cNvSpPr>
          <p:nvPr/>
        </p:nvSpPr>
        <p:spPr>
          <a:xfrm xmlns:a="http://schemas.openxmlformats.org/drawingml/2006/main">
            <a:off x="1352550" y="2743200"/>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
            </a:r>
          </a:p>
        </p:txBody>
      </p:sp>
      <p:sp>
        <p:nvSpPr>
          <p:cNvPr id="11" name="number-3">
            <a:extLst xmlns:a="http://schemas.openxmlformats.org/drawingml/2006/main">
              <a:ext uri="{FF2B5EF4-FFF2-40B4-BE49-F238E27FC236}">
                <a16:creationId xmlns:a16="http://schemas.microsoft.com/office/drawing/2014/main" id="{64A6377B-270D-4D04-B61F-A116A4C0FB93}"/>
              </a:ext>
            </a:extLst>
          </p:cNvPr>
          <p:cNvSpPr>
            <a:spLocks xmlns:a="http://schemas.openxmlformats.org/drawingml/2006/main" noGrp="1"/>
          </p:cNvSpPr>
          <p:nvPr/>
        </p:nvSpPr>
        <p:spPr>
          <a:xfrm xmlns:a="http://schemas.openxmlformats.org/drawingml/2006/main">
            <a:off x="723900" y="33813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
            </a:r>
          </a:p>
        </p:txBody>
      </p:sp>
      <p:sp>
        <p:nvSpPr>
          <p:cNvPr id="12" name="item-3">
            <a:extLst xmlns:a="http://schemas.openxmlformats.org/drawingml/2006/main">
              <a:ext uri="{FF2B5EF4-FFF2-40B4-BE49-F238E27FC236}">
                <a16:creationId xmlns:a16="http://schemas.microsoft.com/office/drawing/2014/main" id="{B2168BAC-D34D-4D09-BD22-C30743266ECA}"/>
              </a:ext>
            </a:extLst>
          </p:cNvPr>
          <p:cNvSpPr>
            <a:spLocks xmlns:a="http://schemas.openxmlformats.org/drawingml/2006/main" noGrp="1"/>
          </p:cNvSpPr>
          <p:nvPr/>
        </p:nvSpPr>
        <p:spPr>
          <a:xfrm xmlns:a="http://schemas.openxmlformats.org/drawingml/2006/main">
            <a:off x="1352550" y="33813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
            </a:r>
          </a:p>
        </p:txBody>
      </p:sp>
      <p:sp>
        <p:nvSpPr>
          <p:cNvPr id="13" name="number-4">
            <a:extLst xmlns:a="http://schemas.openxmlformats.org/drawingml/2006/main">
              <a:ext uri="{FF2B5EF4-FFF2-40B4-BE49-F238E27FC236}">
                <a16:creationId xmlns:a16="http://schemas.microsoft.com/office/drawing/2014/main" id="{DAD3008D-DBDD-4EB1-B9E0-42941BDA4EC1}"/>
              </a:ext>
            </a:extLst>
          </p:cNvPr>
          <p:cNvSpPr>
            <a:spLocks xmlns:a="http://schemas.openxmlformats.org/drawingml/2006/main" noGrp="1"/>
          </p:cNvSpPr>
          <p:nvPr/>
        </p:nvSpPr>
        <p:spPr>
          <a:xfrm xmlns:a="http://schemas.openxmlformats.org/drawingml/2006/main">
            <a:off x="723900" y="40195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
            </a:r>
          </a:p>
        </p:txBody>
      </p:sp>
      <p:sp>
        <p:nvSpPr>
          <p:cNvPr id="14" name="item-4">
            <a:extLst xmlns:a="http://schemas.openxmlformats.org/drawingml/2006/main">
              <a:ext uri="{FF2B5EF4-FFF2-40B4-BE49-F238E27FC236}">
                <a16:creationId xmlns:a16="http://schemas.microsoft.com/office/drawing/2014/main" id="{072DFA35-D5B3-464A-85A9-266225B79A1B}"/>
              </a:ext>
            </a:extLst>
          </p:cNvPr>
          <p:cNvSpPr>
            <a:spLocks xmlns:a="http://schemas.openxmlformats.org/drawingml/2006/main" noGrp="1"/>
          </p:cNvSpPr>
          <p:nvPr/>
        </p:nvSpPr>
        <p:spPr>
          <a:xfrm xmlns:a="http://schemas.openxmlformats.org/drawingml/2006/main">
            <a:off x="1352550" y="4019550"/>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
            </a:r>
          </a:p>
        </p:txBody>
      </p:sp>
      <p:sp>
        <p:nvSpPr>
          <p:cNvPr id="15" name="number-5">
            <a:extLst xmlns:a="http://schemas.openxmlformats.org/drawingml/2006/main">
              <a:ext uri="{FF2B5EF4-FFF2-40B4-BE49-F238E27FC236}">
                <a16:creationId xmlns:a16="http://schemas.microsoft.com/office/drawing/2014/main" id="{03F791EC-5D9B-433E-96F6-EF44C17A017B}"/>
              </a:ext>
            </a:extLst>
          </p:cNvPr>
          <p:cNvSpPr>
            <a:spLocks xmlns:a="http://schemas.openxmlformats.org/drawingml/2006/main" noGrp="1"/>
          </p:cNvSpPr>
          <p:nvPr/>
        </p:nvSpPr>
        <p:spPr>
          <a:xfrm xmlns:a="http://schemas.openxmlformats.org/drawingml/2006/main">
            <a:off x="723900" y="46577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
            </a:r>
          </a:p>
        </p:txBody>
      </p:sp>
      <p:sp>
        <p:nvSpPr>
          <p:cNvPr id="16" name="item-5">
            <a:extLst xmlns:a="http://schemas.openxmlformats.org/drawingml/2006/main">
              <a:ext uri="{FF2B5EF4-FFF2-40B4-BE49-F238E27FC236}">
                <a16:creationId xmlns:a16="http://schemas.microsoft.com/office/drawing/2014/main" id="{11146F44-2CCE-4536-BF13-60F44AE22B57}"/>
              </a:ext>
            </a:extLst>
          </p:cNvPr>
          <p:cNvSpPr>
            <a:spLocks xmlns:a="http://schemas.openxmlformats.org/drawingml/2006/main" noGrp="1"/>
          </p:cNvSpPr>
          <p:nvPr/>
        </p:nvSpPr>
        <p:spPr>
          <a:xfrm xmlns:a="http://schemas.openxmlformats.org/drawingml/2006/main">
            <a:off x="1352550" y="46577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
            </a:r>
          </a:p>
        </p:txBody>
      </p:sp>
      <p:sp>
        <p:nvSpPr>
          <p:cNvPr id="17" name="number-6">
            <a:extLst xmlns:a="http://schemas.openxmlformats.org/drawingml/2006/main">
              <a:ext uri="{FF2B5EF4-FFF2-40B4-BE49-F238E27FC236}">
                <a16:creationId xmlns:a16="http://schemas.microsoft.com/office/drawing/2014/main" id="{738F10DC-3C3F-4622-9638-0CD9ADB18BEA}"/>
              </a:ext>
            </a:extLst>
          </p:cNvPr>
          <p:cNvSpPr>
            <a:spLocks xmlns:a="http://schemas.openxmlformats.org/drawingml/2006/main" noGrp="1"/>
          </p:cNvSpPr>
          <p:nvPr/>
        </p:nvSpPr>
        <p:spPr>
          <a:xfrm xmlns:a="http://schemas.openxmlformats.org/drawingml/2006/main">
            <a:off x="723900" y="52959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
            </a:r>
          </a:p>
        </p:txBody>
      </p:sp>
      <p:sp>
        <p:nvSpPr>
          <p:cNvPr id="18" name="item-6">
            <a:extLst xmlns:a="http://schemas.openxmlformats.org/drawingml/2006/main">
              <a:ext uri="{FF2B5EF4-FFF2-40B4-BE49-F238E27FC236}">
                <a16:creationId xmlns:a16="http://schemas.microsoft.com/office/drawing/2014/main" id="{B4AC7286-B492-4B59-A29F-AA4F10A94008}"/>
              </a:ext>
            </a:extLst>
          </p:cNvPr>
          <p:cNvSpPr>
            <a:spLocks xmlns:a="http://schemas.openxmlformats.org/drawingml/2006/main" noGrp="1"/>
          </p:cNvSpPr>
          <p:nvPr/>
        </p:nvSpPr>
        <p:spPr>
          <a:xfrm xmlns:a="http://schemas.openxmlformats.org/drawingml/2006/main">
            <a:off x="1352550" y="5295900"/>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
            </a:r>
          </a:p>
        </p:txBody>
      </p:sp>
    </p:spTree>
    <p:extLst>
      <p:ext uri="{BB962C8B-B14F-4D97-AF65-F5344CB8AC3E}">
        <p14:creationId xmlns:p14="http://schemas.microsoft.com/office/powerpoint/2010/main" val="122917826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ooter background">
            <a:extLst xmlns:a="http://schemas.openxmlformats.org/drawingml/2006/main">
              <a:ext uri="{FF2B5EF4-FFF2-40B4-BE49-F238E27FC236}">
                <a16:creationId xmlns:a16="http://schemas.microsoft.com/office/drawing/2014/main" id="{40BB8106-766C-4D11-B62C-A315B1DC982B}"/>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6E93FE83-8B7D-4ED0-A507-D6DF7BF843BD}"/>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PLENARY</a:t>
            </a:r>
          </a:p>
        </p:txBody>
      </p:sp>
      <p:sp>
        <p:nvSpPr>
          <p:cNvPr id="3" name="heading">
            <a:extLst xmlns:a="http://schemas.openxmlformats.org/drawingml/2006/main">
              <a:ext uri="{FF2B5EF4-FFF2-40B4-BE49-F238E27FC236}">
                <a16:creationId xmlns:a16="http://schemas.microsoft.com/office/drawing/2014/main" id="{2FAFAE26-D488-4C37-A08D-D8E5A9D057A7}"/>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questions (a–b)</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ec44ad4792942ea"/>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3F7FA607-A51E-4EFD-8772-BFCA4D0AB31D}"/>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14 / 18</a:t>
            </a:r>
          </a:p>
        </p:txBody>
      </p:sp>
      <p:sp>
        <p:nvSpPr>
          <p:cNvPr id="6" name="plenary-instruction">
            <a:extLst xmlns:a="http://schemas.openxmlformats.org/drawingml/2006/main">
              <a:ext uri="{FF2B5EF4-FFF2-40B4-BE49-F238E27FC236}">
                <a16:creationId xmlns:a16="http://schemas.microsoft.com/office/drawing/2014/main" id="{4DD4F8FC-DBBD-4F52-8BC4-1F8B4C27953F}"/>
              </a:ext>
            </a:extLst>
          </p:cNvPr>
          <p:cNvSpPr>
            <a:spLocks xmlns:a="http://schemas.openxmlformats.org/drawingml/2006/main" noGrp="1"/>
          </p:cNvSpPr>
          <p:nvPr/>
        </p:nvSpPr>
        <p:spPr>
          <a:xfrm xmlns:a="http://schemas.openxmlformats.org/drawingml/2006/main">
            <a:off x="704850" y="156210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Take the headset off or close the page. Answer from memory on the worksheet.</a:t>
            </a:r>
          </a:p>
        </p:txBody>
      </p:sp>
      <p:sp>
        <p:nvSpPr>
          <p:cNvPr id="7" name="a">
            <a:extLst xmlns:a="http://schemas.openxmlformats.org/drawingml/2006/main">
              <a:ext uri="{FF2B5EF4-FFF2-40B4-BE49-F238E27FC236}">
                <a16:creationId xmlns:a16="http://schemas.microsoft.com/office/drawing/2014/main" id="{9C6FAEDB-072B-436C-AA9C-D5832563BEAF}"/>
              </a:ext>
            </a:extLst>
          </p:cNvPr>
          <p:cNvSpPr>
            <a:spLocks xmlns:a="http://schemas.openxmlformats.org/drawingml/2006/main" noGrp="1"/>
          </p:cNvSpPr>
          <p:nvPr/>
        </p:nvSpPr>
        <p:spPr>
          <a:xfrm xmlns:a="http://schemas.openxmlformats.org/drawingml/2006/main">
            <a:off x="733425" y="25812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2D63FF"/>
                </a:solidFill>
                <a:latin typeface="DejaVu Sans"/>
                <a:ea typeface="DejaVu Sans"/>
                <a:cs typeface="DejaVu Sans"/>
              </a:defRPr>
            </a:pPr>
            <a:r>
              <a:rPr sz="2250" b="1">
                <a:solidFill>
                  <a:srgbClr val="2D63FF"/>
                </a:solidFill>
                <a:latin typeface="DejaVu Sans"/>
                <a:ea typeface="DejaVu Sans"/>
                <a:cs typeface="DejaVu Sans"/>
              </a:rPr>
              <a:t>a)</a:t>
            </a:r>
          </a:p>
        </p:txBody>
      </p:sp>
      <p:sp>
        <p:nvSpPr>
          <p:cNvPr id="8" name="question-a">
            <a:extLst xmlns:a="http://schemas.openxmlformats.org/drawingml/2006/main">
              <a:ext uri="{FF2B5EF4-FFF2-40B4-BE49-F238E27FC236}">
                <a16:creationId xmlns:a16="http://schemas.microsoft.com/office/drawing/2014/main" id="{6B2BF4EA-272A-415D-B46E-43EF0DF1249C}"/>
              </a:ext>
            </a:extLst>
          </p:cNvPr>
          <p:cNvSpPr>
            <a:spLocks xmlns:a="http://schemas.openxmlformats.org/drawingml/2006/main" noGrp="1"/>
          </p:cNvSpPr>
          <p:nvPr/>
        </p:nvSpPr>
        <p:spPr>
          <a:xfrm xmlns:a="http://schemas.openxmlformats.org/drawingml/2006/main">
            <a:off x="1343025" y="2581275"/>
            <a:ext cx="99441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A school will update its quiz app each week. Explain two reasons for choosing a high-level language. [4]</a:t>
            </a:r>
          </a:p>
        </p:txBody>
      </p:sp>
      <p:sp>
        <p:nvSpPr>
          <p:cNvPr id="9" name="b">
            <a:extLst xmlns:a="http://schemas.openxmlformats.org/drawingml/2006/main">
              <a:ext uri="{FF2B5EF4-FFF2-40B4-BE49-F238E27FC236}">
                <a16:creationId xmlns:a16="http://schemas.microsoft.com/office/drawing/2014/main" id="{9509E02A-7E28-413B-8372-24604E287879}"/>
              </a:ext>
            </a:extLst>
          </p:cNvPr>
          <p:cNvSpPr>
            <a:spLocks xmlns:a="http://schemas.openxmlformats.org/drawingml/2006/main" noGrp="1"/>
          </p:cNvSpPr>
          <p:nvPr/>
        </p:nvSpPr>
        <p:spPr>
          <a:xfrm xmlns:a="http://schemas.openxmlformats.org/drawingml/2006/main">
            <a:off x="733425" y="41433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2D63FF"/>
                </a:solidFill>
                <a:latin typeface="DejaVu Sans"/>
                <a:ea typeface="DejaVu Sans"/>
                <a:cs typeface="DejaVu Sans"/>
              </a:defRPr>
            </a:pPr>
            <a:r>
              <a:rPr sz="2250" b="1">
                <a:solidFill>
                  <a:srgbClr val="2D63FF"/>
                </a:solidFill>
                <a:latin typeface="DejaVu Sans"/>
                <a:ea typeface="DejaVu Sans"/>
                <a:cs typeface="DejaVu Sans"/>
              </a:rPr>
              <a:t>b)</a:t>
            </a:r>
          </a:p>
        </p:txBody>
      </p:sp>
      <p:sp>
        <p:nvSpPr>
          <p:cNvPr id="10" name="question-b">
            <a:extLst xmlns:a="http://schemas.openxmlformats.org/drawingml/2006/main">
              <a:ext uri="{FF2B5EF4-FFF2-40B4-BE49-F238E27FC236}">
                <a16:creationId xmlns:a16="http://schemas.microsoft.com/office/drawing/2014/main" id="{EA1267F7-E672-4AB5-8CC0-CE07B6205750}"/>
              </a:ext>
            </a:extLst>
          </p:cNvPr>
          <p:cNvSpPr>
            <a:spLocks xmlns:a="http://schemas.openxmlformats.org/drawingml/2006/main" noGrp="1"/>
          </p:cNvSpPr>
          <p:nvPr/>
        </p:nvSpPr>
        <p:spPr>
          <a:xfrm xmlns:a="http://schemas.openxmlformats.org/drawingml/2006/main">
            <a:off x="1343025" y="4143375"/>
            <a:ext cx="99441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Compare a compiler and an interpreter. [4]</a:t>
            </a:r>
          </a:p>
        </p:txBody>
      </p:sp>
    </p:spTree>
    <p:extLst>
      <p:ext uri="{BB962C8B-B14F-4D97-AF65-F5344CB8AC3E}">
        <p14:creationId xmlns:p14="http://schemas.microsoft.com/office/powerpoint/2010/main" val="16794007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footer background">
            <a:extLst xmlns:a="http://schemas.openxmlformats.org/drawingml/2006/main">
              <a:ext uri="{FF2B5EF4-FFF2-40B4-BE49-F238E27FC236}">
                <a16:creationId xmlns:a16="http://schemas.microsoft.com/office/drawing/2014/main" id="{5F1F2C14-4C50-48A4-9B67-A997A2622B3F}"/>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DDB8B4A9-62FC-49C3-9E8B-2D91861551CE}"/>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PLENARY</a:t>
            </a:r>
          </a:p>
        </p:txBody>
      </p:sp>
      <p:sp>
        <p:nvSpPr>
          <p:cNvPr id="3" name="heading">
            <a:extLst xmlns:a="http://schemas.openxmlformats.org/drawingml/2006/main">
              <a:ext uri="{FF2B5EF4-FFF2-40B4-BE49-F238E27FC236}">
                <a16:creationId xmlns:a16="http://schemas.microsoft.com/office/drawing/2014/main" id="{8C7269B5-94FA-4086-8755-DE73995D99F2}"/>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question (c)</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d6ef03cc5724033"/>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A9C331FB-3C6F-4EEC-BBEB-57203449B136}"/>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15 / 18</a:t>
            </a:r>
          </a:p>
        </p:txBody>
      </p:sp>
      <p:sp>
        <p:nvSpPr>
          <p:cNvPr id="6" name="from-memory">
            <a:extLst xmlns:a="http://schemas.openxmlformats.org/drawingml/2006/main">
              <a:ext uri="{FF2B5EF4-FFF2-40B4-BE49-F238E27FC236}">
                <a16:creationId xmlns:a16="http://schemas.microsoft.com/office/drawing/2014/main" id="{BDF8659F-4B53-45A1-96E8-35452E8FD8A1}"/>
              </a:ext>
            </a:extLst>
          </p:cNvPr>
          <p:cNvSpPr>
            <a:spLocks xmlns:a="http://schemas.openxmlformats.org/drawingml/2006/main" noGrp="1"/>
          </p:cNvSpPr>
          <p:nvPr/>
        </p:nvSpPr>
        <p:spPr>
          <a:xfrm xmlns:a="http://schemas.openxmlformats.org/drawingml/2006/main">
            <a:off x="704850" y="1600200"/>
            <a:ext cx="1071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Keep the experience closed. Explain your reasoning in full sentences.</a:t>
            </a:r>
          </a:p>
        </p:txBody>
      </p:sp>
      <p:sp>
        <p:nvSpPr>
          <p:cNvPr id="7" name="c">
            <a:extLst xmlns:a="http://schemas.openxmlformats.org/drawingml/2006/main">
              <a:ext uri="{FF2B5EF4-FFF2-40B4-BE49-F238E27FC236}">
                <a16:creationId xmlns:a16="http://schemas.microsoft.com/office/drawing/2014/main" id="{629CF0F4-E195-43D7-9CCA-D8090133CAC6}"/>
              </a:ext>
            </a:extLst>
          </p:cNvPr>
          <p:cNvSpPr>
            <a:spLocks xmlns:a="http://schemas.openxmlformats.org/drawingml/2006/main" noGrp="1"/>
          </p:cNvSpPr>
          <p:nvPr/>
        </p:nvSpPr>
        <p:spPr>
          <a:xfrm xmlns:a="http://schemas.openxmlformats.org/drawingml/2006/main">
            <a:off x="733425" y="2781300"/>
            <a:ext cx="609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2D63FF"/>
                </a:solidFill>
                <a:latin typeface="DejaVu Sans"/>
                <a:ea typeface="DejaVu Sans"/>
                <a:cs typeface="DejaVu Sans"/>
              </a:defRPr>
            </a:pPr>
            <a:r>
              <a:rPr sz="2400" b="1">
                <a:solidFill>
                  <a:srgbClr val="2D63FF"/>
                </a:solidFill>
                <a:latin typeface="DejaVu Sans"/>
                <a:ea typeface="DejaVu Sans"/>
                <a:cs typeface="DejaVu Sans"/>
              </a:rPr>
              <a:t>c)</a:t>
            </a:r>
          </a:p>
        </p:txBody>
      </p:sp>
      <p:sp>
        <p:nvSpPr>
          <p:cNvPr id="8" name="question-c">
            <a:extLst xmlns:a="http://schemas.openxmlformats.org/drawingml/2006/main">
              <a:ext uri="{FF2B5EF4-FFF2-40B4-BE49-F238E27FC236}">
                <a16:creationId xmlns:a16="http://schemas.microsoft.com/office/drawing/2014/main" id="{2397C953-3257-449B-B101-570ACDF66B91}"/>
              </a:ext>
            </a:extLst>
          </p:cNvPr>
          <p:cNvSpPr>
            <a:spLocks xmlns:a="http://schemas.openxmlformats.org/drawingml/2006/main" noGrp="1"/>
          </p:cNvSpPr>
          <p:nvPr/>
        </p:nvSpPr>
        <p:spPr>
          <a:xfrm xmlns:a="http://schemas.openxmlformats.org/drawingml/2006/main">
            <a:off x="1381125" y="2781300"/>
            <a:ext cx="98679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0">
                <a:solidFill>
                  <a:srgbClr val="101828"/>
                </a:solidFill>
                <a:latin typeface="DejaVu Sans"/>
                <a:ea typeface="DejaVu Sans"/>
                <a:cs typeface="DejaVu Sans"/>
              </a:defRPr>
            </a:pPr>
            <a:r>
              <a:rPr sz="2475" b="0">
                <a:solidFill>
                  <a:srgbClr val="101828"/>
                </a:solidFill>
                <a:latin typeface="DejaVu Sans"/>
                <a:ea typeface="DejaVu Sans"/>
                <a:cs typeface="DejaVu Sans"/>
              </a:rPr>
              <a:t>Explain how an editor and error diagnostics help a programmer correct source code. [4]</a:t>
            </a:r>
          </a:p>
        </p:txBody>
      </p:sp>
      <p:sp>
        <p:nvSpPr>
          <p:cNvPr id="9" name="marks">
            <a:extLst xmlns:a="http://schemas.openxmlformats.org/drawingml/2006/main">
              <a:ext uri="{FF2B5EF4-FFF2-40B4-BE49-F238E27FC236}">
                <a16:creationId xmlns:a16="http://schemas.microsoft.com/office/drawing/2014/main" id="{B5E43C45-0F63-4BF1-AFCD-45A804E5515B}"/>
              </a:ext>
            </a:extLst>
          </p:cNvPr>
          <p:cNvSpPr>
            <a:spLocks xmlns:a="http://schemas.openxmlformats.org/drawingml/2006/main" noGrp="1"/>
          </p:cNvSpPr>
          <p:nvPr/>
        </p:nvSpPr>
        <p:spPr>
          <a:xfrm xmlns:a="http://schemas.openxmlformats.org/drawingml/2006/main">
            <a:off x="733425" y="54387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Use the marks in brackets to judge how much detail to include.</a:t>
            </a:r>
          </a:p>
        </p:txBody>
      </p:sp>
    </p:spTree>
    <p:extLst>
      <p:ext uri="{BB962C8B-B14F-4D97-AF65-F5344CB8AC3E}">
        <p14:creationId xmlns:p14="http://schemas.microsoft.com/office/powerpoint/2010/main" val="747531743"/>
      </p:ext>
    </p:extLst>
  </p:cSld>
</p:sld>
</file>

<file path=ppt/slides/slide16.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9" name="footer background">
            <a:extLst xmlns:a="http://schemas.openxmlformats.org/drawingml/2006/main">
              <a:ext uri="{FF2B5EF4-FFF2-40B4-BE49-F238E27FC236}">
                <a16:creationId xmlns:a16="http://schemas.microsoft.com/office/drawing/2014/main" id="{69886798-8F0F-4B54-BAEC-A0540120CA80}"/>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6D6D98F3-B670-4101-B9A9-2184D5A6ED70}"/>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CHECK</a:t>
            </a:r>
          </a:p>
        </p:txBody>
      </p:sp>
      <p:sp>
        <p:nvSpPr>
          <p:cNvPr id="3" name="heading">
            <a:extLst xmlns:a="http://schemas.openxmlformats.org/drawingml/2006/main">
              <a:ext uri="{FF2B5EF4-FFF2-40B4-BE49-F238E27FC236}">
                <a16:creationId xmlns:a16="http://schemas.microsoft.com/office/drawing/2014/main" id="{16C64587-B8D3-44DA-8AA8-1AB5AE6D8C29}"/>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answers (a–b)</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97b385b9c6f41f8"/>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9EEFA3B3-6527-4E2D-9FE8-B1783E9B1467}"/>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16 / 18</a:t>
            </a:r>
          </a:p>
        </p:txBody>
      </p:sp>
      <p:sp>
        <p:nvSpPr>
          <p:cNvPr id="6" name="scheme-intro">
            <a:extLst xmlns:a="http://schemas.openxmlformats.org/drawingml/2006/main">
              <a:ext uri="{FF2B5EF4-FFF2-40B4-BE49-F238E27FC236}">
                <a16:creationId xmlns:a16="http://schemas.microsoft.com/office/drawing/2014/main" id="{910FB56C-D13F-443C-831C-7EB54AF5BCFA}"/>
              </a:ext>
            </a:extLst>
          </p:cNvPr>
          <p:cNvSpPr>
            <a:spLocks xmlns:a="http://schemas.openxmlformats.org/drawingml/2006/main" noGrp="1"/>
          </p:cNvSpPr>
          <p:nvPr/>
        </p:nvSpPr>
        <p:spPr>
          <a:xfrm xmlns:a="http://schemas.openxmlformats.org/drawingml/2006/main">
            <a:off x="704850" y="1543050"/>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Indicative points. Credit accurate answers in students’ own words.</a:t>
            </a:r>
          </a:p>
        </p:txBody>
      </p:sp>
      <p:sp>
        <p:nvSpPr>
          <p:cNvPr id="7" name="scheme-a">
            <a:extLst xmlns:a="http://schemas.openxmlformats.org/drawingml/2006/main">
              <a:ext uri="{FF2B5EF4-FFF2-40B4-BE49-F238E27FC236}">
                <a16:creationId xmlns:a16="http://schemas.microsoft.com/office/drawing/2014/main" id="{41502BD5-C47A-4406-827D-A550F44AB54E}"/>
              </a:ext>
            </a:extLst>
          </p:cNvPr>
          <p:cNvSpPr>
            <a:spLocks xmlns:a="http://schemas.openxmlformats.org/drawingml/2006/main" noGrp="1"/>
          </p:cNvSpPr>
          <p:nvPr/>
        </p:nvSpPr>
        <p:spPr>
          <a:xfrm xmlns:a="http://schemas.openxmlformats.org/drawingml/2006/main">
            <a:off x="723900" y="2333625"/>
            <a:ext cx="10572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a  Readable source helps staff understand the program. This makes frequent changes easier to maintain. Useful libraries can reduce how much code staff must write. This can reduce development time for new features.</a:t>
            </a:r>
          </a:p>
        </p:txBody>
      </p:sp>
      <p:sp>
        <p:nvSpPr>
          <p:cNvPr id="8" name="scheme-b">
            <a:extLst xmlns:a="http://schemas.openxmlformats.org/drawingml/2006/main">
              <a:ext uri="{FF2B5EF4-FFF2-40B4-BE49-F238E27FC236}">
                <a16:creationId xmlns:a16="http://schemas.microsoft.com/office/drawing/2014/main" id="{4030A590-8409-4747-8A49-22010C81BAB9}"/>
              </a:ext>
            </a:extLst>
          </p:cNvPr>
          <p:cNvSpPr>
            <a:spLocks xmlns:a="http://schemas.openxmlformats.org/drawingml/2006/main" noGrp="1"/>
          </p:cNvSpPr>
          <p:nvPr/>
        </p:nvSpPr>
        <p:spPr>
          <a:xfrm xmlns:a="http://schemas.openxmlformats.org/drawingml/2006/main">
            <a:off x="723900" y="4114800"/>
            <a:ext cx="10572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b  A compiler translates before the resulting program runs. An interpreter processes source during execution. Compiled target code can be run again without repeating source translation. Interpreted source requires its interpreter or execution runtime.</a:t>
            </a:r>
          </a:p>
        </p:txBody>
      </p:sp>
    </p:spTree>
    <p:extLst>
      <p:ext uri="{BB962C8B-B14F-4D97-AF65-F5344CB8AC3E}">
        <p14:creationId xmlns:p14="http://schemas.microsoft.com/office/powerpoint/2010/main" val="1446243750"/>
      </p:ext>
    </p:extLst>
  </p:cSld>
</p:sld>
</file>

<file path=ppt/slides/slide17.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3" name="footer background">
            <a:extLst xmlns:a="http://schemas.openxmlformats.org/drawingml/2006/main">
              <a:ext uri="{FF2B5EF4-FFF2-40B4-BE49-F238E27FC236}">
                <a16:creationId xmlns:a16="http://schemas.microsoft.com/office/drawing/2014/main" id="{E0081A4B-6AC1-4816-AF79-691B19F4BB82}"/>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8160FA52-8505-4663-AF29-746E3C6A1FF2}"/>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CHECK</a:t>
            </a:r>
          </a:p>
        </p:txBody>
      </p:sp>
      <p:sp>
        <p:nvSpPr>
          <p:cNvPr id="3" name="heading">
            <a:extLst xmlns:a="http://schemas.openxmlformats.org/drawingml/2006/main">
              <a:ext uri="{FF2B5EF4-FFF2-40B4-BE49-F238E27FC236}">
                <a16:creationId xmlns:a16="http://schemas.microsoft.com/office/drawing/2014/main" id="{E723C30E-7C0B-4663-9CFD-AEBB0B68C7BF}"/>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answer (c)</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7cad8def4a140b1"/>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BFCDE95E-15E9-4DFC-BCC0-8290133C0788}"/>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17 / 18</a:t>
            </a:r>
          </a:p>
        </p:txBody>
      </p:sp>
      <p:sp>
        <p:nvSpPr>
          <p:cNvPr id="6" name="scheme-intro">
            <a:extLst xmlns:a="http://schemas.openxmlformats.org/drawingml/2006/main">
              <a:ext uri="{FF2B5EF4-FFF2-40B4-BE49-F238E27FC236}">
                <a16:creationId xmlns:a16="http://schemas.microsoft.com/office/drawing/2014/main" id="{367C08AF-7243-4EE2-AFA0-1DBD0A7CEA05}"/>
              </a:ext>
            </a:extLst>
          </p:cNvPr>
          <p:cNvSpPr>
            <a:spLocks xmlns:a="http://schemas.openxmlformats.org/drawingml/2006/main" noGrp="1"/>
          </p:cNvSpPr>
          <p:nvPr/>
        </p:nvSpPr>
        <p:spPr>
          <a:xfrm xmlns:a="http://schemas.openxmlformats.org/drawingml/2006/main">
            <a:off x="704850" y="1533525"/>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Indicative points for the final question.</a:t>
            </a:r>
          </a:p>
        </p:txBody>
      </p:sp>
      <p:sp>
        <p:nvSpPr>
          <p:cNvPr id="7" name="number-1">
            <a:extLst xmlns:a="http://schemas.openxmlformats.org/drawingml/2006/main">
              <a:ext uri="{FF2B5EF4-FFF2-40B4-BE49-F238E27FC236}">
                <a16:creationId xmlns:a16="http://schemas.microsoft.com/office/drawing/2014/main" id="{C971BC91-2C30-4670-9E94-EB7BAD54B38F}"/>
              </a:ext>
            </a:extLst>
          </p:cNvPr>
          <p:cNvSpPr>
            <a:spLocks xmlns:a="http://schemas.openxmlformats.org/drawingml/2006/main" noGrp="1"/>
          </p:cNvSpPr>
          <p:nvPr/>
        </p:nvSpPr>
        <p:spPr>
          <a:xfrm xmlns:a="http://schemas.openxmlformats.org/drawingml/2006/main">
            <a:off x="723900" y="24860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1.</a:t>
            </a:r>
          </a:p>
        </p:txBody>
      </p:sp>
      <p:sp>
        <p:nvSpPr>
          <p:cNvPr id="8" name="item-1">
            <a:extLst xmlns:a="http://schemas.openxmlformats.org/drawingml/2006/main">
              <a:ext uri="{FF2B5EF4-FFF2-40B4-BE49-F238E27FC236}">
                <a16:creationId xmlns:a16="http://schemas.microsoft.com/office/drawing/2014/main" id="{38BA7518-F976-4AA8-9FBD-9CA4E93E39BC}"/>
              </a:ext>
            </a:extLst>
          </p:cNvPr>
          <p:cNvSpPr>
            <a:spLocks xmlns:a="http://schemas.openxmlformats.org/drawingml/2006/main" noGrp="1"/>
          </p:cNvSpPr>
          <p:nvPr/>
        </p:nvSpPr>
        <p:spPr>
          <a:xfrm xmlns:a="http://schemas.openxmlformats.org/drawingml/2006/main">
            <a:off x="1352550" y="2486025"/>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Diagnostics describe a detected problem.</a:t>
            </a:r>
          </a:p>
        </p:txBody>
      </p:sp>
      <p:sp>
        <p:nvSpPr>
          <p:cNvPr id="9" name="number-2">
            <a:extLst xmlns:a="http://schemas.openxmlformats.org/drawingml/2006/main">
              <a:ext uri="{FF2B5EF4-FFF2-40B4-BE49-F238E27FC236}">
                <a16:creationId xmlns:a16="http://schemas.microsoft.com/office/drawing/2014/main" id="{4CE5C16C-95D9-4554-BC9D-0CB5CA0D096D}"/>
              </a:ext>
            </a:extLst>
          </p:cNvPr>
          <p:cNvSpPr>
            <a:spLocks xmlns:a="http://schemas.openxmlformats.org/drawingml/2006/main" noGrp="1"/>
          </p:cNvSpPr>
          <p:nvPr/>
        </p:nvSpPr>
        <p:spPr>
          <a:xfrm xmlns:a="http://schemas.openxmlformats.org/drawingml/2006/main">
            <a:off x="723900" y="35909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2.</a:t>
            </a:r>
          </a:p>
        </p:txBody>
      </p:sp>
      <p:sp>
        <p:nvSpPr>
          <p:cNvPr id="10" name="item-2">
            <a:extLst xmlns:a="http://schemas.openxmlformats.org/drawingml/2006/main">
              <a:ext uri="{FF2B5EF4-FFF2-40B4-BE49-F238E27FC236}">
                <a16:creationId xmlns:a16="http://schemas.microsoft.com/office/drawing/2014/main" id="{C4346348-B81F-437B-A07E-C9085E2ACEFA}"/>
              </a:ext>
            </a:extLst>
          </p:cNvPr>
          <p:cNvSpPr>
            <a:spLocks xmlns:a="http://schemas.openxmlformats.org/drawingml/2006/main" noGrp="1"/>
          </p:cNvSpPr>
          <p:nvPr/>
        </p:nvSpPr>
        <p:spPr>
          <a:xfrm xmlns:a="http://schemas.openxmlformats.org/drawingml/2006/main">
            <a:off x="1352550" y="3590925"/>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A reported location helps the programmer find it.</a:t>
            </a:r>
          </a:p>
        </p:txBody>
      </p:sp>
      <p:sp>
        <p:nvSpPr>
          <p:cNvPr id="11" name="number-3">
            <a:extLst xmlns:a="http://schemas.openxmlformats.org/drawingml/2006/main">
              <a:ext uri="{FF2B5EF4-FFF2-40B4-BE49-F238E27FC236}">
                <a16:creationId xmlns:a16="http://schemas.microsoft.com/office/drawing/2014/main" id="{DBDD63D3-A34B-4614-BC00-7470B22F215A}"/>
              </a:ext>
            </a:extLst>
          </p:cNvPr>
          <p:cNvSpPr>
            <a:spLocks xmlns:a="http://schemas.openxmlformats.org/drawingml/2006/main" noGrp="1"/>
          </p:cNvSpPr>
          <p:nvPr/>
        </p:nvSpPr>
        <p:spPr>
          <a:xfrm xmlns:a="http://schemas.openxmlformats.org/drawingml/2006/main">
            <a:off x="723900" y="46958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3.</a:t>
            </a:r>
          </a:p>
        </p:txBody>
      </p:sp>
      <p:sp>
        <p:nvSpPr>
          <p:cNvPr id="12" name="item-3">
            <a:extLst xmlns:a="http://schemas.openxmlformats.org/drawingml/2006/main">
              <a:ext uri="{FF2B5EF4-FFF2-40B4-BE49-F238E27FC236}">
                <a16:creationId xmlns:a16="http://schemas.microsoft.com/office/drawing/2014/main" id="{AAD983A1-375A-4785-BE52-216AFD70B1D1}"/>
              </a:ext>
            </a:extLst>
          </p:cNvPr>
          <p:cNvSpPr>
            <a:spLocks xmlns:a="http://schemas.openxmlformats.org/drawingml/2006/main" noGrp="1"/>
          </p:cNvSpPr>
          <p:nvPr/>
        </p:nvSpPr>
        <p:spPr>
          <a:xfrm xmlns:a="http://schemas.openxmlformats.org/drawingml/2006/main">
            <a:off x="1352550" y="4695825"/>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The editor lets the programmer change source text. The programmer uses it to correct the identified instruction.</a:t>
            </a:r>
          </a:p>
        </p:txBody>
      </p:sp>
    </p:spTree>
    <p:extLst>
      <p:ext uri="{BB962C8B-B14F-4D97-AF65-F5344CB8AC3E}">
        <p14:creationId xmlns:p14="http://schemas.microsoft.com/office/powerpoint/2010/main" val="5896523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ooter background">
            <a:extLst xmlns:a="http://schemas.openxmlformats.org/drawingml/2006/main">
              <a:ext uri="{FF2B5EF4-FFF2-40B4-BE49-F238E27FC236}">
                <a16:creationId xmlns:a16="http://schemas.microsoft.com/office/drawing/2014/main" id="{A368A0EC-80FD-4672-B2B2-DBDF6094DD6D}"/>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94A4DF14-4035-4380-8761-948455E2AF87}"/>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2.5   /   LESSON 05   /   SELF-CHECK</a:t>
            </a:r>
          </a:p>
        </p:txBody>
      </p:sp>
      <p:sp>
        <p:nvSpPr>
          <p:cNvPr id="3" name="heading">
            <a:extLst xmlns:a="http://schemas.openxmlformats.org/drawingml/2006/main">
              <a:ext uri="{FF2B5EF4-FFF2-40B4-BE49-F238E27FC236}">
                <a16:creationId xmlns:a16="http://schemas.microsoft.com/office/drawing/2014/main" id="{86131C61-4DE8-4ADA-AA38-AF5838A84CD3}"/>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How confident am I?</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da3157343594c9b"/>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6D9F0318-AD5A-451A-9E2A-0B42908DA4E8}"/>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18 / 18</a:t>
            </a:r>
          </a:p>
        </p:txBody>
      </p:sp>
      <p:sp>
        <p:nvSpPr>
          <p:cNvPr id="6" name="confidence-instruction">
            <a:extLst xmlns:a="http://schemas.openxmlformats.org/drawingml/2006/main">
              <a:ext uri="{FF2B5EF4-FFF2-40B4-BE49-F238E27FC236}">
                <a16:creationId xmlns:a16="http://schemas.microsoft.com/office/drawing/2014/main" id="{21CCFCB5-9EEF-4D0C-ACC8-C2D3D4C2A812}"/>
              </a:ext>
            </a:extLst>
          </p:cNvPr>
          <p:cNvSpPr>
            <a:spLocks xmlns:a="http://schemas.openxmlformats.org/drawingml/2006/main" noGrp="1"/>
          </p:cNvSpPr>
          <p:nvPr/>
        </p:nvSpPr>
        <p:spPr>
          <a:xfrm xmlns:a="http://schemas.openxmlformats.org/drawingml/2006/main">
            <a:off x="704850" y="1571625"/>
            <a:ext cx="10477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On the worksheet, select Not yet, Getting there or Confident for each objective.</a:t>
            </a:r>
          </a:p>
        </p:txBody>
      </p:sp>
      <p:sp>
        <p:nvSpPr>
          <p:cNvPr id="7" name="number-1">
            <a:extLst xmlns:a="http://schemas.openxmlformats.org/drawingml/2006/main">
              <a:ext uri="{FF2B5EF4-FFF2-40B4-BE49-F238E27FC236}">
                <a16:creationId xmlns:a16="http://schemas.microsoft.com/office/drawing/2014/main" id="{1445CA78-BAE2-4623-A518-59C7169A114E}"/>
              </a:ext>
            </a:extLst>
          </p:cNvPr>
          <p:cNvSpPr>
            <a:spLocks xmlns:a="http://schemas.openxmlformats.org/drawingml/2006/main" noGrp="1"/>
          </p:cNvSpPr>
          <p:nvPr/>
        </p:nvSpPr>
        <p:spPr>
          <a:xfrm xmlns:a="http://schemas.openxmlformats.org/drawingml/2006/main">
            <a:off x="723900" y="25146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1.</a:t>
            </a:r>
          </a:p>
        </p:txBody>
      </p:sp>
      <p:sp>
        <p:nvSpPr>
          <p:cNvPr id="8" name="item-1">
            <a:extLst xmlns:a="http://schemas.openxmlformats.org/drawingml/2006/main">
              <a:ext uri="{FF2B5EF4-FFF2-40B4-BE49-F238E27FC236}">
                <a16:creationId xmlns:a16="http://schemas.microsoft.com/office/drawing/2014/main" id="{B9CB63FA-CF41-41AC-AAF6-A489CFF3BDC7}"/>
              </a:ext>
            </a:extLst>
          </p:cNvPr>
          <p:cNvSpPr>
            <a:spLocks xmlns:a="http://schemas.openxmlformats.org/drawingml/2006/main" noGrp="1"/>
          </p:cNvSpPr>
          <p:nvPr/>
        </p:nvSpPr>
        <p:spPr>
          <a:xfrm xmlns:a="http://schemas.openxmlformats.org/drawingml/2006/main">
            <a:off x="1352550" y="2514600"/>
            <a:ext cx="9925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Recall language levels and translator behaviour.</a:t>
            </a:r>
          </a:p>
        </p:txBody>
      </p:sp>
      <p:sp>
        <p:nvSpPr>
          <p:cNvPr id="9" name="number-2">
            <a:extLst xmlns:a="http://schemas.openxmlformats.org/drawingml/2006/main">
              <a:ext uri="{FF2B5EF4-FFF2-40B4-BE49-F238E27FC236}">
                <a16:creationId xmlns:a16="http://schemas.microsoft.com/office/drawing/2014/main" id="{BF24F2CF-D0BF-433B-A4BD-27BA20302E02}"/>
              </a:ext>
            </a:extLst>
          </p:cNvPr>
          <p:cNvSpPr>
            <a:spLocks xmlns:a="http://schemas.openxmlformats.org/drawingml/2006/main" noGrp="1"/>
          </p:cNvSpPr>
          <p:nvPr/>
        </p:nvSpPr>
        <p:spPr>
          <a:xfrm xmlns:a="http://schemas.openxmlformats.org/drawingml/2006/main">
            <a:off x="723900" y="33432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2.</a:t>
            </a:r>
          </a:p>
        </p:txBody>
      </p:sp>
      <p:sp>
        <p:nvSpPr>
          <p:cNvPr id="10" name="item-2">
            <a:extLst xmlns:a="http://schemas.openxmlformats.org/drawingml/2006/main">
              <a:ext uri="{FF2B5EF4-FFF2-40B4-BE49-F238E27FC236}">
                <a16:creationId xmlns:a16="http://schemas.microsoft.com/office/drawing/2014/main" id="{2EBB092A-60CB-4087-9DD4-5443676B62B1}"/>
              </a:ext>
            </a:extLst>
          </p:cNvPr>
          <p:cNvSpPr>
            <a:spLocks xmlns:a="http://schemas.openxmlformats.org/drawingml/2006/main" noGrp="1"/>
          </p:cNvSpPr>
          <p:nvPr/>
        </p:nvSpPr>
        <p:spPr>
          <a:xfrm xmlns:a="http://schemas.openxmlformats.org/drawingml/2006/main">
            <a:off x="1352550" y="3343275"/>
            <a:ext cx="9925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Select IDE tools for specific problems.</a:t>
            </a:r>
          </a:p>
        </p:txBody>
      </p:sp>
      <p:sp>
        <p:nvSpPr>
          <p:cNvPr id="11" name="number-3">
            <a:extLst xmlns:a="http://schemas.openxmlformats.org/drawingml/2006/main">
              <a:ext uri="{FF2B5EF4-FFF2-40B4-BE49-F238E27FC236}">
                <a16:creationId xmlns:a16="http://schemas.microsoft.com/office/drawing/2014/main" id="{43B035FB-801C-4E05-87F1-800820CE7314}"/>
              </a:ext>
            </a:extLst>
          </p:cNvPr>
          <p:cNvSpPr>
            <a:spLocks xmlns:a="http://schemas.openxmlformats.org/drawingml/2006/main" noGrp="1"/>
          </p:cNvSpPr>
          <p:nvPr/>
        </p:nvSpPr>
        <p:spPr>
          <a:xfrm xmlns:a="http://schemas.openxmlformats.org/drawingml/2006/main">
            <a:off x="723900" y="41719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3.</a:t>
            </a:r>
          </a:p>
        </p:txBody>
      </p:sp>
      <p:sp>
        <p:nvSpPr>
          <p:cNvPr id="12" name="item-3">
            <a:extLst xmlns:a="http://schemas.openxmlformats.org/drawingml/2006/main">
              <a:ext uri="{FF2B5EF4-FFF2-40B4-BE49-F238E27FC236}">
                <a16:creationId xmlns:a16="http://schemas.microsoft.com/office/drawing/2014/main" id="{02E48C22-31AC-4A31-87AE-D3A00B3F1936}"/>
              </a:ext>
            </a:extLst>
          </p:cNvPr>
          <p:cNvSpPr>
            <a:spLocks xmlns:a="http://schemas.openxmlformats.org/drawingml/2006/main" noGrp="1"/>
          </p:cNvSpPr>
          <p:nvPr/>
        </p:nvSpPr>
        <p:spPr>
          <a:xfrm xmlns:a="http://schemas.openxmlformats.org/drawingml/2006/main">
            <a:off x="1352550" y="4171950"/>
            <a:ext cx="9925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Write explanations linked to the needs of a scenario.</a:t>
            </a:r>
          </a:p>
        </p:txBody>
      </p:sp>
      <p:sp>
        <p:nvSpPr>
          <p:cNvPr id="13" name="number-4">
            <a:extLst xmlns:a="http://schemas.openxmlformats.org/drawingml/2006/main">
              <a:ext uri="{FF2B5EF4-FFF2-40B4-BE49-F238E27FC236}">
                <a16:creationId xmlns:a16="http://schemas.microsoft.com/office/drawing/2014/main" id="{CE4EAE46-F751-4F69-9E68-CFF078A99A53}"/>
              </a:ext>
            </a:extLst>
          </p:cNvPr>
          <p:cNvSpPr>
            <a:spLocks xmlns:a="http://schemas.openxmlformats.org/drawingml/2006/main" noGrp="1"/>
          </p:cNvSpPr>
          <p:nvPr/>
        </p:nvSpPr>
        <p:spPr>
          <a:xfrm xmlns:a="http://schemas.openxmlformats.org/drawingml/2006/main">
            <a:off x="723900" y="50006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
            </a:r>
          </a:p>
        </p:txBody>
      </p:sp>
      <p:sp>
        <p:nvSpPr>
          <p:cNvPr id="14" name="item-4">
            <a:extLst xmlns:a="http://schemas.openxmlformats.org/drawingml/2006/main">
              <a:ext uri="{FF2B5EF4-FFF2-40B4-BE49-F238E27FC236}">
                <a16:creationId xmlns:a16="http://schemas.microsoft.com/office/drawing/2014/main" id="{F71661C6-7DB3-4EC1-B1E5-D88C7A61282B}"/>
              </a:ext>
            </a:extLst>
          </p:cNvPr>
          <p:cNvSpPr>
            <a:spLocks xmlns:a="http://schemas.openxmlformats.org/drawingml/2006/main" noGrp="1"/>
          </p:cNvSpPr>
          <p:nvPr/>
        </p:nvSpPr>
        <p:spPr>
          <a:xfrm xmlns:a="http://schemas.openxmlformats.org/drawingml/2006/main">
            <a:off x="1352550" y="5000625"/>
            <a:ext cx="9925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
            </a:r>
          </a:p>
        </p:txBody>
      </p:sp>
    </p:spTree>
    <p:extLst>
      <p:ext uri="{BB962C8B-B14F-4D97-AF65-F5344CB8AC3E}">
        <p14:creationId xmlns:p14="http://schemas.microsoft.com/office/powerpoint/2010/main" val="4799295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2026-09-26T09:25:18.6760000Z</dcterms:created>
  <dcterms:modified xsi:type="dcterms:W3CDTF">2026-09-26T09:25:18.6760000Z</dcterms:modified>
</coreProperties>
</file>