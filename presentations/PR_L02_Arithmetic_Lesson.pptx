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2: Arithmetic.
Open the experience at revise360.co.uk and hand out PR_L02_Arithmetic_Worksheet.docx.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The four operations.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Whole number division.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Powers and roots.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Rounding.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Random numbers.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Putting it together.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Python programming  |  Lesson 2</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Arithmetic</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Computers were built to calculate, and Python has an operator for every kind of sum in the specification. Work through the six stations and learn which one to reach for, and what each one hands back.</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Revise 360 Python course  |  Beyond the OCR J277 specification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How do you choose between /, // and % when the answer to a calculation has to come out as a whole number?</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which arithmetic operator each kind of calculation needs</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the difference between /, // and % and what each one hands back</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round a result, and how to draw a random number from a seed</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1920240"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19202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Arithmetic</a:t>
            </a:r>
            <a:endParaRPr lang="en-US" sz="1200" dirty="0"/>
          </a:p>
        </p:txBody>
      </p:sp>
      <p:sp>
        <p:nvSpPr>
          <p:cNvPr id="19" name="Shape 17"/>
          <p:cNvSpPr/>
          <p:nvPr/>
        </p:nvSpPr>
        <p:spPr>
          <a:xfrm>
            <a:off x="2596896" y="5468112"/>
            <a:ext cx="2798064"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2596896" y="5468112"/>
            <a:ext cx="279806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Integer division</a:t>
            </a:r>
            <a:endParaRPr lang="en-US" sz="1200" dirty="0"/>
          </a:p>
        </p:txBody>
      </p:sp>
      <p:sp>
        <p:nvSpPr>
          <p:cNvPr id="21" name="Shape 19"/>
          <p:cNvSpPr/>
          <p:nvPr/>
        </p:nvSpPr>
        <p:spPr>
          <a:xfrm>
            <a:off x="5522976" y="5468112"/>
            <a:ext cx="1481328" cy="402336"/>
          </a:xfrm>
          <a:prstGeom prst="roundRect">
            <a:avLst>
              <a:gd name="adj" fmla="val 50000"/>
            </a:avLst>
          </a:prstGeom>
          <a:solidFill>
            <a:srgbClr val="FFFFFF"/>
          </a:solidFill>
          <a:ln w="12700">
            <a:solidFill>
              <a:srgbClr val="2D63FF"/>
            </a:solidFill>
            <a:prstDash val="solid"/>
          </a:ln>
        </p:spPr>
      </p:sp>
      <p:sp>
        <p:nvSpPr>
          <p:cNvPr id="22" name="Text 20"/>
          <p:cNvSpPr txBox="1"/>
          <p:nvPr/>
        </p:nvSpPr>
        <p:spPr>
          <a:xfrm>
            <a:off x="5522976" y="5468112"/>
            <a:ext cx="1481328"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Modulus</a:t>
            </a:r>
            <a:endParaRPr lang="en-US" sz="1200" dirty="0"/>
          </a:p>
        </p:txBody>
      </p:sp>
      <p:sp>
        <p:nvSpPr>
          <p:cNvPr id="23" name="Shape 21"/>
          <p:cNvSpPr/>
          <p:nvPr/>
        </p:nvSpPr>
        <p:spPr>
          <a:xfrm>
            <a:off x="7132320" y="5468112"/>
            <a:ext cx="1627632" cy="402336"/>
          </a:xfrm>
          <a:prstGeom prst="roundRect">
            <a:avLst>
              <a:gd name="adj" fmla="val 50000"/>
            </a:avLst>
          </a:prstGeom>
          <a:solidFill>
            <a:srgbClr val="FFFFFF"/>
          </a:solidFill>
          <a:ln w="12700">
            <a:solidFill>
              <a:srgbClr val="2D63FF"/>
            </a:solidFill>
            <a:prstDash val="solid"/>
          </a:ln>
        </p:spPr>
      </p:sp>
      <p:sp>
        <p:nvSpPr>
          <p:cNvPr id="24" name="Text 22"/>
          <p:cNvSpPr txBox="1"/>
          <p:nvPr/>
        </p:nvSpPr>
        <p:spPr>
          <a:xfrm>
            <a:off x="7132320" y="5468112"/>
            <a:ext cx="162763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Exponent</a:t>
            </a:r>
            <a:endParaRPr lang="en-US" sz="1200" dirty="0"/>
          </a:p>
        </p:txBody>
      </p:sp>
      <p:sp>
        <p:nvSpPr>
          <p:cNvPr id="25" name="Shape 23"/>
          <p:cNvSpPr/>
          <p:nvPr/>
        </p:nvSpPr>
        <p:spPr>
          <a:xfrm>
            <a:off x="8887968" y="5468112"/>
            <a:ext cx="1481328" cy="402336"/>
          </a:xfrm>
          <a:prstGeom prst="roundRect">
            <a:avLst>
              <a:gd name="adj" fmla="val 50000"/>
            </a:avLst>
          </a:prstGeom>
          <a:solidFill>
            <a:srgbClr val="FFFFFF"/>
          </a:solidFill>
          <a:ln w="12700">
            <a:solidFill>
              <a:srgbClr val="2D63FF"/>
            </a:solidFill>
            <a:prstDash val="solid"/>
          </a:ln>
        </p:spPr>
      </p:sp>
      <p:sp>
        <p:nvSpPr>
          <p:cNvPr id="26" name="Text 24"/>
          <p:cNvSpPr txBox="1"/>
          <p:nvPr/>
        </p:nvSpPr>
        <p:spPr>
          <a:xfrm>
            <a:off x="8887968" y="5468112"/>
            <a:ext cx="1481328"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round()</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Work these out by hand, with no computer: 17 / 5, 17 // 5, 17 % 5 and 2 ** 5. Beside each answer write whether Python shows a whole number or a decimal.</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Arithmetic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Plan before you type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task and its brief. Work out the inputs, what happens to them, and exactly what is printed.</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Write it and run it</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Type the program in the editor and press Run to see what it does. Then press Check to mark it against the tests.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 failures</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A test that fails tells you what was expected and what came out. Fix and run it again - that is what programmers do.</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The four operations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 adds, - subtracts, * multiplies and / divides.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 always gives a float, so 10 / 2 shows as 5.0 rather than 5.</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writing 2n for two lots of n, when Python needs 2 * n.</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does dividing one whole number by another leave a decimal point on the answer?</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The * was chosen for multiply because early keyboards had no...</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Whole number division</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 divides and throws the remainder away, giving a whole number.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 gives only the remainder, and is called the modulus.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using / when the answer must be whole, which leaves a .0 on the end.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two operators turn 250 pence into a number of whole pounds and the pence left over?</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 and % are a pair: one gives the whole part and the other gives...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Powers and roots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 raises a number to a power, so 5 ** 2 is 25 and 5 ** 3 is 125.</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square root is the power of 0.5, or math.sqrt() once math has been imported.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writing 5 ^ 2, which does something else entirely in Python.</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Give two different ways of working out the square root of 49.</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Raising a number to the power 0.5 gives its...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Rounding</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round(x) gives the nearest whole number, and round(x, 2) keeps two decimal places.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abs() removes the sign, so a difference can be reported without saying which way.</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rounding early, then carrying the rounded value into the next calculation.</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does an average almost always need rounding before it is printed?</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Python rounds a value ending in exactly .5 towards the...</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Random numbers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import random first, then random.randint(a, b) gives a whole number from a to b, both included.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random.seed(n) makes the same sequence come out every time, so an answer can be marked.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calling randint again instead of storing the number you have already drawn.</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would a program ever want its random numbers to be predictable?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computer works its random numbers out with a formula, so they are really...</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Putting it together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Work out the order of a calculation before you type it: brackets, powers, then * / // %, then + -.</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Store a part-finished answer in a named variable to keep a long calculation readable.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leaving brackets out, so Python works the sum out in a different order from the one you meant.</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In what order does Python work through 2 + 3 * 4 ** 2?</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BIDMAS in a maths lesson is the same rule Python uses for...</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Pick the operator</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Eight jobs are waiting on the floor below you. Tap the star and choose the operator or function each one needs.</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Dividing by zero</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Any program that divides by a number the user typed should check it is not zero first, or Python stops with an error.</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Clock arithmetic</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 is how a program wraps round: hour 25 on a 24-hour clock is 25 % 24, which is 1.</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Any root at all</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Every root can be written as a power, so a cube root is the power of one third and 27 ** (1/3) is 3.</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Floats are close, not exact</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0.1 + 0.2 does not give exactly 0.3, because a float is stored in binary and some decimals will not fit.</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program works out how many whole 6s go into a number, and the line reads lots = n / 6. State what is wrong with the result this gives, and write the line corrected.</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[2]</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program that reads a whole number of pence and prints how many whole pounds are in it, then how many pence are left over on the next line.</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program that reads three whole numbers and prints their average, rounded to one decimal place.</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Choosing the right arithmetic operator</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Using // and % for whole-number answers</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Rounding a result and seeding a random number</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Arithmetic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Python programming  |  Lesson 2 — Arithmetic</dc:title>
  <dc:subject>OCR J277 GCSE Computer Science</dc:subject>
  <dc:creator>Revise 360 Ltd</dc:creator>
  <cp:lastModifiedBy>Revise 360 Ltd</cp:lastModifiedBy>
  <cp:revision>1</cp:revision>
  <dcterms:created xsi:type="dcterms:W3CDTF">2026-10-02T20:44:10Z</dcterms:created>
  <dcterms:modified xsi:type="dcterms:W3CDTF">2026-10-02T20:44:10Z</dcterms:modified>
</cp:coreProperties>
</file>