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e754231fa21476d" /><Relationship Type="http://schemas.openxmlformats.org/officeDocument/2006/relationships/extended-properties" Target="/docProps/app.xml" Id="R1d36277dc6a24f74" /><Relationship Type="http://schemas.openxmlformats.org/officeDocument/2006/relationships/officeDocument" Target="/ppt/presentation.xml" Id="Rec7d5825d8ff4ad4" /></Relationships>
</file>

<file path=ppt/presentation.xml><?xml version="1.0" encoding="utf-8"?>
<p:presentation xmlns:p="http://schemas.openxmlformats.org/presentationml/2006/main">
  <p:sldMasterIdLst>
    <p:sldMasterId xmlns:r="http://schemas.openxmlformats.org/officeDocument/2006/relationships" id="2147483648" r:id="R89da34d6526542b0"/>
  </p:sldMasterIdLst>
  <p:notesMasterIdLst>
    <p:notesMasterId xmlns:r="http://schemas.openxmlformats.org/officeDocument/2006/relationships" r:id="Reff185dd1ef0418c"/>
  </p:notesMasterIdLst>
  <p:sldIdLst>
    <p:sldId xmlns:r="http://schemas.openxmlformats.org/officeDocument/2006/relationships" id="256" r:id="R07b7a0eb5e8c4694"/>
    <p:sldId xmlns:r="http://schemas.openxmlformats.org/officeDocument/2006/relationships" id="257" r:id="Ra9c426e8df46420e"/>
    <p:sldId xmlns:r="http://schemas.openxmlformats.org/officeDocument/2006/relationships" id="258" r:id="R84331a19b1574975"/>
    <p:sldId xmlns:r="http://schemas.openxmlformats.org/officeDocument/2006/relationships" id="259" r:id="R52e2f6a340ab4da8"/>
    <p:sldId xmlns:r="http://schemas.openxmlformats.org/officeDocument/2006/relationships" id="260" r:id="R197548d2c850498f"/>
    <p:sldId xmlns:r="http://schemas.openxmlformats.org/officeDocument/2006/relationships" id="261" r:id="R569cb676aa9e4ef5"/>
    <p:sldId xmlns:r="http://schemas.openxmlformats.org/officeDocument/2006/relationships" id="262" r:id="Rf8a116a939594e68"/>
    <p:sldId xmlns:r="http://schemas.openxmlformats.org/officeDocument/2006/relationships" id="263" r:id="Rc783b831342e4f78"/>
    <p:sldId xmlns:r="http://schemas.openxmlformats.org/officeDocument/2006/relationships" id="264" r:id="R0f9ee7d16d2b433b"/>
    <p:sldId xmlns:r="http://schemas.openxmlformats.org/officeDocument/2006/relationships" id="265" r:id="Rbaef28db9a8944c2"/>
    <p:sldId xmlns:r="http://schemas.openxmlformats.org/officeDocument/2006/relationships" id="266" r:id="Rf0cbc6c2ec764e70"/>
    <p:sldId xmlns:r="http://schemas.openxmlformats.org/officeDocument/2006/relationships" id="267" r:id="R05329c58d1714edc"/>
    <p:sldId xmlns:r="http://schemas.openxmlformats.org/officeDocument/2006/relationships" id="268" r:id="R14c9e2ac5a474b77"/>
    <p:sldId xmlns:r="http://schemas.openxmlformats.org/officeDocument/2006/relationships" id="269" r:id="Re8541f80bdb34713"/>
    <p:sldId xmlns:r="http://schemas.openxmlformats.org/officeDocument/2006/relationships" id="270" r:id="R885e528dffc14431"/>
    <p:sldId xmlns:r="http://schemas.openxmlformats.org/officeDocument/2006/relationships" id="271" r:id="R9f6c12b3a81d4d21"/>
    <p:sldId xmlns:r="http://schemas.openxmlformats.org/officeDocument/2006/relationships" id="272" r:id="R2c974a293fa74a26"/>
    <p:sldId xmlns:r="http://schemas.openxmlformats.org/officeDocument/2006/relationships" id="273" r:id="Rf08a6eabfc6a455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889a5a38b8d4612" /><Relationship Type="http://schemas.openxmlformats.org/officeDocument/2006/relationships/slideMaster" Target="/ppt/slideMasters/slideMaster1.xml" Id="R89da34d6526542b0" /><Relationship Type="http://schemas.openxmlformats.org/officeDocument/2006/relationships/notesMaster" Target="/ppt/notesMasters/notesMaster1.xml" Id="Reff185dd1ef0418c" /><Relationship Type="http://schemas.openxmlformats.org/officeDocument/2006/relationships/presProps" Target="/ppt/presProps.xml" Id="R2b9fb9a6cfd44e36" /><Relationship Type="http://schemas.openxmlformats.org/officeDocument/2006/relationships/tableStyles" Target="/ppt/tableStyles.xml" Id="R06b867e1b63c412d" /><Relationship Type="http://schemas.openxmlformats.org/officeDocument/2006/relationships/slide" Target="/ppt/slides/slide1.xml" Id="R07b7a0eb5e8c4694" /><Relationship Type="http://schemas.openxmlformats.org/officeDocument/2006/relationships/slide" Target="/ppt/slides/slide2.xml" Id="Ra9c426e8df46420e" /><Relationship Type="http://schemas.openxmlformats.org/officeDocument/2006/relationships/slide" Target="/ppt/slides/slide3.xml" Id="R84331a19b1574975" /><Relationship Type="http://schemas.openxmlformats.org/officeDocument/2006/relationships/slide" Target="/ppt/slides/slide4.xml" Id="R52e2f6a340ab4da8" /><Relationship Type="http://schemas.openxmlformats.org/officeDocument/2006/relationships/slide" Target="/ppt/slides/slide5.xml" Id="R197548d2c850498f" /><Relationship Type="http://schemas.openxmlformats.org/officeDocument/2006/relationships/slide" Target="/ppt/slides/slide6.xml" Id="R569cb676aa9e4ef5" /><Relationship Type="http://schemas.openxmlformats.org/officeDocument/2006/relationships/slide" Target="/ppt/slides/slide7.xml" Id="Rf8a116a939594e68" /><Relationship Type="http://schemas.openxmlformats.org/officeDocument/2006/relationships/slide" Target="/ppt/slides/slide8.xml" Id="Rc783b831342e4f78" /><Relationship Type="http://schemas.openxmlformats.org/officeDocument/2006/relationships/slide" Target="/ppt/slides/slide9.xml" Id="R0f9ee7d16d2b433b" /><Relationship Type="http://schemas.openxmlformats.org/officeDocument/2006/relationships/slide" Target="/ppt/slides/slide10.xml" Id="Rbaef28db9a8944c2" /><Relationship Type="http://schemas.openxmlformats.org/officeDocument/2006/relationships/slide" Target="/ppt/slides/slide11.xml" Id="Rf0cbc6c2ec764e70" /><Relationship Type="http://schemas.openxmlformats.org/officeDocument/2006/relationships/slide" Target="/ppt/slides/slide12.xml" Id="R05329c58d1714edc" /><Relationship Type="http://schemas.openxmlformats.org/officeDocument/2006/relationships/slide" Target="/ppt/slides/slide13.xml" Id="R14c9e2ac5a474b77" /><Relationship Type="http://schemas.openxmlformats.org/officeDocument/2006/relationships/slide" Target="/ppt/slides/slide14.xml" Id="Re8541f80bdb34713" /><Relationship Type="http://schemas.openxmlformats.org/officeDocument/2006/relationships/slide" Target="/ppt/slides/slide15.xml" Id="R885e528dffc14431" /><Relationship Type="http://schemas.openxmlformats.org/officeDocument/2006/relationships/slide" Target="/ppt/slides/slide16.xml" Id="R9f6c12b3a81d4d21" /><Relationship Type="http://schemas.openxmlformats.org/officeDocument/2006/relationships/slide" Target="/ppt/slides/slide17.xml" Id="R2c974a293fa74a26" /><Relationship Type="http://schemas.openxmlformats.org/officeDocument/2006/relationships/slide" Target="/ppt/slides/slide18.xml" Id="Rf08a6eabfc6a455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0e45627fa904ce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274f3714984776" /><Relationship Type="http://schemas.openxmlformats.org/officeDocument/2006/relationships/notesMaster" Target="/ppt/notesMasters/notesMaster1.xml" Id="R5cf9d4cc89bd408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c62e02ec6c47b8" /><Relationship Type="http://schemas.openxmlformats.org/officeDocument/2006/relationships/notesMaster" Target="/ppt/notesMasters/notesMaster1.xml" Id="Rec7ebc29483e4b45"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ca655b90014d4b" /><Relationship Type="http://schemas.openxmlformats.org/officeDocument/2006/relationships/notesMaster" Target="/ppt/notesMasters/notesMaster1.xml" Id="Rf5d90261f9af4d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98d6d3151e4130" /><Relationship Type="http://schemas.openxmlformats.org/officeDocument/2006/relationships/notesMaster" Target="/ppt/notesMasters/notesMaster1.xml" Id="Rbd3024c58d984ae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3f3f54db7ba4cbd" /><Relationship Type="http://schemas.openxmlformats.org/officeDocument/2006/relationships/notesMaster" Target="/ppt/notesMasters/notesMaster1.xml" Id="Ree5c3ddddb0d446d"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246edc644d4fe6" /><Relationship Type="http://schemas.openxmlformats.org/officeDocument/2006/relationships/notesMaster" Target="/ppt/notesMasters/notesMaster1.xml" Id="Rd4497443f4dc45d3" /></Relationships>
</file>

<file path=ppt/notesSlides/_rels/notesSlide7.xml.rels>&#65279;<?xml version="1.0" encoding="utf-8"?><Relationships xmlns="http://schemas.openxmlformats.org/package/2006/relationships"><Relationship Type="http://schemas.openxmlformats.org/officeDocument/2006/relationships/slide" Target="/ppt/slides/slide7.xml" Id="Rff052160de824329" /><Relationship Type="http://schemas.openxmlformats.org/officeDocument/2006/relationships/notesMaster" Target="/ppt/notesMasters/notesMaster1.xml" Id="R0906e1c880ce4bae" /></Relationships>
</file>

<file path=ppt/notesSlides/_rels/notesSlide8.xml.rels>&#65279;<?xml version="1.0" encoding="utf-8"?><Relationships xmlns="http://schemas.openxmlformats.org/package/2006/relationships"><Relationship Type="http://schemas.openxmlformats.org/officeDocument/2006/relationships/slide" Target="/ppt/slides/slide8.xml" Id="Rb49ac4e9e0514887" /><Relationship Type="http://schemas.openxmlformats.org/officeDocument/2006/relationships/notesMaster" Target="/ppt/notesMasters/notesMaster1.xml" Id="R9b89e212b9544da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87fc1708c534a4e" /><Relationship Type="http://schemas.openxmlformats.org/officeDocument/2006/relationships/notesMaster" Target="/ppt/notesMasters/notesMaster1.xml" Id="R1cf947f21ba849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a5affe5bc804649" /><Relationship Type="http://schemas.openxmlformats.org/officeDocument/2006/relationships/notesMaster" Target="/ppt/notesMasters/notesMaster1.xml" Id="Rd5115d3d951140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4b687c8934149e2" /><Relationship Type="http://schemas.openxmlformats.org/officeDocument/2006/relationships/notesMaster" Target="/ppt/notesMasters/notesMaster1.xml" Id="R5fe00b85c626447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c0cac57a0014b75" /><Relationship Type="http://schemas.openxmlformats.org/officeDocument/2006/relationships/notesMaster" Target="/ppt/notesMasters/notesMaster1.xml" Id="R258d0c32be7a40e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79add268088416c" /><Relationship Type="http://schemas.openxmlformats.org/officeDocument/2006/relationships/notesMaster" Target="/ppt/notesMasters/notesMaster1.xml" Id="R7a90ccb5b960440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e0d03ec5144170" /><Relationship Type="http://schemas.openxmlformats.org/officeDocument/2006/relationships/notesMaster" Target="/ppt/notesMasters/notesMaster1.xml" Id="Rc8935414857e4a2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f83bb9d7d1e4504" /><Relationship Type="http://schemas.openxmlformats.org/officeDocument/2006/relationships/notesMaster" Target="/ppt/notesMasters/notesMaster1.xml" Id="R265137b68f3a4e5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162785b56c64e1e" /><Relationship Type="http://schemas.openxmlformats.org/officeDocument/2006/relationships/notesMaster" Target="/ppt/notesMasters/notesMaster1.xml" Id="Rf8ff14faa4dd44b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f526e23aafe4e28" /><Relationship Type="http://schemas.openxmlformats.org/officeDocument/2006/relationships/notesMaster" Target="/ppt/notesMasters/notesMaster1.xml" Id="R939ac629c11044f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0c9de2749b040ec" /><Relationship Type="http://schemas.openxmlformats.org/officeDocument/2006/relationships/notesMaster" Target="/ppt/notesMasters/notesMaster1.xml" Id="Raaf92b5fc190401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picture shows a straight-on perspective view of the actual 360 experience opening scene. The experience opens after the starter and key term answers have been checked.</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outcomes with the class. They follow the wording of the lesson worksheet.</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pupils to attempt the exact starter question printed on the worksheet. Take a few suggestions before showing the model answer.</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sample answers to the exact worksheet starter question. Accept other correct examples and explanations.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definitions from memory. These two terms are the worksheet’s exact key terminology entries, including the recap terms in Lesson 4.</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term definitions are visible for pupils to correct their quiz. Reveal this slide after attempts.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board slide after the key term answers and leave it visible during the experience. The OPEN EXPERIENCE label links to the matching experience. Everyone should finish the experience in this lesson and move to the plenary near the end. The worksheet gives the route and station names.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optional and comes after the experience. Give students time to reason in full sentences.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work after the experience has been completed. Move the whole class to the plenary knowledge check near the end of the lesson. Do not reveal station answers until pupils have completed the experience.</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sample answers after students have attempted the two application prompts. These are examples rather than a single required wording.</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answers follow the final challenge in the interactive experience and the worksheet. Students should correct their table before the exam questions.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exam-practice questions a and b from the worksheet. Give independent writing time before revealing the answers.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worksheet exam-practice question c. Let students answer independently.</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classroom answer points, not an official OCR mark scheme. Ask students to improve one response in a different colour.</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worksheet final challenge to rehearse the six steps. The cache item is deliberately nuanced: replacement is normal; a miss causes the delay. Ask students to revise one sentence after self-check.</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the exact confidence objectives listed in the worksheet. Ask students to identify one item to revisit next time.</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adbaaa3ba448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89f677b5324182" /><Relationship Type="http://schemas.openxmlformats.org/officeDocument/2006/relationships/slideLayout" Target="/ppt/slideLayouts/slideLayout1.xml" Id="Rf98f565a829d4e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8f565a829d4e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778c6e8491348a0" /><Relationship Type="http://schemas.openxmlformats.org/officeDocument/2006/relationships/image" Target="/ppt/media/image.png" Id="R459362e8d23f4810" /><Relationship Type="http://schemas.openxmlformats.org/officeDocument/2006/relationships/image" Target="/ppt/media/image.jpeg" Id="Rcefcff605f9b4110" /><Relationship Type="http://schemas.openxmlformats.org/officeDocument/2006/relationships/notesSlide" Target="/ppt/notesSlides/notesSlide1.xml" Id="Rc9644329fac140f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afe8616bbd94507" /><Relationship Type="http://schemas.openxmlformats.org/officeDocument/2006/relationships/image" Target="/ppt/media/image2.png" Id="R81619cd9c2d54f0b" /><Relationship Type="http://schemas.openxmlformats.org/officeDocument/2006/relationships/notesSlide" Target="/ppt/notesSlides/notesSlide2.xml" Id="Rfb0b75705d764f7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6047ff9c6974626" /><Relationship Type="http://schemas.openxmlformats.org/officeDocument/2006/relationships/image" Target="/ppt/media/image3.png" Id="R9688d7ca150d4096" /><Relationship Type="http://schemas.openxmlformats.org/officeDocument/2006/relationships/notesSlide" Target="/ppt/notesSlides/notesSlide3.xml" Id="R36dbff8318aa49a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352d26171cd4cab" /><Relationship Type="http://schemas.openxmlformats.org/officeDocument/2006/relationships/image" Target="/ppt/media/image4.png" Id="Rf0c23548a92045ac" /><Relationship Type="http://schemas.openxmlformats.org/officeDocument/2006/relationships/notesSlide" Target="/ppt/notesSlides/notesSlide4.xml" Id="R01c70d6dfac8474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68dc4df4d9a4d6f" /><Relationship Type="http://schemas.openxmlformats.org/officeDocument/2006/relationships/image" Target="/ppt/media/image5.png" Id="Rd450293e9f874d85" /><Relationship Type="http://schemas.openxmlformats.org/officeDocument/2006/relationships/notesSlide" Target="/ppt/notesSlides/notesSlide5.xml" Id="R8dfc499bfdf24e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0fffee6d6164b5c" /><Relationship Type="http://schemas.openxmlformats.org/officeDocument/2006/relationships/image" Target="/ppt/media/image6.png" Id="Ra9f58313b99f4175" /><Relationship Type="http://schemas.openxmlformats.org/officeDocument/2006/relationships/notesSlide" Target="/ppt/notesSlides/notesSlide6.xml" Id="R60ff8dec3f1a4a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07b23141d9c4c2f" /><Relationship Type="http://schemas.openxmlformats.org/officeDocument/2006/relationships/image" Target="/ppt/media/image7.png" Id="Ra9b9838228354d43" /><Relationship Type="http://schemas.openxmlformats.org/officeDocument/2006/relationships/hyperlink" Target="https://mrp-cs.github.io/Revise360/experience.html?id=sa-l01" TargetMode="External" Id="Rb786539b64f54eec" /><Relationship Type="http://schemas.openxmlformats.org/officeDocument/2006/relationships/notesSlide" Target="/ppt/notesSlides/notesSlide7.xml" Id="R56002e2a15e94a0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4314bbc8cc54c31" /><Relationship Type="http://schemas.openxmlformats.org/officeDocument/2006/relationships/image" Target="/ppt/media/image8.png" Id="R7f4914668ed3490f" /><Relationship Type="http://schemas.openxmlformats.org/officeDocument/2006/relationships/notesSlide" Target="/ppt/notesSlides/notesSlide8.xml" Id="R3d891cfdfbdd4b4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e4124a63bbd4cb7" /><Relationship Type="http://schemas.openxmlformats.org/officeDocument/2006/relationships/image" Target="/ppt/media/image9.png" Id="Rd708d9bbf7a04447" /><Relationship Type="http://schemas.openxmlformats.org/officeDocument/2006/relationships/notesSlide" Target="/ppt/notesSlides/notesSlide9.xml" Id="Rb021c517aba1491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9ba5ef73eaf494a" /><Relationship Type="http://schemas.openxmlformats.org/officeDocument/2006/relationships/image" Target="/ppt/media/image10.png" Id="R77237656add641b6" /><Relationship Type="http://schemas.openxmlformats.org/officeDocument/2006/relationships/notesSlide" Target="/ppt/notesSlides/notesSlide10.xml" Id="R7757f011b6b8425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fc8365f38324c51" /><Relationship Type="http://schemas.openxmlformats.org/officeDocument/2006/relationships/image" Target="/ppt/media/image11.png" Id="R06c9efa5555b4e37" /><Relationship Type="http://schemas.openxmlformats.org/officeDocument/2006/relationships/notesSlide" Target="/ppt/notesSlides/notesSlide11.xml" Id="R43461cc970974db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c8402358ad64cd7" /><Relationship Type="http://schemas.openxmlformats.org/officeDocument/2006/relationships/image" Target="/ppt/media/image12.png" Id="R29bed6b1837843e8" /><Relationship Type="http://schemas.openxmlformats.org/officeDocument/2006/relationships/notesSlide" Target="/ppt/notesSlides/notesSlide12.xml" Id="Rf7f4fd5512264da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39716e50a924618" /><Relationship Type="http://schemas.openxmlformats.org/officeDocument/2006/relationships/image" Target="/ppt/media/image13.png" Id="R22322a8bbfb242ec" /><Relationship Type="http://schemas.openxmlformats.org/officeDocument/2006/relationships/notesSlide" Target="/ppt/notesSlides/notesSlide13.xml" Id="R83552b5b3a99409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b4cb91a72204bec" /><Relationship Type="http://schemas.openxmlformats.org/officeDocument/2006/relationships/image" Target="/ppt/media/image14.png" Id="Rfa7b549c8f2740a6" /><Relationship Type="http://schemas.openxmlformats.org/officeDocument/2006/relationships/notesSlide" Target="/ppt/notesSlides/notesSlide14.xml" Id="Rd5527a199e1d4b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9e90766e0ba4dd7" /><Relationship Type="http://schemas.openxmlformats.org/officeDocument/2006/relationships/image" Target="/ppt/media/image15.png" Id="Rf0725024946c43f6" /><Relationship Type="http://schemas.openxmlformats.org/officeDocument/2006/relationships/notesSlide" Target="/ppt/notesSlides/notesSlide15.xml" Id="Re3142218c05f441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afc997d44654277" /><Relationship Type="http://schemas.openxmlformats.org/officeDocument/2006/relationships/image" Target="/ppt/media/image16.png" Id="Re9c511f733cd4e28" /><Relationship Type="http://schemas.openxmlformats.org/officeDocument/2006/relationships/notesSlide" Target="/ppt/notesSlides/notesSlide16.xml" Id="R9e86e3cc2cfa469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1da4849edc747fd" /><Relationship Type="http://schemas.openxmlformats.org/officeDocument/2006/relationships/image" Target="/ppt/media/image17.png" Id="R5527f3b9e7594fc9" /><Relationship Type="http://schemas.openxmlformats.org/officeDocument/2006/relationships/notesSlide" Target="/ppt/notesSlides/notesSlide17.xml" Id="R0439cff52082430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067ab47963f48f3" /><Relationship Type="http://schemas.openxmlformats.org/officeDocument/2006/relationships/image" Target="/ppt/media/image18.png" Id="R830a2c8789574602" /><Relationship Type="http://schemas.openxmlformats.org/officeDocument/2006/relationships/notesSlide" Target="/ppt/notesSlides/notesSlide18.xml" Id="Rf882f1467b094f2e" /></Relationships>
</file>

<file path=ppt/slides/slide1.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7A49B242-0A93-4CAA-A976-B7B854145934}"/>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7C87B069-4AE3-41FB-8E32-622FAD070C7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01</a:t>
            </a:r>
          </a:p>
        </p:txBody>
      </p:sp>
      <p:sp>
        <p:nvSpPr>
          <p:cNvPr id="3" name="heading">
            <a:extLst xmlns:a="http://schemas.openxmlformats.org/drawingml/2006/main">
              <a:ext uri="{FF2B5EF4-FFF2-40B4-BE49-F238E27FC236}">
                <a16:creationId xmlns:a16="http://schemas.microsoft.com/office/drawing/2014/main" id="{53815F20-9933-4640-9E82-67A009EF075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FETCH-EXECUTE FACTORY</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459362e8d23f4810"/>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48E3C81-C842-45B0-92BB-277816F0B5B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 / 18</a:t>
            </a:r>
          </a:p>
        </p:txBody>
      </p:sp>
      <p:sp>
        <p:nvSpPr>
          <p:cNvPr id="6" name="subject">
            <a:extLst xmlns:a="http://schemas.openxmlformats.org/drawingml/2006/main">
              <a:ext uri="{FF2B5EF4-FFF2-40B4-BE49-F238E27FC236}">
                <a16:creationId xmlns:a16="http://schemas.microsoft.com/office/drawing/2014/main" id="{1D1867E6-9160-4B7B-B718-C2045EBD660D}"/>
              </a:ext>
            </a:extLst>
          </p:cNvPr>
          <p:cNvSpPr>
            <a:spLocks xmlns:a="http://schemas.openxmlformats.org/drawingml/2006/main" noGrp="1"/>
          </p:cNvSpPr>
          <p:nvPr/>
        </p:nvSpPr>
        <p:spPr>
          <a:xfrm xmlns:a="http://schemas.openxmlformats.org/drawingml/2006/main">
            <a:off x="685800" y="1762125"/>
            <a:ext cx="514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77D8FF"/>
                </a:solidFill>
                <a:latin typeface="DejaVu Sans"/>
                <a:ea typeface="DejaVu Sans"/>
                <a:cs typeface="DejaVu Sans"/>
              </a:defRPr>
            </a:pPr>
            <a:r>
              <a:rPr sz="2325" b="0">
                <a:solidFill>
                  <a:srgbClr val="77D8FF"/>
                </a:solidFill>
                <a:latin typeface="DejaVu Sans"/>
                <a:ea typeface="DejaVu Sans"/>
                <a:cs typeface="DejaVu Sans"/>
              </a:rPr>
              <a:t>Purpose of the CPU</a:t>
            </a:r>
          </a:p>
        </p:txBody>
      </p:sp>
      <p:sp>
        <p:nvSpPr>
          <p:cNvPr id="7" name="cover-key-label">
            <a:extLst xmlns:a="http://schemas.openxmlformats.org/drawingml/2006/main">
              <a:ext uri="{FF2B5EF4-FFF2-40B4-BE49-F238E27FC236}">
                <a16:creationId xmlns:a16="http://schemas.microsoft.com/office/drawing/2014/main" id="{DB6C6EAB-F00F-49E7-BB96-0088CAEA29FE}"/>
              </a:ext>
            </a:extLst>
          </p:cNvPr>
          <p:cNvSpPr>
            <a:spLocks xmlns:a="http://schemas.openxmlformats.org/drawingml/2006/main" noGrp="1"/>
          </p:cNvSpPr>
          <p:nvPr/>
        </p:nvSpPr>
        <p:spPr>
          <a:xfrm xmlns:a="http://schemas.openxmlformats.org/drawingml/2006/main">
            <a:off x="685800" y="3038475"/>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KEY QUESTION</a:t>
            </a:r>
          </a:p>
        </p:txBody>
      </p:sp>
      <p:sp>
        <p:nvSpPr>
          <p:cNvPr id="8" name="cover-key-question">
            <a:extLst xmlns:a="http://schemas.openxmlformats.org/drawingml/2006/main">
              <a:ext uri="{FF2B5EF4-FFF2-40B4-BE49-F238E27FC236}">
                <a16:creationId xmlns:a16="http://schemas.microsoft.com/office/drawing/2014/main" id="{00081038-3E7F-400E-8756-EE3640E7E6AE}"/>
              </a:ext>
            </a:extLst>
          </p:cNvPr>
          <p:cNvSpPr>
            <a:spLocks xmlns:a="http://schemas.openxmlformats.org/drawingml/2006/main" noGrp="1"/>
          </p:cNvSpPr>
          <p:nvPr/>
        </p:nvSpPr>
        <p:spPr>
          <a:xfrm xmlns:a="http://schemas.openxmlformats.org/drawingml/2006/main">
            <a:off x="685800" y="3429000"/>
            <a:ext cx="47625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FFFFFF"/>
                </a:solidFill>
                <a:latin typeface="DejaVu Sans"/>
                <a:ea typeface="DejaVu Sans"/>
                <a:cs typeface="DejaVu Sans"/>
              </a:defRPr>
            </a:pPr>
            <a:r>
              <a:rPr sz="2175" b="1">
                <a:solidFill>
                  <a:srgbClr val="FFFFFF"/>
                </a:solidFill>
                <a:latin typeface="DejaVu Sans"/>
                <a:ea typeface="DejaVu Sans"/>
                <a:cs typeface="DejaVu Sans"/>
              </a:rPr>
              <a:t>What is the architecture of a CPU?</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efcff605f9b4110"/>
          <a:stretch xmlns:a="http://schemas.openxmlformats.org/drawingml/2006/main"/>
        </p:blipFill>
        <p:spPr>
          <a:xfrm xmlns:a="http://schemas.openxmlformats.org/drawingml/2006/main">
            <a:off x="6076950" y="1819275"/>
            <a:ext cx="5400675" cy="3600450"/>
          </a:xfrm>
          <a:prstGeom xmlns:a="http://schemas.openxmlformats.org/drawingml/2006/main" prst="rect">
            <a:avLst/>
          </a:prstGeom>
        </p:spPr>
      </p:pic>
    </p:spTree>
    <p:extLst>
      <p:ext uri="{BB962C8B-B14F-4D97-AF65-F5344CB8AC3E}">
        <p14:creationId xmlns:p14="http://schemas.microsoft.com/office/powerpoint/2010/main" val="8310518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footer background">
            <a:extLst xmlns:a="http://schemas.openxmlformats.org/drawingml/2006/main">
              <a:ext uri="{FF2B5EF4-FFF2-40B4-BE49-F238E27FC236}">
                <a16:creationId xmlns:a16="http://schemas.microsoft.com/office/drawing/2014/main" id="{729D0D74-D405-4298-8504-19625DD8F4AB}"/>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BC94BCC8-515D-47EA-B6E2-2B7D4AC1DC02}"/>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WORKSHEET</a:t>
            </a:r>
          </a:p>
        </p:txBody>
      </p:sp>
      <p:sp>
        <p:nvSpPr>
          <p:cNvPr id="3" name="heading">
            <a:extLst xmlns:a="http://schemas.openxmlformats.org/drawingml/2006/main">
              <a:ext uri="{FF2B5EF4-FFF2-40B4-BE49-F238E27FC236}">
                <a16:creationId xmlns:a16="http://schemas.microsoft.com/office/drawing/2014/main" id="{EB715B87-24C3-4EB0-A531-09F29276D91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By the end of this lesson</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1619cd9c2d54f0b"/>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B946EE4D-4656-4BC2-8F50-308BDCE2BA9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 / 18</a:t>
            </a:r>
          </a:p>
        </p:txBody>
      </p:sp>
      <p:sp>
        <p:nvSpPr>
          <p:cNvPr id="6" name="number-1">
            <a:extLst xmlns:a="http://schemas.openxmlformats.org/drawingml/2006/main">
              <a:ext uri="{FF2B5EF4-FFF2-40B4-BE49-F238E27FC236}">
                <a16:creationId xmlns:a16="http://schemas.microsoft.com/office/drawing/2014/main" id="{4F21E87F-93E4-451F-AB4E-8822ED37930E}"/>
              </a:ext>
            </a:extLst>
          </p:cNvPr>
          <p:cNvSpPr>
            <a:spLocks xmlns:a="http://schemas.openxmlformats.org/drawingml/2006/main" noGrp="1"/>
          </p:cNvSpPr>
          <p:nvPr/>
        </p:nvSpPr>
        <p:spPr>
          <a:xfrm xmlns:a="http://schemas.openxmlformats.org/drawingml/2006/main">
            <a:off x="723900" y="19431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46CD32E7-7220-4C45-83BD-1A75D52228BD}"/>
              </a:ext>
            </a:extLst>
          </p:cNvPr>
          <p:cNvSpPr>
            <a:spLocks xmlns:a="http://schemas.openxmlformats.org/drawingml/2006/main" noGrp="1"/>
          </p:cNvSpPr>
          <p:nvPr/>
        </p:nvSpPr>
        <p:spPr>
          <a:xfrm xmlns:a="http://schemas.openxmlformats.org/drawingml/2006/main">
            <a:off x="1352550" y="194310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Understand what the CPU of a computer does</a:t>
            </a:r>
          </a:p>
        </p:txBody>
      </p:sp>
      <p:sp>
        <p:nvSpPr>
          <p:cNvPr id="8" name="number-2">
            <a:extLst xmlns:a="http://schemas.openxmlformats.org/drawingml/2006/main">
              <a:ext uri="{FF2B5EF4-FFF2-40B4-BE49-F238E27FC236}">
                <a16:creationId xmlns:a16="http://schemas.microsoft.com/office/drawing/2014/main" id="{27D15F66-C79A-48FB-A458-5FCABD7105D6}"/>
              </a:ext>
            </a:extLst>
          </p:cNvPr>
          <p:cNvSpPr>
            <a:spLocks xmlns:a="http://schemas.openxmlformats.org/drawingml/2006/main" noGrp="1"/>
          </p:cNvSpPr>
          <p:nvPr/>
        </p:nvSpPr>
        <p:spPr>
          <a:xfrm xmlns:a="http://schemas.openxmlformats.org/drawingml/2006/main">
            <a:off x="723900" y="29051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6D66A0FC-FF53-4CDB-B571-D4D170C6C54A}"/>
              </a:ext>
            </a:extLst>
          </p:cNvPr>
          <p:cNvSpPr>
            <a:spLocks xmlns:a="http://schemas.openxmlformats.org/drawingml/2006/main" noGrp="1"/>
          </p:cNvSpPr>
          <p:nvPr/>
        </p:nvSpPr>
        <p:spPr>
          <a:xfrm xmlns:a="http://schemas.openxmlformats.org/drawingml/2006/main">
            <a:off x="1352550" y="29051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Know what CPU registers are</a:t>
            </a:r>
          </a:p>
        </p:txBody>
      </p:sp>
      <p:sp>
        <p:nvSpPr>
          <p:cNvPr id="10" name="number-3">
            <a:extLst xmlns:a="http://schemas.openxmlformats.org/drawingml/2006/main">
              <a:ext uri="{FF2B5EF4-FFF2-40B4-BE49-F238E27FC236}">
                <a16:creationId xmlns:a16="http://schemas.microsoft.com/office/drawing/2014/main" id="{214AB879-F5E1-46A1-B3B7-732C3DA05963}"/>
              </a:ext>
            </a:extLst>
          </p:cNvPr>
          <p:cNvSpPr>
            <a:spLocks xmlns:a="http://schemas.openxmlformats.org/drawingml/2006/main" noGrp="1"/>
          </p:cNvSpPr>
          <p:nvPr/>
        </p:nvSpPr>
        <p:spPr>
          <a:xfrm xmlns:a="http://schemas.openxmlformats.org/drawingml/2006/main">
            <a:off x="723900" y="38671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47E0FF81-472A-4959-B572-95A0EA47CE0B}"/>
              </a:ext>
            </a:extLst>
          </p:cNvPr>
          <p:cNvSpPr>
            <a:spLocks xmlns:a="http://schemas.openxmlformats.org/drawingml/2006/main" noGrp="1"/>
          </p:cNvSpPr>
          <p:nvPr/>
        </p:nvSpPr>
        <p:spPr>
          <a:xfrm xmlns:a="http://schemas.openxmlformats.org/drawingml/2006/main">
            <a:off x="1352550" y="386715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Know the stages of the fetch-execute cycle</a:t>
            </a:r>
          </a:p>
        </p:txBody>
      </p:sp>
      <p:sp>
        <p:nvSpPr>
          <p:cNvPr id="12" name="number-4">
            <a:extLst xmlns:a="http://schemas.openxmlformats.org/drawingml/2006/main">
              <a:ext uri="{FF2B5EF4-FFF2-40B4-BE49-F238E27FC236}">
                <a16:creationId xmlns:a16="http://schemas.microsoft.com/office/drawing/2014/main" id="{43B6C4DF-53E7-4684-A2E0-0FBDE1EFF723}"/>
              </a:ext>
            </a:extLst>
          </p:cNvPr>
          <p:cNvSpPr>
            <a:spLocks xmlns:a="http://schemas.openxmlformats.org/drawingml/2006/main" noGrp="1"/>
          </p:cNvSpPr>
          <p:nvPr/>
        </p:nvSpPr>
        <p:spPr>
          <a:xfrm xmlns:a="http://schemas.openxmlformats.org/drawingml/2006/main">
            <a:off x="723900" y="48291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4.</a:t>
            </a:r>
          </a:p>
        </p:txBody>
      </p:sp>
      <p:sp>
        <p:nvSpPr>
          <p:cNvPr id="13" name="item-4">
            <a:extLst xmlns:a="http://schemas.openxmlformats.org/drawingml/2006/main">
              <a:ext uri="{FF2B5EF4-FFF2-40B4-BE49-F238E27FC236}">
                <a16:creationId xmlns:a16="http://schemas.microsoft.com/office/drawing/2014/main" id="{B7588F05-DB7C-4321-91CF-115D386798E9}"/>
              </a:ext>
            </a:extLst>
          </p:cNvPr>
          <p:cNvSpPr>
            <a:spLocks xmlns:a="http://schemas.openxmlformats.org/drawingml/2006/main" noGrp="1"/>
          </p:cNvSpPr>
          <p:nvPr/>
        </p:nvSpPr>
        <p:spPr>
          <a:xfrm xmlns:a="http://schemas.openxmlformats.org/drawingml/2006/main">
            <a:off x="1352550" y="482917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Know about other components of the CPU</a:t>
            </a:r>
          </a:p>
        </p:txBody>
      </p:sp>
    </p:spTree>
    <p:extLst>
      <p:ext uri="{BB962C8B-B14F-4D97-AF65-F5344CB8AC3E}">
        <p14:creationId xmlns:p14="http://schemas.microsoft.com/office/powerpoint/2010/main" val="1695093205"/>
      </p:ext>
    </p:extLst>
  </p:cSld>
</p:sld>
</file>

<file path=ppt/slides/slide3.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7" name="footer background">
            <a:extLst xmlns:a="http://schemas.openxmlformats.org/drawingml/2006/main">
              <a:ext uri="{FF2B5EF4-FFF2-40B4-BE49-F238E27FC236}">
                <a16:creationId xmlns:a16="http://schemas.microsoft.com/office/drawing/2014/main" id="{389AE9BD-4456-44D0-A496-4A715994B34E}"/>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3D7E3F66-12BD-4737-B732-CF062507385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WORKSHEET STARTER</a:t>
            </a:r>
          </a:p>
        </p:txBody>
      </p:sp>
      <p:sp>
        <p:nvSpPr>
          <p:cNvPr id="3" name="heading">
            <a:extLst xmlns:a="http://schemas.openxmlformats.org/drawingml/2006/main">
              <a:ext uri="{FF2B5EF4-FFF2-40B4-BE49-F238E27FC236}">
                <a16:creationId xmlns:a16="http://schemas.microsoft.com/office/drawing/2014/main" id="{62E71EDE-630B-477B-8324-3C6B882C3B74}"/>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before the experience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688d7ca150d4096"/>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D4CED2EF-8770-4B94-8FF7-8186209CBA59}"/>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3 / 18</a:t>
            </a:r>
          </a:p>
        </p:txBody>
      </p:sp>
      <p:sp>
        <p:nvSpPr>
          <p:cNvPr id="6" name="worksheet-starter">
            <a:extLst xmlns:a="http://schemas.openxmlformats.org/drawingml/2006/main">
              <a:ext uri="{FF2B5EF4-FFF2-40B4-BE49-F238E27FC236}">
                <a16:creationId xmlns:a16="http://schemas.microsoft.com/office/drawing/2014/main" id="{4CABB616-5B19-458F-ADE4-F043686843F3}"/>
              </a:ext>
            </a:extLst>
          </p:cNvPr>
          <p:cNvSpPr>
            <a:spLocks xmlns:a="http://schemas.openxmlformats.org/drawingml/2006/main" noGrp="1"/>
          </p:cNvSpPr>
          <p:nvPr/>
        </p:nvSpPr>
        <p:spPr>
          <a:xfrm xmlns:a="http://schemas.openxmlformats.org/drawingml/2006/main">
            <a:off x="704850" y="2095500"/>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A chef can keep three ingredients on the worktop, twenty in the cupboard and anything else at the shop. Which is like cache, which is like RAM and which is like secondary storage? Why does the worktop make cooking faster?</a:t>
            </a:r>
          </a:p>
        </p:txBody>
      </p:sp>
    </p:spTree>
    <p:extLst>
      <p:ext uri="{BB962C8B-B14F-4D97-AF65-F5344CB8AC3E}">
        <p14:creationId xmlns:p14="http://schemas.microsoft.com/office/powerpoint/2010/main" val="2061250395"/>
      </p:ext>
    </p:extLst>
  </p:cSld>
</p:sld>
</file>

<file path=ppt/slides/slide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0CE6C1A7-1190-46F6-B558-07CF48F64720}"/>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1A9E94E-2324-4A21-8E1F-53F06181186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3" name="heading">
            <a:extLst xmlns:a="http://schemas.openxmlformats.org/drawingml/2006/main">
              <a:ext uri="{FF2B5EF4-FFF2-40B4-BE49-F238E27FC236}">
                <a16:creationId xmlns:a16="http://schemas.microsoft.com/office/drawing/2014/main" id="{42F7C639-9A4F-4B2E-A66B-E7FC7229A804}"/>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sample answers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0c23548a92045ac"/>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6810CE3C-06F6-401D-921D-2679EFD1E6F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4 / 18</a:t>
            </a:r>
          </a:p>
        </p:txBody>
      </p:sp>
      <p:sp>
        <p:nvSpPr>
          <p:cNvPr id="6" name="number-1">
            <a:extLst xmlns:a="http://schemas.openxmlformats.org/drawingml/2006/main">
              <a:ext uri="{FF2B5EF4-FFF2-40B4-BE49-F238E27FC236}">
                <a16:creationId xmlns:a16="http://schemas.microsoft.com/office/drawing/2014/main" id="{04B18CF0-64CE-463F-A9B8-6A6A21EDEFFA}"/>
              </a:ext>
            </a:extLst>
          </p:cNvPr>
          <p:cNvSpPr>
            <a:spLocks xmlns:a="http://schemas.openxmlformats.org/drawingml/2006/main" noGrp="1"/>
          </p:cNvSpPr>
          <p:nvPr/>
        </p:nvSpPr>
        <p:spPr>
          <a:xfrm xmlns:a="http://schemas.openxmlformats.org/drawingml/2006/main">
            <a:off x="723900" y="22860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D57E31F4-31D7-4905-A796-BE34CBF25ECA}"/>
              </a:ext>
            </a:extLst>
          </p:cNvPr>
          <p:cNvSpPr>
            <a:spLocks xmlns:a="http://schemas.openxmlformats.org/drawingml/2006/main" noGrp="1"/>
          </p:cNvSpPr>
          <p:nvPr/>
        </p:nvSpPr>
        <p:spPr>
          <a:xfrm xmlns:a="http://schemas.openxmlformats.org/drawingml/2006/main">
            <a:off x="1352550" y="2286000"/>
            <a:ext cx="99250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01828"/>
                </a:solidFill>
                <a:latin typeface="DejaVu Sans"/>
                <a:ea typeface="DejaVu Sans"/>
                <a:cs typeface="DejaVu Sans"/>
              </a:defRPr>
            </a:pPr>
            <a:r>
              <a:rPr sz="2250" b="0">
                <a:solidFill>
                  <a:srgbClr val="101828"/>
                </a:solidFill>
                <a:latin typeface="DejaVu Sans"/>
                <a:ea typeface="DejaVu Sans"/>
                <a:cs typeface="DejaVu Sans"/>
              </a:rPr>
              <a:t>Worktop = cache. Cupboard = RAM. Shop = secondary storage.</a:t>
            </a:r>
          </a:p>
        </p:txBody>
      </p:sp>
      <p:sp>
        <p:nvSpPr>
          <p:cNvPr id="8" name="number-2">
            <a:extLst xmlns:a="http://schemas.openxmlformats.org/drawingml/2006/main">
              <a:ext uri="{FF2B5EF4-FFF2-40B4-BE49-F238E27FC236}">
                <a16:creationId xmlns:a16="http://schemas.microsoft.com/office/drawing/2014/main" id="{F9E7E19B-3986-45FC-B0B8-7910C783A9EE}"/>
              </a:ext>
            </a:extLst>
          </p:cNvPr>
          <p:cNvSpPr>
            <a:spLocks xmlns:a="http://schemas.openxmlformats.org/drawingml/2006/main" noGrp="1"/>
          </p:cNvSpPr>
          <p:nvPr/>
        </p:nvSpPr>
        <p:spPr>
          <a:xfrm xmlns:a="http://schemas.openxmlformats.org/drawingml/2006/main">
            <a:off x="723900" y="38671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AA142279-1763-4095-BB35-E7C2790BE720}"/>
              </a:ext>
            </a:extLst>
          </p:cNvPr>
          <p:cNvSpPr>
            <a:spLocks xmlns:a="http://schemas.openxmlformats.org/drawingml/2006/main" noGrp="1"/>
          </p:cNvSpPr>
          <p:nvPr/>
        </p:nvSpPr>
        <p:spPr>
          <a:xfrm xmlns:a="http://schemas.openxmlformats.org/drawingml/2006/main">
            <a:off x="1352550" y="3867150"/>
            <a:ext cx="99250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01828"/>
                </a:solidFill>
                <a:latin typeface="DejaVu Sans"/>
                <a:ea typeface="DejaVu Sans"/>
                <a:cs typeface="DejaVu Sans"/>
              </a:defRPr>
            </a:pPr>
            <a:r>
              <a:rPr sz="2250" b="0">
                <a:solidFill>
                  <a:srgbClr val="101828"/>
                </a:solidFill>
                <a:latin typeface="DejaVu Sans"/>
                <a:ea typeface="DejaVu Sans"/>
                <a:cs typeface="DejaVu Sans"/>
              </a:rPr>
              <a:t>The worktop keeps needed ingredients close. The CPU can use cached data without waiting as long for RAM.</a:t>
            </a:r>
          </a:p>
        </p:txBody>
      </p:sp>
    </p:spTree>
    <p:extLst>
      <p:ext uri="{BB962C8B-B14F-4D97-AF65-F5344CB8AC3E}">
        <p14:creationId xmlns:p14="http://schemas.microsoft.com/office/powerpoint/2010/main" val="1019256133"/>
      </p:ext>
    </p:extLst>
  </p:cSld>
</p:sld>
</file>

<file path=ppt/slides/slide5.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08B0042C-2776-4B77-8450-5D698DB3BE8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53158093-4E51-4193-8466-193E324E1CFE}"/>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WORKSHEET KEY TERMS</a:t>
            </a:r>
          </a:p>
        </p:txBody>
      </p:sp>
      <p:sp>
        <p:nvSpPr>
          <p:cNvPr id="3" name="heading">
            <a:extLst xmlns:a="http://schemas.openxmlformats.org/drawingml/2006/main">
              <a:ext uri="{FF2B5EF4-FFF2-40B4-BE49-F238E27FC236}">
                <a16:creationId xmlns:a16="http://schemas.microsoft.com/office/drawing/2014/main" id="{18721011-60E3-4A46-ACE7-07BEAB793CD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quiz</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d450293e9f874d85"/>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CFC27DE5-76DC-4F16-881C-303A1916234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5 / 18</a:t>
            </a:r>
          </a:p>
        </p:txBody>
      </p:sp>
      <p:sp>
        <p:nvSpPr>
          <p:cNvPr id="6" name="term-number-0">
            <a:extLst xmlns:a="http://schemas.openxmlformats.org/drawingml/2006/main">
              <a:ext uri="{FF2B5EF4-FFF2-40B4-BE49-F238E27FC236}">
                <a16:creationId xmlns:a16="http://schemas.microsoft.com/office/drawing/2014/main" id="{B76E08EA-1329-4F7D-B904-1FFEF4D21EC1}"/>
              </a:ext>
            </a:extLst>
          </p:cNvPr>
          <p:cNvSpPr>
            <a:spLocks xmlns:a="http://schemas.openxmlformats.org/drawingml/2006/main" noGrp="1"/>
          </p:cNvSpPr>
          <p:nvPr/>
        </p:nvSpPr>
        <p:spPr>
          <a:xfrm xmlns:a="http://schemas.openxmlformats.org/drawingml/2006/main">
            <a:off x="723900" y="2276475"/>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2D63FF"/>
                </a:solidFill>
                <a:latin typeface="DejaVu Sans"/>
                <a:ea typeface="DejaVu Sans"/>
                <a:cs typeface="DejaVu Sans"/>
              </a:defRPr>
            </a:pPr>
            <a:r>
              <a:rPr sz="2700" b="1">
                <a:solidFill>
                  <a:srgbClr val="2D63FF"/>
                </a:solidFill>
                <a:latin typeface="DejaVu Sans"/>
                <a:ea typeface="DejaVu Sans"/>
                <a:cs typeface="DejaVu Sans"/>
              </a:rPr>
              <a:t>1.</a:t>
            </a:r>
          </a:p>
        </p:txBody>
      </p:sp>
      <p:sp>
        <p:nvSpPr>
          <p:cNvPr id="7" name="term-0">
            <a:extLst xmlns:a="http://schemas.openxmlformats.org/drawingml/2006/main">
              <a:ext uri="{FF2B5EF4-FFF2-40B4-BE49-F238E27FC236}">
                <a16:creationId xmlns:a16="http://schemas.microsoft.com/office/drawing/2014/main" id="{072ACAD3-9670-4434-9EBA-05DBFA231D62}"/>
              </a:ext>
            </a:extLst>
          </p:cNvPr>
          <p:cNvSpPr>
            <a:spLocks xmlns:a="http://schemas.openxmlformats.org/drawingml/2006/main" noGrp="1"/>
          </p:cNvSpPr>
          <p:nvPr/>
        </p:nvSpPr>
        <p:spPr>
          <a:xfrm xmlns:a="http://schemas.openxmlformats.org/drawingml/2006/main">
            <a:off x="1371600" y="2276475"/>
            <a:ext cx="9667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01828"/>
                </a:solidFill>
                <a:latin typeface="DejaVu Sans"/>
                <a:ea typeface="DejaVu Sans"/>
                <a:cs typeface="DejaVu Sans"/>
              </a:defRPr>
            </a:pPr>
            <a:r>
              <a:rPr sz="2775" b="1">
                <a:solidFill>
                  <a:srgbClr val="101828"/>
                </a:solidFill>
                <a:latin typeface="DejaVu Sans"/>
                <a:ea typeface="DejaVu Sans"/>
                <a:cs typeface="DejaVu Sans"/>
              </a:rPr>
              <a:t>CPU</a:t>
            </a:r>
          </a:p>
        </p:txBody>
      </p:sp>
      <p:sp>
        <p:nvSpPr>
          <p:cNvPr id="8" name="term-number-1">
            <a:extLst xmlns:a="http://schemas.openxmlformats.org/drawingml/2006/main">
              <a:ext uri="{FF2B5EF4-FFF2-40B4-BE49-F238E27FC236}">
                <a16:creationId xmlns:a16="http://schemas.microsoft.com/office/drawing/2014/main" id="{A8F18C87-2E1F-4B72-8996-4CD90B504D72}"/>
              </a:ext>
            </a:extLst>
          </p:cNvPr>
          <p:cNvSpPr>
            <a:spLocks xmlns:a="http://schemas.openxmlformats.org/drawingml/2006/main" noGrp="1"/>
          </p:cNvSpPr>
          <p:nvPr/>
        </p:nvSpPr>
        <p:spPr>
          <a:xfrm xmlns:a="http://schemas.openxmlformats.org/drawingml/2006/main">
            <a:off x="723900" y="4086225"/>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2D63FF"/>
                </a:solidFill>
                <a:latin typeface="DejaVu Sans"/>
                <a:ea typeface="DejaVu Sans"/>
                <a:cs typeface="DejaVu Sans"/>
              </a:defRPr>
            </a:pPr>
            <a:r>
              <a:rPr sz="2700" b="1">
                <a:solidFill>
                  <a:srgbClr val="2D63FF"/>
                </a:solidFill>
                <a:latin typeface="DejaVu Sans"/>
                <a:ea typeface="DejaVu Sans"/>
                <a:cs typeface="DejaVu Sans"/>
              </a:rPr>
              <a:t>2.</a:t>
            </a:r>
          </a:p>
        </p:txBody>
      </p:sp>
      <p:sp>
        <p:nvSpPr>
          <p:cNvPr id="9" name="term-1">
            <a:extLst xmlns:a="http://schemas.openxmlformats.org/drawingml/2006/main">
              <a:ext uri="{FF2B5EF4-FFF2-40B4-BE49-F238E27FC236}">
                <a16:creationId xmlns:a16="http://schemas.microsoft.com/office/drawing/2014/main" id="{1C1C0B9C-20D9-4654-9F28-D51D1DA95329}"/>
              </a:ext>
            </a:extLst>
          </p:cNvPr>
          <p:cNvSpPr>
            <a:spLocks xmlns:a="http://schemas.openxmlformats.org/drawingml/2006/main" noGrp="1"/>
          </p:cNvSpPr>
          <p:nvPr/>
        </p:nvSpPr>
        <p:spPr>
          <a:xfrm xmlns:a="http://schemas.openxmlformats.org/drawingml/2006/main">
            <a:off x="1371600" y="4086225"/>
            <a:ext cx="9667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01828"/>
                </a:solidFill>
                <a:latin typeface="DejaVu Sans"/>
                <a:ea typeface="DejaVu Sans"/>
                <a:cs typeface="DejaVu Sans"/>
              </a:defRPr>
            </a:pPr>
            <a:r>
              <a:rPr sz="2775" b="1">
                <a:solidFill>
                  <a:srgbClr val="101828"/>
                </a:solidFill>
                <a:latin typeface="DejaVu Sans"/>
                <a:ea typeface="DejaVu Sans"/>
                <a:cs typeface="DejaVu Sans"/>
              </a:rPr>
              <a:t>Fetch-decode-execute cycle</a:t>
            </a:r>
          </a:p>
        </p:txBody>
      </p:sp>
    </p:spTree>
    <p:extLst>
      <p:ext uri="{BB962C8B-B14F-4D97-AF65-F5344CB8AC3E}">
        <p14:creationId xmlns:p14="http://schemas.microsoft.com/office/powerpoint/2010/main" val="942032124"/>
      </p:ext>
    </p:extLst>
  </p:cSld>
</p:sld>
</file>

<file path=ppt/slides/slide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207CAA27-6A33-4D26-8EEC-DDD6F1951844}"/>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2C8C088F-E4C7-463F-A500-13D6952381E5}"/>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3" name="heading">
            <a:extLst xmlns:a="http://schemas.openxmlformats.org/drawingml/2006/main">
              <a:ext uri="{FF2B5EF4-FFF2-40B4-BE49-F238E27FC236}">
                <a16:creationId xmlns:a16="http://schemas.microsoft.com/office/drawing/2014/main" id="{1AF3A2E8-08E7-4B52-8CB0-E9EDFA86CC3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answers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9f58313b99f4175"/>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71FD2F40-F2E4-4894-A4B9-2F16BF1E3100}"/>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6 / 18</a:t>
            </a:r>
          </a:p>
        </p:txBody>
      </p:sp>
      <p:sp>
        <p:nvSpPr>
          <p:cNvPr id="6" name="answer-term-0">
            <a:extLst xmlns:a="http://schemas.openxmlformats.org/drawingml/2006/main">
              <a:ext uri="{FF2B5EF4-FFF2-40B4-BE49-F238E27FC236}">
                <a16:creationId xmlns:a16="http://schemas.microsoft.com/office/drawing/2014/main" id="{C05575DA-F440-47EE-AADE-AE15CCD16C2C}"/>
              </a:ext>
            </a:extLst>
          </p:cNvPr>
          <p:cNvSpPr>
            <a:spLocks xmlns:a="http://schemas.openxmlformats.org/drawingml/2006/main" noGrp="1"/>
          </p:cNvSpPr>
          <p:nvPr/>
        </p:nvSpPr>
        <p:spPr>
          <a:xfrm xmlns:a="http://schemas.openxmlformats.org/drawingml/2006/main">
            <a:off x="723900" y="2047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CPU</a:t>
            </a:r>
          </a:p>
        </p:txBody>
      </p:sp>
      <p:sp>
        <p:nvSpPr>
          <p:cNvPr id="7" name="answer-definition-0">
            <a:extLst xmlns:a="http://schemas.openxmlformats.org/drawingml/2006/main">
              <a:ext uri="{FF2B5EF4-FFF2-40B4-BE49-F238E27FC236}">
                <a16:creationId xmlns:a16="http://schemas.microsoft.com/office/drawing/2014/main" id="{C6F926E0-3B0C-455B-B77A-C8974AE3E04D}"/>
              </a:ext>
            </a:extLst>
          </p:cNvPr>
          <p:cNvSpPr>
            <a:spLocks xmlns:a="http://schemas.openxmlformats.org/drawingml/2006/main" noGrp="1"/>
          </p:cNvSpPr>
          <p:nvPr/>
        </p:nvSpPr>
        <p:spPr>
          <a:xfrm xmlns:a="http://schemas.openxmlformats.org/drawingml/2006/main">
            <a:off x="723900" y="262890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central processing unit processes data and instructions.</a:t>
            </a:r>
          </a:p>
        </p:txBody>
      </p:sp>
      <p:sp>
        <p:nvSpPr>
          <p:cNvPr id="8" name="answer-term-1">
            <a:extLst xmlns:a="http://schemas.openxmlformats.org/drawingml/2006/main">
              <a:ext uri="{FF2B5EF4-FFF2-40B4-BE49-F238E27FC236}">
                <a16:creationId xmlns:a16="http://schemas.microsoft.com/office/drawing/2014/main" id="{C9190DB0-181E-4A8A-9E5E-95B19960F40A}"/>
              </a:ext>
            </a:extLst>
          </p:cNvPr>
          <p:cNvSpPr>
            <a:spLocks xmlns:a="http://schemas.openxmlformats.org/drawingml/2006/main" noGrp="1"/>
          </p:cNvSpPr>
          <p:nvPr/>
        </p:nvSpPr>
        <p:spPr>
          <a:xfrm xmlns:a="http://schemas.openxmlformats.org/drawingml/2006/main">
            <a:off x="723900" y="393382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Fetch-decode-execute cycle</a:t>
            </a:r>
          </a:p>
        </p:txBody>
      </p:sp>
      <p:sp>
        <p:nvSpPr>
          <p:cNvPr id="9" name="answer-definition-1">
            <a:extLst xmlns:a="http://schemas.openxmlformats.org/drawingml/2006/main">
              <a:ext uri="{FF2B5EF4-FFF2-40B4-BE49-F238E27FC236}">
                <a16:creationId xmlns:a16="http://schemas.microsoft.com/office/drawing/2014/main" id="{B865E412-4386-4ED0-B8E9-05D05365D030}"/>
              </a:ext>
            </a:extLst>
          </p:cNvPr>
          <p:cNvSpPr>
            <a:spLocks xmlns:a="http://schemas.openxmlformats.org/drawingml/2006/main" noGrp="1"/>
          </p:cNvSpPr>
          <p:nvPr/>
        </p:nvSpPr>
        <p:spPr>
          <a:xfrm xmlns:a="http://schemas.openxmlformats.org/drawingml/2006/main">
            <a:off x="723900" y="451485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repeated process of getting an instruction, working out its meaning and carrying it out.</a:t>
            </a:r>
          </a:p>
        </p:txBody>
      </p:sp>
    </p:spTree>
    <p:extLst>
      <p:ext uri="{BB962C8B-B14F-4D97-AF65-F5344CB8AC3E}">
        <p14:creationId xmlns:p14="http://schemas.microsoft.com/office/powerpoint/2010/main" val="544340808"/>
      </p:ext>
    </p:extLst>
  </p:cSld>
</p:sld>
</file>

<file path=ppt/slides/slide7.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4" name="footer background">
            <a:extLst xmlns:a="http://schemas.openxmlformats.org/drawingml/2006/main">
              <a:ext uri="{FF2B5EF4-FFF2-40B4-BE49-F238E27FC236}">
                <a16:creationId xmlns:a16="http://schemas.microsoft.com/office/drawing/2014/main" id="{4BA66B78-BFDC-4298-A4DA-5CB5A7709FE5}"/>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EDA0D920-036D-4124-8F12-38EB1186A15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01   /   EXPERIENCE</a:t>
            </a:r>
          </a:p>
        </p:txBody>
      </p:sp>
      <p:sp>
        <p:nvSpPr>
          <p:cNvPr id="3" name="heading">
            <a:extLst xmlns:a="http://schemas.openxmlformats.org/drawingml/2006/main">
              <a:ext uri="{FF2B5EF4-FFF2-40B4-BE49-F238E27FC236}">
                <a16:creationId xmlns:a16="http://schemas.microsoft.com/office/drawing/2014/main" id="{F5191E8A-E142-4BC2-8435-1D8EA13B170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Worksheet + experience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9b9838228354d43"/>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A0A45757-2C05-40D6-9E75-84F5AEC8FE8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7 / 18</a:t>
            </a:r>
          </a:p>
        </p:txBody>
      </p:sp>
      <p:sp>
        <p:nvSpPr>
          <p:cNvPr id="6" name="open-label">
            <a:extLst xmlns:a="http://schemas.openxmlformats.org/drawingml/2006/main">
              <a:ext uri="{FF2B5EF4-FFF2-40B4-BE49-F238E27FC236}">
                <a16:creationId xmlns:a16="http://schemas.microsoft.com/office/drawing/2014/main" id="{3B14933E-F008-4A1E-B920-32134F7F650F}"/>
              </a:ext>
            </a:extLst>
          </p:cNvPr>
          <p:cNvSpPr>
            <a:spLocks xmlns:a="http://schemas.openxmlformats.org/drawingml/2006/main" noGrp="1"/>
          </p:cNvSpPr>
          <p:nvPr/>
        </p:nvSpPr>
        <p:spPr>
          <a:xfrm xmlns:a="http://schemas.openxmlformats.org/drawingml/2006/main">
            <a:off x="723900" y="15240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01   </a:t>
            </a:r>
            <a:r>
              <a:rPr sz="1425" b="1">
                <a:solidFill>
                  <a:srgbClr val="77D8FF"/>
                </a:solidFill>
                <a:latin typeface="DejaVu Sans"/>
                <a:ea typeface="DejaVu Sans"/>
                <a:cs typeface="DejaVu Sans"/>
                <a:hlinkClick xmlns:r="http://schemas.openxmlformats.org/officeDocument/2006/relationships" r:id="Rb786539b64f54eec"/>
              </a:rPr>
              <a:t>OPEN EXPERIENCE ↗</a:t>
            </a:r>
          </a:p>
        </p:txBody>
      </p:sp>
      <p:sp>
        <p:nvSpPr>
          <p:cNvPr id="7" name="open-body">
            <a:extLst xmlns:a="http://schemas.openxmlformats.org/drawingml/2006/main">
              <a:ext uri="{FF2B5EF4-FFF2-40B4-BE49-F238E27FC236}">
                <a16:creationId xmlns:a16="http://schemas.microsoft.com/office/drawing/2014/main" id="{7A71894B-6674-45BD-B430-F339D03A05C8}"/>
              </a:ext>
            </a:extLst>
          </p:cNvPr>
          <p:cNvSpPr>
            <a:spLocks xmlns:a="http://schemas.openxmlformats.org/drawingml/2006/main" noGrp="1"/>
          </p:cNvSpPr>
          <p:nvPr/>
        </p:nvSpPr>
        <p:spPr>
          <a:xfrm xmlns:a="http://schemas.openxmlformats.org/drawingml/2006/main">
            <a:off x="723900" y="1847850"/>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Open Fetch-execute factory in Topic 1.1. Keep the worksheet beside you.</a:t>
            </a:r>
          </a:p>
        </p:txBody>
      </p:sp>
      <p:sp>
        <p:nvSpPr>
          <p:cNvPr id="8" name="station-label">
            <a:extLst xmlns:a="http://schemas.openxmlformats.org/drawingml/2006/main">
              <a:ext uri="{FF2B5EF4-FFF2-40B4-BE49-F238E27FC236}">
                <a16:creationId xmlns:a16="http://schemas.microsoft.com/office/drawing/2014/main" id="{B90E3C20-8F8E-412D-B38A-D521747F0BF7}"/>
              </a:ext>
            </a:extLst>
          </p:cNvPr>
          <p:cNvSpPr>
            <a:spLocks xmlns:a="http://schemas.openxmlformats.org/drawingml/2006/main" noGrp="1"/>
          </p:cNvSpPr>
          <p:nvPr/>
        </p:nvSpPr>
        <p:spPr>
          <a:xfrm xmlns:a="http://schemas.openxmlformats.org/drawingml/2006/main">
            <a:off x="723900" y="25908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02   SIX STATIONS</a:t>
            </a:r>
          </a:p>
        </p:txBody>
      </p:sp>
      <p:sp>
        <p:nvSpPr>
          <p:cNvPr id="9" name="station-body">
            <a:extLst xmlns:a="http://schemas.openxmlformats.org/drawingml/2006/main">
              <a:ext uri="{FF2B5EF4-FFF2-40B4-BE49-F238E27FC236}">
                <a16:creationId xmlns:a16="http://schemas.microsoft.com/office/drawing/2014/main" id="{B45B51EE-5945-44D5-9C7B-668BC232AEF3}"/>
              </a:ext>
            </a:extLst>
          </p:cNvPr>
          <p:cNvSpPr>
            <a:spLocks xmlns:a="http://schemas.openxmlformats.org/drawingml/2006/main" noGrp="1"/>
          </p:cNvSpPr>
          <p:nvPr/>
        </p:nvSpPr>
        <p:spPr>
          <a:xfrm xmlns:a="http://schemas.openxmlformats.org/drawingml/2006/main">
            <a:off x="723900" y="2914650"/>
            <a:ext cx="1057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FFFFFF"/>
                </a:solidFill>
                <a:latin typeface="DejaVu Sans"/>
                <a:ea typeface="DejaVu Sans"/>
                <a:cs typeface="DejaVu Sans"/>
              </a:defRPr>
            </a:pPr>
            <a:r>
              <a:rPr sz="2175" b="1">
                <a:solidFill>
                  <a:srgbClr val="FFFFFF"/>
                </a:solidFill>
                <a:latin typeface="DejaVu Sans"/>
                <a:ea typeface="DejaVu Sans"/>
                <a:cs typeface="DejaVu Sans"/>
              </a:rPr>
              <a:t>Read each panel. Write the key fact IN YOUR OWN WORDS and answer the worksheet challenge before tapping its badge.</a:t>
            </a:r>
          </a:p>
        </p:txBody>
      </p:sp>
      <p:sp>
        <p:nvSpPr>
          <p:cNvPr id="10" name="finish-label">
            <a:extLst xmlns:a="http://schemas.openxmlformats.org/drawingml/2006/main">
              <a:ext uri="{FF2B5EF4-FFF2-40B4-BE49-F238E27FC236}">
                <a16:creationId xmlns:a16="http://schemas.microsoft.com/office/drawing/2014/main" id="{0B3F37C6-3223-43C3-B5C5-0734100D7938}"/>
              </a:ext>
            </a:extLst>
          </p:cNvPr>
          <p:cNvSpPr>
            <a:spLocks xmlns:a="http://schemas.openxmlformats.org/drawingml/2006/main" noGrp="1"/>
          </p:cNvSpPr>
          <p:nvPr/>
        </p:nvSpPr>
        <p:spPr>
          <a:xfrm xmlns:a="http://schemas.openxmlformats.org/drawingml/2006/main">
            <a:off x="723900" y="3714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03   FINAL CHALLENGE</a:t>
            </a:r>
          </a:p>
        </p:txBody>
      </p:sp>
      <p:sp>
        <p:nvSpPr>
          <p:cNvPr id="11" name="finish-body">
            <a:extLst xmlns:a="http://schemas.openxmlformats.org/drawingml/2006/main">
              <a:ext uri="{FF2B5EF4-FFF2-40B4-BE49-F238E27FC236}">
                <a16:creationId xmlns:a16="http://schemas.microsoft.com/office/drawing/2014/main" id="{23A69AAC-E055-45B3-BEBA-D02CB8128F7B}"/>
              </a:ext>
            </a:extLst>
          </p:cNvPr>
          <p:cNvSpPr>
            <a:spLocks xmlns:a="http://schemas.openxmlformats.org/drawingml/2006/main" noGrp="1"/>
          </p:cNvSpPr>
          <p:nvPr/>
        </p:nvSpPr>
        <p:spPr>
          <a:xfrm xmlns:a="http://schemas.openxmlformats.org/drawingml/2006/main">
            <a:off x="723900" y="4048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Complete the ★ table before tapping the star. Copy your score (out of 22), then answer the worksheet key question.</a:t>
            </a:r>
          </a:p>
        </p:txBody>
      </p:sp>
      <p:sp>
        <p:nvSpPr>
          <p:cNvPr id="12" name="plenary-label">
            <a:extLst xmlns:a="http://schemas.openxmlformats.org/drawingml/2006/main">
              <a:ext uri="{FF2B5EF4-FFF2-40B4-BE49-F238E27FC236}">
                <a16:creationId xmlns:a16="http://schemas.microsoft.com/office/drawing/2014/main" id="{97D05B46-012B-43E3-B865-D49BCF331FE8}"/>
              </a:ext>
            </a:extLst>
          </p:cNvPr>
          <p:cNvSpPr>
            <a:spLocks xmlns:a="http://schemas.openxmlformats.org/drawingml/2006/main" noGrp="1"/>
          </p:cNvSpPr>
          <p:nvPr/>
        </p:nvSpPr>
        <p:spPr>
          <a:xfrm xmlns:a="http://schemas.openxmlformats.org/drawingml/2006/main">
            <a:off x="723900" y="49149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04   PLENARY</a:t>
            </a:r>
          </a:p>
        </p:txBody>
      </p:sp>
      <p:sp>
        <p:nvSpPr>
          <p:cNvPr id="13" name="plenary-body">
            <a:extLst xmlns:a="http://schemas.openxmlformats.org/drawingml/2006/main">
              <a:ext uri="{FF2B5EF4-FFF2-40B4-BE49-F238E27FC236}">
                <a16:creationId xmlns:a16="http://schemas.microsoft.com/office/drawing/2014/main" id="{93D16BC3-41C8-47E2-B0D7-08EC3C3CDAAD}"/>
              </a:ext>
            </a:extLst>
          </p:cNvPr>
          <p:cNvSpPr>
            <a:spLocks xmlns:a="http://schemas.openxmlformats.org/drawingml/2006/main" noGrp="1"/>
          </p:cNvSpPr>
          <p:nvPr/>
        </p:nvSpPr>
        <p:spPr>
          <a:xfrm xmlns:a="http://schemas.openxmlformats.org/drawingml/2006/main">
            <a:off x="723900" y="52387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FFFFFF"/>
                </a:solidFill>
                <a:latin typeface="DejaVu Sans"/>
                <a:ea typeface="DejaVu Sans"/>
                <a:cs typeface="DejaVu Sans"/>
              </a:defRPr>
            </a:pPr>
            <a:r>
              <a:rPr sz="1800" b="0">
                <a:solidFill>
                  <a:srgbClr val="FFFFFF"/>
                </a:solidFill>
                <a:latin typeface="DejaVu Sans"/>
                <a:ea typeface="DejaVu Sans"/>
                <a:cs typeface="DejaVu Sans"/>
              </a:rPr>
              <a:t>Finish the experience in this lesson. Near the end, close it for the plenary knowledge checks.</a:t>
            </a:r>
          </a:p>
        </p:txBody>
      </p:sp>
    </p:spTree>
    <p:extLst>
      <p:ext uri="{BB962C8B-B14F-4D97-AF65-F5344CB8AC3E}">
        <p14:creationId xmlns:p14="http://schemas.microsoft.com/office/powerpoint/2010/main" val="872350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ooter background">
            <a:extLst xmlns:a="http://schemas.openxmlformats.org/drawingml/2006/main">
              <a:ext uri="{FF2B5EF4-FFF2-40B4-BE49-F238E27FC236}">
                <a16:creationId xmlns:a16="http://schemas.microsoft.com/office/drawing/2014/main" id="{58C536E9-5669-4451-9AAB-579BAC1AD3C5}"/>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819AAF36-B8DE-4251-8DE6-E6BCCD541D1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EXTENSION</a:t>
            </a:r>
          </a:p>
        </p:txBody>
      </p:sp>
      <p:sp>
        <p:nvSpPr>
          <p:cNvPr id="3" name="heading">
            <a:extLst xmlns:a="http://schemas.openxmlformats.org/drawingml/2006/main">
              <a:ext uri="{FF2B5EF4-FFF2-40B4-BE49-F238E27FC236}">
                <a16:creationId xmlns:a16="http://schemas.microsoft.com/office/drawing/2014/main" id="{2722D1D8-2EB7-4550-BC01-C8F4AA1B446C}"/>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Apply your learning</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f4914668ed3490f"/>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48D3831D-CA2C-4D2B-8512-1C6B95BF2EC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8 / 18</a:t>
            </a:r>
          </a:p>
        </p:txBody>
      </p:sp>
      <p:sp>
        <p:nvSpPr>
          <p:cNvPr id="6" name="extension-prompt">
            <a:extLst xmlns:a="http://schemas.openxmlformats.org/drawingml/2006/main">
              <a:ext uri="{FF2B5EF4-FFF2-40B4-BE49-F238E27FC236}">
                <a16:creationId xmlns:a16="http://schemas.microsoft.com/office/drawing/2014/main" id="{3D632867-A970-4622-9F75-EC7929A63A0C}"/>
              </a:ext>
            </a:extLst>
          </p:cNvPr>
          <p:cNvSpPr>
            <a:spLocks xmlns:a="http://schemas.openxmlformats.org/drawingml/2006/main" noGrp="1"/>
          </p:cNvSpPr>
          <p:nvPr/>
        </p:nvSpPr>
        <p:spPr>
          <a:xfrm xmlns:a="http://schemas.openxmlformats.org/drawingml/2006/main">
            <a:off x="714375" y="2419350"/>
            <a:ext cx="105727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The PC contains address 120. Trace the next fetch through the MAR and MDR. What address will the PC hold after it increments?</a:t>
            </a:r>
          </a:p>
        </p:txBody>
      </p:sp>
      <p:sp>
        <p:nvSpPr>
          <p:cNvPr id="7" name="extension-follow">
            <a:extLst xmlns:a="http://schemas.openxmlformats.org/drawingml/2006/main">
              <a:ext uri="{FF2B5EF4-FFF2-40B4-BE49-F238E27FC236}">
                <a16:creationId xmlns:a16="http://schemas.microsoft.com/office/drawing/2014/main" id="{0C21F904-CB27-4E5D-A9F7-D13B95D2EFE6}"/>
              </a:ext>
            </a:extLst>
          </p:cNvPr>
          <p:cNvSpPr>
            <a:spLocks xmlns:a="http://schemas.openxmlformats.org/drawingml/2006/main" noGrp="1"/>
          </p:cNvSpPr>
          <p:nvPr/>
        </p:nvSpPr>
        <p:spPr>
          <a:xfrm xmlns:a="http://schemas.openxmlformats.org/drawingml/2006/main">
            <a:off x="714375" y="46482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2D63FF"/>
                </a:solidFill>
                <a:latin typeface="DejaVu Sans"/>
                <a:ea typeface="DejaVu Sans"/>
                <a:cs typeface="DejaVu Sans"/>
              </a:defRPr>
            </a:pPr>
            <a:r>
              <a:rPr sz="1950" b="0">
                <a:solidFill>
                  <a:srgbClr val="2D63FF"/>
                </a:solidFill>
                <a:latin typeface="DejaVu Sans"/>
                <a:ea typeface="DejaVu Sans"/>
                <a:cs typeface="DejaVu Sans"/>
              </a:rPr>
              <a:t>Add what the control unit does next. Give one possible action during execute.</a:t>
            </a:r>
          </a:p>
        </p:txBody>
      </p:sp>
    </p:spTree>
    <p:extLst>
      <p:ext uri="{BB962C8B-B14F-4D97-AF65-F5344CB8AC3E}">
        <p14:creationId xmlns:p14="http://schemas.microsoft.com/office/powerpoint/2010/main" val="7409979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footer background">
            <a:extLst xmlns:a="http://schemas.openxmlformats.org/drawingml/2006/main">
              <a:ext uri="{FF2B5EF4-FFF2-40B4-BE49-F238E27FC236}">
                <a16:creationId xmlns:a16="http://schemas.microsoft.com/office/drawing/2014/main" id="{9B263055-5EA4-4302-98FD-2C08B0E0EA02}"/>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2A5B0DE7-189B-4E0D-AC5D-CF4265922C54}"/>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EXTENSION</a:t>
            </a:r>
          </a:p>
        </p:txBody>
      </p:sp>
      <p:sp>
        <p:nvSpPr>
          <p:cNvPr id="3" name="heading">
            <a:extLst xmlns:a="http://schemas.openxmlformats.org/drawingml/2006/main">
              <a:ext uri="{FF2B5EF4-FFF2-40B4-BE49-F238E27FC236}">
                <a16:creationId xmlns:a16="http://schemas.microsoft.com/office/drawing/2014/main" id="{641086F9-DF63-4768-BF4E-D1F572BCC26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Check and improve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708d9bbf7a04447"/>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A14C2577-C6E7-49B9-B106-D65BE85AE0C1}"/>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9 / 18</a:t>
            </a:r>
          </a:p>
        </p:txBody>
      </p:sp>
      <p:sp>
        <p:nvSpPr>
          <p:cNvPr id="6" name="extension-two">
            <a:extLst xmlns:a="http://schemas.openxmlformats.org/drawingml/2006/main">
              <a:ext uri="{FF2B5EF4-FFF2-40B4-BE49-F238E27FC236}">
                <a16:creationId xmlns:a16="http://schemas.microsoft.com/office/drawing/2014/main" id="{29844E22-D648-40A0-BC22-276A81AE0068}"/>
              </a:ext>
            </a:extLst>
          </p:cNvPr>
          <p:cNvSpPr>
            <a:spLocks xmlns:a="http://schemas.openxmlformats.org/drawingml/2006/main" noGrp="1"/>
          </p:cNvSpPr>
          <p:nvPr/>
        </p:nvSpPr>
        <p:spPr>
          <a:xfrm xmlns:a="http://schemas.openxmlformats.org/drawingml/2006/main">
            <a:off x="704850" y="2676525"/>
            <a:ext cx="106203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From memory, put the six steps in the final challenge in order. Then correct one station answer you missed and explain the correct term.</a:t>
            </a:r>
          </a:p>
        </p:txBody>
      </p:sp>
    </p:spTree>
    <p:extLst>
      <p:ext uri="{BB962C8B-B14F-4D97-AF65-F5344CB8AC3E}">
        <p14:creationId xmlns:p14="http://schemas.microsoft.com/office/powerpoint/2010/main" val="1610668184"/>
      </p:ext>
    </p:extLst>
  </p:cSld>
</p:sld>
</file>

<file path=ppt/slides/slide10.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078803E9-413E-4B42-B661-1890FAB9A3C6}"/>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FF0305E1-8E4B-4FE7-9B7B-B01E262E5BE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3" name="heading">
            <a:extLst xmlns:a="http://schemas.openxmlformats.org/drawingml/2006/main">
              <a:ext uri="{FF2B5EF4-FFF2-40B4-BE49-F238E27FC236}">
                <a16:creationId xmlns:a16="http://schemas.microsoft.com/office/drawing/2014/main" id="{571FFA7C-71E3-407E-A084-8AAA873463D6}"/>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Application: sample answers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77237656add641b6"/>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C5BD4D03-162B-45A5-AA28-72FD38F49F8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10 / 18</a:t>
            </a:r>
          </a:p>
        </p:txBody>
      </p:sp>
      <p:sp>
        <p:nvSpPr>
          <p:cNvPr id="6" name="extension-check">
            <a:extLst xmlns:a="http://schemas.openxmlformats.org/drawingml/2006/main">
              <a:ext uri="{FF2B5EF4-FFF2-40B4-BE49-F238E27FC236}">
                <a16:creationId xmlns:a16="http://schemas.microsoft.com/office/drawing/2014/main" id="{06547FB7-89E1-430C-BA4E-A0059FB7D2F2}"/>
              </a:ext>
            </a:extLst>
          </p:cNvPr>
          <p:cNvSpPr>
            <a:spLocks xmlns:a="http://schemas.openxmlformats.org/drawingml/2006/main" noGrp="1"/>
          </p:cNvSpPr>
          <p:nvPr/>
        </p:nvSpPr>
        <p:spPr>
          <a:xfrm xmlns:a="http://schemas.openxmlformats.org/drawingml/2006/main">
            <a:off x="704850" y="15335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reasoning, then improve one sentence on your worksheet.</a:t>
            </a:r>
          </a:p>
        </p:txBody>
      </p:sp>
      <p:sp>
        <p:nvSpPr>
          <p:cNvPr id="7" name="answer-application">
            <a:extLst xmlns:a="http://schemas.openxmlformats.org/drawingml/2006/main">
              <a:ext uri="{FF2B5EF4-FFF2-40B4-BE49-F238E27FC236}">
                <a16:creationId xmlns:a16="http://schemas.microsoft.com/office/drawing/2014/main" id="{7F1A9A78-A783-4735-9B4E-2787A5EE5E46}"/>
              </a:ext>
            </a:extLst>
          </p:cNvPr>
          <p:cNvSpPr>
            <a:spLocks xmlns:a="http://schemas.openxmlformats.org/drawingml/2006/main" noGrp="1"/>
          </p:cNvSpPr>
          <p:nvPr/>
        </p:nvSpPr>
        <p:spPr>
          <a:xfrm xmlns:a="http://schemas.openxmlformats.org/drawingml/2006/main">
            <a:off x="723900" y="23050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Application</a:t>
            </a:r>
          </a:p>
        </p:txBody>
      </p:sp>
      <p:sp>
        <p:nvSpPr>
          <p:cNvPr id="8" name="answer-application-body">
            <a:extLst xmlns:a="http://schemas.openxmlformats.org/drawingml/2006/main">
              <a:ext uri="{FF2B5EF4-FFF2-40B4-BE49-F238E27FC236}">
                <a16:creationId xmlns:a16="http://schemas.microsoft.com/office/drawing/2014/main" id="{28087EFB-17A1-4A2B-B86E-2733BD05E32E}"/>
              </a:ext>
            </a:extLst>
          </p:cNvPr>
          <p:cNvSpPr>
            <a:spLocks xmlns:a="http://schemas.openxmlformats.org/drawingml/2006/main" noGrp="1"/>
          </p:cNvSpPr>
          <p:nvPr/>
        </p:nvSpPr>
        <p:spPr>
          <a:xfrm xmlns:a="http://schemas.openxmlformats.org/drawingml/2006/main">
            <a:off x="723900" y="2771775"/>
            <a:ext cx="104775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PC 120 goes to MAR; the instruction comes from RAM into MDR; the PC increments to 121. The CU decodes it and the ALU could carry out a calculation.</a:t>
            </a:r>
          </a:p>
        </p:txBody>
      </p:sp>
      <p:sp>
        <p:nvSpPr>
          <p:cNvPr id="9" name="answer-stretch">
            <a:extLst xmlns:a="http://schemas.openxmlformats.org/drawingml/2006/main">
              <a:ext uri="{FF2B5EF4-FFF2-40B4-BE49-F238E27FC236}">
                <a16:creationId xmlns:a16="http://schemas.microsoft.com/office/drawing/2014/main" id="{5A018C42-6685-447F-818E-7126648E85A1}"/>
              </a:ext>
            </a:extLst>
          </p:cNvPr>
          <p:cNvSpPr>
            <a:spLocks xmlns:a="http://schemas.openxmlformats.org/drawingml/2006/main" noGrp="1"/>
          </p:cNvSpPr>
          <p:nvPr/>
        </p:nvSpPr>
        <p:spPr>
          <a:xfrm xmlns:a="http://schemas.openxmlformats.org/drawingml/2006/main">
            <a:off x="723900" y="43529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Check and stretch</a:t>
            </a:r>
          </a:p>
        </p:txBody>
      </p:sp>
      <p:sp>
        <p:nvSpPr>
          <p:cNvPr id="10" name="answer-stretch-body">
            <a:extLst xmlns:a="http://schemas.openxmlformats.org/drawingml/2006/main">
              <a:ext uri="{FF2B5EF4-FFF2-40B4-BE49-F238E27FC236}">
                <a16:creationId xmlns:a16="http://schemas.microsoft.com/office/drawing/2014/main" id="{0C0236B0-96D2-4CB9-BE2E-068D8FFE21AF}"/>
              </a:ext>
            </a:extLst>
          </p:cNvPr>
          <p:cNvSpPr>
            <a:spLocks xmlns:a="http://schemas.openxmlformats.org/drawingml/2006/main" noGrp="1"/>
          </p:cNvSpPr>
          <p:nvPr/>
        </p:nvSpPr>
        <p:spPr>
          <a:xfrm xmlns:a="http://schemas.openxmlformats.org/drawingml/2006/main">
            <a:off x="723900" y="4810125"/>
            <a:ext cx="1047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The six steps appear on the final challenge answer slide. For a missed station, use the on-screen feedback to explain the correct term.</a:t>
            </a:r>
          </a:p>
        </p:txBody>
      </p:sp>
    </p:spTree>
    <p:extLst>
      <p:ext uri="{BB962C8B-B14F-4D97-AF65-F5344CB8AC3E}">
        <p14:creationId xmlns:p14="http://schemas.microsoft.com/office/powerpoint/2010/main" val="1077196823"/>
      </p:ext>
    </p:extLst>
  </p:cSld>
</p:sld>
</file>

<file path=ppt/slides/slide11.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7EF7E645-4366-476F-A5B1-90C7C70ADD28}"/>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159341AF-F465-4757-AC09-3A0C4AF7B54A}"/>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ANSWERS</a:t>
            </a:r>
          </a:p>
        </p:txBody>
      </p:sp>
      <p:sp>
        <p:nvSpPr>
          <p:cNvPr id="3" name="heading">
            <a:extLst xmlns:a="http://schemas.openxmlformats.org/drawingml/2006/main">
              <a:ext uri="{FF2B5EF4-FFF2-40B4-BE49-F238E27FC236}">
                <a16:creationId xmlns:a16="http://schemas.microsoft.com/office/drawing/2014/main" id="{5EBF8C94-893F-4F9B-8993-606E888EB0EC}"/>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1–3</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06c9efa5555b4e37"/>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9E93BEC9-DC57-4892-87B7-6699B7FBD7F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11 / 18</a:t>
            </a:r>
          </a:p>
        </p:txBody>
      </p:sp>
      <p:sp>
        <p:nvSpPr>
          <p:cNvPr id="6" name="check-stations">
            <a:extLst xmlns:a="http://schemas.openxmlformats.org/drawingml/2006/main">
              <a:ext uri="{FF2B5EF4-FFF2-40B4-BE49-F238E27FC236}">
                <a16:creationId xmlns:a16="http://schemas.microsoft.com/office/drawing/2014/main" id="{51C9C7E2-F4F1-420D-88E1-62F2A7BC64EE}"/>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key facts and challenge responses.</a:t>
            </a:r>
          </a:p>
        </p:txBody>
      </p:sp>
      <p:sp>
        <p:nvSpPr>
          <p:cNvPr id="7" name="station-name-0">
            <a:extLst xmlns:a="http://schemas.openxmlformats.org/drawingml/2006/main">
              <a:ext uri="{FF2B5EF4-FFF2-40B4-BE49-F238E27FC236}">
                <a16:creationId xmlns:a16="http://schemas.microsoft.com/office/drawing/2014/main" id="{D616DF12-F12D-4F89-BE2A-F5A3C233BF19}"/>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  Purpose of the CPU</a:t>
            </a:r>
          </a:p>
        </p:txBody>
      </p:sp>
      <p:sp>
        <p:nvSpPr>
          <p:cNvPr id="8" name="station-answer-0">
            <a:extLst xmlns:a="http://schemas.openxmlformats.org/drawingml/2006/main">
              <a:ext uri="{FF2B5EF4-FFF2-40B4-BE49-F238E27FC236}">
                <a16:creationId xmlns:a16="http://schemas.microsoft.com/office/drawing/2014/main" id="{F6BEAF51-6593-4158-B949-6DCAF3DF8AF3}"/>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The CPU processes data and instructions by fetching, decoding and executing them.</a:t>
            </a:r>
          </a:p>
        </p:txBody>
      </p:sp>
      <p:sp>
        <p:nvSpPr>
          <p:cNvPr id="9" name="station-name-1">
            <a:extLst xmlns:a="http://schemas.openxmlformats.org/drawingml/2006/main">
              <a:ext uri="{FF2B5EF4-FFF2-40B4-BE49-F238E27FC236}">
                <a16:creationId xmlns:a16="http://schemas.microsoft.com/office/drawing/2014/main" id="{1C2437BA-61EC-4CC1-A291-672A28BCBD0B}"/>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  Stage 1: Fetch</a:t>
            </a:r>
          </a:p>
        </p:txBody>
      </p:sp>
      <p:sp>
        <p:nvSpPr>
          <p:cNvPr id="10" name="station-answer-1">
            <a:extLst xmlns:a="http://schemas.openxmlformats.org/drawingml/2006/main">
              <a:ext uri="{FF2B5EF4-FFF2-40B4-BE49-F238E27FC236}">
                <a16:creationId xmlns:a16="http://schemas.microsoft.com/office/drawing/2014/main" id="{2AD176F9-D05F-473B-8386-F181E623F611}"/>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The PC holds the next instruction address. That address goes into the MAR, then the PC increments.</a:t>
            </a:r>
          </a:p>
        </p:txBody>
      </p:sp>
      <p:sp>
        <p:nvSpPr>
          <p:cNvPr id="11" name="station-name-2">
            <a:extLst xmlns:a="http://schemas.openxmlformats.org/drawingml/2006/main">
              <a:ext uri="{FF2B5EF4-FFF2-40B4-BE49-F238E27FC236}">
                <a16:creationId xmlns:a16="http://schemas.microsoft.com/office/drawing/2014/main" id="{D795BB1C-F6B4-4C53-AB97-8133E2500684}"/>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  Stage 2: Decode</a:t>
            </a:r>
          </a:p>
        </p:txBody>
      </p:sp>
      <p:sp>
        <p:nvSpPr>
          <p:cNvPr id="12" name="station-answer-2">
            <a:extLst xmlns:a="http://schemas.openxmlformats.org/drawingml/2006/main">
              <a:ext uri="{FF2B5EF4-FFF2-40B4-BE49-F238E27FC236}">
                <a16:creationId xmlns:a16="http://schemas.microsoft.com/office/drawing/2014/main" id="{36B68946-29BE-4832-BBD8-102C229E46B8}"/>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The control unit decodes the instruction: it works out what it means and what must happen.</a:t>
            </a:r>
          </a:p>
        </p:txBody>
      </p:sp>
    </p:spTree>
    <p:extLst>
      <p:ext uri="{BB962C8B-B14F-4D97-AF65-F5344CB8AC3E}">
        <p14:creationId xmlns:p14="http://schemas.microsoft.com/office/powerpoint/2010/main" val="853594405"/>
      </p:ext>
    </p:extLst>
  </p:cSld>
</p:sld>
</file>

<file path=ppt/slides/slide12.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E51900B3-0610-4E01-90E0-77DC6FF3162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B0525AC8-4A6A-4190-909D-B5EB30CD836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ANSWERS</a:t>
            </a:r>
          </a:p>
        </p:txBody>
      </p:sp>
      <p:sp>
        <p:nvSpPr>
          <p:cNvPr id="3" name="heading">
            <a:extLst xmlns:a="http://schemas.openxmlformats.org/drawingml/2006/main">
              <a:ext uri="{FF2B5EF4-FFF2-40B4-BE49-F238E27FC236}">
                <a16:creationId xmlns:a16="http://schemas.microsoft.com/office/drawing/2014/main" id="{7AFF9494-BEC4-4AEA-BD48-105C969A58D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4–6</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9bed6b1837843e8"/>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8FF5AE6-5314-4952-A1CD-C9E9FC07E58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12 / 18</a:t>
            </a:r>
          </a:p>
        </p:txBody>
      </p:sp>
      <p:sp>
        <p:nvSpPr>
          <p:cNvPr id="6" name="check-stations">
            <a:extLst xmlns:a="http://schemas.openxmlformats.org/drawingml/2006/main">
              <a:ext uri="{FF2B5EF4-FFF2-40B4-BE49-F238E27FC236}">
                <a16:creationId xmlns:a16="http://schemas.microsoft.com/office/drawing/2014/main" id="{478BE9EE-4B04-4078-A860-876FCD869E9E}"/>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key facts and challenge responses.</a:t>
            </a:r>
          </a:p>
        </p:txBody>
      </p:sp>
      <p:sp>
        <p:nvSpPr>
          <p:cNvPr id="7" name="station-name-3">
            <a:extLst xmlns:a="http://schemas.openxmlformats.org/drawingml/2006/main">
              <a:ext uri="{FF2B5EF4-FFF2-40B4-BE49-F238E27FC236}">
                <a16:creationId xmlns:a16="http://schemas.microsoft.com/office/drawing/2014/main" id="{0F0EBA09-E83B-415E-AD99-3550F935C4E4}"/>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4  Stage 3: Execute</a:t>
            </a:r>
          </a:p>
        </p:txBody>
      </p:sp>
      <p:sp>
        <p:nvSpPr>
          <p:cNvPr id="8" name="station-answer-3">
            <a:extLst xmlns:a="http://schemas.openxmlformats.org/drawingml/2006/main">
              <a:ext uri="{FF2B5EF4-FFF2-40B4-BE49-F238E27FC236}">
                <a16:creationId xmlns:a16="http://schemas.microsoft.com/office/drawing/2014/main" id="{8D150509-4F43-452B-BA18-B44519063679}"/>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The CPU may load data, use the ALU for a calculation, jump, or store a result in RAM.</a:t>
            </a:r>
          </a:p>
        </p:txBody>
      </p:sp>
      <p:sp>
        <p:nvSpPr>
          <p:cNvPr id="9" name="station-name-4">
            <a:extLst xmlns:a="http://schemas.openxmlformats.org/drawingml/2006/main">
              <a:ext uri="{FF2B5EF4-FFF2-40B4-BE49-F238E27FC236}">
                <a16:creationId xmlns:a16="http://schemas.microsoft.com/office/drawing/2014/main" id="{F40CAFDA-7B28-4DDD-97A6-7FEB15E5ACB5}"/>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5  The registers</a:t>
            </a:r>
          </a:p>
        </p:txBody>
      </p:sp>
      <p:sp>
        <p:nvSpPr>
          <p:cNvPr id="10" name="station-answer-4">
            <a:extLst xmlns:a="http://schemas.openxmlformats.org/drawingml/2006/main">
              <a:ext uri="{FF2B5EF4-FFF2-40B4-BE49-F238E27FC236}">
                <a16:creationId xmlns:a16="http://schemas.microsoft.com/office/drawing/2014/main" id="{DF6939EB-FAE7-4750-B799-6DB46BA86AA3}"/>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PC: next address. MAR: memory address. MDR: data moving to or from memory. ACC: calculation result.</a:t>
            </a:r>
          </a:p>
        </p:txBody>
      </p:sp>
      <p:sp>
        <p:nvSpPr>
          <p:cNvPr id="11" name="station-name-5">
            <a:extLst xmlns:a="http://schemas.openxmlformats.org/drawingml/2006/main">
              <a:ext uri="{FF2B5EF4-FFF2-40B4-BE49-F238E27FC236}">
                <a16:creationId xmlns:a16="http://schemas.microsoft.com/office/drawing/2014/main" id="{1F7890C8-2979-416E-AA29-BEE1AB3B05F4}"/>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6  Other CPU components</a:t>
            </a:r>
          </a:p>
        </p:txBody>
      </p:sp>
      <p:sp>
        <p:nvSpPr>
          <p:cNvPr id="12" name="station-answer-5">
            <a:extLst xmlns:a="http://schemas.openxmlformats.org/drawingml/2006/main">
              <a:ext uri="{FF2B5EF4-FFF2-40B4-BE49-F238E27FC236}">
                <a16:creationId xmlns:a16="http://schemas.microsoft.com/office/drawing/2014/main" id="{07216969-988D-4AF8-B64A-611D4169CA0C}"/>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ALU calculates and makes logical decisions; CU decodes and controls; cache keeps frequently used data near the CPU.</a:t>
            </a:r>
          </a:p>
        </p:txBody>
      </p:sp>
    </p:spTree>
    <p:extLst>
      <p:ext uri="{BB962C8B-B14F-4D97-AF65-F5344CB8AC3E}">
        <p14:creationId xmlns:p14="http://schemas.microsoft.com/office/powerpoint/2010/main" val="806977669"/>
      </p:ext>
    </p:extLst>
  </p:cSld>
</p:sld>
</file>

<file path=ppt/slides/slide13.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9" name="footer background">
            <a:extLst xmlns:a="http://schemas.openxmlformats.org/drawingml/2006/main">
              <a:ext uri="{FF2B5EF4-FFF2-40B4-BE49-F238E27FC236}">
                <a16:creationId xmlns:a16="http://schemas.microsoft.com/office/drawing/2014/main" id="{4782CCF1-F8AC-4963-BE7C-39F589ECB868}"/>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DA98E84-19B5-4128-9F22-3EF63F2AE1FC}"/>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3" name="heading">
            <a:extLst xmlns:a="http://schemas.openxmlformats.org/drawingml/2006/main">
              <a:ext uri="{FF2B5EF4-FFF2-40B4-BE49-F238E27FC236}">
                <a16:creationId xmlns:a16="http://schemas.microsoft.com/office/drawing/2014/main" id="{3D092674-2E5F-4365-B13E-1BCD7239359D}"/>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answers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2322a8bbfb242ec"/>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C371B726-81B4-4823-AF8C-B2AEE4C1C20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13 / 18</a:t>
            </a:r>
          </a:p>
        </p:txBody>
      </p:sp>
      <p:sp>
        <p:nvSpPr>
          <p:cNvPr id="6" name="star-key">
            <a:extLst xmlns:a="http://schemas.openxmlformats.org/drawingml/2006/main">
              <a:ext uri="{FF2B5EF4-FFF2-40B4-BE49-F238E27FC236}">
                <a16:creationId xmlns:a16="http://schemas.microsoft.com/office/drawing/2014/main" id="{4E2C5E58-B348-4B06-A627-247270C07C8A}"/>
              </a:ext>
            </a:extLst>
          </p:cNvPr>
          <p:cNvSpPr>
            <a:spLocks xmlns:a="http://schemas.openxmlformats.org/drawingml/2006/main" noGrp="1"/>
          </p:cNvSpPr>
          <p:nvPr/>
        </p:nvSpPr>
        <p:spPr>
          <a:xfrm xmlns:a="http://schemas.openxmlformats.org/drawingml/2006/main">
            <a:off x="704850" y="152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star challenge table with the answers below.</a:t>
            </a:r>
          </a:p>
        </p:txBody>
      </p:sp>
      <p:sp>
        <p:nvSpPr>
          <p:cNvPr id="7" name="number-1">
            <a:extLst xmlns:a="http://schemas.openxmlformats.org/drawingml/2006/main">
              <a:ext uri="{FF2B5EF4-FFF2-40B4-BE49-F238E27FC236}">
                <a16:creationId xmlns:a16="http://schemas.microsoft.com/office/drawing/2014/main" id="{D13603A8-78DC-40B6-A8F6-04D146FD5290}"/>
              </a:ext>
            </a:extLst>
          </p:cNvPr>
          <p:cNvSpPr>
            <a:spLocks xmlns:a="http://schemas.openxmlformats.org/drawingml/2006/main" noGrp="1"/>
          </p:cNvSpPr>
          <p:nvPr/>
        </p:nvSpPr>
        <p:spPr>
          <a:xfrm xmlns:a="http://schemas.openxmlformats.org/drawingml/2006/main">
            <a:off x="723900" y="2105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DA3F8A68-07AA-4136-A4C5-7B3C68E60649}"/>
              </a:ext>
            </a:extLst>
          </p:cNvPr>
          <p:cNvSpPr>
            <a:spLocks xmlns:a="http://schemas.openxmlformats.org/drawingml/2006/main" noGrp="1"/>
          </p:cNvSpPr>
          <p:nvPr/>
        </p:nvSpPr>
        <p:spPr>
          <a:xfrm xmlns:a="http://schemas.openxmlformats.org/drawingml/2006/main">
            <a:off x="1352550" y="2105025"/>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PC holds the address of the next instruction</a:t>
            </a:r>
          </a:p>
        </p:txBody>
      </p:sp>
      <p:sp>
        <p:nvSpPr>
          <p:cNvPr id="9" name="number-2">
            <a:extLst xmlns:a="http://schemas.openxmlformats.org/drawingml/2006/main">
              <a:ext uri="{FF2B5EF4-FFF2-40B4-BE49-F238E27FC236}">
                <a16:creationId xmlns:a16="http://schemas.microsoft.com/office/drawing/2014/main" id="{D63D0CFC-FB29-4A55-9634-1938AE0CED54}"/>
              </a:ext>
            </a:extLst>
          </p:cNvPr>
          <p:cNvSpPr>
            <a:spLocks xmlns:a="http://schemas.openxmlformats.org/drawingml/2006/main" noGrp="1"/>
          </p:cNvSpPr>
          <p:nvPr/>
        </p:nvSpPr>
        <p:spPr>
          <a:xfrm xmlns:a="http://schemas.openxmlformats.org/drawingml/2006/main">
            <a:off x="723900" y="27432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1AF0E8F5-58C1-4699-8D32-68538ACE647E}"/>
              </a:ext>
            </a:extLst>
          </p:cNvPr>
          <p:cNvSpPr>
            <a:spLocks xmlns:a="http://schemas.openxmlformats.org/drawingml/2006/main" noGrp="1"/>
          </p:cNvSpPr>
          <p:nvPr/>
        </p:nvSpPr>
        <p:spPr>
          <a:xfrm xmlns:a="http://schemas.openxmlformats.org/drawingml/2006/main">
            <a:off x="1352550" y="2743200"/>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Address copied into MAR</a:t>
            </a:r>
          </a:p>
        </p:txBody>
      </p:sp>
      <p:sp>
        <p:nvSpPr>
          <p:cNvPr id="11" name="number-3">
            <a:extLst xmlns:a="http://schemas.openxmlformats.org/drawingml/2006/main">
              <a:ext uri="{FF2B5EF4-FFF2-40B4-BE49-F238E27FC236}">
                <a16:creationId xmlns:a16="http://schemas.microsoft.com/office/drawing/2014/main" id="{64A6377B-270D-4D04-B61F-A116A4C0FB93}"/>
              </a:ext>
            </a:extLst>
          </p:cNvPr>
          <p:cNvSpPr>
            <a:spLocks xmlns:a="http://schemas.openxmlformats.org/drawingml/2006/main" noGrp="1"/>
          </p:cNvSpPr>
          <p:nvPr/>
        </p:nvSpPr>
        <p:spPr>
          <a:xfrm xmlns:a="http://schemas.openxmlformats.org/drawingml/2006/main">
            <a:off x="723900" y="3381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B2168BAC-D34D-4D09-BD22-C30743266ECA}"/>
              </a:ext>
            </a:extLst>
          </p:cNvPr>
          <p:cNvSpPr>
            <a:spLocks xmlns:a="http://schemas.openxmlformats.org/drawingml/2006/main" noGrp="1"/>
          </p:cNvSpPr>
          <p:nvPr/>
        </p:nvSpPr>
        <p:spPr>
          <a:xfrm xmlns:a="http://schemas.openxmlformats.org/drawingml/2006/main">
            <a:off x="1352550" y="3381375"/>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Instruction fetched from RAM into MDR</a:t>
            </a:r>
          </a:p>
        </p:txBody>
      </p:sp>
      <p:sp>
        <p:nvSpPr>
          <p:cNvPr id="13" name="number-4">
            <a:extLst xmlns:a="http://schemas.openxmlformats.org/drawingml/2006/main">
              <a:ext uri="{FF2B5EF4-FFF2-40B4-BE49-F238E27FC236}">
                <a16:creationId xmlns:a16="http://schemas.microsoft.com/office/drawing/2014/main" id="{DAD3008D-DBDD-4EB1-B9E0-42941BDA4EC1}"/>
              </a:ext>
            </a:extLst>
          </p:cNvPr>
          <p:cNvSpPr>
            <a:spLocks xmlns:a="http://schemas.openxmlformats.org/drawingml/2006/main" noGrp="1"/>
          </p:cNvSpPr>
          <p:nvPr/>
        </p:nvSpPr>
        <p:spPr>
          <a:xfrm xmlns:a="http://schemas.openxmlformats.org/drawingml/2006/main">
            <a:off x="723900" y="40195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4.</a:t>
            </a:r>
          </a:p>
        </p:txBody>
      </p:sp>
      <p:sp>
        <p:nvSpPr>
          <p:cNvPr id="14" name="item-4">
            <a:extLst xmlns:a="http://schemas.openxmlformats.org/drawingml/2006/main">
              <a:ext uri="{FF2B5EF4-FFF2-40B4-BE49-F238E27FC236}">
                <a16:creationId xmlns:a16="http://schemas.microsoft.com/office/drawing/2014/main" id="{072DFA35-D5B3-464A-85A9-266225B79A1B}"/>
              </a:ext>
            </a:extLst>
          </p:cNvPr>
          <p:cNvSpPr>
            <a:spLocks xmlns:a="http://schemas.openxmlformats.org/drawingml/2006/main" noGrp="1"/>
          </p:cNvSpPr>
          <p:nvPr/>
        </p:nvSpPr>
        <p:spPr>
          <a:xfrm xmlns:a="http://schemas.openxmlformats.org/drawingml/2006/main">
            <a:off x="1352550" y="4019550"/>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PC increments</a:t>
            </a:r>
          </a:p>
        </p:txBody>
      </p:sp>
      <p:sp>
        <p:nvSpPr>
          <p:cNvPr id="15" name="number-5">
            <a:extLst xmlns:a="http://schemas.openxmlformats.org/drawingml/2006/main">
              <a:ext uri="{FF2B5EF4-FFF2-40B4-BE49-F238E27FC236}">
                <a16:creationId xmlns:a16="http://schemas.microsoft.com/office/drawing/2014/main" id="{03F791EC-5D9B-433E-96F6-EF44C17A017B}"/>
              </a:ext>
            </a:extLst>
          </p:cNvPr>
          <p:cNvSpPr>
            <a:spLocks xmlns:a="http://schemas.openxmlformats.org/drawingml/2006/main" noGrp="1"/>
          </p:cNvSpPr>
          <p:nvPr/>
        </p:nvSpPr>
        <p:spPr>
          <a:xfrm xmlns:a="http://schemas.openxmlformats.org/drawingml/2006/main">
            <a:off x="723900" y="46577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5.</a:t>
            </a:r>
          </a:p>
        </p:txBody>
      </p:sp>
      <p:sp>
        <p:nvSpPr>
          <p:cNvPr id="16" name="item-5">
            <a:extLst xmlns:a="http://schemas.openxmlformats.org/drawingml/2006/main">
              <a:ext uri="{FF2B5EF4-FFF2-40B4-BE49-F238E27FC236}">
                <a16:creationId xmlns:a16="http://schemas.microsoft.com/office/drawing/2014/main" id="{11146F44-2CCE-4536-BF13-60F44AE22B57}"/>
              </a:ext>
            </a:extLst>
          </p:cNvPr>
          <p:cNvSpPr>
            <a:spLocks xmlns:a="http://schemas.openxmlformats.org/drawingml/2006/main" noGrp="1"/>
          </p:cNvSpPr>
          <p:nvPr/>
        </p:nvSpPr>
        <p:spPr>
          <a:xfrm xmlns:a="http://schemas.openxmlformats.org/drawingml/2006/main">
            <a:off x="1352550" y="4657725"/>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Control unit decodes the instruction</a:t>
            </a:r>
          </a:p>
        </p:txBody>
      </p:sp>
      <p:sp>
        <p:nvSpPr>
          <p:cNvPr id="17" name="number-6">
            <a:extLst xmlns:a="http://schemas.openxmlformats.org/drawingml/2006/main">
              <a:ext uri="{FF2B5EF4-FFF2-40B4-BE49-F238E27FC236}">
                <a16:creationId xmlns:a16="http://schemas.microsoft.com/office/drawing/2014/main" id="{738F10DC-3C3F-4622-9638-0CD9ADB18BEA}"/>
              </a:ext>
            </a:extLst>
          </p:cNvPr>
          <p:cNvSpPr>
            <a:spLocks xmlns:a="http://schemas.openxmlformats.org/drawingml/2006/main" noGrp="1"/>
          </p:cNvSpPr>
          <p:nvPr/>
        </p:nvSpPr>
        <p:spPr>
          <a:xfrm xmlns:a="http://schemas.openxmlformats.org/drawingml/2006/main">
            <a:off x="723900" y="5295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6.</a:t>
            </a:r>
          </a:p>
        </p:txBody>
      </p:sp>
      <p:sp>
        <p:nvSpPr>
          <p:cNvPr id="18" name="item-6">
            <a:extLst xmlns:a="http://schemas.openxmlformats.org/drawingml/2006/main">
              <a:ext uri="{FF2B5EF4-FFF2-40B4-BE49-F238E27FC236}">
                <a16:creationId xmlns:a16="http://schemas.microsoft.com/office/drawing/2014/main" id="{B4AC7286-B492-4B59-A29F-AA4F10A94008}"/>
              </a:ext>
            </a:extLst>
          </p:cNvPr>
          <p:cNvSpPr>
            <a:spLocks xmlns:a="http://schemas.openxmlformats.org/drawingml/2006/main" noGrp="1"/>
          </p:cNvSpPr>
          <p:nvPr/>
        </p:nvSpPr>
        <p:spPr>
          <a:xfrm xmlns:a="http://schemas.openxmlformats.org/drawingml/2006/main">
            <a:off x="1352550" y="5295900"/>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Instruction is executed</a:t>
            </a:r>
          </a:p>
        </p:txBody>
      </p:sp>
    </p:spTree>
    <p:extLst>
      <p:ext uri="{BB962C8B-B14F-4D97-AF65-F5344CB8AC3E}">
        <p14:creationId xmlns:p14="http://schemas.microsoft.com/office/powerpoint/2010/main" val="122917826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40BB8106-766C-4D11-B62C-A315B1DC982B}"/>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E93FE83-8B7D-4ED0-A507-D6DF7BF843BD}"/>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PLENARY</a:t>
            </a:r>
          </a:p>
        </p:txBody>
      </p:sp>
      <p:sp>
        <p:nvSpPr>
          <p:cNvPr id="3" name="heading">
            <a:extLst xmlns:a="http://schemas.openxmlformats.org/drawingml/2006/main">
              <a:ext uri="{FF2B5EF4-FFF2-40B4-BE49-F238E27FC236}">
                <a16:creationId xmlns:a16="http://schemas.microsoft.com/office/drawing/2014/main" id="{2FAFAE26-D488-4C37-A08D-D8E5A9D057A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questions (a–b)</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a7b549c8f2740a6"/>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3F7FA607-A51E-4EFD-8772-BFCA4D0AB31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14 / 18</a:t>
            </a:r>
          </a:p>
        </p:txBody>
      </p:sp>
      <p:sp>
        <p:nvSpPr>
          <p:cNvPr id="6" name="plenary-instruction">
            <a:extLst xmlns:a="http://schemas.openxmlformats.org/drawingml/2006/main">
              <a:ext uri="{FF2B5EF4-FFF2-40B4-BE49-F238E27FC236}">
                <a16:creationId xmlns:a16="http://schemas.microsoft.com/office/drawing/2014/main" id="{4DD4F8FC-DBBD-4F52-8BC4-1F8B4C27953F}"/>
              </a:ext>
            </a:extLst>
          </p:cNvPr>
          <p:cNvSpPr>
            <a:spLocks xmlns:a="http://schemas.openxmlformats.org/drawingml/2006/main" noGrp="1"/>
          </p:cNvSpPr>
          <p:nvPr/>
        </p:nvSpPr>
        <p:spPr>
          <a:xfrm xmlns:a="http://schemas.openxmlformats.org/drawingml/2006/main">
            <a:off x="704850" y="1562100"/>
            <a:ext cx="1071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Take the headset off or close the page. Answer from memory on the worksheet.</a:t>
            </a:r>
          </a:p>
        </p:txBody>
      </p:sp>
      <p:sp>
        <p:nvSpPr>
          <p:cNvPr id="7" name="a">
            <a:extLst xmlns:a="http://schemas.openxmlformats.org/drawingml/2006/main">
              <a:ext uri="{FF2B5EF4-FFF2-40B4-BE49-F238E27FC236}">
                <a16:creationId xmlns:a16="http://schemas.microsoft.com/office/drawing/2014/main" id="{9C6FAEDB-072B-436C-AA9C-D5832563BEAF}"/>
              </a:ext>
            </a:extLst>
          </p:cNvPr>
          <p:cNvSpPr>
            <a:spLocks xmlns:a="http://schemas.openxmlformats.org/drawingml/2006/main" noGrp="1"/>
          </p:cNvSpPr>
          <p:nvPr/>
        </p:nvSpPr>
        <p:spPr>
          <a:xfrm xmlns:a="http://schemas.openxmlformats.org/drawingml/2006/main">
            <a:off x="733425" y="2581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a)</a:t>
            </a:r>
          </a:p>
        </p:txBody>
      </p:sp>
      <p:sp>
        <p:nvSpPr>
          <p:cNvPr id="8" name="question-a">
            <a:extLst xmlns:a="http://schemas.openxmlformats.org/drawingml/2006/main">
              <a:ext uri="{FF2B5EF4-FFF2-40B4-BE49-F238E27FC236}">
                <a16:creationId xmlns:a16="http://schemas.microsoft.com/office/drawing/2014/main" id="{6B2BF4EA-272A-415D-B46E-43EF0DF1249C}"/>
              </a:ext>
            </a:extLst>
          </p:cNvPr>
          <p:cNvSpPr>
            <a:spLocks xmlns:a="http://schemas.openxmlformats.org/drawingml/2006/main" noGrp="1"/>
          </p:cNvSpPr>
          <p:nvPr/>
        </p:nvSpPr>
        <p:spPr>
          <a:xfrm xmlns:a="http://schemas.openxmlformats.org/drawingml/2006/main">
            <a:off x="1343025" y="2581275"/>
            <a:ext cx="99441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Describe what the CPU does while a program is running. [2]</a:t>
            </a:r>
          </a:p>
        </p:txBody>
      </p:sp>
      <p:sp>
        <p:nvSpPr>
          <p:cNvPr id="9" name="b">
            <a:extLst xmlns:a="http://schemas.openxmlformats.org/drawingml/2006/main">
              <a:ext uri="{FF2B5EF4-FFF2-40B4-BE49-F238E27FC236}">
                <a16:creationId xmlns:a16="http://schemas.microsoft.com/office/drawing/2014/main" id="{9509E02A-7E28-413B-8372-24604E287879}"/>
              </a:ext>
            </a:extLst>
          </p:cNvPr>
          <p:cNvSpPr>
            <a:spLocks xmlns:a="http://schemas.openxmlformats.org/drawingml/2006/main" noGrp="1"/>
          </p:cNvSpPr>
          <p:nvPr/>
        </p:nvSpPr>
        <p:spPr>
          <a:xfrm xmlns:a="http://schemas.openxmlformats.org/drawingml/2006/main">
            <a:off x="733425" y="4143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b)</a:t>
            </a:r>
          </a:p>
        </p:txBody>
      </p:sp>
      <p:sp>
        <p:nvSpPr>
          <p:cNvPr id="10" name="question-b">
            <a:extLst xmlns:a="http://schemas.openxmlformats.org/drawingml/2006/main">
              <a:ext uri="{FF2B5EF4-FFF2-40B4-BE49-F238E27FC236}">
                <a16:creationId xmlns:a16="http://schemas.microsoft.com/office/drawing/2014/main" id="{EA1267F7-E672-4AB5-8CC0-CE07B6205750}"/>
              </a:ext>
            </a:extLst>
          </p:cNvPr>
          <p:cNvSpPr>
            <a:spLocks xmlns:a="http://schemas.openxmlformats.org/drawingml/2006/main" noGrp="1"/>
          </p:cNvSpPr>
          <p:nvPr/>
        </p:nvSpPr>
        <p:spPr>
          <a:xfrm xmlns:a="http://schemas.openxmlformats.org/drawingml/2006/main">
            <a:off x="1343025" y="4143375"/>
            <a:ext cx="99441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Name two registers found in a CPU and state what each one holds. [4]</a:t>
            </a:r>
          </a:p>
        </p:txBody>
      </p:sp>
    </p:spTree>
    <p:extLst>
      <p:ext uri="{BB962C8B-B14F-4D97-AF65-F5344CB8AC3E}">
        <p14:creationId xmlns:p14="http://schemas.microsoft.com/office/powerpoint/2010/main" val="1679400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5F1F2C14-4C50-48A4-9B67-A997A2622B3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DDB8B4A9-62FC-49C3-9E8B-2D91861551CE}"/>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PLENARY</a:t>
            </a:r>
          </a:p>
        </p:txBody>
      </p:sp>
      <p:sp>
        <p:nvSpPr>
          <p:cNvPr id="3" name="heading">
            <a:extLst xmlns:a="http://schemas.openxmlformats.org/drawingml/2006/main">
              <a:ext uri="{FF2B5EF4-FFF2-40B4-BE49-F238E27FC236}">
                <a16:creationId xmlns:a16="http://schemas.microsoft.com/office/drawing/2014/main" id="{8C7269B5-94FA-4086-8755-DE73995D99F2}"/>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 (c)</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0725024946c43f6"/>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A9C331FB-3C6F-4EEC-BBEB-57203449B13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15 / 18</a:t>
            </a:r>
          </a:p>
        </p:txBody>
      </p:sp>
      <p:sp>
        <p:nvSpPr>
          <p:cNvPr id="6" name="from-memory">
            <a:extLst xmlns:a="http://schemas.openxmlformats.org/drawingml/2006/main">
              <a:ext uri="{FF2B5EF4-FFF2-40B4-BE49-F238E27FC236}">
                <a16:creationId xmlns:a16="http://schemas.microsoft.com/office/drawing/2014/main" id="{BDF8659F-4B53-45A1-96E8-35452E8FD8A1}"/>
              </a:ext>
            </a:extLst>
          </p:cNvPr>
          <p:cNvSpPr>
            <a:spLocks xmlns:a="http://schemas.openxmlformats.org/drawingml/2006/main" noGrp="1"/>
          </p:cNvSpPr>
          <p:nvPr/>
        </p:nvSpPr>
        <p:spPr>
          <a:xfrm xmlns:a="http://schemas.openxmlformats.org/drawingml/2006/main">
            <a:off x="704850" y="1600200"/>
            <a:ext cx="10715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Keep the experience closed. Explain your reasoning in full sentences.</a:t>
            </a:r>
          </a:p>
        </p:txBody>
      </p:sp>
      <p:sp>
        <p:nvSpPr>
          <p:cNvPr id="7" name="c">
            <a:extLst xmlns:a="http://schemas.openxmlformats.org/drawingml/2006/main">
              <a:ext uri="{FF2B5EF4-FFF2-40B4-BE49-F238E27FC236}">
                <a16:creationId xmlns:a16="http://schemas.microsoft.com/office/drawing/2014/main" id="{629CF0F4-E195-43D7-9CCA-D8090133CAC6}"/>
              </a:ext>
            </a:extLst>
          </p:cNvPr>
          <p:cNvSpPr>
            <a:spLocks xmlns:a="http://schemas.openxmlformats.org/drawingml/2006/main" noGrp="1"/>
          </p:cNvSpPr>
          <p:nvPr/>
        </p:nvSpPr>
        <p:spPr>
          <a:xfrm xmlns:a="http://schemas.openxmlformats.org/drawingml/2006/main">
            <a:off x="733425" y="2781300"/>
            <a:ext cx="609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D63FF"/>
                </a:solidFill>
                <a:latin typeface="DejaVu Sans"/>
                <a:ea typeface="DejaVu Sans"/>
                <a:cs typeface="DejaVu Sans"/>
              </a:defRPr>
            </a:pPr>
            <a:r>
              <a:rPr sz="2400" b="1">
                <a:solidFill>
                  <a:srgbClr val="2D63FF"/>
                </a:solidFill>
                <a:latin typeface="DejaVu Sans"/>
                <a:ea typeface="DejaVu Sans"/>
                <a:cs typeface="DejaVu Sans"/>
              </a:rPr>
              <a:t>c)</a:t>
            </a:r>
          </a:p>
        </p:txBody>
      </p:sp>
      <p:sp>
        <p:nvSpPr>
          <p:cNvPr id="8" name="question-c">
            <a:extLst xmlns:a="http://schemas.openxmlformats.org/drawingml/2006/main">
              <a:ext uri="{FF2B5EF4-FFF2-40B4-BE49-F238E27FC236}">
                <a16:creationId xmlns:a16="http://schemas.microsoft.com/office/drawing/2014/main" id="{2397C953-3257-449B-B101-570ACDF66B91}"/>
              </a:ext>
            </a:extLst>
          </p:cNvPr>
          <p:cNvSpPr>
            <a:spLocks xmlns:a="http://schemas.openxmlformats.org/drawingml/2006/main" noGrp="1"/>
          </p:cNvSpPr>
          <p:nvPr/>
        </p:nvSpPr>
        <p:spPr>
          <a:xfrm xmlns:a="http://schemas.openxmlformats.org/drawingml/2006/main">
            <a:off x="1381125" y="2781300"/>
            <a:ext cx="98679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01828"/>
                </a:solidFill>
                <a:latin typeface="DejaVu Sans"/>
                <a:ea typeface="DejaVu Sans"/>
                <a:cs typeface="DejaVu Sans"/>
              </a:defRPr>
            </a:pPr>
            <a:r>
              <a:rPr sz="2475" b="0">
                <a:solidFill>
                  <a:srgbClr val="101828"/>
                </a:solidFill>
                <a:latin typeface="DejaVu Sans"/>
                <a:ea typeface="DejaVu Sans"/>
                <a:cs typeface="DejaVu Sans"/>
              </a:rPr>
              <a:t>A computer's cache is full. Explain the effect this has on the CPU. [3]</a:t>
            </a:r>
          </a:p>
        </p:txBody>
      </p:sp>
      <p:sp>
        <p:nvSpPr>
          <p:cNvPr id="9" name="marks">
            <a:extLst xmlns:a="http://schemas.openxmlformats.org/drawingml/2006/main">
              <a:ext uri="{FF2B5EF4-FFF2-40B4-BE49-F238E27FC236}">
                <a16:creationId xmlns:a16="http://schemas.microsoft.com/office/drawing/2014/main" id="{B5E43C45-0F63-4BF1-AFCD-45A804E5515B}"/>
              </a:ext>
            </a:extLst>
          </p:cNvPr>
          <p:cNvSpPr>
            <a:spLocks xmlns:a="http://schemas.openxmlformats.org/drawingml/2006/main" noGrp="1"/>
          </p:cNvSpPr>
          <p:nvPr/>
        </p:nvSpPr>
        <p:spPr>
          <a:xfrm xmlns:a="http://schemas.openxmlformats.org/drawingml/2006/main">
            <a:off x="733425" y="543877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Use the marks in brackets to judge how much detail to include.</a:t>
            </a:r>
          </a:p>
        </p:txBody>
      </p:sp>
    </p:spTree>
    <p:extLst>
      <p:ext uri="{BB962C8B-B14F-4D97-AF65-F5344CB8AC3E}">
        <p14:creationId xmlns:p14="http://schemas.microsoft.com/office/powerpoint/2010/main" val="747531743"/>
      </p:ext>
    </p:extLst>
  </p:cSld>
</p:sld>
</file>

<file path=ppt/slides/slide1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9" name="footer background">
            <a:extLst xmlns:a="http://schemas.openxmlformats.org/drawingml/2006/main">
              <a:ext uri="{FF2B5EF4-FFF2-40B4-BE49-F238E27FC236}">
                <a16:creationId xmlns:a16="http://schemas.microsoft.com/office/drawing/2014/main" id="{69886798-8F0F-4B54-BAEC-A0540120CA80}"/>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D6D98F3-B670-4101-B9A9-2184D5A6ED7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3" name="heading">
            <a:extLst xmlns:a="http://schemas.openxmlformats.org/drawingml/2006/main">
              <a:ext uri="{FF2B5EF4-FFF2-40B4-BE49-F238E27FC236}">
                <a16:creationId xmlns:a16="http://schemas.microsoft.com/office/drawing/2014/main" id="{16C64587-B8D3-44DA-8AA8-1AB5AE6D8C2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answers (a–b)</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e9c511f733cd4e28"/>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9EEFA3B3-6527-4E2D-9FE8-B1783E9B1467}"/>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16 / 18</a:t>
            </a:r>
          </a:p>
        </p:txBody>
      </p:sp>
      <p:sp>
        <p:nvSpPr>
          <p:cNvPr id="6" name="scheme-intro">
            <a:extLst xmlns:a="http://schemas.openxmlformats.org/drawingml/2006/main">
              <a:ext uri="{FF2B5EF4-FFF2-40B4-BE49-F238E27FC236}">
                <a16:creationId xmlns:a16="http://schemas.microsoft.com/office/drawing/2014/main" id="{910FB56C-D13F-443C-831C-7EB54AF5BCFA}"/>
              </a:ext>
            </a:extLst>
          </p:cNvPr>
          <p:cNvSpPr>
            <a:spLocks xmlns:a="http://schemas.openxmlformats.org/drawingml/2006/main" noGrp="1"/>
          </p:cNvSpPr>
          <p:nvPr/>
        </p:nvSpPr>
        <p:spPr>
          <a:xfrm xmlns:a="http://schemas.openxmlformats.org/drawingml/2006/main">
            <a:off x="704850" y="1543050"/>
            <a:ext cx="1071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Credit accurate answers in students’ own words.</a:t>
            </a:r>
          </a:p>
        </p:txBody>
      </p:sp>
      <p:sp>
        <p:nvSpPr>
          <p:cNvPr id="7" name="scheme-a">
            <a:extLst xmlns:a="http://schemas.openxmlformats.org/drawingml/2006/main">
              <a:ext uri="{FF2B5EF4-FFF2-40B4-BE49-F238E27FC236}">
                <a16:creationId xmlns:a16="http://schemas.microsoft.com/office/drawing/2014/main" id="{41502BD5-C47A-4406-827D-A550F44AB54E}"/>
              </a:ext>
            </a:extLst>
          </p:cNvPr>
          <p:cNvSpPr>
            <a:spLocks xmlns:a="http://schemas.openxmlformats.org/drawingml/2006/main" noGrp="1"/>
          </p:cNvSpPr>
          <p:nvPr/>
        </p:nvSpPr>
        <p:spPr>
          <a:xfrm xmlns:a="http://schemas.openxmlformats.org/drawingml/2006/main">
            <a:off x="723900" y="2457450"/>
            <a:ext cx="105727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The CPU fetches, decodes and executes program instructions. It processes data as those instructions require.</a:t>
            </a:r>
          </a:p>
        </p:txBody>
      </p:sp>
      <p:sp>
        <p:nvSpPr>
          <p:cNvPr id="8" name="scheme-b">
            <a:extLst xmlns:a="http://schemas.openxmlformats.org/drawingml/2006/main">
              <a:ext uri="{FF2B5EF4-FFF2-40B4-BE49-F238E27FC236}">
                <a16:creationId xmlns:a16="http://schemas.microsoft.com/office/drawing/2014/main" id="{4030A590-8409-4747-8A49-22010C81BAB9}"/>
              </a:ext>
            </a:extLst>
          </p:cNvPr>
          <p:cNvSpPr>
            <a:spLocks xmlns:a="http://schemas.openxmlformats.org/drawingml/2006/main" noGrp="1"/>
          </p:cNvSpPr>
          <p:nvPr/>
        </p:nvSpPr>
        <p:spPr>
          <a:xfrm xmlns:a="http://schemas.openxmlformats.org/drawingml/2006/main">
            <a:off x="723900" y="4086225"/>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b  Award a register name plus its role for each pair: PC, address of next instruction; MAR, memory address; MDR, data to or from memory; ACC, calculation result.</a:t>
            </a:r>
          </a:p>
        </p:txBody>
      </p:sp>
    </p:spTree>
    <p:extLst>
      <p:ext uri="{BB962C8B-B14F-4D97-AF65-F5344CB8AC3E}">
        <p14:creationId xmlns:p14="http://schemas.microsoft.com/office/powerpoint/2010/main" val="1446243750"/>
      </p:ext>
    </p:extLst>
  </p:cSld>
</p:sld>
</file>

<file path=ppt/slides/slide17.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E0081A4B-6AC1-4816-AF79-691B19F4BB82}"/>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8160FA52-8505-4663-AF29-746E3C6A1FF2}"/>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3" name="heading">
            <a:extLst xmlns:a="http://schemas.openxmlformats.org/drawingml/2006/main">
              <a:ext uri="{FF2B5EF4-FFF2-40B4-BE49-F238E27FC236}">
                <a16:creationId xmlns:a16="http://schemas.microsoft.com/office/drawing/2014/main" id="{E723C30E-7C0B-4663-9CFD-AEBB0B68C7BF}"/>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 (c)</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5527f3b9e7594fc9"/>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BFCDE95E-15E9-4DFC-BCC0-8290133C078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17 / 18</a:t>
            </a:r>
          </a:p>
        </p:txBody>
      </p:sp>
      <p:sp>
        <p:nvSpPr>
          <p:cNvPr id="6" name="scheme-intro">
            <a:extLst xmlns:a="http://schemas.openxmlformats.org/drawingml/2006/main">
              <a:ext uri="{FF2B5EF4-FFF2-40B4-BE49-F238E27FC236}">
                <a16:creationId xmlns:a16="http://schemas.microsoft.com/office/drawing/2014/main" id="{367C08AF-7243-4EE2-AFA0-1DBD0A7CEA05}"/>
              </a:ext>
            </a:extLst>
          </p:cNvPr>
          <p:cNvSpPr>
            <a:spLocks xmlns:a="http://schemas.openxmlformats.org/drawingml/2006/main" noGrp="1"/>
          </p:cNvSpPr>
          <p:nvPr/>
        </p:nvSpPr>
        <p:spPr>
          <a:xfrm xmlns:a="http://schemas.openxmlformats.org/drawingml/2006/main">
            <a:off x="704850" y="1533525"/>
            <a:ext cx="10715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for the final question.</a:t>
            </a:r>
          </a:p>
        </p:txBody>
      </p:sp>
      <p:sp>
        <p:nvSpPr>
          <p:cNvPr id="7" name="number-1">
            <a:extLst xmlns:a="http://schemas.openxmlformats.org/drawingml/2006/main">
              <a:ext uri="{FF2B5EF4-FFF2-40B4-BE49-F238E27FC236}">
                <a16:creationId xmlns:a16="http://schemas.microsoft.com/office/drawing/2014/main" id="{C971BC91-2C30-4670-9E94-EB7BAD54B38F}"/>
              </a:ext>
            </a:extLst>
          </p:cNvPr>
          <p:cNvSpPr>
            <a:spLocks xmlns:a="http://schemas.openxmlformats.org/drawingml/2006/main" noGrp="1"/>
          </p:cNvSpPr>
          <p:nvPr/>
        </p:nvSpPr>
        <p:spPr>
          <a:xfrm xmlns:a="http://schemas.openxmlformats.org/drawingml/2006/main">
            <a:off x="723900" y="2486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38BA7518-F976-4AA8-9FBD-9CA4E93E39BC}"/>
              </a:ext>
            </a:extLst>
          </p:cNvPr>
          <p:cNvSpPr>
            <a:spLocks xmlns:a="http://schemas.openxmlformats.org/drawingml/2006/main" noGrp="1"/>
          </p:cNvSpPr>
          <p:nvPr/>
        </p:nvSpPr>
        <p:spPr>
          <a:xfrm xmlns:a="http://schemas.openxmlformats.org/drawingml/2006/main">
            <a:off x="1352550" y="24860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A full cache replaces an existing entry when new data must be stored.</a:t>
            </a:r>
          </a:p>
        </p:txBody>
      </p:sp>
      <p:sp>
        <p:nvSpPr>
          <p:cNvPr id="9" name="number-2">
            <a:extLst xmlns:a="http://schemas.openxmlformats.org/drawingml/2006/main">
              <a:ext uri="{FF2B5EF4-FFF2-40B4-BE49-F238E27FC236}">
                <a16:creationId xmlns:a16="http://schemas.microsoft.com/office/drawing/2014/main" id="{4CE5C16C-95D9-4554-BC9D-0CB5CA0D096D}"/>
              </a:ext>
            </a:extLst>
          </p:cNvPr>
          <p:cNvSpPr>
            <a:spLocks xmlns:a="http://schemas.openxmlformats.org/drawingml/2006/main" noGrp="1"/>
          </p:cNvSpPr>
          <p:nvPr/>
        </p:nvSpPr>
        <p:spPr>
          <a:xfrm xmlns:a="http://schemas.openxmlformats.org/drawingml/2006/main">
            <a:off x="723900" y="35909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C4346348-B81F-437B-A07E-C9085E2ACEFA}"/>
              </a:ext>
            </a:extLst>
          </p:cNvPr>
          <p:cNvSpPr>
            <a:spLocks xmlns:a="http://schemas.openxmlformats.org/drawingml/2006/main" noGrp="1"/>
          </p:cNvSpPr>
          <p:nvPr/>
        </p:nvSpPr>
        <p:spPr>
          <a:xfrm xmlns:a="http://schemas.openxmlformats.org/drawingml/2006/main">
            <a:off x="1352550" y="35909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If the next needed item is absent, the CPU fetches it from slower RAM and may wait.</a:t>
            </a:r>
          </a:p>
        </p:txBody>
      </p:sp>
      <p:sp>
        <p:nvSpPr>
          <p:cNvPr id="11" name="number-3">
            <a:extLst xmlns:a="http://schemas.openxmlformats.org/drawingml/2006/main">
              <a:ext uri="{FF2B5EF4-FFF2-40B4-BE49-F238E27FC236}">
                <a16:creationId xmlns:a16="http://schemas.microsoft.com/office/drawing/2014/main" id="{DBDD63D3-A34B-4614-BC00-7470B22F215A}"/>
              </a:ext>
            </a:extLst>
          </p:cNvPr>
          <p:cNvSpPr>
            <a:spLocks xmlns:a="http://schemas.openxmlformats.org/drawingml/2006/main" noGrp="1"/>
          </p:cNvSpPr>
          <p:nvPr/>
        </p:nvSpPr>
        <p:spPr>
          <a:xfrm xmlns:a="http://schemas.openxmlformats.org/drawingml/2006/main">
            <a:off x="723900" y="46958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AAD983A1-375A-4785-BE52-216AFD70B1D1}"/>
              </a:ext>
            </a:extLst>
          </p:cNvPr>
          <p:cNvSpPr>
            <a:spLocks xmlns:a="http://schemas.openxmlformats.org/drawingml/2006/main" noGrp="1"/>
          </p:cNvSpPr>
          <p:nvPr/>
        </p:nvSpPr>
        <p:spPr>
          <a:xfrm xmlns:a="http://schemas.openxmlformats.org/drawingml/2006/main">
            <a:off x="1352550" y="46958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The effect depends on cache hits and misses. Being full alone does not guarantee a slowdown.</a:t>
            </a:r>
          </a:p>
        </p:txBody>
      </p:sp>
    </p:spTree>
    <p:extLst>
      <p:ext uri="{BB962C8B-B14F-4D97-AF65-F5344CB8AC3E}">
        <p14:creationId xmlns:p14="http://schemas.microsoft.com/office/powerpoint/2010/main" val="58965231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ooter background">
            <a:extLst xmlns:a="http://schemas.openxmlformats.org/drawingml/2006/main">
              <a:ext uri="{FF2B5EF4-FFF2-40B4-BE49-F238E27FC236}">
                <a16:creationId xmlns:a16="http://schemas.microsoft.com/office/drawing/2014/main" id="{A368A0EC-80FD-4672-B2B2-DBDF6094DD6D}"/>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94A4DF14-4035-4380-8761-948455E2AF87}"/>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SELF-CHECK</a:t>
            </a:r>
          </a:p>
        </p:txBody>
      </p:sp>
      <p:sp>
        <p:nvSpPr>
          <p:cNvPr id="3" name="heading">
            <a:extLst xmlns:a="http://schemas.openxmlformats.org/drawingml/2006/main">
              <a:ext uri="{FF2B5EF4-FFF2-40B4-BE49-F238E27FC236}">
                <a16:creationId xmlns:a16="http://schemas.microsoft.com/office/drawing/2014/main" id="{86131C61-4DE8-4ADA-AA38-AF5838A84CD3}"/>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How confident am I?</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30a2c8789574602"/>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6D9F0318-AD5A-451A-9E2A-0B42908DA4E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18 / 18</a:t>
            </a:r>
          </a:p>
        </p:txBody>
      </p:sp>
      <p:sp>
        <p:nvSpPr>
          <p:cNvPr id="6" name="confidence-instruction">
            <a:extLst xmlns:a="http://schemas.openxmlformats.org/drawingml/2006/main">
              <a:ext uri="{FF2B5EF4-FFF2-40B4-BE49-F238E27FC236}">
                <a16:creationId xmlns:a16="http://schemas.microsoft.com/office/drawing/2014/main" id="{21CCFCB5-9EEF-4D0C-ACC8-C2D3D4C2A812}"/>
              </a:ext>
            </a:extLst>
          </p:cNvPr>
          <p:cNvSpPr>
            <a:spLocks xmlns:a="http://schemas.openxmlformats.org/drawingml/2006/main" noGrp="1"/>
          </p:cNvSpPr>
          <p:nvPr/>
        </p:nvSpPr>
        <p:spPr>
          <a:xfrm xmlns:a="http://schemas.openxmlformats.org/drawingml/2006/main">
            <a:off x="704850" y="1571625"/>
            <a:ext cx="10477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On the worksheet, select Not yet, Getting there or Confident for each objective.</a:t>
            </a:r>
          </a:p>
        </p:txBody>
      </p:sp>
      <p:sp>
        <p:nvSpPr>
          <p:cNvPr id="7" name="number-1">
            <a:extLst xmlns:a="http://schemas.openxmlformats.org/drawingml/2006/main">
              <a:ext uri="{FF2B5EF4-FFF2-40B4-BE49-F238E27FC236}">
                <a16:creationId xmlns:a16="http://schemas.microsoft.com/office/drawing/2014/main" id="{1445CA78-BAE2-4623-A518-59C7169A114E}"/>
              </a:ext>
            </a:extLst>
          </p:cNvPr>
          <p:cNvSpPr>
            <a:spLocks xmlns:a="http://schemas.openxmlformats.org/drawingml/2006/main" noGrp="1"/>
          </p:cNvSpPr>
          <p:nvPr/>
        </p:nvSpPr>
        <p:spPr>
          <a:xfrm xmlns:a="http://schemas.openxmlformats.org/drawingml/2006/main">
            <a:off x="723900" y="25146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B9CB63FA-CF41-41AC-AAF6-A489CFF3BDC7}"/>
              </a:ext>
            </a:extLst>
          </p:cNvPr>
          <p:cNvSpPr>
            <a:spLocks xmlns:a="http://schemas.openxmlformats.org/drawingml/2006/main" noGrp="1"/>
          </p:cNvSpPr>
          <p:nvPr/>
        </p:nvSpPr>
        <p:spPr>
          <a:xfrm xmlns:a="http://schemas.openxmlformats.org/drawingml/2006/main">
            <a:off x="1352550" y="25146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What the CPU does</a:t>
            </a:r>
          </a:p>
        </p:txBody>
      </p:sp>
      <p:sp>
        <p:nvSpPr>
          <p:cNvPr id="9" name="number-2">
            <a:extLst xmlns:a="http://schemas.openxmlformats.org/drawingml/2006/main">
              <a:ext uri="{FF2B5EF4-FFF2-40B4-BE49-F238E27FC236}">
                <a16:creationId xmlns:a16="http://schemas.microsoft.com/office/drawing/2014/main" id="{BF24F2CF-D0BF-433B-A4BD-27BA20302E02}"/>
              </a:ext>
            </a:extLst>
          </p:cNvPr>
          <p:cNvSpPr>
            <a:spLocks xmlns:a="http://schemas.openxmlformats.org/drawingml/2006/main" noGrp="1"/>
          </p:cNvSpPr>
          <p:nvPr/>
        </p:nvSpPr>
        <p:spPr>
          <a:xfrm xmlns:a="http://schemas.openxmlformats.org/drawingml/2006/main">
            <a:off x="723900" y="3343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2EBB092A-60CB-4087-9DD4-5443676B62B1}"/>
              </a:ext>
            </a:extLst>
          </p:cNvPr>
          <p:cNvSpPr>
            <a:spLocks xmlns:a="http://schemas.openxmlformats.org/drawingml/2006/main" noGrp="1"/>
          </p:cNvSpPr>
          <p:nvPr/>
        </p:nvSpPr>
        <p:spPr>
          <a:xfrm xmlns:a="http://schemas.openxmlformats.org/drawingml/2006/main">
            <a:off x="1352550" y="3343275"/>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CPU registers</a:t>
            </a:r>
          </a:p>
        </p:txBody>
      </p:sp>
      <p:sp>
        <p:nvSpPr>
          <p:cNvPr id="11" name="number-3">
            <a:extLst xmlns:a="http://schemas.openxmlformats.org/drawingml/2006/main">
              <a:ext uri="{FF2B5EF4-FFF2-40B4-BE49-F238E27FC236}">
                <a16:creationId xmlns:a16="http://schemas.microsoft.com/office/drawing/2014/main" id="{43B035FB-801C-4E05-87F1-800820CE7314}"/>
              </a:ext>
            </a:extLst>
          </p:cNvPr>
          <p:cNvSpPr>
            <a:spLocks xmlns:a="http://schemas.openxmlformats.org/drawingml/2006/main" noGrp="1"/>
          </p:cNvSpPr>
          <p:nvPr/>
        </p:nvSpPr>
        <p:spPr>
          <a:xfrm xmlns:a="http://schemas.openxmlformats.org/drawingml/2006/main">
            <a:off x="723900" y="41719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02E48C22-31AC-4A31-87AE-D3A00B3F1936}"/>
              </a:ext>
            </a:extLst>
          </p:cNvPr>
          <p:cNvSpPr>
            <a:spLocks xmlns:a="http://schemas.openxmlformats.org/drawingml/2006/main" noGrp="1"/>
          </p:cNvSpPr>
          <p:nvPr/>
        </p:nvSpPr>
        <p:spPr>
          <a:xfrm xmlns:a="http://schemas.openxmlformats.org/drawingml/2006/main">
            <a:off x="1352550" y="417195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stages of the fetch-execute cycle</a:t>
            </a:r>
          </a:p>
        </p:txBody>
      </p:sp>
      <p:sp>
        <p:nvSpPr>
          <p:cNvPr id="13" name="number-4">
            <a:extLst xmlns:a="http://schemas.openxmlformats.org/drawingml/2006/main">
              <a:ext uri="{FF2B5EF4-FFF2-40B4-BE49-F238E27FC236}">
                <a16:creationId xmlns:a16="http://schemas.microsoft.com/office/drawing/2014/main" id="{CE4EAE46-F751-4F69-9E68-CFF078A99A53}"/>
              </a:ext>
            </a:extLst>
          </p:cNvPr>
          <p:cNvSpPr>
            <a:spLocks xmlns:a="http://schemas.openxmlformats.org/drawingml/2006/main" noGrp="1"/>
          </p:cNvSpPr>
          <p:nvPr/>
        </p:nvSpPr>
        <p:spPr>
          <a:xfrm xmlns:a="http://schemas.openxmlformats.org/drawingml/2006/main">
            <a:off x="723900" y="50006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4.</a:t>
            </a:r>
          </a:p>
        </p:txBody>
      </p:sp>
      <p:sp>
        <p:nvSpPr>
          <p:cNvPr id="14" name="item-4">
            <a:extLst xmlns:a="http://schemas.openxmlformats.org/drawingml/2006/main">
              <a:ext uri="{FF2B5EF4-FFF2-40B4-BE49-F238E27FC236}">
                <a16:creationId xmlns:a16="http://schemas.microsoft.com/office/drawing/2014/main" id="{F71661C6-7DB3-4EC1-B1E5-D88C7A61282B}"/>
              </a:ext>
            </a:extLst>
          </p:cNvPr>
          <p:cNvSpPr>
            <a:spLocks xmlns:a="http://schemas.openxmlformats.org/drawingml/2006/main" noGrp="1"/>
          </p:cNvSpPr>
          <p:nvPr/>
        </p:nvSpPr>
        <p:spPr>
          <a:xfrm xmlns:a="http://schemas.openxmlformats.org/drawingml/2006/main">
            <a:off x="1352550" y="5000625"/>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ALU, CU and cache</a:t>
            </a:r>
          </a:p>
        </p:txBody>
      </p:sp>
    </p:spTree>
    <p:extLst>
      <p:ext uri="{BB962C8B-B14F-4D97-AF65-F5344CB8AC3E}">
        <p14:creationId xmlns:p14="http://schemas.microsoft.com/office/powerpoint/2010/main" val="4799295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2026-09-25T12:41:46.5290000Z</dcterms:created>
  <dcterms:modified xsi:type="dcterms:W3CDTF">2026-09-25T12:41:46.5290000Z</dcterms:modified>
</coreProperties>
</file>