
<file path=[Content_Types].xml><?xml version="1.0" encoding="utf-8"?>
<Types xmlns="http://schemas.openxmlformats.org/package/2006/content-types">
  <Default Extension="xml" ContentType="application/vnd.openxmlformats-package.core-properties+xml"/>
  <Default Extension="jpeg" ContentType="image/jpe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566d6b74ec1c4368" /><Relationship Type="http://schemas.openxmlformats.org/officeDocument/2006/relationships/extended-properties" Target="/docProps/app.xml" Id="Rb3a8717d06c54a77" /><Relationship Type="http://schemas.openxmlformats.org/officeDocument/2006/relationships/officeDocument" Target="/ppt/presentation.xml" Id="R2697451f82024c0e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28bdfddd30a54abb"/>
  </p:sldMasterIdLst>
  <p:notesMasterIdLst>
    <p:notesMasterId xmlns:r="http://schemas.openxmlformats.org/officeDocument/2006/relationships" r:id="Rb6376cf57c08456f"/>
  </p:notesMasterIdLst>
  <p:sldIdLst>
    <p:sldId xmlns:r="http://schemas.openxmlformats.org/officeDocument/2006/relationships" id="256" r:id="R8b314bea7ffb45e1"/>
    <p:sldId xmlns:r="http://schemas.openxmlformats.org/officeDocument/2006/relationships" id="257" r:id="R2f7eea5e6f794878"/>
    <p:sldId xmlns:r="http://schemas.openxmlformats.org/officeDocument/2006/relationships" id="258" r:id="Reb7b518122dc40cf"/>
    <p:sldId xmlns:r="http://schemas.openxmlformats.org/officeDocument/2006/relationships" id="259" r:id="Rc98999e464fa4401"/>
    <p:sldId xmlns:r="http://schemas.openxmlformats.org/officeDocument/2006/relationships" id="260" r:id="R3987ecee26ee4c1e"/>
    <p:sldId xmlns:r="http://schemas.openxmlformats.org/officeDocument/2006/relationships" id="261" r:id="R31a32f06b28842e3"/>
    <p:sldId xmlns:r="http://schemas.openxmlformats.org/officeDocument/2006/relationships" id="262" r:id="Rda273a2a3c384220"/>
    <p:sldId xmlns:r="http://schemas.openxmlformats.org/officeDocument/2006/relationships" id="263" r:id="Ra293a6f3de8a4ca1"/>
    <p:sldId xmlns:r="http://schemas.openxmlformats.org/officeDocument/2006/relationships" id="264" r:id="R98f8a6f258f54162"/>
    <p:sldId xmlns:r="http://schemas.openxmlformats.org/officeDocument/2006/relationships" id="265" r:id="R230e839cf7b949a3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fd7ed90aacd74439" /><Relationship Type="http://schemas.openxmlformats.org/officeDocument/2006/relationships/slideMaster" Target="/ppt/slideMasters/slideMaster1.xml" Id="R28bdfddd30a54abb" /><Relationship Type="http://schemas.openxmlformats.org/officeDocument/2006/relationships/notesMaster" Target="/ppt/notesMasters/notesMaster1.xml" Id="Rb6376cf57c08456f" /><Relationship Type="http://schemas.openxmlformats.org/officeDocument/2006/relationships/presProps" Target="/ppt/presProps.xml" Id="Rc5846344e06d4b6a" /><Relationship Type="http://schemas.openxmlformats.org/officeDocument/2006/relationships/tableStyles" Target="/ppt/tableStyles.xml" Id="Rd43f37b190d94937" /><Relationship Type="http://schemas.openxmlformats.org/officeDocument/2006/relationships/slide" Target="/ppt/slides/slide1.xml" Id="R8b314bea7ffb45e1" /><Relationship Type="http://schemas.openxmlformats.org/officeDocument/2006/relationships/slide" Target="/ppt/slides/slide2.xml" Id="R2f7eea5e6f794878" /><Relationship Type="http://schemas.openxmlformats.org/officeDocument/2006/relationships/slide" Target="/ppt/slides/slide3.xml" Id="Reb7b518122dc40cf" /><Relationship Type="http://schemas.openxmlformats.org/officeDocument/2006/relationships/slide" Target="/ppt/slides/slide4.xml" Id="Rc98999e464fa4401" /><Relationship Type="http://schemas.openxmlformats.org/officeDocument/2006/relationships/slide" Target="/ppt/slides/slide5.xml" Id="R3987ecee26ee4c1e" /><Relationship Type="http://schemas.openxmlformats.org/officeDocument/2006/relationships/slide" Target="/ppt/slides/slide6.xml" Id="R31a32f06b28842e3" /><Relationship Type="http://schemas.openxmlformats.org/officeDocument/2006/relationships/slide" Target="/ppt/slides/slide7.xml" Id="Rda273a2a3c384220" /><Relationship Type="http://schemas.openxmlformats.org/officeDocument/2006/relationships/slide" Target="/ppt/slides/slide8.xml" Id="Ra293a6f3de8a4ca1" /><Relationship Type="http://schemas.openxmlformats.org/officeDocument/2006/relationships/slide" Target="/ppt/slides/slide9.xml" Id="R98f8a6f258f54162" /><Relationship Type="http://schemas.openxmlformats.org/officeDocument/2006/relationships/slide" Target="/ppt/slides/slide10.xml" Id="R230e839cf7b949a3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d6e8175364534895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234382e2ba4741e3" /><Relationship Type="http://schemas.openxmlformats.org/officeDocument/2006/relationships/notesMaster" Target="/ppt/notesMasters/notesMaster1.xml" Id="R041e2c4d6db64478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2208755076b6442e" /><Relationship Type="http://schemas.openxmlformats.org/officeDocument/2006/relationships/notesMaster" Target="/ppt/notesMasters/notesMaster1.xml" Id="Rfb14b7f9caec4c05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ac4aaf705c564b71" /><Relationship Type="http://schemas.openxmlformats.org/officeDocument/2006/relationships/notesMaster" Target="/ppt/notesMasters/notesMaster1.xml" Id="R25702fa16dc44f8c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9b2a173c2d42492c" /><Relationship Type="http://schemas.openxmlformats.org/officeDocument/2006/relationships/notesMaster" Target="/ppt/notesMasters/notesMaster1.xml" Id="Rf064b80cf3df41ef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6585eb895526491b" /><Relationship Type="http://schemas.openxmlformats.org/officeDocument/2006/relationships/notesMaster" Target="/ppt/notesMasters/notesMaster1.xml" Id="R621da7e126b14536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74c743405c3d4c96" /><Relationship Type="http://schemas.openxmlformats.org/officeDocument/2006/relationships/notesMaster" Target="/ppt/notesMasters/notesMaster1.xml" Id="R5dfdeba39e9b4903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d5df02a516ea4ad9" /><Relationship Type="http://schemas.openxmlformats.org/officeDocument/2006/relationships/notesMaster" Target="/ppt/notesMasters/notesMaster1.xml" Id="Rc1e1204b66a745b5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24902dfa39b74b2d" /><Relationship Type="http://schemas.openxmlformats.org/officeDocument/2006/relationships/notesMaster" Target="/ppt/notesMasters/notesMaster1.xml" Id="Rbe81436efc824717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0d51eb75862a48d1" /><Relationship Type="http://schemas.openxmlformats.org/officeDocument/2006/relationships/notesMaster" Target="/ppt/notesMasters/notesMaster1.xml" Id="R70c8885874624ea8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9e9e6295c7f544ee" /><Relationship Type="http://schemas.openxmlformats.org/officeDocument/2006/relationships/notesMaster" Target="/ppt/notesMasters/notesMaster1.xml" Id="Reec8bdfe627847db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Introduce the lesson. Open the matching worksheet and experience from Topic 1.1. Use the deck in order, revealing starter answers only after pupils have attempted the quiz.</a:t>
            </a:r>
          </a:p>
          <a:p xmlns:a="http://schemas.openxmlformats.org/drawingml/2006/main">
            <a:r>
              <a:t>Sources: Revise360 experiences/sa-l01.json and worksheets/SA_L01_FetchExecuteFactory_Worksheet.docx. Indicative answers are for discussion and self-check, not an official exam-board mark scheme.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Allow about five minutes. Students can write the four terms in their books or on the worksheet. Ask them to justify one answer before showing the next slide.</a:t>
            </a:r>
          </a:p>
          <a:p xmlns:a="http://schemas.openxmlformats.org/drawingml/2006/main">
            <a:r>
              <a:t>Sources: Revise360 experiences/sa-l01.json and worksheets/SA_L01_FetchExecuteFactory_Worksheet.docx. Indicative answers are for discussion and self-check, not an official exam-board mark scheme.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Accept close equivalents where the technical meaning is intact. The starter prompt printed in the worksheet can serve as a short discussion before the experience.</a:t>
            </a:r>
          </a:p>
          <a:p xmlns:a="http://schemas.openxmlformats.org/drawingml/2006/main">
            <a:r>
              <a:t>Sources: Revise360 experiences/sa-l01.json and worksheets/SA_L01_FetchExecuteFactory_Worksheet.docx. Indicative answers are for discussion and self-check, not an official exam-board mark scheme.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Directions in every experience: turn right for stations 1 and 2, around for 3 and 4, left for 5 and 6, and down for the star. Students should record notes before attempting each badge.</a:t>
            </a:r>
          </a:p>
          <a:p xmlns:a="http://schemas.openxmlformats.org/drawingml/2006/main">
            <a:r>
              <a:t>Sources: Revise360 experiences/sa-l01.json and worksheets/SA_L01_FetchExecuteFactory_Worksheet.docx. Indicative answers are for discussion and self-check, not an official exam-board mark scheme.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Independent extension. Invite a worked explanation, not a one-word answer. Students can discuss in pairs after writing first.</a:t>
            </a:r>
          </a:p>
          <a:p xmlns:a="http://schemas.openxmlformats.org/drawingml/2006/main">
            <a:r>
              <a:t>Sources: Revise360 experiences/sa-l01.json and worksheets/SA_L01_FetchExecuteFactory_Worksheet.docx. Indicative answers are for discussion and self-check, not an official exam-board mark scheme.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This slide is for students who finish the experience before the class plenary. If time is short, move the whole class to the quiz.</a:t>
            </a:r>
          </a:p>
          <a:p xmlns:a="http://schemas.openxmlformats.org/drawingml/2006/main">
            <a:r>
              <a:t>Sources: Revise360 experiences/sa-l01.json and worksheets/SA_L01_FetchExecuteFactory_Worksheet.docx. Indicative answers are for discussion and self-check, not an official exam-board mark scheme.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These are the first two exam-practice questions from the lesson worksheet. Give writing time and avoid displaying answers until all students have attempted them.</a:t>
            </a:r>
          </a:p>
          <a:p xmlns:a="http://schemas.openxmlformats.org/drawingml/2006/main">
            <a:r>
              <a:t>Sources: Revise360 experiences/sa-l01.json and worksheets/SA_L01_FetchExecuteFactory_Worksheet.docx. Indicative answers are for discussion and self-check, not an official exam-board mark scheme.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This is question c from the worksheet. Let students complete it independently, then reveal the indicative answer points.</a:t>
            </a:r>
          </a:p>
          <a:p xmlns:a="http://schemas.openxmlformats.org/drawingml/2006/main">
            <a:r>
              <a:t>Sources: Revise360 experiences/sa-l01.json and worksheets/SA_L01_FetchExecuteFactory_Worksheet.docx. Indicative answers are for discussion and self-check, not an official exam-board mark scheme.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These are classroom answer points, not an official OCR mark scheme. Ask students to annotate one improvement in a different colour.</a:t>
            </a:r>
          </a:p>
          <a:p xmlns:a="http://schemas.openxmlformats.org/drawingml/2006/main">
            <a:r>
              <a:t>Sources: Revise360 experiences/sa-l01.json and worksheets/SA_L01_FetchExecuteFactory_Worksheet.docx. Indicative answers are for discussion and self-check, not an official exam-board mark scheme.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Use the worksheet final challenge to rehearse the six steps. The cache item is deliberately nuanced: replacement is normal; a miss causes the delay. Ask students to revise one sentence after self-check.</a:t>
            </a:r>
          </a:p>
          <a:p xmlns:a="http://schemas.openxmlformats.org/drawingml/2006/main">
            <a:r>
              <a:t>Sources: Revise360 experiences/sa-l01.json and worksheets/SA_L01_FetchExecuteFactory_Worksheet.docx. Indicative answers are for discussion and self-check, not an official exam-board mark scheme.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50fbbd9904a448d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c20a9d7bae09421a" /><Relationship Type="http://schemas.openxmlformats.org/officeDocument/2006/relationships/slideLayout" Target="/ppt/slideLayouts/slideLayout1.xml" Id="Rba3e3a33cf8d412f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ba3e3a33cf8d412f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0fd23622ede4142" /><Relationship Type="http://schemas.openxmlformats.org/officeDocument/2006/relationships/image" Target="/ppt/media/image.jpeg" Id="R0fa1c79c9dad488c" /><Relationship Type="http://schemas.openxmlformats.org/officeDocument/2006/relationships/notesSlide" Target="/ppt/notesSlides/notesSlide1.xml" Id="R274556270c774255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a11021f69734f12" /><Relationship Type="http://schemas.openxmlformats.org/officeDocument/2006/relationships/notesSlide" Target="/ppt/notesSlides/notesSlide2.xml" Id="R95aee656d1b54630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db564027a0b4e71" /><Relationship Type="http://schemas.openxmlformats.org/officeDocument/2006/relationships/notesSlide" Target="/ppt/notesSlides/notesSlide3.xml" Id="Rec6daaeba55e4fbd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6348e7119ea4072" /><Relationship Type="http://schemas.openxmlformats.org/officeDocument/2006/relationships/hyperlink" Target="https://mrp-cs.github.io/Revise360/experience.html?id=sa-l01" TargetMode="External" Id="Rb83a2f872af44020" /><Relationship Type="http://schemas.openxmlformats.org/officeDocument/2006/relationships/notesSlide" Target="/ppt/notesSlides/notesSlide4.xml" Id="Rda68e214229d4882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d5f0b8a6f8c461b" /><Relationship Type="http://schemas.openxmlformats.org/officeDocument/2006/relationships/notesSlide" Target="/ppt/notesSlides/notesSlide5.xml" Id="Rf781c6869e344dcb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d43eedf161d490f" /><Relationship Type="http://schemas.openxmlformats.org/officeDocument/2006/relationships/notesSlide" Target="/ppt/notesSlides/notesSlide6.xml" Id="Raf26e4d50902441f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3f8ef4f8af74d39" /><Relationship Type="http://schemas.openxmlformats.org/officeDocument/2006/relationships/notesSlide" Target="/ppt/notesSlides/notesSlide7.xml" Id="Rc22226845bde416d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3a66ba67b2b4ca6" /><Relationship Type="http://schemas.openxmlformats.org/officeDocument/2006/relationships/notesSlide" Target="/ppt/notesSlides/notesSlide8.xml" Id="Rd92c8deb9d0d4460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f09af7020c14e6e" /><Relationship Type="http://schemas.openxmlformats.org/officeDocument/2006/relationships/notesSlide" Target="/ppt/notesSlides/notesSlide9.xml" Id="R8ce04bb42b61480d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4bc1ace2b2b4243" /><Relationship Type="http://schemas.openxmlformats.org/officeDocument/2006/relationships/notesSlide" Target="/ppt/notesSlides/notesSlide10.xml" Id="R25f4c4a2a2b34a1e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topic">
            <a:extLst xmlns:a="http://schemas.openxmlformats.org/drawingml/2006/main">
              <a:ext uri="{FF2B5EF4-FFF2-40B4-BE49-F238E27FC236}">
                <a16:creationId xmlns:a16="http://schemas.microsoft.com/office/drawing/2014/main" id="{A55A4568-A6D1-4925-95CC-C66B8BFA9D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23850"/>
            <a:ext cx="66675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2D63FF"/>
                </a:solidFill>
                <a:latin typeface="DejaVu Sans"/>
                <a:ea typeface="DejaVu Sans"/>
                <a:cs typeface="DejaVu Sans"/>
              </a:defRPr>
            </a:pPr>
            <a:r>
              <a:rPr sz="1125" b="1">
                <a:solidFill>
                  <a:srgbClr val="2D63FF"/>
                </a:solidFill>
                <a:latin typeface="DejaVu Sans"/>
                <a:ea typeface="DejaVu Sans"/>
                <a:cs typeface="DejaVu Sans"/>
              </a:rPr>
              <a:t>TOPIC 1.1   LESSON 01</a:t>
            </a:r>
          </a:p>
        </p:txBody>
      </p:sp>
      <p:sp>
        <p:nvSpPr>
          <p:cNvPr id="2" name="heading">
            <a:extLst xmlns:a="http://schemas.openxmlformats.org/drawingml/2006/main">
              <a:ext uri="{FF2B5EF4-FFF2-40B4-BE49-F238E27FC236}">
                <a16:creationId xmlns:a16="http://schemas.microsoft.com/office/drawing/2014/main" id="{2BA81162-3B8D-4112-A782-826DB3658D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762000"/>
            <a:ext cx="108585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225" b="1">
                <a:solidFill>
                  <a:srgbClr val="101828"/>
                </a:solidFill>
                <a:latin typeface="DejaVu Sans"/>
                <a:ea typeface="DejaVu Sans"/>
                <a:cs typeface="DejaVu Sans"/>
              </a:defRPr>
            </a:pPr>
            <a:r>
              <a:rPr sz="3225" b="1">
                <a:solidFill>
                  <a:srgbClr val="101828"/>
                </a:solidFill>
                <a:latin typeface="DejaVu Sans"/>
                <a:ea typeface="DejaVu Sans"/>
                <a:cs typeface="DejaVu Sans"/>
              </a:rPr>
              <a:t>FETCH-EXECUTE FACTORY</a:t>
            </a:r>
          </a:p>
        </p:txBody>
      </p:sp>
      <p:sp>
        <p:nvSpPr>
          <p:cNvPr id="3" name="footer">
            <a:extLst xmlns:a="http://schemas.openxmlformats.org/drawingml/2006/main">
              <a:ext uri="{FF2B5EF4-FFF2-40B4-BE49-F238E27FC236}">
                <a16:creationId xmlns:a16="http://schemas.microsoft.com/office/drawing/2014/main" id="{50CFB0F6-D3F0-4B29-B5C7-BED7ED96C3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400800"/>
            <a:ext cx="981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050" b="0">
                <a:solidFill>
                  <a:srgbClr val="526174"/>
                </a:solidFill>
                <a:latin typeface="DejaVu Sans"/>
                <a:ea typeface="DejaVu Sans"/>
                <a:cs typeface="DejaVu Sans"/>
              </a:defRPr>
            </a:pPr>
            <a:r>
              <a:rPr sz="1050" b="0">
                <a:solidFill>
                  <a:srgbClr val="526174"/>
                </a:solidFill>
                <a:latin typeface="DejaVu Sans"/>
                <a:ea typeface="DejaVu Sans"/>
                <a:cs typeface="DejaVu Sans"/>
              </a:rPr>
              <a:t>Revise 360    OCR J277 1.1 Systems architecture</a:t>
            </a:r>
          </a:p>
        </p:txBody>
      </p:sp>
      <p:sp>
        <p:nvSpPr>
          <p:cNvPr id="4" name="page">
            <a:extLst xmlns:a="http://schemas.openxmlformats.org/drawingml/2006/main">
              <a:ext uri="{FF2B5EF4-FFF2-40B4-BE49-F238E27FC236}">
                <a16:creationId xmlns:a16="http://schemas.microsoft.com/office/drawing/2014/main" id="{996131D2-BC50-478A-BDB4-3C1FB70FB3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400800"/>
            <a:ext cx="857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050" b="0">
                <a:solidFill>
                  <a:srgbClr val="526174"/>
                </a:solidFill>
                <a:latin typeface="DejaVu Sans"/>
                <a:ea typeface="DejaVu Sans"/>
                <a:cs typeface="DejaVu Sans"/>
              </a:defRPr>
            </a:pPr>
            <a:r>
              <a:rPr sz="1050" b="0">
                <a:solidFill>
                  <a:srgbClr val="526174"/>
                </a:solidFill>
                <a:latin typeface="DejaVu Sans"/>
                <a:ea typeface="DejaVu Sans"/>
                <a:cs typeface="DejaVu Sans"/>
              </a:rPr>
              <a:t>1 / 10</a:t>
            </a:r>
          </a:p>
        </p:txBody>
      </p:sp>
      <p:sp>
        <p:nvSpPr>
          <p:cNvPr id="5" name="subject">
            <a:extLst xmlns:a="http://schemas.openxmlformats.org/drawingml/2006/main">
              <a:ext uri="{FF2B5EF4-FFF2-40B4-BE49-F238E27FC236}">
                <a16:creationId xmlns:a16="http://schemas.microsoft.com/office/drawing/2014/main" id="{AFE19488-F1DA-43CD-A3F2-D04F64330B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733550"/>
            <a:ext cx="5715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325" b="0">
                <a:solidFill>
                  <a:srgbClr val="2D63FF"/>
                </a:solidFill>
                <a:latin typeface="DejaVu Sans"/>
                <a:ea typeface="DejaVu Sans"/>
                <a:cs typeface="DejaVu Sans"/>
              </a:defRPr>
            </a:pPr>
            <a:r>
              <a:rPr sz="2325" b="0">
                <a:solidFill>
                  <a:srgbClr val="2D63FF"/>
                </a:solidFill>
                <a:latin typeface="DejaVu Sans"/>
                <a:ea typeface="DejaVu Sans"/>
                <a:cs typeface="DejaVu Sans"/>
              </a:rPr>
              <a:t>Purpose of the CPU</a:t>
            </a:r>
          </a:p>
        </p:txBody>
      </p:sp>
      <p:sp>
        <p:nvSpPr>
          <p:cNvPr id="6" name="sequence">
            <a:extLst xmlns:a="http://schemas.openxmlformats.org/drawingml/2006/main">
              <a:ext uri="{FF2B5EF4-FFF2-40B4-BE49-F238E27FC236}">
                <a16:creationId xmlns:a16="http://schemas.microsoft.com/office/drawing/2014/main" id="{6A606F02-6A74-425F-A7BD-39867CCEF1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105150"/>
            <a:ext cx="5048250" cy="1828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23000"/>
              </a:lnSpc>
              <a:buNone/>
              <a:defRPr sz="1875" b="0">
                <a:solidFill>
                  <a:srgbClr val="526174"/>
                </a:solidFill>
                <a:latin typeface="DejaVu Sans"/>
                <a:ea typeface="DejaVu Sans"/>
                <a:cs typeface="DejaVu Sans"/>
              </a:defRPr>
            </a:pPr>
            <a:r>
              <a:rPr sz="1875" b="0">
                <a:solidFill>
                  <a:srgbClr val="526174"/>
                </a:solidFill>
                <a:latin typeface="DejaVu Sans"/>
                <a:ea typeface="DejaVu Sans"/>
                <a:cs typeface="DejaVu Sans"/>
              </a:rPr>
              <a:t>Starter quiz</a:t>
            </a:r>
          </a:p>
          <a:p xmlns:a="http://schemas.openxmlformats.org/drawingml/2006/main">
            <a:pPr>
              <a:lnSpc>
                <a:spcPct val="123000"/>
              </a:lnSpc>
              <a:buNone/>
              <a:defRPr sz="1875" b="0">
                <a:solidFill>
                  <a:srgbClr val="526174"/>
                </a:solidFill>
                <a:latin typeface="DejaVu Sans"/>
                <a:ea typeface="DejaVu Sans"/>
                <a:cs typeface="DejaVu Sans"/>
              </a:defRPr>
            </a:pPr>
            <a:r>
              <a:rPr sz="1875" b="0">
                <a:solidFill>
                  <a:srgbClr val="526174"/>
                </a:solidFill>
                <a:latin typeface="DejaVu Sans"/>
                <a:ea typeface="DejaVu Sans"/>
                <a:cs typeface="DejaVu Sans"/>
              </a:rPr>
              <a:t>360° experience</a:t>
            </a:r>
          </a:p>
          <a:p xmlns:a="http://schemas.openxmlformats.org/drawingml/2006/main">
            <a:pPr>
              <a:lnSpc>
                <a:spcPct val="123000"/>
              </a:lnSpc>
              <a:buNone/>
              <a:defRPr sz="1875" b="0">
                <a:solidFill>
                  <a:srgbClr val="526174"/>
                </a:solidFill>
                <a:latin typeface="DejaVu Sans"/>
                <a:ea typeface="DejaVu Sans"/>
                <a:cs typeface="DejaVu Sans"/>
              </a:defRPr>
            </a:pPr>
            <a:r>
              <a:rPr sz="1875" b="0">
                <a:solidFill>
                  <a:srgbClr val="526174"/>
                </a:solidFill>
                <a:latin typeface="DejaVu Sans"/>
                <a:ea typeface="DejaVu Sans"/>
                <a:cs typeface="DejaVu Sans"/>
              </a:rPr>
              <a:t>Plenary exam quiz</a:t>
            </a:r>
          </a:p>
        </p:txBody>
      </p:sp>
      <p:pic>
        <p:nvPicPr>
          <p:cNvPr id="1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fa1c79c9dad488c"/>
          <a:srcRect xmlns:a="http://schemas.openxmlformats.org/drawingml/2006/main" l="5297" t="0" r="5297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505575" y="1809750"/>
            <a:ext cx="5000625" cy="367665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75976625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opic">
            <a:extLst xmlns:a="http://schemas.openxmlformats.org/drawingml/2006/main">
              <a:ext uri="{FF2B5EF4-FFF2-40B4-BE49-F238E27FC236}">
                <a16:creationId xmlns:a16="http://schemas.microsoft.com/office/drawing/2014/main" id="{4E8F51D3-F99C-46D4-AD88-F615C0E9F9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23850"/>
            <a:ext cx="66675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2D63FF"/>
                </a:solidFill>
                <a:latin typeface="DejaVu Sans"/>
                <a:ea typeface="DejaVu Sans"/>
                <a:cs typeface="DejaVu Sans"/>
              </a:defRPr>
            </a:pPr>
            <a:r>
              <a:rPr sz="1125" b="1">
                <a:solidFill>
                  <a:srgbClr val="2D63FF"/>
                </a:solidFill>
                <a:latin typeface="DejaVu Sans"/>
                <a:ea typeface="DejaVu Sans"/>
                <a:cs typeface="DejaVu Sans"/>
              </a:rPr>
              <a:t>TOPIC 1.1   LESSON 01</a:t>
            </a:r>
          </a:p>
        </p:txBody>
      </p:sp>
      <p:sp>
        <p:nvSpPr>
          <p:cNvPr id="2" name="heading">
            <a:extLst xmlns:a="http://schemas.openxmlformats.org/drawingml/2006/main">
              <a:ext uri="{FF2B5EF4-FFF2-40B4-BE49-F238E27FC236}">
                <a16:creationId xmlns:a16="http://schemas.microsoft.com/office/drawing/2014/main" id="{06EC4572-0A5B-4F35-BBC8-ACB457D45C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762000"/>
            <a:ext cx="108585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225" b="1">
                <a:solidFill>
                  <a:srgbClr val="101828"/>
                </a:solidFill>
                <a:latin typeface="DejaVu Sans"/>
                <a:ea typeface="DejaVu Sans"/>
                <a:cs typeface="DejaVu Sans"/>
              </a:defRPr>
            </a:pPr>
            <a:r>
              <a:rPr sz="3225" b="1">
                <a:solidFill>
                  <a:srgbClr val="101828"/>
                </a:solidFill>
                <a:latin typeface="DejaVu Sans"/>
                <a:ea typeface="DejaVu Sans"/>
                <a:cs typeface="DejaVu Sans"/>
              </a:rPr>
              <a:t>Starter: key terms quiz</a:t>
            </a:r>
          </a:p>
        </p:txBody>
      </p:sp>
      <p:sp>
        <p:nvSpPr>
          <p:cNvPr id="3" name="footer">
            <a:extLst xmlns:a="http://schemas.openxmlformats.org/drawingml/2006/main">
              <a:ext uri="{FF2B5EF4-FFF2-40B4-BE49-F238E27FC236}">
                <a16:creationId xmlns:a16="http://schemas.microsoft.com/office/drawing/2014/main" id="{6EB65694-CF0F-4CD2-ADFB-C89572F81E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400800"/>
            <a:ext cx="981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050" b="0">
                <a:solidFill>
                  <a:srgbClr val="526174"/>
                </a:solidFill>
                <a:latin typeface="DejaVu Sans"/>
                <a:ea typeface="DejaVu Sans"/>
                <a:cs typeface="DejaVu Sans"/>
              </a:defRPr>
            </a:pPr>
            <a:r>
              <a:rPr sz="1050" b="0">
                <a:solidFill>
                  <a:srgbClr val="526174"/>
                </a:solidFill>
                <a:latin typeface="DejaVu Sans"/>
                <a:ea typeface="DejaVu Sans"/>
                <a:cs typeface="DejaVu Sans"/>
              </a:rPr>
              <a:t>Revise 360    OCR J277 1.1 Systems architecture    Starter</a:t>
            </a:r>
          </a:p>
        </p:txBody>
      </p:sp>
      <p:sp>
        <p:nvSpPr>
          <p:cNvPr id="4" name="page">
            <a:extLst xmlns:a="http://schemas.openxmlformats.org/drawingml/2006/main">
              <a:ext uri="{FF2B5EF4-FFF2-40B4-BE49-F238E27FC236}">
                <a16:creationId xmlns:a16="http://schemas.microsoft.com/office/drawing/2014/main" id="{9BDB7259-4A6A-470C-8BA4-C5AC79E1CF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400800"/>
            <a:ext cx="857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050" b="0">
                <a:solidFill>
                  <a:srgbClr val="526174"/>
                </a:solidFill>
                <a:latin typeface="DejaVu Sans"/>
                <a:ea typeface="DejaVu Sans"/>
                <a:cs typeface="DejaVu Sans"/>
              </a:defRPr>
            </a:pPr>
            <a:r>
              <a:rPr sz="1050" b="0">
                <a:solidFill>
                  <a:srgbClr val="526174"/>
                </a:solidFill>
                <a:latin typeface="DejaVu Sans"/>
                <a:ea typeface="DejaVu Sans"/>
                <a:cs typeface="DejaVu Sans"/>
              </a:rPr>
              <a:t>2 / 10</a:t>
            </a:r>
          </a:p>
        </p:txBody>
      </p:sp>
      <p:sp>
        <p:nvSpPr>
          <p:cNvPr id="5" name="starter-instruction">
            <a:extLst xmlns:a="http://schemas.openxmlformats.org/drawingml/2006/main">
              <a:ext uri="{FF2B5EF4-FFF2-40B4-BE49-F238E27FC236}">
                <a16:creationId xmlns:a16="http://schemas.microsoft.com/office/drawing/2014/main" id="{CB0135F0-CD99-4817-9A2F-BCD2A5B2EB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43050"/>
            <a:ext cx="1071562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875" b="0">
                <a:solidFill>
                  <a:srgbClr val="526174"/>
                </a:solidFill>
                <a:latin typeface="DejaVu Sans"/>
                <a:ea typeface="DejaVu Sans"/>
                <a:cs typeface="DejaVu Sans"/>
              </a:defRPr>
            </a:pPr>
            <a:r>
              <a:rPr sz="1875" b="0">
                <a:solidFill>
                  <a:srgbClr val="526174"/>
                </a:solidFill>
                <a:latin typeface="DejaVu Sans"/>
                <a:ea typeface="DejaVu Sans"/>
                <a:cs typeface="DejaVu Sans"/>
              </a:rPr>
              <a:t>Write the key term that matches each definition. Work from memory.</a:t>
            </a:r>
          </a:p>
        </p:txBody>
      </p:sp>
      <p:sp>
        <p:nvSpPr>
          <p:cNvPr id="6" name="number-1">
            <a:extLst xmlns:a="http://schemas.openxmlformats.org/drawingml/2006/main">
              <a:ext uri="{FF2B5EF4-FFF2-40B4-BE49-F238E27FC236}">
                <a16:creationId xmlns:a16="http://schemas.microsoft.com/office/drawing/2014/main" id="{958EA9CF-CC42-4BA9-968C-8608728330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305050"/>
            <a:ext cx="5905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2D63FF"/>
                </a:solidFill>
                <a:latin typeface="DejaVu Sans"/>
                <a:ea typeface="DejaVu Sans"/>
                <a:cs typeface="DejaVu Sans"/>
              </a:defRPr>
            </a:pPr>
            <a:r>
              <a:rPr sz="2025" b="1">
                <a:solidFill>
                  <a:srgbClr val="2D63FF"/>
                </a:solidFill>
                <a:latin typeface="DejaVu Sans"/>
                <a:ea typeface="DejaVu Sans"/>
                <a:cs typeface="DejaVu Sans"/>
              </a:rPr>
              <a:t>1.</a:t>
            </a:r>
          </a:p>
        </p:txBody>
      </p:sp>
      <p:sp>
        <p:nvSpPr>
          <p:cNvPr id="7" name="item-1">
            <a:extLst xmlns:a="http://schemas.openxmlformats.org/drawingml/2006/main">
              <a:ext uri="{FF2B5EF4-FFF2-40B4-BE49-F238E27FC236}">
                <a16:creationId xmlns:a16="http://schemas.microsoft.com/office/drawing/2014/main" id="{2A3CC8FB-4745-4AAD-950F-A3D5E31DC7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2305050"/>
            <a:ext cx="99250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025" b="0">
                <a:solidFill>
                  <a:srgbClr val="101828"/>
                </a:solidFill>
                <a:latin typeface="DejaVu Sans"/>
                <a:ea typeface="DejaVu Sans"/>
                <a:cs typeface="DejaVu Sans"/>
              </a:defRPr>
            </a:pPr>
            <a:r>
              <a:rPr sz="2025" b="0">
                <a:solidFill>
                  <a:srgbClr val="101828"/>
                </a:solidFill>
                <a:latin typeface="DejaVu Sans"/>
                <a:ea typeface="DejaVu Sans"/>
                <a:cs typeface="DejaVu Sans"/>
              </a:rPr>
              <a:t>A component that processes data and instructions</a:t>
            </a:r>
          </a:p>
        </p:txBody>
      </p:sp>
      <p:sp>
        <p:nvSpPr>
          <p:cNvPr id="8" name="number-2">
            <a:extLst xmlns:a="http://schemas.openxmlformats.org/drawingml/2006/main">
              <a:ext uri="{FF2B5EF4-FFF2-40B4-BE49-F238E27FC236}">
                <a16:creationId xmlns:a16="http://schemas.microsoft.com/office/drawing/2014/main" id="{D4CD1BEA-1F98-4667-B4FF-730E940DCB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181350"/>
            <a:ext cx="5905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2D63FF"/>
                </a:solidFill>
                <a:latin typeface="DejaVu Sans"/>
                <a:ea typeface="DejaVu Sans"/>
                <a:cs typeface="DejaVu Sans"/>
              </a:defRPr>
            </a:pPr>
            <a:r>
              <a:rPr sz="2025" b="1">
                <a:solidFill>
                  <a:srgbClr val="2D63FF"/>
                </a:solidFill>
                <a:latin typeface="DejaVu Sans"/>
                <a:ea typeface="DejaVu Sans"/>
                <a:cs typeface="DejaVu Sans"/>
              </a:rPr>
              <a:t>2.</a:t>
            </a:r>
          </a:p>
        </p:txBody>
      </p:sp>
      <p:sp>
        <p:nvSpPr>
          <p:cNvPr id="9" name="item-2">
            <a:extLst xmlns:a="http://schemas.openxmlformats.org/drawingml/2006/main">
              <a:ext uri="{FF2B5EF4-FFF2-40B4-BE49-F238E27FC236}">
                <a16:creationId xmlns:a16="http://schemas.microsoft.com/office/drawing/2014/main" id="{3510D5D4-CD15-460D-A09A-1556F23C37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3181350"/>
            <a:ext cx="99250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025" b="0">
                <a:solidFill>
                  <a:srgbClr val="101828"/>
                </a:solidFill>
                <a:latin typeface="DejaVu Sans"/>
                <a:ea typeface="DejaVu Sans"/>
                <a:cs typeface="DejaVu Sans"/>
              </a:defRPr>
            </a:pPr>
            <a:r>
              <a:rPr sz="2025" b="0">
                <a:solidFill>
                  <a:srgbClr val="101828"/>
                </a:solidFill>
                <a:latin typeface="DejaVu Sans"/>
                <a:ea typeface="DejaVu Sans"/>
                <a:cs typeface="DejaVu Sans"/>
              </a:rPr>
              <a:t>The register with the address of the next instruction</a:t>
            </a:r>
          </a:p>
        </p:txBody>
      </p:sp>
      <p:sp>
        <p:nvSpPr>
          <p:cNvPr id="10" name="number-3">
            <a:extLst xmlns:a="http://schemas.openxmlformats.org/drawingml/2006/main">
              <a:ext uri="{FF2B5EF4-FFF2-40B4-BE49-F238E27FC236}">
                <a16:creationId xmlns:a16="http://schemas.microsoft.com/office/drawing/2014/main" id="{08062F45-E0D2-4E8F-B5A2-C1839A4D53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057650"/>
            <a:ext cx="5905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2D63FF"/>
                </a:solidFill>
                <a:latin typeface="DejaVu Sans"/>
                <a:ea typeface="DejaVu Sans"/>
                <a:cs typeface="DejaVu Sans"/>
              </a:defRPr>
            </a:pPr>
            <a:r>
              <a:rPr sz="2025" b="1">
                <a:solidFill>
                  <a:srgbClr val="2D63FF"/>
                </a:solidFill>
                <a:latin typeface="DejaVu Sans"/>
                <a:ea typeface="DejaVu Sans"/>
                <a:cs typeface="DejaVu Sans"/>
              </a:rPr>
              <a:t>3.</a:t>
            </a:r>
          </a:p>
        </p:txBody>
      </p:sp>
      <p:sp>
        <p:nvSpPr>
          <p:cNvPr id="11" name="item-3">
            <a:extLst xmlns:a="http://schemas.openxmlformats.org/drawingml/2006/main">
              <a:ext uri="{FF2B5EF4-FFF2-40B4-BE49-F238E27FC236}">
                <a16:creationId xmlns:a16="http://schemas.microsoft.com/office/drawing/2014/main" id="{CFD399FC-1C77-4B87-860D-4313EB2FA6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4057650"/>
            <a:ext cx="99250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025" b="0">
                <a:solidFill>
                  <a:srgbClr val="101828"/>
                </a:solidFill>
                <a:latin typeface="DejaVu Sans"/>
                <a:ea typeface="DejaVu Sans"/>
                <a:cs typeface="DejaVu Sans"/>
              </a:defRPr>
            </a:pPr>
            <a:r>
              <a:rPr sz="2025" b="0">
                <a:solidFill>
                  <a:srgbClr val="101828"/>
                </a:solidFill>
                <a:latin typeface="DejaVu Sans"/>
                <a:ea typeface="DejaVu Sans"/>
                <a:cs typeface="DejaVu Sans"/>
              </a:rPr>
              <a:t>The CPU component that performs arithmetic and logic</a:t>
            </a:r>
          </a:p>
        </p:txBody>
      </p:sp>
      <p:sp>
        <p:nvSpPr>
          <p:cNvPr id="12" name="number-4">
            <a:extLst xmlns:a="http://schemas.openxmlformats.org/drawingml/2006/main">
              <a:ext uri="{FF2B5EF4-FFF2-40B4-BE49-F238E27FC236}">
                <a16:creationId xmlns:a16="http://schemas.microsoft.com/office/drawing/2014/main" id="{8B5A5D00-5A77-47DD-B49F-98921D7A0B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933950"/>
            <a:ext cx="5905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2D63FF"/>
                </a:solidFill>
                <a:latin typeface="DejaVu Sans"/>
                <a:ea typeface="DejaVu Sans"/>
                <a:cs typeface="DejaVu Sans"/>
              </a:defRPr>
            </a:pPr>
            <a:r>
              <a:rPr sz="2025" b="1">
                <a:solidFill>
                  <a:srgbClr val="2D63FF"/>
                </a:solidFill>
                <a:latin typeface="DejaVu Sans"/>
                <a:ea typeface="DejaVu Sans"/>
                <a:cs typeface="DejaVu Sans"/>
              </a:rPr>
              <a:t>4.</a:t>
            </a:r>
          </a:p>
        </p:txBody>
      </p:sp>
      <p:sp>
        <p:nvSpPr>
          <p:cNvPr id="13" name="item-4">
            <a:extLst xmlns:a="http://schemas.openxmlformats.org/drawingml/2006/main">
              <a:ext uri="{FF2B5EF4-FFF2-40B4-BE49-F238E27FC236}">
                <a16:creationId xmlns:a16="http://schemas.microsoft.com/office/drawing/2014/main" id="{9A1A8B70-425D-4179-8AE8-C1492FED38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4933950"/>
            <a:ext cx="99250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025" b="0">
                <a:solidFill>
                  <a:srgbClr val="101828"/>
                </a:solidFill>
                <a:latin typeface="DejaVu Sans"/>
                <a:ea typeface="DejaVu Sans"/>
                <a:cs typeface="DejaVu Sans"/>
              </a:defRPr>
            </a:pPr>
            <a:r>
              <a:rPr sz="2025" b="0">
                <a:solidFill>
                  <a:srgbClr val="101828"/>
                </a:solidFill>
                <a:latin typeface="DejaVu Sans"/>
                <a:ea typeface="DejaVu Sans"/>
                <a:cs typeface="DejaVu Sans"/>
              </a:rPr>
              <a:t>Small, fast memory for frequently used data</a:t>
            </a:r>
          </a:p>
        </p:txBody>
      </p:sp>
    </p:spTree>
    <p:extLst>
      <p:ext uri="{BB962C8B-B14F-4D97-AF65-F5344CB8AC3E}">
        <p14:creationId xmlns:p14="http://schemas.microsoft.com/office/powerpoint/2010/main" val="248789799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opic">
            <a:extLst xmlns:a="http://schemas.openxmlformats.org/drawingml/2006/main">
              <a:ext uri="{FF2B5EF4-FFF2-40B4-BE49-F238E27FC236}">
                <a16:creationId xmlns:a16="http://schemas.microsoft.com/office/drawing/2014/main" id="{E43EFBA9-FF8E-4316-9595-4CBD0BCDC3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23850"/>
            <a:ext cx="66675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2D63FF"/>
                </a:solidFill>
                <a:latin typeface="DejaVu Sans"/>
                <a:ea typeface="DejaVu Sans"/>
                <a:cs typeface="DejaVu Sans"/>
              </a:defRPr>
            </a:pPr>
            <a:r>
              <a:rPr sz="1125" b="1">
                <a:solidFill>
                  <a:srgbClr val="2D63FF"/>
                </a:solidFill>
                <a:latin typeface="DejaVu Sans"/>
                <a:ea typeface="DejaVu Sans"/>
                <a:cs typeface="DejaVu Sans"/>
              </a:rPr>
              <a:t>TOPIC 1.1   LESSON 01</a:t>
            </a:r>
          </a:p>
        </p:txBody>
      </p:sp>
      <p:sp>
        <p:nvSpPr>
          <p:cNvPr id="2" name="heading">
            <a:extLst xmlns:a="http://schemas.openxmlformats.org/drawingml/2006/main">
              <a:ext uri="{FF2B5EF4-FFF2-40B4-BE49-F238E27FC236}">
                <a16:creationId xmlns:a16="http://schemas.microsoft.com/office/drawing/2014/main" id="{6E285277-D8CC-4B67-8EAF-03BF114005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762000"/>
            <a:ext cx="108585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225" b="1">
                <a:solidFill>
                  <a:srgbClr val="101828"/>
                </a:solidFill>
                <a:latin typeface="DejaVu Sans"/>
                <a:ea typeface="DejaVu Sans"/>
                <a:cs typeface="DejaVu Sans"/>
              </a:defRPr>
            </a:pPr>
            <a:r>
              <a:rPr sz="3225" b="1">
                <a:solidFill>
                  <a:srgbClr val="101828"/>
                </a:solidFill>
                <a:latin typeface="DejaVu Sans"/>
                <a:ea typeface="DejaVu Sans"/>
                <a:cs typeface="DejaVu Sans"/>
              </a:rPr>
              <a:t>Starter: answers</a:t>
            </a:r>
          </a:p>
        </p:txBody>
      </p:sp>
      <p:sp>
        <p:nvSpPr>
          <p:cNvPr id="3" name="footer">
            <a:extLst xmlns:a="http://schemas.openxmlformats.org/drawingml/2006/main">
              <a:ext uri="{FF2B5EF4-FFF2-40B4-BE49-F238E27FC236}">
                <a16:creationId xmlns:a16="http://schemas.microsoft.com/office/drawing/2014/main" id="{551B2B1B-6630-4268-9137-C965BF702B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400800"/>
            <a:ext cx="981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050" b="0">
                <a:solidFill>
                  <a:srgbClr val="526174"/>
                </a:solidFill>
                <a:latin typeface="DejaVu Sans"/>
                <a:ea typeface="DejaVu Sans"/>
                <a:cs typeface="DejaVu Sans"/>
              </a:defRPr>
            </a:pPr>
            <a:r>
              <a:rPr sz="1050" b="0">
                <a:solidFill>
                  <a:srgbClr val="526174"/>
                </a:solidFill>
                <a:latin typeface="DejaVu Sans"/>
                <a:ea typeface="DejaVu Sans"/>
                <a:cs typeface="DejaVu Sans"/>
              </a:rPr>
              <a:t>Revise 360    OCR J277 1.1 Systems architecture    Starter</a:t>
            </a:r>
          </a:p>
        </p:txBody>
      </p:sp>
      <p:sp>
        <p:nvSpPr>
          <p:cNvPr id="4" name="page">
            <a:extLst xmlns:a="http://schemas.openxmlformats.org/drawingml/2006/main">
              <a:ext uri="{FF2B5EF4-FFF2-40B4-BE49-F238E27FC236}">
                <a16:creationId xmlns:a16="http://schemas.microsoft.com/office/drawing/2014/main" id="{1A3746A8-62F0-4FA1-BA8A-82DBC1F451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400800"/>
            <a:ext cx="857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050" b="0">
                <a:solidFill>
                  <a:srgbClr val="526174"/>
                </a:solidFill>
                <a:latin typeface="DejaVu Sans"/>
                <a:ea typeface="DejaVu Sans"/>
                <a:cs typeface="DejaVu Sans"/>
              </a:defRPr>
            </a:pPr>
            <a:r>
              <a:rPr sz="1050" b="0">
                <a:solidFill>
                  <a:srgbClr val="526174"/>
                </a:solidFill>
                <a:latin typeface="DejaVu Sans"/>
                <a:ea typeface="DejaVu Sans"/>
                <a:cs typeface="DejaVu Sans"/>
              </a:rPr>
              <a:t>3 / 10</a:t>
            </a:r>
          </a:p>
        </p:txBody>
      </p:sp>
      <p:sp>
        <p:nvSpPr>
          <p:cNvPr id="5" name="check">
            <a:extLst xmlns:a="http://schemas.openxmlformats.org/drawingml/2006/main">
              <a:ext uri="{FF2B5EF4-FFF2-40B4-BE49-F238E27FC236}">
                <a16:creationId xmlns:a16="http://schemas.microsoft.com/office/drawing/2014/main" id="{EE390CE0-5116-4A27-BC59-8F880EA070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43050"/>
            <a:ext cx="1071562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875" b="0">
                <a:solidFill>
                  <a:srgbClr val="526174"/>
                </a:solidFill>
                <a:latin typeface="DejaVu Sans"/>
                <a:ea typeface="DejaVu Sans"/>
                <a:cs typeface="DejaVu Sans"/>
              </a:defRPr>
            </a:pPr>
            <a:r>
              <a:rPr sz="1875" b="0">
                <a:solidFill>
                  <a:srgbClr val="526174"/>
                </a:solidFill>
                <a:latin typeface="DejaVu Sans"/>
                <a:ea typeface="DejaVu Sans"/>
                <a:cs typeface="DejaVu Sans"/>
              </a:rPr>
              <a:t>Check the term and correct any gaps in your definition.</a:t>
            </a:r>
          </a:p>
        </p:txBody>
      </p:sp>
      <p:sp>
        <p:nvSpPr>
          <p:cNvPr id="6" name="answer-0">
            <a:extLst xmlns:a="http://schemas.openxmlformats.org/drawingml/2006/main">
              <a:ext uri="{FF2B5EF4-FFF2-40B4-BE49-F238E27FC236}">
                <a16:creationId xmlns:a16="http://schemas.microsoft.com/office/drawing/2014/main" id="{496842C3-B618-4C76-8448-9C24AD3E9E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276475"/>
            <a:ext cx="4095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2D63FF"/>
                </a:solidFill>
                <a:latin typeface="DejaVu Sans"/>
                <a:ea typeface="DejaVu Sans"/>
                <a:cs typeface="DejaVu Sans"/>
              </a:defRPr>
            </a:pPr>
            <a:r>
              <a:rPr sz="2025" b="1">
                <a:solidFill>
                  <a:srgbClr val="2D63FF"/>
                </a:solidFill>
                <a:latin typeface="DejaVu Sans"/>
                <a:ea typeface="DejaVu Sans"/>
                <a:cs typeface="DejaVu Sans"/>
              </a:rPr>
              <a:t>1. CPU</a:t>
            </a:r>
          </a:p>
        </p:txBody>
      </p:sp>
      <p:sp>
        <p:nvSpPr>
          <p:cNvPr id="7" name="meaning-0">
            <a:extLst xmlns:a="http://schemas.openxmlformats.org/drawingml/2006/main">
              <a:ext uri="{FF2B5EF4-FFF2-40B4-BE49-F238E27FC236}">
                <a16:creationId xmlns:a16="http://schemas.microsoft.com/office/drawing/2014/main" id="{F0798E6C-1B63-4FE2-BE0F-47C740C73C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67275" y="2276475"/>
            <a:ext cx="64198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101828"/>
                </a:solidFill>
                <a:latin typeface="DejaVu Sans"/>
                <a:ea typeface="DejaVu Sans"/>
                <a:cs typeface="DejaVu Sans"/>
              </a:defRPr>
            </a:pPr>
            <a:r>
              <a:rPr sz="1725" b="0">
                <a:solidFill>
                  <a:srgbClr val="101828"/>
                </a:solidFill>
                <a:latin typeface="DejaVu Sans"/>
                <a:ea typeface="DejaVu Sans"/>
                <a:cs typeface="DejaVu Sans"/>
              </a:rPr>
              <a:t>A component that processes data and instructions</a:t>
            </a:r>
          </a:p>
        </p:txBody>
      </p:sp>
      <p:sp>
        <p:nvSpPr>
          <p:cNvPr id="8" name="answer-1">
            <a:extLst xmlns:a="http://schemas.openxmlformats.org/drawingml/2006/main">
              <a:ext uri="{FF2B5EF4-FFF2-40B4-BE49-F238E27FC236}">
                <a16:creationId xmlns:a16="http://schemas.microsoft.com/office/drawing/2014/main" id="{73515AD4-F457-4B14-899C-AC250FF324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143250"/>
            <a:ext cx="4095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2D63FF"/>
                </a:solidFill>
                <a:latin typeface="DejaVu Sans"/>
                <a:ea typeface="DejaVu Sans"/>
                <a:cs typeface="DejaVu Sans"/>
              </a:defRPr>
            </a:pPr>
            <a:r>
              <a:rPr sz="2025" b="1">
                <a:solidFill>
                  <a:srgbClr val="2D63FF"/>
                </a:solidFill>
                <a:latin typeface="DejaVu Sans"/>
                <a:ea typeface="DejaVu Sans"/>
                <a:cs typeface="DejaVu Sans"/>
              </a:rPr>
              <a:t>2. Program counter (PC)</a:t>
            </a:r>
          </a:p>
        </p:txBody>
      </p:sp>
      <p:sp>
        <p:nvSpPr>
          <p:cNvPr id="9" name="meaning-1">
            <a:extLst xmlns:a="http://schemas.openxmlformats.org/drawingml/2006/main">
              <a:ext uri="{FF2B5EF4-FFF2-40B4-BE49-F238E27FC236}">
                <a16:creationId xmlns:a16="http://schemas.microsoft.com/office/drawing/2014/main" id="{1B41B69B-2DAB-4DB9-A175-20571CF69B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67275" y="3143250"/>
            <a:ext cx="64198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101828"/>
                </a:solidFill>
                <a:latin typeface="DejaVu Sans"/>
                <a:ea typeface="DejaVu Sans"/>
                <a:cs typeface="DejaVu Sans"/>
              </a:defRPr>
            </a:pPr>
            <a:r>
              <a:rPr sz="1725" b="0">
                <a:solidFill>
                  <a:srgbClr val="101828"/>
                </a:solidFill>
                <a:latin typeface="DejaVu Sans"/>
                <a:ea typeface="DejaVu Sans"/>
                <a:cs typeface="DejaVu Sans"/>
              </a:rPr>
              <a:t>The register with the address of the next instruction</a:t>
            </a:r>
          </a:p>
        </p:txBody>
      </p:sp>
      <p:sp>
        <p:nvSpPr>
          <p:cNvPr id="10" name="answer-2">
            <a:extLst xmlns:a="http://schemas.openxmlformats.org/drawingml/2006/main">
              <a:ext uri="{FF2B5EF4-FFF2-40B4-BE49-F238E27FC236}">
                <a16:creationId xmlns:a16="http://schemas.microsoft.com/office/drawing/2014/main" id="{CE9C1CF6-CECB-4E8B-AB01-0F0A307134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010025"/>
            <a:ext cx="4095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2D63FF"/>
                </a:solidFill>
                <a:latin typeface="DejaVu Sans"/>
                <a:ea typeface="DejaVu Sans"/>
                <a:cs typeface="DejaVu Sans"/>
              </a:defRPr>
            </a:pPr>
            <a:r>
              <a:rPr sz="2025" b="1">
                <a:solidFill>
                  <a:srgbClr val="2D63FF"/>
                </a:solidFill>
                <a:latin typeface="DejaVu Sans"/>
                <a:ea typeface="DejaVu Sans"/>
                <a:cs typeface="DejaVu Sans"/>
              </a:rPr>
              <a:t>3. ALU</a:t>
            </a:r>
          </a:p>
        </p:txBody>
      </p:sp>
      <p:sp>
        <p:nvSpPr>
          <p:cNvPr id="11" name="meaning-2">
            <a:extLst xmlns:a="http://schemas.openxmlformats.org/drawingml/2006/main">
              <a:ext uri="{FF2B5EF4-FFF2-40B4-BE49-F238E27FC236}">
                <a16:creationId xmlns:a16="http://schemas.microsoft.com/office/drawing/2014/main" id="{B4477188-0603-4644-8609-14973B0E4C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67275" y="4010025"/>
            <a:ext cx="64198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101828"/>
                </a:solidFill>
                <a:latin typeface="DejaVu Sans"/>
                <a:ea typeface="DejaVu Sans"/>
                <a:cs typeface="DejaVu Sans"/>
              </a:defRPr>
            </a:pPr>
            <a:r>
              <a:rPr sz="1725" b="0">
                <a:solidFill>
                  <a:srgbClr val="101828"/>
                </a:solidFill>
                <a:latin typeface="DejaVu Sans"/>
                <a:ea typeface="DejaVu Sans"/>
                <a:cs typeface="DejaVu Sans"/>
              </a:rPr>
              <a:t>The CPU component that performs arithmetic and logic</a:t>
            </a:r>
          </a:p>
        </p:txBody>
      </p:sp>
      <p:sp>
        <p:nvSpPr>
          <p:cNvPr id="12" name="answer-3">
            <a:extLst xmlns:a="http://schemas.openxmlformats.org/drawingml/2006/main">
              <a:ext uri="{FF2B5EF4-FFF2-40B4-BE49-F238E27FC236}">
                <a16:creationId xmlns:a16="http://schemas.microsoft.com/office/drawing/2014/main" id="{D0F5CA11-260E-4493-A076-F5E929584C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876800"/>
            <a:ext cx="4095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2D63FF"/>
                </a:solidFill>
                <a:latin typeface="DejaVu Sans"/>
                <a:ea typeface="DejaVu Sans"/>
                <a:cs typeface="DejaVu Sans"/>
              </a:defRPr>
            </a:pPr>
            <a:r>
              <a:rPr sz="2025" b="1">
                <a:solidFill>
                  <a:srgbClr val="2D63FF"/>
                </a:solidFill>
                <a:latin typeface="DejaVu Sans"/>
                <a:ea typeface="DejaVu Sans"/>
                <a:cs typeface="DejaVu Sans"/>
              </a:rPr>
              <a:t>4. Cache</a:t>
            </a:r>
          </a:p>
        </p:txBody>
      </p:sp>
      <p:sp>
        <p:nvSpPr>
          <p:cNvPr id="13" name="meaning-3">
            <a:extLst xmlns:a="http://schemas.openxmlformats.org/drawingml/2006/main">
              <a:ext uri="{FF2B5EF4-FFF2-40B4-BE49-F238E27FC236}">
                <a16:creationId xmlns:a16="http://schemas.microsoft.com/office/drawing/2014/main" id="{CF8E90CA-41ED-422B-81B0-7065004DB1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67275" y="4876800"/>
            <a:ext cx="64198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101828"/>
                </a:solidFill>
                <a:latin typeface="DejaVu Sans"/>
                <a:ea typeface="DejaVu Sans"/>
                <a:cs typeface="DejaVu Sans"/>
              </a:defRPr>
            </a:pPr>
            <a:r>
              <a:rPr sz="1725" b="0">
                <a:solidFill>
                  <a:srgbClr val="101828"/>
                </a:solidFill>
                <a:latin typeface="DejaVu Sans"/>
                <a:ea typeface="DejaVu Sans"/>
                <a:cs typeface="DejaVu Sans"/>
              </a:rPr>
              <a:t>Small, fast memory for frequently used data</a:t>
            </a:r>
          </a:p>
        </p:txBody>
      </p:sp>
    </p:spTree>
    <p:extLst>
      <p:ext uri="{BB962C8B-B14F-4D97-AF65-F5344CB8AC3E}">
        <p14:creationId xmlns:p14="http://schemas.microsoft.com/office/powerpoint/2010/main" val="1355493667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opic">
            <a:extLst xmlns:a="http://schemas.openxmlformats.org/drawingml/2006/main">
              <a:ext uri="{FF2B5EF4-FFF2-40B4-BE49-F238E27FC236}">
                <a16:creationId xmlns:a16="http://schemas.microsoft.com/office/drawing/2014/main" id="{D395B6C3-62E8-4FF2-AF71-0246C3D1CA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23850"/>
            <a:ext cx="66675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2D63FF"/>
                </a:solidFill>
                <a:latin typeface="DejaVu Sans"/>
                <a:ea typeface="DejaVu Sans"/>
                <a:cs typeface="DejaVu Sans"/>
              </a:defRPr>
            </a:pPr>
            <a:r>
              <a:rPr sz="1125" b="1">
                <a:solidFill>
                  <a:srgbClr val="2D63FF"/>
                </a:solidFill>
                <a:latin typeface="DejaVu Sans"/>
                <a:ea typeface="DejaVu Sans"/>
                <a:cs typeface="DejaVu Sans"/>
              </a:rPr>
              <a:t>TOPIC 1.1   LESSON 01</a:t>
            </a:r>
          </a:p>
        </p:txBody>
      </p:sp>
      <p:sp>
        <p:nvSpPr>
          <p:cNvPr id="2" name="heading">
            <a:extLst xmlns:a="http://schemas.openxmlformats.org/drawingml/2006/main">
              <a:ext uri="{FF2B5EF4-FFF2-40B4-BE49-F238E27FC236}">
                <a16:creationId xmlns:a16="http://schemas.microsoft.com/office/drawing/2014/main" id="{00BFC25C-B531-4324-9E25-8CC3E6381B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762000"/>
            <a:ext cx="108585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225" b="1">
                <a:solidFill>
                  <a:srgbClr val="101828"/>
                </a:solidFill>
                <a:latin typeface="DejaVu Sans"/>
                <a:ea typeface="DejaVu Sans"/>
                <a:cs typeface="DejaVu Sans"/>
              </a:defRPr>
            </a:pPr>
            <a:r>
              <a:rPr sz="3225" b="1">
                <a:solidFill>
                  <a:srgbClr val="101828"/>
                </a:solidFill>
                <a:latin typeface="DejaVu Sans"/>
                <a:ea typeface="DejaVu Sans"/>
                <a:cs typeface="DejaVu Sans"/>
              </a:rPr>
              <a:t>Your experience task</a:t>
            </a:r>
          </a:p>
        </p:txBody>
      </p:sp>
      <p:sp>
        <p:nvSpPr>
          <p:cNvPr id="3" name="footer">
            <a:extLst xmlns:a="http://schemas.openxmlformats.org/drawingml/2006/main">
              <a:ext uri="{FF2B5EF4-FFF2-40B4-BE49-F238E27FC236}">
                <a16:creationId xmlns:a16="http://schemas.microsoft.com/office/drawing/2014/main" id="{1EA864C9-CBC6-44DC-B9DD-69D4B329D1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400800"/>
            <a:ext cx="981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050" b="0">
                <a:solidFill>
                  <a:srgbClr val="526174"/>
                </a:solidFill>
                <a:latin typeface="DejaVu Sans"/>
                <a:ea typeface="DejaVu Sans"/>
                <a:cs typeface="DejaVu Sans"/>
              </a:defRPr>
            </a:pPr>
            <a:r>
              <a:rPr sz="1050" b="0">
                <a:solidFill>
                  <a:srgbClr val="526174"/>
                </a:solidFill>
                <a:latin typeface="DejaVu Sans"/>
                <a:ea typeface="DejaVu Sans"/>
                <a:cs typeface="DejaVu Sans"/>
              </a:rPr>
              <a:t>Revise 360    OCR J277 1.1 Systems architecture    Experience</a:t>
            </a:r>
          </a:p>
        </p:txBody>
      </p:sp>
      <p:sp>
        <p:nvSpPr>
          <p:cNvPr id="4" name="page">
            <a:extLst xmlns:a="http://schemas.openxmlformats.org/drawingml/2006/main">
              <a:ext uri="{FF2B5EF4-FFF2-40B4-BE49-F238E27FC236}">
                <a16:creationId xmlns:a16="http://schemas.microsoft.com/office/drawing/2014/main" id="{84D0711C-A315-474C-9BCA-959C25BF9B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400800"/>
            <a:ext cx="857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050" b="0">
                <a:solidFill>
                  <a:srgbClr val="526174"/>
                </a:solidFill>
                <a:latin typeface="DejaVu Sans"/>
                <a:ea typeface="DejaVu Sans"/>
                <a:cs typeface="DejaVu Sans"/>
              </a:defRPr>
            </a:pPr>
            <a:r>
              <a:rPr sz="1050" b="0">
                <a:solidFill>
                  <a:srgbClr val="526174"/>
                </a:solidFill>
                <a:latin typeface="DejaVu Sans"/>
                <a:ea typeface="DejaVu Sans"/>
                <a:cs typeface="DejaVu Sans"/>
              </a:rPr>
              <a:t>4 / 10</a:t>
            </a:r>
          </a:p>
        </p:txBody>
      </p:sp>
      <p:sp>
        <p:nvSpPr>
          <p:cNvPr id="5" name="number-1">
            <a:extLst xmlns:a="http://schemas.openxmlformats.org/drawingml/2006/main">
              <a:ext uri="{FF2B5EF4-FFF2-40B4-BE49-F238E27FC236}">
                <a16:creationId xmlns:a16="http://schemas.microsoft.com/office/drawing/2014/main" id="{9778B60C-D79E-4B84-BB1F-25DD77D1EC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676400"/>
            <a:ext cx="5905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950" b="1">
                <a:solidFill>
                  <a:srgbClr val="2D63FF"/>
                </a:solidFill>
                <a:latin typeface="DejaVu Sans"/>
                <a:ea typeface="DejaVu Sans"/>
                <a:cs typeface="DejaVu Sans"/>
              </a:defRPr>
            </a:pPr>
            <a:r>
              <a:rPr sz="1950" b="1">
                <a:solidFill>
                  <a:srgbClr val="2D63FF"/>
                </a:solidFill>
                <a:latin typeface="DejaVu Sans"/>
                <a:ea typeface="DejaVu Sans"/>
                <a:cs typeface="DejaVu Sans"/>
              </a:rPr>
              <a:t>1.</a:t>
            </a:r>
          </a:p>
        </p:txBody>
      </p:sp>
      <p:sp>
        <p:nvSpPr>
          <p:cNvPr id="6" name="item-1">
            <a:extLst xmlns:a="http://schemas.openxmlformats.org/drawingml/2006/main">
              <a:ext uri="{FF2B5EF4-FFF2-40B4-BE49-F238E27FC236}">
                <a16:creationId xmlns:a16="http://schemas.microsoft.com/office/drawing/2014/main" id="{0303E3B8-AB5B-4B79-8FD8-FFD221293B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1676400"/>
            <a:ext cx="99250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950" b="0">
                <a:solidFill>
                  <a:srgbClr val="101828"/>
                </a:solidFill>
                <a:latin typeface="DejaVu Sans"/>
                <a:ea typeface="DejaVu Sans"/>
                <a:cs typeface="DejaVu Sans"/>
              </a:defRPr>
            </a:pPr>
            <a:r>
              <a:rPr sz="1950" b="0">
                <a:solidFill>
                  <a:srgbClr val="101828"/>
                </a:solidFill>
                <a:latin typeface="DejaVu Sans"/>
                <a:ea typeface="DejaVu Sans"/>
                <a:cs typeface="DejaVu Sans"/>
              </a:rPr>
              <a:t>Open Fetch-execute factory from Topic 1.1. Keep your lesson worksheet beside you.</a:t>
            </a:r>
          </a:p>
        </p:txBody>
      </p:sp>
      <p:sp>
        <p:nvSpPr>
          <p:cNvPr id="7" name="number-2">
            <a:extLst xmlns:a="http://schemas.openxmlformats.org/drawingml/2006/main">
              <a:ext uri="{FF2B5EF4-FFF2-40B4-BE49-F238E27FC236}">
                <a16:creationId xmlns:a16="http://schemas.microsoft.com/office/drawing/2014/main" id="{5FF7EB96-F599-4A6F-BE40-F469464990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619375"/>
            <a:ext cx="5905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875" b="1">
                <a:solidFill>
                  <a:srgbClr val="2D63FF"/>
                </a:solidFill>
                <a:latin typeface="DejaVu Sans"/>
                <a:ea typeface="DejaVu Sans"/>
                <a:cs typeface="DejaVu Sans"/>
              </a:defRPr>
            </a:pPr>
            <a:r>
              <a:rPr sz="1875" b="1">
                <a:solidFill>
                  <a:srgbClr val="2D63FF"/>
                </a:solidFill>
                <a:latin typeface="DejaVu Sans"/>
                <a:ea typeface="DejaVu Sans"/>
                <a:cs typeface="DejaVu Sans"/>
              </a:rPr>
              <a:t>2.</a:t>
            </a:r>
          </a:p>
        </p:txBody>
      </p:sp>
      <p:sp>
        <p:nvSpPr>
          <p:cNvPr id="8" name="item-2">
            <a:extLst xmlns:a="http://schemas.openxmlformats.org/drawingml/2006/main">
              <a:ext uri="{FF2B5EF4-FFF2-40B4-BE49-F238E27FC236}">
                <a16:creationId xmlns:a16="http://schemas.microsoft.com/office/drawing/2014/main" id="{92C2425A-0A7A-4558-B0D8-86B7034A4B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2619375"/>
            <a:ext cx="9925050" cy="847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875" b="0">
                <a:solidFill>
                  <a:srgbClr val="101828"/>
                </a:solidFill>
                <a:latin typeface="DejaVu Sans"/>
                <a:ea typeface="DejaVu Sans"/>
                <a:cs typeface="DejaVu Sans"/>
              </a:defRPr>
            </a:pPr>
            <a:r>
              <a:rPr sz="1875" b="0">
                <a:solidFill>
                  <a:srgbClr val="101828"/>
                </a:solidFill>
                <a:latin typeface="DejaVu Sans"/>
                <a:ea typeface="DejaVu Sans"/>
                <a:cs typeface="DejaVu Sans"/>
              </a:rPr>
              <a:t>At each numbered station, read the panel and write its key fact and challenge response before tapping the badge.</a:t>
            </a:r>
          </a:p>
        </p:txBody>
      </p:sp>
      <p:sp>
        <p:nvSpPr>
          <p:cNvPr id="9" name="number-3">
            <a:extLst xmlns:a="http://schemas.openxmlformats.org/drawingml/2006/main">
              <a:ext uri="{FF2B5EF4-FFF2-40B4-BE49-F238E27FC236}">
                <a16:creationId xmlns:a16="http://schemas.microsoft.com/office/drawing/2014/main" id="{36E0C74B-C20A-49F3-A679-74933288C8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667125"/>
            <a:ext cx="5905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875" b="1">
                <a:solidFill>
                  <a:srgbClr val="2D63FF"/>
                </a:solidFill>
                <a:latin typeface="DejaVu Sans"/>
                <a:ea typeface="DejaVu Sans"/>
                <a:cs typeface="DejaVu Sans"/>
              </a:defRPr>
            </a:pPr>
            <a:r>
              <a:rPr sz="1875" b="1">
                <a:solidFill>
                  <a:srgbClr val="2D63FF"/>
                </a:solidFill>
                <a:latin typeface="DejaVu Sans"/>
                <a:ea typeface="DejaVu Sans"/>
                <a:cs typeface="DejaVu Sans"/>
              </a:rPr>
              <a:t>3.</a:t>
            </a:r>
          </a:p>
        </p:txBody>
      </p:sp>
      <p:sp>
        <p:nvSpPr>
          <p:cNvPr id="10" name="item-3">
            <a:extLst xmlns:a="http://schemas.openxmlformats.org/drawingml/2006/main">
              <a:ext uri="{FF2B5EF4-FFF2-40B4-BE49-F238E27FC236}">
                <a16:creationId xmlns:a16="http://schemas.microsoft.com/office/drawing/2014/main" id="{995CE520-A824-49A6-BB71-BDEE7EE8D1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3667125"/>
            <a:ext cx="992505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875" b="0">
                <a:solidFill>
                  <a:srgbClr val="101828"/>
                </a:solidFill>
                <a:latin typeface="DejaVu Sans"/>
                <a:ea typeface="DejaVu Sans"/>
                <a:cs typeface="DejaVu Sans"/>
              </a:defRPr>
            </a:pPr>
            <a:r>
              <a:rPr sz="1875" b="0">
                <a:solidFill>
                  <a:srgbClr val="101828"/>
                </a:solidFill>
                <a:latin typeface="DejaVu Sans"/>
                <a:ea typeface="DejaVu Sans"/>
                <a:cs typeface="DejaVu Sans"/>
              </a:rPr>
              <a:t>Answer the on-screen questions. Your first answer counts. Finish the star challenge by looking down.</a:t>
            </a:r>
          </a:p>
        </p:txBody>
      </p:sp>
      <p:sp>
        <p:nvSpPr>
          <p:cNvPr id="11" name="number-4">
            <a:extLst xmlns:a="http://schemas.openxmlformats.org/drawingml/2006/main">
              <a:ext uri="{FF2B5EF4-FFF2-40B4-BE49-F238E27FC236}">
                <a16:creationId xmlns:a16="http://schemas.microsoft.com/office/drawing/2014/main" id="{0EAC84BE-6C68-40CC-82CE-5D2ABFA175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714875"/>
            <a:ext cx="5905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875" b="1">
                <a:solidFill>
                  <a:srgbClr val="2D63FF"/>
                </a:solidFill>
                <a:latin typeface="DejaVu Sans"/>
                <a:ea typeface="DejaVu Sans"/>
                <a:cs typeface="DejaVu Sans"/>
              </a:defRPr>
            </a:pPr>
            <a:r>
              <a:rPr sz="1875" b="1">
                <a:solidFill>
                  <a:srgbClr val="2D63FF"/>
                </a:solidFill>
                <a:latin typeface="DejaVu Sans"/>
                <a:ea typeface="DejaVu Sans"/>
                <a:cs typeface="DejaVu Sans"/>
              </a:rPr>
              <a:t>4.</a:t>
            </a:r>
          </a:p>
        </p:txBody>
      </p:sp>
      <p:sp>
        <p:nvSpPr>
          <p:cNvPr id="12" name="item-4">
            <a:extLst xmlns:a="http://schemas.openxmlformats.org/drawingml/2006/main">
              <a:ext uri="{FF2B5EF4-FFF2-40B4-BE49-F238E27FC236}">
                <a16:creationId xmlns:a16="http://schemas.microsoft.com/office/drawing/2014/main" id="{2D769B30-A79D-410E-BD32-20F159697A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4714875"/>
            <a:ext cx="992505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875" b="0">
                <a:solidFill>
                  <a:srgbClr val="101828"/>
                </a:solidFill>
                <a:latin typeface="DejaVu Sans"/>
                <a:ea typeface="DejaVu Sans"/>
                <a:cs typeface="DejaVu Sans"/>
              </a:defRPr>
            </a:pPr>
            <a:r>
              <a:rPr sz="1875" b="0">
                <a:solidFill>
                  <a:srgbClr val="101828"/>
                </a:solidFill>
                <a:latin typeface="DejaVu Sans"/>
                <a:ea typeface="DejaVu Sans"/>
                <a:cs typeface="DejaVu Sans"/>
              </a:rPr>
              <a:t>Copy the score from the results screen into your worksheet (out of 22). Review any station you found hard.</a:t>
            </a:r>
          </a:p>
        </p:txBody>
      </p:sp>
      <p:sp>
        <p:nvSpPr>
          <p:cNvPr id="13" name="open-link">
            <a:extLst xmlns:a="http://schemas.openxmlformats.org/drawingml/2006/main">
              <a:ext uri="{FF2B5EF4-FFF2-40B4-BE49-F238E27FC236}">
                <a16:creationId xmlns:a16="http://schemas.microsoft.com/office/drawing/2014/main" id="{8F5DB6B8-3D9E-4199-9D67-B41B3A919E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781675"/>
            <a:ext cx="4905375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2D63FF"/>
                </a:solidFill>
                <a:latin typeface="DejaVu Sans"/>
                <a:ea typeface="DejaVu Sans"/>
                <a:cs typeface="DejaVu Sans"/>
              </a:defRPr>
            </a:pPr>
            <a:r>
              <a:rPr sz="1650" b="1">
                <a:solidFill>
                  <a:srgbClr val="2D63FF"/>
                </a:solidFill>
                <a:latin typeface="DejaVu Sans"/>
                <a:ea typeface="DejaVu Sans"/>
                <a:cs typeface="DejaVu Sans"/>
                <a:hlinkClick xmlns:r="http://schemas.openxmlformats.org/officeDocument/2006/relationships" r:id="Rb83a2f872af44020"/>
              </a:rPr>
              <a:t>Open the experience online</a:t>
            </a:r>
          </a:p>
        </p:txBody>
      </p:sp>
    </p:spTree>
    <p:extLst>
      <p:ext uri="{BB962C8B-B14F-4D97-AF65-F5344CB8AC3E}">
        <p14:creationId xmlns:p14="http://schemas.microsoft.com/office/powerpoint/2010/main" val="1406848026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topic">
            <a:extLst xmlns:a="http://schemas.openxmlformats.org/drawingml/2006/main">
              <a:ext uri="{FF2B5EF4-FFF2-40B4-BE49-F238E27FC236}">
                <a16:creationId xmlns:a16="http://schemas.microsoft.com/office/drawing/2014/main" id="{69CD8388-BBCA-4CF8-8055-3051943FB1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23850"/>
            <a:ext cx="66675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2D63FF"/>
                </a:solidFill>
                <a:latin typeface="DejaVu Sans"/>
                <a:ea typeface="DejaVu Sans"/>
                <a:cs typeface="DejaVu Sans"/>
              </a:defRPr>
            </a:pPr>
            <a:r>
              <a:rPr sz="1125" b="1">
                <a:solidFill>
                  <a:srgbClr val="2D63FF"/>
                </a:solidFill>
                <a:latin typeface="DejaVu Sans"/>
                <a:ea typeface="DejaVu Sans"/>
                <a:cs typeface="DejaVu Sans"/>
              </a:rPr>
              <a:t>TOPIC 1.1   LESSON 01</a:t>
            </a:r>
          </a:p>
        </p:txBody>
      </p:sp>
      <p:sp>
        <p:nvSpPr>
          <p:cNvPr id="2" name="heading">
            <a:extLst xmlns:a="http://schemas.openxmlformats.org/drawingml/2006/main">
              <a:ext uri="{FF2B5EF4-FFF2-40B4-BE49-F238E27FC236}">
                <a16:creationId xmlns:a16="http://schemas.microsoft.com/office/drawing/2014/main" id="{898DD7D8-BBA5-49A6-A7D2-8039BAD8B0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762000"/>
            <a:ext cx="108585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225" b="1">
                <a:solidFill>
                  <a:srgbClr val="101828"/>
                </a:solidFill>
                <a:latin typeface="DejaVu Sans"/>
                <a:ea typeface="DejaVu Sans"/>
                <a:cs typeface="DejaVu Sans"/>
              </a:defRPr>
            </a:pPr>
            <a:r>
              <a:rPr sz="3225" b="1">
                <a:solidFill>
                  <a:srgbClr val="101828"/>
                </a:solidFill>
                <a:latin typeface="DejaVu Sans"/>
                <a:ea typeface="DejaVu Sans"/>
                <a:cs typeface="DejaVu Sans"/>
              </a:rPr>
              <a:t>Finished early: apply it</a:t>
            </a:r>
          </a:p>
        </p:txBody>
      </p:sp>
      <p:sp>
        <p:nvSpPr>
          <p:cNvPr id="3" name="footer">
            <a:extLst xmlns:a="http://schemas.openxmlformats.org/drawingml/2006/main">
              <a:ext uri="{FF2B5EF4-FFF2-40B4-BE49-F238E27FC236}">
                <a16:creationId xmlns:a16="http://schemas.microsoft.com/office/drawing/2014/main" id="{45175151-15B7-4C4A-B054-2A2A266E1A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400800"/>
            <a:ext cx="981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050" b="0">
                <a:solidFill>
                  <a:srgbClr val="526174"/>
                </a:solidFill>
                <a:latin typeface="DejaVu Sans"/>
                <a:ea typeface="DejaVu Sans"/>
                <a:cs typeface="DejaVu Sans"/>
              </a:defRPr>
            </a:pPr>
            <a:r>
              <a:rPr sz="1050" b="0">
                <a:solidFill>
                  <a:srgbClr val="526174"/>
                </a:solidFill>
                <a:latin typeface="DejaVu Sans"/>
                <a:ea typeface="DejaVu Sans"/>
                <a:cs typeface="DejaVu Sans"/>
              </a:rPr>
              <a:t>Revise 360    OCR J277 1.1 Systems architecture    Extension</a:t>
            </a:r>
          </a:p>
        </p:txBody>
      </p:sp>
      <p:sp>
        <p:nvSpPr>
          <p:cNvPr id="4" name="page">
            <a:extLst xmlns:a="http://schemas.openxmlformats.org/drawingml/2006/main">
              <a:ext uri="{FF2B5EF4-FFF2-40B4-BE49-F238E27FC236}">
                <a16:creationId xmlns:a16="http://schemas.microsoft.com/office/drawing/2014/main" id="{2A7C9B86-7E02-40D7-9C65-11867489D6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400800"/>
            <a:ext cx="857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050" b="0">
                <a:solidFill>
                  <a:srgbClr val="526174"/>
                </a:solidFill>
                <a:latin typeface="DejaVu Sans"/>
                <a:ea typeface="DejaVu Sans"/>
                <a:cs typeface="DejaVu Sans"/>
              </a:defRPr>
            </a:pPr>
            <a:r>
              <a:rPr sz="1050" b="0">
                <a:solidFill>
                  <a:srgbClr val="526174"/>
                </a:solidFill>
                <a:latin typeface="DejaVu Sans"/>
                <a:ea typeface="DejaVu Sans"/>
                <a:cs typeface="DejaVu Sans"/>
              </a:rPr>
              <a:t>5 / 10</a:t>
            </a:r>
          </a:p>
        </p:txBody>
      </p:sp>
      <p:sp>
        <p:nvSpPr>
          <p:cNvPr id="5" name="extension-lead">
            <a:extLst xmlns:a="http://schemas.openxmlformats.org/drawingml/2006/main">
              <a:ext uri="{FF2B5EF4-FFF2-40B4-BE49-F238E27FC236}">
                <a16:creationId xmlns:a16="http://schemas.microsoft.com/office/drawing/2014/main" id="{3888A104-63CE-43BA-8CE2-20FDAB70BC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628775"/>
            <a:ext cx="10734675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875" b="0">
                <a:solidFill>
                  <a:srgbClr val="526174"/>
                </a:solidFill>
                <a:latin typeface="DejaVu Sans"/>
                <a:ea typeface="DejaVu Sans"/>
                <a:cs typeface="DejaVu Sans"/>
              </a:defRPr>
            </a:pPr>
            <a:r>
              <a:rPr sz="1875" b="0">
                <a:solidFill>
                  <a:srgbClr val="526174"/>
                </a:solidFill>
                <a:latin typeface="DejaVu Sans"/>
                <a:ea typeface="DejaVu Sans"/>
                <a:cs typeface="DejaVu Sans"/>
              </a:rPr>
              <a:t>After completing the experience and recording your score:</a:t>
            </a:r>
          </a:p>
        </p:txBody>
      </p:sp>
      <p:sp>
        <p:nvSpPr>
          <p:cNvPr id="6" name="extension-prompt">
            <a:extLst xmlns:a="http://schemas.openxmlformats.org/drawingml/2006/main">
              <a:ext uri="{FF2B5EF4-FFF2-40B4-BE49-F238E27FC236}">
                <a16:creationId xmlns:a16="http://schemas.microsoft.com/office/drawing/2014/main" id="{985DE19F-9E5F-43CC-9BDA-553CA7E3AE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2419350"/>
            <a:ext cx="10572750" cy="1695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400" b="1">
                <a:solidFill>
                  <a:srgbClr val="101828"/>
                </a:solidFill>
                <a:latin typeface="DejaVu Sans"/>
                <a:ea typeface="DejaVu Sans"/>
                <a:cs typeface="DejaVu Sans"/>
              </a:defRPr>
            </a:pPr>
            <a:r>
              <a:rPr sz="2400" b="1">
                <a:solidFill>
                  <a:srgbClr val="101828"/>
                </a:solidFill>
                <a:latin typeface="DejaVu Sans"/>
                <a:ea typeface="DejaVu Sans"/>
                <a:cs typeface="DejaVu Sans"/>
              </a:rPr>
              <a:t>The PC contains address 120. Trace the next fetch through the MAR and MDR. What address will the PC hold after it increments?</a:t>
            </a:r>
          </a:p>
        </p:txBody>
      </p:sp>
      <p:sp>
        <p:nvSpPr>
          <p:cNvPr id="7" name="extension-follow">
            <a:extLst xmlns:a="http://schemas.openxmlformats.org/drawingml/2006/main">
              <a:ext uri="{FF2B5EF4-FFF2-40B4-BE49-F238E27FC236}">
                <a16:creationId xmlns:a16="http://schemas.microsoft.com/office/drawing/2014/main" id="{5A57255B-D32E-4699-92A5-0134334EB5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4648200"/>
            <a:ext cx="1057275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950" b="0">
                <a:solidFill>
                  <a:srgbClr val="2D63FF"/>
                </a:solidFill>
                <a:latin typeface="DejaVu Sans"/>
                <a:ea typeface="DejaVu Sans"/>
                <a:cs typeface="DejaVu Sans"/>
              </a:defRPr>
            </a:pPr>
            <a:r>
              <a:rPr sz="1950" b="0">
                <a:solidFill>
                  <a:srgbClr val="2D63FF"/>
                </a:solidFill>
                <a:latin typeface="DejaVu Sans"/>
                <a:ea typeface="DejaVu Sans"/>
                <a:cs typeface="DejaVu Sans"/>
              </a:rPr>
              <a:t>Add what the control unit does next. Give one possible action during execute.</a:t>
            </a:r>
          </a:p>
        </p:txBody>
      </p:sp>
    </p:spTree>
    <p:extLst>
      <p:ext uri="{BB962C8B-B14F-4D97-AF65-F5344CB8AC3E}">
        <p14:creationId xmlns:p14="http://schemas.microsoft.com/office/powerpoint/2010/main" val="150213655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topic">
            <a:extLst xmlns:a="http://schemas.openxmlformats.org/drawingml/2006/main">
              <a:ext uri="{FF2B5EF4-FFF2-40B4-BE49-F238E27FC236}">
                <a16:creationId xmlns:a16="http://schemas.microsoft.com/office/drawing/2014/main" id="{00984E24-202C-447B-9596-38519702D7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23850"/>
            <a:ext cx="66675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2D63FF"/>
                </a:solidFill>
                <a:latin typeface="DejaVu Sans"/>
                <a:ea typeface="DejaVu Sans"/>
                <a:cs typeface="DejaVu Sans"/>
              </a:defRPr>
            </a:pPr>
            <a:r>
              <a:rPr sz="1125" b="1">
                <a:solidFill>
                  <a:srgbClr val="2D63FF"/>
                </a:solidFill>
                <a:latin typeface="DejaVu Sans"/>
                <a:ea typeface="DejaVu Sans"/>
                <a:cs typeface="DejaVu Sans"/>
              </a:rPr>
              <a:t>TOPIC 1.1   LESSON 01</a:t>
            </a:r>
          </a:p>
        </p:txBody>
      </p:sp>
      <p:sp>
        <p:nvSpPr>
          <p:cNvPr id="2" name="heading">
            <a:extLst xmlns:a="http://schemas.openxmlformats.org/drawingml/2006/main">
              <a:ext uri="{FF2B5EF4-FFF2-40B4-BE49-F238E27FC236}">
                <a16:creationId xmlns:a16="http://schemas.microsoft.com/office/drawing/2014/main" id="{8EA18E11-2705-4022-95AF-6042AD553B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762000"/>
            <a:ext cx="108585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225" b="1">
                <a:solidFill>
                  <a:srgbClr val="101828"/>
                </a:solidFill>
                <a:latin typeface="DejaVu Sans"/>
                <a:ea typeface="DejaVu Sans"/>
                <a:cs typeface="DejaVu Sans"/>
              </a:defRPr>
            </a:pPr>
            <a:r>
              <a:rPr sz="3225" b="1">
                <a:solidFill>
                  <a:srgbClr val="101828"/>
                </a:solidFill>
                <a:latin typeface="DejaVu Sans"/>
                <a:ea typeface="DejaVu Sans"/>
                <a:cs typeface="DejaVu Sans"/>
              </a:rPr>
              <a:t>Finished early: check and stretch</a:t>
            </a:r>
          </a:p>
        </p:txBody>
      </p:sp>
      <p:sp>
        <p:nvSpPr>
          <p:cNvPr id="3" name="footer">
            <a:extLst xmlns:a="http://schemas.openxmlformats.org/drawingml/2006/main">
              <a:ext uri="{FF2B5EF4-FFF2-40B4-BE49-F238E27FC236}">
                <a16:creationId xmlns:a16="http://schemas.microsoft.com/office/drawing/2014/main" id="{B2BAF0FD-F9B7-4EBC-AE90-4CDE76F8DF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400800"/>
            <a:ext cx="981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050" b="0">
                <a:solidFill>
                  <a:srgbClr val="526174"/>
                </a:solidFill>
                <a:latin typeface="DejaVu Sans"/>
                <a:ea typeface="DejaVu Sans"/>
                <a:cs typeface="DejaVu Sans"/>
              </a:defRPr>
            </a:pPr>
            <a:r>
              <a:rPr sz="1050" b="0">
                <a:solidFill>
                  <a:srgbClr val="526174"/>
                </a:solidFill>
                <a:latin typeface="DejaVu Sans"/>
                <a:ea typeface="DejaVu Sans"/>
                <a:cs typeface="DejaVu Sans"/>
              </a:rPr>
              <a:t>Revise 360    OCR J277 1.1 Systems architecture    Extension</a:t>
            </a:r>
          </a:p>
        </p:txBody>
      </p:sp>
      <p:sp>
        <p:nvSpPr>
          <p:cNvPr id="4" name="page">
            <a:extLst xmlns:a="http://schemas.openxmlformats.org/drawingml/2006/main">
              <a:ext uri="{FF2B5EF4-FFF2-40B4-BE49-F238E27FC236}">
                <a16:creationId xmlns:a16="http://schemas.microsoft.com/office/drawing/2014/main" id="{C880865C-4B18-4CB6-807F-4927BF5289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400800"/>
            <a:ext cx="857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050" b="0">
                <a:solidFill>
                  <a:srgbClr val="526174"/>
                </a:solidFill>
                <a:latin typeface="DejaVu Sans"/>
                <a:ea typeface="DejaVu Sans"/>
                <a:cs typeface="DejaVu Sans"/>
              </a:defRPr>
            </a:pPr>
            <a:r>
              <a:rPr sz="1050" b="0">
                <a:solidFill>
                  <a:srgbClr val="526174"/>
                </a:solidFill>
                <a:latin typeface="DejaVu Sans"/>
                <a:ea typeface="DejaVu Sans"/>
                <a:cs typeface="DejaVu Sans"/>
              </a:rPr>
              <a:t>6 / 10</a:t>
            </a:r>
          </a:p>
        </p:txBody>
      </p:sp>
      <p:sp>
        <p:nvSpPr>
          <p:cNvPr id="5" name="review">
            <a:extLst xmlns:a="http://schemas.openxmlformats.org/drawingml/2006/main">
              <a:ext uri="{FF2B5EF4-FFF2-40B4-BE49-F238E27FC236}">
                <a16:creationId xmlns:a16="http://schemas.microsoft.com/office/drawing/2014/main" id="{DE758D0B-7C19-4094-8B78-00D7DA0C39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724025"/>
            <a:ext cx="1071562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875" b="0">
                <a:solidFill>
                  <a:srgbClr val="526174"/>
                </a:solidFill>
                <a:latin typeface="DejaVu Sans"/>
                <a:ea typeface="DejaVu Sans"/>
                <a:cs typeface="DejaVu Sans"/>
              </a:defRPr>
            </a:pPr>
            <a:r>
              <a:rPr sz="1875" b="0">
                <a:solidFill>
                  <a:srgbClr val="526174"/>
                </a:solidFill>
                <a:latin typeface="DejaVu Sans"/>
                <a:ea typeface="DejaVu Sans"/>
                <a:cs typeface="DejaVu Sans"/>
              </a:rPr>
              <a:t>Use your worksheet and the experience feedback.</a:t>
            </a:r>
          </a:p>
        </p:txBody>
      </p:sp>
      <p:sp>
        <p:nvSpPr>
          <p:cNvPr id="6" name="extension-two">
            <a:extLst xmlns:a="http://schemas.openxmlformats.org/drawingml/2006/main">
              <a:ext uri="{FF2B5EF4-FFF2-40B4-BE49-F238E27FC236}">
                <a16:creationId xmlns:a16="http://schemas.microsoft.com/office/drawing/2014/main" id="{CC2C41D5-1D4C-4348-820E-728167E47E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676525"/>
            <a:ext cx="10620375" cy="1752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400" b="1">
                <a:solidFill>
                  <a:srgbClr val="101828"/>
                </a:solidFill>
                <a:latin typeface="DejaVu Sans"/>
                <a:ea typeface="DejaVu Sans"/>
                <a:cs typeface="DejaVu Sans"/>
              </a:defRPr>
            </a:pPr>
            <a:r>
              <a:rPr sz="2400" b="1">
                <a:solidFill>
                  <a:srgbClr val="101828"/>
                </a:solidFill>
                <a:latin typeface="DejaVu Sans"/>
                <a:ea typeface="DejaVu Sans"/>
                <a:cs typeface="DejaVu Sans"/>
              </a:rPr>
              <a:t>From memory, put the six steps in the final challenge in order. Then correct one station answer you missed and explain the correct term.</a:t>
            </a:r>
          </a:p>
        </p:txBody>
      </p:sp>
      <p:sp>
        <p:nvSpPr>
          <p:cNvPr id="7" name="handoff">
            <a:extLst xmlns:a="http://schemas.openxmlformats.org/drawingml/2006/main">
              <a:ext uri="{FF2B5EF4-FFF2-40B4-BE49-F238E27FC236}">
                <a16:creationId xmlns:a16="http://schemas.microsoft.com/office/drawing/2014/main" id="{FDE50D0E-63CA-4B30-B7A8-B58C9AD4A6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5334000"/>
            <a:ext cx="104775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875" b="0">
                <a:solidFill>
                  <a:srgbClr val="2D63FF"/>
                </a:solidFill>
                <a:latin typeface="DejaVu Sans"/>
                <a:ea typeface="DejaVu Sans"/>
                <a:cs typeface="DejaVu Sans"/>
              </a:defRPr>
            </a:pPr>
            <a:r>
              <a:rPr sz="1875" b="0">
                <a:solidFill>
                  <a:srgbClr val="2D63FF"/>
                </a:solidFill>
                <a:latin typeface="DejaVu Sans"/>
                <a:ea typeface="DejaVu Sans"/>
                <a:cs typeface="DejaVu Sans"/>
              </a:rPr>
              <a:t>Then answer the plenary exam quiz on the next slides and your worksheet.</a:t>
            </a:r>
          </a:p>
        </p:txBody>
      </p:sp>
    </p:spTree>
    <p:extLst>
      <p:ext uri="{BB962C8B-B14F-4D97-AF65-F5344CB8AC3E}">
        <p14:creationId xmlns:p14="http://schemas.microsoft.com/office/powerpoint/2010/main" val="771174637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topic">
            <a:extLst xmlns:a="http://schemas.openxmlformats.org/drawingml/2006/main">
              <a:ext uri="{FF2B5EF4-FFF2-40B4-BE49-F238E27FC236}">
                <a16:creationId xmlns:a16="http://schemas.microsoft.com/office/drawing/2014/main" id="{72EBE2B9-BCFE-40B4-A35F-49A85D2A2A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23850"/>
            <a:ext cx="66675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2D63FF"/>
                </a:solidFill>
                <a:latin typeface="DejaVu Sans"/>
                <a:ea typeface="DejaVu Sans"/>
                <a:cs typeface="DejaVu Sans"/>
              </a:defRPr>
            </a:pPr>
            <a:r>
              <a:rPr sz="1125" b="1">
                <a:solidFill>
                  <a:srgbClr val="2D63FF"/>
                </a:solidFill>
                <a:latin typeface="DejaVu Sans"/>
                <a:ea typeface="DejaVu Sans"/>
                <a:cs typeface="DejaVu Sans"/>
              </a:rPr>
              <a:t>TOPIC 1.1   LESSON 01</a:t>
            </a:r>
          </a:p>
        </p:txBody>
      </p:sp>
      <p:sp>
        <p:nvSpPr>
          <p:cNvPr id="2" name="heading">
            <a:extLst xmlns:a="http://schemas.openxmlformats.org/drawingml/2006/main">
              <a:ext uri="{FF2B5EF4-FFF2-40B4-BE49-F238E27FC236}">
                <a16:creationId xmlns:a16="http://schemas.microsoft.com/office/drawing/2014/main" id="{F0995B0B-CBA2-4503-9991-860A21CF11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762000"/>
            <a:ext cx="108585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225" b="1">
                <a:solidFill>
                  <a:srgbClr val="101828"/>
                </a:solidFill>
                <a:latin typeface="DejaVu Sans"/>
                <a:ea typeface="DejaVu Sans"/>
                <a:cs typeface="DejaVu Sans"/>
              </a:defRPr>
            </a:pPr>
            <a:r>
              <a:rPr sz="3225" b="1">
                <a:solidFill>
                  <a:srgbClr val="101828"/>
                </a:solidFill>
                <a:latin typeface="DejaVu Sans"/>
                <a:ea typeface="DejaVu Sans"/>
                <a:cs typeface="DejaVu Sans"/>
              </a:rPr>
              <a:t>Plenary: exam quiz (a–b)</a:t>
            </a:r>
          </a:p>
        </p:txBody>
      </p:sp>
      <p:sp>
        <p:nvSpPr>
          <p:cNvPr id="3" name="footer">
            <a:extLst xmlns:a="http://schemas.openxmlformats.org/drawingml/2006/main">
              <a:ext uri="{FF2B5EF4-FFF2-40B4-BE49-F238E27FC236}">
                <a16:creationId xmlns:a16="http://schemas.microsoft.com/office/drawing/2014/main" id="{F1C35659-D1E6-42E2-9BFF-A9D933ECA6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400800"/>
            <a:ext cx="981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050" b="0">
                <a:solidFill>
                  <a:srgbClr val="526174"/>
                </a:solidFill>
                <a:latin typeface="DejaVu Sans"/>
                <a:ea typeface="DejaVu Sans"/>
                <a:cs typeface="DejaVu Sans"/>
              </a:defRPr>
            </a:pPr>
            <a:r>
              <a:rPr sz="1050" b="0">
                <a:solidFill>
                  <a:srgbClr val="526174"/>
                </a:solidFill>
                <a:latin typeface="DejaVu Sans"/>
                <a:ea typeface="DejaVu Sans"/>
                <a:cs typeface="DejaVu Sans"/>
              </a:rPr>
              <a:t>Revise 360    OCR J277 1.1 Systems architecture    Plenary</a:t>
            </a:r>
          </a:p>
        </p:txBody>
      </p:sp>
      <p:sp>
        <p:nvSpPr>
          <p:cNvPr id="4" name="page">
            <a:extLst xmlns:a="http://schemas.openxmlformats.org/drawingml/2006/main">
              <a:ext uri="{FF2B5EF4-FFF2-40B4-BE49-F238E27FC236}">
                <a16:creationId xmlns:a16="http://schemas.microsoft.com/office/drawing/2014/main" id="{54D6E850-4E7C-4EF8-BFA5-48DD6F3DD0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400800"/>
            <a:ext cx="857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050" b="0">
                <a:solidFill>
                  <a:srgbClr val="526174"/>
                </a:solidFill>
                <a:latin typeface="DejaVu Sans"/>
                <a:ea typeface="DejaVu Sans"/>
                <a:cs typeface="DejaVu Sans"/>
              </a:defRPr>
            </a:pPr>
            <a:r>
              <a:rPr sz="1050" b="0">
                <a:solidFill>
                  <a:srgbClr val="526174"/>
                </a:solidFill>
                <a:latin typeface="DejaVu Sans"/>
                <a:ea typeface="DejaVu Sans"/>
                <a:cs typeface="DejaVu Sans"/>
              </a:rPr>
              <a:t>7 / 10</a:t>
            </a:r>
          </a:p>
        </p:txBody>
      </p:sp>
      <p:sp>
        <p:nvSpPr>
          <p:cNvPr id="5" name="plenary-instruction">
            <a:extLst xmlns:a="http://schemas.openxmlformats.org/drawingml/2006/main">
              <a:ext uri="{FF2B5EF4-FFF2-40B4-BE49-F238E27FC236}">
                <a16:creationId xmlns:a16="http://schemas.microsoft.com/office/drawing/2014/main" id="{8C6D0E67-7021-4CD2-9919-4ABDF462AB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562100"/>
            <a:ext cx="10715625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875" b="0">
                <a:solidFill>
                  <a:srgbClr val="526174"/>
                </a:solidFill>
                <a:latin typeface="DejaVu Sans"/>
                <a:ea typeface="DejaVu Sans"/>
                <a:cs typeface="DejaVu Sans"/>
              </a:defRPr>
            </a:pPr>
            <a:r>
              <a:rPr sz="1875" b="0">
                <a:solidFill>
                  <a:srgbClr val="526174"/>
                </a:solidFill>
                <a:latin typeface="DejaVu Sans"/>
                <a:ea typeface="DejaVu Sans"/>
                <a:cs typeface="DejaVu Sans"/>
              </a:rPr>
              <a:t>Close the experience. Answer from memory before checking your notes.</a:t>
            </a:r>
          </a:p>
        </p:txBody>
      </p:sp>
      <p:sp>
        <p:nvSpPr>
          <p:cNvPr id="6" name="a">
            <a:extLst xmlns:a="http://schemas.openxmlformats.org/drawingml/2006/main">
              <a:ext uri="{FF2B5EF4-FFF2-40B4-BE49-F238E27FC236}">
                <a16:creationId xmlns:a16="http://schemas.microsoft.com/office/drawing/2014/main" id="{5BEAFD77-90DA-445F-AF29-146E3C7935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2486025"/>
            <a:ext cx="5905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250" b="1">
                <a:solidFill>
                  <a:srgbClr val="2D63FF"/>
                </a:solidFill>
                <a:latin typeface="DejaVu Sans"/>
                <a:ea typeface="DejaVu Sans"/>
                <a:cs typeface="DejaVu Sans"/>
              </a:defRPr>
            </a:pPr>
            <a:r>
              <a:rPr sz="2250" b="1">
                <a:solidFill>
                  <a:srgbClr val="2D63FF"/>
                </a:solidFill>
                <a:latin typeface="DejaVu Sans"/>
                <a:ea typeface="DejaVu Sans"/>
                <a:cs typeface="DejaVu Sans"/>
              </a:rPr>
              <a:t>a)</a:t>
            </a:r>
          </a:p>
        </p:txBody>
      </p:sp>
      <p:sp>
        <p:nvSpPr>
          <p:cNvPr id="7" name="question-a">
            <a:extLst xmlns:a="http://schemas.openxmlformats.org/drawingml/2006/main">
              <a:ext uri="{FF2B5EF4-FFF2-40B4-BE49-F238E27FC236}">
                <a16:creationId xmlns:a16="http://schemas.microsoft.com/office/drawing/2014/main" id="{63C0D50B-D1C2-45B4-9B35-E963E617B8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43025" y="2486025"/>
            <a:ext cx="9944100" cy="1162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175" b="0">
                <a:solidFill>
                  <a:srgbClr val="101828"/>
                </a:solidFill>
                <a:latin typeface="DejaVu Sans"/>
                <a:ea typeface="DejaVu Sans"/>
                <a:cs typeface="DejaVu Sans"/>
              </a:defRPr>
            </a:pPr>
            <a:r>
              <a:rPr sz="2175" b="0">
                <a:solidFill>
                  <a:srgbClr val="101828"/>
                </a:solidFill>
                <a:latin typeface="DejaVu Sans"/>
                <a:ea typeface="DejaVu Sans"/>
                <a:cs typeface="DejaVu Sans"/>
              </a:rPr>
              <a:t>Describe what the CPU does while a program is running. [2]</a:t>
            </a:r>
          </a:p>
        </p:txBody>
      </p:sp>
      <p:sp>
        <p:nvSpPr>
          <p:cNvPr id="8" name="b">
            <a:extLst xmlns:a="http://schemas.openxmlformats.org/drawingml/2006/main">
              <a:ext uri="{FF2B5EF4-FFF2-40B4-BE49-F238E27FC236}">
                <a16:creationId xmlns:a16="http://schemas.microsoft.com/office/drawing/2014/main" id="{24582597-FE60-422D-9B27-BF7617288E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4076700"/>
            <a:ext cx="5905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250" b="1">
                <a:solidFill>
                  <a:srgbClr val="2D63FF"/>
                </a:solidFill>
                <a:latin typeface="DejaVu Sans"/>
                <a:ea typeface="DejaVu Sans"/>
                <a:cs typeface="DejaVu Sans"/>
              </a:defRPr>
            </a:pPr>
            <a:r>
              <a:rPr sz="2250" b="1">
                <a:solidFill>
                  <a:srgbClr val="2D63FF"/>
                </a:solidFill>
                <a:latin typeface="DejaVu Sans"/>
                <a:ea typeface="DejaVu Sans"/>
                <a:cs typeface="DejaVu Sans"/>
              </a:rPr>
              <a:t>b)</a:t>
            </a:r>
          </a:p>
        </p:txBody>
      </p:sp>
      <p:sp>
        <p:nvSpPr>
          <p:cNvPr id="9" name="question-b">
            <a:extLst xmlns:a="http://schemas.openxmlformats.org/drawingml/2006/main">
              <a:ext uri="{FF2B5EF4-FFF2-40B4-BE49-F238E27FC236}">
                <a16:creationId xmlns:a16="http://schemas.microsoft.com/office/drawing/2014/main" id="{012E2C47-BEA9-4E4B-B33D-5CB72FC2DA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43025" y="4076700"/>
            <a:ext cx="9944100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175" b="0">
                <a:solidFill>
                  <a:srgbClr val="101828"/>
                </a:solidFill>
                <a:latin typeface="DejaVu Sans"/>
                <a:ea typeface="DejaVu Sans"/>
                <a:cs typeface="DejaVu Sans"/>
              </a:defRPr>
            </a:pPr>
            <a:r>
              <a:rPr sz="2175" b="0">
                <a:solidFill>
                  <a:srgbClr val="101828"/>
                </a:solidFill>
                <a:latin typeface="DejaVu Sans"/>
                <a:ea typeface="DejaVu Sans"/>
                <a:cs typeface="DejaVu Sans"/>
              </a:rPr>
              <a:t>Name two registers found in a CPU and state what each one holds. [4]</a:t>
            </a:r>
          </a:p>
        </p:txBody>
      </p:sp>
    </p:spTree>
    <p:extLst>
      <p:ext uri="{BB962C8B-B14F-4D97-AF65-F5344CB8AC3E}">
        <p14:creationId xmlns:p14="http://schemas.microsoft.com/office/powerpoint/2010/main" val="1613627785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topic">
            <a:extLst xmlns:a="http://schemas.openxmlformats.org/drawingml/2006/main">
              <a:ext uri="{FF2B5EF4-FFF2-40B4-BE49-F238E27FC236}">
                <a16:creationId xmlns:a16="http://schemas.microsoft.com/office/drawing/2014/main" id="{1A93E9D4-4713-4508-B59F-8CAF402C2B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23850"/>
            <a:ext cx="66675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2D63FF"/>
                </a:solidFill>
                <a:latin typeface="DejaVu Sans"/>
                <a:ea typeface="DejaVu Sans"/>
                <a:cs typeface="DejaVu Sans"/>
              </a:defRPr>
            </a:pPr>
            <a:r>
              <a:rPr sz="1125" b="1">
                <a:solidFill>
                  <a:srgbClr val="2D63FF"/>
                </a:solidFill>
                <a:latin typeface="DejaVu Sans"/>
                <a:ea typeface="DejaVu Sans"/>
                <a:cs typeface="DejaVu Sans"/>
              </a:rPr>
              <a:t>TOPIC 1.1   LESSON 01</a:t>
            </a:r>
          </a:p>
        </p:txBody>
      </p:sp>
      <p:sp>
        <p:nvSpPr>
          <p:cNvPr id="2" name="heading">
            <a:extLst xmlns:a="http://schemas.openxmlformats.org/drawingml/2006/main">
              <a:ext uri="{FF2B5EF4-FFF2-40B4-BE49-F238E27FC236}">
                <a16:creationId xmlns:a16="http://schemas.microsoft.com/office/drawing/2014/main" id="{1BB148B2-E56C-45B2-8416-22FB657AF6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762000"/>
            <a:ext cx="108585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225" b="1">
                <a:solidFill>
                  <a:srgbClr val="101828"/>
                </a:solidFill>
                <a:latin typeface="DejaVu Sans"/>
                <a:ea typeface="DejaVu Sans"/>
                <a:cs typeface="DejaVu Sans"/>
              </a:defRPr>
            </a:pPr>
            <a:r>
              <a:rPr sz="3225" b="1">
                <a:solidFill>
                  <a:srgbClr val="101828"/>
                </a:solidFill>
                <a:latin typeface="DejaVu Sans"/>
                <a:ea typeface="DejaVu Sans"/>
                <a:cs typeface="DejaVu Sans"/>
              </a:rPr>
              <a:t>Plenary: exam quiz (c)</a:t>
            </a:r>
          </a:p>
        </p:txBody>
      </p:sp>
      <p:sp>
        <p:nvSpPr>
          <p:cNvPr id="3" name="footer">
            <a:extLst xmlns:a="http://schemas.openxmlformats.org/drawingml/2006/main">
              <a:ext uri="{FF2B5EF4-FFF2-40B4-BE49-F238E27FC236}">
                <a16:creationId xmlns:a16="http://schemas.microsoft.com/office/drawing/2014/main" id="{DED9A40C-B8C0-4B01-945C-5D7656EEBB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400800"/>
            <a:ext cx="981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050" b="0">
                <a:solidFill>
                  <a:srgbClr val="526174"/>
                </a:solidFill>
                <a:latin typeface="DejaVu Sans"/>
                <a:ea typeface="DejaVu Sans"/>
                <a:cs typeface="DejaVu Sans"/>
              </a:defRPr>
            </a:pPr>
            <a:r>
              <a:rPr sz="1050" b="0">
                <a:solidFill>
                  <a:srgbClr val="526174"/>
                </a:solidFill>
                <a:latin typeface="DejaVu Sans"/>
                <a:ea typeface="DejaVu Sans"/>
                <a:cs typeface="DejaVu Sans"/>
              </a:rPr>
              <a:t>Revise 360    OCR J277 1.1 Systems architecture    Plenary</a:t>
            </a:r>
          </a:p>
        </p:txBody>
      </p:sp>
      <p:sp>
        <p:nvSpPr>
          <p:cNvPr id="4" name="page">
            <a:extLst xmlns:a="http://schemas.openxmlformats.org/drawingml/2006/main">
              <a:ext uri="{FF2B5EF4-FFF2-40B4-BE49-F238E27FC236}">
                <a16:creationId xmlns:a16="http://schemas.microsoft.com/office/drawing/2014/main" id="{62F544F6-A0B0-48E8-9BD9-6C2C5F1E27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400800"/>
            <a:ext cx="857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050" b="0">
                <a:solidFill>
                  <a:srgbClr val="526174"/>
                </a:solidFill>
                <a:latin typeface="DejaVu Sans"/>
                <a:ea typeface="DejaVu Sans"/>
                <a:cs typeface="DejaVu Sans"/>
              </a:defRPr>
            </a:pPr>
            <a:r>
              <a:rPr sz="1050" b="0">
                <a:solidFill>
                  <a:srgbClr val="526174"/>
                </a:solidFill>
                <a:latin typeface="DejaVu Sans"/>
                <a:ea typeface="DejaVu Sans"/>
                <a:cs typeface="DejaVu Sans"/>
              </a:rPr>
              <a:t>8 / 10</a:t>
            </a:r>
          </a:p>
        </p:txBody>
      </p:sp>
      <p:sp>
        <p:nvSpPr>
          <p:cNvPr id="5" name="from-memory">
            <a:extLst xmlns:a="http://schemas.openxmlformats.org/drawingml/2006/main">
              <a:ext uri="{FF2B5EF4-FFF2-40B4-BE49-F238E27FC236}">
                <a16:creationId xmlns:a16="http://schemas.microsoft.com/office/drawing/2014/main" id="{B81544F4-5CC1-4C3D-B2DD-DBD1986823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600200"/>
            <a:ext cx="10715625" cy="485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875" b="0">
                <a:solidFill>
                  <a:srgbClr val="526174"/>
                </a:solidFill>
                <a:latin typeface="DejaVu Sans"/>
                <a:ea typeface="DejaVu Sans"/>
                <a:cs typeface="DejaVu Sans"/>
              </a:defRPr>
            </a:pPr>
            <a:r>
              <a:rPr sz="1875" b="0">
                <a:solidFill>
                  <a:srgbClr val="526174"/>
                </a:solidFill>
                <a:latin typeface="DejaVu Sans"/>
                <a:ea typeface="DejaVu Sans"/>
                <a:cs typeface="DejaVu Sans"/>
              </a:rPr>
              <a:t>Keep the experience closed. Explain your reasoning in full sentences.</a:t>
            </a:r>
          </a:p>
        </p:txBody>
      </p:sp>
      <p:sp>
        <p:nvSpPr>
          <p:cNvPr id="6" name="c">
            <a:extLst xmlns:a="http://schemas.openxmlformats.org/drawingml/2006/main">
              <a:ext uri="{FF2B5EF4-FFF2-40B4-BE49-F238E27FC236}">
                <a16:creationId xmlns:a16="http://schemas.microsoft.com/office/drawing/2014/main" id="{A85C23D8-81B4-4A8D-8648-2DB7525696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2781300"/>
            <a:ext cx="609600" cy="504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400" b="1">
                <a:solidFill>
                  <a:srgbClr val="2D63FF"/>
                </a:solidFill>
                <a:latin typeface="DejaVu Sans"/>
                <a:ea typeface="DejaVu Sans"/>
                <a:cs typeface="DejaVu Sans"/>
              </a:defRPr>
            </a:pPr>
            <a:r>
              <a:rPr sz="2400" b="1">
                <a:solidFill>
                  <a:srgbClr val="2D63FF"/>
                </a:solidFill>
                <a:latin typeface="DejaVu Sans"/>
                <a:ea typeface="DejaVu Sans"/>
                <a:cs typeface="DejaVu Sans"/>
              </a:rPr>
              <a:t>c)</a:t>
            </a:r>
          </a:p>
        </p:txBody>
      </p:sp>
      <p:sp>
        <p:nvSpPr>
          <p:cNvPr id="7" name="question-c">
            <a:extLst xmlns:a="http://schemas.openxmlformats.org/drawingml/2006/main">
              <a:ext uri="{FF2B5EF4-FFF2-40B4-BE49-F238E27FC236}">
                <a16:creationId xmlns:a16="http://schemas.microsoft.com/office/drawing/2014/main" id="{CECFAA5C-8AED-4B10-9B3E-16BA16FE16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2781300"/>
            <a:ext cx="9867900" cy="1809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475" b="0">
                <a:solidFill>
                  <a:srgbClr val="101828"/>
                </a:solidFill>
                <a:latin typeface="DejaVu Sans"/>
                <a:ea typeface="DejaVu Sans"/>
                <a:cs typeface="DejaVu Sans"/>
              </a:defRPr>
            </a:pPr>
            <a:r>
              <a:rPr sz="2475" b="0">
                <a:solidFill>
                  <a:srgbClr val="101828"/>
                </a:solidFill>
                <a:latin typeface="DejaVu Sans"/>
                <a:ea typeface="DejaVu Sans"/>
                <a:cs typeface="DejaVu Sans"/>
              </a:rPr>
              <a:t>A computer's cache is full. Explain the effect this has on the CPU. [3]</a:t>
            </a:r>
          </a:p>
        </p:txBody>
      </p:sp>
      <p:sp>
        <p:nvSpPr>
          <p:cNvPr id="8" name="marks">
            <a:extLst xmlns:a="http://schemas.openxmlformats.org/drawingml/2006/main">
              <a:ext uri="{FF2B5EF4-FFF2-40B4-BE49-F238E27FC236}">
                <a16:creationId xmlns:a16="http://schemas.microsoft.com/office/drawing/2014/main" id="{E036C760-1712-47D7-B5B7-1DCF27D4C1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5438775"/>
            <a:ext cx="104775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800" b="0">
                <a:solidFill>
                  <a:srgbClr val="526174"/>
                </a:solidFill>
                <a:latin typeface="DejaVu Sans"/>
                <a:ea typeface="DejaVu Sans"/>
                <a:cs typeface="DejaVu Sans"/>
              </a:defRPr>
            </a:pPr>
            <a:r>
              <a:rPr sz="1800" b="0">
                <a:solidFill>
                  <a:srgbClr val="526174"/>
                </a:solidFill>
                <a:latin typeface="DejaVu Sans"/>
                <a:ea typeface="DejaVu Sans"/>
                <a:cs typeface="DejaVu Sans"/>
              </a:rPr>
              <a:t>Use the marks in brackets to judge how much detail to include.</a:t>
            </a:r>
          </a:p>
        </p:txBody>
      </p:sp>
    </p:spTree>
    <p:extLst>
      <p:ext uri="{BB962C8B-B14F-4D97-AF65-F5344CB8AC3E}">
        <p14:creationId xmlns:p14="http://schemas.microsoft.com/office/powerpoint/2010/main" val="918921717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topic">
            <a:extLst xmlns:a="http://schemas.openxmlformats.org/drawingml/2006/main">
              <a:ext uri="{FF2B5EF4-FFF2-40B4-BE49-F238E27FC236}">
                <a16:creationId xmlns:a16="http://schemas.microsoft.com/office/drawing/2014/main" id="{792D1CE2-31DE-4B99-8572-AB7C2D0EE5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23850"/>
            <a:ext cx="66675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2D63FF"/>
                </a:solidFill>
                <a:latin typeface="DejaVu Sans"/>
                <a:ea typeface="DejaVu Sans"/>
                <a:cs typeface="DejaVu Sans"/>
              </a:defRPr>
            </a:pPr>
            <a:r>
              <a:rPr sz="1125" b="1">
                <a:solidFill>
                  <a:srgbClr val="2D63FF"/>
                </a:solidFill>
                <a:latin typeface="DejaVu Sans"/>
                <a:ea typeface="DejaVu Sans"/>
                <a:cs typeface="DejaVu Sans"/>
              </a:rPr>
              <a:t>TOPIC 1.1   LESSON 01</a:t>
            </a:r>
          </a:p>
        </p:txBody>
      </p:sp>
      <p:sp>
        <p:nvSpPr>
          <p:cNvPr id="2" name="heading">
            <a:extLst xmlns:a="http://schemas.openxmlformats.org/drawingml/2006/main">
              <a:ext uri="{FF2B5EF4-FFF2-40B4-BE49-F238E27FC236}">
                <a16:creationId xmlns:a16="http://schemas.microsoft.com/office/drawing/2014/main" id="{B74A4B90-18C7-47F7-838E-FB531352F7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762000"/>
            <a:ext cx="108585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225" b="1">
                <a:solidFill>
                  <a:srgbClr val="101828"/>
                </a:solidFill>
                <a:latin typeface="DejaVu Sans"/>
                <a:ea typeface="DejaVu Sans"/>
                <a:cs typeface="DejaVu Sans"/>
              </a:defRPr>
            </a:pPr>
            <a:r>
              <a:rPr sz="3225" b="1">
                <a:solidFill>
                  <a:srgbClr val="101828"/>
                </a:solidFill>
                <a:latin typeface="DejaVu Sans"/>
                <a:ea typeface="DejaVu Sans"/>
                <a:cs typeface="DejaVu Sans"/>
              </a:rPr>
              <a:t>Plenary: check answers (a–b)</a:t>
            </a:r>
          </a:p>
        </p:txBody>
      </p:sp>
      <p:sp>
        <p:nvSpPr>
          <p:cNvPr id="3" name="footer">
            <a:extLst xmlns:a="http://schemas.openxmlformats.org/drawingml/2006/main">
              <a:ext uri="{FF2B5EF4-FFF2-40B4-BE49-F238E27FC236}">
                <a16:creationId xmlns:a16="http://schemas.microsoft.com/office/drawing/2014/main" id="{BC79DA0A-1AF7-4235-AA3C-9189BFA89D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400800"/>
            <a:ext cx="981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050" b="0">
                <a:solidFill>
                  <a:srgbClr val="526174"/>
                </a:solidFill>
                <a:latin typeface="DejaVu Sans"/>
                <a:ea typeface="DejaVu Sans"/>
                <a:cs typeface="DejaVu Sans"/>
              </a:defRPr>
            </a:pPr>
            <a:r>
              <a:rPr sz="1050" b="0">
                <a:solidFill>
                  <a:srgbClr val="526174"/>
                </a:solidFill>
                <a:latin typeface="DejaVu Sans"/>
                <a:ea typeface="DejaVu Sans"/>
                <a:cs typeface="DejaVu Sans"/>
              </a:rPr>
              <a:t>Revise 360    OCR J277 1.1 Systems architecture    Answers</a:t>
            </a:r>
          </a:p>
        </p:txBody>
      </p:sp>
      <p:sp>
        <p:nvSpPr>
          <p:cNvPr id="4" name="page">
            <a:extLst xmlns:a="http://schemas.openxmlformats.org/drawingml/2006/main">
              <a:ext uri="{FF2B5EF4-FFF2-40B4-BE49-F238E27FC236}">
                <a16:creationId xmlns:a16="http://schemas.microsoft.com/office/drawing/2014/main" id="{49288EFC-9E62-414E-8922-5DAEB03688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400800"/>
            <a:ext cx="857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050" b="0">
                <a:solidFill>
                  <a:srgbClr val="526174"/>
                </a:solidFill>
                <a:latin typeface="DejaVu Sans"/>
                <a:ea typeface="DejaVu Sans"/>
                <a:cs typeface="DejaVu Sans"/>
              </a:defRPr>
            </a:pPr>
            <a:r>
              <a:rPr sz="1050" b="0">
                <a:solidFill>
                  <a:srgbClr val="526174"/>
                </a:solidFill>
                <a:latin typeface="DejaVu Sans"/>
                <a:ea typeface="DejaVu Sans"/>
                <a:cs typeface="DejaVu Sans"/>
              </a:rPr>
              <a:t>9 / 10</a:t>
            </a:r>
          </a:p>
        </p:txBody>
      </p:sp>
      <p:sp>
        <p:nvSpPr>
          <p:cNvPr id="5" name="scheme-intro">
            <a:extLst xmlns:a="http://schemas.openxmlformats.org/drawingml/2006/main">
              <a:ext uri="{FF2B5EF4-FFF2-40B4-BE49-F238E27FC236}">
                <a16:creationId xmlns:a16="http://schemas.microsoft.com/office/drawing/2014/main" id="{50D5AD08-7928-41F3-B748-1258F5062A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543050"/>
            <a:ext cx="10715625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800" b="0">
                <a:solidFill>
                  <a:srgbClr val="526174"/>
                </a:solidFill>
                <a:latin typeface="DejaVu Sans"/>
                <a:ea typeface="DejaVu Sans"/>
                <a:cs typeface="DejaVu Sans"/>
              </a:defRPr>
            </a:pPr>
            <a:r>
              <a:rPr sz="1800" b="0">
                <a:solidFill>
                  <a:srgbClr val="526174"/>
                </a:solidFill>
                <a:latin typeface="DejaVu Sans"/>
                <a:ea typeface="DejaVu Sans"/>
                <a:cs typeface="DejaVu Sans"/>
              </a:rPr>
              <a:t>Indicative points. Credit accurate answers in students’ own words.</a:t>
            </a:r>
          </a:p>
        </p:txBody>
      </p:sp>
      <p:sp>
        <p:nvSpPr>
          <p:cNvPr id="6" name="scheme-a">
            <a:extLst xmlns:a="http://schemas.openxmlformats.org/drawingml/2006/main">
              <a:ext uri="{FF2B5EF4-FFF2-40B4-BE49-F238E27FC236}">
                <a16:creationId xmlns:a16="http://schemas.microsoft.com/office/drawing/2014/main" id="{FE47DAF6-F2E3-474B-AB7F-3A0A128D66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457450"/>
            <a:ext cx="10572750" cy="1295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025" b="0">
                <a:solidFill>
                  <a:srgbClr val="101828"/>
                </a:solidFill>
                <a:latin typeface="DejaVu Sans"/>
                <a:ea typeface="DejaVu Sans"/>
                <a:cs typeface="DejaVu Sans"/>
              </a:defRPr>
            </a:pPr>
            <a:r>
              <a:rPr sz="2025" b="0">
                <a:solidFill>
                  <a:srgbClr val="101828"/>
                </a:solidFill>
                <a:latin typeface="DejaVu Sans"/>
                <a:ea typeface="DejaVu Sans"/>
                <a:cs typeface="DejaVu Sans"/>
              </a:rPr>
              <a:t>a  The CPU fetches, decodes and executes program instructions. It processes data as those instructions require.</a:t>
            </a:r>
          </a:p>
        </p:txBody>
      </p:sp>
      <p:sp>
        <p:nvSpPr>
          <p:cNvPr id="7" name="scheme-b">
            <a:extLst xmlns:a="http://schemas.openxmlformats.org/drawingml/2006/main">
              <a:ext uri="{FF2B5EF4-FFF2-40B4-BE49-F238E27FC236}">
                <a16:creationId xmlns:a16="http://schemas.microsoft.com/office/drawing/2014/main" id="{418B6DAE-C3C7-4971-9352-252D64A429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086225"/>
            <a:ext cx="10572750" cy="1809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950" b="0">
                <a:solidFill>
                  <a:srgbClr val="101828"/>
                </a:solidFill>
                <a:latin typeface="DejaVu Sans"/>
                <a:ea typeface="DejaVu Sans"/>
                <a:cs typeface="DejaVu Sans"/>
              </a:defRPr>
            </a:pPr>
            <a:r>
              <a:rPr sz="1950" b="0">
                <a:solidFill>
                  <a:srgbClr val="101828"/>
                </a:solidFill>
                <a:latin typeface="DejaVu Sans"/>
                <a:ea typeface="DejaVu Sans"/>
                <a:cs typeface="DejaVu Sans"/>
              </a:rPr>
              <a:t>b  Award a register name plus its role for each pair: PC, address of next instruction; MAR, memory address; MDR, data to or from memory; ACC, calculation result.</a:t>
            </a:r>
          </a:p>
        </p:txBody>
      </p:sp>
    </p:spTree>
    <p:extLst>
      <p:ext uri="{BB962C8B-B14F-4D97-AF65-F5344CB8AC3E}">
        <p14:creationId xmlns:p14="http://schemas.microsoft.com/office/powerpoint/2010/main" val="112517024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topic">
            <a:extLst xmlns:a="http://schemas.openxmlformats.org/drawingml/2006/main">
              <a:ext uri="{FF2B5EF4-FFF2-40B4-BE49-F238E27FC236}">
                <a16:creationId xmlns:a16="http://schemas.microsoft.com/office/drawing/2014/main" id="{0028B0B5-FB68-4A77-B863-CB53E2AA42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23850"/>
            <a:ext cx="66675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2D63FF"/>
                </a:solidFill>
                <a:latin typeface="DejaVu Sans"/>
                <a:ea typeface="DejaVu Sans"/>
                <a:cs typeface="DejaVu Sans"/>
              </a:defRPr>
            </a:pPr>
            <a:r>
              <a:rPr sz="1125" b="1">
                <a:solidFill>
                  <a:srgbClr val="2D63FF"/>
                </a:solidFill>
                <a:latin typeface="DejaVu Sans"/>
                <a:ea typeface="DejaVu Sans"/>
                <a:cs typeface="DejaVu Sans"/>
              </a:rPr>
              <a:t>TOPIC 1.1   LESSON 01</a:t>
            </a:r>
          </a:p>
        </p:txBody>
      </p:sp>
      <p:sp>
        <p:nvSpPr>
          <p:cNvPr id="2" name="heading">
            <a:extLst xmlns:a="http://schemas.openxmlformats.org/drawingml/2006/main">
              <a:ext uri="{FF2B5EF4-FFF2-40B4-BE49-F238E27FC236}">
                <a16:creationId xmlns:a16="http://schemas.microsoft.com/office/drawing/2014/main" id="{7CEFB9D3-04BE-4C4F-85C9-F8DD9F2C10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762000"/>
            <a:ext cx="108585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225" b="1">
                <a:solidFill>
                  <a:srgbClr val="101828"/>
                </a:solidFill>
                <a:latin typeface="DejaVu Sans"/>
                <a:ea typeface="DejaVu Sans"/>
                <a:cs typeface="DejaVu Sans"/>
              </a:defRPr>
            </a:pPr>
            <a:r>
              <a:rPr sz="3225" b="1">
                <a:solidFill>
                  <a:srgbClr val="101828"/>
                </a:solidFill>
                <a:latin typeface="DejaVu Sans"/>
                <a:ea typeface="DejaVu Sans"/>
                <a:cs typeface="DejaVu Sans"/>
              </a:rPr>
              <a:t>Plenary: check answer (c)</a:t>
            </a:r>
          </a:p>
        </p:txBody>
      </p:sp>
      <p:sp>
        <p:nvSpPr>
          <p:cNvPr id="3" name="footer">
            <a:extLst xmlns:a="http://schemas.openxmlformats.org/drawingml/2006/main">
              <a:ext uri="{FF2B5EF4-FFF2-40B4-BE49-F238E27FC236}">
                <a16:creationId xmlns:a16="http://schemas.microsoft.com/office/drawing/2014/main" id="{2A3A88B3-D67A-4EF0-B5CE-95672E0AC9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400800"/>
            <a:ext cx="981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050" b="0">
                <a:solidFill>
                  <a:srgbClr val="526174"/>
                </a:solidFill>
                <a:latin typeface="DejaVu Sans"/>
                <a:ea typeface="DejaVu Sans"/>
                <a:cs typeface="DejaVu Sans"/>
              </a:defRPr>
            </a:pPr>
            <a:r>
              <a:rPr sz="1050" b="0">
                <a:solidFill>
                  <a:srgbClr val="526174"/>
                </a:solidFill>
                <a:latin typeface="DejaVu Sans"/>
                <a:ea typeface="DejaVu Sans"/>
                <a:cs typeface="DejaVu Sans"/>
              </a:rPr>
              <a:t>Revise 360    OCR J277 1.1 Systems architecture    Answers</a:t>
            </a:r>
          </a:p>
        </p:txBody>
      </p:sp>
      <p:sp>
        <p:nvSpPr>
          <p:cNvPr id="4" name="page">
            <a:extLst xmlns:a="http://schemas.openxmlformats.org/drawingml/2006/main">
              <a:ext uri="{FF2B5EF4-FFF2-40B4-BE49-F238E27FC236}">
                <a16:creationId xmlns:a16="http://schemas.microsoft.com/office/drawing/2014/main" id="{6387B289-D922-4F55-8DA8-6D5A6907EC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400800"/>
            <a:ext cx="857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050" b="0">
                <a:solidFill>
                  <a:srgbClr val="526174"/>
                </a:solidFill>
                <a:latin typeface="DejaVu Sans"/>
                <a:ea typeface="DejaVu Sans"/>
                <a:cs typeface="DejaVu Sans"/>
              </a:defRPr>
            </a:pPr>
            <a:r>
              <a:rPr sz="1050" b="0">
                <a:solidFill>
                  <a:srgbClr val="526174"/>
                </a:solidFill>
                <a:latin typeface="DejaVu Sans"/>
                <a:ea typeface="DejaVu Sans"/>
                <a:cs typeface="DejaVu Sans"/>
              </a:rPr>
              <a:t>10 / 10</a:t>
            </a:r>
          </a:p>
        </p:txBody>
      </p:sp>
      <p:sp>
        <p:nvSpPr>
          <p:cNvPr id="5" name="scheme-intro">
            <a:extLst xmlns:a="http://schemas.openxmlformats.org/drawingml/2006/main">
              <a:ext uri="{FF2B5EF4-FFF2-40B4-BE49-F238E27FC236}">
                <a16:creationId xmlns:a16="http://schemas.microsoft.com/office/drawing/2014/main" id="{154936A7-ADE1-4614-8083-585A6B8DDC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533525"/>
            <a:ext cx="10715625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800" b="0">
                <a:solidFill>
                  <a:srgbClr val="526174"/>
                </a:solidFill>
                <a:latin typeface="DejaVu Sans"/>
                <a:ea typeface="DejaVu Sans"/>
                <a:cs typeface="DejaVu Sans"/>
              </a:defRPr>
            </a:pPr>
            <a:r>
              <a:rPr sz="1800" b="0">
                <a:solidFill>
                  <a:srgbClr val="526174"/>
                </a:solidFill>
                <a:latin typeface="DejaVu Sans"/>
                <a:ea typeface="DejaVu Sans"/>
                <a:cs typeface="DejaVu Sans"/>
              </a:rPr>
              <a:t>Indicative points for the final question.</a:t>
            </a:r>
          </a:p>
        </p:txBody>
      </p:sp>
      <p:sp>
        <p:nvSpPr>
          <p:cNvPr id="6" name="number-1">
            <a:extLst xmlns:a="http://schemas.openxmlformats.org/drawingml/2006/main">
              <a:ext uri="{FF2B5EF4-FFF2-40B4-BE49-F238E27FC236}">
                <a16:creationId xmlns:a16="http://schemas.microsoft.com/office/drawing/2014/main" id="{0265F4CF-011F-43B5-9CDD-4090C8125D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486025"/>
            <a:ext cx="5905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950" b="1">
                <a:solidFill>
                  <a:srgbClr val="2D63FF"/>
                </a:solidFill>
                <a:latin typeface="DejaVu Sans"/>
                <a:ea typeface="DejaVu Sans"/>
                <a:cs typeface="DejaVu Sans"/>
              </a:defRPr>
            </a:pPr>
            <a:r>
              <a:rPr sz="1950" b="1">
                <a:solidFill>
                  <a:srgbClr val="2D63FF"/>
                </a:solidFill>
                <a:latin typeface="DejaVu Sans"/>
                <a:ea typeface="DejaVu Sans"/>
                <a:cs typeface="DejaVu Sans"/>
              </a:rPr>
              <a:t>1.</a:t>
            </a:r>
          </a:p>
        </p:txBody>
      </p:sp>
      <p:sp>
        <p:nvSpPr>
          <p:cNvPr id="7" name="item-1">
            <a:extLst xmlns:a="http://schemas.openxmlformats.org/drawingml/2006/main">
              <a:ext uri="{FF2B5EF4-FFF2-40B4-BE49-F238E27FC236}">
                <a16:creationId xmlns:a16="http://schemas.microsoft.com/office/drawing/2014/main" id="{C5EE476D-4853-4529-B45A-9D47B87661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2486025"/>
            <a:ext cx="992505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950" b="0">
                <a:solidFill>
                  <a:srgbClr val="101828"/>
                </a:solidFill>
                <a:latin typeface="DejaVu Sans"/>
                <a:ea typeface="DejaVu Sans"/>
                <a:cs typeface="DejaVu Sans"/>
              </a:defRPr>
            </a:pPr>
            <a:r>
              <a:rPr sz="1950" b="0">
                <a:solidFill>
                  <a:srgbClr val="101828"/>
                </a:solidFill>
                <a:latin typeface="DejaVu Sans"/>
                <a:ea typeface="DejaVu Sans"/>
                <a:cs typeface="DejaVu Sans"/>
              </a:rPr>
              <a:t>A full cache replaces an existing entry when new data must be stored.</a:t>
            </a:r>
          </a:p>
        </p:txBody>
      </p:sp>
      <p:sp>
        <p:nvSpPr>
          <p:cNvPr id="8" name="number-2">
            <a:extLst xmlns:a="http://schemas.openxmlformats.org/drawingml/2006/main">
              <a:ext uri="{FF2B5EF4-FFF2-40B4-BE49-F238E27FC236}">
                <a16:creationId xmlns:a16="http://schemas.microsoft.com/office/drawing/2014/main" id="{37FF55A8-786A-48F0-A3F4-ACBABE4F22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590925"/>
            <a:ext cx="5905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950" b="1">
                <a:solidFill>
                  <a:srgbClr val="2D63FF"/>
                </a:solidFill>
                <a:latin typeface="DejaVu Sans"/>
                <a:ea typeface="DejaVu Sans"/>
                <a:cs typeface="DejaVu Sans"/>
              </a:defRPr>
            </a:pPr>
            <a:r>
              <a:rPr sz="1950" b="1">
                <a:solidFill>
                  <a:srgbClr val="2D63FF"/>
                </a:solidFill>
                <a:latin typeface="DejaVu Sans"/>
                <a:ea typeface="DejaVu Sans"/>
                <a:cs typeface="DejaVu Sans"/>
              </a:rPr>
              <a:t>2.</a:t>
            </a:r>
          </a:p>
        </p:txBody>
      </p:sp>
      <p:sp>
        <p:nvSpPr>
          <p:cNvPr id="9" name="item-2">
            <a:extLst xmlns:a="http://schemas.openxmlformats.org/drawingml/2006/main">
              <a:ext uri="{FF2B5EF4-FFF2-40B4-BE49-F238E27FC236}">
                <a16:creationId xmlns:a16="http://schemas.microsoft.com/office/drawing/2014/main" id="{800501BC-9C36-4007-9580-848A51414D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3590925"/>
            <a:ext cx="992505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950" b="0">
                <a:solidFill>
                  <a:srgbClr val="101828"/>
                </a:solidFill>
                <a:latin typeface="DejaVu Sans"/>
                <a:ea typeface="DejaVu Sans"/>
                <a:cs typeface="DejaVu Sans"/>
              </a:defRPr>
            </a:pPr>
            <a:r>
              <a:rPr sz="1950" b="0">
                <a:solidFill>
                  <a:srgbClr val="101828"/>
                </a:solidFill>
                <a:latin typeface="DejaVu Sans"/>
                <a:ea typeface="DejaVu Sans"/>
                <a:cs typeface="DejaVu Sans"/>
              </a:rPr>
              <a:t>If the next needed item is absent, the CPU fetches it from slower RAM and may wait.</a:t>
            </a:r>
          </a:p>
        </p:txBody>
      </p:sp>
      <p:sp>
        <p:nvSpPr>
          <p:cNvPr id="10" name="number-3">
            <a:extLst xmlns:a="http://schemas.openxmlformats.org/drawingml/2006/main">
              <a:ext uri="{FF2B5EF4-FFF2-40B4-BE49-F238E27FC236}">
                <a16:creationId xmlns:a16="http://schemas.microsoft.com/office/drawing/2014/main" id="{2CA7B44B-C5A1-464E-9489-FF21B85718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695825"/>
            <a:ext cx="5905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950" b="1">
                <a:solidFill>
                  <a:srgbClr val="2D63FF"/>
                </a:solidFill>
                <a:latin typeface="DejaVu Sans"/>
                <a:ea typeface="DejaVu Sans"/>
                <a:cs typeface="DejaVu Sans"/>
              </a:defRPr>
            </a:pPr>
            <a:r>
              <a:rPr sz="1950" b="1">
                <a:solidFill>
                  <a:srgbClr val="2D63FF"/>
                </a:solidFill>
                <a:latin typeface="DejaVu Sans"/>
                <a:ea typeface="DejaVu Sans"/>
                <a:cs typeface="DejaVu Sans"/>
              </a:rPr>
              <a:t>3.</a:t>
            </a:r>
          </a:p>
        </p:txBody>
      </p:sp>
      <p:sp>
        <p:nvSpPr>
          <p:cNvPr id="11" name="item-3">
            <a:extLst xmlns:a="http://schemas.openxmlformats.org/drawingml/2006/main">
              <a:ext uri="{FF2B5EF4-FFF2-40B4-BE49-F238E27FC236}">
                <a16:creationId xmlns:a16="http://schemas.microsoft.com/office/drawing/2014/main" id="{C92B78D7-C44B-4CD8-876E-8E3EE8B389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4695825"/>
            <a:ext cx="992505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950" b="0">
                <a:solidFill>
                  <a:srgbClr val="101828"/>
                </a:solidFill>
                <a:latin typeface="DejaVu Sans"/>
                <a:ea typeface="DejaVu Sans"/>
                <a:cs typeface="DejaVu Sans"/>
              </a:defRPr>
            </a:pPr>
            <a:r>
              <a:rPr sz="1950" b="0">
                <a:solidFill>
                  <a:srgbClr val="101828"/>
                </a:solidFill>
                <a:latin typeface="DejaVu Sans"/>
                <a:ea typeface="DejaVu Sans"/>
                <a:cs typeface="DejaVu Sans"/>
              </a:rPr>
              <a:t>The effect depends on cache hits and misses. Being full alone does not guarantee a slowdown.</a:t>
            </a:r>
          </a:p>
        </p:txBody>
      </p:sp>
    </p:spTree>
    <p:extLst>
      <p:ext uri="{BB962C8B-B14F-4D97-AF65-F5344CB8AC3E}">
        <p14:creationId xmlns:p14="http://schemas.microsoft.com/office/powerpoint/2010/main" val="1852966075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2026-09-25T10:42:30.9860000Z</dcterms:created>
  <dcterms:modified xsi:type="dcterms:W3CDTF">2026-09-25T10:42:30.9860000Z</dcterms:modified>
</coreProperties>
</file>