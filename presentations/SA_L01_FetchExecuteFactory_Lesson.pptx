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0df505e5c2e4e90" /><Relationship Type="http://schemas.openxmlformats.org/officeDocument/2006/relationships/extended-properties" Target="/docProps/app.xml" Id="R1f516936bb8542dc" /><Relationship Type="http://schemas.openxmlformats.org/officeDocument/2006/relationships/officeDocument" Target="/ppt/presentation.xml" Id="R8757ccdc81204696" /></Relationships>
</file>

<file path=ppt/presentation.xml><?xml version="1.0" encoding="utf-8"?>
<p:presentation xmlns:p="http://schemas.openxmlformats.org/presentationml/2006/main">
  <p:sldMasterIdLst>
    <p:sldMasterId xmlns:r="http://schemas.openxmlformats.org/officeDocument/2006/relationships" id="2147483648" r:id="Rd8dc751e17224152"/>
  </p:sldMasterIdLst>
  <p:notesMasterIdLst>
    <p:notesMasterId xmlns:r="http://schemas.openxmlformats.org/officeDocument/2006/relationships" r:id="R55a13139b4ed48ff"/>
  </p:notesMasterIdLst>
  <p:sldIdLst>
    <p:sldId xmlns:r="http://schemas.openxmlformats.org/officeDocument/2006/relationships" id="256" r:id="Redb21f29ede24399"/>
    <p:sldId xmlns:r="http://schemas.openxmlformats.org/officeDocument/2006/relationships" id="257" r:id="R5693da0d86604859"/>
    <p:sldId xmlns:r="http://schemas.openxmlformats.org/officeDocument/2006/relationships" id="258" r:id="R3076f72c184f4867"/>
    <p:sldId xmlns:r="http://schemas.openxmlformats.org/officeDocument/2006/relationships" id="259" r:id="R094ba911e3104c74"/>
    <p:sldId xmlns:r="http://schemas.openxmlformats.org/officeDocument/2006/relationships" id="260" r:id="R7884cc42df8d4e4e"/>
    <p:sldId xmlns:r="http://schemas.openxmlformats.org/officeDocument/2006/relationships" id="261" r:id="Ra5e159349ba14680"/>
    <p:sldId xmlns:r="http://schemas.openxmlformats.org/officeDocument/2006/relationships" id="262" r:id="Ra87bf9b3313c4666"/>
    <p:sldId xmlns:r="http://schemas.openxmlformats.org/officeDocument/2006/relationships" id="263" r:id="R8a448d4673334b9e"/>
    <p:sldId xmlns:r="http://schemas.openxmlformats.org/officeDocument/2006/relationships" id="264" r:id="Re280f7b00ebd403c"/>
    <p:sldId xmlns:r="http://schemas.openxmlformats.org/officeDocument/2006/relationships" id="265" r:id="R25fd47b4a52f4a7d"/>
    <p:sldId xmlns:r="http://schemas.openxmlformats.org/officeDocument/2006/relationships" id="266" r:id="Rd3f2c2252691410c"/>
    <p:sldId xmlns:r="http://schemas.openxmlformats.org/officeDocument/2006/relationships" id="267" r:id="R4f2f823c801142be"/>
    <p:sldId xmlns:r="http://schemas.openxmlformats.org/officeDocument/2006/relationships" id="268" r:id="R94249b8e44194ee1"/>
    <p:sldId xmlns:r="http://schemas.openxmlformats.org/officeDocument/2006/relationships" id="269" r:id="Rfafd253fa0d14315"/>
    <p:sldId xmlns:r="http://schemas.openxmlformats.org/officeDocument/2006/relationships" id="270" r:id="Ra0c4e11117104e17"/>
    <p:sldId xmlns:r="http://schemas.openxmlformats.org/officeDocument/2006/relationships" id="271" r:id="R10e4af89c8794329"/>
    <p:sldId xmlns:r="http://schemas.openxmlformats.org/officeDocument/2006/relationships" id="272" r:id="Rb7a447c1fcb84020"/>
    <p:sldId xmlns:r="http://schemas.openxmlformats.org/officeDocument/2006/relationships" id="273" r:id="Rc67b11f48e3e4fa2"/>
    <p:sldId xmlns:r="http://schemas.openxmlformats.org/officeDocument/2006/relationships" id="274" r:id="R5966bb0726344238"/>
    <p:sldId xmlns:r="http://schemas.openxmlformats.org/officeDocument/2006/relationships" id="275" r:id="R1d443c4217324b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384d8616b4c4916" /><Relationship Type="http://schemas.openxmlformats.org/officeDocument/2006/relationships/slideMaster" Target="/ppt/slideMasters/slideMaster1.xml" Id="Rd8dc751e17224152" /><Relationship Type="http://schemas.openxmlformats.org/officeDocument/2006/relationships/notesMaster" Target="/ppt/notesMasters/notesMaster1.xml" Id="R55a13139b4ed48ff" /><Relationship Type="http://schemas.openxmlformats.org/officeDocument/2006/relationships/presProps" Target="/ppt/presProps.xml" Id="Ra649958e322943b1" /><Relationship Type="http://schemas.openxmlformats.org/officeDocument/2006/relationships/tableStyles" Target="/ppt/tableStyles.xml" Id="Rfb34a15cfa4a495a" /><Relationship Type="http://schemas.openxmlformats.org/officeDocument/2006/relationships/slide" Target="/ppt/slides/slide1.xml" Id="Redb21f29ede24399" /><Relationship Type="http://schemas.openxmlformats.org/officeDocument/2006/relationships/slide" Target="/ppt/slides/slide2.xml" Id="R5693da0d86604859" /><Relationship Type="http://schemas.openxmlformats.org/officeDocument/2006/relationships/slide" Target="/ppt/slides/slide3.xml" Id="R3076f72c184f4867" /><Relationship Type="http://schemas.openxmlformats.org/officeDocument/2006/relationships/slide" Target="/ppt/slides/slide4.xml" Id="R094ba911e3104c74" /><Relationship Type="http://schemas.openxmlformats.org/officeDocument/2006/relationships/slide" Target="/ppt/slides/slide5.xml" Id="R7884cc42df8d4e4e" /><Relationship Type="http://schemas.openxmlformats.org/officeDocument/2006/relationships/slide" Target="/ppt/slides/slide6.xml" Id="Ra5e159349ba14680" /><Relationship Type="http://schemas.openxmlformats.org/officeDocument/2006/relationships/slide" Target="/ppt/slides/slide7.xml" Id="Ra87bf9b3313c4666" /><Relationship Type="http://schemas.openxmlformats.org/officeDocument/2006/relationships/slide" Target="/ppt/slides/slide8.xml" Id="R8a448d4673334b9e" /><Relationship Type="http://schemas.openxmlformats.org/officeDocument/2006/relationships/slide" Target="/ppt/slides/slide9.xml" Id="Re280f7b00ebd403c" /><Relationship Type="http://schemas.openxmlformats.org/officeDocument/2006/relationships/slide" Target="/ppt/slides/slide10.xml" Id="R25fd47b4a52f4a7d" /><Relationship Type="http://schemas.openxmlformats.org/officeDocument/2006/relationships/slide" Target="/ppt/slides/slide11.xml" Id="Rd3f2c2252691410c" /><Relationship Type="http://schemas.openxmlformats.org/officeDocument/2006/relationships/slide" Target="/ppt/slides/slide12.xml" Id="R4f2f823c801142be" /><Relationship Type="http://schemas.openxmlformats.org/officeDocument/2006/relationships/slide" Target="/ppt/slides/slide13.xml" Id="R94249b8e44194ee1" /><Relationship Type="http://schemas.openxmlformats.org/officeDocument/2006/relationships/slide" Target="/ppt/slides/slide14.xml" Id="Rfafd253fa0d14315" /><Relationship Type="http://schemas.openxmlformats.org/officeDocument/2006/relationships/slide" Target="/ppt/slides/slide15.xml" Id="Ra0c4e11117104e17" /><Relationship Type="http://schemas.openxmlformats.org/officeDocument/2006/relationships/slide" Target="/ppt/slides/slide16.xml" Id="R10e4af89c8794329" /><Relationship Type="http://schemas.openxmlformats.org/officeDocument/2006/relationships/slide" Target="/ppt/slides/slide17.xml" Id="Rb7a447c1fcb84020" /><Relationship Type="http://schemas.openxmlformats.org/officeDocument/2006/relationships/slide" Target="/ppt/slides/slide18.xml" Id="Rc67b11f48e3e4fa2" /><Relationship Type="http://schemas.openxmlformats.org/officeDocument/2006/relationships/slide" Target="/ppt/slides/slide19.xml" Id="R5966bb0726344238" /><Relationship Type="http://schemas.openxmlformats.org/officeDocument/2006/relationships/slide" Target="/ppt/slides/slide20.xml" Id="R1d443c4217324b9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b8ee5b4c0324d2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44cfd29015443ef" /><Relationship Type="http://schemas.openxmlformats.org/officeDocument/2006/relationships/notesMaster" Target="/ppt/notesMasters/notesMaster1.xml" Id="R832112c8e1634c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1c14394216724846" /><Relationship Type="http://schemas.openxmlformats.org/officeDocument/2006/relationships/notesMaster" Target="/ppt/notesMasters/notesMaster1.xml" Id="R179e80ab1e7945b7" /></Relationships>
</file>

<file path=ppt/notesSlides/_rels/notesSlide3.xml.rels>&#65279;<?xml version="1.0" encoding="utf-8"?><Relationships xmlns="http://schemas.openxmlformats.org/package/2006/relationships"><Relationship Type="http://schemas.openxmlformats.org/officeDocument/2006/relationships/slide" Target="/ppt/slides/slide3.xml" Id="R9f5330b9ee5e4353" /><Relationship Type="http://schemas.openxmlformats.org/officeDocument/2006/relationships/notesMaster" Target="/ppt/notesMasters/notesMaster1.xml" Id="Rf1234c7ca152475b" /></Relationships>
</file>

<file path=ppt/notesSlides/_rels/notesSlide4.xml.rels>&#65279;<?xml version="1.0" encoding="utf-8"?><Relationships xmlns="http://schemas.openxmlformats.org/package/2006/relationships"><Relationship Type="http://schemas.openxmlformats.org/officeDocument/2006/relationships/slide" Target="/ppt/slides/slide4.xml" Id="R40b9926bbb394e89" /><Relationship Type="http://schemas.openxmlformats.org/officeDocument/2006/relationships/notesMaster" Target="/ppt/notesMasters/notesMaster1.xml" Id="R5d911c5b77b74b80" /></Relationships>
</file>

<file path=ppt/notesSlides/_rels/notesSlide5.xml.rels>&#65279;<?xml version="1.0" encoding="utf-8"?><Relationships xmlns="http://schemas.openxmlformats.org/package/2006/relationships"><Relationship Type="http://schemas.openxmlformats.org/officeDocument/2006/relationships/slide" Target="/ppt/slides/slide5.xml" Id="R2e93f400b1c14084" /><Relationship Type="http://schemas.openxmlformats.org/officeDocument/2006/relationships/notesMaster" Target="/ppt/notesMasters/notesMaster1.xml" Id="R7bae50ea7dde492d" /></Relationships>
</file>

<file path=ppt/notesSlides/_rels/notesSlide6.xml.rels>&#65279;<?xml version="1.0" encoding="utf-8"?><Relationships xmlns="http://schemas.openxmlformats.org/package/2006/relationships"><Relationship Type="http://schemas.openxmlformats.org/officeDocument/2006/relationships/slide" Target="/ppt/slides/slide6.xml" Id="R03310dc0761044f6" /><Relationship Type="http://schemas.openxmlformats.org/officeDocument/2006/relationships/notesMaster" Target="/ppt/notesMasters/notesMaster1.xml" Id="R17332f125a2b4c45" /></Relationships>
</file>

<file path=ppt/notesSlides/_rels/notesSlide7.xml.rels>&#65279;<?xml version="1.0" encoding="utf-8"?><Relationships xmlns="http://schemas.openxmlformats.org/package/2006/relationships"><Relationship Type="http://schemas.openxmlformats.org/officeDocument/2006/relationships/slide" Target="/ppt/slides/slide7.xml" Id="R9b0e425e773b4bdc" /><Relationship Type="http://schemas.openxmlformats.org/officeDocument/2006/relationships/notesMaster" Target="/ppt/notesMasters/notesMaster1.xml" Id="R7698a9d8f7a44f2a" /></Relationships>
</file>

<file path=ppt/notesSlides/_rels/notesSlide8.xml.rels>&#65279;<?xml version="1.0" encoding="utf-8"?><Relationships xmlns="http://schemas.openxmlformats.org/package/2006/relationships"><Relationship Type="http://schemas.openxmlformats.org/officeDocument/2006/relationships/slide" Target="/ppt/slides/slide8.xml" Id="Re511a6c50eec46ca" /><Relationship Type="http://schemas.openxmlformats.org/officeDocument/2006/relationships/notesMaster" Target="/ppt/notesMasters/notesMaster1.xml" Id="R6b70a649cdfc4758" /></Relationships>
</file>

<file path=ppt/notesSlides/_rels/notesSlide9.xml.rels>&#65279;<?xml version="1.0" encoding="utf-8"?><Relationships xmlns="http://schemas.openxmlformats.org/package/2006/relationships"><Relationship Type="http://schemas.openxmlformats.org/officeDocument/2006/relationships/slide" Target="/ppt/slides/slide9.xml" Id="R6366e89a04474072" /><Relationship Type="http://schemas.openxmlformats.org/officeDocument/2006/relationships/notesMaster" Target="/ppt/notesMasters/notesMaster1.xml" Id="R7d57f1f7a2e8448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d9c248b7ddf466d" /><Relationship Type="http://schemas.openxmlformats.org/officeDocument/2006/relationships/notesMaster" Target="/ppt/notesMasters/notesMaster1.xml" Id="R64cf4cabe1ac461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53549eb98664108" /><Relationship Type="http://schemas.openxmlformats.org/officeDocument/2006/relationships/notesMaster" Target="/ppt/notesMasters/notesMaster1.xml" Id="R68739a27f916410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7d742c7dd0340b8" /><Relationship Type="http://schemas.openxmlformats.org/officeDocument/2006/relationships/notesMaster" Target="/ppt/notesMasters/notesMaster1.xml" Id="Red4fa9b8ff744a6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b02a60f8b744775" /><Relationship Type="http://schemas.openxmlformats.org/officeDocument/2006/relationships/notesMaster" Target="/ppt/notesMasters/notesMaster1.xml" Id="R3e79db827b7c485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eb4fc75a1eb4fb7" /><Relationship Type="http://schemas.openxmlformats.org/officeDocument/2006/relationships/notesMaster" Target="/ppt/notesMasters/notesMaster1.xml" Id="R37fe93570483497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b9a86577a1841d2" /><Relationship Type="http://schemas.openxmlformats.org/officeDocument/2006/relationships/notesMaster" Target="/ppt/notesMasters/notesMaster1.xml" Id="R7e70c505bac7425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8cc559485ab42a3" /><Relationship Type="http://schemas.openxmlformats.org/officeDocument/2006/relationships/notesMaster" Target="/ppt/notesMasters/notesMaster1.xml" Id="R55e3a8b8a36e4b6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0c70aefbdb740c9" /><Relationship Type="http://schemas.openxmlformats.org/officeDocument/2006/relationships/notesMaster" Target="/ppt/notesMasters/notesMaster1.xml" Id="Rfdc074e925414a8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441631636db4168" /><Relationship Type="http://schemas.openxmlformats.org/officeDocument/2006/relationships/notesMaster" Target="/ppt/notesMasters/notesMaster1.xml" Id="R931be31bdc5d49e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6a5d823c5b84674" /><Relationship Type="http://schemas.openxmlformats.org/officeDocument/2006/relationships/notesMaster" Target="/ppt/notesMasters/notesMaster1.xml" Id="R67545c0dce08404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3454ce4adae414f" /><Relationship Type="http://schemas.openxmlformats.org/officeDocument/2006/relationships/notesMaster" Target="/ppt/notesMasters/notesMaster1.xml" Id="R78d4bbee28a04f6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picture shows a straight-on perspective view of the actual 360 experience opening scene. Students should keep the experience closed until slide 7.</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outcomes with the class. They follow the wording of the lesson worksheet.</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pupils to attempt the exact starter question printed on the worksheet. Take a few suggestions before showing the model answer.</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sample answers to the exact worksheet starter question. Accept other correct examples and explanations.</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write definitions from memory. These two terms are the worksheet’s exact key terminology entries, including the recap terms in Lesson 4.</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term definitions are visible for pupils to correct their quiz. Reveal this slide after attempts.</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slide where students open the experience file. Leave it visible while they get set up. The link opens the matching experience.</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image is a straight-on perspective view of stations 1 and 2 in the actual experience. Students should record the key fact and their own answer before selecting each badge.</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students have reached the score screen, they copy the mark straight away. The key question is printed on the worksheet after the score box.</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extension is optional and comes after the experience. Give students time to reason in full sentences.</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work after the experience has been completed. Move the whole class to the plenary knowledge check near the end of the lesson. Do not reveal station answers until pupils have completed the experience.</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sample answers after students have attempted the two application prompts. These are examples rather than a single required wording.</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concise answers to the worksheet station prompts, shared only after pupils complete the experience. Correct wording can vary.</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concise answers to the worksheet station prompts, shared only after pupils complete the experience. Correct wording can vary.</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answers follow the final challenge in the interactive experience and the worksheet. Students should correct their table before the exam questions.</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exam-practice questions a and b from the worksheet. Give independent writing time before revealing the answers.</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exact worksheet exam-practice question c. Let students answer independently.</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classroom answer points, not an official OCR mark scheme. Ask students to improve one response in a different colour.</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worksheet final challenge to rehearse the six steps. The cache item is deliberately nuanced: replacement is normal; a miss causes the delay. Ask students to revise one sentence after self-check.</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the exact confidence objectives listed in the worksheet. Ask students to identify one item to revisit next time.</a:t>
            </a:r>
          </a:p>
          <a:p xmlns:a="http://schemas.openxmlformats.org/drawingml/2006/main">
            <a:r>
              <a:t>Sources: Revise360 experiences/sa-l01.json and worksheets/SA_L01_FetchExecuteFactory_Worksheet.docx.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e63224ba0b44d0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6b17394c78d49de" /><Relationship Type="http://schemas.openxmlformats.org/officeDocument/2006/relationships/slideLayout" Target="/ppt/slideLayouts/slideLayout1.xml" Id="R9da9715644564e6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da9715644564e6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ed20dfad3f04225" /><Relationship Type="http://schemas.openxmlformats.org/officeDocument/2006/relationships/image" Target="/ppt/media/image.jpeg" Id="Rf55efd18d9d14f72" /><Relationship Type="http://schemas.openxmlformats.org/officeDocument/2006/relationships/notesSlide" Target="/ppt/notesSlides/notesSlide1.xml" Id="Re3c2735ae4874b3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5e1110c24af4ba1" /><Relationship Type="http://schemas.openxmlformats.org/officeDocument/2006/relationships/notesSlide" Target="/ppt/notesSlides/notesSlide2.xml" Id="Raadf363cd265488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3e79678b0e44559" /><Relationship Type="http://schemas.openxmlformats.org/officeDocument/2006/relationships/notesSlide" Target="/ppt/notesSlides/notesSlide3.xml" Id="R103153508c34422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d608339ea45481a" /><Relationship Type="http://schemas.openxmlformats.org/officeDocument/2006/relationships/notesSlide" Target="/ppt/notesSlides/notesSlide4.xml" Id="Rceea32fb5179422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16699518ff04ca5" /><Relationship Type="http://schemas.openxmlformats.org/officeDocument/2006/relationships/notesSlide" Target="/ppt/notesSlides/notesSlide5.xml" Id="R9009e0ada2b6419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3af6be78c4b442a" /><Relationship Type="http://schemas.openxmlformats.org/officeDocument/2006/relationships/notesSlide" Target="/ppt/notesSlides/notesSlide6.xml" Id="R70e0cef5e6fc499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0ebe4b3f64145e0" /><Relationship Type="http://schemas.openxmlformats.org/officeDocument/2006/relationships/hyperlink" Target="https://mrp-cs.github.io/Revise360/experience.html?id=sa-l01" TargetMode="External" Id="R6c752406c6b44bcf" /><Relationship Type="http://schemas.openxmlformats.org/officeDocument/2006/relationships/notesSlide" Target="/ppt/notesSlides/notesSlide7.xml" Id="R5cd0d56b0a6c4d0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77ada7607f54fa5" /><Relationship Type="http://schemas.openxmlformats.org/officeDocument/2006/relationships/image" Target="/ppt/media/image2.jpeg" Id="R0e9c516556b94bc8" /><Relationship Type="http://schemas.openxmlformats.org/officeDocument/2006/relationships/notesSlide" Target="/ppt/notesSlides/notesSlide8.xml" Id="R8a199ca48d78450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c58fa3a41da4685" /><Relationship Type="http://schemas.openxmlformats.org/officeDocument/2006/relationships/notesSlide" Target="/ppt/notesSlides/notesSlide9.xml" Id="R43439b9e1caa45d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ab1087badbf49a1" /><Relationship Type="http://schemas.openxmlformats.org/officeDocument/2006/relationships/notesSlide" Target="/ppt/notesSlides/notesSlide10.xml" Id="R6f31d04d9e254ed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128e9914f604e8c" /><Relationship Type="http://schemas.openxmlformats.org/officeDocument/2006/relationships/notesSlide" Target="/ppt/notesSlides/notesSlide11.xml" Id="Rfe75f1614f044c0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853debb5a704b3c" /><Relationship Type="http://schemas.openxmlformats.org/officeDocument/2006/relationships/notesSlide" Target="/ppt/notesSlides/notesSlide12.xml" Id="R6ad329f56cb3494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d81161cb4d745b6" /><Relationship Type="http://schemas.openxmlformats.org/officeDocument/2006/relationships/notesSlide" Target="/ppt/notesSlides/notesSlide13.xml" Id="R984949726d50420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58d56fe65c74085" /><Relationship Type="http://schemas.openxmlformats.org/officeDocument/2006/relationships/notesSlide" Target="/ppt/notesSlides/notesSlide14.xml" Id="Re13085ad5bc4434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c52c718e53d4d40" /><Relationship Type="http://schemas.openxmlformats.org/officeDocument/2006/relationships/notesSlide" Target="/ppt/notesSlides/notesSlide15.xml" Id="R03062268c9aa4e2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8f8b2123ef24b73" /><Relationship Type="http://schemas.openxmlformats.org/officeDocument/2006/relationships/notesSlide" Target="/ppt/notesSlides/notesSlide16.xml" Id="R3f4d46907cef479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57e41f456ba44f8" /><Relationship Type="http://schemas.openxmlformats.org/officeDocument/2006/relationships/notesSlide" Target="/ppt/notesSlides/notesSlide17.xml" Id="R51338d08a4024fd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9f7427a920c4360" /><Relationship Type="http://schemas.openxmlformats.org/officeDocument/2006/relationships/notesSlide" Target="/ppt/notesSlides/notesSlide18.xml" Id="R001cc5ca1c444ae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0ee1da6bd334a1f" /><Relationship Type="http://schemas.openxmlformats.org/officeDocument/2006/relationships/notesSlide" Target="/ppt/notesSlides/notesSlide19.xml" Id="Reeb51b1e0ec24f1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2071450118c41c9" /><Relationship Type="http://schemas.openxmlformats.org/officeDocument/2006/relationships/notesSlide" Target="/ppt/notesSlides/notesSlide20.xml" Id="Rb1e61776dc3f4177" /></Relationships>
</file>

<file path=ppt/slides/slide1.xml><?xml version="1.0" encoding="utf-8"?>
<p:sld xmlns:p="http://schemas.openxmlformats.org/presentationml/2006/main">
  <p:cSld>
    <p:bg>
      <p:bgPr>
        <a:solidFill xmlns:a="http://schemas.openxmlformats.org/drawingml/2006/main">
          <a:srgbClr val="122448"/>
        </a:solidFill>
      </p:bgPr>
    </p:bg>
    <p:spTree>
      <p:nvGrpSpPr>
        <p:cNvPr id="1" name=""/>
        <p:cNvGrpSpPr/>
        <p:nvPr/>
      </p:nvGrpSpPr>
      <p:grpSpPr>
        <a:xfrm xmlns:a="http://schemas.openxmlformats.org/drawingml/2006/main"/>
      </p:grpSpPr>
      <p:sp>
        <p:nvSpPr>
          <p:cNvPr id="8" name="topic">
            <a:extLst xmlns:a="http://schemas.openxmlformats.org/drawingml/2006/main">
              <a:ext uri="{FF2B5EF4-FFF2-40B4-BE49-F238E27FC236}">
                <a16:creationId xmlns:a16="http://schemas.microsoft.com/office/drawing/2014/main" id="{91EE03C4-EB31-47C7-87BC-F99ABE7ABEB3}"/>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77D8FF"/>
                </a:solidFill>
                <a:latin typeface="DejaVu Sans"/>
                <a:ea typeface="DejaVu Sans"/>
                <a:cs typeface="DejaVu Sans"/>
              </a:defRPr>
            </a:pPr>
            <a:r>
              <a:rPr sz="1125" b="1">
                <a:solidFill>
                  <a:srgbClr val="77D8FF"/>
                </a:solidFill>
                <a:latin typeface="DejaVu Sans"/>
                <a:ea typeface="DejaVu Sans"/>
                <a:cs typeface="DejaVu Sans"/>
              </a:rPr>
              <a:t>TOPIC 1.1   /   LESSON 01</a:t>
            </a:r>
          </a:p>
        </p:txBody>
      </p:sp>
      <p:sp>
        <p:nvSpPr>
          <p:cNvPr id="2" name="heading">
            <a:extLst xmlns:a="http://schemas.openxmlformats.org/drawingml/2006/main">
              <a:ext uri="{FF2B5EF4-FFF2-40B4-BE49-F238E27FC236}">
                <a16:creationId xmlns:a16="http://schemas.microsoft.com/office/drawing/2014/main" id="{B7FF8755-FFAC-4AAF-A2E7-2FFBF4324655}"/>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FFFFFF"/>
                </a:solidFill>
                <a:latin typeface="DejaVu Sans"/>
                <a:ea typeface="DejaVu Sans"/>
                <a:cs typeface="DejaVu Sans"/>
              </a:defRPr>
            </a:pPr>
            <a:r>
              <a:rPr sz="3225" b="1">
                <a:solidFill>
                  <a:srgbClr val="FFFFFF"/>
                </a:solidFill>
                <a:latin typeface="DejaVu Sans"/>
                <a:ea typeface="DejaVu Sans"/>
                <a:cs typeface="DejaVu Sans"/>
              </a:rPr>
              <a:t>FETCH-EXECUTE FACTORY</a:t>
            </a:r>
          </a:p>
        </p:txBody>
      </p:sp>
      <p:sp>
        <p:nvSpPr>
          <p:cNvPr id="3" name="footer">
            <a:extLst xmlns:a="http://schemas.openxmlformats.org/drawingml/2006/main">
              <a:ext uri="{FF2B5EF4-FFF2-40B4-BE49-F238E27FC236}">
                <a16:creationId xmlns:a16="http://schemas.microsoft.com/office/drawing/2014/main" id="{CD63DA43-FE14-4CC9-974B-AE491E43C83C}"/>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D7E4F3"/>
                </a:solidFill>
                <a:latin typeface="DejaVu Sans"/>
                <a:ea typeface="DejaVu Sans"/>
                <a:cs typeface="DejaVu Sans"/>
              </a:defRPr>
            </a:pPr>
            <a:r>
              <a:rPr sz="1050" b="0">
                <a:solidFill>
                  <a:srgbClr val="D7E4F3"/>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8C58CF99-DAE1-427B-859E-E6F4739CFEE2}"/>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D7E4F3"/>
                </a:solidFill>
                <a:latin typeface="DejaVu Sans"/>
                <a:ea typeface="DejaVu Sans"/>
                <a:cs typeface="DejaVu Sans"/>
              </a:defRPr>
            </a:pPr>
            <a:r>
              <a:rPr sz="1050" b="0">
                <a:solidFill>
                  <a:srgbClr val="D7E4F3"/>
                </a:solidFill>
                <a:latin typeface="DejaVu Sans"/>
                <a:ea typeface="DejaVu Sans"/>
                <a:cs typeface="DejaVu Sans"/>
              </a:rPr>
              <a:t>1 / 20</a:t>
            </a:r>
          </a:p>
        </p:txBody>
      </p:sp>
      <p:sp>
        <p:nvSpPr>
          <p:cNvPr id="5" name="subject">
            <a:extLst xmlns:a="http://schemas.openxmlformats.org/drawingml/2006/main">
              <a:ext uri="{FF2B5EF4-FFF2-40B4-BE49-F238E27FC236}">
                <a16:creationId xmlns:a16="http://schemas.microsoft.com/office/drawing/2014/main" id="{703E6183-E49E-4C37-B834-0C2BE6FBA04E}"/>
              </a:ext>
            </a:extLst>
          </p:cNvPr>
          <p:cNvSpPr>
            <a:spLocks xmlns:a="http://schemas.openxmlformats.org/drawingml/2006/main" noGrp="1"/>
          </p:cNvSpPr>
          <p:nvPr/>
        </p:nvSpPr>
        <p:spPr>
          <a:xfrm xmlns:a="http://schemas.openxmlformats.org/drawingml/2006/main">
            <a:off x="685800" y="1762125"/>
            <a:ext cx="5143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77D8FF"/>
                </a:solidFill>
                <a:latin typeface="DejaVu Sans"/>
                <a:ea typeface="DejaVu Sans"/>
                <a:cs typeface="DejaVu Sans"/>
              </a:defRPr>
            </a:pPr>
            <a:r>
              <a:rPr sz="2325" b="0">
                <a:solidFill>
                  <a:srgbClr val="77D8FF"/>
                </a:solidFill>
                <a:latin typeface="DejaVu Sans"/>
                <a:ea typeface="DejaVu Sans"/>
                <a:cs typeface="DejaVu Sans"/>
              </a:rPr>
              <a:t>Purpose of the CPU</a:t>
            </a:r>
          </a:p>
        </p:txBody>
      </p:sp>
      <p:sp>
        <p:nvSpPr>
          <p:cNvPr id="6" name="cover-note">
            <a:extLst xmlns:a="http://schemas.openxmlformats.org/drawingml/2006/main">
              <a:ext uri="{FF2B5EF4-FFF2-40B4-BE49-F238E27FC236}">
                <a16:creationId xmlns:a16="http://schemas.microsoft.com/office/drawing/2014/main" id="{C80D8965-CB2B-487A-B0E9-85468A0481AB}"/>
              </a:ext>
            </a:extLst>
          </p:cNvPr>
          <p:cNvSpPr>
            <a:spLocks xmlns:a="http://schemas.openxmlformats.org/drawingml/2006/main" noGrp="1"/>
          </p:cNvSpPr>
          <p:nvPr/>
        </p:nvSpPr>
        <p:spPr>
          <a:xfrm xmlns:a="http://schemas.openxmlformats.org/drawingml/2006/main">
            <a:off x="685800" y="3267075"/>
            <a:ext cx="51435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8000"/>
              </a:lnSpc>
              <a:buNone/>
              <a:defRPr sz="1950" b="0">
                <a:solidFill>
                  <a:srgbClr val="FFFFFF"/>
                </a:solidFill>
                <a:latin typeface="DejaVu Sans"/>
                <a:ea typeface="DejaVu Sans"/>
                <a:cs typeface="DejaVu Sans"/>
              </a:defRPr>
            </a:pPr>
            <a:r>
              <a:rPr sz="1950" b="0">
                <a:solidFill>
                  <a:srgbClr val="FFFFFF"/>
                </a:solidFill>
                <a:latin typeface="DejaVu Sans"/>
                <a:ea typeface="DejaVu Sans"/>
                <a:cs typeface="DejaVu Sans"/>
              </a:rPr>
              <a:t>Start with your worksheet.</a:t>
            </a:r>
          </a:p>
          <a:p xmlns:a="http://schemas.openxmlformats.org/drawingml/2006/main">
            <a:pPr>
              <a:lnSpc>
                <a:spcPct val="118000"/>
              </a:lnSpc>
              <a:buNone/>
              <a:defRPr sz="1950" b="0">
                <a:solidFill>
                  <a:srgbClr val="FFFFFF"/>
                </a:solidFill>
                <a:latin typeface="DejaVu Sans"/>
                <a:ea typeface="DejaVu Sans"/>
                <a:cs typeface="DejaVu Sans"/>
              </a:defRPr>
            </a:pPr>
            <a:r>
              <a:rPr sz="1950" b="0">
                <a:solidFill>
                  <a:srgbClr val="FFFFFF"/>
                </a:solidFill>
                <a:latin typeface="DejaVu Sans"/>
                <a:ea typeface="DejaVu Sans"/>
                <a:cs typeface="DejaVu Sans"/>
              </a:rPr>
              <a:t>Open the experience after the starter and key terms have been marked.</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f55efd18d9d14f72"/>
          <a:stretch xmlns:a="http://schemas.openxmlformats.org/drawingml/2006/main"/>
        </p:blipFill>
        <p:spPr>
          <a:xfrm xmlns:a="http://schemas.openxmlformats.org/drawingml/2006/main">
            <a:off x="6076950" y="1819275"/>
            <a:ext cx="5400675" cy="3600450"/>
          </a:xfrm>
          <a:prstGeom xmlns:a="http://schemas.openxmlformats.org/drawingml/2006/main" prst="rect">
            <a:avLst/>
          </a:prstGeom>
        </p:spPr>
      </p:pic>
    </p:spTree>
    <p:extLst>
      <p:ext uri="{BB962C8B-B14F-4D97-AF65-F5344CB8AC3E}">
        <p14:creationId xmlns:p14="http://schemas.microsoft.com/office/powerpoint/2010/main" val="151397155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opic">
            <a:extLst xmlns:a="http://schemas.openxmlformats.org/drawingml/2006/main">
              <a:ext uri="{FF2B5EF4-FFF2-40B4-BE49-F238E27FC236}">
                <a16:creationId xmlns:a16="http://schemas.microsoft.com/office/drawing/2014/main" id="{BFBBABC0-2E23-43F3-A814-8EAC47F707F0}"/>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WORKSHEET</a:t>
            </a:r>
          </a:p>
        </p:txBody>
      </p:sp>
      <p:sp>
        <p:nvSpPr>
          <p:cNvPr id="2" name="heading">
            <a:extLst xmlns:a="http://schemas.openxmlformats.org/drawingml/2006/main">
              <a:ext uri="{FF2B5EF4-FFF2-40B4-BE49-F238E27FC236}">
                <a16:creationId xmlns:a16="http://schemas.microsoft.com/office/drawing/2014/main" id="{D0309D9C-6031-49ED-B67B-CCAD5949E2D0}"/>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By the end of this lesson</a:t>
            </a:r>
          </a:p>
        </p:txBody>
      </p:sp>
      <p:sp>
        <p:nvSpPr>
          <p:cNvPr id="3" name="footer">
            <a:extLst xmlns:a="http://schemas.openxmlformats.org/drawingml/2006/main">
              <a:ext uri="{FF2B5EF4-FFF2-40B4-BE49-F238E27FC236}">
                <a16:creationId xmlns:a16="http://schemas.microsoft.com/office/drawing/2014/main" id="{10083105-6AE6-4270-BA7F-020D6B64CBC1}"/>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A2B9663B-F931-4978-A598-B6A90035D565}"/>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2 / 20</a:t>
            </a:r>
          </a:p>
        </p:txBody>
      </p:sp>
      <p:sp>
        <p:nvSpPr>
          <p:cNvPr id="5" name="outcome-intro">
            <a:extLst xmlns:a="http://schemas.openxmlformats.org/drawingml/2006/main">
              <a:ext uri="{FF2B5EF4-FFF2-40B4-BE49-F238E27FC236}">
                <a16:creationId xmlns:a16="http://schemas.microsoft.com/office/drawing/2014/main" id="{B47328FC-ABA1-427C-BCF5-5B5A4C1A749A}"/>
              </a:ext>
            </a:extLst>
          </p:cNvPr>
          <p:cNvSpPr>
            <a:spLocks xmlns:a="http://schemas.openxmlformats.org/drawingml/2006/main" noGrp="1"/>
          </p:cNvSpPr>
          <p:nvPr/>
        </p:nvSpPr>
        <p:spPr>
          <a:xfrm xmlns:a="http://schemas.openxmlformats.org/drawingml/2006/main">
            <a:off x="704850" y="158115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Your worksheet lists these learning outcomes:</a:t>
            </a:r>
          </a:p>
        </p:txBody>
      </p:sp>
      <p:sp>
        <p:nvSpPr>
          <p:cNvPr id="6" name="number-1">
            <a:extLst xmlns:a="http://schemas.openxmlformats.org/drawingml/2006/main">
              <a:ext uri="{FF2B5EF4-FFF2-40B4-BE49-F238E27FC236}">
                <a16:creationId xmlns:a16="http://schemas.microsoft.com/office/drawing/2014/main" id="{898EB658-CF4D-421F-80E3-55236D83F713}"/>
              </a:ext>
            </a:extLst>
          </p:cNvPr>
          <p:cNvSpPr>
            <a:spLocks xmlns:a="http://schemas.openxmlformats.org/drawingml/2006/main" noGrp="1"/>
          </p:cNvSpPr>
          <p:nvPr/>
        </p:nvSpPr>
        <p:spPr>
          <a:xfrm xmlns:a="http://schemas.openxmlformats.org/drawingml/2006/main">
            <a:off x="723900" y="22669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8C1F592E-B20C-4F2D-92C2-CD65397B8038}"/>
              </a:ext>
            </a:extLst>
          </p:cNvPr>
          <p:cNvSpPr>
            <a:spLocks xmlns:a="http://schemas.openxmlformats.org/drawingml/2006/main" noGrp="1"/>
          </p:cNvSpPr>
          <p:nvPr/>
        </p:nvSpPr>
        <p:spPr>
          <a:xfrm xmlns:a="http://schemas.openxmlformats.org/drawingml/2006/main">
            <a:off x="1352550" y="2266950"/>
            <a:ext cx="99250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Understand what the CPU of a computer does</a:t>
            </a:r>
          </a:p>
        </p:txBody>
      </p:sp>
      <p:sp>
        <p:nvSpPr>
          <p:cNvPr id="8" name="number-2">
            <a:extLst xmlns:a="http://schemas.openxmlformats.org/drawingml/2006/main">
              <a:ext uri="{FF2B5EF4-FFF2-40B4-BE49-F238E27FC236}">
                <a16:creationId xmlns:a16="http://schemas.microsoft.com/office/drawing/2014/main" id="{13771095-E404-44AB-8435-CA162C3D4426}"/>
              </a:ext>
            </a:extLst>
          </p:cNvPr>
          <p:cNvSpPr>
            <a:spLocks xmlns:a="http://schemas.openxmlformats.org/drawingml/2006/main" noGrp="1"/>
          </p:cNvSpPr>
          <p:nvPr/>
        </p:nvSpPr>
        <p:spPr>
          <a:xfrm xmlns:a="http://schemas.openxmlformats.org/drawingml/2006/main">
            <a:off x="723900" y="31337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222D02E8-D27F-4AB1-82E8-C4BFB53F9CCB}"/>
              </a:ext>
            </a:extLst>
          </p:cNvPr>
          <p:cNvSpPr>
            <a:spLocks xmlns:a="http://schemas.openxmlformats.org/drawingml/2006/main" noGrp="1"/>
          </p:cNvSpPr>
          <p:nvPr/>
        </p:nvSpPr>
        <p:spPr>
          <a:xfrm xmlns:a="http://schemas.openxmlformats.org/drawingml/2006/main">
            <a:off x="1352550" y="3133725"/>
            <a:ext cx="99250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Know what CPU registers are</a:t>
            </a:r>
          </a:p>
        </p:txBody>
      </p:sp>
      <p:sp>
        <p:nvSpPr>
          <p:cNvPr id="10" name="number-3">
            <a:extLst xmlns:a="http://schemas.openxmlformats.org/drawingml/2006/main">
              <a:ext uri="{FF2B5EF4-FFF2-40B4-BE49-F238E27FC236}">
                <a16:creationId xmlns:a16="http://schemas.microsoft.com/office/drawing/2014/main" id="{F6C70AF9-1E21-42B8-9F21-73407DC7E654}"/>
              </a:ext>
            </a:extLst>
          </p:cNvPr>
          <p:cNvSpPr>
            <a:spLocks xmlns:a="http://schemas.openxmlformats.org/drawingml/2006/main" noGrp="1"/>
          </p:cNvSpPr>
          <p:nvPr/>
        </p:nvSpPr>
        <p:spPr>
          <a:xfrm xmlns:a="http://schemas.openxmlformats.org/drawingml/2006/main">
            <a:off x="723900" y="40005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3.</a:t>
            </a:r>
          </a:p>
        </p:txBody>
      </p:sp>
      <p:sp>
        <p:nvSpPr>
          <p:cNvPr id="11" name="item-3">
            <a:extLst xmlns:a="http://schemas.openxmlformats.org/drawingml/2006/main">
              <a:ext uri="{FF2B5EF4-FFF2-40B4-BE49-F238E27FC236}">
                <a16:creationId xmlns:a16="http://schemas.microsoft.com/office/drawing/2014/main" id="{6B8ED19C-5124-45FD-8B8D-1FB0D45E0025}"/>
              </a:ext>
            </a:extLst>
          </p:cNvPr>
          <p:cNvSpPr>
            <a:spLocks xmlns:a="http://schemas.openxmlformats.org/drawingml/2006/main" noGrp="1"/>
          </p:cNvSpPr>
          <p:nvPr/>
        </p:nvSpPr>
        <p:spPr>
          <a:xfrm xmlns:a="http://schemas.openxmlformats.org/drawingml/2006/main">
            <a:off x="1352550" y="4000500"/>
            <a:ext cx="99250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Know the stages of the fetch-execute cycle</a:t>
            </a:r>
          </a:p>
        </p:txBody>
      </p:sp>
      <p:sp>
        <p:nvSpPr>
          <p:cNvPr id="12" name="number-4">
            <a:extLst xmlns:a="http://schemas.openxmlformats.org/drawingml/2006/main">
              <a:ext uri="{FF2B5EF4-FFF2-40B4-BE49-F238E27FC236}">
                <a16:creationId xmlns:a16="http://schemas.microsoft.com/office/drawing/2014/main" id="{057E8CBB-F859-494A-9CE1-FDC16D5BD1DA}"/>
              </a:ext>
            </a:extLst>
          </p:cNvPr>
          <p:cNvSpPr>
            <a:spLocks xmlns:a="http://schemas.openxmlformats.org/drawingml/2006/main" noGrp="1"/>
          </p:cNvSpPr>
          <p:nvPr/>
        </p:nvSpPr>
        <p:spPr>
          <a:xfrm xmlns:a="http://schemas.openxmlformats.org/drawingml/2006/main">
            <a:off x="723900" y="48672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4.</a:t>
            </a:r>
          </a:p>
        </p:txBody>
      </p:sp>
      <p:sp>
        <p:nvSpPr>
          <p:cNvPr id="13" name="item-4">
            <a:extLst xmlns:a="http://schemas.openxmlformats.org/drawingml/2006/main">
              <a:ext uri="{FF2B5EF4-FFF2-40B4-BE49-F238E27FC236}">
                <a16:creationId xmlns:a16="http://schemas.microsoft.com/office/drawing/2014/main" id="{F4B31B13-5415-4FA4-943A-8B756C15774D}"/>
              </a:ext>
            </a:extLst>
          </p:cNvPr>
          <p:cNvSpPr>
            <a:spLocks xmlns:a="http://schemas.openxmlformats.org/drawingml/2006/main" noGrp="1"/>
          </p:cNvSpPr>
          <p:nvPr/>
        </p:nvSpPr>
        <p:spPr>
          <a:xfrm xmlns:a="http://schemas.openxmlformats.org/drawingml/2006/main">
            <a:off x="1352550" y="4867275"/>
            <a:ext cx="99250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Know about other components of the CPU</a:t>
            </a:r>
          </a:p>
        </p:txBody>
      </p:sp>
      <p:sp>
        <p:nvSpPr>
          <p:cNvPr id="14" name="starter-next">
            <a:extLst xmlns:a="http://schemas.openxmlformats.org/drawingml/2006/main">
              <a:ext uri="{FF2B5EF4-FFF2-40B4-BE49-F238E27FC236}">
                <a16:creationId xmlns:a16="http://schemas.microsoft.com/office/drawing/2014/main" id="{A969228D-452A-4ECD-8F72-C65A2AE489C4}"/>
              </a:ext>
            </a:extLst>
          </p:cNvPr>
          <p:cNvSpPr>
            <a:spLocks xmlns:a="http://schemas.openxmlformats.org/drawingml/2006/main" noGrp="1"/>
          </p:cNvSpPr>
          <p:nvPr/>
        </p:nvSpPr>
        <p:spPr>
          <a:xfrm xmlns:a="http://schemas.openxmlformats.org/drawingml/2006/main">
            <a:off x="704850" y="578167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2D63FF"/>
                </a:solidFill>
                <a:latin typeface="DejaVu Sans"/>
                <a:ea typeface="DejaVu Sans"/>
                <a:cs typeface="DejaVu Sans"/>
              </a:defRPr>
            </a:pPr>
            <a:r>
              <a:rPr sz="1650" b="1">
                <a:solidFill>
                  <a:srgbClr val="2D63FF"/>
                </a:solidFill>
                <a:latin typeface="DejaVu Sans"/>
                <a:ea typeface="DejaVu Sans"/>
                <a:cs typeface="DejaVu Sans"/>
              </a:rPr>
              <a:t>Complete the experience in this lesson; finish with the plenary knowledge check.</a:t>
            </a:r>
          </a:p>
        </p:txBody>
      </p:sp>
    </p:spTree>
    <p:extLst>
      <p:ext uri="{BB962C8B-B14F-4D97-AF65-F5344CB8AC3E}">
        <p14:creationId xmlns:p14="http://schemas.microsoft.com/office/powerpoint/2010/main" val="1654240099"/>
      </p:ext>
    </p:extLst>
  </p:cSld>
</p:sld>
</file>

<file path=ppt/slides/slide3.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8" name="topic">
            <a:extLst xmlns:a="http://schemas.openxmlformats.org/drawingml/2006/main">
              <a:ext uri="{FF2B5EF4-FFF2-40B4-BE49-F238E27FC236}">
                <a16:creationId xmlns:a16="http://schemas.microsoft.com/office/drawing/2014/main" id="{7CB9FDD6-D437-4497-B114-90B2F7AF0BCE}"/>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WORKSHEET STARTER</a:t>
            </a:r>
          </a:p>
        </p:txBody>
      </p:sp>
      <p:sp>
        <p:nvSpPr>
          <p:cNvPr id="2" name="heading">
            <a:extLst xmlns:a="http://schemas.openxmlformats.org/drawingml/2006/main">
              <a:ext uri="{FF2B5EF4-FFF2-40B4-BE49-F238E27FC236}">
                <a16:creationId xmlns:a16="http://schemas.microsoft.com/office/drawing/2014/main" id="{7D923726-E044-4613-B079-C036653AF231}"/>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Starter: before the experience</a:t>
            </a:r>
          </a:p>
        </p:txBody>
      </p:sp>
      <p:sp>
        <p:nvSpPr>
          <p:cNvPr id="3" name="footer">
            <a:extLst xmlns:a="http://schemas.openxmlformats.org/drawingml/2006/main">
              <a:ext uri="{FF2B5EF4-FFF2-40B4-BE49-F238E27FC236}">
                <a16:creationId xmlns:a16="http://schemas.microsoft.com/office/drawing/2014/main" id="{585FFAF8-9453-48BF-97CC-F69C54E0DB50}"/>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60D1806B-76BF-4B1B-8CF6-A07DAD9C564B}"/>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3 / 20</a:t>
            </a:r>
          </a:p>
        </p:txBody>
      </p:sp>
      <p:sp>
        <p:nvSpPr>
          <p:cNvPr id="5" name="write-first">
            <a:extLst xmlns:a="http://schemas.openxmlformats.org/drawingml/2006/main">
              <a:ext uri="{FF2B5EF4-FFF2-40B4-BE49-F238E27FC236}">
                <a16:creationId xmlns:a16="http://schemas.microsoft.com/office/drawing/2014/main" id="{F664F406-E7E8-434D-9609-AF819F709F5C}"/>
              </a:ext>
            </a:extLst>
          </p:cNvPr>
          <p:cNvSpPr>
            <a:spLocks xmlns:a="http://schemas.openxmlformats.org/drawingml/2006/main" noGrp="1"/>
          </p:cNvSpPr>
          <p:nvPr/>
        </p:nvSpPr>
        <p:spPr>
          <a:xfrm xmlns:a="http://schemas.openxmlformats.org/drawingml/2006/main">
            <a:off x="704850" y="156210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Answer the starter question in the box on your worksheet.</a:t>
            </a:r>
          </a:p>
        </p:txBody>
      </p:sp>
      <p:sp>
        <p:nvSpPr>
          <p:cNvPr id="6" name="worksheet-starter">
            <a:extLst xmlns:a="http://schemas.openxmlformats.org/drawingml/2006/main">
              <a:ext uri="{FF2B5EF4-FFF2-40B4-BE49-F238E27FC236}">
                <a16:creationId xmlns:a16="http://schemas.microsoft.com/office/drawing/2014/main" id="{2954A208-4035-456E-BE33-DC025D887881}"/>
              </a:ext>
            </a:extLst>
          </p:cNvPr>
          <p:cNvSpPr>
            <a:spLocks xmlns:a="http://schemas.openxmlformats.org/drawingml/2006/main" noGrp="1"/>
          </p:cNvSpPr>
          <p:nvPr/>
        </p:nvSpPr>
        <p:spPr>
          <a:xfrm xmlns:a="http://schemas.openxmlformats.org/drawingml/2006/main">
            <a:off x="704850" y="2438400"/>
            <a:ext cx="10572750" cy="2609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A chef can keep three ingredients on the worktop, twenty in the cupboard and anything else at the shop. Which is like cache, which is like RAM and which is like secondary storage? Why does the worktop make cooking faster?</a:t>
            </a:r>
          </a:p>
        </p:txBody>
      </p:sp>
      <p:sp>
        <p:nvSpPr>
          <p:cNvPr id="7" name="no-open">
            <a:extLst xmlns:a="http://schemas.openxmlformats.org/drawingml/2006/main">
              <a:ext uri="{FF2B5EF4-FFF2-40B4-BE49-F238E27FC236}">
                <a16:creationId xmlns:a16="http://schemas.microsoft.com/office/drawing/2014/main" id="{1EB08544-F8A4-4017-A7B3-01CE55252D41}"/>
              </a:ext>
            </a:extLst>
          </p:cNvPr>
          <p:cNvSpPr>
            <a:spLocks xmlns:a="http://schemas.openxmlformats.org/drawingml/2006/main" noGrp="1"/>
          </p:cNvSpPr>
          <p:nvPr/>
        </p:nvSpPr>
        <p:spPr>
          <a:xfrm xmlns:a="http://schemas.openxmlformats.org/drawingml/2006/main">
            <a:off x="704850" y="5476875"/>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2D63FF"/>
                </a:solidFill>
                <a:latin typeface="DejaVu Sans"/>
                <a:ea typeface="DejaVu Sans"/>
                <a:cs typeface="DejaVu Sans"/>
              </a:defRPr>
            </a:pPr>
            <a:r>
              <a:rPr sz="1725" b="0">
                <a:solidFill>
                  <a:srgbClr val="2D63FF"/>
                </a:solidFill>
                <a:latin typeface="DejaVu Sans"/>
                <a:ea typeface="DejaVu Sans"/>
                <a:cs typeface="DejaVu Sans"/>
              </a:rPr>
              <a:t>Keep the experience closed until the starter and key terms are checked.</a:t>
            </a:r>
          </a:p>
        </p:txBody>
      </p:sp>
    </p:spTree>
    <p:extLst>
      <p:ext uri="{BB962C8B-B14F-4D97-AF65-F5344CB8AC3E}">
        <p14:creationId xmlns:p14="http://schemas.microsoft.com/office/powerpoint/2010/main" val="952194560"/>
      </p:ext>
    </p:extLst>
  </p:cSld>
</p:sld>
</file>

<file path=ppt/slides/slide4.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topic">
            <a:extLst xmlns:a="http://schemas.openxmlformats.org/drawingml/2006/main">
              <a:ext uri="{FF2B5EF4-FFF2-40B4-BE49-F238E27FC236}">
                <a16:creationId xmlns:a16="http://schemas.microsoft.com/office/drawing/2014/main" id="{95EB5371-7AFE-453F-B49C-65AC83AE25C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CHECK</a:t>
            </a:r>
          </a:p>
        </p:txBody>
      </p:sp>
      <p:sp>
        <p:nvSpPr>
          <p:cNvPr id="2" name="heading">
            <a:extLst xmlns:a="http://schemas.openxmlformats.org/drawingml/2006/main">
              <a:ext uri="{FF2B5EF4-FFF2-40B4-BE49-F238E27FC236}">
                <a16:creationId xmlns:a16="http://schemas.microsoft.com/office/drawing/2014/main" id="{B77983FB-08BF-4435-8164-A5C947BA4A54}"/>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Starter: sample answers</a:t>
            </a:r>
          </a:p>
        </p:txBody>
      </p:sp>
      <p:sp>
        <p:nvSpPr>
          <p:cNvPr id="3" name="footer">
            <a:extLst xmlns:a="http://schemas.openxmlformats.org/drawingml/2006/main">
              <a:ext uri="{FF2B5EF4-FFF2-40B4-BE49-F238E27FC236}">
                <a16:creationId xmlns:a16="http://schemas.microsoft.com/office/drawing/2014/main" id="{D1D0EB0E-752D-47F6-8B01-96492D929F90}"/>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841142CB-3F23-4863-AE17-0B786AE86C80}"/>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4 / 20</a:t>
            </a:r>
          </a:p>
        </p:txBody>
      </p:sp>
      <p:sp>
        <p:nvSpPr>
          <p:cNvPr id="5" name="sample-note">
            <a:extLst xmlns:a="http://schemas.openxmlformats.org/drawingml/2006/main">
              <a:ext uri="{FF2B5EF4-FFF2-40B4-BE49-F238E27FC236}">
                <a16:creationId xmlns:a16="http://schemas.microsoft.com/office/drawing/2014/main" id="{D6FCB2E0-01D7-41DF-94E4-F45D5EB78740}"/>
              </a:ext>
            </a:extLst>
          </p:cNvPr>
          <p:cNvSpPr>
            <a:spLocks xmlns:a="http://schemas.openxmlformats.org/drawingml/2006/main" noGrp="1"/>
          </p:cNvSpPr>
          <p:nvPr/>
        </p:nvSpPr>
        <p:spPr>
          <a:xfrm xmlns:a="http://schemas.openxmlformats.org/drawingml/2006/main">
            <a:off x="704850" y="1562100"/>
            <a:ext cx="10477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worksheet answer with these examples. Other accurate examples count.</a:t>
            </a:r>
          </a:p>
        </p:txBody>
      </p:sp>
      <p:sp>
        <p:nvSpPr>
          <p:cNvPr id="6" name="number-1">
            <a:extLst xmlns:a="http://schemas.openxmlformats.org/drawingml/2006/main">
              <a:ext uri="{FF2B5EF4-FFF2-40B4-BE49-F238E27FC236}">
                <a16:creationId xmlns:a16="http://schemas.microsoft.com/office/drawing/2014/main" id="{DFD618E7-1933-4CA8-A89A-B180B1EF2D89}"/>
              </a:ext>
            </a:extLst>
          </p:cNvPr>
          <p:cNvSpPr>
            <a:spLocks xmlns:a="http://schemas.openxmlformats.org/drawingml/2006/main" noGrp="1"/>
          </p:cNvSpPr>
          <p:nvPr/>
        </p:nvSpPr>
        <p:spPr>
          <a:xfrm xmlns:a="http://schemas.openxmlformats.org/drawingml/2006/main">
            <a:off x="723900" y="24765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2D63FF"/>
                </a:solidFill>
                <a:latin typeface="DejaVu Sans"/>
                <a:ea typeface="DejaVu Sans"/>
                <a:cs typeface="DejaVu Sans"/>
              </a:defRPr>
            </a:pPr>
            <a:r>
              <a:rPr sz="217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F6962C12-81A2-42AA-BC53-14F76BAA71C4}"/>
              </a:ext>
            </a:extLst>
          </p:cNvPr>
          <p:cNvSpPr>
            <a:spLocks xmlns:a="http://schemas.openxmlformats.org/drawingml/2006/main" noGrp="1"/>
          </p:cNvSpPr>
          <p:nvPr/>
        </p:nvSpPr>
        <p:spPr>
          <a:xfrm xmlns:a="http://schemas.openxmlformats.org/drawingml/2006/main">
            <a:off x="1352550" y="2476500"/>
            <a:ext cx="992505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Worktop = cache. Cupboard = RAM. Shop = secondary storage.</a:t>
            </a:r>
          </a:p>
        </p:txBody>
      </p:sp>
      <p:sp>
        <p:nvSpPr>
          <p:cNvPr id="8" name="number-2">
            <a:extLst xmlns:a="http://schemas.openxmlformats.org/drawingml/2006/main">
              <a:ext uri="{FF2B5EF4-FFF2-40B4-BE49-F238E27FC236}">
                <a16:creationId xmlns:a16="http://schemas.microsoft.com/office/drawing/2014/main" id="{E09AAE9A-53FE-4BC8-B271-EBC9F6AEE128}"/>
              </a:ext>
            </a:extLst>
          </p:cNvPr>
          <p:cNvSpPr>
            <a:spLocks xmlns:a="http://schemas.openxmlformats.org/drawingml/2006/main" noGrp="1"/>
          </p:cNvSpPr>
          <p:nvPr/>
        </p:nvSpPr>
        <p:spPr>
          <a:xfrm xmlns:a="http://schemas.openxmlformats.org/drawingml/2006/main">
            <a:off x="723900" y="40005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2D63FF"/>
                </a:solidFill>
                <a:latin typeface="DejaVu Sans"/>
                <a:ea typeface="DejaVu Sans"/>
                <a:cs typeface="DejaVu Sans"/>
              </a:defRPr>
            </a:pPr>
            <a:r>
              <a:rPr sz="217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43871C7A-D9EF-450E-8D40-960CC746BFBB}"/>
              </a:ext>
            </a:extLst>
          </p:cNvPr>
          <p:cNvSpPr>
            <a:spLocks xmlns:a="http://schemas.openxmlformats.org/drawingml/2006/main" noGrp="1"/>
          </p:cNvSpPr>
          <p:nvPr/>
        </p:nvSpPr>
        <p:spPr>
          <a:xfrm xmlns:a="http://schemas.openxmlformats.org/drawingml/2006/main">
            <a:off x="1352550" y="4000500"/>
            <a:ext cx="992505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The worktop keeps needed ingredients close. The CPU can use cached data without waiting as long for RAM.</a:t>
            </a:r>
          </a:p>
        </p:txBody>
      </p:sp>
    </p:spTree>
    <p:extLst>
      <p:ext uri="{BB962C8B-B14F-4D97-AF65-F5344CB8AC3E}">
        <p14:creationId xmlns:p14="http://schemas.microsoft.com/office/powerpoint/2010/main" val="1601737993"/>
      </p:ext>
    </p:extLst>
  </p:cSld>
</p:sld>
</file>

<file path=ppt/slides/slide5.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10" name="topic">
            <a:extLst xmlns:a="http://schemas.openxmlformats.org/drawingml/2006/main">
              <a:ext uri="{FF2B5EF4-FFF2-40B4-BE49-F238E27FC236}">
                <a16:creationId xmlns:a16="http://schemas.microsoft.com/office/drawing/2014/main" id="{96C2A795-1B20-4E89-BDD0-E394EBBC4A99}"/>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WORKSHEET KEY TERMS</a:t>
            </a:r>
          </a:p>
        </p:txBody>
      </p:sp>
      <p:sp>
        <p:nvSpPr>
          <p:cNvPr id="2" name="heading">
            <a:extLst xmlns:a="http://schemas.openxmlformats.org/drawingml/2006/main">
              <a:ext uri="{FF2B5EF4-FFF2-40B4-BE49-F238E27FC236}">
                <a16:creationId xmlns:a16="http://schemas.microsoft.com/office/drawing/2014/main" id="{32E47B28-EE8D-49E8-A362-9527D286180D}"/>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Key terminology quiz</a:t>
            </a:r>
          </a:p>
        </p:txBody>
      </p:sp>
      <p:sp>
        <p:nvSpPr>
          <p:cNvPr id="3" name="footer">
            <a:extLst xmlns:a="http://schemas.openxmlformats.org/drawingml/2006/main">
              <a:ext uri="{FF2B5EF4-FFF2-40B4-BE49-F238E27FC236}">
                <a16:creationId xmlns:a16="http://schemas.microsoft.com/office/drawing/2014/main" id="{A2056F00-3E3B-4721-96E1-CA0B4A0C7B8C}"/>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A1F26244-6D01-4908-822F-C6BCA71D0F12}"/>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5 / 20</a:t>
            </a:r>
          </a:p>
        </p:txBody>
      </p:sp>
      <p:sp>
        <p:nvSpPr>
          <p:cNvPr id="5" name="define-first">
            <a:extLst xmlns:a="http://schemas.openxmlformats.org/drawingml/2006/main">
              <a:ext uri="{FF2B5EF4-FFF2-40B4-BE49-F238E27FC236}">
                <a16:creationId xmlns:a16="http://schemas.microsoft.com/office/drawing/2014/main" id="{7771320A-0159-4467-B8E3-75B7BFD89DF4}"/>
              </a:ext>
            </a:extLst>
          </p:cNvPr>
          <p:cNvSpPr>
            <a:spLocks xmlns:a="http://schemas.openxmlformats.org/drawingml/2006/main" noGrp="1"/>
          </p:cNvSpPr>
          <p:nvPr/>
        </p:nvSpPr>
        <p:spPr>
          <a:xfrm xmlns:a="http://schemas.openxmlformats.org/drawingml/2006/main">
            <a:off x="704850" y="1562100"/>
            <a:ext cx="1057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Define the two terms listed in the key terminology section of your worksheet.</a:t>
            </a:r>
          </a:p>
        </p:txBody>
      </p:sp>
      <p:sp>
        <p:nvSpPr>
          <p:cNvPr id="6" name="term-number-0">
            <a:extLst xmlns:a="http://schemas.openxmlformats.org/drawingml/2006/main">
              <a:ext uri="{FF2B5EF4-FFF2-40B4-BE49-F238E27FC236}">
                <a16:creationId xmlns:a16="http://schemas.microsoft.com/office/drawing/2014/main" id="{70F545BD-8F51-4881-9636-B35F8ABE978D}"/>
              </a:ext>
            </a:extLst>
          </p:cNvPr>
          <p:cNvSpPr>
            <a:spLocks xmlns:a="http://schemas.openxmlformats.org/drawingml/2006/main" noGrp="1"/>
          </p:cNvSpPr>
          <p:nvPr/>
        </p:nvSpPr>
        <p:spPr>
          <a:xfrm xmlns:a="http://schemas.openxmlformats.org/drawingml/2006/main">
            <a:off x="723900" y="2686050"/>
            <a:ext cx="5905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625" b="1">
                <a:solidFill>
                  <a:srgbClr val="2D63FF"/>
                </a:solidFill>
                <a:latin typeface="DejaVu Sans"/>
                <a:ea typeface="DejaVu Sans"/>
                <a:cs typeface="DejaVu Sans"/>
              </a:defRPr>
            </a:pPr>
            <a:r>
              <a:rPr sz="2625" b="1">
                <a:solidFill>
                  <a:srgbClr val="2D63FF"/>
                </a:solidFill>
                <a:latin typeface="DejaVu Sans"/>
                <a:ea typeface="DejaVu Sans"/>
                <a:cs typeface="DejaVu Sans"/>
              </a:rPr>
              <a:t>1.</a:t>
            </a:r>
          </a:p>
        </p:txBody>
      </p:sp>
      <p:sp>
        <p:nvSpPr>
          <p:cNvPr id="7" name="term-0">
            <a:extLst xmlns:a="http://schemas.openxmlformats.org/drawingml/2006/main">
              <a:ext uri="{FF2B5EF4-FFF2-40B4-BE49-F238E27FC236}">
                <a16:creationId xmlns:a16="http://schemas.microsoft.com/office/drawing/2014/main" id="{6FBE9057-B430-45F2-AC8A-4FE8A0499002}"/>
              </a:ext>
            </a:extLst>
          </p:cNvPr>
          <p:cNvSpPr>
            <a:spLocks xmlns:a="http://schemas.openxmlformats.org/drawingml/2006/main" noGrp="1"/>
          </p:cNvSpPr>
          <p:nvPr/>
        </p:nvSpPr>
        <p:spPr>
          <a:xfrm xmlns:a="http://schemas.openxmlformats.org/drawingml/2006/main">
            <a:off x="1371600" y="2686050"/>
            <a:ext cx="9667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01828"/>
                </a:solidFill>
                <a:latin typeface="DejaVu Sans"/>
                <a:ea typeface="DejaVu Sans"/>
                <a:cs typeface="DejaVu Sans"/>
              </a:defRPr>
            </a:pPr>
            <a:r>
              <a:rPr sz="2700" b="1">
                <a:solidFill>
                  <a:srgbClr val="101828"/>
                </a:solidFill>
                <a:latin typeface="DejaVu Sans"/>
                <a:ea typeface="DejaVu Sans"/>
                <a:cs typeface="DejaVu Sans"/>
              </a:rPr>
              <a:t>CPU</a:t>
            </a:r>
          </a:p>
        </p:txBody>
      </p:sp>
      <p:sp>
        <p:nvSpPr>
          <p:cNvPr id="8" name="term-number-1">
            <a:extLst xmlns:a="http://schemas.openxmlformats.org/drawingml/2006/main">
              <a:ext uri="{FF2B5EF4-FFF2-40B4-BE49-F238E27FC236}">
                <a16:creationId xmlns:a16="http://schemas.microsoft.com/office/drawing/2014/main" id="{0FA3C079-7ED4-4538-8AA3-6B70E55AE084}"/>
              </a:ext>
            </a:extLst>
          </p:cNvPr>
          <p:cNvSpPr>
            <a:spLocks xmlns:a="http://schemas.openxmlformats.org/drawingml/2006/main" noGrp="1"/>
          </p:cNvSpPr>
          <p:nvPr/>
        </p:nvSpPr>
        <p:spPr>
          <a:xfrm xmlns:a="http://schemas.openxmlformats.org/drawingml/2006/main">
            <a:off x="723900" y="4324350"/>
            <a:ext cx="5905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625" b="1">
                <a:solidFill>
                  <a:srgbClr val="2D63FF"/>
                </a:solidFill>
                <a:latin typeface="DejaVu Sans"/>
                <a:ea typeface="DejaVu Sans"/>
                <a:cs typeface="DejaVu Sans"/>
              </a:defRPr>
            </a:pPr>
            <a:r>
              <a:rPr sz="2625" b="1">
                <a:solidFill>
                  <a:srgbClr val="2D63FF"/>
                </a:solidFill>
                <a:latin typeface="DejaVu Sans"/>
                <a:ea typeface="DejaVu Sans"/>
                <a:cs typeface="DejaVu Sans"/>
              </a:rPr>
              <a:t>2.</a:t>
            </a:r>
          </a:p>
        </p:txBody>
      </p:sp>
      <p:sp>
        <p:nvSpPr>
          <p:cNvPr id="9" name="term-1">
            <a:extLst xmlns:a="http://schemas.openxmlformats.org/drawingml/2006/main">
              <a:ext uri="{FF2B5EF4-FFF2-40B4-BE49-F238E27FC236}">
                <a16:creationId xmlns:a16="http://schemas.microsoft.com/office/drawing/2014/main" id="{BC2BB321-E484-45F7-84E3-63CAAE177636}"/>
              </a:ext>
            </a:extLst>
          </p:cNvPr>
          <p:cNvSpPr>
            <a:spLocks xmlns:a="http://schemas.openxmlformats.org/drawingml/2006/main" noGrp="1"/>
          </p:cNvSpPr>
          <p:nvPr/>
        </p:nvSpPr>
        <p:spPr>
          <a:xfrm xmlns:a="http://schemas.openxmlformats.org/drawingml/2006/main">
            <a:off x="1371600" y="4324350"/>
            <a:ext cx="9667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01828"/>
                </a:solidFill>
                <a:latin typeface="DejaVu Sans"/>
                <a:ea typeface="DejaVu Sans"/>
                <a:cs typeface="DejaVu Sans"/>
              </a:defRPr>
            </a:pPr>
            <a:r>
              <a:rPr sz="2700" b="1">
                <a:solidFill>
                  <a:srgbClr val="101828"/>
                </a:solidFill>
                <a:latin typeface="DejaVu Sans"/>
                <a:ea typeface="DejaVu Sans"/>
                <a:cs typeface="DejaVu Sans"/>
              </a:rPr>
              <a:t>Fetch-decode-execute cycle</a:t>
            </a:r>
          </a:p>
        </p:txBody>
      </p:sp>
    </p:spTree>
    <p:extLst>
      <p:ext uri="{BB962C8B-B14F-4D97-AF65-F5344CB8AC3E}">
        <p14:creationId xmlns:p14="http://schemas.microsoft.com/office/powerpoint/2010/main" val="1668827400"/>
      </p:ext>
    </p:extLst>
  </p:cSld>
</p:sld>
</file>

<file path=ppt/slides/slide6.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topic">
            <a:extLst xmlns:a="http://schemas.openxmlformats.org/drawingml/2006/main">
              <a:ext uri="{FF2B5EF4-FFF2-40B4-BE49-F238E27FC236}">
                <a16:creationId xmlns:a16="http://schemas.microsoft.com/office/drawing/2014/main" id="{CE876AF7-14E5-4301-9CEE-E4B730219167}"/>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CHECK</a:t>
            </a:r>
          </a:p>
        </p:txBody>
      </p:sp>
      <p:sp>
        <p:nvSpPr>
          <p:cNvPr id="2" name="heading">
            <a:extLst xmlns:a="http://schemas.openxmlformats.org/drawingml/2006/main">
              <a:ext uri="{FF2B5EF4-FFF2-40B4-BE49-F238E27FC236}">
                <a16:creationId xmlns:a16="http://schemas.microsoft.com/office/drawing/2014/main" id="{7832D02F-0B2C-446F-A2DD-B6FB38EF5534}"/>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Key terminology: answers</a:t>
            </a:r>
          </a:p>
        </p:txBody>
      </p:sp>
      <p:sp>
        <p:nvSpPr>
          <p:cNvPr id="3" name="footer">
            <a:extLst xmlns:a="http://schemas.openxmlformats.org/drawingml/2006/main">
              <a:ext uri="{FF2B5EF4-FFF2-40B4-BE49-F238E27FC236}">
                <a16:creationId xmlns:a16="http://schemas.microsoft.com/office/drawing/2014/main" id="{46BF6B77-981D-4358-8BB6-E347E56B32F0}"/>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D977C68B-4DFA-4500-8DA9-FC9D4BB98C3F}"/>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6 / 20</a:t>
            </a:r>
          </a:p>
        </p:txBody>
      </p:sp>
      <p:sp>
        <p:nvSpPr>
          <p:cNvPr id="5" name="terms-note">
            <a:extLst xmlns:a="http://schemas.openxmlformats.org/drawingml/2006/main">
              <a:ext uri="{FF2B5EF4-FFF2-40B4-BE49-F238E27FC236}">
                <a16:creationId xmlns:a16="http://schemas.microsoft.com/office/drawing/2014/main" id="{3CF3E3C8-FF83-4B4A-AF93-C96F16B55C07}"/>
              </a:ext>
            </a:extLst>
          </p:cNvPr>
          <p:cNvSpPr>
            <a:spLocks xmlns:a="http://schemas.openxmlformats.org/drawingml/2006/main" noGrp="1"/>
          </p:cNvSpPr>
          <p:nvPr/>
        </p:nvSpPr>
        <p:spPr>
          <a:xfrm xmlns:a="http://schemas.openxmlformats.org/drawingml/2006/main">
            <a:off x="704850" y="1562100"/>
            <a:ext cx="1047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Correct or improve your two definitions before opening the experience.</a:t>
            </a:r>
          </a:p>
        </p:txBody>
      </p:sp>
      <p:sp>
        <p:nvSpPr>
          <p:cNvPr id="6" name="answer-term-0">
            <a:extLst xmlns:a="http://schemas.openxmlformats.org/drawingml/2006/main">
              <a:ext uri="{FF2B5EF4-FFF2-40B4-BE49-F238E27FC236}">
                <a16:creationId xmlns:a16="http://schemas.microsoft.com/office/drawing/2014/main" id="{55F2A54D-2B74-47EE-8D42-DFD5E37DAD46}"/>
              </a:ext>
            </a:extLst>
          </p:cNvPr>
          <p:cNvSpPr>
            <a:spLocks xmlns:a="http://schemas.openxmlformats.org/drawingml/2006/main" noGrp="1"/>
          </p:cNvSpPr>
          <p:nvPr/>
        </p:nvSpPr>
        <p:spPr>
          <a:xfrm xmlns:a="http://schemas.openxmlformats.org/drawingml/2006/main">
            <a:off x="723900" y="2476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2D63FF"/>
                </a:solidFill>
                <a:latin typeface="DejaVu Sans"/>
                <a:ea typeface="DejaVu Sans"/>
                <a:cs typeface="DejaVu Sans"/>
              </a:defRPr>
            </a:pPr>
            <a:r>
              <a:rPr sz="2550" b="1">
                <a:solidFill>
                  <a:srgbClr val="2D63FF"/>
                </a:solidFill>
                <a:latin typeface="DejaVu Sans"/>
                <a:ea typeface="DejaVu Sans"/>
                <a:cs typeface="DejaVu Sans"/>
              </a:rPr>
              <a:t>CPU</a:t>
            </a:r>
          </a:p>
        </p:txBody>
      </p:sp>
      <p:sp>
        <p:nvSpPr>
          <p:cNvPr id="7" name="answer-definition-0">
            <a:extLst xmlns:a="http://schemas.openxmlformats.org/drawingml/2006/main">
              <a:ext uri="{FF2B5EF4-FFF2-40B4-BE49-F238E27FC236}">
                <a16:creationId xmlns:a16="http://schemas.microsoft.com/office/drawing/2014/main" id="{C3AE3ABB-E412-44A3-B036-D790DCC78100}"/>
              </a:ext>
            </a:extLst>
          </p:cNvPr>
          <p:cNvSpPr>
            <a:spLocks xmlns:a="http://schemas.openxmlformats.org/drawingml/2006/main" noGrp="1"/>
          </p:cNvSpPr>
          <p:nvPr/>
        </p:nvSpPr>
        <p:spPr>
          <a:xfrm xmlns:a="http://schemas.openxmlformats.org/drawingml/2006/main">
            <a:off x="723900" y="3057525"/>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The central processing unit processes data and instructions.</a:t>
            </a:r>
          </a:p>
        </p:txBody>
      </p:sp>
      <p:sp>
        <p:nvSpPr>
          <p:cNvPr id="8" name="answer-term-1">
            <a:extLst xmlns:a="http://schemas.openxmlformats.org/drawingml/2006/main">
              <a:ext uri="{FF2B5EF4-FFF2-40B4-BE49-F238E27FC236}">
                <a16:creationId xmlns:a16="http://schemas.microsoft.com/office/drawing/2014/main" id="{38B824FD-3DBF-4DF6-8F4D-C15259D9960E}"/>
              </a:ext>
            </a:extLst>
          </p:cNvPr>
          <p:cNvSpPr>
            <a:spLocks xmlns:a="http://schemas.openxmlformats.org/drawingml/2006/main" noGrp="1"/>
          </p:cNvSpPr>
          <p:nvPr/>
        </p:nvSpPr>
        <p:spPr>
          <a:xfrm xmlns:a="http://schemas.openxmlformats.org/drawingml/2006/main">
            <a:off x="723900" y="43338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2D63FF"/>
                </a:solidFill>
                <a:latin typeface="DejaVu Sans"/>
                <a:ea typeface="DejaVu Sans"/>
                <a:cs typeface="DejaVu Sans"/>
              </a:defRPr>
            </a:pPr>
            <a:r>
              <a:rPr sz="2550" b="1">
                <a:solidFill>
                  <a:srgbClr val="2D63FF"/>
                </a:solidFill>
                <a:latin typeface="DejaVu Sans"/>
                <a:ea typeface="DejaVu Sans"/>
                <a:cs typeface="DejaVu Sans"/>
              </a:rPr>
              <a:t>Fetch-decode-execute cycle</a:t>
            </a:r>
          </a:p>
        </p:txBody>
      </p:sp>
      <p:sp>
        <p:nvSpPr>
          <p:cNvPr id="9" name="answer-definition-1">
            <a:extLst xmlns:a="http://schemas.openxmlformats.org/drawingml/2006/main">
              <a:ext uri="{FF2B5EF4-FFF2-40B4-BE49-F238E27FC236}">
                <a16:creationId xmlns:a16="http://schemas.microsoft.com/office/drawing/2014/main" id="{50B7B5B1-579B-4573-BED9-140857064DFF}"/>
              </a:ext>
            </a:extLst>
          </p:cNvPr>
          <p:cNvSpPr>
            <a:spLocks xmlns:a="http://schemas.openxmlformats.org/drawingml/2006/main" noGrp="1"/>
          </p:cNvSpPr>
          <p:nvPr/>
        </p:nvSpPr>
        <p:spPr>
          <a:xfrm xmlns:a="http://schemas.openxmlformats.org/drawingml/2006/main">
            <a:off x="723900" y="4914900"/>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The repeated process of getting an instruction, working out its meaning and carrying it out.</a:t>
            </a:r>
          </a:p>
        </p:txBody>
      </p:sp>
    </p:spTree>
    <p:extLst>
      <p:ext uri="{BB962C8B-B14F-4D97-AF65-F5344CB8AC3E}">
        <p14:creationId xmlns:p14="http://schemas.microsoft.com/office/powerpoint/2010/main" val="255281510"/>
      </p:ext>
    </p:extLst>
  </p:cSld>
</p:sld>
</file>

<file path=ppt/slides/slide7.xml><?xml version="1.0" encoding="utf-8"?>
<p:sld xmlns:p="http://schemas.openxmlformats.org/presentationml/2006/main">
  <p:cSld>
    <p:bg>
      <p:bgPr>
        <a:solidFill xmlns:a="http://schemas.openxmlformats.org/drawingml/2006/main">
          <a:srgbClr val="122448"/>
        </a:solidFill>
      </p:bgPr>
    </p:bg>
    <p:spTree>
      <p:nvGrpSpPr>
        <p:cNvPr id="1" name=""/>
        <p:cNvGrpSpPr/>
        <p:nvPr/>
      </p:nvGrpSpPr>
      <p:grpSpPr>
        <a:xfrm xmlns:a="http://schemas.openxmlformats.org/drawingml/2006/main"/>
      </p:grpSpPr>
      <p:sp>
        <p:nvSpPr>
          <p:cNvPr id="12" name="topic">
            <a:extLst xmlns:a="http://schemas.openxmlformats.org/drawingml/2006/main">
              <a:ext uri="{FF2B5EF4-FFF2-40B4-BE49-F238E27FC236}">
                <a16:creationId xmlns:a16="http://schemas.microsoft.com/office/drawing/2014/main" id="{3A7036AE-8E1F-47B4-8B6C-C0C5B1F72427}"/>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77D8FF"/>
                </a:solidFill>
                <a:latin typeface="DejaVu Sans"/>
                <a:ea typeface="DejaVu Sans"/>
                <a:cs typeface="DejaVu Sans"/>
              </a:defRPr>
            </a:pPr>
            <a:r>
              <a:rPr sz="1125" b="1">
                <a:solidFill>
                  <a:srgbClr val="77D8FF"/>
                </a:solidFill>
                <a:latin typeface="DejaVu Sans"/>
                <a:ea typeface="DejaVu Sans"/>
                <a:cs typeface="DejaVu Sans"/>
              </a:rPr>
              <a:t>TOPIC 1.1   /   LESSON 01   /   EXPERIENCE</a:t>
            </a:r>
          </a:p>
        </p:txBody>
      </p:sp>
      <p:sp>
        <p:nvSpPr>
          <p:cNvPr id="2" name="heading">
            <a:extLst xmlns:a="http://schemas.openxmlformats.org/drawingml/2006/main">
              <a:ext uri="{FF2B5EF4-FFF2-40B4-BE49-F238E27FC236}">
                <a16:creationId xmlns:a16="http://schemas.microsoft.com/office/drawing/2014/main" id="{0F8B1AD9-3995-46B8-8EB5-275309B33E77}"/>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FFFFFF"/>
                </a:solidFill>
                <a:latin typeface="DejaVu Sans"/>
                <a:ea typeface="DejaVu Sans"/>
                <a:cs typeface="DejaVu Sans"/>
              </a:defRPr>
            </a:pPr>
            <a:r>
              <a:rPr sz="3225" b="1">
                <a:solidFill>
                  <a:srgbClr val="FFFFFF"/>
                </a:solidFill>
                <a:latin typeface="DejaVu Sans"/>
                <a:ea typeface="DejaVu Sans"/>
                <a:cs typeface="DejaVu Sans"/>
              </a:rPr>
              <a:t>Open the experience now</a:t>
            </a:r>
          </a:p>
        </p:txBody>
      </p:sp>
      <p:sp>
        <p:nvSpPr>
          <p:cNvPr id="3" name="footer">
            <a:extLst xmlns:a="http://schemas.openxmlformats.org/drawingml/2006/main">
              <a:ext uri="{FF2B5EF4-FFF2-40B4-BE49-F238E27FC236}">
                <a16:creationId xmlns:a16="http://schemas.microsoft.com/office/drawing/2014/main" id="{E2962236-C852-4FD1-8863-7278EEDF345D}"/>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D7E4F3"/>
                </a:solidFill>
                <a:latin typeface="DejaVu Sans"/>
                <a:ea typeface="DejaVu Sans"/>
                <a:cs typeface="DejaVu Sans"/>
              </a:defRPr>
            </a:pPr>
            <a:r>
              <a:rPr sz="1050" b="0">
                <a:solidFill>
                  <a:srgbClr val="D7E4F3"/>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33C89367-CA47-41BF-9078-D6429C2DD49F}"/>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D7E4F3"/>
                </a:solidFill>
                <a:latin typeface="DejaVu Sans"/>
                <a:ea typeface="DejaVu Sans"/>
                <a:cs typeface="DejaVu Sans"/>
              </a:defRPr>
            </a:pPr>
            <a:r>
              <a:rPr sz="1050" b="0">
                <a:solidFill>
                  <a:srgbClr val="D7E4F3"/>
                </a:solidFill>
                <a:latin typeface="DejaVu Sans"/>
                <a:ea typeface="DejaVu Sans"/>
                <a:cs typeface="DejaVu Sans"/>
              </a:rPr>
              <a:t>7 / 20</a:t>
            </a:r>
          </a:p>
        </p:txBody>
      </p:sp>
      <p:sp>
        <p:nvSpPr>
          <p:cNvPr id="5" name="start-label">
            <a:extLst xmlns:a="http://schemas.openxmlformats.org/drawingml/2006/main">
              <a:ext uri="{FF2B5EF4-FFF2-40B4-BE49-F238E27FC236}">
                <a16:creationId xmlns:a16="http://schemas.microsoft.com/office/drawing/2014/main" id="{27834349-24E1-407F-AB3F-9DADF1B9B2A6}"/>
              </a:ext>
            </a:extLst>
          </p:cNvPr>
          <p:cNvSpPr>
            <a:spLocks xmlns:a="http://schemas.openxmlformats.org/drawingml/2006/main" noGrp="1"/>
          </p:cNvSpPr>
          <p:nvPr/>
        </p:nvSpPr>
        <p:spPr>
          <a:xfrm xmlns:a="http://schemas.openxmlformats.org/drawingml/2006/main">
            <a:off x="723900" y="1657350"/>
            <a:ext cx="1428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77D8FF"/>
                </a:solidFill>
                <a:latin typeface="DejaVu Sans"/>
                <a:ea typeface="DejaVu Sans"/>
                <a:cs typeface="DejaVu Sans"/>
              </a:defRPr>
            </a:pPr>
            <a:r>
              <a:rPr sz="1575" b="1">
                <a:solidFill>
                  <a:srgbClr val="77D8FF"/>
                </a:solidFill>
                <a:latin typeface="DejaVu Sans"/>
                <a:ea typeface="DejaVu Sans"/>
                <a:cs typeface="DejaVu Sans"/>
              </a:rPr>
              <a:t>START</a:t>
            </a:r>
          </a:p>
        </p:txBody>
      </p:sp>
      <p:sp>
        <p:nvSpPr>
          <p:cNvPr id="6" name="start">
            <a:extLst xmlns:a="http://schemas.openxmlformats.org/drawingml/2006/main">
              <a:ext uri="{FF2B5EF4-FFF2-40B4-BE49-F238E27FC236}">
                <a16:creationId xmlns:a16="http://schemas.microsoft.com/office/drawing/2014/main" id="{2B754E1D-59DE-41F8-B858-29F22B6CA19F}"/>
              </a:ext>
            </a:extLst>
          </p:cNvPr>
          <p:cNvSpPr>
            <a:spLocks xmlns:a="http://schemas.openxmlformats.org/drawingml/2006/main" noGrp="1"/>
          </p:cNvSpPr>
          <p:nvPr/>
        </p:nvSpPr>
        <p:spPr>
          <a:xfrm xmlns:a="http://schemas.openxmlformats.org/drawingml/2006/main">
            <a:off x="723900" y="1990725"/>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FFFFFF"/>
                </a:solidFill>
                <a:latin typeface="DejaVu Sans"/>
                <a:ea typeface="DejaVu Sans"/>
                <a:cs typeface="DejaVu Sans"/>
              </a:defRPr>
            </a:pPr>
            <a:r>
              <a:rPr sz="1950" b="0">
                <a:solidFill>
                  <a:srgbClr val="FFFFFF"/>
                </a:solidFill>
                <a:latin typeface="DejaVu Sans"/>
                <a:ea typeface="DejaVu Sans"/>
                <a:cs typeface="DejaVu Sans"/>
              </a:rPr>
              <a:t>Select Fetch-execute factory from Topic 1.1 and keep your worksheet beside you.</a:t>
            </a:r>
          </a:p>
        </p:txBody>
      </p:sp>
      <p:sp>
        <p:nvSpPr>
          <p:cNvPr id="7" name="own-words-label">
            <a:extLst xmlns:a="http://schemas.openxmlformats.org/drawingml/2006/main">
              <a:ext uri="{FF2B5EF4-FFF2-40B4-BE49-F238E27FC236}">
                <a16:creationId xmlns:a16="http://schemas.microsoft.com/office/drawing/2014/main" id="{89E6AB7F-1EC6-459A-A40B-4082846AA484}"/>
              </a:ext>
            </a:extLst>
          </p:cNvPr>
          <p:cNvSpPr>
            <a:spLocks xmlns:a="http://schemas.openxmlformats.org/drawingml/2006/main" noGrp="1"/>
          </p:cNvSpPr>
          <p:nvPr/>
        </p:nvSpPr>
        <p:spPr>
          <a:xfrm xmlns:a="http://schemas.openxmlformats.org/drawingml/2006/main">
            <a:off x="723900" y="2924175"/>
            <a:ext cx="4000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77D8FF"/>
                </a:solidFill>
                <a:latin typeface="DejaVu Sans"/>
                <a:ea typeface="DejaVu Sans"/>
                <a:cs typeface="DejaVu Sans"/>
              </a:defRPr>
            </a:pPr>
            <a:r>
              <a:rPr sz="1575" b="1">
                <a:solidFill>
                  <a:srgbClr val="77D8FF"/>
                </a:solidFill>
                <a:latin typeface="DejaVu Sans"/>
                <a:ea typeface="DejaVu Sans"/>
                <a:cs typeface="DejaVu Sans"/>
              </a:rPr>
              <a:t>AT EVERY STATION</a:t>
            </a:r>
          </a:p>
        </p:txBody>
      </p:sp>
      <p:sp>
        <p:nvSpPr>
          <p:cNvPr id="8" name="own-words">
            <a:extLst xmlns:a="http://schemas.openxmlformats.org/drawingml/2006/main">
              <a:ext uri="{FF2B5EF4-FFF2-40B4-BE49-F238E27FC236}">
                <a16:creationId xmlns:a16="http://schemas.microsoft.com/office/drawing/2014/main" id="{AD6AC50D-84AB-4F0E-9C7A-AA5EE4082A40}"/>
              </a:ext>
            </a:extLst>
          </p:cNvPr>
          <p:cNvSpPr>
            <a:spLocks xmlns:a="http://schemas.openxmlformats.org/drawingml/2006/main" noGrp="1"/>
          </p:cNvSpPr>
          <p:nvPr/>
        </p:nvSpPr>
        <p:spPr>
          <a:xfrm xmlns:a="http://schemas.openxmlformats.org/drawingml/2006/main">
            <a:off x="723900" y="3276600"/>
            <a:ext cx="10572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FFFFFF"/>
                </a:solidFill>
                <a:latin typeface="DejaVu Sans"/>
                <a:ea typeface="DejaVu Sans"/>
                <a:cs typeface="DejaVu Sans"/>
              </a:defRPr>
            </a:pPr>
            <a:r>
              <a:rPr sz="2250" b="1">
                <a:solidFill>
                  <a:srgbClr val="FFFFFF"/>
                </a:solidFill>
                <a:latin typeface="DejaVu Sans"/>
                <a:ea typeface="DejaVu Sans"/>
                <a:cs typeface="DejaVu Sans"/>
              </a:rPr>
              <a:t>Write the key fact IN YOUR OWN WORDS and answer the worksheet challenge before tapping the badge.</a:t>
            </a:r>
          </a:p>
        </p:txBody>
      </p:sp>
      <p:sp>
        <p:nvSpPr>
          <p:cNvPr id="9" name="finish-label">
            <a:extLst xmlns:a="http://schemas.openxmlformats.org/drawingml/2006/main">
              <a:ext uri="{FF2B5EF4-FFF2-40B4-BE49-F238E27FC236}">
                <a16:creationId xmlns:a16="http://schemas.microsoft.com/office/drawing/2014/main" id="{2EB34759-B627-42E0-A133-3D89755353C5}"/>
              </a:ext>
            </a:extLst>
          </p:cNvPr>
          <p:cNvSpPr>
            <a:spLocks xmlns:a="http://schemas.openxmlformats.org/drawingml/2006/main" noGrp="1"/>
          </p:cNvSpPr>
          <p:nvPr/>
        </p:nvSpPr>
        <p:spPr>
          <a:xfrm xmlns:a="http://schemas.openxmlformats.org/drawingml/2006/main">
            <a:off x="723900" y="4638675"/>
            <a:ext cx="1428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77D8FF"/>
                </a:solidFill>
                <a:latin typeface="DejaVu Sans"/>
                <a:ea typeface="DejaVu Sans"/>
                <a:cs typeface="DejaVu Sans"/>
              </a:defRPr>
            </a:pPr>
            <a:r>
              <a:rPr sz="1575" b="1">
                <a:solidFill>
                  <a:srgbClr val="77D8FF"/>
                </a:solidFill>
                <a:latin typeface="DejaVu Sans"/>
                <a:ea typeface="DejaVu Sans"/>
                <a:cs typeface="DejaVu Sans"/>
              </a:rPr>
              <a:t>FINISH</a:t>
            </a:r>
          </a:p>
        </p:txBody>
      </p:sp>
      <p:sp>
        <p:nvSpPr>
          <p:cNvPr id="10" name="finish">
            <a:extLst xmlns:a="http://schemas.openxmlformats.org/drawingml/2006/main">
              <a:ext uri="{FF2B5EF4-FFF2-40B4-BE49-F238E27FC236}">
                <a16:creationId xmlns:a16="http://schemas.microsoft.com/office/drawing/2014/main" id="{C113DBC7-0F67-4BA0-AF50-3DC3EF8F1AE9}"/>
              </a:ext>
            </a:extLst>
          </p:cNvPr>
          <p:cNvSpPr>
            <a:spLocks xmlns:a="http://schemas.openxmlformats.org/drawingml/2006/main" noGrp="1"/>
          </p:cNvSpPr>
          <p:nvPr/>
        </p:nvSpPr>
        <p:spPr>
          <a:xfrm xmlns:a="http://schemas.openxmlformats.org/drawingml/2006/main">
            <a:off x="723900" y="49720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FFFFFF"/>
                </a:solidFill>
                <a:latin typeface="DejaVu Sans"/>
                <a:ea typeface="DejaVu Sans"/>
                <a:cs typeface="DejaVu Sans"/>
              </a:defRPr>
            </a:pPr>
            <a:r>
              <a:rPr sz="1950" b="0">
                <a:solidFill>
                  <a:srgbClr val="FFFFFF"/>
                </a:solidFill>
                <a:latin typeface="DejaVu Sans"/>
                <a:ea typeface="DejaVu Sans"/>
                <a:cs typeface="DejaVu Sans"/>
              </a:rPr>
              <a:t>Answer on screen, then copy your score into the yellow worksheet box (out of 22).</a:t>
            </a:r>
          </a:p>
        </p:txBody>
      </p:sp>
      <p:sp>
        <p:nvSpPr>
          <p:cNvPr id="11" name="open-link">
            <a:extLst xmlns:a="http://schemas.openxmlformats.org/drawingml/2006/main">
              <a:ext uri="{FF2B5EF4-FFF2-40B4-BE49-F238E27FC236}">
                <a16:creationId xmlns:a16="http://schemas.microsoft.com/office/drawing/2014/main" id="{2B767C09-2842-4E8D-8865-E4868622682B}"/>
              </a:ext>
            </a:extLst>
          </p:cNvPr>
          <p:cNvSpPr>
            <a:spLocks xmlns:a="http://schemas.openxmlformats.org/drawingml/2006/main" noGrp="1"/>
          </p:cNvSpPr>
          <p:nvPr/>
        </p:nvSpPr>
        <p:spPr>
          <a:xfrm xmlns:a="http://schemas.openxmlformats.org/drawingml/2006/main">
            <a:off x="723900" y="5838825"/>
            <a:ext cx="571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77D8FF"/>
                </a:solidFill>
                <a:latin typeface="DejaVu Sans"/>
                <a:ea typeface="DejaVu Sans"/>
                <a:cs typeface="DejaVu Sans"/>
              </a:defRPr>
            </a:pPr>
            <a:r>
              <a:rPr sz="1725" b="1">
                <a:solidFill>
                  <a:srgbClr val="77D8FF"/>
                </a:solidFill>
                <a:latin typeface="DejaVu Sans"/>
                <a:ea typeface="DejaVu Sans"/>
                <a:cs typeface="DejaVu Sans"/>
                <a:hlinkClick xmlns:r="http://schemas.openxmlformats.org/officeDocument/2006/relationships" r:id="R6c752406c6b44bcf"/>
              </a:rPr>
              <a:t>Open the experience online</a:t>
            </a:r>
            <a:r>
              <a:rPr sz="1725" b="1">
                <a:solidFill>
                  <a:srgbClr val="77D8FF"/>
                </a:solidFill>
                <a:latin typeface="DejaVu Sans"/>
                <a:ea typeface="DejaVu Sans"/>
                <a:cs typeface="DejaVu Sans"/>
              </a:rPr>
              <a:t>  ↗</a:t>
            </a:r>
          </a:p>
        </p:txBody>
      </p:sp>
    </p:spTree>
    <p:extLst>
      <p:ext uri="{BB962C8B-B14F-4D97-AF65-F5344CB8AC3E}">
        <p14:creationId xmlns:p14="http://schemas.microsoft.com/office/powerpoint/2010/main" val="191629702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opic">
            <a:extLst xmlns:a="http://schemas.openxmlformats.org/drawingml/2006/main">
              <a:ext uri="{FF2B5EF4-FFF2-40B4-BE49-F238E27FC236}">
                <a16:creationId xmlns:a16="http://schemas.microsoft.com/office/drawing/2014/main" id="{D4BF4A18-B0A9-44DC-8E48-5708A1187004}"/>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EXPERIENCE</a:t>
            </a:r>
          </a:p>
        </p:txBody>
      </p:sp>
      <p:sp>
        <p:nvSpPr>
          <p:cNvPr id="2" name="heading">
            <a:extLst xmlns:a="http://schemas.openxmlformats.org/drawingml/2006/main">
              <a:ext uri="{FF2B5EF4-FFF2-40B4-BE49-F238E27FC236}">
                <a16:creationId xmlns:a16="http://schemas.microsoft.com/office/drawing/2014/main" id="{7A606052-8113-43DF-914B-31AD3D94D2B0}"/>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The stations in your worksheet</a:t>
            </a:r>
          </a:p>
        </p:txBody>
      </p:sp>
      <p:sp>
        <p:nvSpPr>
          <p:cNvPr id="3" name="footer">
            <a:extLst xmlns:a="http://schemas.openxmlformats.org/drawingml/2006/main">
              <a:ext uri="{FF2B5EF4-FFF2-40B4-BE49-F238E27FC236}">
                <a16:creationId xmlns:a16="http://schemas.microsoft.com/office/drawing/2014/main" id="{35C07C64-5F7D-42FE-8A18-DE162611B73F}"/>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1E14B9BA-1CAF-4854-BB5F-86F43304407A}"/>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8 / 20</a:t>
            </a:r>
          </a:p>
        </p:txBody>
      </p:sp>
      <p:sp>
        <p:nvSpPr>
          <p:cNvPr id="5" name="route-intro">
            <a:extLst xmlns:a="http://schemas.openxmlformats.org/drawingml/2006/main">
              <a:ext uri="{FF2B5EF4-FFF2-40B4-BE49-F238E27FC236}">
                <a16:creationId xmlns:a16="http://schemas.microsoft.com/office/drawing/2014/main" id="{791212C0-D81E-4C7B-AD62-11B79439A5FC}"/>
              </a:ext>
            </a:extLst>
          </p:cNvPr>
          <p:cNvSpPr>
            <a:spLocks xmlns:a="http://schemas.openxmlformats.org/drawingml/2006/main" noGrp="1"/>
          </p:cNvSpPr>
          <p:nvPr/>
        </p:nvSpPr>
        <p:spPr>
          <a:xfrm xmlns:a="http://schemas.openxmlformats.org/drawingml/2006/main">
            <a:off x="704850" y="1533525"/>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Follow your worksheet route. Write key facts in your own words before tapping each badge.</a:t>
            </a:r>
          </a:p>
        </p:txBody>
      </p:sp>
      <p:sp>
        <p:nvSpPr>
          <p:cNvPr id="6" name="route-direction-0">
            <a:extLst xmlns:a="http://schemas.openxmlformats.org/drawingml/2006/main">
              <a:ext uri="{FF2B5EF4-FFF2-40B4-BE49-F238E27FC236}">
                <a16:creationId xmlns:a16="http://schemas.microsoft.com/office/drawing/2014/main" id="{FA809A63-EC2E-4A6F-A7C2-867022444F6E}"/>
              </a:ext>
            </a:extLst>
          </p:cNvPr>
          <p:cNvSpPr>
            <a:spLocks xmlns:a="http://schemas.openxmlformats.org/drawingml/2006/main" noGrp="1"/>
          </p:cNvSpPr>
          <p:nvPr/>
        </p:nvSpPr>
        <p:spPr>
          <a:xfrm xmlns:a="http://schemas.openxmlformats.org/drawingml/2006/main">
            <a:off x="704850" y="2266950"/>
            <a:ext cx="106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2D63FF"/>
                </a:solidFill>
                <a:latin typeface="DejaVu Sans"/>
                <a:ea typeface="DejaVu Sans"/>
                <a:cs typeface="DejaVu Sans"/>
              </a:defRPr>
            </a:pPr>
            <a:r>
              <a:rPr sz="1500" b="1">
                <a:solidFill>
                  <a:srgbClr val="2D63FF"/>
                </a:solidFill>
                <a:latin typeface="DejaVu Sans"/>
                <a:ea typeface="DejaVu Sans"/>
                <a:cs typeface="DejaVu Sans"/>
              </a:rPr>
              <a:t>RIGHT</a:t>
            </a:r>
          </a:p>
        </p:txBody>
      </p:sp>
      <p:sp>
        <p:nvSpPr>
          <p:cNvPr id="7" name="route-names-0">
            <a:extLst xmlns:a="http://schemas.openxmlformats.org/drawingml/2006/main">
              <a:ext uri="{FF2B5EF4-FFF2-40B4-BE49-F238E27FC236}">
                <a16:creationId xmlns:a16="http://schemas.microsoft.com/office/drawing/2014/main" id="{839FBD8E-14A2-444F-A79C-04F97AF54948}"/>
              </a:ext>
            </a:extLst>
          </p:cNvPr>
          <p:cNvSpPr>
            <a:spLocks xmlns:a="http://schemas.openxmlformats.org/drawingml/2006/main" noGrp="1"/>
          </p:cNvSpPr>
          <p:nvPr/>
        </p:nvSpPr>
        <p:spPr>
          <a:xfrm xmlns:a="http://schemas.openxmlformats.org/drawingml/2006/main">
            <a:off x="1809750" y="2266950"/>
            <a:ext cx="44386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1 Purpose of the CPU</a:t>
            </a:r>
          </a:p>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2 Stage 1: Fetch</a:t>
            </a:r>
          </a:p>
        </p:txBody>
      </p:sp>
      <p:sp>
        <p:nvSpPr>
          <p:cNvPr id="8" name="route-direction-1">
            <a:extLst xmlns:a="http://schemas.openxmlformats.org/drawingml/2006/main">
              <a:ext uri="{FF2B5EF4-FFF2-40B4-BE49-F238E27FC236}">
                <a16:creationId xmlns:a16="http://schemas.microsoft.com/office/drawing/2014/main" id="{7DE13BFE-0FAF-46D6-858A-1687995997E9}"/>
              </a:ext>
            </a:extLst>
          </p:cNvPr>
          <p:cNvSpPr>
            <a:spLocks xmlns:a="http://schemas.openxmlformats.org/drawingml/2006/main" noGrp="1"/>
          </p:cNvSpPr>
          <p:nvPr/>
        </p:nvSpPr>
        <p:spPr>
          <a:xfrm xmlns:a="http://schemas.openxmlformats.org/drawingml/2006/main">
            <a:off x="704850" y="3209925"/>
            <a:ext cx="106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2D63FF"/>
                </a:solidFill>
                <a:latin typeface="DejaVu Sans"/>
                <a:ea typeface="DejaVu Sans"/>
                <a:cs typeface="DejaVu Sans"/>
              </a:defRPr>
            </a:pPr>
            <a:r>
              <a:rPr sz="1500" b="1">
                <a:solidFill>
                  <a:srgbClr val="2D63FF"/>
                </a:solidFill>
                <a:latin typeface="DejaVu Sans"/>
                <a:ea typeface="DejaVu Sans"/>
                <a:cs typeface="DejaVu Sans"/>
              </a:rPr>
              <a:t>AROUND</a:t>
            </a:r>
          </a:p>
        </p:txBody>
      </p:sp>
      <p:sp>
        <p:nvSpPr>
          <p:cNvPr id="9" name="route-names-1">
            <a:extLst xmlns:a="http://schemas.openxmlformats.org/drawingml/2006/main">
              <a:ext uri="{FF2B5EF4-FFF2-40B4-BE49-F238E27FC236}">
                <a16:creationId xmlns:a16="http://schemas.microsoft.com/office/drawing/2014/main" id="{BB38C0D0-7569-4898-A0AE-B4B794161F43}"/>
              </a:ext>
            </a:extLst>
          </p:cNvPr>
          <p:cNvSpPr>
            <a:spLocks xmlns:a="http://schemas.openxmlformats.org/drawingml/2006/main" noGrp="1"/>
          </p:cNvSpPr>
          <p:nvPr/>
        </p:nvSpPr>
        <p:spPr>
          <a:xfrm xmlns:a="http://schemas.openxmlformats.org/drawingml/2006/main">
            <a:off x="1809750" y="3209925"/>
            <a:ext cx="44386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3 Stage 2: Decode</a:t>
            </a:r>
          </a:p>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4 Stage 3: Execute</a:t>
            </a:r>
          </a:p>
        </p:txBody>
      </p:sp>
      <p:sp>
        <p:nvSpPr>
          <p:cNvPr id="10" name="route-direction-2">
            <a:extLst xmlns:a="http://schemas.openxmlformats.org/drawingml/2006/main">
              <a:ext uri="{FF2B5EF4-FFF2-40B4-BE49-F238E27FC236}">
                <a16:creationId xmlns:a16="http://schemas.microsoft.com/office/drawing/2014/main" id="{6A96764B-D5CE-498E-86EA-D09CB0330307}"/>
              </a:ext>
            </a:extLst>
          </p:cNvPr>
          <p:cNvSpPr>
            <a:spLocks xmlns:a="http://schemas.openxmlformats.org/drawingml/2006/main" noGrp="1"/>
          </p:cNvSpPr>
          <p:nvPr/>
        </p:nvSpPr>
        <p:spPr>
          <a:xfrm xmlns:a="http://schemas.openxmlformats.org/drawingml/2006/main">
            <a:off x="704850" y="4162425"/>
            <a:ext cx="106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2D63FF"/>
                </a:solidFill>
                <a:latin typeface="DejaVu Sans"/>
                <a:ea typeface="DejaVu Sans"/>
                <a:cs typeface="DejaVu Sans"/>
              </a:defRPr>
            </a:pPr>
            <a:r>
              <a:rPr sz="1500" b="1">
                <a:solidFill>
                  <a:srgbClr val="2D63FF"/>
                </a:solidFill>
                <a:latin typeface="DejaVu Sans"/>
                <a:ea typeface="DejaVu Sans"/>
                <a:cs typeface="DejaVu Sans"/>
              </a:rPr>
              <a:t>LEFT</a:t>
            </a:r>
          </a:p>
        </p:txBody>
      </p:sp>
      <p:sp>
        <p:nvSpPr>
          <p:cNvPr id="11" name="route-names-2">
            <a:extLst xmlns:a="http://schemas.openxmlformats.org/drawingml/2006/main">
              <a:ext uri="{FF2B5EF4-FFF2-40B4-BE49-F238E27FC236}">
                <a16:creationId xmlns:a16="http://schemas.microsoft.com/office/drawing/2014/main" id="{B246A1E4-F79D-4E71-82EF-9A0EC46684E6}"/>
              </a:ext>
            </a:extLst>
          </p:cNvPr>
          <p:cNvSpPr>
            <a:spLocks xmlns:a="http://schemas.openxmlformats.org/drawingml/2006/main" noGrp="1"/>
          </p:cNvSpPr>
          <p:nvPr/>
        </p:nvSpPr>
        <p:spPr>
          <a:xfrm xmlns:a="http://schemas.openxmlformats.org/drawingml/2006/main">
            <a:off x="1809750" y="4162425"/>
            <a:ext cx="44386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5 The registers</a:t>
            </a:r>
          </a:p>
          <a:p xmlns:a="http://schemas.openxmlformats.org/drawingml/2006/main">
            <a:pPr>
              <a:defRPr sz="1725" b="0">
                <a:solidFill>
                  <a:srgbClr val="101828"/>
                </a:solidFill>
                <a:latin typeface="DejaVu Sans"/>
                <a:ea typeface="DejaVu Sans"/>
                <a:cs typeface="DejaVu Sans"/>
              </a:defRPr>
            </a:pPr>
            <a:r>
              <a:rPr sz="1725" b="0">
                <a:solidFill>
                  <a:srgbClr val="101828"/>
                </a:solidFill>
                <a:latin typeface="DejaVu Sans"/>
                <a:ea typeface="DejaVu Sans"/>
                <a:cs typeface="DejaVu Sans"/>
              </a:rPr>
              <a:t>6 Other CPU components</a:t>
            </a:r>
          </a:p>
        </p:txBody>
      </p:sp>
      <p:sp>
        <p:nvSpPr>
          <p:cNvPr id="12" name="route-direction-3">
            <a:extLst xmlns:a="http://schemas.openxmlformats.org/drawingml/2006/main">
              <a:ext uri="{FF2B5EF4-FFF2-40B4-BE49-F238E27FC236}">
                <a16:creationId xmlns:a16="http://schemas.microsoft.com/office/drawing/2014/main" id="{9007AC77-1529-409C-B5A4-A2018B6A3219}"/>
              </a:ext>
            </a:extLst>
          </p:cNvPr>
          <p:cNvSpPr>
            <a:spLocks xmlns:a="http://schemas.openxmlformats.org/drawingml/2006/main" noGrp="1"/>
          </p:cNvSpPr>
          <p:nvPr/>
        </p:nvSpPr>
        <p:spPr>
          <a:xfrm xmlns:a="http://schemas.openxmlformats.org/drawingml/2006/main">
            <a:off x="704850" y="5314950"/>
            <a:ext cx="106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2D63FF"/>
                </a:solidFill>
                <a:latin typeface="DejaVu Sans"/>
                <a:ea typeface="DejaVu Sans"/>
                <a:cs typeface="DejaVu Sans"/>
              </a:defRPr>
            </a:pPr>
            <a:r>
              <a:rPr sz="1500" b="1">
                <a:solidFill>
                  <a:srgbClr val="2D63FF"/>
                </a:solidFill>
                <a:latin typeface="DejaVu Sans"/>
                <a:ea typeface="DejaVu Sans"/>
                <a:cs typeface="DejaVu Sans"/>
              </a:rPr>
              <a:t>DOWN</a:t>
            </a:r>
          </a:p>
        </p:txBody>
      </p:sp>
      <p:sp>
        <p:nvSpPr>
          <p:cNvPr id="13" name="route-names-3">
            <a:extLst xmlns:a="http://schemas.openxmlformats.org/drawingml/2006/main">
              <a:ext uri="{FF2B5EF4-FFF2-40B4-BE49-F238E27FC236}">
                <a16:creationId xmlns:a16="http://schemas.microsoft.com/office/drawing/2014/main" id="{CDAA6E78-B54B-4CFB-8893-995760264789}"/>
              </a:ext>
            </a:extLst>
          </p:cNvPr>
          <p:cNvSpPr>
            <a:spLocks xmlns:a="http://schemas.openxmlformats.org/drawingml/2006/main" noGrp="1"/>
          </p:cNvSpPr>
          <p:nvPr/>
        </p:nvSpPr>
        <p:spPr>
          <a:xfrm xmlns:a="http://schemas.openxmlformats.org/drawingml/2006/main">
            <a:off x="1809750" y="5314950"/>
            <a:ext cx="4438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01828"/>
                </a:solidFill>
                <a:latin typeface="DejaVu Sans"/>
                <a:ea typeface="DejaVu Sans"/>
                <a:cs typeface="DejaVu Sans"/>
              </a:defRPr>
            </a:pPr>
            <a:r>
              <a:rPr sz="1875" b="1">
                <a:solidFill>
                  <a:srgbClr val="101828"/>
                </a:solidFill>
                <a:latin typeface="DejaVu Sans"/>
                <a:ea typeface="DejaVu Sans"/>
                <a:cs typeface="DejaVu Sans"/>
              </a:rPr>
              <a:t>★ Final challenge</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0e9c516556b94bc8"/>
          <a:stretch xmlns:a="http://schemas.openxmlformats.org/drawingml/2006/main"/>
        </p:blipFill>
        <p:spPr>
          <a:xfrm xmlns:a="http://schemas.openxmlformats.org/drawingml/2006/main">
            <a:off x="6505575" y="2241550"/>
            <a:ext cx="4933950" cy="3289300"/>
          </a:xfrm>
          <a:prstGeom xmlns:a="http://schemas.openxmlformats.org/drawingml/2006/main" prst="rect">
            <a:avLst/>
          </a:prstGeom>
        </p:spPr>
      </p:pic>
    </p:spTree>
    <p:extLst>
      <p:ext uri="{BB962C8B-B14F-4D97-AF65-F5344CB8AC3E}">
        <p14:creationId xmlns:p14="http://schemas.microsoft.com/office/powerpoint/2010/main" val="148227309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opic">
            <a:extLst xmlns:a="http://schemas.openxmlformats.org/drawingml/2006/main">
              <a:ext uri="{FF2B5EF4-FFF2-40B4-BE49-F238E27FC236}">
                <a16:creationId xmlns:a16="http://schemas.microsoft.com/office/drawing/2014/main" id="{B43BD6FE-5BED-41A8-AF62-4EF43F01C9D9}"/>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WORKSHEET</a:t>
            </a:r>
          </a:p>
        </p:txBody>
      </p:sp>
      <p:sp>
        <p:nvSpPr>
          <p:cNvPr id="2" name="heading">
            <a:extLst xmlns:a="http://schemas.openxmlformats.org/drawingml/2006/main">
              <a:ext uri="{FF2B5EF4-FFF2-40B4-BE49-F238E27FC236}">
                <a16:creationId xmlns:a16="http://schemas.microsoft.com/office/drawing/2014/main" id="{8ED470A4-DA67-4B78-8E9A-0EEB505C5D68}"/>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Final challenge, score and key question</a:t>
            </a:r>
          </a:p>
        </p:txBody>
      </p:sp>
      <p:sp>
        <p:nvSpPr>
          <p:cNvPr id="3" name="footer">
            <a:extLst xmlns:a="http://schemas.openxmlformats.org/drawingml/2006/main">
              <a:ext uri="{FF2B5EF4-FFF2-40B4-BE49-F238E27FC236}">
                <a16:creationId xmlns:a16="http://schemas.microsoft.com/office/drawing/2014/main" id="{0136638B-80E0-461E-880B-67FA0D432B12}"/>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73E94AEB-F108-4CDD-BCFF-292FE0DA56B8}"/>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9 / 20</a:t>
            </a:r>
          </a:p>
        </p:txBody>
      </p:sp>
      <p:sp>
        <p:nvSpPr>
          <p:cNvPr id="5" name="star">
            <a:extLst xmlns:a="http://schemas.openxmlformats.org/drawingml/2006/main">
              <a:ext uri="{FF2B5EF4-FFF2-40B4-BE49-F238E27FC236}">
                <a16:creationId xmlns:a16="http://schemas.microsoft.com/office/drawing/2014/main" id="{9724ACA5-7F45-458B-9946-616E2D6D4647}"/>
              </a:ext>
            </a:extLst>
          </p:cNvPr>
          <p:cNvSpPr>
            <a:spLocks xmlns:a="http://schemas.openxmlformats.org/drawingml/2006/main" noGrp="1"/>
          </p:cNvSpPr>
          <p:nvPr/>
        </p:nvSpPr>
        <p:spPr>
          <a:xfrm xmlns:a="http://schemas.openxmlformats.org/drawingml/2006/main">
            <a:off x="704850" y="1676400"/>
            <a:ext cx="10572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01828"/>
                </a:solidFill>
                <a:latin typeface="DejaVu Sans"/>
                <a:ea typeface="DejaVu Sans"/>
                <a:cs typeface="DejaVu Sans"/>
              </a:defRPr>
            </a:pPr>
            <a:r>
              <a:rPr sz="2175" b="1">
                <a:solidFill>
                  <a:srgbClr val="101828"/>
                </a:solidFill>
                <a:latin typeface="DejaVu Sans"/>
                <a:ea typeface="DejaVu Sans"/>
                <a:cs typeface="DejaVu Sans"/>
              </a:rPr>
              <a:t>Look down. Complete the ★ final challenge table on your worksheet before tapping the star.</a:t>
            </a:r>
          </a:p>
        </p:txBody>
      </p:sp>
      <p:sp>
        <p:nvSpPr>
          <p:cNvPr id="6" name="score">
            <a:extLst xmlns:a="http://schemas.openxmlformats.org/drawingml/2006/main">
              <a:ext uri="{FF2B5EF4-FFF2-40B4-BE49-F238E27FC236}">
                <a16:creationId xmlns:a16="http://schemas.microsoft.com/office/drawing/2014/main" id="{C8E8E1DF-E722-40C0-A3DD-D4CFCBA72EA8}"/>
              </a:ext>
            </a:extLst>
          </p:cNvPr>
          <p:cNvSpPr>
            <a:spLocks xmlns:a="http://schemas.openxmlformats.org/drawingml/2006/main" noGrp="1"/>
          </p:cNvSpPr>
          <p:nvPr/>
        </p:nvSpPr>
        <p:spPr>
          <a:xfrm xmlns:a="http://schemas.openxmlformats.org/drawingml/2006/main">
            <a:off x="704850" y="31623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2D63FF"/>
                </a:solidFill>
                <a:latin typeface="DejaVu Sans"/>
                <a:ea typeface="DejaVu Sans"/>
                <a:cs typeface="DejaVu Sans"/>
              </a:defRPr>
            </a:pPr>
            <a:r>
              <a:rPr sz="2175" b="1">
                <a:solidFill>
                  <a:srgbClr val="2D63FF"/>
                </a:solidFill>
                <a:latin typeface="DejaVu Sans"/>
                <a:ea typeface="DejaVu Sans"/>
                <a:cs typeface="DejaVu Sans"/>
              </a:rPr>
              <a:t>Copy the result from the score screen:  ______ / 22</a:t>
            </a:r>
          </a:p>
        </p:txBody>
      </p:sp>
      <p:sp>
        <p:nvSpPr>
          <p:cNvPr id="7" name="key-label">
            <a:extLst xmlns:a="http://schemas.openxmlformats.org/drawingml/2006/main">
              <a:ext uri="{FF2B5EF4-FFF2-40B4-BE49-F238E27FC236}">
                <a16:creationId xmlns:a16="http://schemas.microsoft.com/office/drawing/2014/main" id="{86CFA3FF-9434-46E7-B2E2-D4907E1FA81B}"/>
              </a:ext>
            </a:extLst>
          </p:cNvPr>
          <p:cNvSpPr>
            <a:spLocks xmlns:a="http://schemas.openxmlformats.org/drawingml/2006/main" noGrp="1"/>
          </p:cNvSpPr>
          <p:nvPr/>
        </p:nvSpPr>
        <p:spPr>
          <a:xfrm xmlns:a="http://schemas.openxmlformats.org/drawingml/2006/main">
            <a:off x="704850" y="43529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2D63FF"/>
                </a:solidFill>
                <a:latin typeface="DejaVu Sans"/>
                <a:ea typeface="DejaVu Sans"/>
                <a:cs typeface="DejaVu Sans"/>
              </a:defRPr>
            </a:pPr>
            <a:r>
              <a:rPr sz="1425" b="1">
                <a:solidFill>
                  <a:srgbClr val="2D63FF"/>
                </a:solidFill>
                <a:latin typeface="DejaVu Sans"/>
                <a:ea typeface="DejaVu Sans"/>
                <a:cs typeface="DejaVu Sans"/>
              </a:rPr>
              <a:t>KEY QUESTION</a:t>
            </a:r>
          </a:p>
        </p:txBody>
      </p:sp>
      <p:sp>
        <p:nvSpPr>
          <p:cNvPr id="8" name="key-question">
            <a:extLst xmlns:a="http://schemas.openxmlformats.org/drawingml/2006/main">
              <a:ext uri="{FF2B5EF4-FFF2-40B4-BE49-F238E27FC236}">
                <a16:creationId xmlns:a16="http://schemas.microsoft.com/office/drawing/2014/main" id="{CD6FB411-7856-4691-84D2-299575305A14}"/>
              </a:ext>
            </a:extLst>
          </p:cNvPr>
          <p:cNvSpPr>
            <a:spLocks xmlns:a="http://schemas.openxmlformats.org/drawingml/2006/main" noGrp="1"/>
          </p:cNvSpPr>
          <p:nvPr/>
        </p:nvSpPr>
        <p:spPr>
          <a:xfrm xmlns:a="http://schemas.openxmlformats.org/drawingml/2006/main">
            <a:off x="704850" y="4867275"/>
            <a:ext cx="105727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101828"/>
                </a:solidFill>
                <a:latin typeface="DejaVu Sans"/>
                <a:ea typeface="DejaVu Sans"/>
                <a:cs typeface="DejaVu Sans"/>
              </a:defRPr>
            </a:pPr>
            <a:r>
              <a:rPr sz="2550" b="1">
                <a:solidFill>
                  <a:srgbClr val="101828"/>
                </a:solidFill>
                <a:latin typeface="DejaVu Sans"/>
                <a:ea typeface="DejaVu Sans"/>
                <a:cs typeface="DejaVu Sans"/>
              </a:rPr>
              <a:t>What is the architecture of a CPU?</a:t>
            </a:r>
          </a:p>
        </p:txBody>
      </p:sp>
    </p:spTree>
    <p:extLst>
      <p:ext uri="{BB962C8B-B14F-4D97-AF65-F5344CB8AC3E}">
        <p14:creationId xmlns:p14="http://schemas.microsoft.com/office/powerpoint/2010/main" val="21083529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opic">
            <a:extLst xmlns:a="http://schemas.openxmlformats.org/drawingml/2006/main">
              <a:ext uri="{FF2B5EF4-FFF2-40B4-BE49-F238E27FC236}">
                <a16:creationId xmlns:a16="http://schemas.microsoft.com/office/drawing/2014/main" id="{3F43C1DF-3879-46E7-B398-5963A51C3205}"/>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EXTENSION</a:t>
            </a:r>
          </a:p>
        </p:txBody>
      </p:sp>
      <p:sp>
        <p:nvSpPr>
          <p:cNvPr id="2" name="heading">
            <a:extLst xmlns:a="http://schemas.openxmlformats.org/drawingml/2006/main">
              <a:ext uri="{FF2B5EF4-FFF2-40B4-BE49-F238E27FC236}">
                <a16:creationId xmlns:a16="http://schemas.microsoft.com/office/drawing/2014/main" id="{1C0757DA-CF37-470D-A0D6-B8B2990BE5F0}"/>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Apply your learning</a:t>
            </a:r>
          </a:p>
        </p:txBody>
      </p:sp>
      <p:sp>
        <p:nvSpPr>
          <p:cNvPr id="3" name="footer">
            <a:extLst xmlns:a="http://schemas.openxmlformats.org/drawingml/2006/main">
              <a:ext uri="{FF2B5EF4-FFF2-40B4-BE49-F238E27FC236}">
                <a16:creationId xmlns:a16="http://schemas.microsoft.com/office/drawing/2014/main" id="{FB2DA3D7-B0C4-4641-8A04-DA56EC3EFDCE}"/>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376033A6-EEB2-4D12-AE2C-005FAC04C934}"/>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10 / 20</a:t>
            </a:r>
          </a:p>
        </p:txBody>
      </p:sp>
      <p:sp>
        <p:nvSpPr>
          <p:cNvPr id="5" name="extension-lead">
            <a:extLst xmlns:a="http://schemas.openxmlformats.org/drawingml/2006/main">
              <a:ext uri="{FF2B5EF4-FFF2-40B4-BE49-F238E27FC236}">
                <a16:creationId xmlns:a16="http://schemas.microsoft.com/office/drawing/2014/main" id="{EF7AD13F-5596-4DED-8969-D112B7116C13}"/>
              </a:ext>
            </a:extLst>
          </p:cNvPr>
          <p:cNvSpPr>
            <a:spLocks xmlns:a="http://schemas.openxmlformats.org/drawingml/2006/main" noGrp="1"/>
          </p:cNvSpPr>
          <p:nvPr/>
        </p:nvSpPr>
        <p:spPr>
          <a:xfrm xmlns:a="http://schemas.openxmlformats.org/drawingml/2006/main">
            <a:off x="704850" y="1628775"/>
            <a:ext cx="107346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Once you have completed the experience, use your worksheet to reason further.</a:t>
            </a:r>
          </a:p>
        </p:txBody>
      </p:sp>
      <p:sp>
        <p:nvSpPr>
          <p:cNvPr id="6" name="extension-prompt">
            <a:extLst xmlns:a="http://schemas.openxmlformats.org/drawingml/2006/main">
              <a:ext uri="{FF2B5EF4-FFF2-40B4-BE49-F238E27FC236}">
                <a16:creationId xmlns:a16="http://schemas.microsoft.com/office/drawing/2014/main" id="{C4D95834-CC54-49CB-8288-02E5947ACAD1}"/>
              </a:ext>
            </a:extLst>
          </p:cNvPr>
          <p:cNvSpPr>
            <a:spLocks xmlns:a="http://schemas.openxmlformats.org/drawingml/2006/main" noGrp="1"/>
          </p:cNvSpPr>
          <p:nvPr/>
        </p:nvSpPr>
        <p:spPr>
          <a:xfrm xmlns:a="http://schemas.openxmlformats.org/drawingml/2006/main">
            <a:off x="714375" y="2419350"/>
            <a:ext cx="105727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The PC contains address 120. Trace the next fetch through the MAR and MDR. What address will the PC hold after it increments?</a:t>
            </a:r>
          </a:p>
        </p:txBody>
      </p:sp>
      <p:sp>
        <p:nvSpPr>
          <p:cNvPr id="7" name="extension-follow">
            <a:extLst xmlns:a="http://schemas.openxmlformats.org/drawingml/2006/main">
              <a:ext uri="{FF2B5EF4-FFF2-40B4-BE49-F238E27FC236}">
                <a16:creationId xmlns:a16="http://schemas.microsoft.com/office/drawing/2014/main" id="{FFC2F040-26AF-4572-8FB5-F577BE0684F3}"/>
              </a:ext>
            </a:extLst>
          </p:cNvPr>
          <p:cNvSpPr>
            <a:spLocks xmlns:a="http://schemas.openxmlformats.org/drawingml/2006/main" noGrp="1"/>
          </p:cNvSpPr>
          <p:nvPr/>
        </p:nvSpPr>
        <p:spPr>
          <a:xfrm xmlns:a="http://schemas.openxmlformats.org/drawingml/2006/main">
            <a:off x="714375" y="4648200"/>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2D63FF"/>
                </a:solidFill>
                <a:latin typeface="DejaVu Sans"/>
                <a:ea typeface="DejaVu Sans"/>
                <a:cs typeface="DejaVu Sans"/>
              </a:defRPr>
            </a:pPr>
            <a:r>
              <a:rPr sz="1950" b="0">
                <a:solidFill>
                  <a:srgbClr val="2D63FF"/>
                </a:solidFill>
                <a:latin typeface="DejaVu Sans"/>
                <a:ea typeface="DejaVu Sans"/>
                <a:cs typeface="DejaVu Sans"/>
              </a:rPr>
              <a:t>Add what the control unit does next. Give one possible action during execute.</a:t>
            </a:r>
          </a:p>
        </p:txBody>
      </p:sp>
    </p:spTree>
    <p:extLst>
      <p:ext uri="{BB962C8B-B14F-4D97-AF65-F5344CB8AC3E}">
        <p14:creationId xmlns:p14="http://schemas.microsoft.com/office/powerpoint/2010/main" val="205321747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opic">
            <a:extLst xmlns:a="http://schemas.openxmlformats.org/drawingml/2006/main">
              <a:ext uri="{FF2B5EF4-FFF2-40B4-BE49-F238E27FC236}">
                <a16:creationId xmlns:a16="http://schemas.microsoft.com/office/drawing/2014/main" id="{06E90E2B-A73A-4E02-B5FD-4861985F76A8}"/>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EXTENSION</a:t>
            </a:r>
          </a:p>
        </p:txBody>
      </p:sp>
      <p:sp>
        <p:nvSpPr>
          <p:cNvPr id="2" name="heading">
            <a:extLst xmlns:a="http://schemas.openxmlformats.org/drawingml/2006/main">
              <a:ext uri="{FF2B5EF4-FFF2-40B4-BE49-F238E27FC236}">
                <a16:creationId xmlns:a16="http://schemas.microsoft.com/office/drawing/2014/main" id="{C8BC788D-F540-4252-B219-0036E5EDB0D6}"/>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Check and improve</a:t>
            </a:r>
          </a:p>
        </p:txBody>
      </p:sp>
      <p:sp>
        <p:nvSpPr>
          <p:cNvPr id="3" name="footer">
            <a:extLst xmlns:a="http://schemas.openxmlformats.org/drawingml/2006/main">
              <a:ext uri="{FF2B5EF4-FFF2-40B4-BE49-F238E27FC236}">
                <a16:creationId xmlns:a16="http://schemas.microsoft.com/office/drawing/2014/main" id="{D1B3392E-5E61-47C9-828C-20468269557A}"/>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56A95BAA-E024-4B16-B6ED-22E611FC7227}"/>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11 / 20</a:t>
            </a:r>
          </a:p>
        </p:txBody>
      </p:sp>
      <p:sp>
        <p:nvSpPr>
          <p:cNvPr id="5" name="review">
            <a:extLst xmlns:a="http://schemas.openxmlformats.org/drawingml/2006/main">
              <a:ext uri="{FF2B5EF4-FFF2-40B4-BE49-F238E27FC236}">
                <a16:creationId xmlns:a16="http://schemas.microsoft.com/office/drawing/2014/main" id="{B38D01C2-34FA-44CE-81DE-2FEEFC371DA7}"/>
              </a:ext>
            </a:extLst>
          </p:cNvPr>
          <p:cNvSpPr>
            <a:spLocks xmlns:a="http://schemas.openxmlformats.org/drawingml/2006/main" noGrp="1"/>
          </p:cNvSpPr>
          <p:nvPr/>
        </p:nvSpPr>
        <p:spPr>
          <a:xfrm xmlns:a="http://schemas.openxmlformats.org/drawingml/2006/main">
            <a:off x="704850" y="1724025"/>
            <a:ext cx="10715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Use your worksheet notes and the experience feedback.</a:t>
            </a:r>
          </a:p>
        </p:txBody>
      </p:sp>
      <p:sp>
        <p:nvSpPr>
          <p:cNvPr id="6" name="extension-two">
            <a:extLst xmlns:a="http://schemas.openxmlformats.org/drawingml/2006/main">
              <a:ext uri="{FF2B5EF4-FFF2-40B4-BE49-F238E27FC236}">
                <a16:creationId xmlns:a16="http://schemas.microsoft.com/office/drawing/2014/main" id="{7AF7CF1F-C850-4639-85FE-AF9DF9AD3A97}"/>
              </a:ext>
            </a:extLst>
          </p:cNvPr>
          <p:cNvSpPr>
            <a:spLocks xmlns:a="http://schemas.openxmlformats.org/drawingml/2006/main" noGrp="1"/>
          </p:cNvSpPr>
          <p:nvPr/>
        </p:nvSpPr>
        <p:spPr>
          <a:xfrm xmlns:a="http://schemas.openxmlformats.org/drawingml/2006/main">
            <a:off x="704850" y="2676525"/>
            <a:ext cx="1062037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From memory, put the six steps in the final challenge in order. Then correct one station answer you missed and explain the correct term.</a:t>
            </a:r>
          </a:p>
        </p:txBody>
      </p:sp>
      <p:sp>
        <p:nvSpPr>
          <p:cNvPr id="7" name="handoff">
            <a:extLst xmlns:a="http://schemas.openxmlformats.org/drawingml/2006/main">
              <a:ext uri="{FF2B5EF4-FFF2-40B4-BE49-F238E27FC236}">
                <a16:creationId xmlns:a16="http://schemas.microsoft.com/office/drawing/2014/main" id="{DD850766-2343-4BF4-BAF8-057B63DFD726}"/>
              </a:ext>
            </a:extLst>
          </p:cNvPr>
          <p:cNvSpPr>
            <a:spLocks xmlns:a="http://schemas.openxmlformats.org/drawingml/2006/main" noGrp="1"/>
          </p:cNvSpPr>
          <p:nvPr/>
        </p:nvSpPr>
        <p:spPr>
          <a:xfrm xmlns:a="http://schemas.openxmlformats.org/drawingml/2006/main">
            <a:off x="704850" y="5334000"/>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2D63FF"/>
                </a:solidFill>
                <a:latin typeface="DejaVu Sans"/>
                <a:ea typeface="DejaVu Sans"/>
                <a:cs typeface="DejaVu Sans"/>
              </a:defRPr>
            </a:pPr>
            <a:r>
              <a:rPr sz="1875" b="0">
                <a:solidFill>
                  <a:srgbClr val="2D63FF"/>
                </a:solidFill>
                <a:latin typeface="DejaVu Sans"/>
                <a:ea typeface="DejaVu Sans"/>
                <a:cs typeface="DejaVu Sans"/>
              </a:rPr>
              <a:t>Near the end of the lesson, close the experience for the plenary knowledge check.</a:t>
            </a:r>
          </a:p>
        </p:txBody>
      </p:sp>
    </p:spTree>
    <p:extLst>
      <p:ext uri="{BB962C8B-B14F-4D97-AF65-F5344CB8AC3E}">
        <p14:creationId xmlns:p14="http://schemas.microsoft.com/office/powerpoint/2010/main" val="1779809242"/>
      </p:ext>
    </p:extLst>
  </p:cSld>
</p:sld>
</file>

<file path=ppt/slides/slide12.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topic">
            <a:extLst xmlns:a="http://schemas.openxmlformats.org/drawingml/2006/main">
              <a:ext uri="{FF2B5EF4-FFF2-40B4-BE49-F238E27FC236}">
                <a16:creationId xmlns:a16="http://schemas.microsoft.com/office/drawing/2014/main" id="{7BE29F04-8DCB-4C75-B018-DF43629C6894}"/>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CHECK</a:t>
            </a:r>
          </a:p>
        </p:txBody>
      </p:sp>
      <p:sp>
        <p:nvSpPr>
          <p:cNvPr id="2" name="heading">
            <a:extLst xmlns:a="http://schemas.openxmlformats.org/drawingml/2006/main">
              <a:ext uri="{FF2B5EF4-FFF2-40B4-BE49-F238E27FC236}">
                <a16:creationId xmlns:a16="http://schemas.microsoft.com/office/drawing/2014/main" id="{6A92E434-A16A-47D3-A66A-5DC725C49DCB}"/>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Application: sample answers</a:t>
            </a:r>
          </a:p>
        </p:txBody>
      </p:sp>
      <p:sp>
        <p:nvSpPr>
          <p:cNvPr id="3" name="footer">
            <a:extLst xmlns:a="http://schemas.openxmlformats.org/drawingml/2006/main">
              <a:ext uri="{FF2B5EF4-FFF2-40B4-BE49-F238E27FC236}">
                <a16:creationId xmlns:a16="http://schemas.microsoft.com/office/drawing/2014/main" id="{B4DED02B-1654-4435-B517-5B3AE35D43AE}"/>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325466D0-3B62-4CDC-9B15-BE08DF4991F1}"/>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12 / 20</a:t>
            </a:r>
          </a:p>
        </p:txBody>
      </p:sp>
      <p:sp>
        <p:nvSpPr>
          <p:cNvPr id="5" name="extension-check">
            <a:extLst xmlns:a="http://schemas.openxmlformats.org/drawingml/2006/main">
              <a:ext uri="{FF2B5EF4-FFF2-40B4-BE49-F238E27FC236}">
                <a16:creationId xmlns:a16="http://schemas.microsoft.com/office/drawing/2014/main" id="{D25031BD-F67D-4377-9E6A-7C838B57DBFB}"/>
              </a:ext>
            </a:extLst>
          </p:cNvPr>
          <p:cNvSpPr>
            <a:spLocks xmlns:a="http://schemas.openxmlformats.org/drawingml/2006/main" noGrp="1"/>
          </p:cNvSpPr>
          <p:nvPr/>
        </p:nvSpPr>
        <p:spPr>
          <a:xfrm xmlns:a="http://schemas.openxmlformats.org/drawingml/2006/main">
            <a:off x="704850" y="1533525"/>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reasoning, then improve one sentence on your worksheet.</a:t>
            </a:r>
          </a:p>
        </p:txBody>
      </p:sp>
      <p:sp>
        <p:nvSpPr>
          <p:cNvPr id="6" name="answer-application">
            <a:extLst xmlns:a="http://schemas.openxmlformats.org/drawingml/2006/main">
              <a:ext uri="{FF2B5EF4-FFF2-40B4-BE49-F238E27FC236}">
                <a16:creationId xmlns:a16="http://schemas.microsoft.com/office/drawing/2014/main" id="{0B0DB290-B7CB-4C96-87EB-E52FFA54A599}"/>
              </a:ext>
            </a:extLst>
          </p:cNvPr>
          <p:cNvSpPr>
            <a:spLocks xmlns:a="http://schemas.openxmlformats.org/drawingml/2006/main" noGrp="1"/>
          </p:cNvSpPr>
          <p:nvPr/>
        </p:nvSpPr>
        <p:spPr>
          <a:xfrm xmlns:a="http://schemas.openxmlformats.org/drawingml/2006/main">
            <a:off x="723900" y="23050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Application</a:t>
            </a:r>
          </a:p>
        </p:txBody>
      </p:sp>
      <p:sp>
        <p:nvSpPr>
          <p:cNvPr id="7" name="answer-application-body">
            <a:extLst xmlns:a="http://schemas.openxmlformats.org/drawingml/2006/main">
              <a:ext uri="{FF2B5EF4-FFF2-40B4-BE49-F238E27FC236}">
                <a16:creationId xmlns:a16="http://schemas.microsoft.com/office/drawing/2014/main" id="{3B88B8D5-C132-4138-8401-8F28567AD3AD}"/>
              </a:ext>
            </a:extLst>
          </p:cNvPr>
          <p:cNvSpPr>
            <a:spLocks xmlns:a="http://schemas.openxmlformats.org/drawingml/2006/main" noGrp="1"/>
          </p:cNvSpPr>
          <p:nvPr/>
        </p:nvSpPr>
        <p:spPr>
          <a:xfrm xmlns:a="http://schemas.openxmlformats.org/drawingml/2006/main">
            <a:off x="723900" y="2771775"/>
            <a:ext cx="104775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PC 120 goes to MAR; the instruction comes from RAM into MDR; the PC increments to 121. The CU decodes it and the ALU could carry out a calculation.</a:t>
            </a:r>
          </a:p>
        </p:txBody>
      </p:sp>
      <p:sp>
        <p:nvSpPr>
          <p:cNvPr id="8" name="answer-stretch">
            <a:extLst xmlns:a="http://schemas.openxmlformats.org/drawingml/2006/main">
              <a:ext uri="{FF2B5EF4-FFF2-40B4-BE49-F238E27FC236}">
                <a16:creationId xmlns:a16="http://schemas.microsoft.com/office/drawing/2014/main" id="{33CD9CEE-ED34-4F86-AE4F-965723FB1BC0}"/>
              </a:ext>
            </a:extLst>
          </p:cNvPr>
          <p:cNvSpPr>
            <a:spLocks xmlns:a="http://schemas.openxmlformats.org/drawingml/2006/main" noGrp="1"/>
          </p:cNvSpPr>
          <p:nvPr/>
        </p:nvSpPr>
        <p:spPr>
          <a:xfrm xmlns:a="http://schemas.openxmlformats.org/drawingml/2006/main">
            <a:off x="723900" y="43529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Check and stretch</a:t>
            </a:r>
          </a:p>
        </p:txBody>
      </p:sp>
      <p:sp>
        <p:nvSpPr>
          <p:cNvPr id="9" name="answer-stretch-body">
            <a:extLst xmlns:a="http://schemas.openxmlformats.org/drawingml/2006/main">
              <a:ext uri="{FF2B5EF4-FFF2-40B4-BE49-F238E27FC236}">
                <a16:creationId xmlns:a16="http://schemas.microsoft.com/office/drawing/2014/main" id="{9D5D68A7-D7A8-499F-BAA7-FC0C0699825C}"/>
              </a:ext>
            </a:extLst>
          </p:cNvPr>
          <p:cNvSpPr>
            <a:spLocks xmlns:a="http://schemas.openxmlformats.org/drawingml/2006/main" noGrp="1"/>
          </p:cNvSpPr>
          <p:nvPr/>
        </p:nvSpPr>
        <p:spPr>
          <a:xfrm xmlns:a="http://schemas.openxmlformats.org/drawingml/2006/main">
            <a:off x="723900" y="4810125"/>
            <a:ext cx="10477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The six steps appear on the final challenge answer slide. For a missed station, use the on-screen feedback to explain the correct term.</a:t>
            </a:r>
          </a:p>
        </p:txBody>
      </p:sp>
    </p:spTree>
    <p:extLst>
      <p:ext uri="{BB962C8B-B14F-4D97-AF65-F5344CB8AC3E}">
        <p14:creationId xmlns:p14="http://schemas.microsoft.com/office/powerpoint/2010/main" val="1223422640"/>
      </p:ext>
    </p:extLst>
  </p:cSld>
</p:sld>
</file>

<file path=ppt/slides/slide13.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2" name="topic">
            <a:extLst xmlns:a="http://schemas.openxmlformats.org/drawingml/2006/main">
              <a:ext uri="{FF2B5EF4-FFF2-40B4-BE49-F238E27FC236}">
                <a16:creationId xmlns:a16="http://schemas.microsoft.com/office/drawing/2014/main" id="{F229DF5B-F7AA-4338-85D1-51A220EA623E}"/>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ANSWERS</a:t>
            </a:r>
          </a:p>
        </p:txBody>
      </p:sp>
      <p:sp>
        <p:nvSpPr>
          <p:cNvPr id="2" name="heading">
            <a:extLst xmlns:a="http://schemas.openxmlformats.org/drawingml/2006/main">
              <a:ext uri="{FF2B5EF4-FFF2-40B4-BE49-F238E27FC236}">
                <a16:creationId xmlns:a16="http://schemas.microsoft.com/office/drawing/2014/main" id="{6A5B4D4B-AF5A-4763-A12B-8DF1738B43B0}"/>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After the experience: stations 1–3</a:t>
            </a:r>
          </a:p>
        </p:txBody>
      </p:sp>
      <p:sp>
        <p:nvSpPr>
          <p:cNvPr id="3" name="footer">
            <a:extLst xmlns:a="http://schemas.openxmlformats.org/drawingml/2006/main">
              <a:ext uri="{FF2B5EF4-FFF2-40B4-BE49-F238E27FC236}">
                <a16:creationId xmlns:a16="http://schemas.microsoft.com/office/drawing/2014/main" id="{2220A891-4A9D-43ED-AEF5-97078D03F483}"/>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1B8D3BC2-A78A-4C20-A7E3-A5270A791A98}"/>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13 / 20</a:t>
            </a:r>
          </a:p>
        </p:txBody>
      </p:sp>
      <p:sp>
        <p:nvSpPr>
          <p:cNvPr id="5" name="check-stations">
            <a:extLst xmlns:a="http://schemas.openxmlformats.org/drawingml/2006/main">
              <a:ext uri="{FF2B5EF4-FFF2-40B4-BE49-F238E27FC236}">
                <a16:creationId xmlns:a16="http://schemas.microsoft.com/office/drawing/2014/main" id="{8728258B-C734-4576-9529-1003587758AA}"/>
              </a:ext>
            </a:extLst>
          </p:cNvPr>
          <p:cNvSpPr>
            <a:spLocks xmlns:a="http://schemas.openxmlformats.org/drawingml/2006/main" noGrp="1"/>
          </p:cNvSpPr>
          <p:nvPr/>
        </p:nvSpPr>
        <p:spPr>
          <a:xfrm xmlns:a="http://schemas.openxmlformats.org/drawingml/2006/main">
            <a:off x="704850" y="15430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Close the experience. Check your key facts and challenge responses.</a:t>
            </a:r>
          </a:p>
        </p:txBody>
      </p:sp>
      <p:sp>
        <p:nvSpPr>
          <p:cNvPr id="6" name="station-name-0">
            <a:extLst xmlns:a="http://schemas.openxmlformats.org/drawingml/2006/main">
              <a:ext uri="{FF2B5EF4-FFF2-40B4-BE49-F238E27FC236}">
                <a16:creationId xmlns:a16="http://schemas.microsoft.com/office/drawing/2014/main" id="{322C8539-3B08-4D2B-9C8D-A17EBE49F56F}"/>
              </a:ext>
            </a:extLst>
          </p:cNvPr>
          <p:cNvSpPr>
            <a:spLocks xmlns:a="http://schemas.openxmlformats.org/drawingml/2006/main" noGrp="1"/>
          </p:cNvSpPr>
          <p:nvPr/>
        </p:nvSpPr>
        <p:spPr>
          <a:xfrm xmlns:a="http://schemas.openxmlformats.org/drawingml/2006/main">
            <a:off x="723900" y="22098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1  Purpose of the CPU</a:t>
            </a:r>
          </a:p>
        </p:txBody>
      </p:sp>
      <p:sp>
        <p:nvSpPr>
          <p:cNvPr id="7" name="station-answer-0">
            <a:extLst xmlns:a="http://schemas.openxmlformats.org/drawingml/2006/main">
              <a:ext uri="{FF2B5EF4-FFF2-40B4-BE49-F238E27FC236}">
                <a16:creationId xmlns:a16="http://schemas.microsoft.com/office/drawing/2014/main" id="{7F9179E1-3A9F-4BCD-8115-6A198C7F6852}"/>
              </a:ext>
            </a:extLst>
          </p:cNvPr>
          <p:cNvSpPr>
            <a:spLocks xmlns:a="http://schemas.openxmlformats.org/drawingml/2006/main" noGrp="1"/>
          </p:cNvSpPr>
          <p:nvPr/>
        </p:nvSpPr>
        <p:spPr>
          <a:xfrm xmlns:a="http://schemas.openxmlformats.org/drawingml/2006/main">
            <a:off x="723900" y="26384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The CPU processes data and instructions by fetching, decoding and executing them.</a:t>
            </a:r>
          </a:p>
        </p:txBody>
      </p:sp>
      <p:sp>
        <p:nvSpPr>
          <p:cNvPr id="8" name="station-name-1">
            <a:extLst xmlns:a="http://schemas.openxmlformats.org/drawingml/2006/main">
              <a:ext uri="{FF2B5EF4-FFF2-40B4-BE49-F238E27FC236}">
                <a16:creationId xmlns:a16="http://schemas.microsoft.com/office/drawing/2014/main" id="{BE002985-A892-426C-9711-0A7E0515A2D7}"/>
              </a:ext>
            </a:extLst>
          </p:cNvPr>
          <p:cNvSpPr>
            <a:spLocks xmlns:a="http://schemas.openxmlformats.org/drawingml/2006/main" noGrp="1"/>
          </p:cNvSpPr>
          <p:nvPr/>
        </p:nvSpPr>
        <p:spPr>
          <a:xfrm xmlns:a="http://schemas.openxmlformats.org/drawingml/2006/main">
            <a:off x="723900" y="353377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2  Stage 1: Fetch</a:t>
            </a:r>
          </a:p>
        </p:txBody>
      </p:sp>
      <p:sp>
        <p:nvSpPr>
          <p:cNvPr id="9" name="station-answer-1">
            <a:extLst xmlns:a="http://schemas.openxmlformats.org/drawingml/2006/main">
              <a:ext uri="{FF2B5EF4-FFF2-40B4-BE49-F238E27FC236}">
                <a16:creationId xmlns:a16="http://schemas.microsoft.com/office/drawing/2014/main" id="{330D8AA9-3F3B-4814-A459-C1900EF5C515}"/>
              </a:ext>
            </a:extLst>
          </p:cNvPr>
          <p:cNvSpPr>
            <a:spLocks xmlns:a="http://schemas.openxmlformats.org/drawingml/2006/main" noGrp="1"/>
          </p:cNvSpPr>
          <p:nvPr/>
        </p:nvSpPr>
        <p:spPr>
          <a:xfrm xmlns:a="http://schemas.openxmlformats.org/drawingml/2006/main">
            <a:off x="723900" y="39624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The PC holds the next instruction address. That address goes into the MAR, then the PC increments.</a:t>
            </a:r>
          </a:p>
        </p:txBody>
      </p:sp>
      <p:sp>
        <p:nvSpPr>
          <p:cNvPr id="10" name="station-name-2">
            <a:extLst xmlns:a="http://schemas.openxmlformats.org/drawingml/2006/main">
              <a:ext uri="{FF2B5EF4-FFF2-40B4-BE49-F238E27FC236}">
                <a16:creationId xmlns:a16="http://schemas.microsoft.com/office/drawing/2014/main" id="{D775DDBC-29F5-44F1-BA2C-E6FFFF68AA3E}"/>
              </a:ext>
            </a:extLst>
          </p:cNvPr>
          <p:cNvSpPr>
            <a:spLocks xmlns:a="http://schemas.openxmlformats.org/drawingml/2006/main" noGrp="1"/>
          </p:cNvSpPr>
          <p:nvPr/>
        </p:nvSpPr>
        <p:spPr>
          <a:xfrm xmlns:a="http://schemas.openxmlformats.org/drawingml/2006/main">
            <a:off x="723900" y="4857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3  Stage 2: Decode</a:t>
            </a:r>
          </a:p>
        </p:txBody>
      </p:sp>
      <p:sp>
        <p:nvSpPr>
          <p:cNvPr id="11" name="station-answer-2">
            <a:extLst xmlns:a="http://schemas.openxmlformats.org/drawingml/2006/main">
              <a:ext uri="{FF2B5EF4-FFF2-40B4-BE49-F238E27FC236}">
                <a16:creationId xmlns:a16="http://schemas.microsoft.com/office/drawing/2014/main" id="{7F0051BD-2269-495F-9EE6-3BF92C039BF3}"/>
              </a:ext>
            </a:extLst>
          </p:cNvPr>
          <p:cNvSpPr>
            <a:spLocks xmlns:a="http://schemas.openxmlformats.org/drawingml/2006/main" noGrp="1"/>
          </p:cNvSpPr>
          <p:nvPr/>
        </p:nvSpPr>
        <p:spPr>
          <a:xfrm xmlns:a="http://schemas.openxmlformats.org/drawingml/2006/main">
            <a:off x="723900" y="528637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The control unit decodes the instruction: it works out what it means and what must happen.</a:t>
            </a:r>
          </a:p>
        </p:txBody>
      </p:sp>
    </p:spTree>
    <p:extLst>
      <p:ext uri="{BB962C8B-B14F-4D97-AF65-F5344CB8AC3E}">
        <p14:creationId xmlns:p14="http://schemas.microsoft.com/office/powerpoint/2010/main" val="439367537"/>
      </p:ext>
    </p:extLst>
  </p:cSld>
</p:sld>
</file>

<file path=ppt/slides/slide14.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2" name="topic">
            <a:extLst xmlns:a="http://schemas.openxmlformats.org/drawingml/2006/main">
              <a:ext uri="{FF2B5EF4-FFF2-40B4-BE49-F238E27FC236}">
                <a16:creationId xmlns:a16="http://schemas.microsoft.com/office/drawing/2014/main" id="{147F05C4-C084-4442-ACC2-4173BAC5EEAC}"/>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ANSWERS</a:t>
            </a:r>
          </a:p>
        </p:txBody>
      </p:sp>
      <p:sp>
        <p:nvSpPr>
          <p:cNvPr id="2" name="heading">
            <a:extLst xmlns:a="http://schemas.openxmlformats.org/drawingml/2006/main">
              <a:ext uri="{FF2B5EF4-FFF2-40B4-BE49-F238E27FC236}">
                <a16:creationId xmlns:a16="http://schemas.microsoft.com/office/drawing/2014/main" id="{1636DE75-B89A-44D9-A1EE-EEA1CECE5407}"/>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After the experience: stations 4–6</a:t>
            </a:r>
          </a:p>
        </p:txBody>
      </p:sp>
      <p:sp>
        <p:nvSpPr>
          <p:cNvPr id="3" name="footer">
            <a:extLst xmlns:a="http://schemas.openxmlformats.org/drawingml/2006/main">
              <a:ext uri="{FF2B5EF4-FFF2-40B4-BE49-F238E27FC236}">
                <a16:creationId xmlns:a16="http://schemas.microsoft.com/office/drawing/2014/main" id="{810C340D-CA5F-44CC-93EC-8AFB297D1A2E}"/>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A219F2FB-538E-4034-85CA-05410279D51F}"/>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14 / 20</a:t>
            </a:r>
          </a:p>
        </p:txBody>
      </p:sp>
      <p:sp>
        <p:nvSpPr>
          <p:cNvPr id="5" name="check-stations">
            <a:extLst xmlns:a="http://schemas.openxmlformats.org/drawingml/2006/main">
              <a:ext uri="{FF2B5EF4-FFF2-40B4-BE49-F238E27FC236}">
                <a16:creationId xmlns:a16="http://schemas.microsoft.com/office/drawing/2014/main" id="{4F5ADB70-7F02-4380-ABBD-EF3090D4BD59}"/>
              </a:ext>
            </a:extLst>
          </p:cNvPr>
          <p:cNvSpPr>
            <a:spLocks xmlns:a="http://schemas.openxmlformats.org/drawingml/2006/main" noGrp="1"/>
          </p:cNvSpPr>
          <p:nvPr/>
        </p:nvSpPr>
        <p:spPr>
          <a:xfrm xmlns:a="http://schemas.openxmlformats.org/drawingml/2006/main">
            <a:off x="704850" y="15430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Continue checking the station notes on your worksheet.</a:t>
            </a:r>
          </a:p>
        </p:txBody>
      </p:sp>
      <p:sp>
        <p:nvSpPr>
          <p:cNvPr id="6" name="station-name-3">
            <a:extLst xmlns:a="http://schemas.openxmlformats.org/drawingml/2006/main">
              <a:ext uri="{FF2B5EF4-FFF2-40B4-BE49-F238E27FC236}">
                <a16:creationId xmlns:a16="http://schemas.microsoft.com/office/drawing/2014/main" id="{69F27787-AE86-44A8-BFAE-ACA17A8A8DF3}"/>
              </a:ext>
            </a:extLst>
          </p:cNvPr>
          <p:cNvSpPr>
            <a:spLocks xmlns:a="http://schemas.openxmlformats.org/drawingml/2006/main" noGrp="1"/>
          </p:cNvSpPr>
          <p:nvPr/>
        </p:nvSpPr>
        <p:spPr>
          <a:xfrm xmlns:a="http://schemas.openxmlformats.org/drawingml/2006/main">
            <a:off x="723900" y="22098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4  Stage 3: Execute</a:t>
            </a:r>
          </a:p>
        </p:txBody>
      </p:sp>
      <p:sp>
        <p:nvSpPr>
          <p:cNvPr id="7" name="station-answer-3">
            <a:extLst xmlns:a="http://schemas.openxmlformats.org/drawingml/2006/main">
              <a:ext uri="{FF2B5EF4-FFF2-40B4-BE49-F238E27FC236}">
                <a16:creationId xmlns:a16="http://schemas.microsoft.com/office/drawing/2014/main" id="{43A6CBBF-847A-454A-913F-22474F8C99B9}"/>
              </a:ext>
            </a:extLst>
          </p:cNvPr>
          <p:cNvSpPr>
            <a:spLocks xmlns:a="http://schemas.openxmlformats.org/drawingml/2006/main" noGrp="1"/>
          </p:cNvSpPr>
          <p:nvPr/>
        </p:nvSpPr>
        <p:spPr>
          <a:xfrm xmlns:a="http://schemas.openxmlformats.org/drawingml/2006/main">
            <a:off x="723900" y="26384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The CPU may load data, use the ALU for a calculation, jump, or store a result in RAM.</a:t>
            </a:r>
          </a:p>
        </p:txBody>
      </p:sp>
      <p:sp>
        <p:nvSpPr>
          <p:cNvPr id="8" name="station-name-4">
            <a:extLst xmlns:a="http://schemas.openxmlformats.org/drawingml/2006/main">
              <a:ext uri="{FF2B5EF4-FFF2-40B4-BE49-F238E27FC236}">
                <a16:creationId xmlns:a16="http://schemas.microsoft.com/office/drawing/2014/main" id="{93486925-13D5-4ACB-8CA4-BE0B64BC8FFD}"/>
              </a:ext>
            </a:extLst>
          </p:cNvPr>
          <p:cNvSpPr>
            <a:spLocks xmlns:a="http://schemas.openxmlformats.org/drawingml/2006/main" noGrp="1"/>
          </p:cNvSpPr>
          <p:nvPr/>
        </p:nvSpPr>
        <p:spPr>
          <a:xfrm xmlns:a="http://schemas.openxmlformats.org/drawingml/2006/main">
            <a:off x="723900" y="353377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5  The registers</a:t>
            </a:r>
          </a:p>
        </p:txBody>
      </p:sp>
      <p:sp>
        <p:nvSpPr>
          <p:cNvPr id="9" name="station-answer-4">
            <a:extLst xmlns:a="http://schemas.openxmlformats.org/drawingml/2006/main">
              <a:ext uri="{FF2B5EF4-FFF2-40B4-BE49-F238E27FC236}">
                <a16:creationId xmlns:a16="http://schemas.microsoft.com/office/drawing/2014/main" id="{2BB95ED4-FF57-46E9-AA4D-849F62345231}"/>
              </a:ext>
            </a:extLst>
          </p:cNvPr>
          <p:cNvSpPr>
            <a:spLocks xmlns:a="http://schemas.openxmlformats.org/drawingml/2006/main" noGrp="1"/>
          </p:cNvSpPr>
          <p:nvPr/>
        </p:nvSpPr>
        <p:spPr>
          <a:xfrm xmlns:a="http://schemas.openxmlformats.org/drawingml/2006/main">
            <a:off x="723900" y="39624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PC: next address. MAR: memory address. MDR: data moving to or from memory. ACC: calculation result.</a:t>
            </a:r>
          </a:p>
        </p:txBody>
      </p:sp>
      <p:sp>
        <p:nvSpPr>
          <p:cNvPr id="10" name="station-name-5">
            <a:extLst xmlns:a="http://schemas.openxmlformats.org/drawingml/2006/main">
              <a:ext uri="{FF2B5EF4-FFF2-40B4-BE49-F238E27FC236}">
                <a16:creationId xmlns:a16="http://schemas.microsoft.com/office/drawing/2014/main" id="{682BAB57-D483-447C-A6AE-03AC1601338A}"/>
              </a:ext>
            </a:extLst>
          </p:cNvPr>
          <p:cNvSpPr>
            <a:spLocks xmlns:a="http://schemas.openxmlformats.org/drawingml/2006/main" noGrp="1"/>
          </p:cNvSpPr>
          <p:nvPr/>
        </p:nvSpPr>
        <p:spPr>
          <a:xfrm xmlns:a="http://schemas.openxmlformats.org/drawingml/2006/main">
            <a:off x="723900" y="4857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6  Other CPU components</a:t>
            </a:r>
          </a:p>
        </p:txBody>
      </p:sp>
      <p:sp>
        <p:nvSpPr>
          <p:cNvPr id="11" name="station-answer-5">
            <a:extLst xmlns:a="http://schemas.openxmlformats.org/drawingml/2006/main">
              <a:ext uri="{FF2B5EF4-FFF2-40B4-BE49-F238E27FC236}">
                <a16:creationId xmlns:a16="http://schemas.microsoft.com/office/drawing/2014/main" id="{02A383CA-55D9-42CD-8EEE-7E1BD69E3A09}"/>
              </a:ext>
            </a:extLst>
          </p:cNvPr>
          <p:cNvSpPr>
            <a:spLocks xmlns:a="http://schemas.openxmlformats.org/drawingml/2006/main" noGrp="1"/>
          </p:cNvSpPr>
          <p:nvPr/>
        </p:nvSpPr>
        <p:spPr>
          <a:xfrm xmlns:a="http://schemas.openxmlformats.org/drawingml/2006/main">
            <a:off x="723900" y="528637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ALU calculates and makes logical decisions; CU decodes and controls; cache keeps frequently used data near the CPU.</a:t>
            </a:r>
          </a:p>
        </p:txBody>
      </p:sp>
    </p:spTree>
    <p:extLst>
      <p:ext uri="{BB962C8B-B14F-4D97-AF65-F5344CB8AC3E}">
        <p14:creationId xmlns:p14="http://schemas.microsoft.com/office/powerpoint/2010/main" val="1251455536"/>
      </p:ext>
    </p:extLst>
  </p:cSld>
</p:sld>
</file>

<file path=ppt/slides/slide15.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8" name="topic">
            <a:extLst xmlns:a="http://schemas.openxmlformats.org/drawingml/2006/main">
              <a:ext uri="{FF2B5EF4-FFF2-40B4-BE49-F238E27FC236}">
                <a16:creationId xmlns:a16="http://schemas.microsoft.com/office/drawing/2014/main" id="{D4C0DC17-ADB2-48D4-BFF2-E83744F8586D}"/>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CHECK</a:t>
            </a:r>
          </a:p>
        </p:txBody>
      </p:sp>
      <p:sp>
        <p:nvSpPr>
          <p:cNvPr id="2" name="heading">
            <a:extLst xmlns:a="http://schemas.openxmlformats.org/drawingml/2006/main">
              <a:ext uri="{FF2B5EF4-FFF2-40B4-BE49-F238E27FC236}">
                <a16:creationId xmlns:a16="http://schemas.microsoft.com/office/drawing/2014/main" id="{B7A2D056-15E7-4968-954A-9FD4F53D3B9F}"/>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Final challenge: answers</a:t>
            </a:r>
          </a:p>
        </p:txBody>
      </p:sp>
      <p:sp>
        <p:nvSpPr>
          <p:cNvPr id="3" name="footer">
            <a:extLst xmlns:a="http://schemas.openxmlformats.org/drawingml/2006/main">
              <a:ext uri="{FF2B5EF4-FFF2-40B4-BE49-F238E27FC236}">
                <a16:creationId xmlns:a16="http://schemas.microsoft.com/office/drawing/2014/main" id="{AA256596-3A6A-498F-84E8-569ECD36331E}"/>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3904D8D1-9955-4A01-B272-48D2B51D140E}"/>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15 / 20</a:t>
            </a:r>
          </a:p>
        </p:txBody>
      </p:sp>
      <p:sp>
        <p:nvSpPr>
          <p:cNvPr id="5" name="star-key">
            <a:extLst xmlns:a="http://schemas.openxmlformats.org/drawingml/2006/main">
              <a:ext uri="{FF2B5EF4-FFF2-40B4-BE49-F238E27FC236}">
                <a16:creationId xmlns:a16="http://schemas.microsoft.com/office/drawing/2014/main" id="{A61D5CC8-A396-43E2-A47E-3B55C52A86AD}"/>
              </a:ext>
            </a:extLst>
          </p:cNvPr>
          <p:cNvSpPr>
            <a:spLocks xmlns:a="http://schemas.openxmlformats.org/drawingml/2006/main" noGrp="1"/>
          </p:cNvSpPr>
          <p:nvPr/>
        </p:nvSpPr>
        <p:spPr>
          <a:xfrm xmlns:a="http://schemas.openxmlformats.org/drawingml/2006/main">
            <a:off x="704850" y="15240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star challenge table with the answers below.</a:t>
            </a:r>
          </a:p>
        </p:txBody>
      </p:sp>
      <p:sp>
        <p:nvSpPr>
          <p:cNvPr id="6" name="number-1">
            <a:extLst xmlns:a="http://schemas.openxmlformats.org/drawingml/2006/main">
              <a:ext uri="{FF2B5EF4-FFF2-40B4-BE49-F238E27FC236}">
                <a16:creationId xmlns:a16="http://schemas.microsoft.com/office/drawing/2014/main" id="{0FCF1761-20A9-44B5-8118-A67C738AD7E0}"/>
              </a:ext>
            </a:extLst>
          </p:cNvPr>
          <p:cNvSpPr>
            <a:spLocks xmlns:a="http://schemas.openxmlformats.org/drawingml/2006/main" noGrp="1"/>
          </p:cNvSpPr>
          <p:nvPr/>
        </p:nvSpPr>
        <p:spPr>
          <a:xfrm xmlns:a="http://schemas.openxmlformats.org/drawingml/2006/main">
            <a:off x="723900" y="21050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868E7FA0-BD27-4CF4-BBFA-07F7FD04BDEB}"/>
              </a:ext>
            </a:extLst>
          </p:cNvPr>
          <p:cNvSpPr>
            <a:spLocks xmlns:a="http://schemas.openxmlformats.org/drawingml/2006/main" noGrp="1"/>
          </p:cNvSpPr>
          <p:nvPr/>
        </p:nvSpPr>
        <p:spPr>
          <a:xfrm xmlns:a="http://schemas.openxmlformats.org/drawingml/2006/main">
            <a:off x="1352550" y="2105025"/>
            <a:ext cx="9925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PC holds the address of the next instruction</a:t>
            </a:r>
          </a:p>
        </p:txBody>
      </p:sp>
      <p:sp>
        <p:nvSpPr>
          <p:cNvPr id="8" name="number-2">
            <a:extLst xmlns:a="http://schemas.openxmlformats.org/drawingml/2006/main">
              <a:ext uri="{FF2B5EF4-FFF2-40B4-BE49-F238E27FC236}">
                <a16:creationId xmlns:a16="http://schemas.microsoft.com/office/drawing/2014/main" id="{B2D5899A-97A8-460E-81C8-948957F92460}"/>
              </a:ext>
            </a:extLst>
          </p:cNvPr>
          <p:cNvSpPr>
            <a:spLocks xmlns:a="http://schemas.openxmlformats.org/drawingml/2006/main" noGrp="1"/>
          </p:cNvSpPr>
          <p:nvPr/>
        </p:nvSpPr>
        <p:spPr>
          <a:xfrm xmlns:a="http://schemas.openxmlformats.org/drawingml/2006/main">
            <a:off x="723900" y="27432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00614A7F-D45E-4FEB-8958-B47AA0F5FCE2}"/>
              </a:ext>
            </a:extLst>
          </p:cNvPr>
          <p:cNvSpPr>
            <a:spLocks xmlns:a="http://schemas.openxmlformats.org/drawingml/2006/main" noGrp="1"/>
          </p:cNvSpPr>
          <p:nvPr/>
        </p:nvSpPr>
        <p:spPr>
          <a:xfrm xmlns:a="http://schemas.openxmlformats.org/drawingml/2006/main">
            <a:off x="1352550" y="2743200"/>
            <a:ext cx="9925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Address copied into MAR</a:t>
            </a:r>
          </a:p>
        </p:txBody>
      </p:sp>
      <p:sp>
        <p:nvSpPr>
          <p:cNvPr id="10" name="number-3">
            <a:extLst xmlns:a="http://schemas.openxmlformats.org/drawingml/2006/main">
              <a:ext uri="{FF2B5EF4-FFF2-40B4-BE49-F238E27FC236}">
                <a16:creationId xmlns:a16="http://schemas.microsoft.com/office/drawing/2014/main" id="{72875AB4-2203-4A3B-8131-2F8CC32A6B52}"/>
              </a:ext>
            </a:extLst>
          </p:cNvPr>
          <p:cNvSpPr>
            <a:spLocks xmlns:a="http://schemas.openxmlformats.org/drawingml/2006/main" noGrp="1"/>
          </p:cNvSpPr>
          <p:nvPr/>
        </p:nvSpPr>
        <p:spPr>
          <a:xfrm xmlns:a="http://schemas.openxmlformats.org/drawingml/2006/main">
            <a:off x="723900" y="33813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3.</a:t>
            </a:r>
          </a:p>
        </p:txBody>
      </p:sp>
      <p:sp>
        <p:nvSpPr>
          <p:cNvPr id="11" name="item-3">
            <a:extLst xmlns:a="http://schemas.openxmlformats.org/drawingml/2006/main">
              <a:ext uri="{FF2B5EF4-FFF2-40B4-BE49-F238E27FC236}">
                <a16:creationId xmlns:a16="http://schemas.microsoft.com/office/drawing/2014/main" id="{B57D72B5-7217-4110-8FBF-1F41C19CE785}"/>
              </a:ext>
            </a:extLst>
          </p:cNvPr>
          <p:cNvSpPr>
            <a:spLocks xmlns:a="http://schemas.openxmlformats.org/drawingml/2006/main" noGrp="1"/>
          </p:cNvSpPr>
          <p:nvPr/>
        </p:nvSpPr>
        <p:spPr>
          <a:xfrm xmlns:a="http://schemas.openxmlformats.org/drawingml/2006/main">
            <a:off x="1352550" y="3381375"/>
            <a:ext cx="9925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Instruction fetched from RAM into MDR</a:t>
            </a:r>
          </a:p>
        </p:txBody>
      </p:sp>
      <p:sp>
        <p:nvSpPr>
          <p:cNvPr id="12" name="number-4">
            <a:extLst xmlns:a="http://schemas.openxmlformats.org/drawingml/2006/main">
              <a:ext uri="{FF2B5EF4-FFF2-40B4-BE49-F238E27FC236}">
                <a16:creationId xmlns:a16="http://schemas.microsoft.com/office/drawing/2014/main" id="{84358C07-435C-4ED3-87FD-81FC8D9F4C9E}"/>
              </a:ext>
            </a:extLst>
          </p:cNvPr>
          <p:cNvSpPr>
            <a:spLocks xmlns:a="http://schemas.openxmlformats.org/drawingml/2006/main" noGrp="1"/>
          </p:cNvSpPr>
          <p:nvPr/>
        </p:nvSpPr>
        <p:spPr>
          <a:xfrm xmlns:a="http://schemas.openxmlformats.org/drawingml/2006/main">
            <a:off x="723900" y="40195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4.</a:t>
            </a:r>
          </a:p>
        </p:txBody>
      </p:sp>
      <p:sp>
        <p:nvSpPr>
          <p:cNvPr id="13" name="item-4">
            <a:extLst xmlns:a="http://schemas.openxmlformats.org/drawingml/2006/main">
              <a:ext uri="{FF2B5EF4-FFF2-40B4-BE49-F238E27FC236}">
                <a16:creationId xmlns:a16="http://schemas.microsoft.com/office/drawing/2014/main" id="{A83E1B1F-7AA0-4197-92E3-D6818C1DED60}"/>
              </a:ext>
            </a:extLst>
          </p:cNvPr>
          <p:cNvSpPr>
            <a:spLocks xmlns:a="http://schemas.openxmlformats.org/drawingml/2006/main" noGrp="1"/>
          </p:cNvSpPr>
          <p:nvPr/>
        </p:nvSpPr>
        <p:spPr>
          <a:xfrm xmlns:a="http://schemas.openxmlformats.org/drawingml/2006/main">
            <a:off x="1352550" y="4019550"/>
            <a:ext cx="9925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PC increments</a:t>
            </a:r>
          </a:p>
        </p:txBody>
      </p:sp>
      <p:sp>
        <p:nvSpPr>
          <p:cNvPr id="14" name="number-5">
            <a:extLst xmlns:a="http://schemas.openxmlformats.org/drawingml/2006/main">
              <a:ext uri="{FF2B5EF4-FFF2-40B4-BE49-F238E27FC236}">
                <a16:creationId xmlns:a16="http://schemas.microsoft.com/office/drawing/2014/main" id="{AF11340A-E9B2-4DB8-AD8C-FB04FF10E066}"/>
              </a:ext>
            </a:extLst>
          </p:cNvPr>
          <p:cNvSpPr>
            <a:spLocks xmlns:a="http://schemas.openxmlformats.org/drawingml/2006/main" noGrp="1"/>
          </p:cNvSpPr>
          <p:nvPr/>
        </p:nvSpPr>
        <p:spPr>
          <a:xfrm xmlns:a="http://schemas.openxmlformats.org/drawingml/2006/main">
            <a:off x="723900" y="46577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5.</a:t>
            </a:r>
          </a:p>
        </p:txBody>
      </p:sp>
      <p:sp>
        <p:nvSpPr>
          <p:cNvPr id="15" name="item-5">
            <a:extLst xmlns:a="http://schemas.openxmlformats.org/drawingml/2006/main">
              <a:ext uri="{FF2B5EF4-FFF2-40B4-BE49-F238E27FC236}">
                <a16:creationId xmlns:a16="http://schemas.microsoft.com/office/drawing/2014/main" id="{4CB339B1-D9C9-4DF7-BA3F-0C464620E690}"/>
              </a:ext>
            </a:extLst>
          </p:cNvPr>
          <p:cNvSpPr>
            <a:spLocks xmlns:a="http://schemas.openxmlformats.org/drawingml/2006/main" noGrp="1"/>
          </p:cNvSpPr>
          <p:nvPr/>
        </p:nvSpPr>
        <p:spPr>
          <a:xfrm xmlns:a="http://schemas.openxmlformats.org/drawingml/2006/main">
            <a:off x="1352550" y="4657725"/>
            <a:ext cx="9925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Control unit decodes the instruction</a:t>
            </a:r>
          </a:p>
        </p:txBody>
      </p:sp>
      <p:sp>
        <p:nvSpPr>
          <p:cNvPr id="16" name="number-6">
            <a:extLst xmlns:a="http://schemas.openxmlformats.org/drawingml/2006/main">
              <a:ext uri="{FF2B5EF4-FFF2-40B4-BE49-F238E27FC236}">
                <a16:creationId xmlns:a16="http://schemas.microsoft.com/office/drawing/2014/main" id="{97C97064-C5C6-4111-8021-ADBD13358B53}"/>
              </a:ext>
            </a:extLst>
          </p:cNvPr>
          <p:cNvSpPr>
            <a:spLocks xmlns:a="http://schemas.openxmlformats.org/drawingml/2006/main" noGrp="1"/>
          </p:cNvSpPr>
          <p:nvPr/>
        </p:nvSpPr>
        <p:spPr>
          <a:xfrm xmlns:a="http://schemas.openxmlformats.org/drawingml/2006/main">
            <a:off x="723900" y="52959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6.</a:t>
            </a:r>
          </a:p>
        </p:txBody>
      </p:sp>
      <p:sp>
        <p:nvSpPr>
          <p:cNvPr id="17" name="item-6">
            <a:extLst xmlns:a="http://schemas.openxmlformats.org/drawingml/2006/main">
              <a:ext uri="{FF2B5EF4-FFF2-40B4-BE49-F238E27FC236}">
                <a16:creationId xmlns:a16="http://schemas.microsoft.com/office/drawing/2014/main" id="{6AD8F504-DBB9-41BC-B6AE-E1770AFD9AF7}"/>
              </a:ext>
            </a:extLst>
          </p:cNvPr>
          <p:cNvSpPr>
            <a:spLocks xmlns:a="http://schemas.openxmlformats.org/drawingml/2006/main" noGrp="1"/>
          </p:cNvSpPr>
          <p:nvPr/>
        </p:nvSpPr>
        <p:spPr>
          <a:xfrm xmlns:a="http://schemas.openxmlformats.org/drawingml/2006/main">
            <a:off x="1352550" y="5295900"/>
            <a:ext cx="9925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Instruction is executed</a:t>
            </a:r>
          </a:p>
        </p:txBody>
      </p:sp>
    </p:spTree>
    <p:extLst>
      <p:ext uri="{BB962C8B-B14F-4D97-AF65-F5344CB8AC3E}">
        <p14:creationId xmlns:p14="http://schemas.microsoft.com/office/powerpoint/2010/main" val="19821637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opic">
            <a:extLst xmlns:a="http://schemas.openxmlformats.org/drawingml/2006/main">
              <a:ext uri="{FF2B5EF4-FFF2-40B4-BE49-F238E27FC236}">
                <a16:creationId xmlns:a16="http://schemas.microsoft.com/office/drawing/2014/main" id="{E1887C0F-F4B7-491F-B6F2-D4DFF39ADB9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PLENARY</a:t>
            </a:r>
          </a:p>
        </p:txBody>
      </p:sp>
      <p:sp>
        <p:nvSpPr>
          <p:cNvPr id="2" name="heading">
            <a:extLst xmlns:a="http://schemas.openxmlformats.org/drawingml/2006/main">
              <a:ext uri="{FF2B5EF4-FFF2-40B4-BE49-F238E27FC236}">
                <a16:creationId xmlns:a16="http://schemas.microsoft.com/office/drawing/2014/main" id="{A5CDAE17-29B5-47BC-9293-99C75ECC0ED5}"/>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questions (a–b)</a:t>
            </a:r>
          </a:p>
        </p:txBody>
      </p:sp>
      <p:sp>
        <p:nvSpPr>
          <p:cNvPr id="3" name="footer">
            <a:extLst xmlns:a="http://schemas.openxmlformats.org/drawingml/2006/main">
              <a:ext uri="{FF2B5EF4-FFF2-40B4-BE49-F238E27FC236}">
                <a16:creationId xmlns:a16="http://schemas.microsoft.com/office/drawing/2014/main" id="{9CE6C814-0FF3-4382-BD32-3F4713424F5F}"/>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503002A4-D1DC-466C-8E38-D6DE2243CC83}"/>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16 / 20</a:t>
            </a:r>
          </a:p>
        </p:txBody>
      </p:sp>
      <p:sp>
        <p:nvSpPr>
          <p:cNvPr id="5" name="plenary-instruction">
            <a:extLst xmlns:a="http://schemas.openxmlformats.org/drawingml/2006/main">
              <a:ext uri="{FF2B5EF4-FFF2-40B4-BE49-F238E27FC236}">
                <a16:creationId xmlns:a16="http://schemas.microsoft.com/office/drawing/2014/main" id="{5FA5A000-F8CE-451B-8468-6449EECF348A}"/>
              </a:ext>
            </a:extLst>
          </p:cNvPr>
          <p:cNvSpPr>
            <a:spLocks xmlns:a="http://schemas.openxmlformats.org/drawingml/2006/main" noGrp="1"/>
          </p:cNvSpPr>
          <p:nvPr/>
        </p:nvSpPr>
        <p:spPr>
          <a:xfrm xmlns:a="http://schemas.openxmlformats.org/drawingml/2006/main">
            <a:off x="704850" y="1562100"/>
            <a:ext cx="1071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Take the headset off or close the page. Answer from memory on the worksheet.</a:t>
            </a:r>
          </a:p>
        </p:txBody>
      </p:sp>
      <p:sp>
        <p:nvSpPr>
          <p:cNvPr id="6" name="a">
            <a:extLst xmlns:a="http://schemas.openxmlformats.org/drawingml/2006/main">
              <a:ext uri="{FF2B5EF4-FFF2-40B4-BE49-F238E27FC236}">
                <a16:creationId xmlns:a16="http://schemas.microsoft.com/office/drawing/2014/main" id="{81316D5C-0B96-42A5-8431-E6F006A2DA15}"/>
              </a:ext>
            </a:extLst>
          </p:cNvPr>
          <p:cNvSpPr>
            <a:spLocks xmlns:a="http://schemas.openxmlformats.org/drawingml/2006/main" noGrp="1"/>
          </p:cNvSpPr>
          <p:nvPr/>
        </p:nvSpPr>
        <p:spPr>
          <a:xfrm xmlns:a="http://schemas.openxmlformats.org/drawingml/2006/main">
            <a:off x="733425" y="25812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a)</a:t>
            </a:r>
          </a:p>
        </p:txBody>
      </p:sp>
      <p:sp>
        <p:nvSpPr>
          <p:cNvPr id="7" name="question-a">
            <a:extLst xmlns:a="http://schemas.openxmlformats.org/drawingml/2006/main">
              <a:ext uri="{FF2B5EF4-FFF2-40B4-BE49-F238E27FC236}">
                <a16:creationId xmlns:a16="http://schemas.microsoft.com/office/drawing/2014/main" id="{C52C640B-2017-42DC-8214-7309257EB03E}"/>
              </a:ext>
            </a:extLst>
          </p:cNvPr>
          <p:cNvSpPr>
            <a:spLocks xmlns:a="http://schemas.openxmlformats.org/drawingml/2006/main" noGrp="1"/>
          </p:cNvSpPr>
          <p:nvPr/>
        </p:nvSpPr>
        <p:spPr>
          <a:xfrm xmlns:a="http://schemas.openxmlformats.org/drawingml/2006/main">
            <a:off x="1343025" y="2581275"/>
            <a:ext cx="99441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Describe what the CPU does while a program is running. [2]</a:t>
            </a:r>
          </a:p>
        </p:txBody>
      </p:sp>
      <p:sp>
        <p:nvSpPr>
          <p:cNvPr id="8" name="b">
            <a:extLst xmlns:a="http://schemas.openxmlformats.org/drawingml/2006/main">
              <a:ext uri="{FF2B5EF4-FFF2-40B4-BE49-F238E27FC236}">
                <a16:creationId xmlns:a16="http://schemas.microsoft.com/office/drawing/2014/main" id="{BBC55308-4B73-4C93-BF1C-19373371CDD1}"/>
              </a:ext>
            </a:extLst>
          </p:cNvPr>
          <p:cNvSpPr>
            <a:spLocks xmlns:a="http://schemas.openxmlformats.org/drawingml/2006/main" noGrp="1"/>
          </p:cNvSpPr>
          <p:nvPr/>
        </p:nvSpPr>
        <p:spPr>
          <a:xfrm xmlns:a="http://schemas.openxmlformats.org/drawingml/2006/main">
            <a:off x="733425" y="41433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b)</a:t>
            </a:r>
          </a:p>
        </p:txBody>
      </p:sp>
      <p:sp>
        <p:nvSpPr>
          <p:cNvPr id="9" name="question-b">
            <a:extLst xmlns:a="http://schemas.openxmlformats.org/drawingml/2006/main">
              <a:ext uri="{FF2B5EF4-FFF2-40B4-BE49-F238E27FC236}">
                <a16:creationId xmlns:a16="http://schemas.microsoft.com/office/drawing/2014/main" id="{F94AE728-C734-4860-A77A-89FF551C15E3}"/>
              </a:ext>
            </a:extLst>
          </p:cNvPr>
          <p:cNvSpPr>
            <a:spLocks xmlns:a="http://schemas.openxmlformats.org/drawingml/2006/main" noGrp="1"/>
          </p:cNvSpPr>
          <p:nvPr/>
        </p:nvSpPr>
        <p:spPr>
          <a:xfrm xmlns:a="http://schemas.openxmlformats.org/drawingml/2006/main">
            <a:off x="1343025" y="4143375"/>
            <a:ext cx="99441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Name two registers found in a CPU and state what each one holds. [4]</a:t>
            </a:r>
          </a:p>
        </p:txBody>
      </p:sp>
    </p:spTree>
    <p:extLst>
      <p:ext uri="{BB962C8B-B14F-4D97-AF65-F5344CB8AC3E}">
        <p14:creationId xmlns:p14="http://schemas.microsoft.com/office/powerpoint/2010/main" val="101555946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opic">
            <a:extLst xmlns:a="http://schemas.openxmlformats.org/drawingml/2006/main">
              <a:ext uri="{FF2B5EF4-FFF2-40B4-BE49-F238E27FC236}">
                <a16:creationId xmlns:a16="http://schemas.microsoft.com/office/drawing/2014/main" id="{35A91DAF-5A81-4AD2-B384-A05D00F9A0E1}"/>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PLENARY</a:t>
            </a:r>
          </a:p>
        </p:txBody>
      </p:sp>
      <p:sp>
        <p:nvSpPr>
          <p:cNvPr id="2" name="heading">
            <a:extLst xmlns:a="http://schemas.openxmlformats.org/drawingml/2006/main">
              <a:ext uri="{FF2B5EF4-FFF2-40B4-BE49-F238E27FC236}">
                <a16:creationId xmlns:a16="http://schemas.microsoft.com/office/drawing/2014/main" id="{EDFB7C4C-4D6A-4092-B098-EF8547162353}"/>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question (c)</a:t>
            </a:r>
          </a:p>
        </p:txBody>
      </p:sp>
      <p:sp>
        <p:nvSpPr>
          <p:cNvPr id="3" name="footer">
            <a:extLst xmlns:a="http://schemas.openxmlformats.org/drawingml/2006/main">
              <a:ext uri="{FF2B5EF4-FFF2-40B4-BE49-F238E27FC236}">
                <a16:creationId xmlns:a16="http://schemas.microsoft.com/office/drawing/2014/main" id="{13E0A777-0FA5-4021-A187-3FC34AC795CF}"/>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20F514C1-99A9-45E4-A2AB-D8563F67E8F4}"/>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17 / 20</a:t>
            </a:r>
          </a:p>
        </p:txBody>
      </p:sp>
      <p:sp>
        <p:nvSpPr>
          <p:cNvPr id="5" name="from-memory">
            <a:extLst xmlns:a="http://schemas.openxmlformats.org/drawingml/2006/main">
              <a:ext uri="{FF2B5EF4-FFF2-40B4-BE49-F238E27FC236}">
                <a16:creationId xmlns:a16="http://schemas.microsoft.com/office/drawing/2014/main" id="{B07213AF-0168-41A4-A36A-75A022BA99DE}"/>
              </a:ext>
            </a:extLst>
          </p:cNvPr>
          <p:cNvSpPr>
            <a:spLocks xmlns:a="http://schemas.openxmlformats.org/drawingml/2006/main" noGrp="1"/>
          </p:cNvSpPr>
          <p:nvPr/>
        </p:nvSpPr>
        <p:spPr>
          <a:xfrm xmlns:a="http://schemas.openxmlformats.org/drawingml/2006/main">
            <a:off x="704850" y="1600200"/>
            <a:ext cx="10715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Keep the experience closed. Explain your reasoning in full sentences.</a:t>
            </a:r>
          </a:p>
        </p:txBody>
      </p:sp>
      <p:sp>
        <p:nvSpPr>
          <p:cNvPr id="6" name="c">
            <a:extLst xmlns:a="http://schemas.openxmlformats.org/drawingml/2006/main">
              <a:ext uri="{FF2B5EF4-FFF2-40B4-BE49-F238E27FC236}">
                <a16:creationId xmlns:a16="http://schemas.microsoft.com/office/drawing/2014/main" id="{BE8AF9A4-CAF6-412D-81A2-F6D4AE319B6F}"/>
              </a:ext>
            </a:extLst>
          </p:cNvPr>
          <p:cNvSpPr>
            <a:spLocks xmlns:a="http://schemas.openxmlformats.org/drawingml/2006/main" noGrp="1"/>
          </p:cNvSpPr>
          <p:nvPr/>
        </p:nvSpPr>
        <p:spPr>
          <a:xfrm xmlns:a="http://schemas.openxmlformats.org/drawingml/2006/main">
            <a:off x="733425" y="2781300"/>
            <a:ext cx="6096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2D63FF"/>
                </a:solidFill>
                <a:latin typeface="DejaVu Sans"/>
                <a:ea typeface="DejaVu Sans"/>
                <a:cs typeface="DejaVu Sans"/>
              </a:defRPr>
            </a:pPr>
            <a:r>
              <a:rPr sz="2400" b="1">
                <a:solidFill>
                  <a:srgbClr val="2D63FF"/>
                </a:solidFill>
                <a:latin typeface="DejaVu Sans"/>
                <a:ea typeface="DejaVu Sans"/>
                <a:cs typeface="DejaVu Sans"/>
              </a:rPr>
              <a:t>c)</a:t>
            </a:r>
          </a:p>
        </p:txBody>
      </p:sp>
      <p:sp>
        <p:nvSpPr>
          <p:cNvPr id="7" name="question-c">
            <a:extLst xmlns:a="http://schemas.openxmlformats.org/drawingml/2006/main">
              <a:ext uri="{FF2B5EF4-FFF2-40B4-BE49-F238E27FC236}">
                <a16:creationId xmlns:a16="http://schemas.microsoft.com/office/drawing/2014/main" id="{558FA964-C4C6-4240-B59B-5F4F8682E81D}"/>
              </a:ext>
            </a:extLst>
          </p:cNvPr>
          <p:cNvSpPr>
            <a:spLocks xmlns:a="http://schemas.openxmlformats.org/drawingml/2006/main" noGrp="1"/>
          </p:cNvSpPr>
          <p:nvPr/>
        </p:nvSpPr>
        <p:spPr>
          <a:xfrm xmlns:a="http://schemas.openxmlformats.org/drawingml/2006/main">
            <a:off x="1381125" y="2781300"/>
            <a:ext cx="98679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01828"/>
                </a:solidFill>
                <a:latin typeface="DejaVu Sans"/>
                <a:ea typeface="DejaVu Sans"/>
                <a:cs typeface="DejaVu Sans"/>
              </a:defRPr>
            </a:pPr>
            <a:r>
              <a:rPr sz="2475" b="0">
                <a:solidFill>
                  <a:srgbClr val="101828"/>
                </a:solidFill>
                <a:latin typeface="DejaVu Sans"/>
                <a:ea typeface="DejaVu Sans"/>
                <a:cs typeface="DejaVu Sans"/>
              </a:rPr>
              <a:t>A computer's cache is full. Explain the effect this has on the CPU. [3]</a:t>
            </a:r>
          </a:p>
        </p:txBody>
      </p:sp>
      <p:sp>
        <p:nvSpPr>
          <p:cNvPr id="8" name="marks">
            <a:extLst xmlns:a="http://schemas.openxmlformats.org/drawingml/2006/main">
              <a:ext uri="{FF2B5EF4-FFF2-40B4-BE49-F238E27FC236}">
                <a16:creationId xmlns:a16="http://schemas.microsoft.com/office/drawing/2014/main" id="{8FD60CB9-C706-4F0C-8D8A-DCA8E75C8008}"/>
              </a:ext>
            </a:extLst>
          </p:cNvPr>
          <p:cNvSpPr>
            <a:spLocks xmlns:a="http://schemas.openxmlformats.org/drawingml/2006/main" noGrp="1"/>
          </p:cNvSpPr>
          <p:nvPr/>
        </p:nvSpPr>
        <p:spPr>
          <a:xfrm xmlns:a="http://schemas.openxmlformats.org/drawingml/2006/main">
            <a:off x="733425" y="5438775"/>
            <a:ext cx="1047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Use the marks in brackets to judge how much detail to include.</a:t>
            </a:r>
          </a:p>
        </p:txBody>
      </p:sp>
    </p:spTree>
    <p:extLst>
      <p:ext uri="{BB962C8B-B14F-4D97-AF65-F5344CB8AC3E}">
        <p14:creationId xmlns:p14="http://schemas.microsoft.com/office/powerpoint/2010/main" val="1778029823"/>
      </p:ext>
    </p:extLst>
  </p:cSld>
</p:sld>
</file>

<file path=ppt/slides/slide18.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8" name="topic">
            <a:extLst xmlns:a="http://schemas.openxmlformats.org/drawingml/2006/main">
              <a:ext uri="{FF2B5EF4-FFF2-40B4-BE49-F238E27FC236}">
                <a16:creationId xmlns:a16="http://schemas.microsoft.com/office/drawing/2014/main" id="{6B86C21F-3F70-47DE-BC64-BF9AC270C8EA}"/>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CHECK</a:t>
            </a:r>
          </a:p>
        </p:txBody>
      </p:sp>
      <p:sp>
        <p:nvSpPr>
          <p:cNvPr id="2" name="heading">
            <a:extLst xmlns:a="http://schemas.openxmlformats.org/drawingml/2006/main">
              <a:ext uri="{FF2B5EF4-FFF2-40B4-BE49-F238E27FC236}">
                <a16:creationId xmlns:a16="http://schemas.microsoft.com/office/drawing/2014/main" id="{A05F9260-3C89-447E-88B1-29D5BF254C5A}"/>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answers (a–b)</a:t>
            </a:r>
          </a:p>
        </p:txBody>
      </p:sp>
      <p:sp>
        <p:nvSpPr>
          <p:cNvPr id="3" name="footer">
            <a:extLst xmlns:a="http://schemas.openxmlformats.org/drawingml/2006/main">
              <a:ext uri="{FF2B5EF4-FFF2-40B4-BE49-F238E27FC236}">
                <a16:creationId xmlns:a16="http://schemas.microsoft.com/office/drawing/2014/main" id="{7D04AF32-9ABA-489E-9462-8E7313099D7F}"/>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735DEF94-96B1-40F3-86C7-A44EFC95DDF4}"/>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18 / 20</a:t>
            </a:r>
          </a:p>
        </p:txBody>
      </p:sp>
      <p:sp>
        <p:nvSpPr>
          <p:cNvPr id="5" name="scheme-intro">
            <a:extLst xmlns:a="http://schemas.openxmlformats.org/drawingml/2006/main">
              <a:ext uri="{FF2B5EF4-FFF2-40B4-BE49-F238E27FC236}">
                <a16:creationId xmlns:a16="http://schemas.microsoft.com/office/drawing/2014/main" id="{351CDE96-8EC7-4F84-8C23-F81A41DFB63E}"/>
              </a:ext>
            </a:extLst>
          </p:cNvPr>
          <p:cNvSpPr>
            <a:spLocks xmlns:a="http://schemas.openxmlformats.org/drawingml/2006/main" noGrp="1"/>
          </p:cNvSpPr>
          <p:nvPr/>
        </p:nvSpPr>
        <p:spPr>
          <a:xfrm xmlns:a="http://schemas.openxmlformats.org/drawingml/2006/main">
            <a:off x="704850" y="1543050"/>
            <a:ext cx="10715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Indicative points. Credit accurate answers in students’ own words.</a:t>
            </a:r>
          </a:p>
        </p:txBody>
      </p:sp>
      <p:sp>
        <p:nvSpPr>
          <p:cNvPr id="6" name="scheme-a">
            <a:extLst xmlns:a="http://schemas.openxmlformats.org/drawingml/2006/main">
              <a:ext uri="{FF2B5EF4-FFF2-40B4-BE49-F238E27FC236}">
                <a16:creationId xmlns:a16="http://schemas.microsoft.com/office/drawing/2014/main" id="{A8D8E55E-D906-4CA8-B00A-29352E27C8E7}"/>
              </a:ext>
            </a:extLst>
          </p:cNvPr>
          <p:cNvSpPr>
            <a:spLocks xmlns:a="http://schemas.openxmlformats.org/drawingml/2006/main" noGrp="1"/>
          </p:cNvSpPr>
          <p:nvPr/>
        </p:nvSpPr>
        <p:spPr>
          <a:xfrm xmlns:a="http://schemas.openxmlformats.org/drawingml/2006/main">
            <a:off x="723900" y="2457450"/>
            <a:ext cx="105727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a  The CPU fetches, decodes and executes program instructions. It processes data as those instructions require.</a:t>
            </a:r>
          </a:p>
        </p:txBody>
      </p:sp>
      <p:sp>
        <p:nvSpPr>
          <p:cNvPr id="7" name="scheme-b">
            <a:extLst xmlns:a="http://schemas.openxmlformats.org/drawingml/2006/main">
              <a:ext uri="{FF2B5EF4-FFF2-40B4-BE49-F238E27FC236}">
                <a16:creationId xmlns:a16="http://schemas.microsoft.com/office/drawing/2014/main" id="{54CB57EC-4385-48CE-AEC3-796C9751C53E}"/>
              </a:ext>
            </a:extLst>
          </p:cNvPr>
          <p:cNvSpPr>
            <a:spLocks xmlns:a="http://schemas.openxmlformats.org/drawingml/2006/main" noGrp="1"/>
          </p:cNvSpPr>
          <p:nvPr/>
        </p:nvSpPr>
        <p:spPr>
          <a:xfrm xmlns:a="http://schemas.openxmlformats.org/drawingml/2006/main">
            <a:off x="723900" y="4086225"/>
            <a:ext cx="10572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b  Award a register name plus its role for each pair: PC, address of next instruction; MAR, memory address; MDR, data to or from memory; ACC, calculation result.</a:t>
            </a:r>
          </a:p>
        </p:txBody>
      </p:sp>
    </p:spTree>
    <p:extLst>
      <p:ext uri="{BB962C8B-B14F-4D97-AF65-F5344CB8AC3E}">
        <p14:creationId xmlns:p14="http://schemas.microsoft.com/office/powerpoint/2010/main" val="989800926"/>
      </p:ext>
    </p:extLst>
  </p:cSld>
</p:sld>
</file>

<file path=ppt/slides/slide19.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2" name="topic">
            <a:extLst xmlns:a="http://schemas.openxmlformats.org/drawingml/2006/main">
              <a:ext uri="{FF2B5EF4-FFF2-40B4-BE49-F238E27FC236}">
                <a16:creationId xmlns:a16="http://schemas.microsoft.com/office/drawing/2014/main" id="{27890873-6634-485A-AC32-23284520B5FB}"/>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CHECK</a:t>
            </a:r>
          </a:p>
        </p:txBody>
      </p:sp>
      <p:sp>
        <p:nvSpPr>
          <p:cNvPr id="2" name="heading">
            <a:extLst xmlns:a="http://schemas.openxmlformats.org/drawingml/2006/main">
              <a:ext uri="{FF2B5EF4-FFF2-40B4-BE49-F238E27FC236}">
                <a16:creationId xmlns:a16="http://schemas.microsoft.com/office/drawing/2014/main" id="{6253C0DC-2DDB-4311-8F19-2E9DFF0FFA83}"/>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answer (c)</a:t>
            </a:r>
          </a:p>
        </p:txBody>
      </p:sp>
      <p:sp>
        <p:nvSpPr>
          <p:cNvPr id="3" name="footer">
            <a:extLst xmlns:a="http://schemas.openxmlformats.org/drawingml/2006/main">
              <a:ext uri="{FF2B5EF4-FFF2-40B4-BE49-F238E27FC236}">
                <a16:creationId xmlns:a16="http://schemas.microsoft.com/office/drawing/2014/main" id="{FD7D3DA4-B3C8-48A5-AFC6-F7A053D02B90}"/>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3F1D1119-23CE-411E-A1EE-85F294B53D8D}"/>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19 / 20</a:t>
            </a:r>
          </a:p>
        </p:txBody>
      </p:sp>
      <p:sp>
        <p:nvSpPr>
          <p:cNvPr id="5" name="scheme-intro">
            <a:extLst xmlns:a="http://schemas.openxmlformats.org/drawingml/2006/main">
              <a:ext uri="{FF2B5EF4-FFF2-40B4-BE49-F238E27FC236}">
                <a16:creationId xmlns:a16="http://schemas.microsoft.com/office/drawing/2014/main" id="{6914F2E0-20CE-4B43-832A-FB55F05EB82A}"/>
              </a:ext>
            </a:extLst>
          </p:cNvPr>
          <p:cNvSpPr>
            <a:spLocks xmlns:a="http://schemas.openxmlformats.org/drawingml/2006/main" noGrp="1"/>
          </p:cNvSpPr>
          <p:nvPr/>
        </p:nvSpPr>
        <p:spPr>
          <a:xfrm xmlns:a="http://schemas.openxmlformats.org/drawingml/2006/main">
            <a:off x="704850" y="1533525"/>
            <a:ext cx="10715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Indicative points for the final question.</a:t>
            </a:r>
          </a:p>
        </p:txBody>
      </p:sp>
      <p:sp>
        <p:nvSpPr>
          <p:cNvPr id="6" name="number-1">
            <a:extLst xmlns:a="http://schemas.openxmlformats.org/drawingml/2006/main">
              <a:ext uri="{FF2B5EF4-FFF2-40B4-BE49-F238E27FC236}">
                <a16:creationId xmlns:a16="http://schemas.microsoft.com/office/drawing/2014/main" id="{55F206C2-BC8D-4956-A9A3-9243DA7EBC2A}"/>
              </a:ext>
            </a:extLst>
          </p:cNvPr>
          <p:cNvSpPr>
            <a:spLocks xmlns:a="http://schemas.openxmlformats.org/drawingml/2006/main" noGrp="1"/>
          </p:cNvSpPr>
          <p:nvPr/>
        </p:nvSpPr>
        <p:spPr>
          <a:xfrm xmlns:a="http://schemas.openxmlformats.org/drawingml/2006/main">
            <a:off x="723900" y="24860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D64292DB-6E7E-4E39-8053-D12F6DF2F7C2}"/>
              </a:ext>
            </a:extLst>
          </p:cNvPr>
          <p:cNvSpPr>
            <a:spLocks xmlns:a="http://schemas.openxmlformats.org/drawingml/2006/main" noGrp="1"/>
          </p:cNvSpPr>
          <p:nvPr/>
        </p:nvSpPr>
        <p:spPr>
          <a:xfrm xmlns:a="http://schemas.openxmlformats.org/drawingml/2006/main">
            <a:off x="1352550" y="24860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A full cache replaces an existing entry when new data must be stored.</a:t>
            </a:r>
          </a:p>
        </p:txBody>
      </p:sp>
      <p:sp>
        <p:nvSpPr>
          <p:cNvPr id="8" name="number-2">
            <a:extLst xmlns:a="http://schemas.openxmlformats.org/drawingml/2006/main">
              <a:ext uri="{FF2B5EF4-FFF2-40B4-BE49-F238E27FC236}">
                <a16:creationId xmlns:a16="http://schemas.microsoft.com/office/drawing/2014/main" id="{F4520436-5692-4A07-A45C-402BAAE82AE1}"/>
              </a:ext>
            </a:extLst>
          </p:cNvPr>
          <p:cNvSpPr>
            <a:spLocks xmlns:a="http://schemas.openxmlformats.org/drawingml/2006/main" noGrp="1"/>
          </p:cNvSpPr>
          <p:nvPr/>
        </p:nvSpPr>
        <p:spPr>
          <a:xfrm xmlns:a="http://schemas.openxmlformats.org/drawingml/2006/main">
            <a:off x="723900" y="35909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D1F47AD8-1BC3-4E5C-B303-2D73A6773B08}"/>
              </a:ext>
            </a:extLst>
          </p:cNvPr>
          <p:cNvSpPr>
            <a:spLocks xmlns:a="http://schemas.openxmlformats.org/drawingml/2006/main" noGrp="1"/>
          </p:cNvSpPr>
          <p:nvPr/>
        </p:nvSpPr>
        <p:spPr>
          <a:xfrm xmlns:a="http://schemas.openxmlformats.org/drawingml/2006/main">
            <a:off x="1352550" y="35909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If the next needed item is absent, the CPU fetches it from slower RAM and may wait.</a:t>
            </a:r>
          </a:p>
        </p:txBody>
      </p:sp>
      <p:sp>
        <p:nvSpPr>
          <p:cNvPr id="10" name="number-3">
            <a:extLst xmlns:a="http://schemas.openxmlformats.org/drawingml/2006/main">
              <a:ext uri="{FF2B5EF4-FFF2-40B4-BE49-F238E27FC236}">
                <a16:creationId xmlns:a16="http://schemas.microsoft.com/office/drawing/2014/main" id="{72122F74-882D-4F69-977A-996BDC697C85}"/>
              </a:ext>
            </a:extLst>
          </p:cNvPr>
          <p:cNvSpPr>
            <a:spLocks xmlns:a="http://schemas.openxmlformats.org/drawingml/2006/main" noGrp="1"/>
          </p:cNvSpPr>
          <p:nvPr/>
        </p:nvSpPr>
        <p:spPr>
          <a:xfrm xmlns:a="http://schemas.openxmlformats.org/drawingml/2006/main">
            <a:off x="723900" y="46958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3.</a:t>
            </a:r>
          </a:p>
        </p:txBody>
      </p:sp>
      <p:sp>
        <p:nvSpPr>
          <p:cNvPr id="11" name="item-3">
            <a:extLst xmlns:a="http://schemas.openxmlformats.org/drawingml/2006/main">
              <a:ext uri="{FF2B5EF4-FFF2-40B4-BE49-F238E27FC236}">
                <a16:creationId xmlns:a16="http://schemas.microsoft.com/office/drawing/2014/main" id="{922803E7-0FEB-4125-952A-6E57C9D4C0E9}"/>
              </a:ext>
            </a:extLst>
          </p:cNvPr>
          <p:cNvSpPr>
            <a:spLocks xmlns:a="http://schemas.openxmlformats.org/drawingml/2006/main" noGrp="1"/>
          </p:cNvSpPr>
          <p:nvPr/>
        </p:nvSpPr>
        <p:spPr>
          <a:xfrm xmlns:a="http://schemas.openxmlformats.org/drawingml/2006/main">
            <a:off x="1352550" y="46958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The effect depends on cache hits and misses. Being full alone does not guarantee a slowdown.</a:t>
            </a:r>
          </a:p>
        </p:txBody>
      </p:sp>
    </p:spTree>
    <p:extLst>
      <p:ext uri="{BB962C8B-B14F-4D97-AF65-F5344CB8AC3E}">
        <p14:creationId xmlns:p14="http://schemas.microsoft.com/office/powerpoint/2010/main" val="104415842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opic">
            <a:extLst xmlns:a="http://schemas.openxmlformats.org/drawingml/2006/main">
              <a:ext uri="{FF2B5EF4-FFF2-40B4-BE49-F238E27FC236}">
                <a16:creationId xmlns:a16="http://schemas.microsoft.com/office/drawing/2014/main" id="{91EB3C47-FED5-4720-A463-2E9538F06EB2}"/>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01   /   SELF-CHECK</a:t>
            </a:r>
          </a:p>
        </p:txBody>
      </p:sp>
      <p:sp>
        <p:nvSpPr>
          <p:cNvPr id="2" name="heading">
            <a:extLst xmlns:a="http://schemas.openxmlformats.org/drawingml/2006/main">
              <a:ext uri="{FF2B5EF4-FFF2-40B4-BE49-F238E27FC236}">
                <a16:creationId xmlns:a16="http://schemas.microsoft.com/office/drawing/2014/main" id="{66266F39-3875-49E6-BD8B-BAC189551290}"/>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How confident am I?</a:t>
            </a:r>
          </a:p>
        </p:txBody>
      </p:sp>
      <p:sp>
        <p:nvSpPr>
          <p:cNvPr id="3" name="footer">
            <a:extLst xmlns:a="http://schemas.openxmlformats.org/drawingml/2006/main">
              <a:ext uri="{FF2B5EF4-FFF2-40B4-BE49-F238E27FC236}">
                <a16:creationId xmlns:a16="http://schemas.microsoft.com/office/drawing/2014/main" id="{D15CA055-B915-4856-8F07-F330565BA22D}"/>
              </a:ext>
            </a:extLst>
          </p:cNvPr>
          <p:cNvSpPr>
            <a:spLocks xmlns:a="http://schemas.openxmlformats.org/drawingml/2006/main" noGrp="1"/>
          </p:cNvSpPr>
          <p:nvPr/>
        </p:nvSpPr>
        <p:spPr>
          <a:xfrm xmlns:a="http://schemas.openxmlformats.org/drawingml/2006/main">
            <a:off x="666750" y="6400800"/>
            <a:ext cx="981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Revise 360    OCR J277 1.1 Systems architecture</a:t>
            </a:r>
          </a:p>
        </p:txBody>
      </p:sp>
      <p:sp>
        <p:nvSpPr>
          <p:cNvPr id="4" name="page">
            <a:extLst xmlns:a="http://schemas.openxmlformats.org/drawingml/2006/main">
              <a:ext uri="{FF2B5EF4-FFF2-40B4-BE49-F238E27FC236}">
                <a16:creationId xmlns:a16="http://schemas.microsoft.com/office/drawing/2014/main" id="{0B7111BE-A7CA-4A7C-B35A-8196B436DDE5}"/>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20 / 20</a:t>
            </a:r>
          </a:p>
        </p:txBody>
      </p:sp>
      <p:sp>
        <p:nvSpPr>
          <p:cNvPr id="5" name="confidence-instruction">
            <a:extLst xmlns:a="http://schemas.openxmlformats.org/drawingml/2006/main">
              <a:ext uri="{FF2B5EF4-FFF2-40B4-BE49-F238E27FC236}">
                <a16:creationId xmlns:a16="http://schemas.microsoft.com/office/drawing/2014/main" id="{74110569-8E58-4E8A-B2E7-C201066F58BD}"/>
              </a:ext>
            </a:extLst>
          </p:cNvPr>
          <p:cNvSpPr>
            <a:spLocks xmlns:a="http://schemas.openxmlformats.org/drawingml/2006/main" noGrp="1"/>
          </p:cNvSpPr>
          <p:nvPr/>
        </p:nvSpPr>
        <p:spPr>
          <a:xfrm xmlns:a="http://schemas.openxmlformats.org/drawingml/2006/main">
            <a:off x="704850" y="1571625"/>
            <a:ext cx="10477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On the worksheet, select Not yet, Getting there or Confident for each objective.</a:t>
            </a:r>
          </a:p>
        </p:txBody>
      </p:sp>
      <p:sp>
        <p:nvSpPr>
          <p:cNvPr id="6" name="number-1">
            <a:extLst xmlns:a="http://schemas.openxmlformats.org/drawingml/2006/main">
              <a:ext uri="{FF2B5EF4-FFF2-40B4-BE49-F238E27FC236}">
                <a16:creationId xmlns:a16="http://schemas.microsoft.com/office/drawing/2014/main" id="{D3BB37DC-5175-403D-948F-D01B1CDD62C7}"/>
              </a:ext>
            </a:extLst>
          </p:cNvPr>
          <p:cNvSpPr>
            <a:spLocks xmlns:a="http://schemas.openxmlformats.org/drawingml/2006/main" noGrp="1"/>
          </p:cNvSpPr>
          <p:nvPr/>
        </p:nvSpPr>
        <p:spPr>
          <a:xfrm xmlns:a="http://schemas.openxmlformats.org/drawingml/2006/main">
            <a:off x="723900" y="25146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8818D514-80EE-49DB-8572-799C3DC589FC}"/>
              </a:ext>
            </a:extLst>
          </p:cNvPr>
          <p:cNvSpPr>
            <a:spLocks xmlns:a="http://schemas.openxmlformats.org/drawingml/2006/main" noGrp="1"/>
          </p:cNvSpPr>
          <p:nvPr/>
        </p:nvSpPr>
        <p:spPr>
          <a:xfrm xmlns:a="http://schemas.openxmlformats.org/drawingml/2006/main">
            <a:off x="1352550" y="251460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What the CPU does</a:t>
            </a:r>
          </a:p>
        </p:txBody>
      </p:sp>
      <p:sp>
        <p:nvSpPr>
          <p:cNvPr id="8" name="number-2">
            <a:extLst xmlns:a="http://schemas.openxmlformats.org/drawingml/2006/main">
              <a:ext uri="{FF2B5EF4-FFF2-40B4-BE49-F238E27FC236}">
                <a16:creationId xmlns:a16="http://schemas.microsoft.com/office/drawing/2014/main" id="{7922EFA2-E27F-42DB-A318-3AC0503B6376}"/>
              </a:ext>
            </a:extLst>
          </p:cNvPr>
          <p:cNvSpPr>
            <a:spLocks xmlns:a="http://schemas.openxmlformats.org/drawingml/2006/main" noGrp="1"/>
          </p:cNvSpPr>
          <p:nvPr/>
        </p:nvSpPr>
        <p:spPr>
          <a:xfrm xmlns:a="http://schemas.openxmlformats.org/drawingml/2006/main">
            <a:off x="723900" y="33432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B81DE773-4CE3-4378-98BC-5B55666AE281}"/>
              </a:ext>
            </a:extLst>
          </p:cNvPr>
          <p:cNvSpPr>
            <a:spLocks xmlns:a="http://schemas.openxmlformats.org/drawingml/2006/main" noGrp="1"/>
          </p:cNvSpPr>
          <p:nvPr/>
        </p:nvSpPr>
        <p:spPr>
          <a:xfrm xmlns:a="http://schemas.openxmlformats.org/drawingml/2006/main">
            <a:off x="1352550" y="3343275"/>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The CPU registers</a:t>
            </a:r>
          </a:p>
        </p:txBody>
      </p:sp>
      <p:sp>
        <p:nvSpPr>
          <p:cNvPr id="10" name="number-3">
            <a:extLst xmlns:a="http://schemas.openxmlformats.org/drawingml/2006/main">
              <a:ext uri="{FF2B5EF4-FFF2-40B4-BE49-F238E27FC236}">
                <a16:creationId xmlns:a16="http://schemas.microsoft.com/office/drawing/2014/main" id="{1A52D980-5A2D-48E8-B36B-58FB45CFFC0C}"/>
              </a:ext>
            </a:extLst>
          </p:cNvPr>
          <p:cNvSpPr>
            <a:spLocks xmlns:a="http://schemas.openxmlformats.org/drawingml/2006/main" noGrp="1"/>
          </p:cNvSpPr>
          <p:nvPr/>
        </p:nvSpPr>
        <p:spPr>
          <a:xfrm xmlns:a="http://schemas.openxmlformats.org/drawingml/2006/main">
            <a:off x="723900" y="41719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3.</a:t>
            </a:r>
          </a:p>
        </p:txBody>
      </p:sp>
      <p:sp>
        <p:nvSpPr>
          <p:cNvPr id="11" name="item-3">
            <a:extLst xmlns:a="http://schemas.openxmlformats.org/drawingml/2006/main">
              <a:ext uri="{FF2B5EF4-FFF2-40B4-BE49-F238E27FC236}">
                <a16:creationId xmlns:a16="http://schemas.microsoft.com/office/drawing/2014/main" id="{18EB30B3-9133-457E-BFCB-25CE2EF0D9B8}"/>
              </a:ext>
            </a:extLst>
          </p:cNvPr>
          <p:cNvSpPr>
            <a:spLocks xmlns:a="http://schemas.openxmlformats.org/drawingml/2006/main" noGrp="1"/>
          </p:cNvSpPr>
          <p:nvPr/>
        </p:nvSpPr>
        <p:spPr>
          <a:xfrm xmlns:a="http://schemas.openxmlformats.org/drawingml/2006/main">
            <a:off x="1352550" y="417195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The stages of the fetch-execute cycle</a:t>
            </a:r>
          </a:p>
        </p:txBody>
      </p:sp>
      <p:sp>
        <p:nvSpPr>
          <p:cNvPr id="12" name="number-4">
            <a:extLst xmlns:a="http://schemas.openxmlformats.org/drawingml/2006/main">
              <a:ext uri="{FF2B5EF4-FFF2-40B4-BE49-F238E27FC236}">
                <a16:creationId xmlns:a16="http://schemas.microsoft.com/office/drawing/2014/main" id="{B2B7313D-1DE2-4F60-8AD1-55FBFEFC8C27}"/>
              </a:ext>
            </a:extLst>
          </p:cNvPr>
          <p:cNvSpPr>
            <a:spLocks xmlns:a="http://schemas.openxmlformats.org/drawingml/2006/main" noGrp="1"/>
          </p:cNvSpPr>
          <p:nvPr/>
        </p:nvSpPr>
        <p:spPr>
          <a:xfrm xmlns:a="http://schemas.openxmlformats.org/drawingml/2006/main">
            <a:off x="723900" y="50006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4.</a:t>
            </a:r>
          </a:p>
        </p:txBody>
      </p:sp>
      <p:sp>
        <p:nvSpPr>
          <p:cNvPr id="13" name="item-4">
            <a:extLst xmlns:a="http://schemas.openxmlformats.org/drawingml/2006/main">
              <a:ext uri="{FF2B5EF4-FFF2-40B4-BE49-F238E27FC236}">
                <a16:creationId xmlns:a16="http://schemas.microsoft.com/office/drawing/2014/main" id="{8BC7C42B-A7C5-4DA4-9664-9E553C060E2D}"/>
              </a:ext>
            </a:extLst>
          </p:cNvPr>
          <p:cNvSpPr>
            <a:spLocks xmlns:a="http://schemas.openxmlformats.org/drawingml/2006/main" noGrp="1"/>
          </p:cNvSpPr>
          <p:nvPr/>
        </p:nvSpPr>
        <p:spPr>
          <a:xfrm xmlns:a="http://schemas.openxmlformats.org/drawingml/2006/main">
            <a:off x="1352550" y="5000625"/>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The ALU, CU and cache</a:t>
            </a:r>
          </a:p>
        </p:txBody>
      </p:sp>
    </p:spTree>
    <p:extLst>
      <p:ext uri="{BB962C8B-B14F-4D97-AF65-F5344CB8AC3E}">
        <p14:creationId xmlns:p14="http://schemas.microsoft.com/office/powerpoint/2010/main" val="11338848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2026-09-25T12:17:32.6090000Z</dcterms:created>
  <dcterms:modified xsi:type="dcterms:W3CDTF">2026-09-25T12:17:32.6090000Z</dcterms:modified>
</coreProperties>
</file>