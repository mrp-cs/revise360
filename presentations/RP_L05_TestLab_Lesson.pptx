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5: Test lab.
Open the experience at revise360.co.uk and hand out RP_L05_TestLab_Worksheet.docx.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Why test with different data?.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Normal data.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Boundary data.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Invalid data.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Erroneous data.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Test a comment box.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24.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Invalid data, and work through its example again, aloud, with the class watching, then re-ask this question.
The course's own response to a wrong answer here: It's a number, but outside the range.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(rp-l05-s4-c1),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2.3 Producing robust programs  |  Lesson 5</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Test lab</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Just because a program works for one input doesn't mean it works for all of them. In the test lab you'll learn the four types of test data and build a proper test plan.</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2  |  Computational thinking, algorithms and programming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makes a good testing strategy?</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that just because a program works doesn't mean it works for all inputs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that test data should include normal, boundary, invalid and erroneous data</a:t>
            </a:r>
            <a:endParaRPr lang="en-US" sz="1900" dirty="0"/>
          </a:p>
        </p:txBody>
      </p:sp>
      <p:sp>
        <p:nvSpPr>
          <p:cNvPr id="13" name="Text 11"/>
          <p:cNvSpPr txBox="1"/>
          <p:nvPr/>
        </p:nvSpPr>
        <p:spPr>
          <a:xfrm>
            <a:off x="548640" y="4151376"/>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4" name="Shape 12"/>
          <p:cNvSpPr/>
          <p:nvPr/>
        </p:nvSpPr>
        <p:spPr>
          <a:xfrm>
            <a:off x="548640" y="4535424"/>
            <a:ext cx="1773936" cy="402336"/>
          </a:xfrm>
          <a:prstGeom prst="roundRect">
            <a:avLst>
              <a:gd name="adj" fmla="val 50000"/>
            </a:avLst>
          </a:prstGeom>
          <a:solidFill>
            <a:srgbClr val="FFFFFF"/>
          </a:solidFill>
          <a:ln w="12700">
            <a:solidFill>
              <a:srgbClr val="2D63FF"/>
            </a:solidFill>
            <a:prstDash val="solid"/>
          </a:ln>
        </p:spPr>
      </p:sp>
      <p:sp>
        <p:nvSpPr>
          <p:cNvPr id="15" name="Text 13"/>
          <p:cNvSpPr txBox="1"/>
          <p:nvPr/>
        </p:nvSpPr>
        <p:spPr>
          <a:xfrm>
            <a:off x="548640" y="4535424"/>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Test data</a:t>
            </a:r>
            <a:endParaRPr lang="en-US" sz="1200" dirty="0"/>
          </a:p>
        </p:txBody>
      </p:sp>
      <p:sp>
        <p:nvSpPr>
          <p:cNvPr id="16" name="Shape 14"/>
          <p:cNvSpPr/>
          <p:nvPr/>
        </p:nvSpPr>
        <p:spPr>
          <a:xfrm>
            <a:off x="2450592" y="4535424"/>
            <a:ext cx="1335024" cy="402336"/>
          </a:xfrm>
          <a:prstGeom prst="roundRect">
            <a:avLst>
              <a:gd name="adj" fmla="val 50000"/>
            </a:avLst>
          </a:prstGeom>
          <a:solidFill>
            <a:srgbClr val="FFFFFF"/>
          </a:solidFill>
          <a:ln w="12700">
            <a:solidFill>
              <a:srgbClr val="2D63FF"/>
            </a:solidFill>
            <a:prstDash val="solid"/>
          </a:ln>
        </p:spPr>
      </p:sp>
      <p:sp>
        <p:nvSpPr>
          <p:cNvPr id="17" name="Text 15"/>
          <p:cNvSpPr txBox="1"/>
          <p:nvPr/>
        </p:nvSpPr>
        <p:spPr>
          <a:xfrm>
            <a:off x="2450592" y="4535424"/>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Normal</a:t>
            </a:r>
            <a:endParaRPr lang="en-US" sz="1200" dirty="0"/>
          </a:p>
        </p:txBody>
      </p:sp>
      <p:sp>
        <p:nvSpPr>
          <p:cNvPr id="18" name="Shape 16"/>
          <p:cNvSpPr/>
          <p:nvPr/>
        </p:nvSpPr>
        <p:spPr>
          <a:xfrm>
            <a:off x="3913632" y="4535424"/>
            <a:ext cx="1627632" cy="402336"/>
          </a:xfrm>
          <a:prstGeom prst="roundRect">
            <a:avLst>
              <a:gd name="adj" fmla="val 50000"/>
            </a:avLst>
          </a:prstGeom>
          <a:solidFill>
            <a:srgbClr val="FFFFFF"/>
          </a:solidFill>
          <a:ln w="12700">
            <a:solidFill>
              <a:srgbClr val="2D63FF"/>
            </a:solidFill>
            <a:prstDash val="solid"/>
          </a:ln>
        </p:spPr>
      </p:sp>
      <p:sp>
        <p:nvSpPr>
          <p:cNvPr id="19" name="Text 17"/>
          <p:cNvSpPr txBox="1"/>
          <p:nvPr/>
        </p:nvSpPr>
        <p:spPr>
          <a:xfrm>
            <a:off x="3913632" y="4535424"/>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Boundary</a:t>
            </a:r>
            <a:endParaRPr lang="en-US" sz="1200" dirty="0"/>
          </a:p>
        </p:txBody>
      </p:sp>
      <p:sp>
        <p:nvSpPr>
          <p:cNvPr id="20" name="Shape 18"/>
          <p:cNvSpPr/>
          <p:nvPr/>
        </p:nvSpPr>
        <p:spPr>
          <a:xfrm>
            <a:off x="5669280" y="4535424"/>
            <a:ext cx="1481328" cy="402336"/>
          </a:xfrm>
          <a:prstGeom prst="roundRect">
            <a:avLst>
              <a:gd name="adj" fmla="val 50000"/>
            </a:avLst>
          </a:prstGeom>
          <a:solidFill>
            <a:srgbClr val="FFFFFF"/>
          </a:solidFill>
          <a:ln w="12700">
            <a:solidFill>
              <a:srgbClr val="2D63FF"/>
            </a:solidFill>
            <a:prstDash val="solid"/>
          </a:ln>
        </p:spPr>
      </p:sp>
      <p:sp>
        <p:nvSpPr>
          <p:cNvPr id="21" name="Text 19"/>
          <p:cNvSpPr txBox="1"/>
          <p:nvPr/>
        </p:nvSpPr>
        <p:spPr>
          <a:xfrm>
            <a:off x="5669280" y="4535424"/>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Invalid</a:t>
            </a:r>
            <a:endParaRPr lang="en-US" sz="1200" dirty="0"/>
          </a:p>
        </p:txBody>
      </p:sp>
      <p:sp>
        <p:nvSpPr>
          <p:cNvPr id="22" name="Shape 20"/>
          <p:cNvSpPr/>
          <p:nvPr/>
        </p:nvSpPr>
        <p:spPr>
          <a:xfrm>
            <a:off x="7278624" y="4535424"/>
            <a:ext cx="1773936" cy="402336"/>
          </a:xfrm>
          <a:prstGeom prst="roundRect">
            <a:avLst>
              <a:gd name="adj" fmla="val 50000"/>
            </a:avLst>
          </a:prstGeom>
          <a:solidFill>
            <a:srgbClr val="FFFFFF"/>
          </a:solidFill>
          <a:ln w="12700">
            <a:solidFill>
              <a:srgbClr val="2D63FF"/>
            </a:solidFill>
            <a:prstDash val="solid"/>
          </a:ln>
        </p:spPr>
      </p:sp>
      <p:sp>
        <p:nvSpPr>
          <p:cNvPr id="23" name="Text 21"/>
          <p:cNvSpPr txBox="1"/>
          <p:nvPr/>
        </p:nvSpPr>
        <p:spPr>
          <a:xfrm>
            <a:off x="7278624" y="4535424"/>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Erroneous</a:t>
            </a:r>
            <a:endParaRPr lang="en-US" sz="1200" dirty="0"/>
          </a:p>
        </p:txBody>
      </p:sp>
      <p:sp>
        <p:nvSpPr>
          <p:cNvPr id="24" name="Shape 22"/>
          <p:cNvSpPr/>
          <p:nvPr/>
        </p:nvSpPr>
        <p:spPr>
          <a:xfrm>
            <a:off x="9180576" y="4535424"/>
            <a:ext cx="1773936" cy="402336"/>
          </a:xfrm>
          <a:prstGeom prst="roundRect">
            <a:avLst>
              <a:gd name="adj" fmla="val 50000"/>
            </a:avLst>
          </a:prstGeom>
          <a:solidFill>
            <a:srgbClr val="FFFFFF"/>
          </a:solidFill>
          <a:ln w="12700">
            <a:solidFill>
              <a:srgbClr val="2D63FF"/>
            </a:solidFill>
            <a:prstDash val="solid"/>
          </a:ln>
        </p:spPr>
      </p:sp>
      <p:sp>
        <p:nvSpPr>
          <p:cNvPr id="25" name="Text 23"/>
          <p:cNvSpPr txBox="1"/>
          <p:nvPr/>
        </p:nvSpPr>
        <p:spPr>
          <a:xfrm>
            <a:off x="9180576" y="4535424"/>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Test plan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asks for a school year group from 7 to 11. Suggest five pieces of test data for it, and explain what each one is testing.</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Test lab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Why test with different data?</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program that works for one input may still fail for others.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test plan lists each test, the data used, the type of test and the expected result.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Good testing covers valid, invalid and erroneous inputs.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makes a good testing strategy?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test plan should include...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Normal data</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Typical, valid data that the program should accept.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For a school-age field from 11 to 19: 14.</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two more examples of normal data for an age from 11 to 19.</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Normal data is...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Boundary data</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Valid data on the very edge of the accepted range.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For an age from 11 to 19: 11 and 19.</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Boundaries are where programmers most often make mistakes, like &lt; instead of &lt;=.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are the boundary values for a canteen menu that accepts 1 to 4?</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Boundary data is...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Invalid data</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Data of the correct type, but outside the accepted range.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For an age from 11 to 19: 24 or -3.</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program should reject it.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an example of invalid data for a month number.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Invalid data is...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Erroneous data</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Data of the wrong type that should be rejected.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For an age from 11 to 19: 'fourteen'.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Without a type check, erroneous data can crash a program.</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would happen to a program that doubles a number if the user typed 'five'?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Erroneous data is...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Test a comment box</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comment box allows up to 200 characters.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Test just under, exactly at, and just over the limit.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program should show how many characters are left, or how many are over.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Fill in five tests for the comment box on your worksheet.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test the comment box, I would...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Which is invalid data for an age from 11 to 19?</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fourteen</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24</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14</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19</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Sort the test data</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A form accepts a school-age value from 11 to 19. Tap the star and sort each piece of test data into normal, boundary, invalid or erroneous.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Off by one</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Using &lt; instead of &lt;= is so common it has a name: an off-by-one error. Boundary tests are designed to catch it.</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Fuzz testing</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Fuzz testing sends thousands of random inputs to a program automatically, to find ones that crash it.</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Where limits come from</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Character limits are often inherited from older systems. Text messages were capped at 160 characters because of the space left in the mobile signalling channel.</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Test first</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Some programmers write their tests before the code. This is called test-driven development.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booking form accepts a number of tickets from 1 to 6. Give four pieces of test data, name the type of each, and state why the test is needed.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[8]</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Why a range of test data is needed</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Normal, boundary, invalid and erroneous data</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test plan</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Test lab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2.3 Producing robust programs  |  Lesson 5 — Test lab</dc:title>
  <dc:subject>OCR J277 GCSE Computer Science</dc:subject>
  <dc:creator>Revise 360 Ltd</dc:creator>
  <cp:lastModifiedBy>Revise 360 Ltd</cp:lastModifiedBy>
  <cp:revision>1</cp:revision>
  <dcterms:created xsi:type="dcterms:W3CDTF">2026-10-03T17:08:50Z</dcterms:created>
  <dcterms:modified xsi:type="dcterms:W3CDTF">2026-10-03T17:08:50Z</dcterms:modified>
</cp:coreProperties>
</file>