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8d99b1eaf24ce0" /><Relationship Type="http://schemas.openxmlformats.org/officeDocument/2006/relationships/extended-properties" Target="/docProps/app.xml" Id="R600c7717d7114dd2" /><Relationship Type="http://schemas.openxmlformats.org/officeDocument/2006/relationships/officeDocument" Target="/ppt/presentation.xml" Id="R40bda1b1b6b849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0dcb9c331f43e9"/>
  </p:sldMasterIdLst>
  <p:notesMasterIdLst>
    <p:notesMasterId xmlns:r="http://schemas.openxmlformats.org/officeDocument/2006/relationships" r:id="R013ae18c0e9547bc"/>
  </p:notesMasterIdLst>
  <p:sldIdLst>
    <p:sldId xmlns:r="http://schemas.openxmlformats.org/officeDocument/2006/relationships" id="256" r:id="Rb52f74dbc1b6495d"/>
    <p:sldId xmlns:r="http://schemas.openxmlformats.org/officeDocument/2006/relationships" id="257" r:id="R6a8fcb4db97e420e"/>
    <p:sldId xmlns:r="http://schemas.openxmlformats.org/officeDocument/2006/relationships" id="258" r:id="R9849c5e7492c4ba7"/>
    <p:sldId xmlns:r="http://schemas.openxmlformats.org/officeDocument/2006/relationships" id="259" r:id="R0b58b9fa04f14eca"/>
    <p:sldId xmlns:r="http://schemas.openxmlformats.org/officeDocument/2006/relationships" id="260" r:id="R5aa9d5b49b1c4567"/>
    <p:sldId xmlns:r="http://schemas.openxmlformats.org/officeDocument/2006/relationships" id="261" r:id="R35cb951fba814731"/>
    <p:sldId xmlns:r="http://schemas.openxmlformats.org/officeDocument/2006/relationships" id="262" r:id="R4c84057fd8d94f81"/>
    <p:sldId xmlns:r="http://schemas.openxmlformats.org/officeDocument/2006/relationships" id="263" r:id="R9228bea3656849b0"/>
    <p:sldId xmlns:r="http://schemas.openxmlformats.org/officeDocument/2006/relationships" id="264" r:id="Re8370a1a6d3d4df9"/>
    <p:sldId xmlns:r="http://schemas.openxmlformats.org/officeDocument/2006/relationships" id="265" r:id="R7fe49cae4a594036"/>
    <p:sldId xmlns:r="http://schemas.openxmlformats.org/officeDocument/2006/relationships" id="266" r:id="R2a46d2bd013e40ea"/>
    <p:sldId xmlns:r="http://schemas.openxmlformats.org/officeDocument/2006/relationships" id="267" r:id="Rc5392a7d3ea442f6"/>
    <p:sldId xmlns:r="http://schemas.openxmlformats.org/officeDocument/2006/relationships" id="268" r:id="Ra8f4d97626294b21"/>
    <p:sldId xmlns:r="http://schemas.openxmlformats.org/officeDocument/2006/relationships" id="269" r:id="Rf08c4891c5ba4859"/>
    <p:sldId xmlns:r="http://schemas.openxmlformats.org/officeDocument/2006/relationships" id="270" r:id="R97959b228c0b4518"/>
    <p:sldId xmlns:r="http://schemas.openxmlformats.org/officeDocument/2006/relationships" id="271" r:id="R431a81a1df954587"/>
    <p:sldId xmlns:r="http://schemas.openxmlformats.org/officeDocument/2006/relationships" id="272" r:id="R21b2bc45bd454546"/>
    <p:sldId xmlns:r="http://schemas.openxmlformats.org/officeDocument/2006/relationships" id="273" r:id="R062511570c6946c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5dee8e31f34e08" /><Relationship Type="http://schemas.openxmlformats.org/officeDocument/2006/relationships/slideMaster" Target="/ppt/slideMasters/slideMaster1.xml" Id="R4c0dcb9c331f43e9" /><Relationship Type="http://schemas.openxmlformats.org/officeDocument/2006/relationships/notesMaster" Target="/ppt/notesMasters/notesMaster1.xml" Id="R013ae18c0e9547bc" /><Relationship Type="http://schemas.openxmlformats.org/officeDocument/2006/relationships/presProps" Target="/ppt/presProps.xml" Id="R40d7c5e2c34b42b9" /><Relationship Type="http://schemas.openxmlformats.org/officeDocument/2006/relationships/tableStyles" Target="/ppt/tableStyles.xml" Id="Rba3ce82e73c54060" /><Relationship Type="http://schemas.openxmlformats.org/officeDocument/2006/relationships/slide" Target="/ppt/slides/slide1.xml" Id="Rb52f74dbc1b6495d" /><Relationship Type="http://schemas.openxmlformats.org/officeDocument/2006/relationships/slide" Target="/ppt/slides/slide2.xml" Id="R6a8fcb4db97e420e" /><Relationship Type="http://schemas.openxmlformats.org/officeDocument/2006/relationships/slide" Target="/ppt/slides/slide3.xml" Id="R9849c5e7492c4ba7" /><Relationship Type="http://schemas.openxmlformats.org/officeDocument/2006/relationships/slide" Target="/ppt/slides/slide4.xml" Id="R0b58b9fa04f14eca" /><Relationship Type="http://schemas.openxmlformats.org/officeDocument/2006/relationships/slide" Target="/ppt/slides/slide5.xml" Id="R5aa9d5b49b1c4567" /><Relationship Type="http://schemas.openxmlformats.org/officeDocument/2006/relationships/slide" Target="/ppt/slides/slide6.xml" Id="R35cb951fba814731" /><Relationship Type="http://schemas.openxmlformats.org/officeDocument/2006/relationships/slide" Target="/ppt/slides/slide7.xml" Id="R4c84057fd8d94f81" /><Relationship Type="http://schemas.openxmlformats.org/officeDocument/2006/relationships/slide" Target="/ppt/slides/slide8.xml" Id="R9228bea3656849b0" /><Relationship Type="http://schemas.openxmlformats.org/officeDocument/2006/relationships/slide" Target="/ppt/slides/slide9.xml" Id="Re8370a1a6d3d4df9" /><Relationship Type="http://schemas.openxmlformats.org/officeDocument/2006/relationships/slide" Target="/ppt/slides/slide10.xml" Id="R7fe49cae4a594036" /><Relationship Type="http://schemas.openxmlformats.org/officeDocument/2006/relationships/slide" Target="/ppt/slides/slide11.xml" Id="R2a46d2bd013e40ea" /><Relationship Type="http://schemas.openxmlformats.org/officeDocument/2006/relationships/slide" Target="/ppt/slides/slide12.xml" Id="Rc5392a7d3ea442f6" /><Relationship Type="http://schemas.openxmlformats.org/officeDocument/2006/relationships/slide" Target="/ppt/slides/slide13.xml" Id="Ra8f4d97626294b21" /><Relationship Type="http://schemas.openxmlformats.org/officeDocument/2006/relationships/slide" Target="/ppt/slides/slide14.xml" Id="Rf08c4891c5ba4859" /><Relationship Type="http://schemas.openxmlformats.org/officeDocument/2006/relationships/slide" Target="/ppt/slides/slide15.xml" Id="R97959b228c0b4518" /><Relationship Type="http://schemas.openxmlformats.org/officeDocument/2006/relationships/slide" Target="/ppt/slides/slide16.xml" Id="R431a81a1df954587" /><Relationship Type="http://schemas.openxmlformats.org/officeDocument/2006/relationships/slide" Target="/ppt/slides/slide17.xml" Id="R21b2bc45bd454546" /><Relationship Type="http://schemas.openxmlformats.org/officeDocument/2006/relationships/slide" Target="/ppt/slides/slide18.xml" Id="R062511570c6946c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61acb51c5f49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9fea7544c84099" /><Relationship Type="http://schemas.openxmlformats.org/officeDocument/2006/relationships/notesMaster" Target="/ppt/notesMasters/notesMaster1.xml" Id="R16828e84be9645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a409bf48654a25" /><Relationship Type="http://schemas.openxmlformats.org/officeDocument/2006/relationships/notesMaster" Target="/ppt/notesMasters/notesMaster1.xml" Id="Reecd13f49c004a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f8640604464f42" /><Relationship Type="http://schemas.openxmlformats.org/officeDocument/2006/relationships/notesMaster" Target="/ppt/notesMasters/notesMaster1.xml" Id="Rd85e4aa5fb0d4e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f49911585b474f" /><Relationship Type="http://schemas.openxmlformats.org/officeDocument/2006/relationships/notesMaster" Target="/ppt/notesMasters/notesMaster1.xml" Id="Rd4287ddd8b7845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5c8dcd80464ccd" /><Relationship Type="http://schemas.openxmlformats.org/officeDocument/2006/relationships/notesMaster" Target="/ppt/notesMasters/notesMaster1.xml" Id="R39a6bf3e2b3d4c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7a4b19f3b047a9" /><Relationship Type="http://schemas.openxmlformats.org/officeDocument/2006/relationships/notesMaster" Target="/ppt/notesMasters/notesMaster1.xml" Id="Rca7a0004739b477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8913e1ba23a4c2e" /><Relationship Type="http://schemas.openxmlformats.org/officeDocument/2006/relationships/notesMaster" Target="/ppt/notesMasters/notesMaster1.xml" Id="Rfe5d16da10ae4c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c8df67d2e740af" /><Relationship Type="http://schemas.openxmlformats.org/officeDocument/2006/relationships/notesMaster" Target="/ppt/notesMasters/notesMaster1.xml" Id="R7cfd4e957c254b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6a80022f0f4c85" /><Relationship Type="http://schemas.openxmlformats.org/officeDocument/2006/relationships/notesMaster" Target="/ppt/notesMasters/notesMaster1.xml" Id="R436eae31ce9a4e4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b91ad20c6c4b5f" /><Relationship Type="http://schemas.openxmlformats.org/officeDocument/2006/relationships/notesMaster" Target="/ppt/notesMasters/notesMaster1.xml" Id="R749d8e65c15d4a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f8792c161bb4b47" /><Relationship Type="http://schemas.openxmlformats.org/officeDocument/2006/relationships/notesMaster" Target="/ppt/notesMasters/notesMaster1.xml" Id="Rfa7607eebc6942e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83d3061f9f44c7" /><Relationship Type="http://schemas.openxmlformats.org/officeDocument/2006/relationships/notesMaster" Target="/ppt/notesMasters/notesMaster1.xml" Id="R157e55b2235543e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e0e011408154bd3" /><Relationship Type="http://schemas.openxmlformats.org/officeDocument/2006/relationships/notesMaster" Target="/ppt/notesMasters/notesMaster1.xml" Id="Rd5be9af323354db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fe0e89b14c145ce" /><Relationship Type="http://schemas.openxmlformats.org/officeDocument/2006/relationships/notesMaster" Target="/ppt/notesMasters/notesMaster1.xml" Id="R56fe5ae670da4b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fac257be30e49dc" /><Relationship Type="http://schemas.openxmlformats.org/officeDocument/2006/relationships/notesMaster" Target="/ppt/notesMasters/notesMaster1.xml" Id="R9026e94735d741a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eb32c6335364cfe" /><Relationship Type="http://schemas.openxmlformats.org/officeDocument/2006/relationships/notesMaster" Target="/ppt/notesMasters/notesMaster1.xml" Id="R79b869c36f7345b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d8255297dce4ac7" /><Relationship Type="http://schemas.openxmlformats.org/officeDocument/2006/relationships/notesMaster" Target="/ppt/notesMasters/notesMaster1.xml" Id="R94ef07f28e0d495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c6a03c502cad47ad" /><Relationship Type="http://schemas.openxmlformats.org/officeDocument/2006/relationships/notesMaster" Target="/ppt/notesMasters/notesMaster1.xml" Id="R38abcba69b0b4b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Allow approximately 25–30 minutes for the experience and worksheet. Pupils record facts in their own words.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>Close the experience before attempting the questions.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Topic 2.1 lesson 14: Producing algorithms: combined solutions.</a:t>
            </a:r>
          </a:p>
          <a:p xmlns:a="http://schemas.openxmlformats.org/drawingml/2006/main">
            <a:r>
              <a:t>Source sequence: supplied 2.1 - Algorithms(3).pdf, lessons 1–16. Original Revise360 explanations and practice questions.</a:t>
            </a:r>
          </a:p>
          <a:p xmlns:a="http://schemas.openxmlformats.org/drawingml/2006/main">
            <a:r>
              <a:t>Curriculum: OCR J277 specification v3.1, sections 2.1.1–2.1.3, https://www.ocr.org.uk/Images/558027-specification-gcse-computer-science-j277.pdf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67caa4b0cb4d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ad1645be1844594" /><Relationship Type="http://schemas.openxmlformats.org/officeDocument/2006/relationships/slideLayout" Target="/ppt/slideLayouts/slideLayout1.xml" Id="R49109199664a4bf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9109199664a4bf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b1b7a6afa41cb" /><Relationship Type="http://schemas.openxmlformats.org/officeDocument/2006/relationships/image" Target="/ppt/media/image.png" Id="R861a61d28bd14168" /><Relationship Type="http://schemas.openxmlformats.org/officeDocument/2006/relationships/image" Target="/ppt/media/image.jpeg" Id="R6d65658b5bb34863" /><Relationship Type="http://schemas.openxmlformats.org/officeDocument/2006/relationships/notesSlide" Target="/ppt/notesSlides/notesSlide1.xml" Id="R6b02092d85794d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dd30afd184711" /><Relationship Type="http://schemas.openxmlformats.org/officeDocument/2006/relationships/image" Target="/ppt/media/image2.png" Id="R84500d88e94846be" /><Relationship Type="http://schemas.openxmlformats.org/officeDocument/2006/relationships/notesSlide" Target="/ppt/notesSlides/notesSlide2.xml" Id="Rbe68268fe2914b6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3648fdaba447f" /><Relationship Type="http://schemas.openxmlformats.org/officeDocument/2006/relationships/image" Target="/ppt/media/image3.png" Id="R5c19fa0d607c46d5" /><Relationship Type="http://schemas.openxmlformats.org/officeDocument/2006/relationships/notesSlide" Target="/ppt/notesSlides/notesSlide3.xml" Id="Rc5cc45152b4945e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e34941444e42ce" /><Relationship Type="http://schemas.openxmlformats.org/officeDocument/2006/relationships/image" Target="/ppt/media/image4.png" Id="Rf84d4f30594240e1" /><Relationship Type="http://schemas.openxmlformats.org/officeDocument/2006/relationships/notesSlide" Target="/ppt/notesSlides/notesSlide4.xml" Id="Re6b45e94ef3449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eaef0b6b8464c" /><Relationship Type="http://schemas.openxmlformats.org/officeDocument/2006/relationships/image" Target="/ppt/media/image5.png" Id="Re06440bedb584a82" /><Relationship Type="http://schemas.openxmlformats.org/officeDocument/2006/relationships/notesSlide" Target="/ppt/notesSlides/notesSlide5.xml" Id="Recdd3ad76f7a4a2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eb5809d6148a9" /><Relationship Type="http://schemas.openxmlformats.org/officeDocument/2006/relationships/image" Target="/ppt/media/image6.png" Id="R72a31a61f4054cb9" /><Relationship Type="http://schemas.openxmlformats.org/officeDocument/2006/relationships/notesSlide" Target="/ppt/notesSlides/notesSlide6.xml" Id="R5336248b0fbd4fe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a5928d414c4ca2" /><Relationship Type="http://schemas.openxmlformats.org/officeDocument/2006/relationships/image" Target="/ppt/media/image7.png" Id="R48307ab3697f4ffb" /><Relationship Type="http://schemas.openxmlformats.org/officeDocument/2006/relationships/notesSlide" Target="/ppt/notesSlides/notesSlide7.xml" Id="R4787d6aa34684f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d4cb2f4fba427d" /><Relationship Type="http://schemas.openxmlformats.org/officeDocument/2006/relationships/image" Target="/ppt/media/image8.png" Id="R446e822cebbd46eb" /><Relationship Type="http://schemas.openxmlformats.org/officeDocument/2006/relationships/notesSlide" Target="/ppt/notesSlides/notesSlide8.xml" Id="R83a434d18e344e5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ea95d900a463c" /><Relationship Type="http://schemas.openxmlformats.org/officeDocument/2006/relationships/image" Target="/ppt/media/image9.png" Id="Re02ced16570546a5" /><Relationship Type="http://schemas.openxmlformats.org/officeDocument/2006/relationships/notesSlide" Target="/ppt/notesSlides/notesSlide9.xml" Id="R1eda90838dcf4d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e6075870c04097" /><Relationship Type="http://schemas.openxmlformats.org/officeDocument/2006/relationships/image" Target="/ppt/media/image10.png" Id="Rb33b94dae68148fb" /><Relationship Type="http://schemas.openxmlformats.org/officeDocument/2006/relationships/notesSlide" Target="/ppt/notesSlides/notesSlide10.xml" Id="R1c6646da952641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87edb15ee45ac" /><Relationship Type="http://schemas.openxmlformats.org/officeDocument/2006/relationships/image" Target="/ppt/media/image11.png" Id="R9c7c4c2d9a98459c" /><Relationship Type="http://schemas.openxmlformats.org/officeDocument/2006/relationships/notesSlide" Target="/ppt/notesSlides/notesSlide11.xml" Id="R9e8b0103e357401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672448b0d4b8d" /><Relationship Type="http://schemas.openxmlformats.org/officeDocument/2006/relationships/image" Target="/ppt/media/image12.png" Id="R75d78032c31d407c" /><Relationship Type="http://schemas.openxmlformats.org/officeDocument/2006/relationships/notesSlide" Target="/ppt/notesSlides/notesSlide12.xml" Id="Rdb3ed35d79d34e5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7adf890064644" /><Relationship Type="http://schemas.openxmlformats.org/officeDocument/2006/relationships/image" Target="/ppt/media/image13.png" Id="R21b102385f3143b3" /><Relationship Type="http://schemas.openxmlformats.org/officeDocument/2006/relationships/notesSlide" Target="/ppt/notesSlides/notesSlide13.xml" Id="R2328dd18248c4d9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9a3d1ddca466c" /><Relationship Type="http://schemas.openxmlformats.org/officeDocument/2006/relationships/image" Target="/ppt/media/image14.png" Id="Recdf70fa22134dec" /><Relationship Type="http://schemas.openxmlformats.org/officeDocument/2006/relationships/notesSlide" Target="/ppt/notesSlides/notesSlide14.xml" Id="R8c7fba6485b446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ce6efe324494f" /><Relationship Type="http://schemas.openxmlformats.org/officeDocument/2006/relationships/image" Target="/ppt/media/image15.png" Id="R3edab1de6e264827" /><Relationship Type="http://schemas.openxmlformats.org/officeDocument/2006/relationships/notesSlide" Target="/ppt/notesSlides/notesSlide15.xml" Id="R6f8211911e8c442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7ad5f6919247e0" /><Relationship Type="http://schemas.openxmlformats.org/officeDocument/2006/relationships/image" Target="/ppt/media/image16.png" Id="R68d991a78cde4605" /><Relationship Type="http://schemas.openxmlformats.org/officeDocument/2006/relationships/notesSlide" Target="/ppt/notesSlides/notesSlide16.xml" Id="R1aa8e5b4c18742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20b6fd2f247e1" /><Relationship Type="http://schemas.openxmlformats.org/officeDocument/2006/relationships/image" Target="/ppt/media/image17.png" Id="R1f4183e9582742a6" /><Relationship Type="http://schemas.openxmlformats.org/officeDocument/2006/relationships/notesSlide" Target="/ppt/notesSlides/notesSlide17.xml" Id="R4824ab75a56945b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413bf93ed444ab" /><Relationship Type="http://schemas.openxmlformats.org/officeDocument/2006/relationships/image" Target="/ppt/media/image18.png" Id="Rd390376743094947" /><Relationship Type="http://schemas.openxmlformats.org/officeDocument/2006/relationships/notesSlide" Target="/ppt/notesSlides/notesSlide18.xml" Id="R77cf94c013fc40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A49B242-0A93-4CAA-A976-B7B85414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7C87B069-4AE3-41FB-8E32-622FAD07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14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3815F20-9933-4640-9E82-67A009EF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ALGORITHM CONSTRUCTION LAB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1a61d28bd1416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48E3C81-C842-45B0-92BB-277816F0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18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1D1867E6-9160-4B7B-B718-C2045EBD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Producing algorithms: combined solutions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DB6C6EAB-F00F-49E7-BB96-0088CAEA2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DO NOW: RESEARCH AND DISCUSS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00081038-3E7F-400E-8756-EE3640E7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can you turn a long written requirement into a program you can check?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5658b5bb34863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76950" y="1931789"/>
            <a:ext cx="5400675" cy="337542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0518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29D0D74-D405-4298-8504-19625DD8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C94BCC8-515D-47EA-B6E2-2B7D4AC1D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B715B87-24C3-4EB0-A531-09F29276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500d88e94846be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46EE4D-4656-4BC2-8F50-308BDCE2B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4F21E87F-93E4-451F-AB4E-8822ED37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46CD32E7-7220-4C45-83BD-1A75D5222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Extract requirements from a problem.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27D15F66-C79A-48FB-A458-5FCABD71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6D66A0FC-FF53-4CDB-B571-D4D170C6C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Combine sequence, selection and iteration.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214AB879-F5E1-46A1-B3B7-732C3DA0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47E0FF81-472A-4959-B572-95A0EA47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Refine and test a complete solution.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43B6C4DF-53E7-4684-A2E0-0FBDE1EFF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B7588F05-DB7C-4321-91CF-115D3867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695093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389AE9BD-4456-44D0-A496-4A715994B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3D7E3F66-12BD-4737-B732-CF062507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2E71EDE-630B-477B-8324-3C6B882C3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9fa0d607c46d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CED2EF-8770-4B94-8FF7-8186209C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18</a:t>
            </a:r>
          </a:p>
        </p:txBody>
      </p:sp>
      <p:sp>
        <p:nvSpPr>
          <p:cNvPr id="6" name="worksheet-starter">
            <a:extLst xmlns:a="http://schemas.openxmlformats.org/drawingml/2006/main">
              <a:ext uri="{FF2B5EF4-FFF2-40B4-BE49-F238E27FC236}">
                <a16:creationId xmlns:a16="http://schemas.microsoft.com/office/drawing/2014/main" id="{4CABB616-5B19-458F-ADE4-F0436868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club charges 3 per hour for each item. What is the charge for two items hired for 2 and 4 hours?</a:t>
            </a:r>
          </a:p>
        </p:txBody>
      </p:sp>
    </p:spTree>
    <p:extLst>
      <p:ext uri="{BB962C8B-B14F-4D97-AF65-F5344CB8AC3E}">
        <p14:creationId xmlns:p14="http://schemas.microsoft.com/office/powerpoint/2010/main" val="206125039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CE6C1A7-1190-46F6-B558-07CF48F6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1A9E94E-2324-4A21-8E1F-53F06181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42F7C639-9A4F-4B2E-A66B-E7FC7229A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d4f30594240e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810CE3C-06F6-401D-921D-2679EFD1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18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04B18CF0-64CE-463F-A9B8-6A6A21ED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57E31F4-31D7-4905-A796-BE34CBF25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86000"/>
            <a:ext cx="99250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6 + 12 = 18. Calculate each item charge and add it to the total.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F9E7E19B-3986-45FC-B0B8-7910C783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A142279-1763-4095-BB35-E7C2790B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192561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8B0042C-2776-4B77-8450-5D698DB3B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158093-4E51-4193-8466-193E324E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8721011-60E3-4A46-ACE7-07BEAB79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6440bedb584a8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FC27DE5-76DC-4F16-881C-303A1916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18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B76E08EA-1329-4F7D-B904-1FFEF4D21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072ACAD3-9670-4434-9EBA-05DBFA23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764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Requirement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A8F18C87-2E1F-4B72-8996-4CD90B50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862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1C1C0B9C-20D9-4654-9F28-D51D1DA95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0862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Nested structure</a:t>
            </a:r>
          </a:p>
        </p:txBody>
      </p:sp>
    </p:spTree>
    <p:extLst>
      <p:ext uri="{BB962C8B-B14F-4D97-AF65-F5344CB8AC3E}">
        <p14:creationId xmlns:p14="http://schemas.microsoft.com/office/powerpoint/2010/main" val="9420321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07CAA27-6A33-4D26-8EEC-DDD6F19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C8C088F-E4C7-463F-A500-13D69523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AF3A2E8-08E7-4B52-8CB0-E9EDFA86C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a31a61f4054cb9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1FD2F40-F2E4-4894-A4B9-2F16BF1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18</a:t>
            </a:r>
          </a:p>
        </p:txBody>
      </p:sp>
      <p:sp>
        <p:nvSpPr>
          <p:cNvPr id="6" name="answer-term-0">
            <a:extLst xmlns:a="http://schemas.openxmlformats.org/drawingml/2006/main">
              <a:ext uri="{FF2B5EF4-FFF2-40B4-BE49-F238E27FC236}">
                <a16:creationId xmlns:a16="http://schemas.microsoft.com/office/drawing/2014/main" id="{C05575DA-F440-47EE-AADE-AE15CCD1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47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Requirement</a:t>
            </a:r>
          </a:p>
        </p:txBody>
      </p:sp>
      <p:sp>
        <p:nvSpPr>
          <p:cNvPr id="7" name="answer-definition-0">
            <a:extLst xmlns:a="http://schemas.openxmlformats.org/drawingml/2006/main">
              <a:ext uri="{FF2B5EF4-FFF2-40B4-BE49-F238E27FC236}">
                <a16:creationId xmlns:a16="http://schemas.microsoft.com/office/drawing/2014/main" id="{C6F926E0-3B0C-455B-B77A-C8974AE3E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2890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statement of what a solution must do.</a:t>
            </a:r>
          </a:p>
        </p:txBody>
      </p:sp>
      <p:sp>
        <p:nvSpPr>
          <p:cNvPr id="8" name="answer-term-1">
            <a:extLst xmlns:a="http://schemas.openxmlformats.org/drawingml/2006/main">
              <a:ext uri="{FF2B5EF4-FFF2-40B4-BE49-F238E27FC236}">
                <a16:creationId xmlns:a16="http://schemas.microsoft.com/office/drawing/2014/main" id="{C9190DB0-181E-4A8A-9E5E-95B19960F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338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Nested structure</a:t>
            </a:r>
          </a:p>
        </p:txBody>
      </p:sp>
      <p:sp>
        <p:nvSpPr>
          <p:cNvPr id="9" name="answer-definition-1">
            <a:extLst xmlns:a="http://schemas.openxmlformats.org/drawingml/2006/main">
              <a:ext uri="{FF2B5EF4-FFF2-40B4-BE49-F238E27FC236}">
                <a16:creationId xmlns:a16="http://schemas.microsoft.com/office/drawing/2014/main" id="{B865E412-4386-4ED0-B8E9-05D05365D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14850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control structure placed inside another control structure.</a:t>
            </a:r>
          </a:p>
        </p:txBody>
      </p:sp>
    </p:spTree>
    <p:extLst>
      <p:ext uri="{BB962C8B-B14F-4D97-AF65-F5344CB8AC3E}">
        <p14:creationId xmlns:p14="http://schemas.microsoft.com/office/powerpoint/2010/main" val="5443408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BA66B78-BFDC-4298-A4DA-5CB5A770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DA0D920-036D-4124-8F12-38EB1186A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2.1   /   LESSON 14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5191E8A-E142-4BC2-8435-1D8EA13B1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307ab3697f4ff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0A45757-2C05-40D6-9E75-84F5AEC8F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18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3B14933E-F008-4A1E-B920-32134F7F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OPEN THE EXPERIENCE NOW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7A71894B-6674-45BD-B430-F339D03A0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Algorithm construction lab in Topic 2.1.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B90E3C20-8F8E-412D-B38A-D521747F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B45B51EE-5945-44D5-9C7B-668BC232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 each station, write key facts IN YOUR OWN WORDS. Answer its worksheet challenge before tapping the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0B3F37C6-3223-43C3-B5C5-0734100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23A69AAC-E055-45B3-BEBA-D02CB8128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Attempt the worksheet final challenge before tapping the star. Record your score, then use review mode to correct mistakes.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97D05B46-012B-43E3-B865-D49BCF331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93D16BC3-41C8-47E2-B0D7-08EC3C3CD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8723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8C536E9-5669-4451-9AAB-579BAC1AD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9AAF36-B8DE-4251-8DE6-E6BCCD54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722D1D8-2EB7-4550-BC01-C8F4AA1B4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e822cebbd46e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48D3831D-CA2C-4D2B-8512-1C6B95BF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18</a:t>
            </a:r>
          </a:p>
        </p:txBody>
      </p:sp>
      <p:sp>
        <p:nvSpPr>
          <p:cNvPr id="6" name="extension-prompt">
            <a:extLst xmlns:a="http://schemas.openxmlformats.org/drawingml/2006/main">
              <a:ext uri="{FF2B5EF4-FFF2-40B4-BE49-F238E27FC236}">
                <a16:creationId xmlns:a16="http://schemas.microsoft.com/office/drawing/2014/main" id="{3D632867-A970-4622-9F75-EC7929A6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193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Return to the Do Now question. Use two things you learned in the room to improve your original answer.</a:t>
            </a:r>
          </a:p>
        </p:txBody>
      </p:sp>
      <p:sp>
        <p:nvSpPr>
          <p:cNvPr id="7" name="extension-follow">
            <a:extLst xmlns:a="http://schemas.openxmlformats.org/drawingml/2006/main">
              <a:ext uri="{FF2B5EF4-FFF2-40B4-BE49-F238E27FC236}">
                <a16:creationId xmlns:a16="http://schemas.microsoft.com/office/drawing/2014/main" id="{0C21F904-CB27-4E5D-A9F7-D13B95D2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48200"/>
            <a:ext cx="1057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Link your explanation to the problem and use a worked example where it helps.</a:t>
            </a:r>
          </a:p>
        </p:txBody>
      </p:sp>
    </p:spTree>
    <p:extLst>
      <p:ext uri="{BB962C8B-B14F-4D97-AF65-F5344CB8AC3E}">
        <p14:creationId xmlns:p14="http://schemas.microsoft.com/office/powerpoint/2010/main" val="74099791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B263055-5EA4-4302-98FD-2C08B0E0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A5B0DE7-189B-4E0D-AC5D-CF4265922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CONSOLIDATION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41086F9-DF63-4768-BF4E-D1F572BC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ced16570546a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14C2577-C6E7-49B9-B106-D65BE85AE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18</a:t>
            </a:r>
          </a:p>
        </p:txBody>
      </p:sp>
      <p:sp>
        <p:nvSpPr>
          <p:cNvPr id="6" name="extension-two">
            <a:extLst xmlns:a="http://schemas.openxmlformats.org/drawingml/2006/main">
              <a:ext uri="{FF2B5EF4-FFF2-40B4-BE49-F238E27FC236}">
                <a16:creationId xmlns:a16="http://schemas.microsoft.com/office/drawing/2014/main" id="{29844E22-D648-40A0-BC22-276A81AE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76525"/>
            <a:ext cx="10620375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Implement the full hire program in Python. Test 1, 2, 3 (18), 3, 3, 4 (25) and 4, 4, 4 (31). Compare each output with your design.</a:t>
            </a:r>
          </a:p>
        </p:txBody>
      </p:sp>
    </p:spTree>
    <p:extLst>
      <p:ext uri="{BB962C8B-B14F-4D97-AF65-F5344CB8AC3E}">
        <p14:creationId xmlns:p14="http://schemas.microsoft.com/office/powerpoint/2010/main" val="1610668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78803E9-413E-4B42-B661-1890FAB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F0305E1-8E4B-4FE7-9B7B-B01E262E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71FFA7C-71E3-407E-A084-8AAA87346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stronger explanation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b94dae68148f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5BD4D03-162B-45A5-AA28-72FD38F4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18</a:t>
            </a:r>
          </a:p>
        </p:txBody>
      </p:sp>
      <p:sp>
        <p:nvSpPr>
          <p:cNvPr id="6" name="extension-check">
            <a:extLst xmlns:a="http://schemas.openxmlformats.org/drawingml/2006/main">
              <a:ext uri="{FF2B5EF4-FFF2-40B4-BE49-F238E27FC236}">
                <a16:creationId xmlns:a16="http://schemas.microsoft.com/office/drawing/2014/main" id="{06547FB7-89E1-430C-BA4E-A0059FB7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Compare your reasoning, then improve one sentence on your worksheet.</a:t>
            </a:r>
          </a:p>
        </p:txBody>
      </p:sp>
      <p:sp>
        <p:nvSpPr>
          <p:cNvPr id="7" name="answer-application">
            <a:extLst xmlns:a="http://schemas.openxmlformats.org/drawingml/2006/main">
              <a:ext uri="{FF2B5EF4-FFF2-40B4-BE49-F238E27FC236}">
                <a16:creationId xmlns:a16="http://schemas.microsoft.com/office/drawing/2014/main" id="{7F1A9A78-A783-4735-9B4E-2787A5EE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050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Test the complete design</a:t>
            </a:r>
          </a:p>
        </p:txBody>
      </p:sp>
      <p:sp>
        <p:nvSpPr>
          <p:cNvPr id="8" name="answer-application-body">
            <a:extLst xmlns:a="http://schemas.openxmlformats.org/drawingml/2006/main">
              <a:ext uri="{FF2B5EF4-FFF2-40B4-BE49-F238E27FC236}">
                <a16:creationId xmlns:a16="http://schemas.microsoft.com/office/drawing/2014/main" id="{28087EFB-17A1-4A2B-B86E-2733BD05E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71775"/>
            <a:ext cx="104775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reaches the exact discount boundary of 30 and checks that the result is 25.</a:t>
            </a:r>
          </a:p>
        </p:txBody>
      </p:sp>
      <p:sp>
        <p:nvSpPr>
          <p:cNvPr id="9" name="answer-stretch">
            <a:extLst xmlns:a="http://schemas.openxmlformats.org/drawingml/2006/main">
              <a:ext uri="{FF2B5EF4-FFF2-40B4-BE49-F238E27FC236}">
                <a16:creationId xmlns:a16="http://schemas.microsoft.com/office/drawing/2014/main" id="{5A018C42-6685-447F-818E-7126648E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529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Review and explain</a:t>
            </a:r>
          </a:p>
        </p:txBody>
      </p:sp>
      <p:sp>
        <p:nvSpPr>
          <p:cNvPr id="10" name="answer-stretch-body">
            <a:extLst xmlns:a="http://schemas.openxmlformats.org/drawingml/2006/main">
              <a:ext uri="{FF2B5EF4-FFF2-40B4-BE49-F238E27FC236}">
                <a16:creationId xmlns:a16="http://schemas.microsoft.com/office/drawing/2014/main" id="{0C0236B0-96D2-4CB9-BE2E-068D8FFE2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10477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correction should name the correct idea and explain why it fits the question. Use the experience feedback to check it.</a:t>
            </a:r>
          </a:p>
        </p:txBody>
      </p:sp>
    </p:spTree>
    <p:extLst>
      <p:ext uri="{BB962C8B-B14F-4D97-AF65-F5344CB8AC3E}">
        <p14:creationId xmlns:p14="http://schemas.microsoft.com/office/powerpoint/2010/main" val="10771968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EF7E645-4366-476F-A5B1-90C7C70A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59341AF-F465-4757-AC09-3A0C4AF7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EBF8C94-893F-4F9B-8993-606E888E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7c4c2d9a98459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93BEC9-DC57-4892-87B7-6699B7FB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51C9C7E2-F4F1-420D-88E1-62F2A7BC6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D616DF12-F12D-4F89-BE2A-F5A3C233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Read the requirements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F6BEAF51-6593-4158-B949-6DCAF3DF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Three hour values are inputs. The combined charge is the output.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1C2437BA-61EC-4CC1-A291-672A28BC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Break down the solution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2AD176F9-D05F-473B-8386-F181E623F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Calculate each item charge, add it to the running total and apply any required discount.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D795BB1C-F6B4-4C53-AB97-8133E250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Build the running total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36B68946-29BE-4832-BBD8-102C229E4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3 + 6 + 9 = 18.</a:t>
            </a:r>
          </a:p>
        </p:txBody>
      </p:sp>
    </p:spTree>
    <p:extLst>
      <p:ext uri="{BB962C8B-B14F-4D97-AF65-F5344CB8AC3E}">
        <p14:creationId xmlns:p14="http://schemas.microsoft.com/office/powerpoint/2010/main" val="8535944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51900B3-0610-4E01-90E0-77DC6FF3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0525AC8-4A6A-4190-909D-B5EB30CD8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7AFF9494-BEC4-4AEA-BD48-105C969A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d78032c31d407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8FF5AE6-5314-4952-A1CD-C9E9FC07E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18</a:t>
            </a:r>
          </a:p>
        </p:txBody>
      </p:sp>
      <p:sp>
        <p:nvSpPr>
          <p:cNvPr id="6" name="check-stations">
            <a:extLst xmlns:a="http://schemas.openxmlformats.org/drawingml/2006/main">
              <a:ext uri="{FF2B5EF4-FFF2-40B4-BE49-F238E27FC236}">
                <a16:creationId xmlns:a16="http://schemas.microsoft.com/office/drawing/2014/main" id="{478BE9EE-4B04-4078-A860-876FCD86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0F0EBA09-E83B-415E-AD99-3550F935C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Apply a rule once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8D150509-4F43-452B-BA18-B4451906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29 stays 29. 30 qualifies and becomes 25.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F40CAFDA-7B28-4DDD-97A6-7FEB15E5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3377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Selection inside repetition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DF6939EB-FAE7-4750-B799-6DB46BA8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Inside the loop, so every item is checked using its own hours.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1F7890C8-2979-416E-AA29-BEE1AB3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Test the complete design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07216969-988D-4AF8-B64A-611D4169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It reaches the exact discount boundary of 30 and checks that the result is 25.</a:t>
            </a:r>
          </a:p>
        </p:txBody>
      </p:sp>
    </p:spTree>
    <p:extLst>
      <p:ext uri="{BB962C8B-B14F-4D97-AF65-F5344CB8AC3E}">
        <p14:creationId xmlns:p14="http://schemas.microsoft.com/office/powerpoint/2010/main" val="8069776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782CCF1-F8AC-4963-BE7C-39F589ECB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A98E84-19B5-4128-9F22-3EF63F2A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D092674-2E5F-4365-B13E-1BCD7239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challenge: answers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102385f3143b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371B726-81B4-4823-AF8C-B2AEE4C1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18</a:t>
            </a:r>
          </a:p>
        </p:txBody>
      </p:sp>
      <p:sp>
        <p:nvSpPr>
          <p:cNvPr id="6" name="star-key">
            <a:extLst xmlns:a="http://schemas.openxmlformats.org/drawingml/2006/main">
              <a:ext uri="{FF2B5EF4-FFF2-40B4-BE49-F238E27FC236}">
                <a16:creationId xmlns:a16="http://schemas.microsoft.com/office/drawing/2014/main" id="{4E2C5E58-B348-4B06-A627-247270C0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choices and the reasons you gave.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D13603A8-78DC-40B6-A8F6-04D146FD5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05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DA3F8A68-07AA-4136-A4C5-7B3C68E6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43125"/>
            <a:ext cx="99250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1. Where should total = 0 be placed?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Before the item loop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2. Hours 2, 2, 5 at 3 per hour. Discount is 5 if total &gt;= 30. Output?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Answer: 27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63D0CFC-FB29-4A55-9634-1938AE0CE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1AF0E8F5-58C1-4699-8D32-68538ACE6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432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64A6377B-270D-4D04-B61F-A116A4C0F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B2168BAC-D34D-4D09-BD22-C30743266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DAD3008D-DBDD-4EB1-B9E0-42941BDA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072DFA35-D5B3-464A-85A9-266225B7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1955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5" name="number-5">
            <a:extLst xmlns:a="http://schemas.openxmlformats.org/drawingml/2006/main">
              <a:ext uri="{FF2B5EF4-FFF2-40B4-BE49-F238E27FC236}">
                <a16:creationId xmlns:a16="http://schemas.microsoft.com/office/drawing/2014/main" id="{03F791EC-5D9B-433E-96F6-EF44C17A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577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6" name="item-5">
            <a:extLst xmlns:a="http://schemas.openxmlformats.org/drawingml/2006/main">
              <a:ext uri="{FF2B5EF4-FFF2-40B4-BE49-F238E27FC236}">
                <a16:creationId xmlns:a16="http://schemas.microsoft.com/office/drawing/2014/main" id="{11146F44-2CCE-4536-BF13-60F44AE22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57725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7" name="number-6">
            <a:extLst xmlns:a="http://schemas.openxmlformats.org/drawingml/2006/main">
              <a:ext uri="{FF2B5EF4-FFF2-40B4-BE49-F238E27FC236}">
                <a16:creationId xmlns:a16="http://schemas.microsoft.com/office/drawing/2014/main" id="{738F10DC-3C3F-4622-9638-0CD9ADB1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8" name="item-6">
            <a:extLst xmlns:a="http://schemas.openxmlformats.org/drawingml/2006/main">
              <a:ext uri="{FF2B5EF4-FFF2-40B4-BE49-F238E27FC236}">
                <a16:creationId xmlns:a16="http://schemas.microsoft.com/office/drawing/2014/main" id="{B4AC7286-B492-4B59-A29F-AA4F10A94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95900"/>
            <a:ext cx="9925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22917826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0BB8106-766C-4D11-B62C-A315B1DC9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E93FE83-8B7D-4ED0-A507-D6DF7BF8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2FAFAE26-D488-4C37-A08D-D8E5A9D0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(a–b)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df70fa22134dec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F7FA607-A51E-4EFD-8772-BFCA4D0A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18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DD4F8FC-DBBD-4F52-8BC4-1F8B4C279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Take the headset off or close the page. Answer from memory on the worksheet.</a:t>
            </a:r>
          </a:p>
        </p:txBody>
      </p:sp>
      <p:sp>
        <p:nvSpPr>
          <p:cNvPr id="7" name="a">
            <a:extLst xmlns:a="http://schemas.openxmlformats.org/drawingml/2006/main">
              <a:ext uri="{FF2B5EF4-FFF2-40B4-BE49-F238E27FC236}">
                <a16:creationId xmlns:a16="http://schemas.microsoft.com/office/drawing/2014/main" id="{9C6FAEDB-072B-436C-AA9C-D5832563B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a)</a:t>
            </a:r>
          </a:p>
        </p:txBody>
      </p:sp>
      <p:sp>
        <p:nvSpPr>
          <p:cNvPr id="8" name="question-a">
            <a:extLst xmlns:a="http://schemas.openxmlformats.org/drawingml/2006/main">
              <a:ext uri="{FF2B5EF4-FFF2-40B4-BE49-F238E27FC236}">
                <a16:creationId xmlns:a16="http://schemas.microsoft.com/office/drawing/2014/main" id="{6B2BF4EA-272A-415D-B46E-43EF0DF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581275"/>
            <a:ext cx="99441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Identify the inputs, processing and output of the hire program. [3]</a:t>
            </a:r>
          </a:p>
        </p:txBody>
      </p:sp>
      <p:sp>
        <p:nvSpPr>
          <p:cNvPr id="9" name="b">
            <a:extLst xmlns:a="http://schemas.openxmlformats.org/drawingml/2006/main">
              <a:ext uri="{FF2B5EF4-FFF2-40B4-BE49-F238E27FC236}">
                <a16:creationId xmlns:a16="http://schemas.microsoft.com/office/drawing/2014/main" id="{9509E02A-7E28-413B-8372-24604E28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1433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b)</a:t>
            </a:r>
          </a:p>
        </p:txBody>
      </p:sp>
      <p:sp>
        <p:nvSpPr>
          <p:cNvPr id="10" name="question-b">
            <a:extLst xmlns:a="http://schemas.openxmlformats.org/drawingml/2006/main">
              <a:ext uri="{FF2B5EF4-FFF2-40B4-BE49-F238E27FC236}">
                <a16:creationId xmlns:a16="http://schemas.microsoft.com/office/drawing/2014/main" id="{EA1267F7-E672-4AB5-8CC0-CE07B620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4143375"/>
            <a:ext cx="99441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Write pseudocode for three item-hour inputs at 3 per hour. Subtract 5 if total &gt;= 30, then output the charge. [6]</a:t>
            </a:r>
          </a:p>
        </p:txBody>
      </p:sp>
    </p:spTree>
    <p:extLst>
      <p:ext uri="{BB962C8B-B14F-4D97-AF65-F5344CB8AC3E}">
        <p14:creationId xmlns:p14="http://schemas.microsoft.com/office/powerpoint/2010/main" val="167940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5F1F2C14-4C50-48A4-9B67-A997A2622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DDB8B4A9-62FC-49C3-9E8B-2D918615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C7269B5-94FA-4086-8755-DE73995D9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(c)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dab1de6e26482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9C331FB-3C6F-4EEC-BBEB-57203449B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18</a:t>
            </a:r>
          </a:p>
        </p:txBody>
      </p:sp>
      <p:sp>
        <p:nvSpPr>
          <p:cNvPr id="6" name="from-memory">
            <a:extLst xmlns:a="http://schemas.openxmlformats.org/drawingml/2006/main">
              <a:ext uri="{FF2B5EF4-FFF2-40B4-BE49-F238E27FC236}">
                <a16:creationId xmlns:a16="http://schemas.microsoft.com/office/drawing/2014/main" id="{BDF8659F-4B53-45A1-96E8-35452E8FD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00200"/>
            <a:ext cx="107156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Keep the experience closed. Explain your reasoning in full sentences.</a:t>
            </a:r>
          </a:p>
        </p:txBody>
      </p:sp>
      <p:sp>
        <p:nvSpPr>
          <p:cNvPr id="7" name="c">
            <a:extLst xmlns:a="http://schemas.openxmlformats.org/drawingml/2006/main">
              <a:ext uri="{FF2B5EF4-FFF2-40B4-BE49-F238E27FC236}">
                <a16:creationId xmlns:a16="http://schemas.microsoft.com/office/drawing/2014/main" id="{629CF0F4-E195-43D7-9CCA-D8090133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781300"/>
            <a:ext cx="609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c)</a:t>
            </a:r>
          </a:p>
        </p:txBody>
      </p:sp>
      <p:sp>
        <p:nvSpPr>
          <p:cNvPr id="8" name="question-c">
            <a:extLst xmlns:a="http://schemas.openxmlformats.org/drawingml/2006/main">
              <a:ext uri="{FF2B5EF4-FFF2-40B4-BE49-F238E27FC236}">
                <a16:creationId xmlns:a16="http://schemas.microsoft.com/office/drawing/2014/main" id="{2397C953-3257-449B-B101-570ACDF6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781300"/>
            <a:ext cx="98679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Give inputs that test the exact discount threshold and state the expected output. [2]</a:t>
            </a:r>
          </a:p>
        </p:txBody>
      </p:sp>
      <p:sp>
        <p:nvSpPr>
          <p:cNvPr id="9" name="marks">
            <a:extLst xmlns:a="http://schemas.openxmlformats.org/drawingml/2006/main">
              <a:ext uri="{FF2B5EF4-FFF2-40B4-BE49-F238E27FC236}">
                <a16:creationId xmlns:a16="http://schemas.microsoft.com/office/drawing/2014/main" id="{B5E43C45-0F63-4BF1-AFCD-45A804E5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38775"/>
            <a:ext cx="10477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Use the marks in brackets to judge how much detail to include.</a:t>
            </a:r>
          </a:p>
        </p:txBody>
      </p:sp>
    </p:spTree>
    <p:extLst>
      <p:ext uri="{BB962C8B-B14F-4D97-AF65-F5344CB8AC3E}">
        <p14:creationId xmlns:p14="http://schemas.microsoft.com/office/powerpoint/2010/main" val="7475317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9886798-8F0F-4B54-BAEC-A0540120C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6D6D98F3-B670-4101-B9A9-2184D5A6E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6C64587-B8D3-44DA-8AA8-1AB5AE6D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(a–b)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d991a78cde460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9EEFA3B3-6527-4E2D-9FE8-B1783E9B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910FB56C-D13F-443C-831C-7EB54AF5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scheme-a">
            <a:extLst xmlns:a="http://schemas.openxmlformats.org/drawingml/2006/main">
              <a:ext uri="{FF2B5EF4-FFF2-40B4-BE49-F238E27FC236}">
                <a16:creationId xmlns:a16="http://schemas.microsoft.com/office/drawing/2014/main" id="{41502BD5-C47A-4406-827D-A550F44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 Hours for each item (1), calculate and sum charges then apply the rule (1), combined charge (1).</a:t>
            </a:r>
          </a:p>
        </p:txBody>
      </p:sp>
      <p:sp>
        <p:nvSpPr>
          <p:cNvPr id="8" name="scheme-b">
            <a:extLst xmlns:a="http://schemas.openxmlformats.org/drawingml/2006/main">
              <a:ext uri="{FF2B5EF4-FFF2-40B4-BE49-F238E27FC236}">
                <a16:creationId xmlns:a16="http://schemas.microsoft.com/office/drawing/2014/main" id="{4030A590-8409-4747-8A49-22010C81B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10572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  Initialise total (1), three-iteration loop (1), input hours (1), accumulate hours * 3 (1), correct discount after loop (1), output final total (1).</a:t>
            </a:r>
          </a:p>
        </p:txBody>
      </p:sp>
    </p:spTree>
    <p:extLst>
      <p:ext uri="{BB962C8B-B14F-4D97-AF65-F5344CB8AC3E}">
        <p14:creationId xmlns:p14="http://schemas.microsoft.com/office/powerpoint/2010/main" val="144624375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81A4B-6AC1-4816-AF79-691B19F4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160FA52-8505-4663-AF29-746E3C6A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723C30E-7C0B-4663-9CFD-AEBB0B6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(c)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4183e9582742a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FCDE95E-15E9-4DFC-BCC0-8290133C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18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67C08AF-7243-4EE2-AFA0-1DBD0A7C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 for the final question.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C971BC91-2C30-4670-9E94-EB7BAD54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860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38BA7518-F976-4AA8-9FBD-9CA4E93E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860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For example 3, 3, 4 hours makes a raw total of 30 (1) and output 25 (1).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4CE5C16C-95D9-4554-BC9D-0CB5CA0D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909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C4346348-B81F-437B-A07E-C9085E2A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909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DBDD63D3-A34B-4614-BC00-7470B22F2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958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AAD983A1-375A-4785-BE52-216AFD70B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95825"/>
            <a:ext cx="99250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58965231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A368A0EC-80FD-4672-B2B2-DBDF6094D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94A4DF14-4035-4380-8761-948455E2A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2.1   /   LESSON 14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86131C61-4DE8-4ADA-AA38-AF5838A8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0376743094947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D9F0318-AD5A-451A-9E2A-0B42908DA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18</a:t>
            </a:r>
          </a:p>
        </p:txBody>
      </p:sp>
      <p:sp>
        <p:nvSpPr>
          <p:cNvPr id="6" name="confidence-instruction">
            <a:extLst xmlns:a="http://schemas.openxmlformats.org/drawingml/2006/main">
              <a:ext uri="{FF2B5EF4-FFF2-40B4-BE49-F238E27FC236}">
                <a16:creationId xmlns:a16="http://schemas.microsoft.com/office/drawing/2014/main" id="{21CCFCB5-9EEF-4D0C-ACC8-C2D3D4C2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On the worksheet, select Not yet, Getting there or Confident for each objective.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1445CA78-BAE2-4623-A518-59C7169A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B9CB63FA-CF41-41AC-AAF6-A489CFF3B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Extract requirements from a problem.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BF24F2CF-D0BF-433B-A4BD-27BA20302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43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2EBB092A-60CB-4087-9DD4-5443676B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4327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Combine sequence, selection and iteration.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43B035FB-801C-4E05-87F1-800820CE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02E48C22-31AC-4A31-87AE-D3A00B3F1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Refine and test a complete solution.</a:t>
            </a:r>
          </a:p>
        </p:txBody>
      </p:sp>
      <p:sp>
        <p:nvSpPr>
          <p:cNvPr id="13" name="number-4">
            <a:extLst xmlns:a="http://schemas.openxmlformats.org/drawingml/2006/main">
              <a:ext uri="{FF2B5EF4-FFF2-40B4-BE49-F238E27FC236}">
                <a16:creationId xmlns:a16="http://schemas.microsoft.com/office/drawing/2014/main" id="{CE4EAE46-F751-4F69-9E68-CFF078A99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006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  <p:sp>
        <p:nvSpPr>
          <p:cNvPr id="14" name="item-4">
            <a:extLst xmlns:a="http://schemas.openxmlformats.org/drawingml/2006/main">
              <a:ext uri="{FF2B5EF4-FFF2-40B4-BE49-F238E27FC236}">
                <a16:creationId xmlns:a16="http://schemas.microsoft.com/office/drawing/2014/main" id="{F71661C6-7DB3-4EC1-B1E5-D88C7A612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000625"/>
            <a:ext cx="99250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4799295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2026-09-28T13:00:51.7260000Z</dcterms:created>
  <dcterms:modified xsi:type="dcterms:W3CDTF">2026-09-28T13:00:51.7260000Z</dcterms:modified>
</coreProperties>
</file>