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3913d9f59de48cf" /><Relationship Type="http://schemas.openxmlformats.org/officeDocument/2006/relationships/extended-properties" Target="/docProps/app.xml" Id="R42f1a2db9e064c40" /><Relationship Type="http://schemas.openxmlformats.org/officeDocument/2006/relationships/officeDocument" Target="/ppt/presentation.xml" Id="R3cb04aa8a56c4f63" /></Relationships>
</file>

<file path=ppt/presentation.xml><?xml version="1.0" encoding="utf-8"?>
<p:presentation xmlns:p="http://schemas.openxmlformats.org/presentationml/2006/main">
  <p:sldMasterIdLst>
    <p:sldMasterId xmlns:r="http://schemas.openxmlformats.org/officeDocument/2006/relationships" id="2147483648" r:id="R8e408198bdba4d44"/>
  </p:sldMasterIdLst>
  <p:notesMasterIdLst>
    <p:notesMasterId xmlns:r="http://schemas.openxmlformats.org/officeDocument/2006/relationships" r:id="Rd5ac4fc28cbf4628"/>
  </p:notesMasterIdLst>
  <p:sldIdLst>
    <p:sldId xmlns:r="http://schemas.openxmlformats.org/officeDocument/2006/relationships" id="256" r:id="Rc488cbb41c7246f7"/>
    <p:sldId xmlns:r="http://schemas.openxmlformats.org/officeDocument/2006/relationships" id="257" r:id="Rfa24d02fd4924741"/>
    <p:sldId xmlns:r="http://schemas.openxmlformats.org/officeDocument/2006/relationships" id="258" r:id="R2b9f93ff685e48a0"/>
    <p:sldId xmlns:r="http://schemas.openxmlformats.org/officeDocument/2006/relationships" id="259" r:id="R75815c7aa2eb40e7"/>
    <p:sldId xmlns:r="http://schemas.openxmlformats.org/officeDocument/2006/relationships" id="260" r:id="R8088f4dac393438c"/>
    <p:sldId xmlns:r="http://schemas.openxmlformats.org/officeDocument/2006/relationships" id="261" r:id="R700970e070a6495c"/>
    <p:sldId xmlns:r="http://schemas.openxmlformats.org/officeDocument/2006/relationships" id="262" r:id="Redf1382c021b4219"/>
    <p:sldId xmlns:r="http://schemas.openxmlformats.org/officeDocument/2006/relationships" id="263" r:id="R1c81d0142384411a"/>
    <p:sldId xmlns:r="http://schemas.openxmlformats.org/officeDocument/2006/relationships" id="264" r:id="R4c051f9a93b14047"/>
    <p:sldId xmlns:r="http://schemas.openxmlformats.org/officeDocument/2006/relationships" id="265" r:id="R77861e8c1c624495"/>
    <p:sldId xmlns:r="http://schemas.openxmlformats.org/officeDocument/2006/relationships" id="266" r:id="R901078ad6a0f4e46"/>
    <p:sldId xmlns:r="http://schemas.openxmlformats.org/officeDocument/2006/relationships" id="267" r:id="R012bb553f5044254"/>
    <p:sldId xmlns:r="http://schemas.openxmlformats.org/officeDocument/2006/relationships" id="268" r:id="R29dfed90ec284571"/>
    <p:sldId xmlns:r="http://schemas.openxmlformats.org/officeDocument/2006/relationships" id="269" r:id="Rfa5cc635963a4c22"/>
    <p:sldId xmlns:r="http://schemas.openxmlformats.org/officeDocument/2006/relationships" id="270" r:id="Rbf15c359f4c248a7"/>
    <p:sldId xmlns:r="http://schemas.openxmlformats.org/officeDocument/2006/relationships" id="271" r:id="Re0711bc397b34da3"/>
    <p:sldId xmlns:r="http://schemas.openxmlformats.org/officeDocument/2006/relationships" id="272" r:id="R41ff68d7a5294737"/>
    <p:sldId xmlns:r="http://schemas.openxmlformats.org/officeDocument/2006/relationships" id="273" r:id="R2e927f9b1c2c49b4"/>
    <p:sldId xmlns:r="http://schemas.openxmlformats.org/officeDocument/2006/relationships" id="274" r:id="R1ac6d9b1fffb465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e1188b69f044b2c" /><Relationship Type="http://schemas.openxmlformats.org/officeDocument/2006/relationships/slideMaster" Target="/ppt/slideMasters/slideMaster1.xml" Id="R8e408198bdba4d44" /><Relationship Type="http://schemas.openxmlformats.org/officeDocument/2006/relationships/notesMaster" Target="/ppt/notesMasters/notesMaster1.xml" Id="Rd5ac4fc28cbf4628" /><Relationship Type="http://schemas.openxmlformats.org/officeDocument/2006/relationships/presProps" Target="/ppt/presProps.xml" Id="R3f4ab3b635294f86" /><Relationship Type="http://schemas.openxmlformats.org/officeDocument/2006/relationships/tableStyles" Target="/ppt/tableStyles.xml" Id="R36917d6833b94a31" /><Relationship Type="http://schemas.openxmlformats.org/officeDocument/2006/relationships/slide" Target="/ppt/slides/slide1.xml" Id="Rc488cbb41c7246f7" /><Relationship Type="http://schemas.openxmlformats.org/officeDocument/2006/relationships/slide" Target="/ppt/slides/slide2.xml" Id="Rfa24d02fd4924741" /><Relationship Type="http://schemas.openxmlformats.org/officeDocument/2006/relationships/slide" Target="/ppt/slides/slide3.xml" Id="R2b9f93ff685e48a0" /><Relationship Type="http://schemas.openxmlformats.org/officeDocument/2006/relationships/slide" Target="/ppt/slides/slide4.xml" Id="R75815c7aa2eb40e7" /><Relationship Type="http://schemas.openxmlformats.org/officeDocument/2006/relationships/slide" Target="/ppt/slides/slide5.xml" Id="R8088f4dac393438c" /><Relationship Type="http://schemas.openxmlformats.org/officeDocument/2006/relationships/slide" Target="/ppt/slides/slide6.xml" Id="R700970e070a6495c" /><Relationship Type="http://schemas.openxmlformats.org/officeDocument/2006/relationships/slide" Target="/ppt/slides/slide7.xml" Id="Redf1382c021b4219" /><Relationship Type="http://schemas.openxmlformats.org/officeDocument/2006/relationships/slide" Target="/ppt/slides/slide8.xml" Id="R1c81d0142384411a" /><Relationship Type="http://schemas.openxmlformats.org/officeDocument/2006/relationships/slide" Target="/ppt/slides/slide9.xml" Id="R4c051f9a93b14047" /><Relationship Type="http://schemas.openxmlformats.org/officeDocument/2006/relationships/slide" Target="/ppt/slides/slide10.xml" Id="R77861e8c1c624495" /><Relationship Type="http://schemas.openxmlformats.org/officeDocument/2006/relationships/slide" Target="/ppt/slides/slide11.xml" Id="R901078ad6a0f4e46" /><Relationship Type="http://schemas.openxmlformats.org/officeDocument/2006/relationships/slide" Target="/ppt/slides/slide12.xml" Id="R012bb553f5044254" /><Relationship Type="http://schemas.openxmlformats.org/officeDocument/2006/relationships/slide" Target="/ppt/slides/slide13.xml" Id="R29dfed90ec284571" /><Relationship Type="http://schemas.openxmlformats.org/officeDocument/2006/relationships/slide" Target="/ppt/slides/slide14.xml" Id="Rfa5cc635963a4c22" /><Relationship Type="http://schemas.openxmlformats.org/officeDocument/2006/relationships/slide" Target="/ppt/slides/slide15.xml" Id="Rbf15c359f4c248a7" /><Relationship Type="http://schemas.openxmlformats.org/officeDocument/2006/relationships/slide" Target="/ppt/slides/slide16.xml" Id="Re0711bc397b34da3" /><Relationship Type="http://schemas.openxmlformats.org/officeDocument/2006/relationships/slide" Target="/ppt/slides/slide17.xml" Id="R41ff68d7a5294737" /><Relationship Type="http://schemas.openxmlformats.org/officeDocument/2006/relationships/slide" Target="/ppt/slides/slide18.xml" Id="R2e927f9b1c2c49b4" /><Relationship Type="http://schemas.openxmlformats.org/officeDocument/2006/relationships/slide" Target="/ppt/slides/slide19.xml" Id="R1ac6d9b1fffb465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a1c8df7de77438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6e4c314a1c44406" /><Relationship Type="http://schemas.openxmlformats.org/officeDocument/2006/relationships/notesMaster" Target="/ppt/notesMasters/notesMaster1.xml" Id="R46a6f27920df4c82" /></Relationships>
</file>

<file path=ppt/notesSlides/_rels/notesSlide2.xml.rels>&#65279;<?xml version="1.0" encoding="utf-8"?><Relationships xmlns="http://schemas.openxmlformats.org/package/2006/relationships"><Relationship Type="http://schemas.openxmlformats.org/officeDocument/2006/relationships/slide" Target="/ppt/slides/slide2.xml" Id="R591bac5db6784ce4" /><Relationship Type="http://schemas.openxmlformats.org/officeDocument/2006/relationships/notesMaster" Target="/ppt/notesMasters/notesMaster1.xml" Id="Ra154ea560c214b29" /></Relationships>
</file>

<file path=ppt/notesSlides/_rels/notesSlide3.xml.rels>&#65279;<?xml version="1.0" encoding="utf-8"?><Relationships xmlns="http://schemas.openxmlformats.org/package/2006/relationships"><Relationship Type="http://schemas.openxmlformats.org/officeDocument/2006/relationships/slide" Target="/ppt/slides/slide3.xml" Id="Rbc81d0d97d15415f" /><Relationship Type="http://schemas.openxmlformats.org/officeDocument/2006/relationships/notesMaster" Target="/ppt/notesMasters/notesMaster1.xml" Id="Rf69c6ed1a8484597" /></Relationships>
</file>

<file path=ppt/notesSlides/_rels/notesSlide4.xml.rels>&#65279;<?xml version="1.0" encoding="utf-8"?><Relationships xmlns="http://schemas.openxmlformats.org/package/2006/relationships"><Relationship Type="http://schemas.openxmlformats.org/officeDocument/2006/relationships/slide" Target="/ppt/slides/slide4.xml" Id="Rc7059eaadd3e4cb4" /><Relationship Type="http://schemas.openxmlformats.org/officeDocument/2006/relationships/notesMaster" Target="/ppt/notesMasters/notesMaster1.xml" Id="Rf9f0f1061a8e474c" /></Relationships>
</file>

<file path=ppt/notesSlides/_rels/notesSlide5.xml.rels>&#65279;<?xml version="1.0" encoding="utf-8"?><Relationships xmlns="http://schemas.openxmlformats.org/package/2006/relationships"><Relationship Type="http://schemas.openxmlformats.org/officeDocument/2006/relationships/slide" Target="/ppt/slides/slide5.xml" Id="R4701a8b915e54848" /><Relationship Type="http://schemas.openxmlformats.org/officeDocument/2006/relationships/notesMaster" Target="/ppt/notesMasters/notesMaster1.xml" Id="R7cca7821b99a4f14" /></Relationships>
</file>

<file path=ppt/notesSlides/_rels/notesSlide6.xml.rels>&#65279;<?xml version="1.0" encoding="utf-8"?><Relationships xmlns="http://schemas.openxmlformats.org/package/2006/relationships"><Relationship Type="http://schemas.openxmlformats.org/officeDocument/2006/relationships/slide" Target="/ppt/slides/slide6.xml" Id="Rb0132a615ef4487c" /><Relationship Type="http://schemas.openxmlformats.org/officeDocument/2006/relationships/notesMaster" Target="/ppt/notesMasters/notesMaster1.xml" Id="R2a918512ffe746d0" /></Relationships>
</file>

<file path=ppt/notesSlides/_rels/notesSlide7.xml.rels>&#65279;<?xml version="1.0" encoding="utf-8"?><Relationships xmlns="http://schemas.openxmlformats.org/package/2006/relationships"><Relationship Type="http://schemas.openxmlformats.org/officeDocument/2006/relationships/slide" Target="/ppt/slides/slide7.xml" Id="R288e267275c34d7a" /><Relationship Type="http://schemas.openxmlformats.org/officeDocument/2006/relationships/notesMaster" Target="/ppt/notesMasters/notesMaster1.xml" Id="R6653f1cf07b94abb" /></Relationships>
</file>

<file path=ppt/notesSlides/_rels/notesSlide8.xml.rels>&#65279;<?xml version="1.0" encoding="utf-8"?><Relationships xmlns="http://schemas.openxmlformats.org/package/2006/relationships"><Relationship Type="http://schemas.openxmlformats.org/officeDocument/2006/relationships/slide" Target="/ppt/slides/slide8.xml" Id="Rebc0ba39710947e7" /><Relationship Type="http://schemas.openxmlformats.org/officeDocument/2006/relationships/notesMaster" Target="/ppt/notesMasters/notesMaster1.xml" Id="R63082c4cadb8481d" /></Relationships>
</file>

<file path=ppt/notesSlides/_rels/notesSlide9.xml.rels>&#65279;<?xml version="1.0" encoding="utf-8"?><Relationships xmlns="http://schemas.openxmlformats.org/package/2006/relationships"><Relationship Type="http://schemas.openxmlformats.org/officeDocument/2006/relationships/slide" Target="/ppt/slides/slide9.xml" Id="Ra6e39ee8ff994e01" /><Relationship Type="http://schemas.openxmlformats.org/officeDocument/2006/relationships/notesMaster" Target="/ppt/notesMasters/notesMaster1.xml" Id="R9dfee1340ac040d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2dc0b95a24f45b5" /><Relationship Type="http://schemas.openxmlformats.org/officeDocument/2006/relationships/notesMaster" Target="/ppt/notesMasters/notesMaster1.xml" Id="R22a921fe43c3447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9b0e2f92c674281" /><Relationship Type="http://schemas.openxmlformats.org/officeDocument/2006/relationships/notesMaster" Target="/ppt/notesMasters/notesMaster1.xml" Id="Rb185bc71b75d4c6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dd91295ed0241d2" /><Relationship Type="http://schemas.openxmlformats.org/officeDocument/2006/relationships/notesMaster" Target="/ppt/notesMasters/notesMaster1.xml" Id="Rbde498d743174d5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60b99a60a8144b3" /><Relationship Type="http://schemas.openxmlformats.org/officeDocument/2006/relationships/notesMaster" Target="/ppt/notesMasters/notesMaster1.xml" Id="R32ee51046f5b424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52e6cc2d51440b3" /><Relationship Type="http://schemas.openxmlformats.org/officeDocument/2006/relationships/notesMaster" Target="/ppt/notesMasters/notesMaster1.xml" Id="R68168c9231da4ce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cf8012d3d63451b" /><Relationship Type="http://schemas.openxmlformats.org/officeDocument/2006/relationships/notesMaster" Target="/ppt/notesMasters/notesMaster1.xml" Id="R207cdb80179f476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d91f598cd944792" /><Relationship Type="http://schemas.openxmlformats.org/officeDocument/2006/relationships/notesMaster" Target="/ppt/notesMasters/notesMaster1.xml" Id="Rf0320996113f420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eb8956f23fb4269" /><Relationship Type="http://schemas.openxmlformats.org/officeDocument/2006/relationships/notesMaster" Target="/ppt/notesMasters/notesMaster1.xml" Id="Rdcca562986ca455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380d87f5b964265" /><Relationship Type="http://schemas.openxmlformats.org/officeDocument/2006/relationships/notesMaster" Target="/ppt/notesMasters/notesMaster1.xml" Id="Rab7e7d8f196c444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e74f36f9a18438c" /><Relationship Type="http://schemas.openxmlformats.org/officeDocument/2006/relationships/notesMaster" Target="/ppt/notesMasters/notesMaster1.xml" Id="R46b5706979ad441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image is a straight-on perspective preview of the actual experience. Start with the worksheet starter.</a:t>
            </a:r>
          </a:p>
          <a:p xmlns:a="http://schemas.openxmlformats.org/drawingml/2006/main">
            <a:r>
              <a:t>Sources: Revise 360 experiences/ms-l01.json and worksheets/MS_L01_MemoryBay_Worksheet.docx. Answers are indicative classroom examples, not an official OCR mark scheme. Calculations follow the worksheet’s decimal kB/MB/GB convention unless stated.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outcomes follow the wording of the lesson worksheet.</a:t>
            </a:r>
          </a:p>
          <a:p xmlns:a="http://schemas.openxmlformats.org/drawingml/2006/main">
            <a:r>
              <a:t>Sources: Revise 360 experiences/ms-l01.json and worksheets/MS_L01_MemoryBay_Worksheet.docx. Answers are indicative classroom examples, not an official OCR mark scheme. Calculations follow the worksheet’s decimal kB/MB/GB convention unless stated.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Allow students to answer the exact worksheet starter before showing the sample answers.</a:t>
            </a:r>
          </a:p>
          <a:p xmlns:a="http://schemas.openxmlformats.org/drawingml/2006/main">
            <a:r>
              <a:t>Sources: Revise 360 experiences/ms-l01.json and worksheets/MS_L01_MemoryBay_Worksheet.docx. Answers are indicative classroom examples, not an official OCR mark scheme. Calculations follow the worksheet’s decimal kB/MB/GB convention unless stated.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Accept equivalent correct responses. These examples respond to the worksheet starter.</a:t>
            </a:r>
          </a:p>
          <a:p xmlns:a="http://schemas.openxmlformats.org/drawingml/2006/main">
            <a:r>
              <a:t>Sources: Revise 360 experiences/ms-l01.json and worksheets/MS_L01_MemoryBay_Worksheet.docx. Answers are indicative classroom examples, not an official OCR mark scheme. Calculations follow the worksheet’s decimal kB/MB/GB convention unless stated.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Students define the two terms printed on the worksheet before marking them.</a:t>
            </a:r>
          </a:p>
          <a:p xmlns:a="http://schemas.openxmlformats.org/drawingml/2006/main">
            <a:r>
              <a:t>Sources: Revise 360 experiences/ms-l01.json and worksheets/MS_L01_MemoryBay_Worksheet.docx. Answers are indicative classroom examples, not an official OCR mark scheme. Calculations follow the worksheet’s decimal kB/MB/GB convention unless stated.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Reveal after students attempt the definitions; accept accurate wording in their own words.</a:t>
            </a:r>
          </a:p>
          <a:p xmlns:a="http://schemas.openxmlformats.org/drawingml/2006/main">
            <a:r>
              <a:t>Sources: Revise 360 experiences/ms-l01.json and worksheets/MS_L01_MemoryBay_Worksheet.docx. Answers are indicative classroom examples, not an official OCR mark scheme. Calculations follow the worksheet’s decimal kB/MB/GB convention unless stated.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Leave this board slide visible during the experience. The OPEN EXPERIENCE label is a clickable link. Everyone should complete the experience and reach the plenary near the end of the lesson. First on-screen responses count.</a:t>
            </a:r>
          </a:p>
          <a:p xmlns:a="http://schemas.openxmlformats.org/drawingml/2006/main">
            <a:r>
              <a:t>Sources: Revise 360 experiences/ms-l01.json and worksheets/MS_L01_MemoryBay_Worksheet.docx. Answers are indicative classroom examples, not an official OCR mark scheme. Calculations follow the worksheet’s decimal kB/MB/GB convention unless stated.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follows the task after the score on the worksheet. For revision, students use their results and outstanding work list.</a:t>
            </a:r>
          </a:p>
          <a:p xmlns:a="http://schemas.openxmlformats.org/drawingml/2006/main">
            <a:r>
              <a:t>Sources: Revise 360 experiences/ms-l01.json and worksheets/MS_L01_MemoryBay_Worksheet.docx. Answers are indicative classroom examples, not an official OCR mark scheme. Calculations follow the worksheet’s decimal kB/MB/GB convention unless stated.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question to deepen or correct the worksheet response before the plenary.</a:t>
            </a:r>
          </a:p>
          <a:p xmlns:a="http://schemas.openxmlformats.org/drawingml/2006/main">
            <a:r>
              <a:t>Sources: Revise 360 experiences/ms-l01.json and worksheets/MS_L01_MemoryBay_Worksheet.docx. Answers are indicative classroom examples, not an official OCR mark scheme. Calculations follow the worksheet’s decimal kB/MB/GB convention unless stated.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sample answers or a sample revision action. Ratings and open choices may vary with a justified device and context.</a:t>
            </a:r>
          </a:p>
          <a:p xmlns:a="http://schemas.openxmlformats.org/drawingml/2006/main">
            <a:r>
              <a:t>Sources: Revise 360 experiences/ms-l01.json and worksheets/MS_L01_MemoryBay_Worksheet.docx. Answers are indicative classroom examples, not an official OCR mark scheme. Calculations follow the worksheet’s decimal kB/MB/GB convention unless stated.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only after students have completed the experience. These concise points answer the station challenges and help students improve their own wording.</a:t>
            </a:r>
          </a:p>
          <a:p xmlns:a="http://schemas.openxmlformats.org/drawingml/2006/main">
            <a:r>
              <a:t>Sources: Revise 360 experiences/ms-l01.json and worksheets/MS_L01_MemoryBay_Worksheet.docx. Answers are indicative classroom examples, not an official OCR mark scheme. Calculations follow the worksheet’s decimal kB/MB/GB convention unless stated.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only after students have completed the experience. These concise points answer the station challenges and help students improve their own wording.</a:t>
            </a:r>
          </a:p>
          <a:p xmlns:a="http://schemas.openxmlformats.org/drawingml/2006/main">
            <a:r>
              <a:t>Sources: Revise 360 experiences/ms-l01.json and worksheets/MS_L01_MemoryBay_Worksheet.docx. Answers are indicative classroom examples, not an official OCR mark scheme. Calculations follow the worksheet’s decimal kB/MB/GB convention unless stated.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Answers are in the same order as the worksheet final challenge and the experience star task. Pixel and sound sketches should be checked against the interactive pattern or wave.</a:t>
            </a:r>
          </a:p>
          <a:p xmlns:a="http://schemas.openxmlformats.org/drawingml/2006/main">
            <a:r>
              <a:t>Sources: Revise 360 experiences/ms-l01.json and worksheets/MS_L01_MemoryBay_Worksheet.docx. Answers are indicative classroom examples, not an official OCR mark scheme. Calculations follow the worksheet’s decimal kB/MB/GB convention unless stated.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Answers are in the same order as the worksheet final challenge and the experience star task. Pixel and sound sketches should be checked against the interactive pattern or wave.</a:t>
            </a:r>
          </a:p>
          <a:p xmlns:a="http://schemas.openxmlformats.org/drawingml/2006/main">
            <a:r>
              <a:t>Sources: Revise 360 experiences/ms-l01.json and worksheets/MS_L01_MemoryBay_Worksheet.docx. Answers are indicative classroom examples, not an official OCR mark scheme. Calculations follow the worksheet’s decimal kB/MB/GB convention unless stated.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exact exam-practice questions from the worksheet. Allow independent writing before displaying the answer slides.</a:t>
            </a:r>
          </a:p>
          <a:p xmlns:a="http://schemas.openxmlformats.org/drawingml/2006/main">
            <a:r>
              <a:t>Sources: Revise 360 experiences/ms-l01.json and worksheets/MS_L01_MemoryBay_Worksheet.docx. Answers are indicative classroom examples, not an official OCR mark scheme. Calculations follow the worksheet’s decimal kB/MB/GB convention unless stated.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exact exam-practice questions from the worksheet. Allow independent writing before displaying the answer slides.</a:t>
            </a:r>
          </a:p>
          <a:p xmlns:a="http://schemas.openxmlformats.org/drawingml/2006/main">
            <a:r>
              <a:t>Sources: Revise 360 experiences/ms-l01.json and worksheets/MS_L01_MemoryBay_Worksheet.docx. Answers are indicative classroom examples, not an official OCR mark scheme. Calculations follow the worksheet’s decimal kB/MB/GB convention unless stated.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Classroom answer points, not an official OCR mark scheme. Ask students to correct or improve one answer.</a:t>
            </a:r>
          </a:p>
          <a:p xmlns:a="http://schemas.openxmlformats.org/drawingml/2006/main">
            <a:r>
              <a:t>Sources: Revise 360 experiences/ms-l01.json and worksheets/MS_L01_MemoryBay_Worksheet.docx. Answers are indicative classroom examples, not an official OCR mark scheme. Calculations follow the worksheet’s decimal kB/MB/GB convention unless stated.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Classroom answer points, not an official OCR mark scheme. Ask students to correct or improve one answer.</a:t>
            </a:r>
          </a:p>
          <a:p xmlns:a="http://schemas.openxmlformats.org/drawingml/2006/main">
            <a:r>
              <a:t>Sources: Revise 360 experiences/ms-l01.json and worksheets/MS_L01_MemoryBay_Worksheet.docx. Answers are indicative classroom examples, not an official OCR mark scheme. Calculations follow the worksheet’s decimal kB/MB/GB convention unless stated.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exact confidence objectives from the worksheet. Students identify one area to revisit.</a:t>
            </a:r>
          </a:p>
          <a:p xmlns:a="http://schemas.openxmlformats.org/drawingml/2006/main">
            <a:r>
              <a:t>Sources: Revise 360 experiences/ms-l01.json and worksheets/MS_L01_MemoryBay_Worksheet.docx. Answers are indicative classroom examples, not an official OCR mark scheme. Calculations follow the worksheet’s decimal kB/MB/GB convention unless stated.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20090b96323456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503877dd0994bfa" /><Relationship Type="http://schemas.openxmlformats.org/officeDocument/2006/relationships/slideLayout" Target="/ppt/slideLayouts/slideLayout1.xml" Id="Rdc59a9e1e97447d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c59a9e1e97447d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af9cc1b010e4064" /><Relationship Type="http://schemas.openxmlformats.org/officeDocument/2006/relationships/image" Target="/ppt/media/image.png" Id="R302cb8b3b5ba4c04" /><Relationship Type="http://schemas.openxmlformats.org/officeDocument/2006/relationships/image" Target="/ppt/media/image.jpeg" Id="Ra420ed9c77954984" /><Relationship Type="http://schemas.openxmlformats.org/officeDocument/2006/relationships/notesSlide" Target="/ppt/notesSlides/notesSlide1.xml" Id="R8515bbd0e3d047d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98faf334e4c4bff" /><Relationship Type="http://schemas.openxmlformats.org/officeDocument/2006/relationships/image" Target="/ppt/media/image2.png" Id="R7450cd418e17441d" /><Relationship Type="http://schemas.openxmlformats.org/officeDocument/2006/relationships/notesSlide" Target="/ppt/notesSlides/notesSlide2.xml" Id="R28ac6dfe67c5428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d28c1f73cf24e77" /><Relationship Type="http://schemas.openxmlformats.org/officeDocument/2006/relationships/image" Target="/ppt/media/image3.png" Id="Rfd1279db41fb4ce3" /><Relationship Type="http://schemas.openxmlformats.org/officeDocument/2006/relationships/notesSlide" Target="/ppt/notesSlides/notesSlide3.xml" Id="Rff70b8ebe42b49e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576facd67324d2c" /><Relationship Type="http://schemas.openxmlformats.org/officeDocument/2006/relationships/image" Target="/ppt/media/image4.png" Id="R2b943e4b736147b4" /><Relationship Type="http://schemas.openxmlformats.org/officeDocument/2006/relationships/notesSlide" Target="/ppt/notesSlides/notesSlide4.xml" Id="Ra4dcefe724d34c5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b7c109a499a480c" /><Relationship Type="http://schemas.openxmlformats.org/officeDocument/2006/relationships/image" Target="/ppt/media/image5.png" Id="Re97043db41644cc9" /><Relationship Type="http://schemas.openxmlformats.org/officeDocument/2006/relationships/notesSlide" Target="/ppt/notesSlides/notesSlide5.xml" Id="Rff2136744f544e5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dbc3ae434824f34" /><Relationship Type="http://schemas.openxmlformats.org/officeDocument/2006/relationships/image" Target="/ppt/media/image6.png" Id="Rb3e9460559654c34" /><Relationship Type="http://schemas.openxmlformats.org/officeDocument/2006/relationships/notesSlide" Target="/ppt/notesSlides/notesSlide6.xml" Id="Re735aa701f184e6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ff29edba4524632" /><Relationship Type="http://schemas.openxmlformats.org/officeDocument/2006/relationships/image" Target="/ppt/media/image7.png" Id="R1b9908b4b1c24452" /><Relationship Type="http://schemas.openxmlformats.org/officeDocument/2006/relationships/hyperlink" Target="https://mrp-cs.github.io/Revise360/experience.html?id=ms-l01" TargetMode="External" Id="R383564eda5e04321" /><Relationship Type="http://schemas.openxmlformats.org/officeDocument/2006/relationships/notesSlide" Target="/ppt/notesSlides/notesSlide7.xml" Id="Ra54df6c405ff4e3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90fb95369ed4442" /><Relationship Type="http://schemas.openxmlformats.org/officeDocument/2006/relationships/image" Target="/ppt/media/image8.png" Id="Rc8be02cf84f24315" /><Relationship Type="http://schemas.openxmlformats.org/officeDocument/2006/relationships/notesSlide" Target="/ppt/notesSlides/notesSlide8.xml" Id="R615e1bce75514f7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c32173e09f44a44" /><Relationship Type="http://schemas.openxmlformats.org/officeDocument/2006/relationships/image" Target="/ppt/media/image9.png" Id="R68a0330de85548d7" /><Relationship Type="http://schemas.openxmlformats.org/officeDocument/2006/relationships/notesSlide" Target="/ppt/notesSlides/notesSlide9.xml" Id="Rcc18a5e723f7401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0231131f694483b" /><Relationship Type="http://schemas.openxmlformats.org/officeDocument/2006/relationships/image" Target="/ppt/media/image10.png" Id="Rfd3bbd4f24b748a9" /><Relationship Type="http://schemas.openxmlformats.org/officeDocument/2006/relationships/notesSlide" Target="/ppt/notesSlides/notesSlide10.xml" Id="R5490e814f272454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74336ff739b46fb" /><Relationship Type="http://schemas.openxmlformats.org/officeDocument/2006/relationships/image" Target="/ppt/media/image11.png" Id="R5121880e3e1a42b0" /><Relationship Type="http://schemas.openxmlformats.org/officeDocument/2006/relationships/notesSlide" Target="/ppt/notesSlides/notesSlide11.xml" Id="R0c3521d9baca4ee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7afd096e50b48cc" /><Relationship Type="http://schemas.openxmlformats.org/officeDocument/2006/relationships/image" Target="/ppt/media/image12.png" Id="Rcd5a35335f1a4f25" /><Relationship Type="http://schemas.openxmlformats.org/officeDocument/2006/relationships/notesSlide" Target="/ppt/notesSlides/notesSlide12.xml" Id="R55675f27c1924a4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0e7e02bd2f04d83" /><Relationship Type="http://schemas.openxmlformats.org/officeDocument/2006/relationships/image" Target="/ppt/media/image13.png" Id="Re25455bc98da4cf7" /><Relationship Type="http://schemas.openxmlformats.org/officeDocument/2006/relationships/notesSlide" Target="/ppt/notesSlides/notesSlide13.xml" Id="Rf9a76f6dc75e4df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2636dc2fe564658" /><Relationship Type="http://schemas.openxmlformats.org/officeDocument/2006/relationships/image" Target="/ppt/media/image14.png" Id="R7e51a87adab44a47" /><Relationship Type="http://schemas.openxmlformats.org/officeDocument/2006/relationships/notesSlide" Target="/ppt/notesSlides/notesSlide14.xml" Id="R79b63d2c7eea4ec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edbec33a358459d" /><Relationship Type="http://schemas.openxmlformats.org/officeDocument/2006/relationships/image" Target="/ppt/media/image15.png" Id="Rdb617930f3504367" /><Relationship Type="http://schemas.openxmlformats.org/officeDocument/2006/relationships/notesSlide" Target="/ppt/notesSlides/notesSlide15.xml" Id="R239d34553b884de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e57f483624b45ce" /><Relationship Type="http://schemas.openxmlformats.org/officeDocument/2006/relationships/image" Target="/ppt/media/image16.png" Id="Rc28e8b8a19054075" /><Relationship Type="http://schemas.openxmlformats.org/officeDocument/2006/relationships/notesSlide" Target="/ppt/notesSlides/notesSlide16.xml" Id="R62b1a33e7cd048e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3df803a39aa4cdc" /><Relationship Type="http://schemas.openxmlformats.org/officeDocument/2006/relationships/image" Target="/ppt/media/image17.png" Id="Rce8aef0cc5554c0a" /><Relationship Type="http://schemas.openxmlformats.org/officeDocument/2006/relationships/notesSlide" Target="/ppt/notesSlides/notesSlide17.xml" Id="Ra205e7b148c5466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8ac76af291824f51" /><Relationship Type="http://schemas.openxmlformats.org/officeDocument/2006/relationships/image" Target="/ppt/media/image18.png" Id="R65ff23e459334650" /><Relationship Type="http://schemas.openxmlformats.org/officeDocument/2006/relationships/notesSlide" Target="/ppt/notesSlides/notesSlide18.xml" Id="R5473382bf248409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39605a6d0f0d4e70" /><Relationship Type="http://schemas.openxmlformats.org/officeDocument/2006/relationships/image" Target="/ppt/media/image19.png" Id="R18be9e8bf1a64895" /><Relationship Type="http://schemas.openxmlformats.org/officeDocument/2006/relationships/notesSlide" Target="/ppt/notesSlides/notesSlide19.xml" Id="Rbfd7a8d8ecac435e" /></Relationships>
</file>

<file path=ppt/slides/slide1.xml><?xml version="1.0" encoding="utf-8"?>
<p:sld xmlns:p="http://schemas.openxmlformats.org/presentationml/2006/main">
  <p:cSld>
    <p:bg>
      <p:bgPr>
        <a:solidFill xmlns:a="http://schemas.openxmlformats.org/drawingml/2006/main">
          <a:srgbClr val="122448"/>
        </a:solidFill>
      </p:bgPr>
    </p:bg>
    <p:spTree>
      <p:nvGrpSpPr>
        <p:cNvPr id="1" name=""/>
        <p:cNvGrpSpPr/>
        <p:nvPr/>
      </p:nvGrpSpPr>
      <p:grpSpPr>
        <a:xfrm xmlns:a="http://schemas.openxmlformats.org/drawingml/2006/main"/>
      </p:grpSpPr>
      <p:sp>
        <p:nvSpPr>
          <p:cNvPr id="10" name="footer background">
            <a:extLst xmlns:a="http://schemas.openxmlformats.org/drawingml/2006/main">
              <a:ext uri="{FF2B5EF4-FFF2-40B4-BE49-F238E27FC236}">
                <a16:creationId xmlns:a16="http://schemas.microsoft.com/office/drawing/2014/main" id="{9C39B688-993A-4253-83B6-4BA7BF66F984}"/>
              </a:ext>
            </a:extLst>
          </p:cNvPr>
          <p:cNvSpPr>
            <a:spLocks xmlns:a="http://schemas.openxmlformats.org/drawingml/2006/main" noGrp="1"/>
          </p:cNvSpPr>
          <p:nvPr/>
        </p:nvSpPr>
        <p:spPr>
          <a:xfrm xmlns:a="http://schemas.openxmlformats.org/drawingml/2006/main">
            <a:off x="0" y="6124575"/>
            <a:ext cx="12192000" cy="7334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topic">
            <a:extLst xmlns:a="http://schemas.openxmlformats.org/drawingml/2006/main">
              <a:ext uri="{FF2B5EF4-FFF2-40B4-BE49-F238E27FC236}">
                <a16:creationId xmlns:a16="http://schemas.microsoft.com/office/drawing/2014/main" id="{020EADD9-5369-4DD8-987F-E9271F0E770E}"/>
              </a:ext>
            </a:extLst>
          </p:cNvPr>
          <p:cNvSpPr>
            <a:spLocks xmlns:a="http://schemas.openxmlformats.org/drawingml/2006/main" noGrp="1"/>
          </p:cNvSpPr>
          <p:nvPr/>
        </p:nvSpPr>
        <p:spPr>
          <a:xfrm xmlns:a="http://schemas.openxmlformats.org/drawingml/2006/main">
            <a:off x="666750" y="323850"/>
            <a:ext cx="981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77D8FF"/>
                </a:solidFill>
                <a:latin typeface="DejaVu Sans"/>
                <a:ea typeface="DejaVu Sans"/>
                <a:cs typeface="DejaVu Sans"/>
              </a:defRPr>
            </a:pPr>
            <a:r>
              <a:rPr sz="1125" b="1">
                <a:solidFill>
                  <a:srgbClr val="77D8FF"/>
                </a:solidFill>
                <a:latin typeface="DejaVu Sans"/>
                <a:ea typeface="DejaVu Sans"/>
                <a:cs typeface="DejaVu Sans"/>
              </a:rPr>
              <a:t>TOPIC 1.2   /   LESSON 01</a:t>
            </a:r>
          </a:p>
        </p:txBody>
      </p:sp>
      <p:sp>
        <p:nvSpPr>
          <p:cNvPr id="3" name="heading">
            <a:extLst xmlns:a="http://schemas.openxmlformats.org/drawingml/2006/main">
              <a:ext uri="{FF2B5EF4-FFF2-40B4-BE49-F238E27FC236}">
                <a16:creationId xmlns:a16="http://schemas.microsoft.com/office/drawing/2014/main" id="{4F569671-3B7D-43F3-B28E-D0F361219006}"/>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FFFFFF"/>
                </a:solidFill>
                <a:latin typeface="DejaVu Sans"/>
                <a:ea typeface="DejaVu Sans"/>
                <a:cs typeface="DejaVu Sans"/>
              </a:defRPr>
            </a:pPr>
            <a:r>
              <a:rPr sz="3225" b="1">
                <a:solidFill>
                  <a:srgbClr val="FFFFFF"/>
                </a:solidFill>
                <a:latin typeface="DejaVu Sans"/>
                <a:ea typeface="DejaVu Sans"/>
                <a:cs typeface="DejaVu Sans"/>
              </a:rPr>
              <a:t>MEMORY BAY</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302cb8b3b5ba4c04"/>
          <a:stretch xmlns:a="http://schemas.openxmlformats.org/drawingml/2006/main"/>
        </p:blipFill>
        <p:spPr>
          <a:xfrm xmlns:a="http://schemas.openxmlformats.org/drawingml/2006/main">
            <a:off x="666750" y="6241242"/>
            <a:ext cx="2038350" cy="395316"/>
          </a:xfrm>
          <a:prstGeom xmlns:a="http://schemas.openxmlformats.org/drawingml/2006/main" prst="rect">
            <a:avLst/>
          </a:prstGeom>
        </p:spPr>
      </p:pic>
      <p:sp>
        <p:nvSpPr>
          <p:cNvPr id="5" name="page">
            <a:extLst xmlns:a="http://schemas.openxmlformats.org/drawingml/2006/main">
              <a:ext uri="{FF2B5EF4-FFF2-40B4-BE49-F238E27FC236}">
                <a16:creationId xmlns:a16="http://schemas.microsoft.com/office/drawing/2014/main" id="{E6214AF6-A83D-4282-BAD8-E7A7DDC7A20C}"/>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1 / 19</a:t>
            </a:r>
          </a:p>
        </p:txBody>
      </p:sp>
      <p:sp>
        <p:nvSpPr>
          <p:cNvPr id="6" name="subject">
            <a:extLst xmlns:a="http://schemas.openxmlformats.org/drawingml/2006/main">
              <a:ext uri="{FF2B5EF4-FFF2-40B4-BE49-F238E27FC236}">
                <a16:creationId xmlns:a16="http://schemas.microsoft.com/office/drawing/2014/main" id="{7F1F35F1-0C72-4047-95D5-50E86FD68ECC}"/>
              </a:ext>
            </a:extLst>
          </p:cNvPr>
          <p:cNvSpPr>
            <a:spLocks xmlns:a="http://schemas.openxmlformats.org/drawingml/2006/main" noGrp="1"/>
          </p:cNvSpPr>
          <p:nvPr/>
        </p:nvSpPr>
        <p:spPr>
          <a:xfrm xmlns:a="http://schemas.openxmlformats.org/drawingml/2006/main">
            <a:off x="685800" y="1762125"/>
            <a:ext cx="5143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77D8FF"/>
                </a:solidFill>
                <a:latin typeface="DejaVu Sans"/>
                <a:ea typeface="DejaVu Sans"/>
                <a:cs typeface="DejaVu Sans"/>
              </a:defRPr>
            </a:pPr>
            <a:r>
              <a:rPr sz="2325" b="0">
                <a:solidFill>
                  <a:srgbClr val="77D8FF"/>
                </a:solidFill>
                <a:latin typeface="DejaVu Sans"/>
                <a:ea typeface="DejaVu Sans"/>
                <a:cs typeface="DejaVu Sans"/>
              </a:rPr>
              <a:t>RAM and ROM</a:t>
            </a:r>
          </a:p>
        </p:txBody>
      </p:sp>
      <p:sp>
        <p:nvSpPr>
          <p:cNvPr id="7" name="cover-key-label">
            <a:extLst xmlns:a="http://schemas.openxmlformats.org/drawingml/2006/main">
              <a:ext uri="{FF2B5EF4-FFF2-40B4-BE49-F238E27FC236}">
                <a16:creationId xmlns:a16="http://schemas.microsoft.com/office/drawing/2014/main" id="{0A70D28F-791B-428A-A312-D98AB7BAD31E}"/>
              </a:ext>
            </a:extLst>
          </p:cNvPr>
          <p:cNvSpPr>
            <a:spLocks xmlns:a="http://schemas.openxmlformats.org/drawingml/2006/main" noGrp="1"/>
          </p:cNvSpPr>
          <p:nvPr/>
        </p:nvSpPr>
        <p:spPr>
          <a:xfrm xmlns:a="http://schemas.openxmlformats.org/drawingml/2006/main">
            <a:off x="685800" y="3038475"/>
            <a:ext cx="4572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7D8FF"/>
                </a:solidFill>
                <a:latin typeface="DejaVu Sans"/>
                <a:ea typeface="DejaVu Sans"/>
                <a:cs typeface="DejaVu Sans"/>
              </a:defRPr>
            </a:pPr>
            <a:r>
              <a:rPr sz="1425" b="1">
                <a:solidFill>
                  <a:srgbClr val="77D8FF"/>
                </a:solidFill>
                <a:latin typeface="DejaVu Sans"/>
                <a:ea typeface="DejaVu Sans"/>
                <a:cs typeface="DejaVu Sans"/>
              </a:rPr>
              <a:t>KEY QUESTION</a:t>
            </a:r>
          </a:p>
        </p:txBody>
      </p:sp>
      <p:sp>
        <p:nvSpPr>
          <p:cNvPr id="8" name="cover-key-question">
            <a:extLst xmlns:a="http://schemas.openxmlformats.org/drawingml/2006/main">
              <a:ext uri="{FF2B5EF4-FFF2-40B4-BE49-F238E27FC236}">
                <a16:creationId xmlns:a16="http://schemas.microsoft.com/office/drawing/2014/main" id="{B6C49D04-BF71-4A47-8DDF-40BE8832BDA2}"/>
              </a:ext>
            </a:extLst>
          </p:cNvPr>
          <p:cNvSpPr>
            <a:spLocks xmlns:a="http://schemas.openxmlformats.org/drawingml/2006/main" noGrp="1"/>
          </p:cNvSpPr>
          <p:nvPr/>
        </p:nvSpPr>
        <p:spPr>
          <a:xfrm xmlns:a="http://schemas.openxmlformats.org/drawingml/2006/main">
            <a:off x="685800" y="3429000"/>
            <a:ext cx="47625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FFFFFF"/>
                </a:solidFill>
                <a:latin typeface="DejaVu Sans"/>
                <a:ea typeface="DejaVu Sans"/>
                <a:cs typeface="DejaVu Sans"/>
              </a:defRPr>
            </a:pPr>
            <a:r>
              <a:rPr sz="2175" b="1">
                <a:solidFill>
                  <a:srgbClr val="FFFFFF"/>
                </a:solidFill>
                <a:latin typeface="DejaVu Sans"/>
                <a:ea typeface="DejaVu Sans"/>
                <a:cs typeface="DejaVu Sans"/>
              </a:rPr>
              <a:t>What are the differences between RAM and ROM?</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a420ed9c77954984"/>
          <a:stretch xmlns:a="http://schemas.openxmlformats.org/drawingml/2006/main"/>
        </p:blipFill>
        <p:spPr>
          <a:xfrm xmlns:a="http://schemas.openxmlformats.org/drawingml/2006/main">
            <a:off x="6076950" y="1819275"/>
            <a:ext cx="5400675" cy="3600450"/>
          </a:xfrm>
          <a:prstGeom xmlns:a="http://schemas.openxmlformats.org/drawingml/2006/main" prst="rect">
            <a:avLst/>
          </a:prstGeom>
        </p:spPr>
      </p:pic>
    </p:spTree>
    <p:extLst>
      <p:ext uri="{BB962C8B-B14F-4D97-AF65-F5344CB8AC3E}">
        <p14:creationId xmlns:p14="http://schemas.microsoft.com/office/powerpoint/2010/main" val="158805242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footer background">
            <a:extLst xmlns:a="http://schemas.openxmlformats.org/drawingml/2006/main">
              <a:ext uri="{FF2B5EF4-FFF2-40B4-BE49-F238E27FC236}">
                <a16:creationId xmlns:a16="http://schemas.microsoft.com/office/drawing/2014/main" id="{4967846C-04FC-4BF3-93FE-3A7840C4E373}"/>
              </a:ext>
            </a:extLst>
          </p:cNvPr>
          <p:cNvSpPr>
            <a:spLocks xmlns:a="http://schemas.openxmlformats.org/drawingml/2006/main" noGrp="1"/>
          </p:cNvSpPr>
          <p:nvPr/>
        </p:nvSpPr>
        <p:spPr>
          <a:xfrm xmlns:a="http://schemas.openxmlformats.org/drawingml/2006/main">
            <a:off x="0" y="6124575"/>
            <a:ext cx="12192000" cy="7334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topic">
            <a:extLst xmlns:a="http://schemas.openxmlformats.org/drawingml/2006/main">
              <a:ext uri="{FF2B5EF4-FFF2-40B4-BE49-F238E27FC236}">
                <a16:creationId xmlns:a16="http://schemas.microsoft.com/office/drawing/2014/main" id="{77F4F0E1-ABBF-48B3-8EE3-7C7527DB60CA}"/>
              </a:ext>
            </a:extLst>
          </p:cNvPr>
          <p:cNvSpPr>
            <a:spLocks xmlns:a="http://schemas.openxmlformats.org/drawingml/2006/main" noGrp="1"/>
          </p:cNvSpPr>
          <p:nvPr/>
        </p:nvSpPr>
        <p:spPr>
          <a:xfrm xmlns:a="http://schemas.openxmlformats.org/drawingml/2006/main">
            <a:off x="666750" y="323850"/>
            <a:ext cx="981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2D63FF"/>
                </a:solidFill>
                <a:latin typeface="DejaVu Sans"/>
                <a:ea typeface="DejaVu Sans"/>
                <a:cs typeface="DejaVu Sans"/>
              </a:defRPr>
            </a:pPr>
            <a:r>
              <a:rPr sz="1125" b="1">
                <a:solidFill>
                  <a:srgbClr val="2D63FF"/>
                </a:solidFill>
                <a:latin typeface="DejaVu Sans"/>
                <a:ea typeface="DejaVu Sans"/>
                <a:cs typeface="DejaVu Sans"/>
              </a:rPr>
              <a:t>TOPIC 1.2   /   LESSON 01   /   WORKSHEET</a:t>
            </a:r>
          </a:p>
        </p:txBody>
      </p:sp>
      <p:sp>
        <p:nvSpPr>
          <p:cNvPr id="3" name="heading">
            <a:extLst xmlns:a="http://schemas.openxmlformats.org/drawingml/2006/main">
              <a:ext uri="{FF2B5EF4-FFF2-40B4-BE49-F238E27FC236}">
                <a16:creationId xmlns:a16="http://schemas.microsoft.com/office/drawing/2014/main" id="{2C70568A-A114-40F5-8FE2-D7F58FDBB355}"/>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01828"/>
                </a:solidFill>
                <a:latin typeface="DejaVu Sans"/>
                <a:ea typeface="DejaVu Sans"/>
                <a:cs typeface="DejaVu Sans"/>
              </a:defRPr>
            </a:pPr>
            <a:r>
              <a:rPr sz="3225" b="1">
                <a:solidFill>
                  <a:srgbClr val="101828"/>
                </a:solidFill>
                <a:latin typeface="DejaVu Sans"/>
                <a:ea typeface="DejaVu Sans"/>
                <a:cs typeface="DejaVu Sans"/>
              </a:rPr>
              <a:t>By the end of this lesson</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7450cd418e17441d"/>
          <a:stretch xmlns:a="http://schemas.openxmlformats.org/drawingml/2006/main"/>
        </p:blipFill>
        <p:spPr>
          <a:xfrm xmlns:a="http://schemas.openxmlformats.org/drawingml/2006/main">
            <a:off x="666750" y="6241242"/>
            <a:ext cx="2038350" cy="395316"/>
          </a:xfrm>
          <a:prstGeom xmlns:a="http://schemas.openxmlformats.org/drawingml/2006/main" prst="rect">
            <a:avLst/>
          </a:prstGeom>
        </p:spPr>
      </p:pic>
      <p:sp>
        <p:nvSpPr>
          <p:cNvPr id="5" name="page">
            <a:extLst xmlns:a="http://schemas.openxmlformats.org/drawingml/2006/main">
              <a:ext uri="{FF2B5EF4-FFF2-40B4-BE49-F238E27FC236}">
                <a16:creationId xmlns:a16="http://schemas.microsoft.com/office/drawing/2014/main" id="{36ADAC46-F94D-4297-9FF9-E8815F544BFF}"/>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2 / 19</a:t>
            </a:r>
          </a:p>
        </p:txBody>
      </p:sp>
      <p:sp>
        <p:nvSpPr>
          <p:cNvPr id="6" name="number-1">
            <a:extLst xmlns:a="http://schemas.openxmlformats.org/drawingml/2006/main">
              <a:ext uri="{FF2B5EF4-FFF2-40B4-BE49-F238E27FC236}">
                <a16:creationId xmlns:a16="http://schemas.microsoft.com/office/drawing/2014/main" id="{07917FB4-9C75-474E-892D-21E05BB93794}"/>
              </a:ext>
            </a:extLst>
          </p:cNvPr>
          <p:cNvSpPr>
            <a:spLocks xmlns:a="http://schemas.openxmlformats.org/drawingml/2006/main" noGrp="1"/>
          </p:cNvSpPr>
          <p:nvPr/>
        </p:nvSpPr>
        <p:spPr>
          <a:xfrm xmlns:a="http://schemas.openxmlformats.org/drawingml/2006/main">
            <a:off x="723900" y="1943100"/>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2D63FF"/>
                </a:solidFill>
                <a:latin typeface="DejaVu Sans"/>
                <a:ea typeface="DejaVu Sans"/>
                <a:cs typeface="DejaVu Sans"/>
              </a:defRPr>
            </a:pPr>
            <a:r>
              <a:rPr sz="2025" b="1">
                <a:solidFill>
                  <a:srgbClr val="2D63FF"/>
                </a:solidFill>
                <a:latin typeface="DejaVu Sans"/>
                <a:ea typeface="DejaVu Sans"/>
                <a:cs typeface="DejaVu Sans"/>
              </a:rPr>
              <a:t>1.</a:t>
            </a:r>
          </a:p>
        </p:txBody>
      </p:sp>
      <p:sp>
        <p:nvSpPr>
          <p:cNvPr id="7" name="item-1">
            <a:extLst xmlns:a="http://schemas.openxmlformats.org/drawingml/2006/main">
              <a:ext uri="{FF2B5EF4-FFF2-40B4-BE49-F238E27FC236}">
                <a16:creationId xmlns:a16="http://schemas.microsoft.com/office/drawing/2014/main" id="{D47BA73B-73DC-4AF3-9B06-6FF5C152993C}"/>
              </a:ext>
            </a:extLst>
          </p:cNvPr>
          <p:cNvSpPr>
            <a:spLocks xmlns:a="http://schemas.openxmlformats.org/drawingml/2006/main" noGrp="1"/>
          </p:cNvSpPr>
          <p:nvPr/>
        </p:nvSpPr>
        <p:spPr>
          <a:xfrm xmlns:a="http://schemas.openxmlformats.org/drawingml/2006/main">
            <a:off x="1352550" y="1943100"/>
            <a:ext cx="99250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01828"/>
                </a:solidFill>
                <a:latin typeface="DejaVu Sans"/>
                <a:ea typeface="DejaVu Sans"/>
                <a:cs typeface="DejaVu Sans"/>
              </a:defRPr>
            </a:pPr>
            <a:r>
              <a:rPr sz="2025" b="0">
                <a:solidFill>
                  <a:srgbClr val="101828"/>
                </a:solidFill>
                <a:latin typeface="DejaVu Sans"/>
                <a:ea typeface="DejaVu Sans"/>
                <a:cs typeface="DejaVu Sans"/>
              </a:rPr>
              <a:t>understand the need for primary storage</a:t>
            </a:r>
          </a:p>
        </p:txBody>
      </p:sp>
      <p:sp>
        <p:nvSpPr>
          <p:cNvPr id="8" name="number-2">
            <a:extLst xmlns:a="http://schemas.openxmlformats.org/drawingml/2006/main">
              <a:ext uri="{FF2B5EF4-FFF2-40B4-BE49-F238E27FC236}">
                <a16:creationId xmlns:a16="http://schemas.microsoft.com/office/drawing/2014/main" id="{9BA25643-C8AD-4026-9106-FBF16D974BD1}"/>
              </a:ext>
            </a:extLst>
          </p:cNvPr>
          <p:cNvSpPr>
            <a:spLocks xmlns:a="http://schemas.openxmlformats.org/drawingml/2006/main" noGrp="1"/>
          </p:cNvSpPr>
          <p:nvPr/>
        </p:nvSpPr>
        <p:spPr>
          <a:xfrm xmlns:a="http://schemas.openxmlformats.org/drawingml/2006/main">
            <a:off x="723900" y="3124200"/>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2D63FF"/>
                </a:solidFill>
                <a:latin typeface="DejaVu Sans"/>
                <a:ea typeface="DejaVu Sans"/>
                <a:cs typeface="DejaVu Sans"/>
              </a:defRPr>
            </a:pPr>
            <a:r>
              <a:rPr sz="2025" b="1">
                <a:solidFill>
                  <a:srgbClr val="2D63FF"/>
                </a:solidFill>
                <a:latin typeface="DejaVu Sans"/>
                <a:ea typeface="DejaVu Sans"/>
                <a:cs typeface="DejaVu Sans"/>
              </a:rPr>
              <a:t>2.</a:t>
            </a:r>
          </a:p>
        </p:txBody>
      </p:sp>
      <p:sp>
        <p:nvSpPr>
          <p:cNvPr id="9" name="item-2">
            <a:extLst xmlns:a="http://schemas.openxmlformats.org/drawingml/2006/main">
              <a:ext uri="{FF2B5EF4-FFF2-40B4-BE49-F238E27FC236}">
                <a16:creationId xmlns:a16="http://schemas.microsoft.com/office/drawing/2014/main" id="{55ECFC9B-E104-47DB-907F-585BE8653461}"/>
              </a:ext>
            </a:extLst>
          </p:cNvPr>
          <p:cNvSpPr>
            <a:spLocks xmlns:a="http://schemas.openxmlformats.org/drawingml/2006/main" noGrp="1"/>
          </p:cNvSpPr>
          <p:nvPr/>
        </p:nvSpPr>
        <p:spPr>
          <a:xfrm xmlns:a="http://schemas.openxmlformats.org/drawingml/2006/main">
            <a:off x="1352550" y="3124200"/>
            <a:ext cx="99250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01828"/>
                </a:solidFill>
                <a:latin typeface="DejaVu Sans"/>
                <a:ea typeface="DejaVu Sans"/>
                <a:cs typeface="DejaVu Sans"/>
              </a:defRPr>
            </a:pPr>
            <a:r>
              <a:rPr sz="2025" b="0">
                <a:solidFill>
                  <a:srgbClr val="101828"/>
                </a:solidFill>
                <a:latin typeface="DejaVu Sans"/>
                <a:ea typeface="DejaVu Sans"/>
                <a:cs typeface="DejaVu Sans"/>
              </a:rPr>
              <a:t>know the difference between RAM and ROM</a:t>
            </a:r>
          </a:p>
        </p:txBody>
      </p:sp>
      <p:sp>
        <p:nvSpPr>
          <p:cNvPr id="10" name="number-3">
            <a:extLst xmlns:a="http://schemas.openxmlformats.org/drawingml/2006/main">
              <a:ext uri="{FF2B5EF4-FFF2-40B4-BE49-F238E27FC236}">
                <a16:creationId xmlns:a16="http://schemas.microsoft.com/office/drawing/2014/main" id="{649186D5-D763-4431-B24E-AB0182A1FE37}"/>
              </a:ext>
            </a:extLst>
          </p:cNvPr>
          <p:cNvSpPr>
            <a:spLocks xmlns:a="http://schemas.openxmlformats.org/drawingml/2006/main" noGrp="1"/>
          </p:cNvSpPr>
          <p:nvPr/>
        </p:nvSpPr>
        <p:spPr>
          <a:xfrm xmlns:a="http://schemas.openxmlformats.org/drawingml/2006/main">
            <a:off x="723900" y="4305300"/>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2D63FF"/>
                </a:solidFill>
                <a:latin typeface="DejaVu Sans"/>
                <a:ea typeface="DejaVu Sans"/>
                <a:cs typeface="DejaVu Sans"/>
              </a:defRPr>
            </a:pPr>
            <a:r>
              <a:rPr sz="2025" b="1">
                <a:solidFill>
                  <a:srgbClr val="2D63FF"/>
                </a:solidFill>
                <a:latin typeface="DejaVu Sans"/>
                <a:ea typeface="DejaVu Sans"/>
                <a:cs typeface="DejaVu Sans"/>
              </a:rPr>
              <a:t>3.</a:t>
            </a:r>
          </a:p>
        </p:txBody>
      </p:sp>
      <p:sp>
        <p:nvSpPr>
          <p:cNvPr id="11" name="item-3">
            <a:extLst xmlns:a="http://schemas.openxmlformats.org/drawingml/2006/main">
              <a:ext uri="{FF2B5EF4-FFF2-40B4-BE49-F238E27FC236}">
                <a16:creationId xmlns:a16="http://schemas.microsoft.com/office/drawing/2014/main" id="{2081DD4F-6ED9-4030-98B6-33748D049B67}"/>
              </a:ext>
            </a:extLst>
          </p:cNvPr>
          <p:cNvSpPr>
            <a:spLocks xmlns:a="http://schemas.openxmlformats.org/drawingml/2006/main" noGrp="1"/>
          </p:cNvSpPr>
          <p:nvPr/>
        </p:nvSpPr>
        <p:spPr>
          <a:xfrm xmlns:a="http://schemas.openxmlformats.org/drawingml/2006/main">
            <a:off x="1352550" y="4305300"/>
            <a:ext cx="99250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01828"/>
                </a:solidFill>
                <a:latin typeface="DejaVu Sans"/>
                <a:ea typeface="DejaVu Sans"/>
                <a:cs typeface="DejaVu Sans"/>
              </a:defRPr>
            </a:pPr>
            <a:r>
              <a:rPr sz="2025" b="0">
                <a:solidFill>
                  <a:srgbClr val="101828"/>
                </a:solidFill>
                <a:latin typeface="DejaVu Sans"/>
                <a:ea typeface="DejaVu Sans"/>
                <a:cs typeface="DejaVu Sans"/>
              </a:rPr>
              <a:t>know the purpose of RAM and ROM</a:t>
            </a:r>
          </a:p>
        </p:txBody>
      </p:sp>
    </p:spTree>
    <p:extLst>
      <p:ext uri="{BB962C8B-B14F-4D97-AF65-F5344CB8AC3E}">
        <p14:creationId xmlns:p14="http://schemas.microsoft.com/office/powerpoint/2010/main" val="329624122"/>
      </p:ext>
    </p:extLst>
  </p:cSld>
</p:sld>
</file>

<file path=ppt/slides/slide3.xml><?xml version="1.0" encoding="utf-8"?>
<p:sld xmlns:p="http://schemas.openxmlformats.org/presentationml/2006/main">
  <p:cSld>
    <p:bg>
      <p:bgPr>
        <a:solidFill xmlns:a="http://schemas.openxmlformats.org/drawingml/2006/main">
          <a:srgbClr val="FFF8E9"/>
        </a:solidFill>
      </p:bgPr>
    </p:bg>
    <p:spTree>
      <p:nvGrpSpPr>
        <p:cNvPr id="1" name=""/>
        <p:cNvGrpSpPr/>
        <p:nvPr/>
      </p:nvGrpSpPr>
      <p:grpSpPr>
        <a:xfrm xmlns:a="http://schemas.openxmlformats.org/drawingml/2006/main"/>
      </p:grpSpPr>
      <p:sp>
        <p:nvSpPr>
          <p:cNvPr id="7" name="footer background">
            <a:extLst xmlns:a="http://schemas.openxmlformats.org/drawingml/2006/main">
              <a:ext uri="{FF2B5EF4-FFF2-40B4-BE49-F238E27FC236}">
                <a16:creationId xmlns:a16="http://schemas.microsoft.com/office/drawing/2014/main" id="{FD279BF7-1DED-4139-ACA0-293F3D4A3A92}"/>
              </a:ext>
            </a:extLst>
          </p:cNvPr>
          <p:cNvSpPr>
            <a:spLocks xmlns:a="http://schemas.openxmlformats.org/drawingml/2006/main" noGrp="1"/>
          </p:cNvSpPr>
          <p:nvPr/>
        </p:nvSpPr>
        <p:spPr>
          <a:xfrm xmlns:a="http://schemas.openxmlformats.org/drawingml/2006/main">
            <a:off x="0" y="6124575"/>
            <a:ext cx="12192000" cy="7334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topic">
            <a:extLst xmlns:a="http://schemas.openxmlformats.org/drawingml/2006/main">
              <a:ext uri="{FF2B5EF4-FFF2-40B4-BE49-F238E27FC236}">
                <a16:creationId xmlns:a16="http://schemas.microsoft.com/office/drawing/2014/main" id="{CA629492-8E54-4ABA-98B8-E29F6D8CACEA}"/>
              </a:ext>
            </a:extLst>
          </p:cNvPr>
          <p:cNvSpPr>
            <a:spLocks xmlns:a="http://schemas.openxmlformats.org/drawingml/2006/main" noGrp="1"/>
          </p:cNvSpPr>
          <p:nvPr/>
        </p:nvSpPr>
        <p:spPr>
          <a:xfrm xmlns:a="http://schemas.openxmlformats.org/drawingml/2006/main">
            <a:off x="666750" y="323850"/>
            <a:ext cx="981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2D63FF"/>
                </a:solidFill>
                <a:latin typeface="DejaVu Sans"/>
                <a:ea typeface="DejaVu Sans"/>
                <a:cs typeface="DejaVu Sans"/>
              </a:defRPr>
            </a:pPr>
            <a:r>
              <a:rPr sz="1125" b="1">
                <a:solidFill>
                  <a:srgbClr val="2D63FF"/>
                </a:solidFill>
                <a:latin typeface="DejaVu Sans"/>
                <a:ea typeface="DejaVu Sans"/>
                <a:cs typeface="DejaVu Sans"/>
              </a:rPr>
              <a:t>TOPIC 1.2   /   LESSON 01   /   WORKSHEET STARTER</a:t>
            </a:r>
          </a:p>
        </p:txBody>
      </p:sp>
      <p:sp>
        <p:nvSpPr>
          <p:cNvPr id="3" name="heading">
            <a:extLst xmlns:a="http://schemas.openxmlformats.org/drawingml/2006/main">
              <a:ext uri="{FF2B5EF4-FFF2-40B4-BE49-F238E27FC236}">
                <a16:creationId xmlns:a16="http://schemas.microsoft.com/office/drawing/2014/main" id="{25DA10E5-AE21-4139-99FD-0AC2AEE4665D}"/>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01828"/>
                </a:solidFill>
                <a:latin typeface="DejaVu Sans"/>
                <a:ea typeface="DejaVu Sans"/>
                <a:cs typeface="DejaVu Sans"/>
              </a:defRPr>
            </a:pPr>
            <a:r>
              <a:rPr sz="3225" b="1">
                <a:solidFill>
                  <a:srgbClr val="101828"/>
                </a:solidFill>
                <a:latin typeface="DejaVu Sans"/>
                <a:ea typeface="DejaVu Sans"/>
                <a:cs typeface="DejaVu Sans"/>
              </a:rPr>
              <a:t>Starter: before the experience</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fd1279db41fb4ce3"/>
          <a:stretch xmlns:a="http://schemas.openxmlformats.org/drawingml/2006/main"/>
        </p:blipFill>
        <p:spPr>
          <a:xfrm xmlns:a="http://schemas.openxmlformats.org/drawingml/2006/main">
            <a:off x="666750" y="6241242"/>
            <a:ext cx="2038350" cy="395316"/>
          </a:xfrm>
          <a:prstGeom xmlns:a="http://schemas.openxmlformats.org/drawingml/2006/main" prst="rect">
            <a:avLst/>
          </a:prstGeom>
        </p:spPr>
      </p:pic>
      <p:sp>
        <p:nvSpPr>
          <p:cNvPr id="5" name="page">
            <a:extLst xmlns:a="http://schemas.openxmlformats.org/drawingml/2006/main">
              <a:ext uri="{FF2B5EF4-FFF2-40B4-BE49-F238E27FC236}">
                <a16:creationId xmlns:a16="http://schemas.microsoft.com/office/drawing/2014/main" id="{32F0CDBC-34B3-4D05-8DAC-4A60F0BF692F}"/>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3 / 19</a:t>
            </a:r>
          </a:p>
        </p:txBody>
      </p:sp>
      <p:sp>
        <p:nvSpPr>
          <p:cNvPr id="6" name="worksheet-starter">
            <a:extLst xmlns:a="http://schemas.openxmlformats.org/drawingml/2006/main">
              <a:ext uri="{FF2B5EF4-FFF2-40B4-BE49-F238E27FC236}">
                <a16:creationId xmlns:a16="http://schemas.microsoft.com/office/drawing/2014/main" id="{898B2102-0A13-4C8E-BED3-87AC1C6EF050}"/>
              </a:ext>
            </a:extLst>
          </p:cNvPr>
          <p:cNvSpPr>
            <a:spLocks xmlns:a="http://schemas.openxmlformats.org/drawingml/2006/main" noGrp="1"/>
          </p:cNvSpPr>
          <p:nvPr/>
        </p:nvSpPr>
        <p:spPr>
          <a:xfrm xmlns:a="http://schemas.openxmlformats.org/drawingml/2006/main">
            <a:off x="704850" y="2095500"/>
            <a:ext cx="1057275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101828"/>
                </a:solidFill>
                <a:latin typeface="DejaVu Sans"/>
                <a:ea typeface="DejaVu Sans"/>
                <a:cs typeface="DejaVu Sans"/>
              </a:defRPr>
            </a:pPr>
            <a:r>
              <a:rPr sz="2550" b="1">
                <a:solidFill>
                  <a:srgbClr val="101828"/>
                </a:solidFill>
                <a:latin typeface="DejaVu Sans"/>
                <a:ea typeface="DejaVu Sans"/>
                <a:cs typeface="DejaVu Sans"/>
              </a:rPr>
              <a:t>A computer loses power mid-lesson. Which of your work survives, and which does not? Explain why.</a:t>
            </a:r>
          </a:p>
        </p:txBody>
      </p:sp>
    </p:spTree>
    <p:extLst>
      <p:ext uri="{BB962C8B-B14F-4D97-AF65-F5344CB8AC3E}">
        <p14:creationId xmlns:p14="http://schemas.microsoft.com/office/powerpoint/2010/main" val="611004626"/>
      </p:ext>
    </p:extLst>
  </p:cSld>
</p:sld>
</file>

<file path=ppt/slides/slide4.xml><?xml version="1.0" encoding="utf-8"?>
<p:sld xmlns:p="http://schemas.openxmlformats.org/presentationml/2006/main">
  <p:cSld>
    <p:bg>
      <p:bgPr>
        <a:solidFill xmlns:a="http://schemas.openxmlformats.org/drawingml/2006/main">
          <a:srgbClr val="EAF3FF"/>
        </a:solidFill>
      </p:bgPr>
    </p:bg>
    <p:spTree>
      <p:nvGrpSpPr>
        <p:cNvPr id="1" name=""/>
        <p:cNvGrpSpPr/>
        <p:nvPr/>
      </p:nvGrpSpPr>
      <p:grpSpPr>
        <a:xfrm xmlns:a="http://schemas.openxmlformats.org/drawingml/2006/main"/>
      </p:grpSpPr>
      <p:sp>
        <p:nvSpPr>
          <p:cNvPr id="10" name="footer background">
            <a:extLst xmlns:a="http://schemas.openxmlformats.org/drawingml/2006/main">
              <a:ext uri="{FF2B5EF4-FFF2-40B4-BE49-F238E27FC236}">
                <a16:creationId xmlns:a16="http://schemas.microsoft.com/office/drawing/2014/main" id="{94DDB791-304D-4FF1-8906-CA13771ABAF2}"/>
              </a:ext>
            </a:extLst>
          </p:cNvPr>
          <p:cNvSpPr>
            <a:spLocks xmlns:a="http://schemas.openxmlformats.org/drawingml/2006/main" noGrp="1"/>
          </p:cNvSpPr>
          <p:nvPr/>
        </p:nvSpPr>
        <p:spPr>
          <a:xfrm xmlns:a="http://schemas.openxmlformats.org/drawingml/2006/main">
            <a:off x="0" y="6124575"/>
            <a:ext cx="12192000" cy="7334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topic">
            <a:extLst xmlns:a="http://schemas.openxmlformats.org/drawingml/2006/main">
              <a:ext uri="{FF2B5EF4-FFF2-40B4-BE49-F238E27FC236}">
                <a16:creationId xmlns:a16="http://schemas.microsoft.com/office/drawing/2014/main" id="{ED169D37-7E8A-4357-B66B-1509050F5055}"/>
              </a:ext>
            </a:extLst>
          </p:cNvPr>
          <p:cNvSpPr>
            <a:spLocks xmlns:a="http://schemas.openxmlformats.org/drawingml/2006/main" noGrp="1"/>
          </p:cNvSpPr>
          <p:nvPr/>
        </p:nvSpPr>
        <p:spPr>
          <a:xfrm xmlns:a="http://schemas.openxmlformats.org/drawingml/2006/main">
            <a:off x="666750" y="323850"/>
            <a:ext cx="981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2D63FF"/>
                </a:solidFill>
                <a:latin typeface="DejaVu Sans"/>
                <a:ea typeface="DejaVu Sans"/>
                <a:cs typeface="DejaVu Sans"/>
              </a:defRPr>
            </a:pPr>
            <a:r>
              <a:rPr sz="1125" b="1">
                <a:solidFill>
                  <a:srgbClr val="2D63FF"/>
                </a:solidFill>
                <a:latin typeface="DejaVu Sans"/>
                <a:ea typeface="DejaVu Sans"/>
                <a:cs typeface="DejaVu Sans"/>
              </a:rPr>
              <a:t>TOPIC 1.2   /   LESSON 01   /   CHECK</a:t>
            </a:r>
          </a:p>
        </p:txBody>
      </p:sp>
      <p:sp>
        <p:nvSpPr>
          <p:cNvPr id="3" name="heading">
            <a:extLst xmlns:a="http://schemas.openxmlformats.org/drawingml/2006/main">
              <a:ext uri="{FF2B5EF4-FFF2-40B4-BE49-F238E27FC236}">
                <a16:creationId xmlns:a16="http://schemas.microsoft.com/office/drawing/2014/main" id="{1A647529-65C4-400E-AB9E-FE25A7C3351E}"/>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01828"/>
                </a:solidFill>
                <a:latin typeface="DejaVu Sans"/>
                <a:ea typeface="DejaVu Sans"/>
                <a:cs typeface="DejaVu Sans"/>
              </a:defRPr>
            </a:pPr>
            <a:r>
              <a:rPr sz="3225" b="1">
                <a:solidFill>
                  <a:srgbClr val="101828"/>
                </a:solidFill>
                <a:latin typeface="DejaVu Sans"/>
                <a:ea typeface="DejaVu Sans"/>
                <a:cs typeface="DejaVu Sans"/>
              </a:rPr>
              <a:t>Starter: sample answers</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2b943e4b736147b4"/>
          <a:stretch xmlns:a="http://schemas.openxmlformats.org/drawingml/2006/main"/>
        </p:blipFill>
        <p:spPr>
          <a:xfrm xmlns:a="http://schemas.openxmlformats.org/drawingml/2006/main">
            <a:off x="666750" y="6241242"/>
            <a:ext cx="2038350" cy="395316"/>
          </a:xfrm>
          <a:prstGeom xmlns:a="http://schemas.openxmlformats.org/drawingml/2006/main" prst="rect">
            <a:avLst/>
          </a:prstGeom>
        </p:spPr>
      </p:pic>
      <p:sp>
        <p:nvSpPr>
          <p:cNvPr id="5" name="page">
            <a:extLst xmlns:a="http://schemas.openxmlformats.org/drawingml/2006/main">
              <a:ext uri="{FF2B5EF4-FFF2-40B4-BE49-F238E27FC236}">
                <a16:creationId xmlns:a16="http://schemas.microsoft.com/office/drawing/2014/main" id="{0CC2C173-BD39-4406-99A4-E7CAB22C0728}"/>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4 / 19</a:t>
            </a:r>
          </a:p>
        </p:txBody>
      </p:sp>
      <p:sp>
        <p:nvSpPr>
          <p:cNvPr id="6" name="number-1">
            <a:extLst xmlns:a="http://schemas.openxmlformats.org/drawingml/2006/main">
              <a:ext uri="{FF2B5EF4-FFF2-40B4-BE49-F238E27FC236}">
                <a16:creationId xmlns:a16="http://schemas.microsoft.com/office/drawing/2014/main" id="{80390950-714F-471A-85A3-44F36AD48CB2}"/>
              </a:ext>
            </a:extLst>
          </p:cNvPr>
          <p:cNvSpPr>
            <a:spLocks xmlns:a="http://schemas.openxmlformats.org/drawingml/2006/main" noGrp="1"/>
          </p:cNvSpPr>
          <p:nvPr/>
        </p:nvSpPr>
        <p:spPr>
          <a:xfrm xmlns:a="http://schemas.openxmlformats.org/drawingml/2006/main">
            <a:off x="723900" y="2133600"/>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2D63FF"/>
                </a:solidFill>
                <a:latin typeface="DejaVu Sans"/>
                <a:ea typeface="DejaVu Sans"/>
                <a:cs typeface="DejaVu Sans"/>
              </a:defRPr>
            </a:pPr>
            <a:r>
              <a:rPr sz="2250" b="1">
                <a:solidFill>
                  <a:srgbClr val="2D63FF"/>
                </a:solidFill>
                <a:latin typeface="DejaVu Sans"/>
                <a:ea typeface="DejaVu Sans"/>
                <a:cs typeface="DejaVu Sans"/>
              </a:rPr>
              <a:t>1.</a:t>
            </a:r>
          </a:p>
        </p:txBody>
      </p:sp>
      <p:sp>
        <p:nvSpPr>
          <p:cNvPr id="7" name="item-1">
            <a:extLst xmlns:a="http://schemas.openxmlformats.org/drawingml/2006/main">
              <a:ext uri="{FF2B5EF4-FFF2-40B4-BE49-F238E27FC236}">
                <a16:creationId xmlns:a16="http://schemas.microsoft.com/office/drawing/2014/main" id="{70D25740-1AA9-4805-A6CE-B74B294F40D1}"/>
              </a:ext>
            </a:extLst>
          </p:cNvPr>
          <p:cNvSpPr>
            <a:spLocks xmlns:a="http://schemas.openxmlformats.org/drawingml/2006/main" noGrp="1"/>
          </p:cNvSpPr>
          <p:nvPr/>
        </p:nvSpPr>
        <p:spPr>
          <a:xfrm xmlns:a="http://schemas.openxmlformats.org/drawingml/2006/main">
            <a:off x="1352550" y="2133600"/>
            <a:ext cx="99250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01828"/>
                </a:solidFill>
                <a:latin typeface="DejaVu Sans"/>
                <a:ea typeface="DejaVu Sans"/>
                <a:cs typeface="DejaVu Sans"/>
              </a:defRPr>
            </a:pPr>
            <a:r>
              <a:rPr sz="2250" b="0">
                <a:solidFill>
                  <a:srgbClr val="101828"/>
                </a:solidFill>
                <a:latin typeface="DejaVu Sans"/>
                <a:ea typeface="DejaVu Sans"/>
                <a:cs typeface="DejaVu Sans"/>
              </a:rPr>
              <a:t>Unsaved work in RAM is lost when power goes off. Work saved to the drive remains.</a:t>
            </a:r>
          </a:p>
        </p:txBody>
      </p:sp>
      <p:sp>
        <p:nvSpPr>
          <p:cNvPr id="8" name="number-2">
            <a:extLst xmlns:a="http://schemas.openxmlformats.org/drawingml/2006/main">
              <a:ext uri="{FF2B5EF4-FFF2-40B4-BE49-F238E27FC236}">
                <a16:creationId xmlns:a16="http://schemas.microsoft.com/office/drawing/2014/main" id="{AE042821-5713-44E1-8771-7F7E0578DDFA}"/>
              </a:ext>
            </a:extLst>
          </p:cNvPr>
          <p:cNvSpPr>
            <a:spLocks xmlns:a="http://schemas.openxmlformats.org/drawingml/2006/main" noGrp="1"/>
          </p:cNvSpPr>
          <p:nvPr/>
        </p:nvSpPr>
        <p:spPr>
          <a:xfrm xmlns:a="http://schemas.openxmlformats.org/drawingml/2006/main">
            <a:off x="723900" y="3733800"/>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2D63FF"/>
                </a:solidFill>
                <a:latin typeface="DejaVu Sans"/>
                <a:ea typeface="DejaVu Sans"/>
                <a:cs typeface="DejaVu Sans"/>
              </a:defRPr>
            </a:pPr>
            <a:r>
              <a:rPr sz="2250" b="1">
                <a:solidFill>
                  <a:srgbClr val="2D63FF"/>
                </a:solidFill>
                <a:latin typeface="DejaVu Sans"/>
                <a:ea typeface="DejaVu Sans"/>
                <a:cs typeface="DejaVu Sans"/>
              </a:rPr>
              <a:t>2.</a:t>
            </a:r>
          </a:p>
        </p:txBody>
      </p:sp>
      <p:sp>
        <p:nvSpPr>
          <p:cNvPr id="9" name="item-2">
            <a:extLst xmlns:a="http://schemas.openxmlformats.org/drawingml/2006/main">
              <a:ext uri="{FF2B5EF4-FFF2-40B4-BE49-F238E27FC236}">
                <a16:creationId xmlns:a16="http://schemas.microsoft.com/office/drawing/2014/main" id="{C0A13DDE-5C30-42B3-823E-6A5A755A99F7}"/>
              </a:ext>
            </a:extLst>
          </p:cNvPr>
          <p:cNvSpPr>
            <a:spLocks xmlns:a="http://schemas.openxmlformats.org/drawingml/2006/main" noGrp="1"/>
          </p:cNvSpPr>
          <p:nvPr/>
        </p:nvSpPr>
        <p:spPr>
          <a:xfrm xmlns:a="http://schemas.openxmlformats.org/drawingml/2006/main">
            <a:off x="1352550" y="3733800"/>
            <a:ext cx="99250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01828"/>
                </a:solidFill>
                <a:latin typeface="DejaVu Sans"/>
                <a:ea typeface="DejaVu Sans"/>
                <a:cs typeface="DejaVu Sans"/>
              </a:defRPr>
            </a:pPr>
            <a:r>
              <a:rPr sz="2250" b="0">
                <a:solidFill>
                  <a:srgbClr val="101828"/>
                </a:solidFill>
                <a:latin typeface="DejaVu Sans"/>
                <a:ea typeface="DejaVu Sans"/>
                <a:cs typeface="DejaVu Sans"/>
              </a:rPr>
              <a:t>ROM retains its boot instructions because it is non-volatile.</a:t>
            </a:r>
          </a:p>
        </p:txBody>
      </p:sp>
    </p:spTree>
    <p:extLst>
      <p:ext uri="{BB962C8B-B14F-4D97-AF65-F5344CB8AC3E}">
        <p14:creationId xmlns:p14="http://schemas.microsoft.com/office/powerpoint/2010/main" val="2118731922"/>
      </p:ext>
    </p:extLst>
  </p:cSld>
</p:sld>
</file>

<file path=ppt/slides/slide5.xml><?xml version="1.0" encoding="utf-8"?>
<p:sld xmlns:p="http://schemas.openxmlformats.org/presentationml/2006/main">
  <p:cSld>
    <p:bg>
      <p:bgPr>
        <a:solidFill xmlns:a="http://schemas.openxmlformats.org/drawingml/2006/main">
          <a:srgbClr val="FFF8E9"/>
        </a:solidFill>
      </p:bgPr>
    </p:bg>
    <p:spTree>
      <p:nvGrpSpPr>
        <p:cNvPr id="1" name=""/>
        <p:cNvGrpSpPr/>
        <p:nvPr/>
      </p:nvGrpSpPr>
      <p:grpSpPr>
        <a:xfrm xmlns:a="http://schemas.openxmlformats.org/drawingml/2006/main"/>
      </p:grpSpPr>
      <p:sp>
        <p:nvSpPr>
          <p:cNvPr id="10" name="footer background">
            <a:extLst xmlns:a="http://schemas.openxmlformats.org/drawingml/2006/main">
              <a:ext uri="{FF2B5EF4-FFF2-40B4-BE49-F238E27FC236}">
                <a16:creationId xmlns:a16="http://schemas.microsoft.com/office/drawing/2014/main" id="{A088628E-686F-4BA6-9DCA-6E289501A13A}"/>
              </a:ext>
            </a:extLst>
          </p:cNvPr>
          <p:cNvSpPr>
            <a:spLocks xmlns:a="http://schemas.openxmlformats.org/drawingml/2006/main" noGrp="1"/>
          </p:cNvSpPr>
          <p:nvPr/>
        </p:nvSpPr>
        <p:spPr>
          <a:xfrm xmlns:a="http://schemas.openxmlformats.org/drawingml/2006/main">
            <a:off x="0" y="6124575"/>
            <a:ext cx="12192000" cy="7334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topic">
            <a:extLst xmlns:a="http://schemas.openxmlformats.org/drawingml/2006/main">
              <a:ext uri="{FF2B5EF4-FFF2-40B4-BE49-F238E27FC236}">
                <a16:creationId xmlns:a16="http://schemas.microsoft.com/office/drawing/2014/main" id="{DDFF4FE7-39EB-4E54-B435-306959C8069D}"/>
              </a:ext>
            </a:extLst>
          </p:cNvPr>
          <p:cNvSpPr>
            <a:spLocks xmlns:a="http://schemas.openxmlformats.org/drawingml/2006/main" noGrp="1"/>
          </p:cNvSpPr>
          <p:nvPr/>
        </p:nvSpPr>
        <p:spPr>
          <a:xfrm xmlns:a="http://schemas.openxmlformats.org/drawingml/2006/main">
            <a:off x="666750" y="323850"/>
            <a:ext cx="981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2D63FF"/>
                </a:solidFill>
                <a:latin typeface="DejaVu Sans"/>
                <a:ea typeface="DejaVu Sans"/>
                <a:cs typeface="DejaVu Sans"/>
              </a:defRPr>
            </a:pPr>
            <a:r>
              <a:rPr sz="1125" b="1">
                <a:solidFill>
                  <a:srgbClr val="2D63FF"/>
                </a:solidFill>
                <a:latin typeface="DejaVu Sans"/>
                <a:ea typeface="DejaVu Sans"/>
                <a:cs typeface="DejaVu Sans"/>
              </a:rPr>
              <a:t>TOPIC 1.2   /   LESSON 01   /   WORKSHEET KEY TERMS</a:t>
            </a:r>
          </a:p>
        </p:txBody>
      </p:sp>
      <p:sp>
        <p:nvSpPr>
          <p:cNvPr id="3" name="heading">
            <a:extLst xmlns:a="http://schemas.openxmlformats.org/drawingml/2006/main">
              <a:ext uri="{FF2B5EF4-FFF2-40B4-BE49-F238E27FC236}">
                <a16:creationId xmlns:a16="http://schemas.microsoft.com/office/drawing/2014/main" id="{2D5729DD-C465-460F-90E9-7080BFEB132F}"/>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01828"/>
                </a:solidFill>
                <a:latin typeface="DejaVu Sans"/>
                <a:ea typeface="DejaVu Sans"/>
                <a:cs typeface="DejaVu Sans"/>
              </a:defRPr>
            </a:pPr>
            <a:r>
              <a:rPr sz="3225" b="1">
                <a:solidFill>
                  <a:srgbClr val="101828"/>
                </a:solidFill>
                <a:latin typeface="DejaVu Sans"/>
                <a:ea typeface="DejaVu Sans"/>
                <a:cs typeface="DejaVu Sans"/>
              </a:rPr>
              <a:t>Key terminology quiz</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e97043db41644cc9"/>
          <a:stretch xmlns:a="http://schemas.openxmlformats.org/drawingml/2006/main"/>
        </p:blipFill>
        <p:spPr>
          <a:xfrm xmlns:a="http://schemas.openxmlformats.org/drawingml/2006/main">
            <a:off x="666750" y="6241242"/>
            <a:ext cx="2038350" cy="395316"/>
          </a:xfrm>
          <a:prstGeom xmlns:a="http://schemas.openxmlformats.org/drawingml/2006/main" prst="rect">
            <a:avLst/>
          </a:prstGeom>
        </p:spPr>
      </p:pic>
      <p:sp>
        <p:nvSpPr>
          <p:cNvPr id="5" name="page">
            <a:extLst xmlns:a="http://schemas.openxmlformats.org/drawingml/2006/main">
              <a:ext uri="{FF2B5EF4-FFF2-40B4-BE49-F238E27FC236}">
                <a16:creationId xmlns:a16="http://schemas.microsoft.com/office/drawing/2014/main" id="{72CBEF5A-6B4F-4D97-8831-35016FC510D5}"/>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5 / 19</a:t>
            </a:r>
          </a:p>
        </p:txBody>
      </p:sp>
      <p:sp>
        <p:nvSpPr>
          <p:cNvPr id="6" name="term-number-0">
            <a:extLst xmlns:a="http://schemas.openxmlformats.org/drawingml/2006/main">
              <a:ext uri="{FF2B5EF4-FFF2-40B4-BE49-F238E27FC236}">
                <a16:creationId xmlns:a16="http://schemas.microsoft.com/office/drawing/2014/main" id="{1B67B5AA-DF06-47B7-8D61-DF0485066859}"/>
              </a:ext>
            </a:extLst>
          </p:cNvPr>
          <p:cNvSpPr>
            <a:spLocks xmlns:a="http://schemas.openxmlformats.org/drawingml/2006/main" noGrp="1"/>
          </p:cNvSpPr>
          <p:nvPr/>
        </p:nvSpPr>
        <p:spPr>
          <a:xfrm xmlns:a="http://schemas.openxmlformats.org/drawingml/2006/main">
            <a:off x="723900" y="2276475"/>
            <a:ext cx="59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2D63FF"/>
                </a:solidFill>
                <a:latin typeface="DejaVu Sans"/>
                <a:ea typeface="DejaVu Sans"/>
                <a:cs typeface="DejaVu Sans"/>
              </a:defRPr>
            </a:pPr>
            <a:r>
              <a:rPr sz="2700" b="1">
                <a:solidFill>
                  <a:srgbClr val="2D63FF"/>
                </a:solidFill>
                <a:latin typeface="DejaVu Sans"/>
                <a:ea typeface="DejaVu Sans"/>
                <a:cs typeface="DejaVu Sans"/>
              </a:rPr>
              <a:t>1.</a:t>
            </a:r>
          </a:p>
        </p:txBody>
      </p:sp>
      <p:sp>
        <p:nvSpPr>
          <p:cNvPr id="7" name="term-0">
            <a:extLst xmlns:a="http://schemas.openxmlformats.org/drawingml/2006/main">
              <a:ext uri="{FF2B5EF4-FFF2-40B4-BE49-F238E27FC236}">
                <a16:creationId xmlns:a16="http://schemas.microsoft.com/office/drawing/2014/main" id="{1C40C48A-7A3D-4195-B1B3-9E132D2A8E7C}"/>
              </a:ext>
            </a:extLst>
          </p:cNvPr>
          <p:cNvSpPr>
            <a:spLocks xmlns:a="http://schemas.openxmlformats.org/drawingml/2006/main" noGrp="1"/>
          </p:cNvSpPr>
          <p:nvPr/>
        </p:nvSpPr>
        <p:spPr>
          <a:xfrm xmlns:a="http://schemas.openxmlformats.org/drawingml/2006/main">
            <a:off x="1371600" y="2276475"/>
            <a:ext cx="9667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01828"/>
                </a:solidFill>
                <a:latin typeface="DejaVu Sans"/>
                <a:ea typeface="DejaVu Sans"/>
                <a:cs typeface="DejaVu Sans"/>
              </a:defRPr>
            </a:pPr>
            <a:r>
              <a:rPr sz="2775" b="1">
                <a:solidFill>
                  <a:srgbClr val="101828"/>
                </a:solidFill>
                <a:latin typeface="DejaVu Sans"/>
                <a:ea typeface="DejaVu Sans"/>
                <a:cs typeface="DejaVu Sans"/>
              </a:rPr>
              <a:t>RAM</a:t>
            </a:r>
          </a:p>
        </p:txBody>
      </p:sp>
      <p:sp>
        <p:nvSpPr>
          <p:cNvPr id="8" name="term-number-1">
            <a:extLst xmlns:a="http://schemas.openxmlformats.org/drawingml/2006/main">
              <a:ext uri="{FF2B5EF4-FFF2-40B4-BE49-F238E27FC236}">
                <a16:creationId xmlns:a16="http://schemas.microsoft.com/office/drawing/2014/main" id="{DF7A97EC-B227-48EB-B123-C0F72DF519F6}"/>
              </a:ext>
            </a:extLst>
          </p:cNvPr>
          <p:cNvSpPr>
            <a:spLocks xmlns:a="http://schemas.openxmlformats.org/drawingml/2006/main" noGrp="1"/>
          </p:cNvSpPr>
          <p:nvPr/>
        </p:nvSpPr>
        <p:spPr>
          <a:xfrm xmlns:a="http://schemas.openxmlformats.org/drawingml/2006/main">
            <a:off x="723900" y="4086225"/>
            <a:ext cx="59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2D63FF"/>
                </a:solidFill>
                <a:latin typeface="DejaVu Sans"/>
                <a:ea typeface="DejaVu Sans"/>
                <a:cs typeface="DejaVu Sans"/>
              </a:defRPr>
            </a:pPr>
            <a:r>
              <a:rPr sz="2700" b="1">
                <a:solidFill>
                  <a:srgbClr val="2D63FF"/>
                </a:solidFill>
                <a:latin typeface="DejaVu Sans"/>
                <a:ea typeface="DejaVu Sans"/>
                <a:cs typeface="DejaVu Sans"/>
              </a:rPr>
              <a:t>2.</a:t>
            </a:r>
          </a:p>
        </p:txBody>
      </p:sp>
      <p:sp>
        <p:nvSpPr>
          <p:cNvPr id="9" name="term-1">
            <a:extLst xmlns:a="http://schemas.openxmlformats.org/drawingml/2006/main">
              <a:ext uri="{FF2B5EF4-FFF2-40B4-BE49-F238E27FC236}">
                <a16:creationId xmlns:a16="http://schemas.microsoft.com/office/drawing/2014/main" id="{20C8A55F-5245-448D-B42E-3A546CBED98D}"/>
              </a:ext>
            </a:extLst>
          </p:cNvPr>
          <p:cNvSpPr>
            <a:spLocks xmlns:a="http://schemas.openxmlformats.org/drawingml/2006/main" noGrp="1"/>
          </p:cNvSpPr>
          <p:nvPr/>
        </p:nvSpPr>
        <p:spPr>
          <a:xfrm xmlns:a="http://schemas.openxmlformats.org/drawingml/2006/main">
            <a:off x="1371600" y="4086225"/>
            <a:ext cx="9667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01828"/>
                </a:solidFill>
                <a:latin typeface="DejaVu Sans"/>
                <a:ea typeface="DejaVu Sans"/>
                <a:cs typeface="DejaVu Sans"/>
              </a:defRPr>
            </a:pPr>
            <a:r>
              <a:rPr sz="2775" b="1">
                <a:solidFill>
                  <a:srgbClr val="101828"/>
                </a:solidFill>
                <a:latin typeface="DejaVu Sans"/>
                <a:ea typeface="DejaVu Sans"/>
                <a:cs typeface="DejaVu Sans"/>
              </a:rPr>
              <a:t>ROM</a:t>
            </a:r>
          </a:p>
        </p:txBody>
      </p:sp>
    </p:spTree>
    <p:extLst>
      <p:ext uri="{BB962C8B-B14F-4D97-AF65-F5344CB8AC3E}">
        <p14:creationId xmlns:p14="http://schemas.microsoft.com/office/powerpoint/2010/main" val="114482105"/>
      </p:ext>
    </p:extLst>
  </p:cSld>
</p:sld>
</file>

<file path=ppt/slides/slide6.xml><?xml version="1.0" encoding="utf-8"?>
<p:sld xmlns:p="http://schemas.openxmlformats.org/presentationml/2006/main">
  <p:cSld>
    <p:bg>
      <p:bgPr>
        <a:solidFill xmlns:a="http://schemas.openxmlformats.org/drawingml/2006/main">
          <a:srgbClr val="EAF3FF"/>
        </a:solidFill>
      </p:bgPr>
    </p:bg>
    <p:spTree>
      <p:nvGrpSpPr>
        <p:cNvPr id="1" name=""/>
        <p:cNvGrpSpPr/>
        <p:nvPr/>
      </p:nvGrpSpPr>
      <p:grpSpPr>
        <a:xfrm xmlns:a="http://schemas.openxmlformats.org/drawingml/2006/main"/>
      </p:grpSpPr>
      <p:sp>
        <p:nvSpPr>
          <p:cNvPr id="10" name="footer background">
            <a:extLst xmlns:a="http://schemas.openxmlformats.org/drawingml/2006/main">
              <a:ext uri="{FF2B5EF4-FFF2-40B4-BE49-F238E27FC236}">
                <a16:creationId xmlns:a16="http://schemas.microsoft.com/office/drawing/2014/main" id="{BA9F95D3-0856-4C94-A5A2-175492ED5D44}"/>
              </a:ext>
            </a:extLst>
          </p:cNvPr>
          <p:cNvSpPr>
            <a:spLocks xmlns:a="http://schemas.openxmlformats.org/drawingml/2006/main" noGrp="1"/>
          </p:cNvSpPr>
          <p:nvPr/>
        </p:nvSpPr>
        <p:spPr>
          <a:xfrm xmlns:a="http://schemas.openxmlformats.org/drawingml/2006/main">
            <a:off x="0" y="6124575"/>
            <a:ext cx="12192000" cy="7334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topic">
            <a:extLst xmlns:a="http://schemas.openxmlformats.org/drawingml/2006/main">
              <a:ext uri="{FF2B5EF4-FFF2-40B4-BE49-F238E27FC236}">
                <a16:creationId xmlns:a16="http://schemas.microsoft.com/office/drawing/2014/main" id="{F471DFF2-D3AA-4062-95A2-28FF782D3DDF}"/>
              </a:ext>
            </a:extLst>
          </p:cNvPr>
          <p:cNvSpPr>
            <a:spLocks xmlns:a="http://schemas.openxmlformats.org/drawingml/2006/main" noGrp="1"/>
          </p:cNvSpPr>
          <p:nvPr/>
        </p:nvSpPr>
        <p:spPr>
          <a:xfrm xmlns:a="http://schemas.openxmlformats.org/drawingml/2006/main">
            <a:off x="666750" y="323850"/>
            <a:ext cx="981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2D63FF"/>
                </a:solidFill>
                <a:latin typeface="DejaVu Sans"/>
                <a:ea typeface="DejaVu Sans"/>
                <a:cs typeface="DejaVu Sans"/>
              </a:defRPr>
            </a:pPr>
            <a:r>
              <a:rPr sz="1125" b="1">
                <a:solidFill>
                  <a:srgbClr val="2D63FF"/>
                </a:solidFill>
                <a:latin typeface="DejaVu Sans"/>
                <a:ea typeface="DejaVu Sans"/>
                <a:cs typeface="DejaVu Sans"/>
              </a:rPr>
              <a:t>TOPIC 1.2   /   LESSON 01   /   CHECK</a:t>
            </a:r>
          </a:p>
        </p:txBody>
      </p:sp>
      <p:sp>
        <p:nvSpPr>
          <p:cNvPr id="3" name="heading">
            <a:extLst xmlns:a="http://schemas.openxmlformats.org/drawingml/2006/main">
              <a:ext uri="{FF2B5EF4-FFF2-40B4-BE49-F238E27FC236}">
                <a16:creationId xmlns:a16="http://schemas.microsoft.com/office/drawing/2014/main" id="{6BBD9530-ED70-4E47-A1C7-18DD4AEA5E3F}"/>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01828"/>
                </a:solidFill>
                <a:latin typeface="DejaVu Sans"/>
                <a:ea typeface="DejaVu Sans"/>
                <a:cs typeface="DejaVu Sans"/>
              </a:defRPr>
            </a:pPr>
            <a:r>
              <a:rPr sz="3225" b="1">
                <a:solidFill>
                  <a:srgbClr val="101828"/>
                </a:solidFill>
                <a:latin typeface="DejaVu Sans"/>
                <a:ea typeface="DejaVu Sans"/>
                <a:cs typeface="DejaVu Sans"/>
              </a:rPr>
              <a:t>Key terminology: answers</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b3e9460559654c34"/>
          <a:stretch xmlns:a="http://schemas.openxmlformats.org/drawingml/2006/main"/>
        </p:blipFill>
        <p:spPr>
          <a:xfrm xmlns:a="http://schemas.openxmlformats.org/drawingml/2006/main">
            <a:off x="666750" y="6241242"/>
            <a:ext cx="2038350" cy="395316"/>
          </a:xfrm>
          <a:prstGeom xmlns:a="http://schemas.openxmlformats.org/drawingml/2006/main" prst="rect">
            <a:avLst/>
          </a:prstGeom>
        </p:spPr>
      </p:pic>
      <p:sp>
        <p:nvSpPr>
          <p:cNvPr id="5" name="page">
            <a:extLst xmlns:a="http://schemas.openxmlformats.org/drawingml/2006/main">
              <a:ext uri="{FF2B5EF4-FFF2-40B4-BE49-F238E27FC236}">
                <a16:creationId xmlns:a16="http://schemas.microsoft.com/office/drawing/2014/main" id="{639A6EA5-325E-4041-B402-82796249ADCF}"/>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6 / 19</a:t>
            </a:r>
          </a:p>
        </p:txBody>
      </p:sp>
      <p:sp>
        <p:nvSpPr>
          <p:cNvPr id="6" name="term-label-0">
            <a:extLst xmlns:a="http://schemas.openxmlformats.org/drawingml/2006/main">
              <a:ext uri="{FF2B5EF4-FFF2-40B4-BE49-F238E27FC236}">
                <a16:creationId xmlns:a16="http://schemas.microsoft.com/office/drawing/2014/main" id="{9E7DD673-278F-4AC4-A798-4438841B85A1}"/>
              </a:ext>
            </a:extLst>
          </p:cNvPr>
          <p:cNvSpPr>
            <a:spLocks xmlns:a="http://schemas.openxmlformats.org/drawingml/2006/main" noGrp="1"/>
          </p:cNvSpPr>
          <p:nvPr/>
        </p:nvSpPr>
        <p:spPr>
          <a:xfrm xmlns:a="http://schemas.openxmlformats.org/drawingml/2006/main">
            <a:off x="723900" y="20288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2D63FF"/>
                </a:solidFill>
                <a:latin typeface="DejaVu Sans"/>
                <a:ea typeface="DejaVu Sans"/>
                <a:cs typeface="DejaVu Sans"/>
              </a:defRPr>
            </a:pPr>
            <a:r>
              <a:rPr sz="2400" b="1">
                <a:solidFill>
                  <a:srgbClr val="2D63FF"/>
                </a:solidFill>
                <a:latin typeface="DejaVu Sans"/>
                <a:ea typeface="DejaVu Sans"/>
                <a:cs typeface="DejaVu Sans"/>
              </a:rPr>
              <a:t>RAM</a:t>
            </a:r>
          </a:p>
        </p:txBody>
      </p:sp>
      <p:sp>
        <p:nvSpPr>
          <p:cNvPr id="7" name="term-definition-0">
            <a:extLst xmlns:a="http://schemas.openxmlformats.org/drawingml/2006/main">
              <a:ext uri="{FF2B5EF4-FFF2-40B4-BE49-F238E27FC236}">
                <a16:creationId xmlns:a16="http://schemas.microsoft.com/office/drawing/2014/main" id="{C0662166-75D4-4AC9-AB0B-F6642D8908E2}"/>
              </a:ext>
            </a:extLst>
          </p:cNvPr>
          <p:cNvSpPr>
            <a:spLocks xmlns:a="http://schemas.openxmlformats.org/drawingml/2006/main" noGrp="1"/>
          </p:cNvSpPr>
          <p:nvPr/>
        </p:nvSpPr>
        <p:spPr>
          <a:xfrm xmlns:a="http://schemas.openxmlformats.org/drawingml/2006/main">
            <a:off x="723900" y="2552700"/>
            <a:ext cx="10477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01828"/>
                </a:solidFill>
                <a:latin typeface="DejaVu Sans"/>
                <a:ea typeface="DejaVu Sans"/>
                <a:cs typeface="DejaVu Sans"/>
              </a:defRPr>
            </a:pPr>
            <a:r>
              <a:rPr sz="2025" b="0">
                <a:solidFill>
                  <a:srgbClr val="101828"/>
                </a:solidFill>
                <a:latin typeface="DejaVu Sans"/>
                <a:ea typeface="DejaVu Sans"/>
                <a:cs typeface="DejaVu Sans"/>
              </a:rPr>
              <a:t>RAM: volatile, read/write primary memory holding the programs and data currently in use.</a:t>
            </a:r>
          </a:p>
        </p:txBody>
      </p:sp>
      <p:sp>
        <p:nvSpPr>
          <p:cNvPr id="8" name="term-label-1">
            <a:extLst xmlns:a="http://schemas.openxmlformats.org/drawingml/2006/main">
              <a:ext uri="{FF2B5EF4-FFF2-40B4-BE49-F238E27FC236}">
                <a16:creationId xmlns:a16="http://schemas.microsoft.com/office/drawing/2014/main" id="{1A45CD6C-5913-49B3-AF44-31E4F7D4B709}"/>
              </a:ext>
            </a:extLst>
          </p:cNvPr>
          <p:cNvSpPr>
            <a:spLocks xmlns:a="http://schemas.openxmlformats.org/drawingml/2006/main" noGrp="1"/>
          </p:cNvSpPr>
          <p:nvPr/>
        </p:nvSpPr>
        <p:spPr>
          <a:xfrm xmlns:a="http://schemas.openxmlformats.org/drawingml/2006/main">
            <a:off x="723900" y="391477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2D63FF"/>
                </a:solidFill>
                <a:latin typeface="DejaVu Sans"/>
                <a:ea typeface="DejaVu Sans"/>
                <a:cs typeface="DejaVu Sans"/>
              </a:defRPr>
            </a:pPr>
            <a:r>
              <a:rPr sz="2400" b="1">
                <a:solidFill>
                  <a:srgbClr val="2D63FF"/>
                </a:solidFill>
                <a:latin typeface="DejaVu Sans"/>
                <a:ea typeface="DejaVu Sans"/>
                <a:cs typeface="DejaVu Sans"/>
              </a:rPr>
              <a:t>ROM</a:t>
            </a:r>
          </a:p>
        </p:txBody>
      </p:sp>
      <p:sp>
        <p:nvSpPr>
          <p:cNvPr id="9" name="term-definition-1">
            <a:extLst xmlns:a="http://schemas.openxmlformats.org/drawingml/2006/main">
              <a:ext uri="{FF2B5EF4-FFF2-40B4-BE49-F238E27FC236}">
                <a16:creationId xmlns:a16="http://schemas.microsoft.com/office/drawing/2014/main" id="{0E6864F2-4463-4695-A127-D54E40928E27}"/>
              </a:ext>
            </a:extLst>
          </p:cNvPr>
          <p:cNvSpPr>
            <a:spLocks xmlns:a="http://schemas.openxmlformats.org/drawingml/2006/main" noGrp="1"/>
          </p:cNvSpPr>
          <p:nvPr/>
        </p:nvSpPr>
        <p:spPr>
          <a:xfrm xmlns:a="http://schemas.openxmlformats.org/drawingml/2006/main">
            <a:off x="723900" y="4438650"/>
            <a:ext cx="10477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01828"/>
                </a:solidFill>
                <a:latin typeface="DejaVu Sans"/>
                <a:ea typeface="DejaVu Sans"/>
                <a:cs typeface="DejaVu Sans"/>
              </a:defRPr>
            </a:pPr>
            <a:r>
              <a:rPr sz="2025" b="0">
                <a:solidFill>
                  <a:srgbClr val="101828"/>
                </a:solidFill>
                <a:latin typeface="DejaVu Sans"/>
                <a:ea typeface="DejaVu Sans"/>
                <a:cs typeface="DejaVu Sans"/>
              </a:rPr>
              <a:t>ROM: non-volatile, normally read-only primary memory holding start-up instructions.</a:t>
            </a:r>
          </a:p>
        </p:txBody>
      </p:sp>
    </p:spTree>
    <p:extLst>
      <p:ext uri="{BB962C8B-B14F-4D97-AF65-F5344CB8AC3E}">
        <p14:creationId xmlns:p14="http://schemas.microsoft.com/office/powerpoint/2010/main" val="270977745"/>
      </p:ext>
    </p:extLst>
  </p:cSld>
</p:sld>
</file>

<file path=ppt/slides/slide7.xml><?xml version="1.0" encoding="utf-8"?>
<p:sld xmlns:p="http://schemas.openxmlformats.org/presentationml/2006/main">
  <p:cSld>
    <p:bg>
      <p:bgPr>
        <a:solidFill xmlns:a="http://schemas.openxmlformats.org/drawingml/2006/main">
          <a:srgbClr val="122448"/>
        </a:solidFill>
      </p:bgPr>
    </p:bg>
    <p:spTree>
      <p:nvGrpSpPr>
        <p:cNvPr id="1" name=""/>
        <p:cNvGrpSpPr/>
        <p:nvPr/>
      </p:nvGrpSpPr>
      <p:grpSpPr>
        <a:xfrm xmlns:a="http://schemas.openxmlformats.org/drawingml/2006/main"/>
      </p:grpSpPr>
      <p:sp>
        <p:nvSpPr>
          <p:cNvPr id="14" name="footer background">
            <a:extLst xmlns:a="http://schemas.openxmlformats.org/drawingml/2006/main">
              <a:ext uri="{FF2B5EF4-FFF2-40B4-BE49-F238E27FC236}">
                <a16:creationId xmlns:a16="http://schemas.microsoft.com/office/drawing/2014/main" id="{10F80572-F267-4708-A216-3F6AEFBF7CB2}"/>
              </a:ext>
            </a:extLst>
          </p:cNvPr>
          <p:cNvSpPr>
            <a:spLocks xmlns:a="http://schemas.openxmlformats.org/drawingml/2006/main" noGrp="1"/>
          </p:cNvSpPr>
          <p:nvPr/>
        </p:nvSpPr>
        <p:spPr>
          <a:xfrm xmlns:a="http://schemas.openxmlformats.org/drawingml/2006/main">
            <a:off x="0" y="6124575"/>
            <a:ext cx="12192000" cy="7334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topic">
            <a:extLst xmlns:a="http://schemas.openxmlformats.org/drawingml/2006/main">
              <a:ext uri="{FF2B5EF4-FFF2-40B4-BE49-F238E27FC236}">
                <a16:creationId xmlns:a16="http://schemas.microsoft.com/office/drawing/2014/main" id="{66793424-9DFB-4910-9702-A6E4A4FDD647}"/>
              </a:ext>
            </a:extLst>
          </p:cNvPr>
          <p:cNvSpPr>
            <a:spLocks xmlns:a="http://schemas.openxmlformats.org/drawingml/2006/main" noGrp="1"/>
          </p:cNvSpPr>
          <p:nvPr/>
        </p:nvSpPr>
        <p:spPr>
          <a:xfrm xmlns:a="http://schemas.openxmlformats.org/drawingml/2006/main">
            <a:off x="666750" y="323850"/>
            <a:ext cx="981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77D8FF"/>
                </a:solidFill>
                <a:latin typeface="DejaVu Sans"/>
                <a:ea typeface="DejaVu Sans"/>
                <a:cs typeface="DejaVu Sans"/>
              </a:defRPr>
            </a:pPr>
            <a:r>
              <a:rPr sz="1125" b="1">
                <a:solidFill>
                  <a:srgbClr val="77D8FF"/>
                </a:solidFill>
                <a:latin typeface="DejaVu Sans"/>
                <a:ea typeface="DejaVu Sans"/>
                <a:cs typeface="DejaVu Sans"/>
              </a:rPr>
              <a:t>TOPIC 1.2   /   LESSON 01   /   EXPERIENCE</a:t>
            </a:r>
          </a:p>
        </p:txBody>
      </p:sp>
      <p:sp>
        <p:nvSpPr>
          <p:cNvPr id="3" name="heading">
            <a:extLst xmlns:a="http://schemas.openxmlformats.org/drawingml/2006/main">
              <a:ext uri="{FF2B5EF4-FFF2-40B4-BE49-F238E27FC236}">
                <a16:creationId xmlns:a16="http://schemas.microsoft.com/office/drawing/2014/main" id="{703742B4-24C2-4973-92A3-5D8B4E24AFF9}"/>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FFFFFF"/>
                </a:solidFill>
                <a:latin typeface="DejaVu Sans"/>
                <a:ea typeface="DejaVu Sans"/>
                <a:cs typeface="DejaVu Sans"/>
              </a:defRPr>
            </a:pPr>
            <a:r>
              <a:rPr sz="3225" b="1">
                <a:solidFill>
                  <a:srgbClr val="FFFFFF"/>
                </a:solidFill>
                <a:latin typeface="DejaVu Sans"/>
                <a:ea typeface="DejaVu Sans"/>
                <a:cs typeface="DejaVu Sans"/>
              </a:rPr>
              <a:t>Worksheet + experience</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1b9908b4b1c24452"/>
          <a:stretch xmlns:a="http://schemas.openxmlformats.org/drawingml/2006/main"/>
        </p:blipFill>
        <p:spPr>
          <a:xfrm xmlns:a="http://schemas.openxmlformats.org/drawingml/2006/main">
            <a:off x="666750" y="6241242"/>
            <a:ext cx="2038350" cy="395316"/>
          </a:xfrm>
          <a:prstGeom xmlns:a="http://schemas.openxmlformats.org/drawingml/2006/main" prst="rect">
            <a:avLst/>
          </a:prstGeom>
        </p:spPr>
      </p:pic>
      <p:sp>
        <p:nvSpPr>
          <p:cNvPr id="5" name="page">
            <a:extLst xmlns:a="http://schemas.openxmlformats.org/drawingml/2006/main">
              <a:ext uri="{FF2B5EF4-FFF2-40B4-BE49-F238E27FC236}">
                <a16:creationId xmlns:a16="http://schemas.microsoft.com/office/drawing/2014/main" id="{E9FC012F-49DB-46FB-9F4A-EF3DD4E7331A}"/>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7 / 19</a:t>
            </a:r>
          </a:p>
        </p:txBody>
      </p:sp>
      <p:sp>
        <p:nvSpPr>
          <p:cNvPr id="6" name="open-label">
            <a:extLst xmlns:a="http://schemas.openxmlformats.org/drawingml/2006/main">
              <a:ext uri="{FF2B5EF4-FFF2-40B4-BE49-F238E27FC236}">
                <a16:creationId xmlns:a16="http://schemas.microsoft.com/office/drawing/2014/main" id="{27C682EA-B7F8-415D-8A30-CE8BA1374C6F}"/>
              </a:ext>
            </a:extLst>
          </p:cNvPr>
          <p:cNvSpPr>
            <a:spLocks xmlns:a="http://schemas.openxmlformats.org/drawingml/2006/main" noGrp="1"/>
          </p:cNvSpPr>
          <p:nvPr/>
        </p:nvSpPr>
        <p:spPr>
          <a:xfrm xmlns:a="http://schemas.openxmlformats.org/drawingml/2006/main">
            <a:off x="723900" y="1524000"/>
            <a:ext cx="857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7D8FF"/>
                </a:solidFill>
                <a:latin typeface="DejaVu Sans"/>
                <a:ea typeface="DejaVu Sans"/>
                <a:cs typeface="DejaVu Sans"/>
              </a:defRPr>
            </a:pPr>
            <a:r>
              <a:rPr sz="1425" b="1">
                <a:solidFill>
                  <a:srgbClr val="77D8FF"/>
                </a:solidFill>
                <a:latin typeface="DejaVu Sans"/>
                <a:ea typeface="DejaVu Sans"/>
                <a:cs typeface="DejaVu Sans"/>
              </a:rPr>
              <a:t>01   </a:t>
            </a:r>
            <a:r>
              <a:rPr sz="1425" b="1">
                <a:solidFill>
                  <a:srgbClr val="77D8FF"/>
                </a:solidFill>
                <a:latin typeface="DejaVu Sans"/>
                <a:ea typeface="DejaVu Sans"/>
                <a:cs typeface="DejaVu Sans"/>
                <a:hlinkClick xmlns:r="http://schemas.openxmlformats.org/officeDocument/2006/relationships" r:id="R383564eda5e04321"/>
              </a:rPr>
              <a:t>OPEN EXPERIENCE ↗</a:t>
            </a:r>
          </a:p>
        </p:txBody>
      </p:sp>
      <p:sp>
        <p:nvSpPr>
          <p:cNvPr id="7" name="open-body">
            <a:extLst xmlns:a="http://schemas.openxmlformats.org/drawingml/2006/main">
              <a:ext uri="{FF2B5EF4-FFF2-40B4-BE49-F238E27FC236}">
                <a16:creationId xmlns:a16="http://schemas.microsoft.com/office/drawing/2014/main" id="{A23B3583-942C-4296-9B09-663DDB4A6F18}"/>
              </a:ext>
            </a:extLst>
          </p:cNvPr>
          <p:cNvSpPr>
            <a:spLocks xmlns:a="http://schemas.openxmlformats.org/drawingml/2006/main" noGrp="1"/>
          </p:cNvSpPr>
          <p:nvPr/>
        </p:nvSpPr>
        <p:spPr>
          <a:xfrm xmlns:a="http://schemas.openxmlformats.org/drawingml/2006/main">
            <a:off x="723900" y="1847850"/>
            <a:ext cx="1057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FFFFFF"/>
                </a:solidFill>
                <a:latin typeface="DejaVu Sans"/>
                <a:ea typeface="DejaVu Sans"/>
                <a:cs typeface="DejaVu Sans"/>
              </a:defRPr>
            </a:pPr>
            <a:r>
              <a:rPr sz="1950" b="0">
                <a:solidFill>
                  <a:srgbClr val="FFFFFF"/>
                </a:solidFill>
                <a:latin typeface="DejaVu Sans"/>
                <a:ea typeface="DejaVu Sans"/>
                <a:cs typeface="DejaVu Sans"/>
              </a:rPr>
              <a:t>Open Memory bay in Topic 1.2. Keep the worksheet beside you.</a:t>
            </a:r>
          </a:p>
        </p:txBody>
      </p:sp>
      <p:sp>
        <p:nvSpPr>
          <p:cNvPr id="8" name="station-label">
            <a:extLst xmlns:a="http://schemas.openxmlformats.org/drawingml/2006/main">
              <a:ext uri="{FF2B5EF4-FFF2-40B4-BE49-F238E27FC236}">
                <a16:creationId xmlns:a16="http://schemas.microsoft.com/office/drawing/2014/main" id="{A2D02226-8DFD-4F91-BADA-38E161FD8D30}"/>
              </a:ext>
            </a:extLst>
          </p:cNvPr>
          <p:cNvSpPr>
            <a:spLocks xmlns:a="http://schemas.openxmlformats.org/drawingml/2006/main" noGrp="1"/>
          </p:cNvSpPr>
          <p:nvPr/>
        </p:nvSpPr>
        <p:spPr>
          <a:xfrm xmlns:a="http://schemas.openxmlformats.org/drawingml/2006/main">
            <a:off x="723900" y="2590800"/>
            <a:ext cx="857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7D8FF"/>
                </a:solidFill>
                <a:latin typeface="DejaVu Sans"/>
                <a:ea typeface="DejaVu Sans"/>
                <a:cs typeface="DejaVu Sans"/>
              </a:defRPr>
            </a:pPr>
            <a:r>
              <a:rPr sz="1425" b="1">
                <a:solidFill>
                  <a:srgbClr val="77D8FF"/>
                </a:solidFill>
                <a:latin typeface="DejaVu Sans"/>
                <a:ea typeface="DejaVu Sans"/>
                <a:cs typeface="DejaVu Sans"/>
              </a:rPr>
              <a:t>02   SIX STATIONS</a:t>
            </a:r>
          </a:p>
        </p:txBody>
      </p:sp>
      <p:sp>
        <p:nvSpPr>
          <p:cNvPr id="9" name="station-body">
            <a:extLst xmlns:a="http://schemas.openxmlformats.org/drawingml/2006/main">
              <a:ext uri="{FF2B5EF4-FFF2-40B4-BE49-F238E27FC236}">
                <a16:creationId xmlns:a16="http://schemas.microsoft.com/office/drawing/2014/main" id="{EA3DE57F-A64E-4941-AB1D-D4AE260ADFFF}"/>
              </a:ext>
            </a:extLst>
          </p:cNvPr>
          <p:cNvSpPr>
            <a:spLocks xmlns:a="http://schemas.openxmlformats.org/drawingml/2006/main" noGrp="1"/>
          </p:cNvSpPr>
          <p:nvPr/>
        </p:nvSpPr>
        <p:spPr>
          <a:xfrm xmlns:a="http://schemas.openxmlformats.org/drawingml/2006/main">
            <a:off x="723900" y="2914650"/>
            <a:ext cx="10572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FFFFFF"/>
                </a:solidFill>
                <a:latin typeface="DejaVu Sans"/>
                <a:ea typeface="DejaVu Sans"/>
                <a:cs typeface="DejaVu Sans"/>
              </a:defRPr>
            </a:pPr>
            <a:r>
              <a:rPr sz="2175" b="1">
                <a:solidFill>
                  <a:srgbClr val="FFFFFF"/>
                </a:solidFill>
                <a:latin typeface="DejaVu Sans"/>
                <a:ea typeface="DejaVu Sans"/>
                <a:cs typeface="DejaVu Sans"/>
              </a:rPr>
              <a:t>Read each panel. Write the key fact IN YOUR OWN WORDS and answer the worksheet challenge before tapping its badge.</a:t>
            </a:r>
          </a:p>
        </p:txBody>
      </p:sp>
      <p:sp>
        <p:nvSpPr>
          <p:cNvPr id="10" name="finish-label">
            <a:extLst xmlns:a="http://schemas.openxmlformats.org/drawingml/2006/main">
              <a:ext uri="{FF2B5EF4-FFF2-40B4-BE49-F238E27FC236}">
                <a16:creationId xmlns:a16="http://schemas.microsoft.com/office/drawing/2014/main" id="{83662625-BA28-416F-B22B-ADF859FA4617}"/>
              </a:ext>
            </a:extLst>
          </p:cNvPr>
          <p:cNvSpPr>
            <a:spLocks xmlns:a="http://schemas.openxmlformats.org/drawingml/2006/main" noGrp="1"/>
          </p:cNvSpPr>
          <p:nvPr/>
        </p:nvSpPr>
        <p:spPr>
          <a:xfrm xmlns:a="http://schemas.openxmlformats.org/drawingml/2006/main">
            <a:off x="723900" y="3714750"/>
            <a:ext cx="857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7D8FF"/>
                </a:solidFill>
                <a:latin typeface="DejaVu Sans"/>
                <a:ea typeface="DejaVu Sans"/>
                <a:cs typeface="DejaVu Sans"/>
              </a:defRPr>
            </a:pPr>
            <a:r>
              <a:rPr sz="1425" b="1">
                <a:solidFill>
                  <a:srgbClr val="77D8FF"/>
                </a:solidFill>
                <a:latin typeface="DejaVu Sans"/>
                <a:ea typeface="DejaVu Sans"/>
                <a:cs typeface="DejaVu Sans"/>
              </a:rPr>
              <a:t>03   FINAL CHALLENGE</a:t>
            </a:r>
          </a:p>
        </p:txBody>
      </p:sp>
      <p:sp>
        <p:nvSpPr>
          <p:cNvPr id="11" name="finish-body">
            <a:extLst xmlns:a="http://schemas.openxmlformats.org/drawingml/2006/main">
              <a:ext uri="{FF2B5EF4-FFF2-40B4-BE49-F238E27FC236}">
                <a16:creationId xmlns:a16="http://schemas.microsoft.com/office/drawing/2014/main" id="{25DC1843-7AF2-497E-BB19-860C306C09D8}"/>
              </a:ext>
            </a:extLst>
          </p:cNvPr>
          <p:cNvSpPr>
            <a:spLocks xmlns:a="http://schemas.openxmlformats.org/drawingml/2006/main" noGrp="1"/>
          </p:cNvSpPr>
          <p:nvPr/>
        </p:nvSpPr>
        <p:spPr>
          <a:xfrm xmlns:a="http://schemas.openxmlformats.org/drawingml/2006/main">
            <a:off x="723900" y="4048125"/>
            <a:ext cx="1057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FFFFFF"/>
                </a:solidFill>
                <a:latin typeface="DejaVu Sans"/>
                <a:ea typeface="DejaVu Sans"/>
                <a:cs typeface="DejaVu Sans"/>
              </a:defRPr>
            </a:pPr>
            <a:r>
              <a:rPr sz="1875" b="0">
                <a:solidFill>
                  <a:srgbClr val="FFFFFF"/>
                </a:solidFill>
                <a:latin typeface="DejaVu Sans"/>
                <a:ea typeface="DejaVu Sans"/>
                <a:cs typeface="DejaVu Sans"/>
              </a:rPr>
              <a:t>Complete the ★ task before tapping the star. Copy your score (out of 27), then finish the worksheet task or review.</a:t>
            </a:r>
          </a:p>
        </p:txBody>
      </p:sp>
      <p:sp>
        <p:nvSpPr>
          <p:cNvPr id="12" name="plenary-label">
            <a:extLst xmlns:a="http://schemas.openxmlformats.org/drawingml/2006/main">
              <a:ext uri="{FF2B5EF4-FFF2-40B4-BE49-F238E27FC236}">
                <a16:creationId xmlns:a16="http://schemas.microsoft.com/office/drawing/2014/main" id="{F68D7ADA-C0FA-46CD-BB9F-B16B8555DADC}"/>
              </a:ext>
            </a:extLst>
          </p:cNvPr>
          <p:cNvSpPr>
            <a:spLocks xmlns:a="http://schemas.openxmlformats.org/drawingml/2006/main" noGrp="1"/>
          </p:cNvSpPr>
          <p:nvPr/>
        </p:nvSpPr>
        <p:spPr>
          <a:xfrm xmlns:a="http://schemas.openxmlformats.org/drawingml/2006/main">
            <a:off x="723900" y="4914900"/>
            <a:ext cx="857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7D8FF"/>
                </a:solidFill>
                <a:latin typeface="DejaVu Sans"/>
                <a:ea typeface="DejaVu Sans"/>
                <a:cs typeface="DejaVu Sans"/>
              </a:defRPr>
            </a:pPr>
            <a:r>
              <a:rPr sz="1425" b="1">
                <a:solidFill>
                  <a:srgbClr val="77D8FF"/>
                </a:solidFill>
                <a:latin typeface="DejaVu Sans"/>
                <a:ea typeface="DejaVu Sans"/>
                <a:cs typeface="DejaVu Sans"/>
              </a:rPr>
              <a:t>04   PLENARY</a:t>
            </a:r>
          </a:p>
        </p:txBody>
      </p:sp>
      <p:sp>
        <p:nvSpPr>
          <p:cNvPr id="13" name="plenary-body">
            <a:extLst xmlns:a="http://schemas.openxmlformats.org/drawingml/2006/main">
              <a:ext uri="{FF2B5EF4-FFF2-40B4-BE49-F238E27FC236}">
                <a16:creationId xmlns:a16="http://schemas.microsoft.com/office/drawing/2014/main" id="{537E6C03-65C3-4FB5-8301-3D64459CD3CD}"/>
              </a:ext>
            </a:extLst>
          </p:cNvPr>
          <p:cNvSpPr>
            <a:spLocks xmlns:a="http://schemas.openxmlformats.org/drawingml/2006/main" noGrp="1"/>
          </p:cNvSpPr>
          <p:nvPr/>
        </p:nvSpPr>
        <p:spPr>
          <a:xfrm xmlns:a="http://schemas.openxmlformats.org/drawingml/2006/main">
            <a:off x="723900" y="52387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FFFFFF"/>
                </a:solidFill>
                <a:latin typeface="DejaVu Sans"/>
                <a:ea typeface="DejaVu Sans"/>
                <a:cs typeface="DejaVu Sans"/>
              </a:defRPr>
            </a:pPr>
            <a:r>
              <a:rPr sz="1800" b="0">
                <a:solidFill>
                  <a:srgbClr val="FFFFFF"/>
                </a:solidFill>
                <a:latin typeface="DejaVu Sans"/>
                <a:ea typeface="DejaVu Sans"/>
                <a:cs typeface="DejaVu Sans"/>
              </a:rPr>
              <a:t>Finish the experience in this lesson. Near the end, close it for the plenary knowledge checks.</a:t>
            </a:r>
          </a:p>
        </p:txBody>
      </p:sp>
    </p:spTree>
    <p:extLst>
      <p:ext uri="{BB962C8B-B14F-4D97-AF65-F5344CB8AC3E}">
        <p14:creationId xmlns:p14="http://schemas.microsoft.com/office/powerpoint/2010/main" val="114032989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ooter background">
            <a:extLst xmlns:a="http://schemas.openxmlformats.org/drawingml/2006/main">
              <a:ext uri="{FF2B5EF4-FFF2-40B4-BE49-F238E27FC236}">
                <a16:creationId xmlns:a16="http://schemas.microsoft.com/office/drawing/2014/main" id="{14A2B3C1-D94C-48D8-91AE-578564B54656}"/>
              </a:ext>
            </a:extLst>
          </p:cNvPr>
          <p:cNvSpPr>
            <a:spLocks xmlns:a="http://schemas.openxmlformats.org/drawingml/2006/main" noGrp="1"/>
          </p:cNvSpPr>
          <p:nvPr/>
        </p:nvSpPr>
        <p:spPr>
          <a:xfrm xmlns:a="http://schemas.openxmlformats.org/drawingml/2006/main">
            <a:off x="0" y="6124575"/>
            <a:ext cx="12192000" cy="7334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topic">
            <a:extLst xmlns:a="http://schemas.openxmlformats.org/drawingml/2006/main">
              <a:ext uri="{FF2B5EF4-FFF2-40B4-BE49-F238E27FC236}">
                <a16:creationId xmlns:a16="http://schemas.microsoft.com/office/drawing/2014/main" id="{1AB99007-0E3E-4685-88B6-6CECDAB9D33A}"/>
              </a:ext>
            </a:extLst>
          </p:cNvPr>
          <p:cNvSpPr>
            <a:spLocks xmlns:a="http://schemas.openxmlformats.org/drawingml/2006/main" noGrp="1"/>
          </p:cNvSpPr>
          <p:nvPr/>
        </p:nvSpPr>
        <p:spPr>
          <a:xfrm xmlns:a="http://schemas.openxmlformats.org/drawingml/2006/main">
            <a:off x="666750" y="323850"/>
            <a:ext cx="981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2D63FF"/>
                </a:solidFill>
                <a:latin typeface="DejaVu Sans"/>
                <a:ea typeface="DejaVu Sans"/>
                <a:cs typeface="DejaVu Sans"/>
              </a:defRPr>
            </a:pPr>
            <a:r>
              <a:rPr sz="1125" b="1">
                <a:solidFill>
                  <a:srgbClr val="2D63FF"/>
                </a:solidFill>
                <a:latin typeface="DejaVu Sans"/>
                <a:ea typeface="DejaVu Sans"/>
                <a:cs typeface="DejaVu Sans"/>
              </a:rPr>
              <a:t>TOPIC 1.2   /   LESSON 01   /   EXTENSION</a:t>
            </a:r>
          </a:p>
        </p:txBody>
      </p:sp>
      <p:sp>
        <p:nvSpPr>
          <p:cNvPr id="3" name="heading">
            <a:extLst xmlns:a="http://schemas.openxmlformats.org/drawingml/2006/main">
              <a:ext uri="{FF2B5EF4-FFF2-40B4-BE49-F238E27FC236}">
                <a16:creationId xmlns:a16="http://schemas.microsoft.com/office/drawing/2014/main" id="{562B199D-2D2A-4249-9A87-2823055932CC}"/>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01828"/>
                </a:solidFill>
                <a:latin typeface="DejaVu Sans"/>
                <a:ea typeface="DejaVu Sans"/>
                <a:cs typeface="DejaVu Sans"/>
              </a:defRPr>
            </a:pPr>
            <a:r>
              <a:rPr sz="3225" b="1">
                <a:solidFill>
                  <a:srgbClr val="101828"/>
                </a:solidFill>
                <a:latin typeface="DejaVu Sans"/>
                <a:ea typeface="DejaVu Sans"/>
                <a:cs typeface="DejaVu Sans"/>
              </a:rPr>
              <a:t>Apply your learning</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c8be02cf84f24315"/>
          <a:stretch xmlns:a="http://schemas.openxmlformats.org/drawingml/2006/main"/>
        </p:blipFill>
        <p:spPr>
          <a:xfrm xmlns:a="http://schemas.openxmlformats.org/drawingml/2006/main">
            <a:off x="666750" y="6241242"/>
            <a:ext cx="2038350" cy="395316"/>
          </a:xfrm>
          <a:prstGeom xmlns:a="http://schemas.openxmlformats.org/drawingml/2006/main" prst="rect">
            <a:avLst/>
          </a:prstGeom>
        </p:spPr>
      </p:pic>
      <p:sp>
        <p:nvSpPr>
          <p:cNvPr id="5" name="page">
            <a:extLst xmlns:a="http://schemas.openxmlformats.org/drawingml/2006/main">
              <a:ext uri="{FF2B5EF4-FFF2-40B4-BE49-F238E27FC236}">
                <a16:creationId xmlns:a16="http://schemas.microsoft.com/office/drawing/2014/main" id="{3404874D-3320-4FD3-92F9-938531C829CE}"/>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8 / 19</a:t>
            </a:r>
          </a:p>
        </p:txBody>
      </p:sp>
      <p:sp>
        <p:nvSpPr>
          <p:cNvPr id="6" name="application-prompt">
            <a:extLst xmlns:a="http://schemas.openxmlformats.org/drawingml/2006/main">
              <a:ext uri="{FF2B5EF4-FFF2-40B4-BE49-F238E27FC236}">
                <a16:creationId xmlns:a16="http://schemas.microsoft.com/office/drawing/2014/main" id="{CB9B75DD-74A6-44D0-8500-272E19CAF236}"/>
              </a:ext>
            </a:extLst>
          </p:cNvPr>
          <p:cNvSpPr>
            <a:spLocks xmlns:a="http://schemas.openxmlformats.org/drawingml/2006/main" noGrp="1"/>
          </p:cNvSpPr>
          <p:nvPr/>
        </p:nvSpPr>
        <p:spPr>
          <a:xfrm xmlns:a="http://schemas.openxmlformats.org/drawingml/2006/main">
            <a:off x="704850" y="2295525"/>
            <a:ext cx="10572750" cy="2266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101828"/>
                </a:solidFill>
                <a:latin typeface="DejaVu Sans"/>
                <a:ea typeface="DejaVu Sans"/>
                <a:cs typeface="DejaVu Sans"/>
              </a:defRPr>
            </a:pPr>
            <a:r>
              <a:rPr sz="2400" b="1">
                <a:solidFill>
                  <a:srgbClr val="101828"/>
                </a:solidFill>
                <a:latin typeface="DejaVu Sans"/>
                <a:ea typeface="DejaVu Sans"/>
                <a:cs typeface="DejaVu Sans"/>
              </a:rPr>
              <a:t>Task: compare RAM and ROM. Complete the table using full sentences.</a:t>
            </a:r>
          </a:p>
        </p:txBody>
      </p:sp>
      <p:sp>
        <p:nvSpPr>
          <p:cNvPr id="7" name="application-note">
            <a:extLst xmlns:a="http://schemas.openxmlformats.org/drawingml/2006/main">
              <a:ext uri="{FF2B5EF4-FFF2-40B4-BE49-F238E27FC236}">
                <a16:creationId xmlns:a16="http://schemas.microsoft.com/office/drawing/2014/main" id="{568CA604-B326-4DEE-AC1F-679AC2001AE5}"/>
              </a:ext>
            </a:extLst>
          </p:cNvPr>
          <p:cNvSpPr>
            <a:spLocks xmlns:a="http://schemas.openxmlformats.org/drawingml/2006/main" noGrp="1"/>
          </p:cNvSpPr>
          <p:nvPr/>
        </p:nvSpPr>
        <p:spPr>
          <a:xfrm xmlns:a="http://schemas.openxmlformats.org/drawingml/2006/main">
            <a:off x="704850" y="4953000"/>
            <a:ext cx="10572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2D63FF"/>
                </a:solidFill>
                <a:latin typeface="DejaVu Sans"/>
                <a:ea typeface="DejaVu Sans"/>
                <a:cs typeface="DejaVu Sans"/>
              </a:defRPr>
            </a:pPr>
            <a:r>
              <a:rPr sz="1875" b="0">
                <a:solidFill>
                  <a:srgbClr val="2D63FF"/>
                </a:solidFill>
                <a:latin typeface="DejaVu Sans"/>
                <a:ea typeface="DejaVu Sans"/>
                <a:cs typeface="DejaVu Sans"/>
              </a:rPr>
              <a:t>Use the task and table on your worksheet.</a:t>
            </a:r>
          </a:p>
        </p:txBody>
      </p:sp>
    </p:spTree>
    <p:extLst>
      <p:ext uri="{BB962C8B-B14F-4D97-AF65-F5344CB8AC3E}">
        <p14:creationId xmlns:p14="http://schemas.microsoft.com/office/powerpoint/2010/main" val="140549222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footer background">
            <a:extLst xmlns:a="http://schemas.openxmlformats.org/drawingml/2006/main">
              <a:ext uri="{FF2B5EF4-FFF2-40B4-BE49-F238E27FC236}">
                <a16:creationId xmlns:a16="http://schemas.microsoft.com/office/drawing/2014/main" id="{985BE3A3-3746-45D4-BCDF-56C84FD9EFBA}"/>
              </a:ext>
            </a:extLst>
          </p:cNvPr>
          <p:cNvSpPr>
            <a:spLocks xmlns:a="http://schemas.openxmlformats.org/drawingml/2006/main" noGrp="1"/>
          </p:cNvSpPr>
          <p:nvPr/>
        </p:nvSpPr>
        <p:spPr>
          <a:xfrm xmlns:a="http://schemas.openxmlformats.org/drawingml/2006/main">
            <a:off x="0" y="6124575"/>
            <a:ext cx="12192000" cy="7334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topic">
            <a:extLst xmlns:a="http://schemas.openxmlformats.org/drawingml/2006/main">
              <a:ext uri="{FF2B5EF4-FFF2-40B4-BE49-F238E27FC236}">
                <a16:creationId xmlns:a16="http://schemas.microsoft.com/office/drawing/2014/main" id="{B4156A68-CEC9-47E4-8AFA-BC2B1120A937}"/>
              </a:ext>
            </a:extLst>
          </p:cNvPr>
          <p:cNvSpPr>
            <a:spLocks xmlns:a="http://schemas.openxmlformats.org/drawingml/2006/main" noGrp="1"/>
          </p:cNvSpPr>
          <p:nvPr/>
        </p:nvSpPr>
        <p:spPr>
          <a:xfrm xmlns:a="http://schemas.openxmlformats.org/drawingml/2006/main">
            <a:off x="666750" y="323850"/>
            <a:ext cx="981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2D63FF"/>
                </a:solidFill>
                <a:latin typeface="DejaVu Sans"/>
                <a:ea typeface="DejaVu Sans"/>
                <a:cs typeface="DejaVu Sans"/>
              </a:defRPr>
            </a:pPr>
            <a:r>
              <a:rPr sz="1125" b="1">
                <a:solidFill>
                  <a:srgbClr val="2D63FF"/>
                </a:solidFill>
                <a:latin typeface="DejaVu Sans"/>
                <a:ea typeface="DejaVu Sans"/>
                <a:cs typeface="DejaVu Sans"/>
              </a:rPr>
              <a:t>TOPIC 1.2   /   LESSON 01   /   EXTENSION</a:t>
            </a:r>
          </a:p>
        </p:txBody>
      </p:sp>
      <p:sp>
        <p:nvSpPr>
          <p:cNvPr id="3" name="heading">
            <a:extLst xmlns:a="http://schemas.openxmlformats.org/drawingml/2006/main">
              <a:ext uri="{FF2B5EF4-FFF2-40B4-BE49-F238E27FC236}">
                <a16:creationId xmlns:a16="http://schemas.microsoft.com/office/drawing/2014/main" id="{529F30B4-D061-4506-970D-341BF3504683}"/>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01828"/>
                </a:solidFill>
                <a:latin typeface="DejaVu Sans"/>
                <a:ea typeface="DejaVu Sans"/>
                <a:cs typeface="DejaVu Sans"/>
              </a:defRPr>
            </a:pPr>
            <a:r>
              <a:rPr sz="3225" b="1">
                <a:solidFill>
                  <a:srgbClr val="101828"/>
                </a:solidFill>
                <a:latin typeface="DejaVu Sans"/>
                <a:ea typeface="DejaVu Sans"/>
                <a:cs typeface="DejaVu Sans"/>
              </a:rPr>
              <a:t>Check and improve</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68a0330de85548d7"/>
          <a:stretch xmlns:a="http://schemas.openxmlformats.org/drawingml/2006/main"/>
        </p:blipFill>
        <p:spPr>
          <a:xfrm xmlns:a="http://schemas.openxmlformats.org/drawingml/2006/main">
            <a:off x="666750" y="6241242"/>
            <a:ext cx="2038350" cy="395316"/>
          </a:xfrm>
          <a:prstGeom xmlns:a="http://schemas.openxmlformats.org/drawingml/2006/main" prst="rect">
            <a:avLst/>
          </a:prstGeom>
        </p:spPr>
      </p:pic>
      <p:sp>
        <p:nvSpPr>
          <p:cNvPr id="5" name="page">
            <a:extLst xmlns:a="http://schemas.openxmlformats.org/drawingml/2006/main">
              <a:ext uri="{FF2B5EF4-FFF2-40B4-BE49-F238E27FC236}">
                <a16:creationId xmlns:a16="http://schemas.microsoft.com/office/drawing/2014/main" id="{895FAFA4-B2F3-40F4-A9B5-79758E8FA55A}"/>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9 / 19</a:t>
            </a:r>
          </a:p>
        </p:txBody>
      </p:sp>
      <p:sp>
        <p:nvSpPr>
          <p:cNvPr id="6" name="review-prompt">
            <a:extLst xmlns:a="http://schemas.openxmlformats.org/drawingml/2006/main">
              <a:ext uri="{FF2B5EF4-FFF2-40B4-BE49-F238E27FC236}">
                <a16:creationId xmlns:a16="http://schemas.microsoft.com/office/drawing/2014/main" id="{378D99F4-AB3B-4AEC-A494-3191EB3D837D}"/>
              </a:ext>
            </a:extLst>
          </p:cNvPr>
          <p:cNvSpPr>
            <a:spLocks xmlns:a="http://schemas.openxmlformats.org/drawingml/2006/main" noGrp="1"/>
          </p:cNvSpPr>
          <p:nvPr/>
        </p:nvSpPr>
        <p:spPr>
          <a:xfrm xmlns:a="http://schemas.openxmlformats.org/drawingml/2006/main">
            <a:off x="704850" y="2514600"/>
            <a:ext cx="10572750" cy="217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101828"/>
                </a:solidFill>
                <a:latin typeface="DejaVu Sans"/>
                <a:ea typeface="DejaVu Sans"/>
                <a:cs typeface="DejaVu Sans"/>
              </a:defRPr>
            </a:pPr>
            <a:r>
              <a:rPr sz="2400" b="1">
                <a:solidFill>
                  <a:srgbClr val="101828"/>
                </a:solidFill>
                <a:latin typeface="DejaVu Sans"/>
                <a:ea typeface="DejaVu Sans"/>
                <a:cs typeface="DejaVu Sans"/>
              </a:rPr>
              <a:t>A laptop has plenty of free RAM but still feels slow. Would adding more RAM fix it? Explain.</a:t>
            </a:r>
          </a:p>
        </p:txBody>
      </p:sp>
    </p:spTree>
    <p:extLst>
      <p:ext uri="{BB962C8B-B14F-4D97-AF65-F5344CB8AC3E}">
        <p14:creationId xmlns:p14="http://schemas.microsoft.com/office/powerpoint/2010/main" val="644511596"/>
      </p:ext>
    </p:extLst>
  </p:cSld>
</p:sld>
</file>

<file path=ppt/slides/slide10.xml><?xml version="1.0" encoding="utf-8"?>
<p:sld xmlns:p="http://schemas.openxmlformats.org/presentationml/2006/main">
  <p:cSld>
    <p:bg>
      <p:bgPr>
        <a:solidFill xmlns:a="http://schemas.openxmlformats.org/drawingml/2006/main">
          <a:srgbClr val="EAF3FF"/>
        </a:solidFill>
      </p:bgPr>
    </p:bg>
    <p:spTree>
      <p:nvGrpSpPr>
        <p:cNvPr id="1" name=""/>
        <p:cNvGrpSpPr/>
        <p:nvPr/>
      </p:nvGrpSpPr>
      <p:grpSpPr>
        <a:xfrm xmlns:a="http://schemas.openxmlformats.org/drawingml/2006/main"/>
      </p:grpSpPr>
      <p:sp>
        <p:nvSpPr>
          <p:cNvPr id="12" name="footer background">
            <a:extLst xmlns:a="http://schemas.openxmlformats.org/drawingml/2006/main">
              <a:ext uri="{FF2B5EF4-FFF2-40B4-BE49-F238E27FC236}">
                <a16:creationId xmlns:a16="http://schemas.microsoft.com/office/drawing/2014/main" id="{0CE7A388-3665-4220-A6F4-4364F6DA784D}"/>
              </a:ext>
            </a:extLst>
          </p:cNvPr>
          <p:cNvSpPr>
            <a:spLocks xmlns:a="http://schemas.openxmlformats.org/drawingml/2006/main" noGrp="1"/>
          </p:cNvSpPr>
          <p:nvPr/>
        </p:nvSpPr>
        <p:spPr>
          <a:xfrm xmlns:a="http://schemas.openxmlformats.org/drawingml/2006/main">
            <a:off x="0" y="6124575"/>
            <a:ext cx="12192000" cy="7334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topic">
            <a:extLst xmlns:a="http://schemas.openxmlformats.org/drawingml/2006/main">
              <a:ext uri="{FF2B5EF4-FFF2-40B4-BE49-F238E27FC236}">
                <a16:creationId xmlns:a16="http://schemas.microsoft.com/office/drawing/2014/main" id="{465C2422-157A-4038-80E3-B4E66DB13303}"/>
              </a:ext>
            </a:extLst>
          </p:cNvPr>
          <p:cNvSpPr>
            <a:spLocks xmlns:a="http://schemas.openxmlformats.org/drawingml/2006/main" noGrp="1"/>
          </p:cNvSpPr>
          <p:nvPr/>
        </p:nvSpPr>
        <p:spPr>
          <a:xfrm xmlns:a="http://schemas.openxmlformats.org/drawingml/2006/main">
            <a:off x="666750" y="323850"/>
            <a:ext cx="981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2D63FF"/>
                </a:solidFill>
                <a:latin typeface="DejaVu Sans"/>
                <a:ea typeface="DejaVu Sans"/>
                <a:cs typeface="DejaVu Sans"/>
              </a:defRPr>
            </a:pPr>
            <a:r>
              <a:rPr sz="1125" b="1">
                <a:solidFill>
                  <a:srgbClr val="2D63FF"/>
                </a:solidFill>
                <a:latin typeface="DejaVu Sans"/>
                <a:ea typeface="DejaVu Sans"/>
                <a:cs typeface="DejaVu Sans"/>
              </a:rPr>
              <a:t>TOPIC 1.2   /   LESSON 01   /   CHECK</a:t>
            </a:r>
          </a:p>
        </p:txBody>
      </p:sp>
      <p:sp>
        <p:nvSpPr>
          <p:cNvPr id="3" name="heading">
            <a:extLst xmlns:a="http://schemas.openxmlformats.org/drawingml/2006/main">
              <a:ext uri="{FF2B5EF4-FFF2-40B4-BE49-F238E27FC236}">
                <a16:creationId xmlns:a16="http://schemas.microsoft.com/office/drawing/2014/main" id="{72A8ADE4-F607-4767-B4F7-AFE5B4F14B6F}"/>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01828"/>
                </a:solidFill>
                <a:latin typeface="DejaVu Sans"/>
                <a:ea typeface="DejaVu Sans"/>
                <a:cs typeface="DejaVu Sans"/>
              </a:defRPr>
            </a:pPr>
            <a:r>
              <a:rPr sz="3225" b="1">
                <a:solidFill>
                  <a:srgbClr val="101828"/>
                </a:solidFill>
                <a:latin typeface="DejaVu Sans"/>
                <a:ea typeface="DejaVu Sans"/>
                <a:cs typeface="DejaVu Sans"/>
              </a:rPr>
              <a:t>Application: sample answers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fd3bbd4f24b748a9"/>
          <a:stretch xmlns:a="http://schemas.openxmlformats.org/drawingml/2006/main"/>
        </p:blipFill>
        <p:spPr>
          <a:xfrm xmlns:a="http://schemas.openxmlformats.org/drawingml/2006/main">
            <a:off x="666750" y="6241242"/>
            <a:ext cx="2038350" cy="395316"/>
          </a:xfrm>
          <a:prstGeom xmlns:a="http://schemas.openxmlformats.org/drawingml/2006/main" prst="rect">
            <a:avLst/>
          </a:prstGeom>
        </p:spPr>
      </p:pic>
      <p:sp>
        <p:nvSpPr>
          <p:cNvPr id="5" name="page">
            <a:extLst xmlns:a="http://schemas.openxmlformats.org/drawingml/2006/main">
              <a:ext uri="{FF2B5EF4-FFF2-40B4-BE49-F238E27FC236}">
                <a16:creationId xmlns:a16="http://schemas.microsoft.com/office/drawing/2014/main" id="{9EAF2C4C-99EF-473B-9AF0-A5CC729F7C87}"/>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10 / 19</a:t>
            </a:r>
          </a:p>
        </p:txBody>
      </p:sp>
      <p:sp>
        <p:nvSpPr>
          <p:cNvPr id="6" name="number-1">
            <a:extLst xmlns:a="http://schemas.openxmlformats.org/drawingml/2006/main">
              <a:ext uri="{FF2B5EF4-FFF2-40B4-BE49-F238E27FC236}">
                <a16:creationId xmlns:a16="http://schemas.microsoft.com/office/drawing/2014/main" id="{E93305DD-FDC9-445F-A299-37F7EC84C196}"/>
              </a:ext>
            </a:extLst>
          </p:cNvPr>
          <p:cNvSpPr>
            <a:spLocks xmlns:a="http://schemas.openxmlformats.org/drawingml/2006/main" noGrp="1"/>
          </p:cNvSpPr>
          <p:nvPr/>
        </p:nvSpPr>
        <p:spPr>
          <a:xfrm xmlns:a="http://schemas.openxmlformats.org/drawingml/2006/main">
            <a:off x="723900" y="1847850"/>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2D63FF"/>
                </a:solidFill>
                <a:latin typeface="DejaVu Sans"/>
                <a:ea typeface="DejaVu Sans"/>
                <a:cs typeface="DejaVu Sans"/>
              </a:defRPr>
            </a:pPr>
            <a:r>
              <a:rPr sz="1950" b="1">
                <a:solidFill>
                  <a:srgbClr val="2D63FF"/>
                </a:solidFill>
                <a:latin typeface="DejaVu Sans"/>
                <a:ea typeface="DejaVu Sans"/>
                <a:cs typeface="DejaVu Sans"/>
              </a:rPr>
              <a:t>1.</a:t>
            </a:r>
          </a:p>
        </p:txBody>
      </p:sp>
      <p:sp>
        <p:nvSpPr>
          <p:cNvPr id="7" name="item-1">
            <a:extLst xmlns:a="http://schemas.openxmlformats.org/drawingml/2006/main">
              <a:ext uri="{FF2B5EF4-FFF2-40B4-BE49-F238E27FC236}">
                <a16:creationId xmlns:a16="http://schemas.microsoft.com/office/drawing/2014/main" id="{D3830205-8790-4AC1-A8B0-9D77D78A4768}"/>
              </a:ext>
            </a:extLst>
          </p:cNvPr>
          <p:cNvSpPr>
            <a:spLocks xmlns:a="http://schemas.openxmlformats.org/drawingml/2006/main" noGrp="1"/>
          </p:cNvSpPr>
          <p:nvPr/>
        </p:nvSpPr>
        <p:spPr>
          <a:xfrm xmlns:a="http://schemas.openxmlformats.org/drawingml/2006/main">
            <a:off x="1352550" y="1847850"/>
            <a:ext cx="992505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01828"/>
                </a:solidFill>
                <a:latin typeface="DejaVu Sans"/>
                <a:ea typeface="DejaVu Sans"/>
                <a:cs typeface="DejaVu Sans"/>
              </a:defRPr>
            </a:pPr>
            <a:r>
              <a:rPr sz="1950" b="0">
                <a:solidFill>
                  <a:srgbClr val="101828"/>
                </a:solidFill>
                <a:latin typeface="DejaVu Sans"/>
                <a:ea typeface="DejaVu Sans"/>
                <a:cs typeface="DejaVu Sans"/>
              </a:rPr>
              <a:t>RAM = Random Access Memory; holds the running OS, apps and data; volatile; read and write.</a:t>
            </a:r>
          </a:p>
        </p:txBody>
      </p:sp>
      <p:sp>
        <p:nvSpPr>
          <p:cNvPr id="8" name="number-2">
            <a:extLst xmlns:a="http://schemas.openxmlformats.org/drawingml/2006/main">
              <a:ext uri="{FF2B5EF4-FFF2-40B4-BE49-F238E27FC236}">
                <a16:creationId xmlns:a16="http://schemas.microsoft.com/office/drawing/2014/main" id="{BDFD50D2-41BB-4D36-B945-4E67E1509D47}"/>
              </a:ext>
            </a:extLst>
          </p:cNvPr>
          <p:cNvSpPr>
            <a:spLocks xmlns:a="http://schemas.openxmlformats.org/drawingml/2006/main" noGrp="1"/>
          </p:cNvSpPr>
          <p:nvPr/>
        </p:nvSpPr>
        <p:spPr>
          <a:xfrm xmlns:a="http://schemas.openxmlformats.org/drawingml/2006/main">
            <a:off x="723900" y="3114675"/>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2D63FF"/>
                </a:solidFill>
                <a:latin typeface="DejaVu Sans"/>
                <a:ea typeface="DejaVu Sans"/>
                <a:cs typeface="DejaVu Sans"/>
              </a:defRPr>
            </a:pPr>
            <a:r>
              <a:rPr sz="1950" b="1">
                <a:solidFill>
                  <a:srgbClr val="2D63FF"/>
                </a:solidFill>
                <a:latin typeface="DejaVu Sans"/>
                <a:ea typeface="DejaVu Sans"/>
                <a:cs typeface="DejaVu Sans"/>
              </a:rPr>
              <a:t>2.</a:t>
            </a:r>
          </a:p>
        </p:txBody>
      </p:sp>
      <p:sp>
        <p:nvSpPr>
          <p:cNvPr id="9" name="item-2">
            <a:extLst xmlns:a="http://schemas.openxmlformats.org/drawingml/2006/main">
              <a:ext uri="{FF2B5EF4-FFF2-40B4-BE49-F238E27FC236}">
                <a16:creationId xmlns:a16="http://schemas.microsoft.com/office/drawing/2014/main" id="{6B433A7D-1654-4342-91AC-2C3044989C1B}"/>
              </a:ext>
            </a:extLst>
          </p:cNvPr>
          <p:cNvSpPr>
            <a:spLocks xmlns:a="http://schemas.openxmlformats.org/drawingml/2006/main" noGrp="1"/>
          </p:cNvSpPr>
          <p:nvPr/>
        </p:nvSpPr>
        <p:spPr>
          <a:xfrm xmlns:a="http://schemas.openxmlformats.org/drawingml/2006/main">
            <a:off x="1352550" y="3114675"/>
            <a:ext cx="992505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01828"/>
                </a:solidFill>
                <a:latin typeface="DejaVu Sans"/>
                <a:ea typeface="DejaVu Sans"/>
                <a:cs typeface="DejaVu Sans"/>
              </a:defRPr>
            </a:pPr>
            <a:r>
              <a:rPr sz="1950" b="0">
                <a:solidFill>
                  <a:srgbClr val="101828"/>
                </a:solidFill>
                <a:latin typeface="DejaVu Sans"/>
                <a:ea typeface="DejaVu Sans"/>
                <a:cs typeface="DejaVu Sans"/>
              </a:rPr>
              <a:t>ROM = Read Only Memory; holds the boot firmware; non-volatile; normally read-only.</a:t>
            </a:r>
          </a:p>
        </p:txBody>
      </p:sp>
      <p:sp>
        <p:nvSpPr>
          <p:cNvPr id="10" name="number-3">
            <a:extLst xmlns:a="http://schemas.openxmlformats.org/drawingml/2006/main">
              <a:ext uri="{FF2B5EF4-FFF2-40B4-BE49-F238E27FC236}">
                <a16:creationId xmlns:a16="http://schemas.microsoft.com/office/drawing/2014/main" id="{15536679-D2A0-499B-830C-C0D995ED5AB0}"/>
              </a:ext>
            </a:extLst>
          </p:cNvPr>
          <p:cNvSpPr>
            <a:spLocks xmlns:a="http://schemas.openxmlformats.org/drawingml/2006/main" noGrp="1"/>
          </p:cNvSpPr>
          <p:nvPr/>
        </p:nvSpPr>
        <p:spPr>
          <a:xfrm xmlns:a="http://schemas.openxmlformats.org/drawingml/2006/main">
            <a:off x="723900" y="4381500"/>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2D63FF"/>
                </a:solidFill>
                <a:latin typeface="DejaVu Sans"/>
                <a:ea typeface="DejaVu Sans"/>
                <a:cs typeface="DejaVu Sans"/>
              </a:defRPr>
            </a:pPr>
            <a:r>
              <a:rPr sz="1950" b="1">
                <a:solidFill>
                  <a:srgbClr val="2D63FF"/>
                </a:solidFill>
                <a:latin typeface="DejaVu Sans"/>
                <a:ea typeface="DejaVu Sans"/>
                <a:cs typeface="DejaVu Sans"/>
              </a:rPr>
              <a:t>3.</a:t>
            </a:r>
          </a:p>
        </p:txBody>
      </p:sp>
      <p:sp>
        <p:nvSpPr>
          <p:cNvPr id="11" name="item-3">
            <a:extLst xmlns:a="http://schemas.openxmlformats.org/drawingml/2006/main">
              <a:ext uri="{FF2B5EF4-FFF2-40B4-BE49-F238E27FC236}">
                <a16:creationId xmlns:a16="http://schemas.microsoft.com/office/drawing/2014/main" id="{3F44F563-1CB6-4B52-9EEF-6F27CAF85430}"/>
              </a:ext>
            </a:extLst>
          </p:cNvPr>
          <p:cNvSpPr>
            <a:spLocks xmlns:a="http://schemas.openxmlformats.org/drawingml/2006/main" noGrp="1"/>
          </p:cNvSpPr>
          <p:nvPr/>
        </p:nvSpPr>
        <p:spPr>
          <a:xfrm xmlns:a="http://schemas.openxmlformats.org/drawingml/2006/main">
            <a:off x="1352550" y="4381500"/>
            <a:ext cx="992505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01828"/>
                </a:solidFill>
                <a:latin typeface="DejaVu Sans"/>
                <a:ea typeface="DejaVu Sans"/>
                <a:cs typeface="DejaVu Sans"/>
              </a:defRPr>
            </a:pPr>
            <a:r>
              <a:rPr sz="1950" b="0">
                <a:solidFill>
                  <a:srgbClr val="101828"/>
                </a:solidFill>
                <a:latin typeface="DejaVu Sans"/>
                <a:ea typeface="DejaVu Sans"/>
                <a:cs typeface="DejaVu Sans"/>
              </a:rPr>
              <a:t>Probably not. Extra RAM helps when the computer is short of RAM and swapping to storage. The bottleneck may instead be the CPU, drive or software.</a:t>
            </a:r>
          </a:p>
        </p:txBody>
      </p:sp>
    </p:spTree>
    <p:extLst>
      <p:ext uri="{BB962C8B-B14F-4D97-AF65-F5344CB8AC3E}">
        <p14:creationId xmlns:p14="http://schemas.microsoft.com/office/powerpoint/2010/main" val="458223581"/>
      </p:ext>
    </p:extLst>
  </p:cSld>
</p:sld>
</file>

<file path=ppt/slides/slide11.xml><?xml version="1.0" encoding="utf-8"?>
<p:sld xmlns:p="http://schemas.openxmlformats.org/presentationml/2006/main">
  <p:cSld>
    <p:bg>
      <p:bgPr>
        <a:solidFill xmlns:a="http://schemas.openxmlformats.org/drawingml/2006/main">
          <a:srgbClr val="EAF3FF"/>
        </a:solidFill>
      </p:bgPr>
    </p:bg>
    <p:spTree>
      <p:nvGrpSpPr>
        <p:cNvPr id="1" name=""/>
        <p:cNvGrpSpPr/>
        <p:nvPr/>
      </p:nvGrpSpPr>
      <p:grpSpPr>
        <a:xfrm xmlns:a="http://schemas.openxmlformats.org/drawingml/2006/main"/>
      </p:grpSpPr>
      <p:sp>
        <p:nvSpPr>
          <p:cNvPr id="13" name="footer background">
            <a:extLst xmlns:a="http://schemas.openxmlformats.org/drawingml/2006/main">
              <a:ext uri="{FF2B5EF4-FFF2-40B4-BE49-F238E27FC236}">
                <a16:creationId xmlns:a16="http://schemas.microsoft.com/office/drawing/2014/main" id="{9662E5E3-92B7-498C-B5E3-46192C9358E1}"/>
              </a:ext>
            </a:extLst>
          </p:cNvPr>
          <p:cNvSpPr>
            <a:spLocks xmlns:a="http://schemas.openxmlformats.org/drawingml/2006/main" noGrp="1"/>
          </p:cNvSpPr>
          <p:nvPr/>
        </p:nvSpPr>
        <p:spPr>
          <a:xfrm xmlns:a="http://schemas.openxmlformats.org/drawingml/2006/main">
            <a:off x="0" y="6124575"/>
            <a:ext cx="12192000" cy="7334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topic">
            <a:extLst xmlns:a="http://schemas.openxmlformats.org/drawingml/2006/main">
              <a:ext uri="{FF2B5EF4-FFF2-40B4-BE49-F238E27FC236}">
                <a16:creationId xmlns:a16="http://schemas.microsoft.com/office/drawing/2014/main" id="{3D2D1F17-6C06-4FA9-AF60-24BF2CA0AF48}"/>
              </a:ext>
            </a:extLst>
          </p:cNvPr>
          <p:cNvSpPr>
            <a:spLocks xmlns:a="http://schemas.openxmlformats.org/drawingml/2006/main" noGrp="1"/>
          </p:cNvSpPr>
          <p:nvPr/>
        </p:nvSpPr>
        <p:spPr>
          <a:xfrm xmlns:a="http://schemas.openxmlformats.org/drawingml/2006/main">
            <a:off x="666750" y="323850"/>
            <a:ext cx="981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2D63FF"/>
                </a:solidFill>
                <a:latin typeface="DejaVu Sans"/>
                <a:ea typeface="DejaVu Sans"/>
                <a:cs typeface="DejaVu Sans"/>
              </a:defRPr>
            </a:pPr>
            <a:r>
              <a:rPr sz="1125" b="1">
                <a:solidFill>
                  <a:srgbClr val="2D63FF"/>
                </a:solidFill>
                <a:latin typeface="DejaVu Sans"/>
                <a:ea typeface="DejaVu Sans"/>
                <a:cs typeface="DejaVu Sans"/>
              </a:rPr>
              <a:t>TOPIC 1.2   /   LESSON 01   /   ANSWERS</a:t>
            </a:r>
          </a:p>
        </p:txBody>
      </p:sp>
      <p:sp>
        <p:nvSpPr>
          <p:cNvPr id="3" name="heading">
            <a:extLst xmlns:a="http://schemas.openxmlformats.org/drawingml/2006/main">
              <a:ext uri="{FF2B5EF4-FFF2-40B4-BE49-F238E27FC236}">
                <a16:creationId xmlns:a16="http://schemas.microsoft.com/office/drawing/2014/main" id="{0D8694D6-CC87-470D-BC36-737E5C43DF31}"/>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01828"/>
                </a:solidFill>
                <a:latin typeface="DejaVu Sans"/>
                <a:ea typeface="DejaVu Sans"/>
                <a:cs typeface="DejaVu Sans"/>
              </a:defRPr>
            </a:pPr>
            <a:r>
              <a:rPr sz="3225" b="1">
                <a:solidFill>
                  <a:srgbClr val="101828"/>
                </a:solidFill>
                <a:latin typeface="DejaVu Sans"/>
                <a:ea typeface="DejaVu Sans"/>
                <a:cs typeface="DejaVu Sans"/>
              </a:rPr>
              <a:t>After the experience: stations 1–3</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5121880e3e1a42b0"/>
          <a:stretch xmlns:a="http://schemas.openxmlformats.org/drawingml/2006/main"/>
        </p:blipFill>
        <p:spPr>
          <a:xfrm xmlns:a="http://schemas.openxmlformats.org/drawingml/2006/main">
            <a:off x="666750" y="6241242"/>
            <a:ext cx="2038350" cy="395316"/>
          </a:xfrm>
          <a:prstGeom xmlns:a="http://schemas.openxmlformats.org/drawingml/2006/main" prst="rect">
            <a:avLst/>
          </a:prstGeom>
        </p:spPr>
      </p:pic>
      <p:sp>
        <p:nvSpPr>
          <p:cNvPr id="5" name="page">
            <a:extLst xmlns:a="http://schemas.openxmlformats.org/drawingml/2006/main">
              <a:ext uri="{FF2B5EF4-FFF2-40B4-BE49-F238E27FC236}">
                <a16:creationId xmlns:a16="http://schemas.microsoft.com/office/drawing/2014/main" id="{F51C5C2F-32F8-4697-B3E5-57F95D5AC4DE}"/>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11 / 19</a:t>
            </a:r>
          </a:p>
        </p:txBody>
      </p:sp>
      <p:sp>
        <p:nvSpPr>
          <p:cNvPr id="6" name="station-intro">
            <a:extLst xmlns:a="http://schemas.openxmlformats.org/drawingml/2006/main">
              <a:ext uri="{FF2B5EF4-FFF2-40B4-BE49-F238E27FC236}">
                <a16:creationId xmlns:a16="http://schemas.microsoft.com/office/drawing/2014/main" id="{FECDDDEC-0880-48AF-A4B4-7515334EEB00}"/>
              </a:ext>
            </a:extLst>
          </p:cNvPr>
          <p:cNvSpPr>
            <a:spLocks xmlns:a="http://schemas.openxmlformats.org/drawingml/2006/main" noGrp="1"/>
          </p:cNvSpPr>
          <p:nvPr/>
        </p:nvSpPr>
        <p:spPr>
          <a:xfrm xmlns:a="http://schemas.openxmlformats.org/drawingml/2006/main">
            <a:off x="704850" y="15430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26174"/>
                </a:solidFill>
                <a:latin typeface="DejaVu Sans"/>
                <a:ea typeface="DejaVu Sans"/>
                <a:cs typeface="DejaVu Sans"/>
              </a:defRPr>
            </a:pPr>
            <a:r>
              <a:rPr sz="1800" b="0">
                <a:solidFill>
                  <a:srgbClr val="526174"/>
                </a:solidFill>
                <a:latin typeface="DejaVu Sans"/>
                <a:ea typeface="DejaVu Sans"/>
                <a:cs typeface="DejaVu Sans"/>
              </a:rPr>
              <a:t>Check your key facts and challenge responses.</a:t>
            </a:r>
          </a:p>
        </p:txBody>
      </p:sp>
      <p:sp>
        <p:nvSpPr>
          <p:cNvPr id="7" name="station-name-0">
            <a:extLst xmlns:a="http://schemas.openxmlformats.org/drawingml/2006/main">
              <a:ext uri="{FF2B5EF4-FFF2-40B4-BE49-F238E27FC236}">
                <a16:creationId xmlns:a16="http://schemas.microsoft.com/office/drawing/2014/main" id="{9219C715-FDFF-4322-926A-541B7E3C896B}"/>
              </a:ext>
            </a:extLst>
          </p:cNvPr>
          <p:cNvSpPr>
            <a:spLocks xmlns:a="http://schemas.openxmlformats.org/drawingml/2006/main" noGrp="1"/>
          </p:cNvSpPr>
          <p:nvPr/>
        </p:nvSpPr>
        <p:spPr>
          <a:xfrm xmlns:a="http://schemas.openxmlformats.org/drawingml/2006/main">
            <a:off x="723900" y="2171700"/>
            <a:ext cx="10477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2D63FF"/>
                </a:solidFill>
                <a:latin typeface="DejaVu Sans"/>
                <a:ea typeface="DejaVu Sans"/>
                <a:cs typeface="DejaVu Sans"/>
              </a:defRPr>
            </a:pPr>
            <a:r>
              <a:rPr sz="1950" b="1">
                <a:solidFill>
                  <a:srgbClr val="2D63FF"/>
                </a:solidFill>
                <a:latin typeface="DejaVu Sans"/>
                <a:ea typeface="DejaVu Sans"/>
                <a:cs typeface="DejaVu Sans"/>
              </a:rPr>
              <a:t>1  Why primary storage?</a:t>
            </a:r>
          </a:p>
        </p:txBody>
      </p:sp>
      <p:sp>
        <p:nvSpPr>
          <p:cNvPr id="8" name="station-answer-0">
            <a:extLst xmlns:a="http://schemas.openxmlformats.org/drawingml/2006/main">
              <a:ext uri="{FF2B5EF4-FFF2-40B4-BE49-F238E27FC236}">
                <a16:creationId xmlns:a16="http://schemas.microsoft.com/office/drawing/2014/main" id="{9A3B1100-828E-4116-A837-61ECA723F153}"/>
              </a:ext>
            </a:extLst>
          </p:cNvPr>
          <p:cNvSpPr>
            <a:spLocks xmlns:a="http://schemas.openxmlformats.org/drawingml/2006/main" noGrp="1"/>
          </p:cNvSpPr>
          <p:nvPr/>
        </p:nvSpPr>
        <p:spPr>
          <a:xfrm xmlns:a="http://schemas.openxmlformats.org/drawingml/2006/main">
            <a:off x="723900" y="2571750"/>
            <a:ext cx="1047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01828"/>
                </a:solidFill>
                <a:latin typeface="DejaVu Sans"/>
                <a:ea typeface="DejaVu Sans"/>
                <a:cs typeface="DejaVu Sans"/>
              </a:defRPr>
            </a:pPr>
            <a:r>
              <a:rPr sz="1725" b="0">
                <a:solidFill>
                  <a:srgbClr val="101828"/>
                </a:solidFill>
                <a:latin typeface="DejaVu Sans"/>
                <a:ea typeface="DejaVu Sans"/>
                <a:cs typeface="DejaVu Sans"/>
              </a:rPr>
              <a:t>The CPU needs direct, fast access to instructions and data in primary storage; a hard drive is too slow to be working memory.</a:t>
            </a:r>
          </a:p>
        </p:txBody>
      </p:sp>
      <p:sp>
        <p:nvSpPr>
          <p:cNvPr id="9" name="station-name-1">
            <a:extLst xmlns:a="http://schemas.openxmlformats.org/drawingml/2006/main">
              <a:ext uri="{FF2B5EF4-FFF2-40B4-BE49-F238E27FC236}">
                <a16:creationId xmlns:a16="http://schemas.microsoft.com/office/drawing/2014/main" id="{3BF57409-944C-4E7D-92C9-C77F50BE585C}"/>
              </a:ext>
            </a:extLst>
          </p:cNvPr>
          <p:cNvSpPr>
            <a:spLocks xmlns:a="http://schemas.openxmlformats.org/drawingml/2006/main" noGrp="1"/>
          </p:cNvSpPr>
          <p:nvPr/>
        </p:nvSpPr>
        <p:spPr>
          <a:xfrm xmlns:a="http://schemas.openxmlformats.org/drawingml/2006/main">
            <a:off x="723900" y="3457575"/>
            <a:ext cx="10477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2D63FF"/>
                </a:solidFill>
                <a:latin typeface="DejaVu Sans"/>
                <a:ea typeface="DejaVu Sans"/>
                <a:cs typeface="DejaVu Sans"/>
              </a:defRPr>
            </a:pPr>
            <a:r>
              <a:rPr sz="1950" b="1">
                <a:solidFill>
                  <a:srgbClr val="2D63FF"/>
                </a:solidFill>
                <a:latin typeface="DejaVu Sans"/>
                <a:ea typeface="DejaVu Sans"/>
                <a:cs typeface="DejaVu Sans"/>
              </a:rPr>
              <a:t>2  RAM</a:t>
            </a:r>
          </a:p>
        </p:txBody>
      </p:sp>
      <p:sp>
        <p:nvSpPr>
          <p:cNvPr id="10" name="station-answer-1">
            <a:extLst xmlns:a="http://schemas.openxmlformats.org/drawingml/2006/main">
              <a:ext uri="{FF2B5EF4-FFF2-40B4-BE49-F238E27FC236}">
                <a16:creationId xmlns:a16="http://schemas.microsoft.com/office/drawing/2014/main" id="{C505D82B-D918-406F-8101-B0093DB1716D}"/>
              </a:ext>
            </a:extLst>
          </p:cNvPr>
          <p:cNvSpPr>
            <a:spLocks xmlns:a="http://schemas.openxmlformats.org/drawingml/2006/main" noGrp="1"/>
          </p:cNvSpPr>
          <p:nvPr/>
        </p:nvSpPr>
        <p:spPr>
          <a:xfrm xmlns:a="http://schemas.openxmlformats.org/drawingml/2006/main">
            <a:off x="723900" y="3857625"/>
            <a:ext cx="1047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01828"/>
                </a:solidFill>
                <a:latin typeface="DejaVu Sans"/>
                <a:ea typeface="DejaVu Sans"/>
                <a:cs typeface="DejaVu Sans"/>
              </a:defRPr>
            </a:pPr>
            <a:r>
              <a:rPr sz="1725" b="0">
                <a:solidFill>
                  <a:srgbClr val="101828"/>
                </a:solidFill>
                <a:latin typeface="DejaVu Sans"/>
                <a:ea typeface="DejaVu Sans"/>
                <a:cs typeface="DejaVu Sans"/>
              </a:rPr>
              <a:t>RAM may hold the operating system, the program you have open and its current data or unsaved work.</a:t>
            </a:r>
          </a:p>
        </p:txBody>
      </p:sp>
      <p:sp>
        <p:nvSpPr>
          <p:cNvPr id="11" name="station-name-2">
            <a:extLst xmlns:a="http://schemas.openxmlformats.org/drawingml/2006/main">
              <a:ext uri="{FF2B5EF4-FFF2-40B4-BE49-F238E27FC236}">
                <a16:creationId xmlns:a16="http://schemas.microsoft.com/office/drawing/2014/main" id="{65F4E974-FDCB-4F86-BE94-48A108B58CFF}"/>
              </a:ext>
            </a:extLst>
          </p:cNvPr>
          <p:cNvSpPr>
            <a:spLocks xmlns:a="http://schemas.openxmlformats.org/drawingml/2006/main" noGrp="1"/>
          </p:cNvSpPr>
          <p:nvPr/>
        </p:nvSpPr>
        <p:spPr>
          <a:xfrm xmlns:a="http://schemas.openxmlformats.org/drawingml/2006/main">
            <a:off x="723900" y="4743450"/>
            <a:ext cx="10477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2D63FF"/>
                </a:solidFill>
                <a:latin typeface="DejaVu Sans"/>
                <a:ea typeface="DejaVu Sans"/>
                <a:cs typeface="DejaVu Sans"/>
              </a:defRPr>
            </a:pPr>
            <a:r>
              <a:rPr sz="1950" b="1">
                <a:solidFill>
                  <a:srgbClr val="2D63FF"/>
                </a:solidFill>
                <a:latin typeface="DejaVu Sans"/>
                <a:ea typeface="DejaVu Sans"/>
                <a:cs typeface="DejaVu Sans"/>
              </a:rPr>
              <a:t>3  ROM</a:t>
            </a:r>
          </a:p>
        </p:txBody>
      </p:sp>
      <p:sp>
        <p:nvSpPr>
          <p:cNvPr id="12" name="station-answer-2">
            <a:extLst xmlns:a="http://schemas.openxmlformats.org/drawingml/2006/main">
              <a:ext uri="{FF2B5EF4-FFF2-40B4-BE49-F238E27FC236}">
                <a16:creationId xmlns:a16="http://schemas.microsoft.com/office/drawing/2014/main" id="{B3EBFD15-82E8-43B6-955B-4E565E3546BB}"/>
              </a:ext>
            </a:extLst>
          </p:cNvPr>
          <p:cNvSpPr>
            <a:spLocks xmlns:a="http://schemas.openxmlformats.org/drawingml/2006/main" noGrp="1"/>
          </p:cNvSpPr>
          <p:nvPr/>
        </p:nvSpPr>
        <p:spPr>
          <a:xfrm xmlns:a="http://schemas.openxmlformats.org/drawingml/2006/main">
            <a:off x="723900" y="5143500"/>
            <a:ext cx="1047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01828"/>
                </a:solidFill>
                <a:latin typeface="DejaVu Sans"/>
                <a:ea typeface="DejaVu Sans"/>
                <a:cs typeface="DejaVu Sans"/>
              </a:defRPr>
            </a:pPr>
            <a:r>
              <a:rPr sz="1725" b="0">
                <a:solidFill>
                  <a:srgbClr val="101828"/>
                </a:solidFill>
                <a:latin typeface="DejaVu Sans"/>
                <a:ea typeface="DejaVu Sans"/>
                <a:cs typeface="DejaVu Sans"/>
              </a:rPr>
              <a:t>The start-up code must survive power off. ROM is non-volatile; RAM would be empty at switch-on.</a:t>
            </a:r>
          </a:p>
        </p:txBody>
      </p:sp>
    </p:spTree>
    <p:extLst>
      <p:ext uri="{BB962C8B-B14F-4D97-AF65-F5344CB8AC3E}">
        <p14:creationId xmlns:p14="http://schemas.microsoft.com/office/powerpoint/2010/main" val="744972834"/>
      </p:ext>
    </p:extLst>
  </p:cSld>
</p:sld>
</file>

<file path=ppt/slides/slide12.xml><?xml version="1.0" encoding="utf-8"?>
<p:sld xmlns:p="http://schemas.openxmlformats.org/presentationml/2006/main">
  <p:cSld>
    <p:bg>
      <p:bgPr>
        <a:solidFill xmlns:a="http://schemas.openxmlformats.org/drawingml/2006/main">
          <a:srgbClr val="EAF3FF"/>
        </a:solidFill>
      </p:bgPr>
    </p:bg>
    <p:spTree>
      <p:nvGrpSpPr>
        <p:cNvPr id="1" name=""/>
        <p:cNvGrpSpPr/>
        <p:nvPr/>
      </p:nvGrpSpPr>
      <p:grpSpPr>
        <a:xfrm xmlns:a="http://schemas.openxmlformats.org/drawingml/2006/main"/>
      </p:grpSpPr>
      <p:sp>
        <p:nvSpPr>
          <p:cNvPr id="13" name="footer background">
            <a:extLst xmlns:a="http://schemas.openxmlformats.org/drawingml/2006/main">
              <a:ext uri="{FF2B5EF4-FFF2-40B4-BE49-F238E27FC236}">
                <a16:creationId xmlns:a16="http://schemas.microsoft.com/office/drawing/2014/main" id="{C85A6424-CDB6-4077-B454-A6DD44CB81AB}"/>
              </a:ext>
            </a:extLst>
          </p:cNvPr>
          <p:cNvSpPr>
            <a:spLocks xmlns:a="http://schemas.openxmlformats.org/drawingml/2006/main" noGrp="1"/>
          </p:cNvSpPr>
          <p:nvPr/>
        </p:nvSpPr>
        <p:spPr>
          <a:xfrm xmlns:a="http://schemas.openxmlformats.org/drawingml/2006/main">
            <a:off x="0" y="6124575"/>
            <a:ext cx="12192000" cy="7334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topic">
            <a:extLst xmlns:a="http://schemas.openxmlformats.org/drawingml/2006/main">
              <a:ext uri="{FF2B5EF4-FFF2-40B4-BE49-F238E27FC236}">
                <a16:creationId xmlns:a16="http://schemas.microsoft.com/office/drawing/2014/main" id="{7D0BEEB8-67FF-47A1-B9A4-9C5639192284}"/>
              </a:ext>
            </a:extLst>
          </p:cNvPr>
          <p:cNvSpPr>
            <a:spLocks xmlns:a="http://schemas.openxmlformats.org/drawingml/2006/main" noGrp="1"/>
          </p:cNvSpPr>
          <p:nvPr/>
        </p:nvSpPr>
        <p:spPr>
          <a:xfrm xmlns:a="http://schemas.openxmlformats.org/drawingml/2006/main">
            <a:off x="666750" y="323850"/>
            <a:ext cx="981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2D63FF"/>
                </a:solidFill>
                <a:latin typeface="DejaVu Sans"/>
                <a:ea typeface="DejaVu Sans"/>
                <a:cs typeface="DejaVu Sans"/>
              </a:defRPr>
            </a:pPr>
            <a:r>
              <a:rPr sz="1125" b="1">
                <a:solidFill>
                  <a:srgbClr val="2D63FF"/>
                </a:solidFill>
                <a:latin typeface="DejaVu Sans"/>
                <a:ea typeface="DejaVu Sans"/>
                <a:cs typeface="DejaVu Sans"/>
              </a:rPr>
              <a:t>TOPIC 1.2   /   LESSON 01   /   ANSWERS</a:t>
            </a:r>
          </a:p>
        </p:txBody>
      </p:sp>
      <p:sp>
        <p:nvSpPr>
          <p:cNvPr id="3" name="heading">
            <a:extLst xmlns:a="http://schemas.openxmlformats.org/drawingml/2006/main">
              <a:ext uri="{FF2B5EF4-FFF2-40B4-BE49-F238E27FC236}">
                <a16:creationId xmlns:a16="http://schemas.microsoft.com/office/drawing/2014/main" id="{C1678D0E-C4E6-4037-8E85-49FF801FF07B}"/>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01828"/>
                </a:solidFill>
                <a:latin typeface="DejaVu Sans"/>
                <a:ea typeface="DejaVu Sans"/>
                <a:cs typeface="DejaVu Sans"/>
              </a:defRPr>
            </a:pPr>
            <a:r>
              <a:rPr sz="3225" b="1">
                <a:solidFill>
                  <a:srgbClr val="101828"/>
                </a:solidFill>
                <a:latin typeface="DejaVu Sans"/>
                <a:ea typeface="DejaVu Sans"/>
                <a:cs typeface="DejaVu Sans"/>
              </a:rPr>
              <a:t>After the experience: stations 4–6</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cd5a35335f1a4f25"/>
          <a:stretch xmlns:a="http://schemas.openxmlformats.org/drawingml/2006/main"/>
        </p:blipFill>
        <p:spPr>
          <a:xfrm xmlns:a="http://schemas.openxmlformats.org/drawingml/2006/main">
            <a:off x="666750" y="6241242"/>
            <a:ext cx="2038350" cy="395316"/>
          </a:xfrm>
          <a:prstGeom xmlns:a="http://schemas.openxmlformats.org/drawingml/2006/main" prst="rect">
            <a:avLst/>
          </a:prstGeom>
        </p:spPr>
      </p:pic>
      <p:sp>
        <p:nvSpPr>
          <p:cNvPr id="5" name="page">
            <a:extLst xmlns:a="http://schemas.openxmlformats.org/drawingml/2006/main">
              <a:ext uri="{FF2B5EF4-FFF2-40B4-BE49-F238E27FC236}">
                <a16:creationId xmlns:a16="http://schemas.microsoft.com/office/drawing/2014/main" id="{F3B44F92-2F14-4E81-8E1A-CA3CE01B8807}"/>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12 / 19</a:t>
            </a:r>
          </a:p>
        </p:txBody>
      </p:sp>
      <p:sp>
        <p:nvSpPr>
          <p:cNvPr id="6" name="station-intro">
            <a:extLst xmlns:a="http://schemas.openxmlformats.org/drawingml/2006/main">
              <a:ext uri="{FF2B5EF4-FFF2-40B4-BE49-F238E27FC236}">
                <a16:creationId xmlns:a16="http://schemas.microsoft.com/office/drawing/2014/main" id="{170F77F4-1684-4691-A57F-B788A8603397}"/>
              </a:ext>
            </a:extLst>
          </p:cNvPr>
          <p:cNvSpPr>
            <a:spLocks xmlns:a="http://schemas.openxmlformats.org/drawingml/2006/main" noGrp="1"/>
          </p:cNvSpPr>
          <p:nvPr/>
        </p:nvSpPr>
        <p:spPr>
          <a:xfrm xmlns:a="http://schemas.openxmlformats.org/drawingml/2006/main">
            <a:off x="704850" y="15430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26174"/>
                </a:solidFill>
                <a:latin typeface="DejaVu Sans"/>
                <a:ea typeface="DejaVu Sans"/>
                <a:cs typeface="DejaVu Sans"/>
              </a:defRPr>
            </a:pPr>
            <a:r>
              <a:rPr sz="1800" b="0">
                <a:solidFill>
                  <a:srgbClr val="526174"/>
                </a:solidFill>
                <a:latin typeface="DejaVu Sans"/>
                <a:ea typeface="DejaVu Sans"/>
                <a:cs typeface="DejaVu Sans"/>
              </a:rPr>
              <a:t>Check your key facts and challenge responses.</a:t>
            </a:r>
          </a:p>
        </p:txBody>
      </p:sp>
      <p:sp>
        <p:nvSpPr>
          <p:cNvPr id="7" name="station-name-3">
            <a:extLst xmlns:a="http://schemas.openxmlformats.org/drawingml/2006/main">
              <a:ext uri="{FF2B5EF4-FFF2-40B4-BE49-F238E27FC236}">
                <a16:creationId xmlns:a16="http://schemas.microsoft.com/office/drawing/2014/main" id="{660D5950-F193-405C-AEA0-99CA0F12E699}"/>
              </a:ext>
            </a:extLst>
          </p:cNvPr>
          <p:cNvSpPr>
            <a:spLocks xmlns:a="http://schemas.openxmlformats.org/drawingml/2006/main" noGrp="1"/>
          </p:cNvSpPr>
          <p:nvPr/>
        </p:nvSpPr>
        <p:spPr>
          <a:xfrm xmlns:a="http://schemas.openxmlformats.org/drawingml/2006/main">
            <a:off x="723900" y="2171700"/>
            <a:ext cx="10477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2D63FF"/>
                </a:solidFill>
                <a:latin typeface="DejaVu Sans"/>
                <a:ea typeface="DejaVu Sans"/>
                <a:cs typeface="DejaVu Sans"/>
              </a:defRPr>
            </a:pPr>
            <a:r>
              <a:rPr sz="1950" b="1">
                <a:solidFill>
                  <a:srgbClr val="2D63FF"/>
                </a:solidFill>
                <a:latin typeface="DejaVu Sans"/>
                <a:ea typeface="DejaVu Sans"/>
                <a:cs typeface="DejaVu Sans"/>
              </a:rPr>
              <a:t>4  RAM vs ROM</a:t>
            </a:r>
          </a:p>
        </p:txBody>
      </p:sp>
      <p:sp>
        <p:nvSpPr>
          <p:cNvPr id="8" name="station-answer-3">
            <a:extLst xmlns:a="http://schemas.openxmlformats.org/drawingml/2006/main">
              <a:ext uri="{FF2B5EF4-FFF2-40B4-BE49-F238E27FC236}">
                <a16:creationId xmlns:a16="http://schemas.microsoft.com/office/drawing/2014/main" id="{FB626CB2-BADC-471B-AC11-EE4EEAFAD88F}"/>
              </a:ext>
            </a:extLst>
          </p:cNvPr>
          <p:cNvSpPr>
            <a:spLocks xmlns:a="http://schemas.openxmlformats.org/drawingml/2006/main" noGrp="1"/>
          </p:cNvSpPr>
          <p:nvPr/>
        </p:nvSpPr>
        <p:spPr>
          <a:xfrm xmlns:a="http://schemas.openxmlformats.org/drawingml/2006/main">
            <a:off x="723900" y="2571750"/>
            <a:ext cx="1047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01828"/>
                </a:solidFill>
                <a:latin typeface="DejaVu Sans"/>
                <a:ea typeface="DejaVu Sans"/>
                <a:cs typeface="DejaVu Sans"/>
              </a:defRPr>
            </a:pPr>
            <a:r>
              <a:rPr sz="1725" b="0">
                <a:solidFill>
                  <a:srgbClr val="101828"/>
                </a:solidFill>
                <a:latin typeface="DejaVu Sans"/>
                <a:ea typeface="DejaVu Sans"/>
                <a:cs typeface="DejaVu Sans"/>
              </a:rPr>
              <a:t>RAM is volatile and read/write for current work. ROM is non-volatile and normally read-only for start-up code.</a:t>
            </a:r>
          </a:p>
        </p:txBody>
      </p:sp>
      <p:sp>
        <p:nvSpPr>
          <p:cNvPr id="9" name="station-name-4">
            <a:extLst xmlns:a="http://schemas.openxmlformats.org/drawingml/2006/main">
              <a:ext uri="{FF2B5EF4-FFF2-40B4-BE49-F238E27FC236}">
                <a16:creationId xmlns:a16="http://schemas.microsoft.com/office/drawing/2014/main" id="{03588D0E-2235-482E-9983-48A6E946ED52}"/>
              </a:ext>
            </a:extLst>
          </p:cNvPr>
          <p:cNvSpPr>
            <a:spLocks xmlns:a="http://schemas.openxmlformats.org/drawingml/2006/main" noGrp="1"/>
          </p:cNvSpPr>
          <p:nvPr/>
        </p:nvSpPr>
        <p:spPr>
          <a:xfrm xmlns:a="http://schemas.openxmlformats.org/drawingml/2006/main">
            <a:off x="723900" y="3457575"/>
            <a:ext cx="10477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2D63FF"/>
                </a:solidFill>
                <a:latin typeface="DejaVu Sans"/>
                <a:ea typeface="DejaVu Sans"/>
                <a:cs typeface="DejaVu Sans"/>
              </a:defRPr>
            </a:pPr>
            <a:r>
              <a:rPr sz="1950" b="1">
                <a:solidFill>
                  <a:srgbClr val="2D63FF"/>
                </a:solidFill>
                <a:latin typeface="DejaVu Sans"/>
                <a:ea typeface="DejaVu Sans"/>
                <a:cs typeface="DejaVu Sans"/>
              </a:rPr>
              <a:t>5  The boot sequence</a:t>
            </a:r>
          </a:p>
        </p:txBody>
      </p:sp>
      <p:sp>
        <p:nvSpPr>
          <p:cNvPr id="10" name="station-answer-4">
            <a:extLst xmlns:a="http://schemas.openxmlformats.org/drawingml/2006/main">
              <a:ext uri="{FF2B5EF4-FFF2-40B4-BE49-F238E27FC236}">
                <a16:creationId xmlns:a16="http://schemas.microsoft.com/office/drawing/2014/main" id="{CCE6F23D-6C2C-4CD5-A935-31555AD023F7}"/>
              </a:ext>
            </a:extLst>
          </p:cNvPr>
          <p:cNvSpPr>
            <a:spLocks xmlns:a="http://schemas.openxmlformats.org/drawingml/2006/main" noGrp="1"/>
          </p:cNvSpPr>
          <p:nvPr/>
        </p:nvSpPr>
        <p:spPr>
          <a:xfrm xmlns:a="http://schemas.openxmlformats.org/drawingml/2006/main">
            <a:off x="723900" y="3857625"/>
            <a:ext cx="1047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01828"/>
                </a:solidFill>
                <a:latin typeface="DejaVu Sans"/>
                <a:ea typeface="DejaVu Sans"/>
                <a:cs typeface="DejaVu Sans"/>
              </a:defRPr>
            </a:pPr>
            <a:r>
              <a:rPr sz="1725" b="0">
                <a:solidFill>
                  <a:srgbClr val="101828"/>
                </a:solidFill>
                <a:latin typeface="DejaVu Sans"/>
                <a:ea typeface="DejaVu Sans"/>
                <a:cs typeface="DejaVu Sans"/>
              </a:rPr>
              <a:t>Power on → run boot code in ROM → check hardware → load the operating system from secondary storage into RAM → OS takes control.</a:t>
            </a:r>
          </a:p>
        </p:txBody>
      </p:sp>
      <p:sp>
        <p:nvSpPr>
          <p:cNvPr id="11" name="station-name-5">
            <a:extLst xmlns:a="http://schemas.openxmlformats.org/drawingml/2006/main">
              <a:ext uri="{FF2B5EF4-FFF2-40B4-BE49-F238E27FC236}">
                <a16:creationId xmlns:a16="http://schemas.microsoft.com/office/drawing/2014/main" id="{5CCFE843-C757-4164-B7EA-37457B786ADF}"/>
              </a:ext>
            </a:extLst>
          </p:cNvPr>
          <p:cNvSpPr>
            <a:spLocks xmlns:a="http://schemas.openxmlformats.org/drawingml/2006/main" noGrp="1"/>
          </p:cNvSpPr>
          <p:nvPr/>
        </p:nvSpPr>
        <p:spPr>
          <a:xfrm xmlns:a="http://schemas.openxmlformats.org/drawingml/2006/main">
            <a:off x="723900" y="4743450"/>
            <a:ext cx="10477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2D63FF"/>
                </a:solidFill>
                <a:latin typeface="DejaVu Sans"/>
                <a:ea typeface="DejaVu Sans"/>
                <a:cs typeface="DejaVu Sans"/>
              </a:defRPr>
            </a:pPr>
            <a:r>
              <a:rPr sz="1950" b="1">
                <a:solidFill>
                  <a:srgbClr val="2D63FF"/>
                </a:solidFill>
                <a:latin typeface="DejaVu Sans"/>
                <a:ea typeface="DejaVu Sans"/>
                <a:cs typeface="DejaVu Sans"/>
              </a:rPr>
              <a:t>6  More RAM, faster computer?</a:t>
            </a:r>
          </a:p>
        </p:txBody>
      </p:sp>
      <p:sp>
        <p:nvSpPr>
          <p:cNvPr id="12" name="station-answer-5">
            <a:extLst xmlns:a="http://schemas.openxmlformats.org/drawingml/2006/main">
              <a:ext uri="{FF2B5EF4-FFF2-40B4-BE49-F238E27FC236}">
                <a16:creationId xmlns:a16="http://schemas.microsoft.com/office/drawing/2014/main" id="{AAF37697-95B6-4E21-8B8B-ED59657F3B6C}"/>
              </a:ext>
            </a:extLst>
          </p:cNvPr>
          <p:cNvSpPr>
            <a:spLocks xmlns:a="http://schemas.openxmlformats.org/drawingml/2006/main" noGrp="1"/>
          </p:cNvSpPr>
          <p:nvPr/>
        </p:nvSpPr>
        <p:spPr>
          <a:xfrm xmlns:a="http://schemas.openxmlformats.org/drawingml/2006/main">
            <a:off x="723900" y="5143500"/>
            <a:ext cx="1047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01828"/>
                </a:solidFill>
                <a:latin typeface="DejaVu Sans"/>
                <a:ea typeface="DejaVu Sans"/>
                <a:cs typeface="DejaVu Sans"/>
              </a:defRPr>
            </a:pPr>
            <a:r>
              <a:rPr sz="1725" b="0">
                <a:solidFill>
                  <a:srgbClr val="101828"/>
                </a:solidFill>
                <a:latin typeface="DejaVu Sans"/>
                <a:ea typeface="DejaVu Sans"/>
                <a:cs typeface="DejaVu Sans"/>
              </a:rPr>
              <a:t>More RAM helps when RAM is full: fewer pages need slower virtual memory. If RAM is not the bottleneck, adding it may do little.</a:t>
            </a:r>
          </a:p>
        </p:txBody>
      </p:sp>
    </p:spTree>
    <p:extLst>
      <p:ext uri="{BB962C8B-B14F-4D97-AF65-F5344CB8AC3E}">
        <p14:creationId xmlns:p14="http://schemas.microsoft.com/office/powerpoint/2010/main" val="327694409"/>
      </p:ext>
    </p:extLst>
  </p:cSld>
</p:sld>
</file>

<file path=ppt/slides/slide13.xml><?xml version="1.0" encoding="utf-8"?>
<p:sld xmlns:p="http://schemas.openxmlformats.org/presentationml/2006/main">
  <p:cSld>
    <p:bg>
      <p:bgPr>
        <a:solidFill xmlns:a="http://schemas.openxmlformats.org/drawingml/2006/main">
          <a:srgbClr val="EAF3FF"/>
        </a:solidFill>
      </p:bgPr>
    </p:bg>
    <p:spTree>
      <p:nvGrpSpPr>
        <p:cNvPr id="1" name=""/>
        <p:cNvGrpSpPr/>
        <p:nvPr/>
      </p:nvGrpSpPr>
      <p:grpSpPr>
        <a:xfrm xmlns:a="http://schemas.openxmlformats.org/drawingml/2006/main"/>
      </p:grpSpPr>
      <p:sp>
        <p:nvSpPr>
          <p:cNvPr id="16" name="footer background">
            <a:extLst xmlns:a="http://schemas.openxmlformats.org/drawingml/2006/main">
              <a:ext uri="{FF2B5EF4-FFF2-40B4-BE49-F238E27FC236}">
                <a16:creationId xmlns:a16="http://schemas.microsoft.com/office/drawing/2014/main" id="{3F896389-A910-48FC-892A-628E10E30902}"/>
              </a:ext>
            </a:extLst>
          </p:cNvPr>
          <p:cNvSpPr>
            <a:spLocks xmlns:a="http://schemas.openxmlformats.org/drawingml/2006/main" noGrp="1"/>
          </p:cNvSpPr>
          <p:nvPr/>
        </p:nvSpPr>
        <p:spPr>
          <a:xfrm xmlns:a="http://schemas.openxmlformats.org/drawingml/2006/main">
            <a:off x="0" y="6124575"/>
            <a:ext cx="12192000" cy="7334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topic">
            <a:extLst xmlns:a="http://schemas.openxmlformats.org/drawingml/2006/main">
              <a:ext uri="{FF2B5EF4-FFF2-40B4-BE49-F238E27FC236}">
                <a16:creationId xmlns:a16="http://schemas.microsoft.com/office/drawing/2014/main" id="{FB517AC6-86B4-445F-89BA-9BD352635AF1}"/>
              </a:ext>
            </a:extLst>
          </p:cNvPr>
          <p:cNvSpPr>
            <a:spLocks xmlns:a="http://schemas.openxmlformats.org/drawingml/2006/main" noGrp="1"/>
          </p:cNvSpPr>
          <p:nvPr/>
        </p:nvSpPr>
        <p:spPr>
          <a:xfrm xmlns:a="http://schemas.openxmlformats.org/drawingml/2006/main">
            <a:off x="666750" y="323850"/>
            <a:ext cx="981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2D63FF"/>
                </a:solidFill>
                <a:latin typeface="DejaVu Sans"/>
                <a:ea typeface="DejaVu Sans"/>
                <a:cs typeface="DejaVu Sans"/>
              </a:defRPr>
            </a:pPr>
            <a:r>
              <a:rPr sz="1125" b="1">
                <a:solidFill>
                  <a:srgbClr val="2D63FF"/>
                </a:solidFill>
                <a:latin typeface="DejaVu Sans"/>
                <a:ea typeface="DejaVu Sans"/>
                <a:cs typeface="DejaVu Sans"/>
              </a:rPr>
              <a:t>TOPIC 1.2   /   LESSON 01   /   CHECK</a:t>
            </a:r>
          </a:p>
        </p:txBody>
      </p:sp>
      <p:sp>
        <p:nvSpPr>
          <p:cNvPr id="3" name="heading">
            <a:extLst xmlns:a="http://schemas.openxmlformats.org/drawingml/2006/main">
              <a:ext uri="{FF2B5EF4-FFF2-40B4-BE49-F238E27FC236}">
                <a16:creationId xmlns:a16="http://schemas.microsoft.com/office/drawing/2014/main" id="{7FA92BBE-42FA-4E96-8F09-5CE13854B4B5}"/>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01828"/>
                </a:solidFill>
                <a:latin typeface="DejaVu Sans"/>
                <a:ea typeface="DejaVu Sans"/>
                <a:cs typeface="DejaVu Sans"/>
              </a:defRPr>
            </a:pPr>
            <a:r>
              <a:rPr sz="3225" b="1">
                <a:solidFill>
                  <a:srgbClr val="101828"/>
                </a:solidFill>
                <a:latin typeface="DejaVu Sans"/>
                <a:ea typeface="DejaVu Sans"/>
                <a:cs typeface="DejaVu Sans"/>
              </a:rPr>
              <a:t>Final challenge: answers 1–5</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e25455bc98da4cf7"/>
          <a:stretch xmlns:a="http://schemas.openxmlformats.org/drawingml/2006/main"/>
        </p:blipFill>
        <p:spPr>
          <a:xfrm xmlns:a="http://schemas.openxmlformats.org/drawingml/2006/main">
            <a:off x="666750" y="6241242"/>
            <a:ext cx="2038350" cy="395316"/>
          </a:xfrm>
          <a:prstGeom xmlns:a="http://schemas.openxmlformats.org/drawingml/2006/main" prst="rect">
            <a:avLst/>
          </a:prstGeom>
        </p:spPr>
      </p:pic>
      <p:sp>
        <p:nvSpPr>
          <p:cNvPr id="5" name="page">
            <a:extLst xmlns:a="http://schemas.openxmlformats.org/drawingml/2006/main">
              <a:ext uri="{FF2B5EF4-FFF2-40B4-BE49-F238E27FC236}">
                <a16:creationId xmlns:a16="http://schemas.microsoft.com/office/drawing/2014/main" id="{E4948C1E-EB2A-4F81-97CE-37D3E1BB8BF6}"/>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13 / 19</a:t>
            </a:r>
          </a:p>
        </p:txBody>
      </p:sp>
      <p:sp>
        <p:nvSpPr>
          <p:cNvPr id="6" name="number-1">
            <a:extLst xmlns:a="http://schemas.openxmlformats.org/drawingml/2006/main">
              <a:ext uri="{FF2B5EF4-FFF2-40B4-BE49-F238E27FC236}">
                <a16:creationId xmlns:a16="http://schemas.microsoft.com/office/drawing/2014/main" id="{ED96BFC3-30F3-4D2F-8E3B-04ACD5D1FEEA}"/>
              </a:ext>
            </a:extLst>
          </p:cNvPr>
          <p:cNvSpPr>
            <a:spLocks xmlns:a="http://schemas.openxmlformats.org/drawingml/2006/main" noGrp="1"/>
          </p:cNvSpPr>
          <p:nvPr/>
        </p:nvSpPr>
        <p:spPr>
          <a:xfrm xmlns:a="http://schemas.openxmlformats.org/drawingml/2006/main">
            <a:off x="723900" y="1819275"/>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2D63FF"/>
                </a:solidFill>
                <a:latin typeface="DejaVu Sans"/>
                <a:ea typeface="DejaVu Sans"/>
                <a:cs typeface="DejaVu Sans"/>
              </a:defRPr>
            </a:pPr>
            <a:r>
              <a:rPr sz="1800" b="1">
                <a:solidFill>
                  <a:srgbClr val="2D63FF"/>
                </a:solidFill>
                <a:latin typeface="DejaVu Sans"/>
                <a:ea typeface="DejaVu Sans"/>
                <a:cs typeface="DejaVu Sans"/>
              </a:rPr>
              <a:t>1.</a:t>
            </a:r>
          </a:p>
        </p:txBody>
      </p:sp>
      <p:sp>
        <p:nvSpPr>
          <p:cNvPr id="7" name="item-1">
            <a:extLst xmlns:a="http://schemas.openxmlformats.org/drawingml/2006/main">
              <a:ext uri="{FF2B5EF4-FFF2-40B4-BE49-F238E27FC236}">
                <a16:creationId xmlns:a16="http://schemas.microsoft.com/office/drawing/2014/main" id="{11A73253-8108-4C51-9BB6-723C0096D5B6}"/>
              </a:ext>
            </a:extLst>
          </p:cNvPr>
          <p:cNvSpPr>
            <a:spLocks xmlns:a="http://schemas.openxmlformats.org/drawingml/2006/main" noGrp="1"/>
          </p:cNvSpPr>
          <p:nvPr/>
        </p:nvSpPr>
        <p:spPr>
          <a:xfrm xmlns:a="http://schemas.openxmlformats.org/drawingml/2006/main">
            <a:off x="1352550" y="1819275"/>
            <a:ext cx="99250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01828"/>
                </a:solidFill>
                <a:latin typeface="DejaVu Sans"/>
                <a:ea typeface="DejaVu Sans"/>
                <a:cs typeface="DejaVu Sans"/>
              </a:defRPr>
            </a:pPr>
            <a:r>
              <a:rPr sz="1800" b="0">
                <a:solidFill>
                  <a:srgbClr val="101828"/>
                </a:solidFill>
                <a:latin typeface="DejaVu Sans"/>
                <a:ea typeface="DejaVu Sans"/>
                <a:cs typeface="DejaVu Sans"/>
              </a:rPr>
              <a:t>Loses its contents when the power goes off → RAM</a:t>
            </a:r>
          </a:p>
        </p:txBody>
      </p:sp>
      <p:sp>
        <p:nvSpPr>
          <p:cNvPr id="8" name="number-2">
            <a:extLst xmlns:a="http://schemas.openxmlformats.org/drawingml/2006/main">
              <a:ext uri="{FF2B5EF4-FFF2-40B4-BE49-F238E27FC236}">
                <a16:creationId xmlns:a16="http://schemas.microsoft.com/office/drawing/2014/main" id="{BCF35F82-A530-4DE6-9404-A12F04582BF3}"/>
              </a:ext>
            </a:extLst>
          </p:cNvPr>
          <p:cNvSpPr>
            <a:spLocks xmlns:a="http://schemas.openxmlformats.org/drawingml/2006/main" noGrp="1"/>
          </p:cNvSpPr>
          <p:nvPr/>
        </p:nvSpPr>
        <p:spPr>
          <a:xfrm xmlns:a="http://schemas.openxmlformats.org/drawingml/2006/main">
            <a:off x="723900" y="2657475"/>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2D63FF"/>
                </a:solidFill>
                <a:latin typeface="DejaVu Sans"/>
                <a:ea typeface="DejaVu Sans"/>
                <a:cs typeface="DejaVu Sans"/>
              </a:defRPr>
            </a:pPr>
            <a:r>
              <a:rPr sz="1800" b="1">
                <a:solidFill>
                  <a:srgbClr val="2D63FF"/>
                </a:solidFill>
                <a:latin typeface="DejaVu Sans"/>
                <a:ea typeface="DejaVu Sans"/>
                <a:cs typeface="DejaVu Sans"/>
              </a:rPr>
              <a:t>2.</a:t>
            </a:r>
          </a:p>
        </p:txBody>
      </p:sp>
      <p:sp>
        <p:nvSpPr>
          <p:cNvPr id="9" name="item-2">
            <a:extLst xmlns:a="http://schemas.openxmlformats.org/drawingml/2006/main">
              <a:ext uri="{FF2B5EF4-FFF2-40B4-BE49-F238E27FC236}">
                <a16:creationId xmlns:a16="http://schemas.microsoft.com/office/drawing/2014/main" id="{9351E7F8-2CF3-4018-A51B-554DFD00360F}"/>
              </a:ext>
            </a:extLst>
          </p:cNvPr>
          <p:cNvSpPr>
            <a:spLocks xmlns:a="http://schemas.openxmlformats.org/drawingml/2006/main" noGrp="1"/>
          </p:cNvSpPr>
          <p:nvPr/>
        </p:nvSpPr>
        <p:spPr>
          <a:xfrm xmlns:a="http://schemas.openxmlformats.org/drawingml/2006/main">
            <a:off x="1352550" y="2657475"/>
            <a:ext cx="99250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01828"/>
                </a:solidFill>
                <a:latin typeface="DejaVu Sans"/>
                <a:ea typeface="DejaVu Sans"/>
                <a:cs typeface="DejaVu Sans"/>
              </a:defRPr>
            </a:pPr>
            <a:r>
              <a:rPr sz="1800" b="0">
                <a:solidFill>
                  <a:srgbClr val="101828"/>
                </a:solidFill>
                <a:latin typeface="DejaVu Sans"/>
                <a:ea typeface="DejaVu Sans"/>
                <a:cs typeface="DejaVu Sans"/>
              </a:rPr>
              <a:t>Holds the BIOS → ROM</a:t>
            </a:r>
          </a:p>
        </p:txBody>
      </p:sp>
      <p:sp>
        <p:nvSpPr>
          <p:cNvPr id="10" name="number-3">
            <a:extLst xmlns:a="http://schemas.openxmlformats.org/drawingml/2006/main">
              <a:ext uri="{FF2B5EF4-FFF2-40B4-BE49-F238E27FC236}">
                <a16:creationId xmlns:a16="http://schemas.microsoft.com/office/drawing/2014/main" id="{187AD8E4-75B8-4066-B478-B61540832E91}"/>
              </a:ext>
            </a:extLst>
          </p:cNvPr>
          <p:cNvSpPr>
            <a:spLocks xmlns:a="http://schemas.openxmlformats.org/drawingml/2006/main" noGrp="1"/>
          </p:cNvSpPr>
          <p:nvPr/>
        </p:nvSpPr>
        <p:spPr>
          <a:xfrm xmlns:a="http://schemas.openxmlformats.org/drawingml/2006/main">
            <a:off x="723900" y="3495675"/>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2D63FF"/>
                </a:solidFill>
                <a:latin typeface="DejaVu Sans"/>
                <a:ea typeface="DejaVu Sans"/>
                <a:cs typeface="DejaVu Sans"/>
              </a:defRPr>
            </a:pPr>
            <a:r>
              <a:rPr sz="1800" b="1">
                <a:solidFill>
                  <a:srgbClr val="2D63FF"/>
                </a:solidFill>
                <a:latin typeface="DejaVu Sans"/>
                <a:ea typeface="DejaVu Sans"/>
                <a:cs typeface="DejaVu Sans"/>
              </a:rPr>
              <a:t>3.</a:t>
            </a:r>
          </a:p>
        </p:txBody>
      </p:sp>
      <p:sp>
        <p:nvSpPr>
          <p:cNvPr id="11" name="item-3">
            <a:extLst xmlns:a="http://schemas.openxmlformats.org/drawingml/2006/main">
              <a:ext uri="{FF2B5EF4-FFF2-40B4-BE49-F238E27FC236}">
                <a16:creationId xmlns:a16="http://schemas.microsoft.com/office/drawing/2014/main" id="{A8B1254B-6C80-4829-8912-3288D77201EA}"/>
              </a:ext>
            </a:extLst>
          </p:cNvPr>
          <p:cNvSpPr>
            <a:spLocks xmlns:a="http://schemas.openxmlformats.org/drawingml/2006/main" noGrp="1"/>
          </p:cNvSpPr>
          <p:nvPr/>
        </p:nvSpPr>
        <p:spPr>
          <a:xfrm xmlns:a="http://schemas.openxmlformats.org/drawingml/2006/main">
            <a:off x="1352550" y="3495675"/>
            <a:ext cx="99250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01828"/>
                </a:solidFill>
                <a:latin typeface="DejaVu Sans"/>
                <a:ea typeface="DejaVu Sans"/>
                <a:cs typeface="DejaVu Sans"/>
              </a:defRPr>
            </a:pPr>
            <a:r>
              <a:rPr sz="1800" b="0">
                <a:solidFill>
                  <a:srgbClr val="101828"/>
                </a:solidFill>
                <a:latin typeface="DejaVu Sans"/>
                <a:ea typeface="DejaVu Sans"/>
                <a:cs typeface="DejaVu Sans"/>
              </a:rPr>
              <a:t>Is a type of primary storage → Both</a:t>
            </a:r>
          </a:p>
        </p:txBody>
      </p:sp>
      <p:sp>
        <p:nvSpPr>
          <p:cNvPr id="12" name="number-4">
            <a:extLst xmlns:a="http://schemas.openxmlformats.org/drawingml/2006/main">
              <a:ext uri="{FF2B5EF4-FFF2-40B4-BE49-F238E27FC236}">
                <a16:creationId xmlns:a16="http://schemas.microsoft.com/office/drawing/2014/main" id="{6D003307-A6ED-42A4-A57A-D6339B9E6F46}"/>
              </a:ext>
            </a:extLst>
          </p:cNvPr>
          <p:cNvSpPr>
            <a:spLocks xmlns:a="http://schemas.openxmlformats.org/drawingml/2006/main" noGrp="1"/>
          </p:cNvSpPr>
          <p:nvPr/>
        </p:nvSpPr>
        <p:spPr>
          <a:xfrm xmlns:a="http://schemas.openxmlformats.org/drawingml/2006/main">
            <a:off x="723900" y="4333875"/>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2D63FF"/>
                </a:solidFill>
                <a:latin typeface="DejaVu Sans"/>
                <a:ea typeface="DejaVu Sans"/>
                <a:cs typeface="DejaVu Sans"/>
              </a:defRPr>
            </a:pPr>
            <a:r>
              <a:rPr sz="1800" b="1">
                <a:solidFill>
                  <a:srgbClr val="2D63FF"/>
                </a:solidFill>
                <a:latin typeface="DejaVu Sans"/>
                <a:ea typeface="DejaVu Sans"/>
                <a:cs typeface="DejaVu Sans"/>
              </a:rPr>
              <a:t>4.</a:t>
            </a:r>
          </a:p>
        </p:txBody>
      </p:sp>
      <p:sp>
        <p:nvSpPr>
          <p:cNvPr id="13" name="item-4">
            <a:extLst xmlns:a="http://schemas.openxmlformats.org/drawingml/2006/main">
              <a:ext uri="{FF2B5EF4-FFF2-40B4-BE49-F238E27FC236}">
                <a16:creationId xmlns:a16="http://schemas.microsoft.com/office/drawing/2014/main" id="{3C6DA50C-268F-4D1E-860E-935E216CF5F6}"/>
              </a:ext>
            </a:extLst>
          </p:cNvPr>
          <p:cNvSpPr>
            <a:spLocks xmlns:a="http://schemas.openxmlformats.org/drawingml/2006/main" noGrp="1"/>
          </p:cNvSpPr>
          <p:nvPr/>
        </p:nvSpPr>
        <p:spPr>
          <a:xfrm xmlns:a="http://schemas.openxmlformats.org/drawingml/2006/main">
            <a:off x="1352550" y="4333875"/>
            <a:ext cx="99250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01828"/>
                </a:solidFill>
                <a:latin typeface="DejaVu Sans"/>
                <a:ea typeface="DejaVu Sans"/>
                <a:cs typeface="DejaVu Sans"/>
              </a:defRPr>
            </a:pPr>
            <a:r>
              <a:rPr sz="1800" b="0">
                <a:solidFill>
                  <a:srgbClr val="101828"/>
                </a:solidFill>
                <a:latin typeface="DejaVu Sans"/>
                <a:ea typeface="DejaVu Sans"/>
                <a:cs typeface="DejaVu Sans"/>
              </a:rPr>
              <a:t>Can be written to by the operating system → RAM</a:t>
            </a:r>
          </a:p>
        </p:txBody>
      </p:sp>
      <p:sp>
        <p:nvSpPr>
          <p:cNvPr id="14" name="number-5">
            <a:extLst xmlns:a="http://schemas.openxmlformats.org/drawingml/2006/main">
              <a:ext uri="{FF2B5EF4-FFF2-40B4-BE49-F238E27FC236}">
                <a16:creationId xmlns:a16="http://schemas.microsoft.com/office/drawing/2014/main" id="{5A3116DC-86B5-461C-808A-33447DA744FE}"/>
              </a:ext>
            </a:extLst>
          </p:cNvPr>
          <p:cNvSpPr>
            <a:spLocks xmlns:a="http://schemas.openxmlformats.org/drawingml/2006/main" noGrp="1"/>
          </p:cNvSpPr>
          <p:nvPr/>
        </p:nvSpPr>
        <p:spPr>
          <a:xfrm xmlns:a="http://schemas.openxmlformats.org/drawingml/2006/main">
            <a:off x="723900" y="5172075"/>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2D63FF"/>
                </a:solidFill>
                <a:latin typeface="DejaVu Sans"/>
                <a:ea typeface="DejaVu Sans"/>
                <a:cs typeface="DejaVu Sans"/>
              </a:defRPr>
            </a:pPr>
            <a:r>
              <a:rPr sz="1800" b="1">
                <a:solidFill>
                  <a:srgbClr val="2D63FF"/>
                </a:solidFill>
                <a:latin typeface="DejaVu Sans"/>
                <a:ea typeface="DejaVu Sans"/>
                <a:cs typeface="DejaVu Sans"/>
              </a:rPr>
              <a:t>5.</a:t>
            </a:r>
          </a:p>
        </p:txBody>
      </p:sp>
      <p:sp>
        <p:nvSpPr>
          <p:cNvPr id="15" name="item-5">
            <a:extLst xmlns:a="http://schemas.openxmlformats.org/drawingml/2006/main">
              <a:ext uri="{FF2B5EF4-FFF2-40B4-BE49-F238E27FC236}">
                <a16:creationId xmlns:a16="http://schemas.microsoft.com/office/drawing/2014/main" id="{BA25A38C-8CEB-4901-99A4-3FDB2110998F}"/>
              </a:ext>
            </a:extLst>
          </p:cNvPr>
          <p:cNvSpPr>
            <a:spLocks xmlns:a="http://schemas.openxmlformats.org/drawingml/2006/main" noGrp="1"/>
          </p:cNvSpPr>
          <p:nvPr/>
        </p:nvSpPr>
        <p:spPr>
          <a:xfrm xmlns:a="http://schemas.openxmlformats.org/drawingml/2006/main">
            <a:off x="1352550" y="5172075"/>
            <a:ext cx="99250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01828"/>
                </a:solidFill>
                <a:latin typeface="DejaVu Sans"/>
                <a:ea typeface="DejaVu Sans"/>
                <a:cs typeface="DejaVu Sans"/>
              </a:defRPr>
            </a:pPr>
            <a:r>
              <a:rPr sz="1800" b="0">
                <a:solidFill>
                  <a:srgbClr val="101828"/>
                </a:solidFill>
                <a:latin typeface="DejaVu Sans"/>
                <a:ea typeface="DejaVu Sans"/>
                <a:cs typeface="DejaVu Sans"/>
              </a:rPr>
              <a:t>Keeps its contents with no power → ROM</a:t>
            </a:r>
          </a:p>
        </p:txBody>
      </p:sp>
    </p:spTree>
    <p:extLst>
      <p:ext uri="{BB962C8B-B14F-4D97-AF65-F5344CB8AC3E}">
        <p14:creationId xmlns:p14="http://schemas.microsoft.com/office/powerpoint/2010/main" val="1894149789"/>
      </p:ext>
    </p:extLst>
  </p:cSld>
</p:sld>
</file>

<file path=ppt/slides/slide14.xml><?xml version="1.0" encoding="utf-8"?>
<p:sld xmlns:p="http://schemas.openxmlformats.org/presentationml/2006/main">
  <p:cSld>
    <p:bg>
      <p:bgPr>
        <a:solidFill xmlns:a="http://schemas.openxmlformats.org/drawingml/2006/main">
          <a:srgbClr val="EAF3FF"/>
        </a:solidFill>
      </p:bgPr>
    </p:bg>
    <p:spTree>
      <p:nvGrpSpPr>
        <p:cNvPr id="1" name=""/>
        <p:cNvGrpSpPr/>
        <p:nvPr/>
      </p:nvGrpSpPr>
      <p:grpSpPr>
        <a:xfrm xmlns:a="http://schemas.openxmlformats.org/drawingml/2006/main"/>
      </p:grpSpPr>
      <p:sp>
        <p:nvSpPr>
          <p:cNvPr id="12" name="footer background">
            <a:extLst xmlns:a="http://schemas.openxmlformats.org/drawingml/2006/main">
              <a:ext uri="{FF2B5EF4-FFF2-40B4-BE49-F238E27FC236}">
                <a16:creationId xmlns:a16="http://schemas.microsoft.com/office/drawing/2014/main" id="{8CFA57AB-B4CD-482B-AFEB-B8407FE8D0AC}"/>
              </a:ext>
            </a:extLst>
          </p:cNvPr>
          <p:cNvSpPr>
            <a:spLocks xmlns:a="http://schemas.openxmlformats.org/drawingml/2006/main" noGrp="1"/>
          </p:cNvSpPr>
          <p:nvPr/>
        </p:nvSpPr>
        <p:spPr>
          <a:xfrm xmlns:a="http://schemas.openxmlformats.org/drawingml/2006/main">
            <a:off x="0" y="6124575"/>
            <a:ext cx="12192000" cy="7334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topic">
            <a:extLst xmlns:a="http://schemas.openxmlformats.org/drawingml/2006/main">
              <a:ext uri="{FF2B5EF4-FFF2-40B4-BE49-F238E27FC236}">
                <a16:creationId xmlns:a16="http://schemas.microsoft.com/office/drawing/2014/main" id="{868A6CCA-AF6B-4016-8A13-DA5EE7DC88A6}"/>
              </a:ext>
            </a:extLst>
          </p:cNvPr>
          <p:cNvSpPr>
            <a:spLocks xmlns:a="http://schemas.openxmlformats.org/drawingml/2006/main" noGrp="1"/>
          </p:cNvSpPr>
          <p:nvPr/>
        </p:nvSpPr>
        <p:spPr>
          <a:xfrm xmlns:a="http://schemas.openxmlformats.org/drawingml/2006/main">
            <a:off x="666750" y="323850"/>
            <a:ext cx="981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2D63FF"/>
                </a:solidFill>
                <a:latin typeface="DejaVu Sans"/>
                <a:ea typeface="DejaVu Sans"/>
                <a:cs typeface="DejaVu Sans"/>
              </a:defRPr>
            </a:pPr>
            <a:r>
              <a:rPr sz="1125" b="1">
                <a:solidFill>
                  <a:srgbClr val="2D63FF"/>
                </a:solidFill>
                <a:latin typeface="DejaVu Sans"/>
                <a:ea typeface="DejaVu Sans"/>
                <a:cs typeface="DejaVu Sans"/>
              </a:rPr>
              <a:t>TOPIC 1.2   /   LESSON 01   /   CHECK</a:t>
            </a:r>
          </a:p>
        </p:txBody>
      </p:sp>
      <p:sp>
        <p:nvSpPr>
          <p:cNvPr id="3" name="heading">
            <a:extLst xmlns:a="http://schemas.openxmlformats.org/drawingml/2006/main">
              <a:ext uri="{FF2B5EF4-FFF2-40B4-BE49-F238E27FC236}">
                <a16:creationId xmlns:a16="http://schemas.microsoft.com/office/drawing/2014/main" id="{5DC00DA0-8B52-4FD4-A94F-FEF0DC9DAAF4}"/>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01828"/>
                </a:solidFill>
                <a:latin typeface="DejaVu Sans"/>
                <a:ea typeface="DejaVu Sans"/>
                <a:cs typeface="DejaVu Sans"/>
              </a:defRPr>
            </a:pPr>
            <a:r>
              <a:rPr sz="3225" b="1">
                <a:solidFill>
                  <a:srgbClr val="101828"/>
                </a:solidFill>
                <a:latin typeface="DejaVu Sans"/>
                <a:ea typeface="DejaVu Sans"/>
                <a:cs typeface="DejaVu Sans"/>
              </a:rPr>
              <a:t>Final challenge: answers 6–8</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7e51a87adab44a47"/>
          <a:stretch xmlns:a="http://schemas.openxmlformats.org/drawingml/2006/main"/>
        </p:blipFill>
        <p:spPr>
          <a:xfrm xmlns:a="http://schemas.openxmlformats.org/drawingml/2006/main">
            <a:off x="666750" y="6241242"/>
            <a:ext cx="2038350" cy="395316"/>
          </a:xfrm>
          <a:prstGeom xmlns:a="http://schemas.openxmlformats.org/drawingml/2006/main" prst="rect">
            <a:avLst/>
          </a:prstGeom>
        </p:spPr>
      </p:pic>
      <p:sp>
        <p:nvSpPr>
          <p:cNvPr id="5" name="page">
            <a:extLst xmlns:a="http://schemas.openxmlformats.org/drawingml/2006/main">
              <a:ext uri="{FF2B5EF4-FFF2-40B4-BE49-F238E27FC236}">
                <a16:creationId xmlns:a16="http://schemas.microsoft.com/office/drawing/2014/main" id="{585F677A-FDB2-40D0-9444-F75C5F1FADFE}"/>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14 / 19</a:t>
            </a:r>
          </a:p>
        </p:txBody>
      </p:sp>
      <p:sp>
        <p:nvSpPr>
          <p:cNvPr id="6" name="number-6">
            <a:extLst xmlns:a="http://schemas.openxmlformats.org/drawingml/2006/main">
              <a:ext uri="{FF2B5EF4-FFF2-40B4-BE49-F238E27FC236}">
                <a16:creationId xmlns:a16="http://schemas.microsoft.com/office/drawing/2014/main" id="{D7C50EF2-E185-42E1-B090-04CAEA764173}"/>
              </a:ext>
            </a:extLst>
          </p:cNvPr>
          <p:cNvSpPr>
            <a:spLocks xmlns:a="http://schemas.openxmlformats.org/drawingml/2006/main" noGrp="1"/>
          </p:cNvSpPr>
          <p:nvPr/>
        </p:nvSpPr>
        <p:spPr>
          <a:xfrm xmlns:a="http://schemas.openxmlformats.org/drawingml/2006/main">
            <a:off x="723900" y="1819275"/>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2D63FF"/>
                </a:solidFill>
                <a:latin typeface="DejaVu Sans"/>
                <a:ea typeface="DejaVu Sans"/>
                <a:cs typeface="DejaVu Sans"/>
              </a:defRPr>
            </a:pPr>
            <a:r>
              <a:rPr sz="1800" b="1">
                <a:solidFill>
                  <a:srgbClr val="2D63FF"/>
                </a:solidFill>
                <a:latin typeface="DejaVu Sans"/>
                <a:ea typeface="DejaVu Sans"/>
                <a:cs typeface="DejaVu Sans"/>
              </a:rPr>
              <a:t>6.</a:t>
            </a:r>
          </a:p>
        </p:txBody>
      </p:sp>
      <p:sp>
        <p:nvSpPr>
          <p:cNvPr id="7" name="item-6">
            <a:extLst xmlns:a="http://schemas.openxmlformats.org/drawingml/2006/main">
              <a:ext uri="{FF2B5EF4-FFF2-40B4-BE49-F238E27FC236}">
                <a16:creationId xmlns:a16="http://schemas.microsoft.com/office/drawing/2014/main" id="{25311D04-5C9F-4299-8AEB-6F40AE757885}"/>
              </a:ext>
            </a:extLst>
          </p:cNvPr>
          <p:cNvSpPr>
            <a:spLocks xmlns:a="http://schemas.openxmlformats.org/drawingml/2006/main" noGrp="1"/>
          </p:cNvSpPr>
          <p:nvPr/>
        </p:nvSpPr>
        <p:spPr>
          <a:xfrm xmlns:a="http://schemas.openxmlformats.org/drawingml/2006/main">
            <a:off x="1352550" y="1819275"/>
            <a:ext cx="99250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01828"/>
                </a:solidFill>
                <a:latin typeface="DejaVu Sans"/>
                <a:ea typeface="DejaVu Sans"/>
                <a:cs typeface="DejaVu Sans"/>
              </a:defRPr>
            </a:pPr>
            <a:r>
              <a:rPr sz="1800" b="0">
                <a:solidFill>
                  <a:srgbClr val="101828"/>
                </a:solidFill>
                <a:latin typeface="DejaVu Sans"/>
                <a:ea typeface="DejaVu Sans"/>
                <a:cs typeface="DejaVu Sans"/>
              </a:rPr>
              <a:t>Is found on the motherboard → Both</a:t>
            </a:r>
          </a:p>
        </p:txBody>
      </p:sp>
      <p:sp>
        <p:nvSpPr>
          <p:cNvPr id="8" name="number-7">
            <a:extLst xmlns:a="http://schemas.openxmlformats.org/drawingml/2006/main">
              <a:ext uri="{FF2B5EF4-FFF2-40B4-BE49-F238E27FC236}">
                <a16:creationId xmlns:a16="http://schemas.microsoft.com/office/drawing/2014/main" id="{6B8B7728-3A32-4D75-AD7A-2028A9452341}"/>
              </a:ext>
            </a:extLst>
          </p:cNvPr>
          <p:cNvSpPr>
            <a:spLocks xmlns:a="http://schemas.openxmlformats.org/drawingml/2006/main" noGrp="1"/>
          </p:cNvSpPr>
          <p:nvPr/>
        </p:nvSpPr>
        <p:spPr>
          <a:xfrm xmlns:a="http://schemas.openxmlformats.org/drawingml/2006/main">
            <a:off x="723900" y="3038475"/>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2D63FF"/>
                </a:solidFill>
                <a:latin typeface="DejaVu Sans"/>
                <a:ea typeface="DejaVu Sans"/>
                <a:cs typeface="DejaVu Sans"/>
              </a:defRPr>
            </a:pPr>
            <a:r>
              <a:rPr sz="1800" b="1">
                <a:solidFill>
                  <a:srgbClr val="2D63FF"/>
                </a:solidFill>
                <a:latin typeface="DejaVu Sans"/>
                <a:ea typeface="DejaVu Sans"/>
                <a:cs typeface="DejaVu Sans"/>
              </a:rPr>
              <a:t>7.</a:t>
            </a:r>
          </a:p>
        </p:txBody>
      </p:sp>
      <p:sp>
        <p:nvSpPr>
          <p:cNvPr id="9" name="item-7">
            <a:extLst xmlns:a="http://schemas.openxmlformats.org/drawingml/2006/main">
              <a:ext uri="{FF2B5EF4-FFF2-40B4-BE49-F238E27FC236}">
                <a16:creationId xmlns:a16="http://schemas.microsoft.com/office/drawing/2014/main" id="{69613E56-8517-47B9-B47F-903D82D8C252}"/>
              </a:ext>
            </a:extLst>
          </p:cNvPr>
          <p:cNvSpPr>
            <a:spLocks xmlns:a="http://schemas.openxmlformats.org/drawingml/2006/main" noGrp="1"/>
          </p:cNvSpPr>
          <p:nvPr/>
        </p:nvSpPr>
        <p:spPr>
          <a:xfrm xmlns:a="http://schemas.openxmlformats.org/drawingml/2006/main">
            <a:off x="1352550" y="3038475"/>
            <a:ext cx="99250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01828"/>
                </a:solidFill>
                <a:latin typeface="DejaVu Sans"/>
                <a:ea typeface="DejaVu Sans"/>
                <a:cs typeface="DejaVu Sans"/>
              </a:defRPr>
            </a:pPr>
            <a:r>
              <a:rPr sz="1800" b="0">
                <a:solidFill>
                  <a:srgbClr val="101828"/>
                </a:solidFill>
                <a:latin typeface="DejaVu Sans"/>
                <a:ea typeface="DejaVu Sans"/>
                <a:cs typeface="DejaVu Sans"/>
              </a:rPr>
              <a:t>Holds the programs you currently have open → RAM</a:t>
            </a:r>
          </a:p>
        </p:txBody>
      </p:sp>
      <p:sp>
        <p:nvSpPr>
          <p:cNvPr id="10" name="number-8">
            <a:extLst xmlns:a="http://schemas.openxmlformats.org/drawingml/2006/main">
              <a:ext uri="{FF2B5EF4-FFF2-40B4-BE49-F238E27FC236}">
                <a16:creationId xmlns:a16="http://schemas.microsoft.com/office/drawing/2014/main" id="{9B7A7EC1-AC2A-4CDC-AFD9-150878F09775}"/>
              </a:ext>
            </a:extLst>
          </p:cNvPr>
          <p:cNvSpPr>
            <a:spLocks xmlns:a="http://schemas.openxmlformats.org/drawingml/2006/main" noGrp="1"/>
          </p:cNvSpPr>
          <p:nvPr/>
        </p:nvSpPr>
        <p:spPr>
          <a:xfrm xmlns:a="http://schemas.openxmlformats.org/drawingml/2006/main">
            <a:off x="723900" y="4257675"/>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2D63FF"/>
                </a:solidFill>
                <a:latin typeface="DejaVu Sans"/>
                <a:ea typeface="DejaVu Sans"/>
                <a:cs typeface="DejaVu Sans"/>
              </a:defRPr>
            </a:pPr>
            <a:r>
              <a:rPr sz="1800" b="1">
                <a:solidFill>
                  <a:srgbClr val="2D63FF"/>
                </a:solidFill>
                <a:latin typeface="DejaVu Sans"/>
                <a:ea typeface="DejaVu Sans"/>
                <a:cs typeface="DejaVu Sans"/>
              </a:rPr>
              <a:t>8.</a:t>
            </a:r>
          </a:p>
        </p:txBody>
      </p:sp>
      <p:sp>
        <p:nvSpPr>
          <p:cNvPr id="11" name="item-8">
            <a:extLst xmlns:a="http://schemas.openxmlformats.org/drawingml/2006/main">
              <a:ext uri="{FF2B5EF4-FFF2-40B4-BE49-F238E27FC236}">
                <a16:creationId xmlns:a16="http://schemas.microsoft.com/office/drawing/2014/main" id="{8598F0A4-9CD4-47BD-8346-12EAD4E03F5C}"/>
              </a:ext>
            </a:extLst>
          </p:cNvPr>
          <p:cNvSpPr>
            <a:spLocks xmlns:a="http://schemas.openxmlformats.org/drawingml/2006/main" noGrp="1"/>
          </p:cNvSpPr>
          <p:nvPr/>
        </p:nvSpPr>
        <p:spPr>
          <a:xfrm xmlns:a="http://schemas.openxmlformats.org/drawingml/2006/main">
            <a:off x="1352550" y="4257675"/>
            <a:ext cx="99250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01828"/>
                </a:solidFill>
                <a:latin typeface="DejaVu Sans"/>
                <a:ea typeface="DejaVu Sans"/>
                <a:cs typeface="DejaVu Sans"/>
              </a:defRPr>
            </a:pPr>
            <a:r>
              <a:rPr sz="1800" b="0">
                <a:solidFill>
                  <a:srgbClr val="101828"/>
                </a:solidFill>
                <a:latin typeface="DejaVu Sans"/>
                <a:ea typeface="DejaVu Sans"/>
                <a:cs typeface="DejaVu Sans"/>
              </a:rPr>
              <a:t>Is read-only in normal use → ROM</a:t>
            </a:r>
          </a:p>
        </p:txBody>
      </p:sp>
    </p:spTree>
    <p:extLst>
      <p:ext uri="{BB962C8B-B14F-4D97-AF65-F5344CB8AC3E}">
        <p14:creationId xmlns:p14="http://schemas.microsoft.com/office/powerpoint/2010/main" val="67775298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footer background">
            <a:extLst xmlns:a="http://schemas.openxmlformats.org/drawingml/2006/main">
              <a:ext uri="{FF2B5EF4-FFF2-40B4-BE49-F238E27FC236}">
                <a16:creationId xmlns:a16="http://schemas.microsoft.com/office/drawing/2014/main" id="{43BC69E0-134C-4EA4-8AC4-B8A6F972DC3C}"/>
              </a:ext>
            </a:extLst>
          </p:cNvPr>
          <p:cNvSpPr>
            <a:spLocks xmlns:a="http://schemas.openxmlformats.org/drawingml/2006/main" noGrp="1"/>
          </p:cNvSpPr>
          <p:nvPr/>
        </p:nvSpPr>
        <p:spPr>
          <a:xfrm xmlns:a="http://schemas.openxmlformats.org/drawingml/2006/main">
            <a:off x="0" y="6124575"/>
            <a:ext cx="12192000" cy="7334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topic">
            <a:extLst xmlns:a="http://schemas.openxmlformats.org/drawingml/2006/main">
              <a:ext uri="{FF2B5EF4-FFF2-40B4-BE49-F238E27FC236}">
                <a16:creationId xmlns:a16="http://schemas.microsoft.com/office/drawing/2014/main" id="{A52FD13B-4417-4159-A18B-E7E17F6ECDDB}"/>
              </a:ext>
            </a:extLst>
          </p:cNvPr>
          <p:cNvSpPr>
            <a:spLocks xmlns:a="http://schemas.openxmlformats.org/drawingml/2006/main" noGrp="1"/>
          </p:cNvSpPr>
          <p:nvPr/>
        </p:nvSpPr>
        <p:spPr>
          <a:xfrm xmlns:a="http://schemas.openxmlformats.org/drawingml/2006/main">
            <a:off x="666750" y="323850"/>
            <a:ext cx="981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2D63FF"/>
                </a:solidFill>
                <a:latin typeface="DejaVu Sans"/>
                <a:ea typeface="DejaVu Sans"/>
                <a:cs typeface="DejaVu Sans"/>
              </a:defRPr>
            </a:pPr>
            <a:r>
              <a:rPr sz="1125" b="1">
                <a:solidFill>
                  <a:srgbClr val="2D63FF"/>
                </a:solidFill>
                <a:latin typeface="DejaVu Sans"/>
                <a:ea typeface="DejaVu Sans"/>
                <a:cs typeface="DejaVu Sans"/>
              </a:rPr>
              <a:t>TOPIC 1.2   /   LESSON 01   /   PLENARY</a:t>
            </a:r>
          </a:p>
        </p:txBody>
      </p:sp>
      <p:sp>
        <p:nvSpPr>
          <p:cNvPr id="3" name="heading">
            <a:extLst xmlns:a="http://schemas.openxmlformats.org/drawingml/2006/main">
              <a:ext uri="{FF2B5EF4-FFF2-40B4-BE49-F238E27FC236}">
                <a16:creationId xmlns:a16="http://schemas.microsoft.com/office/drawing/2014/main" id="{D7C3FBAA-0CE1-4D02-9EB8-8EFF1E90D445}"/>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01828"/>
                </a:solidFill>
                <a:latin typeface="DejaVu Sans"/>
                <a:ea typeface="DejaVu Sans"/>
                <a:cs typeface="DejaVu Sans"/>
              </a:defRPr>
            </a:pPr>
            <a:r>
              <a:rPr sz="3225" b="1">
                <a:solidFill>
                  <a:srgbClr val="101828"/>
                </a:solidFill>
                <a:latin typeface="DejaVu Sans"/>
                <a:ea typeface="DejaVu Sans"/>
                <a:cs typeface="DejaVu Sans"/>
              </a:rPr>
              <a:t>Plenary: questions 1–2</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db617930f3504367"/>
          <a:stretch xmlns:a="http://schemas.openxmlformats.org/drawingml/2006/main"/>
        </p:blipFill>
        <p:spPr>
          <a:xfrm xmlns:a="http://schemas.openxmlformats.org/drawingml/2006/main">
            <a:off x="666750" y="6241242"/>
            <a:ext cx="2038350" cy="395316"/>
          </a:xfrm>
          <a:prstGeom xmlns:a="http://schemas.openxmlformats.org/drawingml/2006/main" prst="rect">
            <a:avLst/>
          </a:prstGeom>
        </p:spPr>
      </p:pic>
      <p:sp>
        <p:nvSpPr>
          <p:cNvPr id="5" name="page">
            <a:extLst xmlns:a="http://schemas.openxmlformats.org/drawingml/2006/main">
              <a:ext uri="{FF2B5EF4-FFF2-40B4-BE49-F238E27FC236}">
                <a16:creationId xmlns:a16="http://schemas.microsoft.com/office/drawing/2014/main" id="{2BBDCE70-285F-406B-943C-E7D8EAE70008}"/>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15 / 19</a:t>
            </a:r>
          </a:p>
        </p:txBody>
      </p:sp>
      <p:sp>
        <p:nvSpPr>
          <p:cNvPr id="6" name="plenary-instruction">
            <a:extLst xmlns:a="http://schemas.openxmlformats.org/drawingml/2006/main">
              <a:ext uri="{FF2B5EF4-FFF2-40B4-BE49-F238E27FC236}">
                <a16:creationId xmlns:a16="http://schemas.microsoft.com/office/drawing/2014/main" id="{5B8FD830-0823-4926-81AE-FE278DF5A582}"/>
              </a:ext>
            </a:extLst>
          </p:cNvPr>
          <p:cNvSpPr>
            <a:spLocks xmlns:a="http://schemas.openxmlformats.org/drawingml/2006/main" noGrp="1"/>
          </p:cNvSpPr>
          <p:nvPr/>
        </p:nvSpPr>
        <p:spPr>
          <a:xfrm xmlns:a="http://schemas.openxmlformats.org/drawingml/2006/main">
            <a:off x="704850" y="1562100"/>
            <a:ext cx="1071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26174"/>
                </a:solidFill>
                <a:latin typeface="DejaVu Sans"/>
                <a:ea typeface="DejaVu Sans"/>
                <a:cs typeface="DejaVu Sans"/>
              </a:defRPr>
            </a:pPr>
            <a:r>
              <a:rPr sz="1875" b="0">
                <a:solidFill>
                  <a:srgbClr val="526174"/>
                </a:solidFill>
                <a:latin typeface="DejaVu Sans"/>
                <a:ea typeface="DejaVu Sans"/>
                <a:cs typeface="DejaVu Sans"/>
              </a:rPr>
              <a:t>Close the experience. Answer from memory on the worksheet.</a:t>
            </a:r>
          </a:p>
        </p:txBody>
      </p:sp>
      <p:sp>
        <p:nvSpPr>
          <p:cNvPr id="7" name="question-0">
            <a:extLst xmlns:a="http://schemas.openxmlformats.org/drawingml/2006/main">
              <a:ext uri="{FF2B5EF4-FFF2-40B4-BE49-F238E27FC236}">
                <a16:creationId xmlns:a16="http://schemas.microsoft.com/office/drawing/2014/main" id="{07E9B1D5-4211-4DC7-A5F1-D779785461A6}"/>
              </a:ext>
            </a:extLst>
          </p:cNvPr>
          <p:cNvSpPr>
            <a:spLocks xmlns:a="http://schemas.openxmlformats.org/drawingml/2006/main" noGrp="1"/>
          </p:cNvSpPr>
          <p:nvPr/>
        </p:nvSpPr>
        <p:spPr>
          <a:xfrm xmlns:a="http://schemas.openxmlformats.org/drawingml/2006/main">
            <a:off x="723900" y="2533650"/>
            <a:ext cx="10477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01828"/>
                </a:solidFill>
                <a:latin typeface="DejaVu Sans"/>
                <a:ea typeface="DejaVu Sans"/>
                <a:cs typeface="DejaVu Sans"/>
              </a:defRPr>
            </a:pPr>
            <a:r>
              <a:rPr sz="2175" b="0">
                <a:solidFill>
                  <a:srgbClr val="101828"/>
                </a:solidFill>
                <a:latin typeface="DejaVu Sans"/>
                <a:ea typeface="DejaVu Sans"/>
                <a:cs typeface="DejaVu Sans"/>
              </a:rPr>
              <a:t>a)  State what is meant by the term volatile.  [1]</a:t>
            </a:r>
          </a:p>
        </p:txBody>
      </p:sp>
      <p:sp>
        <p:nvSpPr>
          <p:cNvPr id="8" name="question-1">
            <a:extLst xmlns:a="http://schemas.openxmlformats.org/drawingml/2006/main">
              <a:ext uri="{FF2B5EF4-FFF2-40B4-BE49-F238E27FC236}">
                <a16:creationId xmlns:a16="http://schemas.microsoft.com/office/drawing/2014/main" id="{24B62B7D-DE3F-4072-B5E9-14ACB441366B}"/>
              </a:ext>
            </a:extLst>
          </p:cNvPr>
          <p:cNvSpPr>
            <a:spLocks xmlns:a="http://schemas.openxmlformats.org/drawingml/2006/main" noGrp="1"/>
          </p:cNvSpPr>
          <p:nvPr/>
        </p:nvSpPr>
        <p:spPr>
          <a:xfrm xmlns:a="http://schemas.openxmlformats.org/drawingml/2006/main">
            <a:off x="723900" y="4210050"/>
            <a:ext cx="10477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01828"/>
                </a:solidFill>
                <a:latin typeface="DejaVu Sans"/>
                <a:ea typeface="DejaVu Sans"/>
                <a:cs typeface="DejaVu Sans"/>
              </a:defRPr>
            </a:pPr>
            <a:r>
              <a:rPr sz="2175" b="0">
                <a:solidFill>
                  <a:srgbClr val="101828"/>
                </a:solidFill>
                <a:latin typeface="DejaVu Sans"/>
                <a:ea typeface="DejaVu Sans"/>
                <a:cs typeface="DejaVu Sans"/>
              </a:rPr>
              <a:t>b)  Describe the purpose of ROM in a computer system.  [2]</a:t>
            </a:r>
          </a:p>
        </p:txBody>
      </p:sp>
    </p:spTree>
    <p:extLst>
      <p:ext uri="{BB962C8B-B14F-4D97-AF65-F5344CB8AC3E}">
        <p14:creationId xmlns:p14="http://schemas.microsoft.com/office/powerpoint/2010/main" val="206009350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ooter background">
            <a:extLst xmlns:a="http://schemas.openxmlformats.org/drawingml/2006/main">
              <a:ext uri="{FF2B5EF4-FFF2-40B4-BE49-F238E27FC236}">
                <a16:creationId xmlns:a16="http://schemas.microsoft.com/office/drawing/2014/main" id="{7B64B7D4-A4EB-4923-9E9C-8509D0F49C73}"/>
              </a:ext>
            </a:extLst>
          </p:cNvPr>
          <p:cNvSpPr>
            <a:spLocks xmlns:a="http://schemas.openxmlformats.org/drawingml/2006/main" noGrp="1"/>
          </p:cNvSpPr>
          <p:nvPr/>
        </p:nvSpPr>
        <p:spPr>
          <a:xfrm xmlns:a="http://schemas.openxmlformats.org/drawingml/2006/main">
            <a:off x="0" y="6124575"/>
            <a:ext cx="12192000" cy="7334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topic">
            <a:extLst xmlns:a="http://schemas.openxmlformats.org/drawingml/2006/main">
              <a:ext uri="{FF2B5EF4-FFF2-40B4-BE49-F238E27FC236}">
                <a16:creationId xmlns:a16="http://schemas.microsoft.com/office/drawing/2014/main" id="{90D07DD2-7C83-48E5-8A11-BF6A60A17FDA}"/>
              </a:ext>
            </a:extLst>
          </p:cNvPr>
          <p:cNvSpPr>
            <a:spLocks xmlns:a="http://schemas.openxmlformats.org/drawingml/2006/main" noGrp="1"/>
          </p:cNvSpPr>
          <p:nvPr/>
        </p:nvSpPr>
        <p:spPr>
          <a:xfrm xmlns:a="http://schemas.openxmlformats.org/drawingml/2006/main">
            <a:off x="666750" y="323850"/>
            <a:ext cx="981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2D63FF"/>
                </a:solidFill>
                <a:latin typeface="DejaVu Sans"/>
                <a:ea typeface="DejaVu Sans"/>
                <a:cs typeface="DejaVu Sans"/>
              </a:defRPr>
            </a:pPr>
            <a:r>
              <a:rPr sz="1125" b="1">
                <a:solidFill>
                  <a:srgbClr val="2D63FF"/>
                </a:solidFill>
                <a:latin typeface="DejaVu Sans"/>
                <a:ea typeface="DejaVu Sans"/>
                <a:cs typeface="DejaVu Sans"/>
              </a:rPr>
              <a:t>TOPIC 1.2   /   LESSON 01   /   PLENARY</a:t>
            </a:r>
          </a:p>
        </p:txBody>
      </p:sp>
      <p:sp>
        <p:nvSpPr>
          <p:cNvPr id="3" name="heading">
            <a:extLst xmlns:a="http://schemas.openxmlformats.org/drawingml/2006/main">
              <a:ext uri="{FF2B5EF4-FFF2-40B4-BE49-F238E27FC236}">
                <a16:creationId xmlns:a16="http://schemas.microsoft.com/office/drawing/2014/main" id="{0F640A68-BDF4-430D-81F1-444EA2EFD1C2}"/>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01828"/>
                </a:solidFill>
                <a:latin typeface="DejaVu Sans"/>
                <a:ea typeface="DejaVu Sans"/>
                <a:cs typeface="DejaVu Sans"/>
              </a:defRPr>
            </a:pPr>
            <a:r>
              <a:rPr sz="3225" b="1">
                <a:solidFill>
                  <a:srgbClr val="101828"/>
                </a:solidFill>
                <a:latin typeface="DejaVu Sans"/>
                <a:ea typeface="DejaVu Sans"/>
                <a:cs typeface="DejaVu Sans"/>
              </a:rPr>
              <a:t>Plenary: question 3</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c28e8b8a19054075"/>
          <a:stretch xmlns:a="http://schemas.openxmlformats.org/drawingml/2006/main"/>
        </p:blipFill>
        <p:spPr>
          <a:xfrm xmlns:a="http://schemas.openxmlformats.org/drawingml/2006/main">
            <a:off x="666750" y="6241242"/>
            <a:ext cx="2038350" cy="395316"/>
          </a:xfrm>
          <a:prstGeom xmlns:a="http://schemas.openxmlformats.org/drawingml/2006/main" prst="rect">
            <a:avLst/>
          </a:prstGeom>
        </p:spPr>
      </p:pic>
      <p:sp>
        <p:nvSpPr>
          <p:cNvPr id="5" name="page">
            <a:extLst xmlns:a="http://schemas.openxmlformats.org/drawingml/2006/main">
              <a:ext uri="{FF2B5EF4-FFF2-40B4-BE49-F238E27FC236}">
                <a16:creationId xmlns:a16="http://schemas.microsoft.com/office/drawing/2014/main" id="{C78D5020-E059-4131-ACD3-F5B313C0F690}"/>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16 / 19</a:t>
            </a:r>
          </a:p>
        </p:txBody>
      </p:sp>
      <p:sp>
        <p:nvSpPr>
          <p:cNvPr id="6" name="plenary-instruction">
            <a:extLst xmlns:a="http://schemas.openxmlformats.org/drawingml/2006/main">
              <a:ext uri="{FF2B5EF4-FFF2-40B4-BE49-F238E27FC236}">
                <a16:creationId xmlns:a16="http://schemas.microsoft.com/office/drawing/2014/main" id="{F76241C1-2555-4F73-B2AD-3F1484BBC370}"/>
              </a:ext>
            </a:extLst>
          </p:cNvPr>
          <p:cNvSpPr>
            <a:spLocks xmlns:a="http://schemas.openxmlformats.org/drawingml/2006/main" noGrp="1"/>
          </p:cNvSpPr>
          <p:nvPr/>
        </p:nvSpPr>
        <p:spPr>
          <a:xfrm xmlns:a="http://schemas.openxmlformats.org/drawingml/2006/main">
            <a:off x="704850" y="1562100"/>
            <a:ext cx="1071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26174"/>
                </a:solidFill>
                <a:latin typeface="DejaVu Sans"/>
                <a:ea typeface="DejaVu Sans"/>
                <a:cs typeface="DejaVu Sans"/>
              </a:defRPr>
            </a:pPr>
            <a:r>
              <a:rPr sz="1875" b="0">
                <a:solidFill>
                  <a:srgbClr val="526174"/>
                </a:solidFill>
                <a:latin typeface="DejaVu Sans"/>
                <a:ea typeface="DejaVu Sans"/>
                <a:cs typeface="DejaVu Sans"/>
              </a:rPr>
              <a:t>Close the experience. Answer from memory on the worksheet.</a:t>
            </a:r>
          </a:p>
        </p:txBody>
      </p:sp>
      <p:sp>
        <p:nvSpPr>
          <p:cNvPr id="7" name="question">
            <a:extLst xmlns:a="http://schemas.openxmlformats.org/drawingml/2006/main">
              <a:ext uri="{FF2B5EF4-FFF2-40B4-BE49-F238E27FC236}">
                <a16:creationId xmlns:a16="http://schemas.microsoft.com/office/drawing/2014/main" id="{731C6DED-CF8C-4B94-8229-7212E4579BA3}"/>
              </a:ext>
            </a:extLst>
          </p:cNvPr>
          <p:cNvSpPr>
            <a:spLocks xmlns:a="http://schemas.openxmlformats.org/drawingml/2006/main" noGrp="1"/>
          </p:cNvSpPr>
          <p:nvPr/>
        </p:nvSpPr>
        <p:spPr>
          <a:xfrm xmlns:a="http://schemas.openxmlformats.org/drawingml/2006/main">
            <a:off x="723900" y="2781300"/>
            <a:ext cx="10477500" cy="2105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0">
                <a:solidFill>
                  <a:srgbClr val="101828"/>
                </a:solidFill>
                <a:latin typeface="DejaVu Sans"/>
                <a:ea typeface="DejaVu Sans"/>
                <a:cs typeface="DejaVu Sans"/>
              </a:defRPr>
            </a:pPr>
            <a:r>
              <a:rPr sz="2475" b="0">
                <a:solidFill>
                  <a:srgbClr val="101828"/>
                </a:solidFill>
                <a:latin typeface="DejaVu Sans"/>
                <a:ea typeface="DejaVu Sans"/>
                <a:cs typeface="DejaVu Sans"/>
              </a:rPr>
              <a:t>c)  Explain why a computer needs primary storage.  [3]</a:t>
            </a:r>
          </a:p>
        </p:txBody>
      </p:sp>
    </p:spTree>
    <p:extLst>
      <p:ext uri="{BB962C8B-B14F-4D97-AF65-F5344CB8AC3E}">
        <p14:creationId xmlns:p14="http://schemas.microsoft.com/office/powerpoint/2010/main" val="120340005"/>
      </p:ext>
    </p:extLst>
  </p:cSld>
</p:sld>
</file>

<file path=ppt/slides/slide17.xml><?xml version="1.0" encoding="utf-8"?>
<p:sld xmlns:p="http://schemas.openxmlformats.org/presentationml/2006/main">
  <p:cSld>
    <p:bg>
      <p:bgPr>
        <a:solidFill xmlns:a="http://schemas.openxmlformats.org/drawingml/2006/main">
          <a:srgbClr val="EAF3FF"/>
        </a:solidFill>
      </p:bgPr>
    </p:bg>
    <p:spTree>
      <p:nvGrpSpPr>
        <p:cNvPr id="1" name=""/>
        <p:cNvGrpSpPr/>
        <p:nvPr/>
      </p:nvGrpSpPr>
      <p:grpSpPr>
        <a:xfrm xmlns:a="http://schemas.openxmlformats.org/drawingml/2006/main"/>
      </p:grpSpPr>
      <p:sp>
        <p:nvSpPr>
          <p:cNvPr id="9" name="footer background">
            <a:extLst xmlns:a="http://schemas.openxmlformats.org/drawingml/2006/main">
              <a:ext uri="{FF2B5EF4-FFF2-40B4-BE49-F238E27FC236}">
                <a16:creationId xmlns:a16="http://schemas.microsoft.com/office/drawing/2014/main" id="{75807BB6-3369-450F-B087-5ED4D21BF257}"/>
              </a:ext>
            </a:extLst>
          </p:cNvPr>
          <p:cNvSpPr>
            <a:spLocks xmlns:a="http://schemas.openxmlformats.org/drawingml/2006/main" noGrp="1"/>
          </p:cNvSpPr>
          <p:nvPr/>
        </p:nvSpPr>
        <p:spPr>
          <a:xfrm xmlns:a="http://schemas.openxmlformats.org/drawingml/2006/main">
            <a:off x="0" y="6124575"/>
            <a:ext cx="12192000" cy="7334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topic">
            <a:extLst xmlns:a="http://schemas.openxmlformats.org/drawingml/2006/main">
              <a:ext uri="{FF2B5EF4-FFF2-40B4-BE49-F238E27FC236}">
                <a16:creationId xmlns:a16="http://schemas.microsoft.com/office/drawing/2014/main" id="{9C405717-5867-4EA0-949D-912355DB321E}"/>
              </a:ext>
            </a:extLst>
          </p:cNvPr>
          <p:cNvSpPr>
            <a:spLocks xmlns:a="http://schemas.openxmlformats.org/drawingml/2006/main" noGrp="1"/>
          </p:cNvSpPr>
          <p:nvPr/>
        </p:nvSpPr>
        <p:spPr>
          <a:xfrm xmlns:a="http://schemas.openxmlformats.org/drawingml/2006/main">
            <a:off x="666750" y="323850"/>
            <a:ext cx="981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2D63FF"/>
                </a:solidFill>
                <a:latin typeface="DejaVu Sans"/>
                <a:ea typeface="DejaVu Sans"/>
                <a:cs typeface="DejaVu Sans"/>
              </a:defRPr>
            </a:pPr>
            <a:r>
              <a:rPr sz="1125" b="1">
                <a:solidFill>
                  <a:srgbClr val="2D63FF"/>
                </a:solidFill>
                <a:latin typeface="DejaVu Sans"/>
                <a:ea typeface="DejaVu Sans"/>
                <a:cs typeface="DejaVu Sans"/>
              </a:rPr>
              <a:t>TOPIC 1.2   /   LESSON 01   /   CHECK</a:t>
            </a:r>
          </a:p>
        </p:txBody>
      </p:sp>
      <p:sp>
        <p:nvSpPr>
          <p:cNvPr id="3" name="heading">
            <a:extLst xmlns:a="http://schemas.openxmlformats.org/drawingml/2006/main">
              <a:ext uri="{FF2B5EF4-FFF2-40B4-BE49-F238E27FC236}">
                <a16:creationId xmlns:a16="http://schemas.microsoft.com/office/drawing/2014/main" id="{8CC22D18-B138-48A3-A75D-FB00347BAD88}"/>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01828"/>
                </a:solidFill>
                <a:latin typeface="DejaVu Sans"/>
                <a:ea typeface="DejaVu Sans"/>
                <a:cs typeface="DejaVu Sans"/>
              </a:defRPr>
            </a:pPr>
            <a:r>
              <a:rPr sz="3225" b="1">
                <a:solidFill>
                  <a:srgbClr val="101828"/>
                </a:solidFill>
                <a:latin typeface="DejaVu Sans"/>
                <a:ea typeface="DejaVu Sans"/>
                <a:cs typeface="DejaVu Sans"/>
              </a:rPr>
              <a:t>Plenary: answers 1–2</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ce8aef0cc5554c0a"/>
          <a:stretch xmlns:a="http://schemas.openxmlformats.org/drawingml/2006/main"/>
        </p:blipFill>
        <p:spPr>
          <a:xfrm xmlns:a="http://schemas.openxmlformats.org/drawingml/2006/main">
            <a:off x="666750" y="6241242"/>
            <a:ext cx="2038350" cy="395316"/>
          </a:xfrm>
          <a:prstGeom xmlns:a="http://schemas.openxmlformats.org/drawingml/2006/main" prst="rect">
            <a:avLst/>
          </a:prstGeom>
        </p:spPr>
      </p:pic>
      <p:sp>
        <p:nvSpPr>
          <p:cNvPr id="5" name="page">
            <a:extLst xmlns:a="http://schemas.openxmlformats.org/drawingml/2006/main">
              <a:ext uri="{FF2B5EF4-FFF2-40B4-BE49-F238E27FC236}">
                <a16:creationId xmlns:a16="http://schemas.microsoft.com/office/drawing/2014/main" id="{2CE674B7-10B8-410C-8C07-AF73D5084E92}"/>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17 / 19</a:t>
            </a:r>
          </a:p>
        </p:txBody>
      </p:sp>
      <p:sp>
        <p:nvSpPr>
          <p:cNvPr id="6" name="scheme-intro">
            <a:extLst xmlns:a="http://schemas.openxmlformats.org/drawingml/2006/main">
              <a:ext uri="{FF2B5EF4-FFF2-40B4-BE49-F238E27FC236}">
                <a16:creationId xmlns:a16="http://schemas.microsoft.com/office/drawing/2014/main" id="{C453F573-2B98-4F66-9866-93814C41259C}"/>
              </a:ext>
            </a:extLst>
          </p:cNvPr>
          <p:cNvSpPr>
            <a:spLocks xmlns:a="http://schemas.openxmlformats.org/drawingml/2006/main" noGrp="1"/>
          </p:cNvSpPr>
          <p:nvPr/>
        </p:nvSpPr>
        <p:spPr>
          <a:xfrm xmlns:a="http://schemas.openxmlformats.org/drawingml/2006/main">
            <a:off x="704850" y="1533525"/>
            <a:ext cx="10715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26174"/>
                </a:solidFill>
                <a:latin typeface="DejaVu Sans"/>
                <a:ea typeface="DejaVu Sans"/>
                <a:cs typeface="DejaVu Sans"/>
              </a:defRPr>
            </a:pPr>
            <a:r>
              <a:rPr sz="1800" b="0">
                <a:solidFill>
                  <a:srgbClr val="526174"/>
                </a:solidFill>
                <a:latin typeface="DejaVu Sans"/>
                <a:ea typeface="DejaVu Sans"/>
                <a:cs typeface="DejaVu Sans"/>
              </a:rPr>
              <a:t>Indicative points. Credit accurate answers in students’ own words.</a:t>
            </a:r>
          </a:p>
        </p:txBody>
      </p:sp>
      <p:sp>
        <p:nvSpPr>
          <p:cNvPr id="7" name="answer-0">
            <a:extLst xmlns:a="http://schemas.openxmlformats.org/drawingml/2006/main">
              <a:ext uri="{FF2B5EF4-FFF2-40B4-BE49-F238E27FC236}">
                <a16:creationId xmlns:a16="http://schemas.microsoft.com/office/drawing/2014/main" id="{0101E6DD-CE1E-4DED-8EDE-8F4CFA582391}"/>
              </a:ext>
            </a:extLst>
          </p:cNvPr>
          <p:cNvSpPr>
            <a:spLocks xmlns:a="http://schemas.openxmlformats.org/drawingml/2006/main" noGrp="1"/>
          </p:cNvSpPr>
          <p:nvPr/>
        </p:nvSpPr>
        <p:spPr>
          <a:xfrm xmlns:a="http://schemas.openxmlformats.org/drawingml/2006/main">
            <a:off x="723900" y="2266950"/>
            <a:ext cx="1057275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01828"/>
                </a:solidFill>
                <a:latin typeface="DejaVu Sans"/>
                <a:ea typeface="DejaVu Sans"/>
                <a:cs typeface="DejaVu Sans"/>
              </a:defRPr>
            </a:pPr>
            <a:r>
              <a:rPr sz="1950" b="0">
                <a:solidFill>
                  <a:srgbClr val="101828"/>
                </a:solidFill>
                <a:latin typeface="DejaVu Sans"/>
                <a:ea typeface="DejaVu Sans"/>
                <a:cs typeface="DejaVu Sans"/>
              </a:rPr>
              <a:t>a) Volatile means its contents are lost when the power is switched off.</a:t>
            </a:r>
          </a:p>
        </p:txBody>
      </p:sp>
      <p:sp>
        <p:nvSpPr>
          <p:cNvPr id="8" name="answer-1">
            <a:extLst xmlns:a="http://schemas.openxmlformats.org/drawingml/2006/main">
              <a:ext uri="{FF2B5EF4-FFF2-40B4-BE49-F238E27FC236}">
                <a16:creationId xmlns:a16="http://schemas.microsoft.com/office/drawing/2014/main" id="{22F88037-AF02-4C2C-BA2C-BC5F3C8EF98A}"/>
              </a:ext>
            </a:extLst>
          </p:cNvPr>
          <p:cNvSpPr>
            <a:spLocks xmlns:a="http://schemas.openxmlformats.org/drawingml/2006/main" noGrp="1"/>
          </p:cNvSpPr>
          <p:nvPr/>
        </p:nvSpPr>
        <p:spPr>
          <a:xfrm xmlns:a="http://schemas.openxmlformats.org/drawingml/2006/main">
            <a:off x="723900" y="4048125"/>
            <a:ext cx="1057275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01828"/>
                </a:solidFill>
                <a:latin typeface="DejaVu Sans"/>
                <a:ea typeface="DejaVu Sans"/>
                <a:cs typeface="DejaVu Sans"/>
              </a:defRPr>
            </a:pPr>
            <a:r>
              <a:rPr sz="1950" b="0">
                <a:solidFill>
                  <a:srgbClr val="101828"/>
                </a:solidFill>
                <a:latin typeface="DejaVu Sans"/>
                <a:ea typeface="DejaVu Sans"/>
                <a:cs typeface="DejaVu Sans"/>
              </a:rPr>
              <a:t>b) ROM stores the boot firmware or start-up instructions. It keeps them without power so the computer can begin loading the operating system.</a:t>
            </a:r>
          </a:p>
        </p:txBody>
      </p:sp>
    </p:spTree>
    <p:extLst>
      <p:ext uri="{BB962C8B-B14F-4D97-AF65-F5344CB8AC3E}">
        <p14:creationId xmlns:p14="http://schemas.microsoft.com/office/powerpoint/2010/main" val="1390801895"/>
      </p:ext>
    </p:extLst>
  </p:cSld>
</p:sld>
</file>

<file path=ppt/slides/slide18.xml><?xml version="1.0" encoding="utf-8"?>
<p:sld xmlns:p="http://schemas.openxmlformats.org/presentationml/2006/main">
  <p:cSld>
    <p:bg>
      <p:bgPr>
        <a:solidFill xmlns:a="http://schemas.openxmlformats.org/drawingml/2006/main">
          <a:srgbClr val="EAF3FF"/>
        </a:solidFill>
      </p:bgPr>
    </p:bg>
    <p:spTree>
      <p:nvGrpSpPr>
        <p:cNvPr id="1" name=""/>
        <p:cNvGrpSpPr/>
        <p:nvPr/>
      </p:nvGrpSpPr>
      <p:grpSpPr>
        <a:xfrm xmlns:a="http://schemas.openxmlformats.org/drawingml/2006/main"/>
      </p:grpSpPr>
      <p:sp>
        <p:nvSpPr>
          <p:cNvPr id="8" name="footer background">
            <a:extLst xmlns:a="http://schemas.openxmlformats.org/drawingml/2006/main">
              <a:ext uri="{FF2B5EF4-FFF2-40B4-BE49-F238E27FC236}">
                <a16:creationId xmlns:a16="http://schemas.microsoft.com/office/drawing/2014/main" id="{1D2D78DF-52E7-48F1-B630-DE226ACB3AEC}"/>
              </a:ext>
            </a:extLst>
          </p:cNvPr>
          <p:cNvSpPr>
            <a:spLocks xmlns:a="http://schemas.openxmlformats.org/drawingml/2006/main" noGrp="1"/>
          </p:cNvSpPr>
          <p:nvPr/>
        </p:nvSpPr>
        <p:spPr>
          <a:xfrm xmlns:a="http://schemas.openxmlformats.org/drawingml/2006/main">
            <a:off x="0" y="6124575"/>
            <a:ext cx="12192000" cy="7334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topic">
            <a:extLst xmlns:a="http://schemas.openxmlformats.org/drawingml/2006/main">
              <a:ext uri="{FF2B5EF4-FFF2-40B4-BE49-F238E27FC236}">
                <a16:creationId xmlns:a16="http://schemas.microsoft.com/office/drawing/2014/main" id="{34590E70-C957-4505-BF44-DF608897085C}"/>
              </a:ext>
            </a:extLst>
          </p:cNvPr>
          <p:cNvSpPr>
            <a:spLocks xmlns:a="http://schemas.openxmlformats.org/drawingml/2006/main" noGrp="1"/>
          </p:cNvSpPr>
          <p:nvPr/>
        </p:nvSpPr>
        <p:spPr>
          <a:xfrm xmlns:a="http://schemas.openxmlformats.org/drawingml/2006/main">
            <a:off x="666750" y="323850"/>
            <a:ext cx="981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2D63FF"/>
                </a:solidFill>
                <a:latin typeface="DejaVu Sans"/>
                <a:ea typeface="DejaVu Sans"/>
                <a:cs typeface="DejaVu Sans"/>
              </a:defRPr>
            </a:pPr>
            <a:r>
              <a:rPr sz="1125" b="1">
                <a:solidFill>
                  <a:srgbClr val="2D63FF"/>
                </a:solidFill>
                <a:latin typeface="DejaVu Sans"/>
                <a:ea typeface="DejaVu Sans"/>
                <a:cs typeface="DejaVu Sans"/>
              </a:rPr>
              <a:t>TOPIC 1.2   /   LESSON 01   /   CHECK</a:t>
            </a:r>
          </a:p>
        </p:txBody>
      </p:sp>
      <p:sp>
        <p:nvSpPr>
          <p:cNvPr id="3" name="heading">
            <a:extLst xmlns:a="http://schemas.openxmlformats.org/drawingml/2006/main">
              <a:ext uri="{FF2B5EF4-FFF2-40B4-BE49-F238E27FC236}">
                <a16:creationId xmlns:a16="http://schemas.microsoft.com/office/drawing/2014/main" id="{5844B521-ED7B-4EDC-A13E-E643F9D24C34}"/>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01828"/>
                </a:solidFill>
                <a:latin typeface="DejaVu Sans"/>
                <a:ea typeface="DejaVu Sans"/>
                <a:cs typeface="DejaVu Sans"/>
              </a:defRPr>
            </a:pPr>
            <a:r>
              <a:rPr sz="3225" b="1">
                <a:solidFill>
                  <a:srgbClr val="101828"/>
                </a:solidFill>
                <a:latin typeface="DejaVu Sans"/>
                <a:ea typeface="DejaVu Sans"/>
                <a:cs typeface="DejaVu Sans"/>
              </a:rPr>
              <a:t>Plenary: answer 3</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65ff23e459334650"/>
          <a:stretch xmlns:a="http://schemas.openxmlformats.org/drawingml/2006/main"/>
        </p:blipFill>
        <p:spPr>
          <a:xfrm xmlns:a="http://schemas.openxmlformats.org/drawingml/2006/main">
            <a:off x="666750" y="6241242"/>
            <a:ext cx="2038350" cy="395316"/>
          </a:xfrm>
          <a:prstGeom xmlns:a="http://schemas.openxmlformats.org/drawingml/2006/main" prst="rect">
            <a:avLst/>
          </a:prstGeom>
        </p:spPr>
      </p:pic>
      <p:sp>
        <p:nvSpPr>
          <p:cNvPr id="5" name="page">
            <a:extLst xmlns:a="http://schemas.openxmlformats.org/drawingml/2006/main">
              <a:ext uri="{FF2B5EF4-FFF2-40B4-BE49-F238E27FC236}">
                <a16:creationId xmlns:a16="http://schemas.microsoft.com/office/drawing/2014/main" id="{EABDA319-4E52-4336-8A91-CB3DEBC05B75}"/>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18 / 19</a:t>
            </a:r>
          </a:p>
        </p:txBody>
      </p:sp>
      <p:sp>
        <p:nvSpPr>
          <p:cNvPr id="6" name="scheme-intro">
            <a:extLst xmlns:a="http://schemas.openxmlformats.org/drawingml/2006/main">
              <a:ext uri="{FF2B5EF4-FFF2-40B4-BE49-F238E27FC236}">
                <a16:creationId xmlns:a16="http://schemas.microsoft.com/office/drawing/2014/main" id="{615A4404-5C22-48F1-AFDC-FB3D1D2DB45A}"/>
              </a:ext>
            </a:extLst>
          </p:cNvPr>
          <p:cNvSpPr>
            <a:spLocks xmlns:a="http://schemas.openxmlformats.org/drawingml/2006/main" noGrp="1"/>
          </p:cNvSpPr>
          <p:nvPr/>
        </p:nvSpPr>
        <p:spPr>
          <a:xfrm xmlns:a="http://schemas.openxmlformats.org/drawingml/2006/main">
            <a:off x="704850" y="1533525"/>
            <a:ext cx="10715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26174"/>
                </a:solidFill>
                <a:latin typeface="DejaVu Sans"/>
                <a:ea typeface="DejaVu Sans"/>
                <a:cs typeface="DejaVu Sans"/>
              </a:defRPr>
            </a:pPr>
            <a:r>
              <a:rPr sz="1800" b="0">
                <a:solidFill>
                  <a:srgbClr val="526174"/>
                </a:solidFill>
                <a:latin typeface="DejaVu Sans"/>
                <a:ea typeface="DejaVu Sans"/>
                <a:cs typeface="DejaVu Sans"/>
              </a:rPr>
              <a:t>Indicative points. Credit accurate answers in students’ own words.</a:t>
            </a:r>
          </a:p>
        </p:txBody>
      </p:sp>
      <p:sp>
        <p:nvSpPr>
          <p:cNvPr id="7" name="answer">
            <a:extLst xmlns:a="http://schemas.openxmlformats.org/drawingml/2006/main">
              <a:ext uri="{FF2B5EF4-FFF2-40B4-BE49-F238E27FC236}">
                <a16:creationId xmlns:a16="http://schemas.microsoft.com/office/drawing/2014/main" id="{D3DF0B5B-F6BB-436B-A82E-516FC79E7393}"/>
              </a:ext>
            </a:extLst>
          </p:cNvPr>
          <p:cNvSpPr>
            <a:spLocks xmlns:a="http://schemas.openxmlformats.org/drawingml/2006/main" noGrp="1"/>
          </p:cNvSpPr>
          <p:nvPr/>
        </p:nvSpPr>
        <p:spPr>
          <a:xfrm xmlns:a="http://schemas.openxmlformats.org/drawingml/2006/main">
            <a:off x="723900" y="2714625"/>
            <a:ext cx="10572750" cy="2362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1828"/>
                </a:solidFill>
                <a:latin typeface="DejaVu Sans"/>
                <a:ea typeface="DejaVu Sans"/>
                <a:cs typeface="DejaVu Sans"/>
              </a:defRPr>
            </a:pPr>
            <a:r>
              <a:rPr sz="2100" b="0">
                <a:solidFill>
                  <a:srgbClr val="101828"/>
                </a:solidFill>
                <a:latin typeface="DejaVu Sans"/>
                <a:ea typeface="DejaVu Sans"/>
                <a:cs typeface="DejaVu Sans"/>
              </a:rPr>
              <a:t>c) The CPU needs fast, directly accessible storage for the instructions and data currently in use. Programs are loaded into RAM from slower secondary storage so the CPU can run them efficiently.</a:t>
            </a:r>
          </a:p>
        </p:txBody>
      </p:sp>
    </p:spTree>
    <p:extLst>
      <p:ext uri="{BB962C8B-B14F-4D97-AF65-F5344CB8AC3E}">
        <p14:creationId xmlns:p14="http://schemas.microsoft.com/office/powerpoint/2010/main" val="82559328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ooter background">
            <a:extLst xmlns:a="http://schemas.openxmlformats.org/drawingml/2006/main">
              <a:ext uri="{FF2B5EF4-FFF2-40B4-BE49-F238E27FC236}">
                <a16:creationId xmlns:a16="http://schemas.microsoft.com/office/drawing/2014/main" id="{B55EC664-DA2F-4C77-B435-F7B81A5D88F2}"/>
              </a:ext>
            </a:extLst>
          </p:cNvPr>
          <p:cNvSpPr>
            <a:spLocks xmlns:a="http://schemas.openxmlformats.org/drawingml/2006/main" noGrp="1"/>
          </p:cNvSpPr>
          <p:nvPr/>
        </p:nvSpPr>
        <p:spPr>
          <a:xfrm xmlns:a="http://schemas.openxmlformats.org/drawingml/2006/main">
            <a:off x="0" y="6124575"/>
            <a:ext cx="12192000" cy="7334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topic">
            <a:extLst xmlns:a="http://schemas.openxmlformats.org/drawingml/2006/main">
              <a:ext uri="{FF2B5EF4-FFF2-40B4-BE49-F238E27FC236}">
                <a16:creationId xmlns:a16="http://schemas.microsoft.com/office/drawing/2014/main" id="{638D9341-91D5-4AFF-B433-B8E292D02A54}"/>
              </a:ext>
            </a:extLst>
          </p:cNvPr>
          <p:cNvSpPr>
            <a:spLocks xmlns:a="http://schemas.openxmlformats.org/drawingml/2006/main" noGrp="1"/>
          </p:cNvSpPr>
          <p:nvPr/>
        </p:nvSpPr>
        <p:spPr>
          <a:xfrm xmlns:a="http://schemas.openxmlformats.org/drawingml/2006/main">
            <a:off x="666750" y="323850"/>
            <a:ext cx="981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2D63FF"/>
                </a:solidFill>
                <a:latin typeface="DejaVu Sans"/>
                <a:ea typeface="DejaVu Sans"/>
                <a:cs typeface="DejaVu Sans"/>
              </a:defRPr>
            </a:pPr>
            <a:r>
              <a:rPr sz="1125" b="1">
                <a:solidFill>
                  <a:srgbClr val="2D63FF"/>
                </a:solidFill>
                <a:latin typeface="DejaVu Sans"/>
                <a:ea typeface="DejaVu Sans"/>
                <a:cs typeface="DejaVu Sans"/>
              </a:rPr>
              <a:t>TOPIC 1.2   /   LESSON 01   /   SELF-CHECK</a:t>
            </a:r>
          </a:p>
        </p:txBody>
      </p:sp>
      <p:sp>
        <p:nvSpPr>
          <p:cNvPr id="3" name="heading">
            <a:extLst xmlns:a="http://schemas.openxmlformats.org/drawingml/2006/main">
              <a:ext uri="{FF2B5EF4-FFF2-40B4-BE49-F238E27FC236}">
                <a16:creationId xmlns:a16="http://schemas.microsoft.com/office/drawing/2014/main" id="{40D3197C-8A8E-46C1-B2D1-6AC02C0F6782}"/>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01828"/>
                </a:solidFill>
                <a:latin typeface="DejaVu Sans"/>
                <a:ea typeface="DejaVu Sans"/>
                <a:cs typeface="DejaVu Sans"/>
              </a:defRPr>
            </a:pPr>
            <a:r>
              <a:rPr sz="3225" b="1">
                <a:solidFill>
                  <a:srgbClr val="101828"/>
                </a:solidFill>
                <a:latin typeface="DejaVu Sans"/>
                <a:ea typeface="DejaVu Sans"/>
                <a:cs typeface="DejaVu Sans"/>
              </a:rPr>
              <a:t>How confident am I?</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18be9e8bf1a64895"/>
          <a:stretch xmlns:a="http://schemas.openxmlformats.org/drawingml/2006/main"/>
        </p:blipFill>
        <p:spPr>
          <a:xfrm xmlns:a="http://schemas.openxmlformats.org/drawingml/2006/main">
            <a:off x="666750" y="6241242"/>
            <a:ext cx="2038350" cy="395316"/>
          </a:xfrm>
          <a:prstGeom xmlns:a="http://schemas.openxmlformats.org/drawingml/2006/main" prst="rect">
            <a:avLst/>
          </a:prstGeom>
        </p:spPr>
      </p:pic>
      <p:sp>
        <p:nvSpPr>
          <p:cNvPr id="5" name="page">
            <a:extLst xmlns:a="http://schemas.openxmlformats.org/drawingml/2006/main">
              <a:ext uri="{FF2B5EF4-FFF2-40B4-BE49-F238E27FC236}">
                <a16:creationId xmlns:a16="http://schemas.microsoft.com/office/drawing/2014/main" id="{9AEDB06F-7E10-4C17-8150-7DCBFC7D524C}"/>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19 / 19</a:t>
            </a:r>
          </a:p>
        </p:txBody>
      </p:sp>
      <p:sp>
        <p:nvSpPr>
          <p:cNvPr id="6" name="confidence-intro">
            <a:extLst xmlns:a="http://schemas.openxmlformats.org/drawingml/2006/main">
              <a:ext uri="{FF2B5EF4-FFF2-40B4-BE49-F238E27FC236}">
                <a16:creationId xmlns:a16="http://schemas.microsoft.com/office/drawing/2014/main" id="{1241FACF-C72D-41C0-BF19-C57E6711974D}"/>
              </a:ext>
            </a:extLst>
          </p:cNvPr>
          <p:cNvSpPr>
            <a:spLocks xmlns:a="http://schemas.openxmlformats.org/drawingml/2006/main" noGrp="1"/>
          </p:cNvSpPr>
          <p:nvPr/>
        </p:nvSpPr>
        <p:spPr>
          <a:xfrm xmlns:a="http://schemas.openxmlformats.org/drawingml/2006/main">
            <a:off x="704850" y="1571625"/>
            <a:ext cx="1047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26174"/>
                </a:solidFill>
                <a:latin typeface="DejaVu Sans"/>
                <a:ea typeface="DejaVu Sans"/>
                <a:cs typeface="DejaVu Sans"/>
              </a:defRPr>
            </a:pPr>
            <a:r>
              <a:rPr sz="1800" b="0">
                <a:solidFill>
                  <a:srgbClr val="526174"/>
                </a:solidFill>
                <a:latin typeface="DejaVu Sans"/>
                <a:ea typeface="DejaVu Sans"/>
                <a:cs typeface="DejaVu Sans"/>
              </a:rPr>
              <a:t>Select Not yet, Getting there or Confident for each objective on the worksheet.</a:t>
            </a:r>
          </a:p>
        </p:txBody>
      </p:sp>
      <p:sp>
        <p:nvSpPr>
          <p:cNvPr id="7" name="number-1">
            <a:extLst xmlns:a="http://schemas.openxmlformats.org/drawingml/2006/main">
              <a:ext uri="{FF2B5EF4-FFF2-40B4-BE49-F238E27FC236}">
                <a16:creationId xmlns:a16="http://schemas.microsoft.com/office/drawing/2014/main" id="{41602680-64D2-4F93-8992-610709B3F961}"/>
              </a:ext>
            </a:extLst>
          </p:cNvPr>
          <p:cNvSpPr>
            <a:spLocks xmlns:a="http://schemas.openxmlformats.org/drawingml/2006/main" noGrp="1"/>
          </p:cNvSpPr>
          <p:nvPr/>
        </p:nvSpPr>
        <p:spPr>
          <a:xfrm xmlns:a="http://schemas.openxmlformats.org/drawingml/2006/main">
            <a:off x="723900" y="2514600"/>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2D63FF"/>
                </a:solidFill>
                <a:latin typeface="DejaVu Sans"/>
                <a:ea typeface="DejaVu Sans"/>
                <a:cs typeface="DejaVu Sans"/>
              </a:defRPr>
            </a:pPr>
            <a:r>
              <a:rPr sz="2025" b="1">
                <a:solidFill>
                  <a:srgbClr val="2D63FF"/>
                </a:solidFill>
                <a:latin typeface="DejaVu Sans"/>
                <a:ea typeface="DejaVu Sans"/>
                <a:cs typeface="DejaVu Sans"/>
              </a:rPr>
              <a:t>1.</a:t>
            </a:r>
          </a:p>
        </p:txBody>
      </p:sp>
      <p:sp>
        <p:nvSpPr>
          <p:cNvPr id="8" name="item-1">
            <a:extLst xmlns:a="http://schemas.openxmlformats.org/drawingml/2006/main">
              <a:ext uri="{FF2B5EF4-FFF2-40B4-BE49-F238E27FC236}">
                <a16:creationId xmlns:a16="http://schemas.microsoft.com/office/drawing/2014/main" id="{AEB49147-E717-4B65-B21E-29D8691FDABF}"/>
              </a:ext>
            </a:extLst>
          </p:cNvPr>
          <p:cNvSpPr>
            <a:spLocks xmlns:a="http://schemas.openxmlformats.org/drawingml/2006/main" noGrp="1"/>
          </p:cNvSpPr>
          <p:nvPr/>
        </p:nvSpPr>
        <p:spPr>
          <a:xfrm xmlns:a="http://schemas.openxmlformats.org/drawingml/2006/main">
            <a:off x="1352550" y="2514600"/>
            <a:ext cx="99250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01828"/>
                </a:solidFill>
                <a:latin typeface="DejaVu Sans"/>
                <a:ea typeface="DejaVu Sans"/>
                <a:cs typeface="DejaVu Sans"/>
              </a:defRPr>
            </a:pPr>
            <a:r>
              <a:rPr sz="2025" b="0">
                <a:solidFill>
                  <a:srgbClr val="101828"/>
                </a:solidFill>
                <a:latin typeface="DejaVu Sans"/>
                <a:ea typeface="DejaVu Sans"/>
                <a:cs typeface="DejaVu Sans"/>
              </a:rPr>
              <a:t>The need for primary storage</a:t>
            </a:r>
          </a:p>
        </p:txBody>
      </p:sp>
      <p:sp>
        <p:nvSpPr>
          <p:cNvPr id="9" name="number-2">
            <a:extLst xmlns:a="http://schemas.openxmlformats.org/drawingml/2006/main">
              <a:ext uri="{FF2B5EF4-FFF2-40B4-BE49-F238E27FC236}">
                <a16:creationId xmlns:a16="http://schemas.microsoft.com/office/drawing/2014/main" id="{7F6C7319-FCF8-49A9-BD2A-4BA0523602F8}"/>
              </a:ext>
            </a:extLst>
          </p:cNvPr>
          <p:cNvSpPr>
            <a:spLocks xmlns:a="http://schemas.openxmlformats.org/drawingml/2006/main" noGrp="1"/>
          </p:cNvSpPr>
          <p:nvPr/>
        </p:nvSpPr>
        <p:spPr>
          <a:xfrm xmlns:a="http://schemas.openxmlformats.org/drawingml/2006/main">
            <a:off x="723900" y="3543300"/>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2D63FF"/>
                </a:solidFill>
                <a:latin typeface="DejaVu Sans"/>
                <a:ea typeface="DejaVu Sans"/>
                <a:cs typeface="DejaVu Sans"/>
              </a:defRPr>
            </a:pPr>
            <a:r>
              <a:rPr sz="2025" b="1">
                <a:solidFill>
                  <a:srgbClr val="2D63FF"/>
                </a:solidFill>
                <a:latin typeface="DejaVu Sans"/>
                <a:ea typeface="DejaVu Sans"/>
                <a:cs typeface="DejaVu Sans"/>
              </a:rPr>
              <a:t>2.</a:t>
            </a:r>
          </a:p>
        </p:txBody>
      </p:sp>
      <p:sp>
        <p:nvSpPr>
          <p:cNvPr id="10" name="item-2">
            <a:extLst xmlns:a="http://schemas.openxmlformats.org/drawingml/2006/main">
              <a:ext uri="{FF2B5EF4-FFF2-40B4-BE49-F238E27FC236}">
                <a16:creationId xmlns:a16="http://schemas.microsoft.com/office/drawing/2014/main" id="{6A88A49D-5B71-4D02-804A-8AF4D6D852AD}"/>
              </a:ext>
            </a:extLst>
          </p:cNvPr>
          <p:cNvSpPr>
            <a:spLocks xmlns:a="http://schemas.openxmlformats.org/drawingml/2006/main" noGrp="1"/>
          </p:cNvSpPr>
          <p:nvPr/>
        </p:nvSpPr>
        <p:spPr>
          <a:xfrm xmlns:a="http://schemas.openxmlformats.org/drawingml/2006/main">
            <a:off x="1352550" y="3543300"/>
            <a:ext cx="99250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01828"/>
                </a:solidFill>
                <a:latin typeface="DejaVu Sans"/>
                <a:ea typeface="DejaVu Sans"/>
                <a:cs typeface="DejaVu Sans"/>
              </a:defRPr>
            </a:pPr>
            <a:r>
              <a:rPr sz="2025" b="0">
                <a:solidFill>
                  <a:srgbClr val="101828"/>
                </a:solidFill>
                <a:latin typeface="DejaVu Sans"/>
                <a:ea typeface="DejaVu Sans"/>
                <a:cs typeface="DejaVu Sans"/>
              </a:rPr>
              <a:t>The purpose of RAM</a:t>
            </a:r>
          </a:p>
        </p:txBody>
      </p:sp>
      <p:sp>
        <p:nvSpPr>
          <p:cNvPr id="11" name="number-3">
            <a:extLst xmlns:a="http://schemas.openxmlformats.org/drawingml/2006/main">
              <a:ext uri="{FF2B5EF4-FFF2-40B4-BE49-F238E27FC236}">
                <a16:creationId xmlns:a16="http://schemas.microsoft.com/office/drawing/2014/main" id="{E9D2BF91-4668-490E-B426-95F86FBE88F8}"/>
              </a:ext>
            </a:extLst>
          </p:cNvPr>
          <p:cNvSpPr>
            <a:spLocks xmlns:a="http://schemas.openxmlformats.org/drawingml/2006/main" noGrp="1"/>
          </p:cNvSpPr>
          <p:nvPr/>
        </p:nvSpPr>
        <p:spPr>
          <a:xfrm xmlns:a="http://schemas.openxmlformats.org/drawingml/2006/main">
            <a:off x="723900" y="4572000"/>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2D63FF"/>
                </a:solidFill>
                <a:latin typeface="DejaVu Sans"/>
                <a:ea typeface="DejaVu Sans"/>
                <a:cs typeface="DejaVu Sans"/>
              </a:defRPr>
            </a:pPr>
            <a:r>
              <a:rPr sz="2025" b="1">
                <a:solidFill>
                  <a:srgbClr val="2D63FF"/>
                </a:solidFill>
                <a:latin typeface="DejaVu Sans"/>
                <a:ea typeface="DejaVu Sans"/>
                <a:cs typeface="DejaVu Sans"/>
              </a:rPr>
              <a:t>3.</a:t>
            </a:r>
          </a:p>
        </p:txBody>
      </p:sp>
      <p:sp>
        <p:nvSpPr>
          <p:cNvPr id="12" name="item-3">
            <a:extLst xmlns:a="http://schemas.openxmlformats.org/drawingml/2006/main">
              <a:ext uri="{FF2B5EF4-FFF2-40B4-BE49-F238E27FC236}">
                <a16:creationId xmlns:a16="http://schemas.microsoft.com/office/drawing/2014/main" id="{82C99833-2365-4E95-8D6F-A4A64C74AE17}"/>
              </a:ext>
            </a:extLst>
          </p:cNvPr>
          <p:cNvSpPr>
            <a:spLocks xmlns:a="http://schemas.openxmlformats.org/drawingml/2006/main" noGrp="1"/>
          </p:cNvSpPr>
          <p:nvPr/>
        </p:nvSpPr>
        <p:spPr>
          <a:xfrm xmlns:a="http://schemas.openxmlformats.org/drawingml/2006/main">
            <a:off x="1352550" y="4572000"/>
            <a:ext cx="99250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01828"/>
                </a:solidFill>
                <a:latin typeface="DejaVu Sans"/>
                <a:ea typeface="DejaVu Sans"/>
                <a:cs typeface="DejaVu Sans"/>
              </a:defRPr>
            </a:pPr>
            <a:r>
              <a:rPr sz="2025" b="0">
                <a:solidFill>
                  <a:srgbClr val="101828"/>
                </a:solidFill>
                <a:latin typeface="DejaVu Sans"/>
                <a:ea typeface="DejaVu Sans"/>
                <a:cs typeface="DejaVu Sans"/>
              </a:rPr>
              <a:t>The purpose of ROM</a:t>
            </a:r>
          </a:p>
        </p:txBody>
      </p:sp>
    </p:spTree>
    <p:extLst>
      <p:ext uri="{BB962C8B-B14F-4D97-AF65-F5344CB8AC3E}">
        <p14:creationId xmlns:p14="http://schemas.microsoft.com/office/powerpoint/2010/main" val="200334007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2026-09-25T13:17:47.5620000Z</dcterms:created>
  <dcterms:modified xsi:type="dcterms:W3CDTF">2026-09-25T13:17:47.5620000Z</dcterms:modified>
</coreProperties>
</file>