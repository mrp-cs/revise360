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b2401297b9455e" /><Relationship Type="http://schemas.openxmlformats.org/officeDocument/2006/relationships/extended-properties" Target="/docProps/app.xml" Id="R3f0c6343a4bb4e92" /><Relationship Type="http://schemas.openxmlformats.org/officeDocument/2006/relationships/officeDocument" Target="/ppt/presentation.xml" Id="Rded6df3dd1b047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7d4f0732044ba5"/>
  </p:sldMasterIdLst>
  <p:notesMasterIdLst>
    <p:notesMasterId xmlns:r="http://schemas.openxmlformats.org/officeDocument/2006/relationships" r:id="R1fdd6fc058e5451e"/>
  </p:notesMasterIdLst>
  <p:sldIdLst>
    <p:sldId xmlns:r="http://schemas.openxmlformats.org/officeDocument/2006/relationships" id="256" r:id="Rebc08e84990f4f0a"/>
    <p:sldId xmlns:r="http://schemas.openxmlformats.org/officeDocument/2006/relationships" id="257" r:id="Rd6726e423d484e47"/>
    <p:sldId xmlns:r="http://schemas.openxmlformats.org/officeDocument/2006/relationships" id="258" r:id="Rdc5f608113284a87"/>
    <p:sldId xmlns:r="http://schemas.openxmlformats.org/officeDocument/2006/relationships" id="259" r:id="R59a3185894374c3d"/>
    <p:sldId xmlns:r="http://schemas.openxmlformats.org/officeDocument/2006/relationships" id="260" r:id="Ra7a6bce822a646a8"/>
    <p:sldId xmlns:r="http://schemas.openxmlformats.org/officeDocument/2006/relationships" id="261" r:id="Rc84b5d971fd74ef0"/>
    <p:sldId xmlns:r="http://schemas.openxmlformats.org/officeDocument/2006/relationships" id="262" r:id="R81bf3d9f9a634daa"/>
    <p:sldId xmlns:r="http://schemas.openxmlformats.org/officeDocument/2006/relationships" id="263" r:id="R15ddd88c77fa48bd"/>
    <p:sldId xmlns:r="http://schemas.openxmlformats.org/officeDocument/2006/relationships" id="264" r:id="Rd9441c89b8e84ccd"/>
    <p:sldId xmlns:r="http://schemas.openxmlformats.org/officeDocument/2006/relationships" id="265" r:id="R133b5fa359904147"/>
    <p:sldId xmlns:r="http://schemas.openxmlformats.org/officeDocument/2006/relationships" id="266" r:id="Rad7b7ffa16b64929"/>
    <p:sldId xmlns:r="http://schemas.openxmlformats.org/officeDocument/2006/relationships" id="267" r:id="R3236ca58437d45e5"/>
    <p:sldId xmlns:r="http://schemas.openxmlformats.org/officeDocument/2006/relationships" id="268" r:id="Ra1678e8dfc0d49a6"/>
    <p:sldId xmlns:r="http://schemas.openxmlformats.org/officeDocument/2006/relationships" id="269" r:id="Rc699359a135c47fe"/>
    <p:sldId xmlns:r="http://schemas.openxmlformats.org/officeDocument/2006/relationships" id="270" r:id="Rf61ec1c8c97f4151"/>
    <p:sldId xmlns:r="http://schemas.openxmlformats.org/officeDocument/2006/relationships" id="271" r:id="R9d80b52916754f44"/>
    <p:sldId xmlns:r="http://schemas.openxmlformats.org/officeDocument/2006/relationships" id="272" r:id="Rcd14d3df821d4743"/>
    <p:sldId xmlns:r="http://schemas.openxmlformats.org/officeDocument/2006/relationships" id="273" r:id="Rb1be4eea3e7b42df"/>
    <p:sldId xmlns:r="http://schemas.openxmlformats.org/officeDocument/2006/relationships" id="274" r:id="R623ae9eb21b14e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4d308f10734e34" /><Relationship Type="http://schemas.openxmlformats.org/officeDocument/2006/relationships/slideMaster" Target="/ppt/slideMasters/slideMaster1.xml" Id="Rde7d4f0732044ba5" /><Relationship Type="http://schemas.openxmlformats.org/officeDocument/2006/relationships/notesMaster" Target="/ppt/notesMasters/notesMaster1.xml" Id="R1fdd6fc058e5451e" /><Relationship Type="http://schemas.openxmlformats.org/officeDocument/2006/relationships/presProps" Target="/ppt/presProps.xml" Id="Ra454343a512a4b16" /><Relationship Type="http://schemas.openxmlformats.org/officeDocument/2006/relationships/tableStyles" Target="/ppt/tableStyles.xml" Id="R571385cdb51241c4" /><Relationship Type="http://schemas.openxmlformats.org/officeDocument/2006/relationships/slide" Target="/ppt/slides/slide1.xml" Id="Rebc08e84990f4f0a" /><Relationship Type="http://schemas.openxmlformats.org/officeDocument/2006/relationships/slide" Target="/ppt/slides/slide2.xml" Id="Rd6726e423d484e47" /><Relationship Type="http://schemas.openxmlformats.org/officeDocument/2006/relationships/slide" Target="/ppt/slides/slide3.xml" Id="Rdc5f608113284a87" /><Relationship Type="http://schemas.openxmlformats.org/officeDocument/2006/relationships/slide" Target="/ppt/slides/slide4.xml" Id="R59a3185894374c3d" /><Relationship Type="http://schemas.openxmlformats.org/officeDocument/2006/relationships/slide" Target="/ppt/slides/slide5.xml" Id="Ra7a6bce822a646a8" /><Relationship Type="http://schemas.openxmlformats.org/officeDocument/2006/relationships/slide" Target="/ppt/slides/slide6.xml" Id="Rc84b5d971fd74ef0" /><Relationship Type="http://schemas.openxmlformats.org/officeDocument/2006/relationships/slide" Target="/ppt/slides/slide7.xml" Id="R81bf3d9f9a634daa" /><Relationship Type="http://schemas.openxmlformats.org/officeDocument/2006/relationships/slide" Target="/ppt/slides/slide8.xml" Id="R15ddd88c77fa48bd" /><Relationship Type="http://schemas.openxmlformats.org/officeDocument/2006/relationships/slide" Target="/ppt/slides/slide9.xml" Id="Rd9441c89b8e84ccd" /><Relationship Type="http://schemas.openxmlformats.org/officeDocument/2006/relationships/slide" Target="/ppt/slides/slide10.xml" Id="R133b5fa359904147" /><Relationship Type="http://schemas.openxmlformats.org/officeDocument/2006/relationships/slide" Target="/ppt/slides/slide11.xml" Id="Rad7b7ffa16b64929" /><Relationship Type="http://schemas.openxmlformats.org/officeDocument/2006/relationships/slide" Target="/ppt/slides/slide12.xml" Id="R3236ca58437d45e5" /><Relationship Type="http://schemas.openxmlformats.org/officeDocument/2006/relationships/slide" Target="/ppt/slides/slide13.xml" Id="Ra1678e8dfc0d49a6" /><Relationship Type="http://schemas.openxmlformats.org/officeDocument/2006/relationships/slide" Target="/ppt/slides/slide14.xml" Id="Rc699359a135c47fe" /><Relationship Type="http://schemas.openxmlformats.org/officeDocument/2006/relationships/slide" Target="/ppt/slides/slide15.xml" Id="Rf61ec1c8c97f4151" /><Relationship Type="http://schemas.openxmlformats.org/officeDocument/2006/relationships/slide" Target="/ppt/slides/slide16.xml" Id="R9d80b52916754f44" /><Relationship Type="http://schemas.openxmlformats.org/officeDocument/2006/relationships/slide" Target="/ppt/slides/slide17.xml" Id="Rcd14d3df821d4743" /><Relationship Type="http://schemas.openxmlformats.org/officeDocument/2006/relationships/slide" Target="/ppt/slides/slide18.xml" Id="Rb1be4eea3e7b42df" /><Relationship Type="http://schemas.openxmlformats.org/officeDocument/2006/relationships/slide" Target="/ppt/slides/slide19.xml" Id="R623ae9eb21b14e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e9db0732634d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c45bfe470b4ae7" /><Relationship Type="http://schemas.openxmlformats.org/officeDocument/2006/relationships/notesMaster" Target="/ppt/notesMasters/notesMaster1.xml" Id="R79694e6d0d6e4a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8d63091ceb431a" /><Relationship Type="http://schemas.openxmlformats.org/officeDocument/2006/relationships/notesMaster" Target="/ppt/notesMasters/notesMaster1.xml" Id="R177033cf9c034f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1bbac2175c46c9" /><Relationship Type="http://schemas.openxmlformats.org/officeDocument/2006/relationships/notesMaster" Target="/ppt/notesMasters/notesMaster1.xml" Id="R2dcea935ca0e43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f9519753f349fc" /><Relationship Type="http://schemas.openxmlformats.org/officeDocument/2006/relationships/notesMaster" Target="/ppt/notesMasters/notesMaster1.xml" Id="Rca0dcfb1561142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a6435a69594615" /><Relationship Type="http://schemas.openxmlformats.org/officeDocument/2006/relationships/notesMaster" Target="/ppt/notesMasters/notesMaster1.xml" Id="Rc8be5cb7cab847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e9dc0519534737" /><Relationship Type="http://schemas.openxmlformats.org/officeDocument/2006/relationships/notesMaster" Target="/ppt/notesMasters/notesMaster1.xml" Id="R7c8b0b1b753e4b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b8da43e0874385" /><Relationship Type="http://schemas.openxmlformats.org/officeDocument/2006/relationships/notesMaster" Target="/ppt/notesMasters/notesMaster1.xml" Id="R03f684ee183941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4baeeefbda4757" /><Relationship Type="http://schemas.openxmlformats.org/officeDocument/2006/relationships/notesMaster" Target="/ppt/notesMasters/notesMaster1.xml" Id="R6b77746bdba74d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eab03a3c514079" /><Relationship Type="http://schemas.openxmlformats.org/officeDocument/2006/relationships/notesMaster" Target="/ppt/notesMasters/notesMaster1.xml" Id="R9e6e590a5ebf4f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0f0bfc6ff65441b" /><Relationship Type="http://schemas.openxmlformats.org/officeDocument/2006/relationships/notesMaster" Target="/ppt/notesMasters/notesMaster1.xml" Id="Rf806364ed83a45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cd98f31237747ff" /><Relationship Type="http://schemas.openxmlformats.org/officeDocument/2006/relationships/notesMaster" Target="/ppt/notesMasters/notesMaster1.xml" Id="Re4a46184b56c4d2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1c93d5deeb64e99" /><Relationship Type="http://schemas.openxmlformats.org/officeDocument/2006/relationships/notesMaster" Target="/ppt/notesMasters/notesMaster1.xml" Id="Rdf92cd6d51c342c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b33d2f561174838" /><Relationship Type="http://schemas.openxmlformats.org/officeDocument/2006/relationships/notesMaster" Target="/ppt/notesMasters/notesMaster1.xml" Id="R2df05d3a2a23411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e7be576cf784f80" /><Relationship Type="http://schemas.openxmlformats.org/officeDocument/2006/relationships/notesMaster" Target="/ppt/notesMasters/notesMaster1.xml" Id="R2c0fac55f91d4cd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8d5d0ff1a5e4fb2" /><Relationship Type="http://schemas.openxmlformats.org/officeDocument/2006/relationships/notesMaster" Target="/ppt/notesMasters/notesMaster1.xml" Id="R8e2096a3728148f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1f2d331c4674623" /><Relationship Type="http://schemas.openxmlformats.org/officeDocument/2006/relationships/notesMaster" Target="/ppt/notesMasters/notesMaster1.xml" Id="Rda898fa56ed54ca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eb7c7721eae4893" /><Relationship Type="http://schemas.openxmlformats.org/officeDocument/2006/relationships/notesMaster" Target="/ppt/notesMasters/notesMaster1.xml" Id="Ra3a9c58c035d4b8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f869cb385d34f7a" /><Relationship Type="http://schemas.openxmlformats.org/officeDocument/2006/relationships/notesMaster" Target="/ppt/notesMasters/notesMaster1.xml" Id="Rc290cbf073b54d3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f1b1af8d1ee4fae" /><Relationship Type="http://schemas.openxmlformats.org/officeDocument/2006/relationships/notesMaster" Target="/ppt/notesMasters/notesMaster1.xml" Id="Rd60873eaac0148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image shows the actual opening scene of the experience. Begin with the worksheet starter, or the brief opening question for lessons without one.</a:t>
            </a:r>
          </a:p>
          <a:p xmlns:a="http://schemas.openxmlformats.org/drawingml/2006/main">
            <a:r>
              <a:t>Sources: Revise 360 experiences/nw-l12.json and worksheets/NW_L12_ProtocolCity_Worksheet.docx.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learning outcomes follow the lesson worksheet.</a:t>
            </a:r>
          </a:p>
          <a:p xmlns:a="http://schemas.openxmlformats.org/drawingml/2006/main">
            <a:r>
              <a:t>Sources: Revise 360 experiences/nw-l12.json and worksheets/NW_L12_ProtocolCity_Worksheet.docx.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answer the worksheet starter before showing the sample answers.</a:t>
            </a:r>
          </a:p>
          <a:p xmlns:a="http://schemas.openxmlformats.org/drawingml/2006/main">
            <a:r>
              <a:t>Sources: Revise 360 experiences/nw-l12.json and worksheets/NW_L12_ProtocolCity_Worksheet.docx.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Accept equivalent correct explanations. Reveal after the question so it can be marked as students go.</a:t>
            </a:r>
          </a:p>
          <a:p xmlns:a="http://schemas.openxmlformats.org/drawingml/2006/main">
            <a:r>
              <a:t>Sources: Revise 360 experiences/nw-l12.json and worksheets/NW_L12_ProtocolCity_Worksheet.docx.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define the exact terms listed on their worksheet.</a:t>
            </a:r>
          </a:p>
          <a:p xmlns:a="http://schemas.openxmlformats.org/drawingml/2006/main">
            <a:r>
              <a:t>Sources: Revise 360 experiences/nw-l12.json and worksheets/NW_L12_ProtocolCity_Worksheet.docx.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after the key terminology quiz. Accept accurate definitions in students’ own words.</a:t>
            </a:r>
          </a:p>
          <a:p xmlns:a="http://schemas.openxmlformats.org/drawingml/2006/main">
            <a:r>
              <a:t>Sources: Revise 360 experiences/nw-l12.json and worksheets/NW_L12_ProtocolCity_Worksheet.docx.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Leave this combined worksheet and experience instruction slide on the board. The OPEN EXPERIENCE label is a clickable link. Students should complete the experience and reach the plenary near the end of the lesson. First on-screen answers count.</a:t>
            </a:r>
          </a:p>
          <a:p xmlns:a="http://schemas.openxmlformats.org/drawingml/2006/main">
            <a:r>
              <a:t>Sources: Revise 360 experiences/nw-l12.json and worksheets/NW_L12_ProtocolCity_Worksheet.docx.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follows the post-experience task, key question or revision results on the worksheet.</a:t>
            </a:r>
          </a:p>
          <a:p xmlns:a="http://schemas.openxmlformats.org/drawingml/2006/main">
            <a:r>
              <a:t>Sources: Revise 360 experiences/nw-l12.json and worksheets/NW_L12_ProtocolCity_Worksheet.docx.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question to extend or improve an explanation before the plenary.</a:t>
            </a:r>
          </a:p>
          <a:p xmlns:a="http://schemas.openxmlformats.org/drawingml/2006/main">
            <a:r>
              <a:t>Sources: Revise 360 experiences/nw-l12.json and worksheets/NW_L12_ProtocolCity_Worksheet.docx.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indicative answers. Credit other accurate examples or justified choices.</a:t>
            </a:r>
          </a:p>
          <a:p xmlns:a="http://schemas.openxmlformats.org/drawingml/2006/main">
            <a:r>
              <a:t>Sources: Revise 360 experiences/nw-l12.json and worksheets/NW_L12_ProtocolCity_Worksheet.docx.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after completion. These concise points address the worksheet station challenges and help students improve their own wording.</a:t>
            </a:r>
          </a:p>
          <a:p xmlns:a="http://schemas.openxmlformats.org/drawingml/2006/main">
            <a:r>
              <a:t>Sources: Revise 360 experiences/nw-l12.json and worksheets/NW_L12_ProtocolCity_Worksheet.docx.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after completion. These concise points address the worksheet station challenges and help students improve their own wording.</a:t>
            </a:r>
          </a:p>
          <a:p xmlns:a="http://schemas.openxmlformats.org/drawingml/2006/main">
            <a:r>
              <a:t>Sources: Revise 360 experiences/nw-l12.json and worksheets/NW_L12_ProtocolCity_Worksheet.docx.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matches, sort categories or ordered steps from the interactive experience task. Use them to check the corresponding worksheet work.</a:t>
            </a:r>
          </a:p>
          <a:p xmlns:a="http://schemas.openxmlformats.org/drawingml/2006/main">
            <a:r>
              <a:t>Sources: Revise 360 experiences/nw-l12.json and worksheets/NW_L12_ProtocolCity_Worksheet.docx.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matches, sort categories or ordered steps from the interactive experience task. Use them to check the corresponding worksheet work.</a:t>
            </a:r>
          </a:p>
          <a:p xmlns:a="http://schemas.openxmlformats.org/drawingml/2006/main">
            <a:r>
              <a:t>Sources: Revise 360 experiences/nw-l12.json and worksheets/NW_L12_ProtocolCity_Worksheet.docx.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exit, exam-practice or test-ready questions from the worksheet. Allow independent writing before the answers.</a:t>
            </a:r>
          </a:p>
          <a:p xmlns:a="http://schemas.openxmlformats.org/drawingml/2006/main">
            <a:r>
              <a:t>Sources: Revise 360 experiences/nw-l12.json and worksheets/NW_L12_ProtocolCity_Worksheet.docx.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exit, exam-practice or test-ready questions from the worksheet. Allow independent writing before the answers.</a:t>
            </a:r>
          </a:p>
          <a:p xmlns:a="http://schemas.openxmlformats.org/drawingml/2006/main">
            <a:r>
              <a:t>Sources: Revise 360 experiences/nw-l12.json and worksheets/NW_L12_ProtocolCity_Worksheet.docx.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answer points, not an official OCR mark scheme. Ask students to improve one answer.</a:t>
            </a:r>
          </a:p>
          <a:p xmlns:a="http://schemas.openxmlformats.org/drawingml/2006/main">
            <a:r>
              <a:t>Sources: Revise 360 experiences/nw-l12.json and worksheets/NW_L12_ProtocolCity_Worksheet.docx.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answer points, not an official OCR mark scheme. Ask students to improve one answer.</a:t>
            </a:r>
          </a:p>
          <a:p xmlns:a="http://schemas.openxmlformats.org/drawingml/2006/main">
            <a:r>
              <a:t>Sources: Revise 360 experiences/nw-l12.json and worksheets/NW_L12_ProtocolCity_Worksheet.docx.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confidence objectives from the worksheet. Students identify one area to revisit.</a:t>
            </a:r>
          </a:p>
          <a:p xmlns:a="http://schemas.openxmlformats.org/drawingml/2006/main">
            <a:r>
              <a:t>Sources: Revise 360 experiences/nw-l12.json and worksheets/NW_L12_ProtocolCity_Worksheet.docx.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eb3cda6ac04a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350a8210bd4470" /><Relationship Type="http://schemas.openxmlformats.org/officeDocument/2006/relationships/slideLayout" Target="/ppt/slideLayouts/slideLayout1.xml" Id="R668bc8905b4e44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8bc8905b4e44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8dced0cfa49c0" /><Relationship Type="http://schemas.openxmlformats.org/officeDocument/2006/relationships/image" Target="/ppt/media/image.png" Id="R02d5a0c9d4f245cb" /><Relationship Type="http://schemas.openxmlformats.org/officeDocument/2006/relationships/image" Target="/ppt/media/image.jpeg" Id="R5e635ec2f28a4853" /><Relationship Type="http://schemas.openxmlformats.org/officeDocument/2006/relationships/notesSlide" Target="/ppt/notesSlides/notesSlide1.xml" Id="Rf6d841e9656246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4d381bf514b15" /><Relationship Type="http://schemas.openxmlformats.org/officeDocument/2006/relationships/image" Target="/ppt/media/image2.png" Id="R17cf5bd412034318" /><Relationship Type="http://schemas.openxmlformats.org/officeDocument/2006/relationships/notesSlide" Target="/ppt/notesSlides/notesSlide2.xml" Id="R1653fc4e3f7040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1181ef22645fd" /><Relationship Type="http://schemas.openxmlformats.org/officeDocument/2006/relationships/image" Target="/ppt/media/image3.png" Id="R648df4f615224a03" /><Relationship Type="http://schemas.openxmlformats.org/officeDocument/2006/relationships/notesSlide" Target="/ppt/notesSlides/notesSlide3.xml" Id="Rc8c409bfab9f47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34383d5ce415b" /><Relationship Type="http://schemas.openxmlformats.org/officeDocument/2006/relationships/image" Target="/ppt/media/image4.png" Id="R8cc97dda071d4f68" /><Relationship Type="http://schemas.openxmlformats.org/officeDocument/2006/relationships/notesSlide" Target="/ppt/notesSlides/notesSlide4.xml" Id="Rd3efc2bb271840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e1d957fd7474f" /><Relationship Type="http://schemas.openxmlformats.org/officeDocument/2006/relationships/image" Target="/ppt/media/image5.png" Id="Rf31ef5a0abc04df0" /><Relationship Type="http://schemas.openxmlformats.org/officeDocument/2006/relationships/notesSlide" Target="/ppt/notesSlides/notesSlide5.xml" Id="Rb510e75b4d694d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560816977416f" /><Relationship Type="http://schemas.openxmlformats.org/officeDocument/2006/relationships/image" Target="/ppt/media/image6.png" Id="Rb9059bf110414b60" /><Relationship Type="http://schemas.openxmlformats.org/officeDocument/2006/relationships/notesSlide" Target="/ppt/notesSlides/notesSlide6.xml" Id="Ra773c30b83704f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a325a5c64e4390" /><Relationship Type="http://schemas.openxmlformats.org/officeDocument/2006/relationships/image" Target="/ppt/media/image7.png" Id="Radb1b879670743c0" /><Relationship Type="http://schemas.openxmlformats.org/officeDocument/2006/relationships/hyperlink" Target="https://mrp-cs.github.io/Revise360/experience.html?id=nw-l12" TargetMode="External" Id="R8d4d472b73334fa8" /><Relationship Type="http://schemas.openxmlformats.org/officeDocument/2006/relationships/notesSlide" Target="/ppt/notesSlides/notesSlide7.xml" Id="R42b4aa4883c646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5d98b837f42ff" /><Relationship Type="http://schemas.openxmlformats.org/officeDocument/2006/relationships/image" Target="/ppt/media/image8.png" Id="R976a8094818749a7" /><Relationship Type="http://schemas.openxmlformats.org/officeDocument/2006/relationships/notesSlide" Target="/ppt/notesSlides/notesSlide8.xml" Id="R099a2b98acbd49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57d4ad2fd4aaa" /><Relationship Type="http://schemas.openxmlformats.org/officeDocument/2006/relationships/image" Target="/ppt/media/image9.png" Id="Rfcce3706113143aa" /><Relationship Type="http://schemas.openxmlformats.org/officeDocument/2006/relationships/notesSlide" Target="/ppt/notesSlides/notesSlide9.xml" Id="R6aac5d1ef0b94f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c866851fa4f72" /><Relationship Type="http://schemas.openxmlformats.org/officeDocument/2006/relationships/image" Target="/ppt/media/image10.png" Id="Re19c1b5d89f244c2" /><Relationship Type="http://schemas.openxmlformats.org/officeDocument/2006/relationships/notesSlide" Target="/ppt/notesSlides/notesSlide10.xml" Id="R8b5fbdb4965d42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8243c56da4f54" /><Relationship Type="http://schemas.openxmlformats.org/officeDocument/2006/relationships/image" Target="/ppt/media/image11.png" Id="R3ea8c801e50a411d" /><Relationship Type="http://schemas.openxmlformats.org/officeDocument/2006/relationships/notesSlide" Target="/ppt/notesSlides/notesSlide11.xml" Id="R5fccf3e1d1e94c7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2e6d2b10994a69" /><Relationship Type="http://schemas.openxmlformats.org/officeDocument/2006/relationships/image" Target="/ppt/media/image12.png" Id="R7b6f602552864266" /><Relationship Type="http://schemas.openxmlformats.org/officeDocument/2006/relationships/notesSlide" Target="/ppt/notesSlides/notesSlide12.xml" Id="R2729f4ac125e406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f1759cdaf4e24" /><Relationship Type="http://schemas.openxmlformats.org/officeDocument/2006/relationships/image" Target="/ppt/media/image13.png" Id="Raf0f579b7f2d4b02" /><Relationship Type="http://schemas.openxmlformats.org/officeDocument/2006/relationships/notesSlide" Target="/ppt/notesSlides/notesSlide13.xml" Id="R10042d3f793d43e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16b6e64d64855" /><Relationship Type="http://schemas.openxmlformats.org/officeDocument/2006/relationships/image" Target="/ppt/media/image14.png" Id="Rfcad8e3531494a31" /><Relationship Type="http://schemas.openxmlformats.org/officeDocument/2006/relationships/notesSlide" Target="/ppt/notesSlides/notesSlide14.xml" Id="Rb29eb8431a9742f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fda4fb71e42e9" /><Relationship Type="http://schemas.openxmlformats.org/officeDocument/2006/relationships/image" Target="/ppt/media/image15.png" Id="R6d545c0c7c304e79" /><Relationship Type="http://schemas.openxmlformats.org/officeDocument/2006/relationships/notesSlide" Target="/ppt/notesSlides/notesSlide15.xml" Id="R18a5a76de6fd4ff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4bb8e2dc34986" /><Relationship Type="http://schemas.openxmlformats.org/officeDocument/2006/relationships/image" Target="/ppt/media/image16.png" Id="Rba19cfb3d7d34ca6" /><Relationship Type="http://schemas.openxmlformats.org/officeDocument/2006/relationships/notesSlide" Target="/ppt/notesSlides/notesSlide16.xml" Id="Rbb734e0a3274426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64a97993d4285" /><Relationship Type="http://schemas.openxmlformats.org/officeDocument/2006/relationships/image" Target="/ppt/media/image17.png" Id="Re104ee6ae4434764" /><Relationship Type="http://schemas.openxmlformats.org/officeDocument/2006/relationships/notesSlide" Target="/ppt/notesSlides/notesSlide17.xml" Id="Rf689a99fe6544b0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4498ba02849cd" /><Relationship Type="http://schemas.openxmlformats.org/officeDocument/2006/relationships/image" Target="/ppt/media/image18.png" Id="R756c8a2971424bae" /><Relationship Type="http://schemas.openxmlformats.org/officeDocument/2006/relationships/notesSlide" Target="/ppt/notesSlides/notesSlide18.xml" Id="R002a1f80510e4a4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d0f37c9cba4a52" /><Relationship Type="http://schemas.openxmlformats.org/officeDocument/2006/relationships/image" Target="/ppt/media/image19.png" Id="Rd14e7cc44da04fea" /><Relationship Type="http://schemas.openxmlformats.org/officeDocument/2006/relationships/notesSlide" Target="/ppt/notesSlides/notesSlide19.xml" Id="Rb22b7b68dba640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EBED8E3-1F05-4F67-894D-5CDF30D8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07B1E3BE-C262-4149-9142-87ADCA17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1.3   /   LESSON 12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280F035-034B-4E3F-BF66-D59DFAC2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PROTOCOL CITY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d5a0c9d4f245c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FB6111F-58C1-4C7B-B3D4-2AC6C111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 / 19</a:t>
            </a:r>
          </a:p>
        </p:txBody>
      </p:sp>
      <p:sp>
        <p:nvSpPr>
          <p:cNvPr id="6" name="subject">
            <a:extLst xmlns:a="http://schemas.openxmlformats.org/drawingml/2006/main">
              <a:ext uri="{FF2B5EF4-FFF2-40B4-BE49-F238E27FC236}">
                <a16:creationId xmlns:a16="http://schemas.microsoft.com/office/drawing/2014/main" id="{72C5FD04-7678-4DD9-BEB5-48E87D0F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Standards and protocols</a:t>
            </a:r>
          </a:p>
        </p:txBody>
      </p:sp>
      <p:sp>
        <p:nvSpPr>
          <p:cNvPr id="7" name="cover-key-label">
            <a:extLst xmlns:a="http://schemas.openxmlformats.org/drawingml/2006/main">
              <a:ext uri="{FF2B5EF4-FFF2-40B4-BE49-F238E27FC236}">
                <a16:creationId xmlns:a16="http://schemas.microsoft.com/office/drawing/2014/main" id="{02A146EC-49E7-498A-B7C6-712583B2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KEY QUESTION</a:t>
            </a:r>
          </a:p>
        </p:txBody>
      </p:sp>
      <p:sp>
        <p:nvSpPr>
          <p:cNvPr id="8" name="cover-key-question">
            <a:extLst xmlns:a="http://schemas.openxmlformats.org/drawingml/2006/main">
              <a:ext uri="{FF2B5EF4-FFF2-40B4-BE49-F238E27FC236}">
                <a16:creationId xmlns:a16="http://schemas.microsoft.com/office/drawing/2014/main" id="{A64B61E9-7D72-4B9D-99A4-9FA962C0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What are standards and protocols?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635ec2f28a4853"/>
          <a:stretch xmlns:a="http://schemas.openxmlformats.org/drawingml/2006/main"/>
        </p:blipFill>
        <p:spPr>
          <a:xfrm xmlns:a="http://schemas.openxmlformats.org/drawingml/2006/main">
            <a:off x="6076950" y="1819275"/>
            <a:ext cx="5400675" cy="3600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6989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C964CC9D-9F51-48E9-922A-784A82AC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BC382C9-8610-46A6-9612-0D48A112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12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BEA9A1E9-E229-4EA5-AD0E-2AB963EE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 the end of this lesson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cf5bd41203431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813FA23-BE4E-4A6A-A61D-AB92E7F1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 / 19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D9A5692F-A313-48AA-9E8E-0BB0274D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C00C27E1-FDC2-4D8A-B2A4-F77FF780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understand the need for standards in computing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D85C10EA-36A0-4859-8F2B-C2923C9D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5F4E7B77-AD97-4C0A-AC10-A6A07EC2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0045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understand the seven common protocols and what they are used for</a:t>
            </a:r>
          </a:p>
        </p:txBody>
      </p:sp>
    </p:spTree>
    <p:extLst>
      <p:ext uri="{BB962C8B-B14F-4D97-AF65-F5344CB8AC3E}">
        <p14:creationId xmlns:p14="http://schemas.microsoft.com/office/powerpoint/2010/main" val="1525890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12249E75-8A75-49A6-A7BF-C5FAC802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066E6AA4-A271-4022-8AFD-9B293EA7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12   /   WORKSHEET STARTER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CAD269D7-68DA-42A2-9CDA-7C68C666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before the experience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8df4f615224a0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487A67A-C091-4E94-969E-CA5EB680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3 / 19</a:t>
            </a:r>
          </a:p>
        </p:txBody>
      </p:sp>
      <p:sp>
        <p:nvSpPr>
          <p:cNvPr id="6" name="starter">
            <a:extLst xmlns:a="http://schemas.openxmlformats.org/drawingml/2006/main">
              <a:ext uri="{FF2B5EF4-FFF2-40B4-BE49-F238E27FC236}">
                <a16:creationId xmlns:a16="http://schemas.microsoft.com/office/drawing/2014/main" id="{9B790C80-331B-4F18-8580-33F840E9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57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List every acronym you already associate with the internet. Which ones do you think are rules for sending data, and which are something else?</a:t>
            </a:r>
          </a:p>
        </p:txBody>
      </p:sp>
    </p:spTree>
    <p:extLst>
      <p:ext uri="{BB962C8B-B14F-4D97-AF65-F5344CB8AC3E}">
        <p14:creationId xmlns:p14="http://schemas.microsoft.com/office/powerpoint/2010/main" val="6825204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F7CCEC33-CF51-44A2-B8E8-5EFE8EC9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23AFB0C-610C-4402-BAF8-CC1C2C92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12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72F7FAA-8AC9-4A57-A12A-B151C0F4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sample answers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c97dda071d4f6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A2FE83C-A076-43CE-AD43-A9C78346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4 / 19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5C611A3F-5A1E-42ED-B5D8-8E493948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B11A68DE-B4BA-4BEB-8723-BAB60B6A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336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Possible protocols: HTTP, HTTPS, FTP, SMTP, POP, IMAP, TCP and IP. They set rules for moving web pages, files, email and packets.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7C1D31AC-EBD6-445E-B8FC-E2DC807B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0D346C2E-35FC-4DEC-95D6-E6683A31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338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Wi-Fi is a wireless networking standard; DNS is a name lookup service. Discuss each acronym rather than treating them all alike.</a:t>
            </a:r>
          </a:p>
        </p:txBody>
      </p:sp>
    </p:spTree>
    <p:extLst>
      <p:ext uri="{BB962C8B-B14F-4D97-AF65-F5344CB8AC3E}">
        <p14:creationId xmlns:p14="http://schemas.microsoft.com/office/powerpoint/2010/main" val="16284727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F71C96D3-3829-4AC3-BB2B-602DDF3D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A6B82C1F-24E5-417A-B2B1-257A7D02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12   /   WORKSHEET KEY TERMS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2406B5E-D816-4A19-B598-E68B8A75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 quiz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1ef5a0abc04df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E1257BA-9D57-425B-A86B-6A45DB1B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5 / 19</a:t>
            </a:r>
          </a:p>
        </p:txBody>
      </p:sp>
      <p:sp>
        <p:nvSpPr>
          <p:cNvPr id="6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A29A2B84-BC03-41E1-8DCA-2D3A792D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term-0">
            <a:extLst xmlns:a="http://schemas.openxmlformats.org/drawingml/2006/main">
              <a:ext uri="{FF2B5EF4-FFF2-40B4-BE49-F238E27FC236}">
                <a16:creationId xmlns:a16="http://schemas.microsoft.com/office/drawing/2014/main" id="{DA4FB408-B367-4FAE-B0C2-E32A3BFA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7647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Standard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A8C99848-DBBE-48A1-8BBD-5C329536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term-1">
            <a:extLst xmlns:a="http://schemas.openxmlformats.org/drawingml/2006/main">
              <a:ext uri="{FF2B5EF4-FFF2-40B4-BE49-F238E27FC236}">
                <a16:creationId xmlns:a16="http://schemas.microsoft.com/office/drawing/2014/main" id="{67ECA7CA-3CA3-42AB-B258-BC3ABF10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8622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Protocol</a:t>
            </a:r>
          </a:p>
        </p:txBody>
      </p:sp>
    </p:spTree>
    <p:extLst>
      <p:ext uri="{BB962C8B-B14F-4D97-AF65-F5344CB8AC3E}">
        <p14:creationId xmlns:p14="http://schemas.microsoft.com/office/powerpoint/2010/main" val="20302188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55BFB8E-0A5B-4488-94DF-DB192C2A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7B926DB7-D36C-4A17-900F-42C78CB2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12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60C375B-45BF-4667-865A-FCFB7C02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terminology: answers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059bf110414b6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CE29841-76FB-4029-8E2A-BC57F48E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6 / 19</a:t>
            </a:r>
          </a:p>
        </p:txBody>
      </p:sp>
      <p:sp>
        <p:nvSpPr>
          <p:cNvPr id="6" name="term-label-0">
            <a:extLst xmlns:a="http://schemas.openxmlformats.org/drawingml/2006/main">
              <a:ext uri="{FF2B5EF4-FFF2-40B4-BE49-F238E27FC236}">
                <a16:creationId xmlns:a16="http://schemas.microsoft.com/office/drawing/2014/main" id="{80629FFB-E9AE-451D-8929-ABEC2C26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288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Standard</a:t>
            </a:r>
          </a:p>
        </p:txBody>
      </p:sp>
      <p:sp>
        <p:nvSpPr>
          <p:cNvPr id="7" name="term-definition-0">
            <a:extLst xmlns:a="http://schemas.openxmlformats.org/drawingml/2006/main">
              <a:ext uri="{FF2B5EF4-FFF2-40B4-BE49-F238E27FC236}">
                <a16:creationId xmlns:a16="http://schemas.microsoft.com/office/drawing/2014/main" id="{09A665A1-3D0A-4888-9257-E43AC415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Standard: an agreed specification that helps different hardware or software work together.</a:t>
            </a:r>
          </a:p>
        </p:txBody>
      </p:sp>
      <p:sp>
        <p:nvSpPr>
          <p:cNvPr id="8" name="term-label-1">
            <a:extLst xmlns:a="http://schemas.openxmlformats.org/drawingml/2006/main">
              <a:ext uri="{FF2B5EF4-FFF2-40B4-BE49-F238E27FC236}">
                <a16:creationId xmlns:a16="http://schemas.microsoft.com/office/drawing/2014/main" id="{758DF711-C1EC-45BF-8D5C-918DB584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Protocol</a:t>
            </a:r>
          </a:p>
        </p:txBody>
      </p:sp>
      <p:sp>
        <p:nvSpPr>
          <p:cNvPr id="9" name="term-definition-1">
            <a:extLst xmlns:a="http://schemas.openxmlformats.org/drawingml/2006/main">
              <a:ext uri="{FF2B5EF4-FFF2-40B4-BE49-F238E27FC236}">
                <a16:creationId xmlns:a16="http://schemas.microsoft.com/office/drawing/2014/main" id="{9C800AB8-7789-4BAE-A7DE-FF446712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Protocol: a set of rules for how devices format, send and receive data.</a:t>
            </a:r>
          </a:p>
        </p:txBody>
      </p:sp>
    </p:spTree>
    <p:extLst>
      <p:ext uri="{BB962C8B-B14F-4D97-AF65-F5344CB8AC3E}">
        <p14:creationId xmlns:p14="http://schemas.microsoft.com/office/powerpoint/2010/main" val="6232492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08D5F74-9FE1-4119-A074-188DC3B7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35EE763-F835-4333-8E1D-976CEF30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1.3   /   LESSON 12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65EF4E2-5151-40C8-AF55-875B017C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Worksheet + experience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b1b879670743c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9C432C1-FB1B-4148-B1B0-8336CB3F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7 / 19</a:t>
            </a:r>
          </a:p>
        </p:txBody>
      </p:sp>
      <p:sp>
        <p:nvSpPr>
          <p:cNvPr id="6" name="open-label">
            <a:extLst xmlns:a="http://schemas.openxmlformats.org/drawingml/2006/main">
              <a:ext uri="{FF2B5EF4-FFF2-40B4-BE49-F238E27FC236}">
                <a16:creationId xmlns:a16="http://schemas.microsoft.com/office/drawing/2014/main" id="{0F40DF8D-C3A3-4720-A909-B3CF3C6E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01   </a:t>
            </a: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8d4d472b73334fa8"/>
              </a:rPr>
              <a:t>OPEN EXPERIENCE ↗</a:t>
            </a:r>
          </a:p>
        </p:txBody>
      </p:sp>
      <p:sp>
        <p:nvSpPr>
          <p:cNvPr id="7" name="open-body">
            <a:extLst xmlns:a="http://schemas.openxmlformats.org/drawingml/2006/main">
              <a:ext uri="{FF2B5EF4-FFF2-40B4-BE49-F238E27FC236}">
                <a16:creationId xmlns:a16="http://schemas.microsoft.com/office/drawing/2014/main" id="{E14EA100-150B-463C-AEA1-CC6728CA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Protocol city in Topic 1.3. Keep the worksheet beside you.</a:t>
            </a:r>
          </a:p>
        </p:txBody>
      </p:sp>
      <p:sp>
        <p:nvSpPr>
          <p:cNvPr id="8" name="station-label">
            <a:extLst xmlns:a="http://schemas.openxmlformats.org/drawingml/2006/main">
              <a:ext uri="{FF2B5EF4-FFF2-40B4-BE49-F238E27FC236}">
                <a16:creationId xmlns:a16="http://schemas.microsoft.com/office/drawing/2014/main" id="{BD0B91B0-9A47-4F8C-BDD6-13028B7C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02   SIX STATIONS</a:t>
            </a:r>
          </a:p>
        </p:txBody>
      </p:sp>
      <p:sp>
        <p:nvSpPr>
          <p:cNvPr id="9" name="station-body">
            <a:extLst xmlns:a="http://schemas.openxmlformats.org/drawingml/2006/main">
              <a:ext uri="{FF2B5EF4-FFF2-40B4-BE49-F238E27FC236}">
                <a16:creationId xmlns:a16="http://schemas.microsoft.com/office/drawing/2014/main" id="{9D2D2934-336B-4AE8-BAD3-35290A16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Read each panel. Write the key fact IN YOUR OWN WORDS and answer the worksheet challenge before tapping its badge.</a:t>
            </a:r>
          </a:p>
        </p:txBody>
      </p:sp>
      <p:sp>
        <p:nvSpPr>
          <p:cNvPr id="1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A26F6C5D-F776-4891-8377-C6D978D3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03   FINAL CHALLENGE</a:t>
            </a:r>
          </a:p>
        </p:txBody>
      </p:sp>
      <p:sp>
        <p:nvSpPr>
          <p:cNvPr id="11" name="finish-body">
            <a:extLst xmlns:a="http://schemas.openxmlformats.org/drawingml/2006/main">
              <a:ext uri="{FF2B5EF4-FFF2-40B4-BE49-F238E27FC236}">
                <a16:creationId xmlns:a16="http://schemas.microsoft.com/office/drawing/2014/main" id="{99B7930A-8B31-422D-B5AD-3DB17AC6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Complete the ★ task before tapping the star. Copy your score (out of 22), then complete the worksheet task or review.</a:t>
            </a:r>
          </a:p>
        </p:txBody>
      </p:sp>
      <p:sp>
        <p:nvSpPr>
          <p:cNvPr id="12" name="plenary-label">
            <a:extLst xmlns:a="http://schemas.openxmlformats.org/drawingml/2006/main">
              <a:ext uri="{FF2B5EF4-FFF2-40B4-BE49-F238E27FC236}">
                <a16:creationId xmlns:a16="http://schemas.microsoft.com/office/drawing/2014/main" id="{14F8CCF4-1F32-459F-8465-242DBBF2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04   PLENARY</a:t>
            </a:r>
          </a:p>
        </p:txBody>
      </p:sp>
      <p:sp>
        <p:nvSpPr>
          <p:cNvPr id="13" name="plenary-body">
            <a:extLst xmlns:a="http://schemas.openxmlformats.org/drawingml/2006/main">
              <a:ext uri="{FF2B5EF4-FFF2-40B4-BE49-F238E27FC236}">
                <a16:creationId xmlns:a16="http://schemas.microsoft.com/office/drawing/2014/main" id="{9BD3518F-D917-4D86-AC94-DF5814BA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Finish the experience in this lesson. Near the end, close it for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7242239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61014A04-7B91-4A39-BE9F-BEDB682B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D850066-B20E-4EF9-B747-30FA4344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12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0B5C665-A91D-4DD9-AD06-6DD51A79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Apply your learning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6a8094818749a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7FB91BB-3E77-40E3-901A-4A4FA4C2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8 / 19</a:t>
            </a:r>
          </a:p>
        </p:txBody>
      </p:sp>
      <p:sp>
        <p:nvSpPr>
          <p:cNvPr id="6" name="application-prompt">
            <a:extLst xmlns:a="http://schemas.openxmlformats.org/drawingml/2006/main">
              <a:ext uri="{FF2B5EF4-FFF2-40B4-BE49-F238E27FC236}">
                <a16:creationId xmlns:a16="http://schemas.microsoft.com/office/drawing/2014/main" id="{6C179A98-1D80-4726-9671-36E0ACA5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95525"/>
            <a:ext cx="105727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Answer the key question: what are standards and protocols, and why do networks need them?</a:t>
            </a:r>
          </a:p>
        </p:txBody>
      </p:sp>
      <p:sp>
        <p:nvSpPr>
          <p:cNvPr id="7" name="application-note">
            <a:extLst xmlns:a="http://schemas.openxmlformats.org/drawingml/2006/main">
              <a:ext uri="{FF2B5EF4-FFF2-40B4-BE49-F238E27FC236}">
                <a16:creationId xmlns:a16="http://schemas.microsoft.com/office/drawing/2014/main" id="{0F697C29-7C44-4036-BEAE-AA07CC8C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57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Use the task and table on your worksheet.</a:t>
            </a:r>
          </a:p>
        </p:txBody>
      </p:sp>
    </p:spTree>
    <p:extLst>
      <p:ext uri="{BB962C8B-B14F-4D97-AF65-F5344CB8AC3E}">
        <p14:creationId xmlns:p14="http://schemas.microsoft.com/office/powerpoint/2010/main" val="3806477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8369CF80-20D6-4B3F-96D9-8733F01B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725390FC-F3BF-4EE6-ACBB-D1457DED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12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57590D3-D72D-4FF6-A3BF-F2218911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and improve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ce3706113143aa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27B7BB9-E284-4782-BDFC-952E4219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9 / 19</a:t>
            </a:r>
          </a:p>
        </p:txBody>
      </p:sp>
      <p:sp>
        <p:nvSpPr>
          <p:cNvPr id="6" name="review-prompt">
            <a:extLst xmlns:a="http://schemas.openxmlformats.org/drawingml/2006/main">
              <a:ext uri="{FF2B5EF4-FFF2-40B4-BE49-F238E27FC236}">
                <a16:creationId xmlns:a16="http://schemas.microsoft.com/office/drawing/2014/main" id="{FD5ACB50-33A0-47F9-95E7-E26E7405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105727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website loads, but some data packets go missing. Which protocol helps recover them, and what does IP do?</a:t>
            </a:r>
          </a:p>
        </p:txBody>
      </p:sp>
    </p:spTree>
    <p:extLst>
      <p:ext uri="{BB962C8B-B14F-4D97-AF65-F5344CB8AC3E}">
        <p14:creationId xmlns:p14="http://schemas.microsoft.com/office/powerpoint/2010/main" val="19073506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D360F551-91BC-45AB-A62C-1C6F3063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41EFB1C-B186-48D9-B78B-FF25A717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12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A8FF45B-1711-410F-8D12-640891D0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Application: sample answers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9c1b5d89f244c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5406CBE-C06C-4C18-81EF-619E1AFB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10 / 19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83DAEBBD-8689-48D0-B712-B9D87F91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367D1801-3B9C-4EE1-8A8B-4AD4E591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47850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Standards give makers common specifications so devices can connect.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45CF14F5-2C76-4004-AB92-C2648988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479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8992B8D9-7BAB-4D6E-9031-24C934BF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47975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Protocols give devices common rules for exchanging data.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FD8EFC6E-DD48-4B9C-B5A5-CE22BB87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6A89D243-38A2-4E13-A959-9CFB4FC2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48100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HTTP/HTTPS serve web pages, SMTP sends email, TCP checks delivery and IP routes packets.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041B0935-2773-4829-8B6F-E9048679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482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D94A6036-FFB4-4D69-8B3B-39EE5020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TCP detects missing packets and arranges retransmission. IP handles addressing and routing packets toward the destination.</a:t>
            </a:r>
          </a:p>
        </p:txBody>
      </p:sp>
    </p:spTree>
    <p:extLst>
      <p:ext uri="{BB962C8B-B14F-4D97-AF65-F5344CB8AC3E}">
        <p14:creationId xmlns:p14="http://schemas.microsoft.com/office/powerpoint/2010/main" val="19214257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CABFAE0-E1A5-48E9-8C88-135A1159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AD993DF-89B2-4948-BCB2-D55A0D6C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12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BC94E5E2-BA42-41B5-9725-716A88C8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1–3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a8c801e50a411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FD15D09-60FD-481C-97BC-7C4FAAD8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11 / 19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A01AA819-EDF2-499F-87A3-5FA3C93B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0">
            <a:extLst xmlns:a="http://schemas.openxmlformats.org/drawingml/2006/main">
              <a:ext uri="{FF2B5EF4-FFF2-40B4-BE49-F238E27FC236}">
                <a16:creationId xmlns:a16="http://schemas.microsoft.com/office/drawing/2014/main" id="{C328E797-1F58-4A18-A7EF-346B4EA8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Standards</a:t>
            </a:r>
          </a:p>
        </p:txBody>
      </p:sp>
      <p:sp>
        <p:nvSpPr>
          <p:cNvPr id="8" name="station-answer-0">
            <a:extLst xmlns:a="http://schemas.openxmlformats.org/drawingml/2006/main">
              <a:ext uri="{FF2B5EF4-FFF2-40B4-BE49-F238E27FC236}">
                <a16:creationId xmlns:a16="http://schemas.microsoft.com/office/drawing/2014/main" id="{44D37F7B-7807-46C9-A6CB-4653EE3D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Without a common connector standard, devices need different chargers or adapters and cannot easily interoperate.</a:t>
            </a:r>
          </a:p>
        </p:txBody>
      </p:sp>
      <p:sp>
        <p:nvSpPr>
          <p:cNvPr id="9" name="station-name-1">
            <a:extLst xmlns:a="http://schemas.openxmlformats.org/drawingml/2006/main">
              <a:ext uri="{FF2B5EF4-FFF2-40B4-BE49-F238E27FC236}">
                <a16:creationId xmlns:a16="http://schemas.microsoft.com/office/drawing/2014/main" id="{F705E6CA-D881-481F-B4C4-1F1272C8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Protocols</a:t>
            </a:r>
          </a:p>
        </p:txBody>
      </p:sp>
      <p:sp>
        <p:nvSpPr>
          <p:cNvPr id="10" name="station-answer-1">
            <a:extLst xmlns:a="http://schemas.openxmlformats.org/drawingml/2006/main">
              <a:ext uri="{FF2B5EF4-FFF2-40B4-BE49-F238E27FC236}">
                <a16:creationId xmlns:a16="http://schemas.microsoft.com/office/drawing/2014/main" id="{EE7E06AA-3CEC-4EA2-B4C8-8B93C77A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standard is an agreed specification; a protocol is the agreed communication rule set devices use to exchange data.</a:t>
            </a:r>
          </a:p>
        </p:txBody>
      </p:sp>
      <p:sp>
        <p:nvSpPr>
          <p:cNvPr id="11" name="station-name-2">
            <a:extLst xmlns:a="http://schemas.openxmlformats.org/drawingml/2006/main">
              <a:ext uri="{FF2B5EF4-FFF2-40B4-BE49-F238E27FC236}">
                <a16:creationId xmlns:a16="http://schemas.microsoft.com/office/drawing/2014/main" id="{F199FA85-6BDF-4E54-9A70-A3A1DCFC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Web protocols</a:t>
            </a:r>
          </a:p>
        </p:txBody>
      </p:sp>
      <p:sp>
        <p:nvSpPr>
          <p:cNvPr id="12" name="station-answer-2">
            <a:extLst xmlns:a="http://schemas.openxmlformats.org/drawingml/2006/main">
              <a:ext uri="{FF2B5EF4-FFF2-40B4-BE49-F238E27FC236}">
                <a16:creationId xmlns:a16="http://schemas.microsoft.com/office/drawing/2014/main" id="{87397A45-DF21-452A-86B6-022894E5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HTTPS adds encryption and authentication to HTTP, helping protect payment and login details in transit.</a:t>
            </a:r>
          </a:p>
        </p:txBody>
      </p:sp>
    </p:spTree>
    <p:extLst>
      <p:ext uri="{BB962C8B-B14F-4D97-AF65-F5344CB8AC3E}">
        <p14:creationId xmlns:p14="http://schemas.microsoft.com/office/powerpoint/2010/main" val="7364150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119E6A1-E523-4371-A66E-D7FAE09C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7DA95273-7B5B-4101-B379-2A384C65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12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198A058-0C52-45D6-A5BC-33858197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4–6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6f60255286426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970F5E3-0C81-497E-980C-9E3C88F7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12 / 19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77323888-D8FF-4E46-ACC5-847041EE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3">
            <a:extLst xmlns:a="http://schemas.openxmlformats.org/drawingml/2006/main">
              <a:ext uri="{FF2B5EF4-FFF2-40B4-BE49-F238E27FC236}">
                <a16:creationId xmlns:a16="http://schemas.microsoft.com/office/drawing/2014/main" id="{AF2F1FD8-A3A7-44CF-BA9C-69A19D54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Email protocols</a:t>
            </a:r>
          </a:p>
        </p:txBody>
      </p:sp>
      <p:sp>
        <p:nvSpPr>
          <p:cNvPr id="8" name="station-answer-3">
            <a:extLst xmlns:a="http://schemas.openxmlformats.org/drawingml/2006/main">
              <a:ext uri="{FF2B5EF4-FFF2-40B4-BE49-F238E27FC236}">
                <a16:creationId xmlns:a16="http://schemas.microsoft.com/office/drawing/2014/main" id="{4E09FB90-80F1-4573-B433-5C033C0B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IMAP keeps messages on the server and synchronises mailboxes across devices; POP commonly downloads mail to one device.</a:t>
            </a:r>
          </a:p>
        </p:txBody>
      </p:sp>
      <p:sp>
        <p:nvSpPr>
          <p:cNvPr id="9" name="station-name-4">
            <a:extLst xmlns:a="http://schemas.openxmlformats.org/drawingml/2006/main">
              <a:ext uri="{FF2B5EF4-FFF2-40B4-BE49-F238E27FC236}">
                <a16:creationId xmlns:a16="http://schemas.microsoft.com/office/drawing/2014/main" id="{AD9C077B-77BB-4B72-BD8B-04FD43C0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FTP</a:t>
            </a:r>
          </a:p>
        </p:txBody>
      </p:sp>
      <p:sp>
        <p:nvSpPr>
          <p:cNvPr id="10" name="station-answer-4">
            <a:extLst xmlns:a="http://schemas.openxmlformats.org/drawingml/2006/main">
              <a:ext uri="{FF2B5EF4-FFF2-40B4-BE49-F238E27FC236}">
                <a16:creationId xmlns:a16="http://schemas.microsoft.com/office/drawing/2014/main" id="{59A7B664-AE8D-4444-972E-9B2CBFBA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FTP can transfer the web designer's files to a web server.</a:t>
            </a:r>
          </a:p>
        </p:txBody>
      </p:sp>
      <p:sp>
        <p:nvSpPr>
          <p:cNvPr id="11" name="station-name-5">
            <a:extLst xmlns:a="http://schemas.openxmlformats.org/drawingml/2006/main">
              <a:ext uri="{FF2B5EF4-FFF2-40B4-BE49-F238E27FC236}">
                <a16:creationId xmlns:a16="http://schemas.microsoft.com/office/drawing/2014/main" id="{30218BF2-A079-4928-83BC-D54DC6B7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  TCP/IP</a:t>
            </a:r>
          </a:p>
        </p:txBody>
      </p:sp>
      <p:sp>
        <p:nvSpPr>
          <p:cNvPr id="12" name="station-answer-5">
            <a:extLst xmlns:a="http://schemas.openxmlformats.org/drawingml/2006/main">
              <a:ext uri="{FF2B5EF4-FFF2-40B4-BE49-F238E27FC236}">
                <a16:creationId xmlns:a16="http://schemas.microsoft.com/office/drawing/2014/main" id="{DD66C730-C9AE-4AAE-8803-D21C7C4D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TCP checks delivery and handles missing packets; IP addresses and routes packets. Missing unchecked packets could leave a page incomplete.</a:t>
            </a:r>
          </a:p>
        </p:txBody>
      </p:sp>
    </p:spTree>
    <p:extLst>
      <p:ext uri="{BB962C8B-B14F-4D97-AF65-F5344CB8AC3E}">
        <p14:creationId xmlns:p14="http://schemas.microsoft.com/office/powerpoint/2010/main" val="21374277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FFE09D1-F0DD-4944-9B0D-AE285329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0114E756-457B-41EA-8F70-101F15FB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12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AD5713D-4936-412F-B2A0-DE880B74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 · answers 1–4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0f579b7f2d4b0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8F683FB-8539-4C58-843E-0EA7CB5F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13 / 19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B3E9AD2C-CB24-4DE0-85A8-D61C1528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EC121668-13D1-4FA7-B41A-372AB450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HTTP → Requests and delivers web pages (HTML files)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F3E052CC-633E-449E-BDB2-13B94DFD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58F66F31-029E-4FCF-86BC-10D6ACAA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81300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HTTPS → Web pages with encryption and authentication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6BCD48C8-9635-4924-A466-5B45CE25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873B599A-30C4-4064-8D4F-F93CA149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43325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FTP → Sends files between computers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17A0C580-7503-4AF3-AEF5-D6EAF20E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2EA3558C-6609-406F-9ECD-0486DBF9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05350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SMTP → Sends email to a mail server</a:t>
            </a:r>
          </a:p>
        </p:txBody>
      </p:sp>
    </p:spTree>
    <p:extLst>
      <p:ext uri="{BB962C8B-B14F-4D97-AF65-F5344CB8AC3E}">
        <p14:creationId xmlns:p14="http://schemas.microsoft.com/office/powerpoint/2010/main" val="4991364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6608498-7722-41E5-B82F-F96B4F55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AE1ED00-9397-4F07-B233-C2870864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12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04C47CD-EE6C-431F-AB15-B38BBEC3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 · answers 5–8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ad8e3531494a31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46D4C57-5D3F-45A6-8A7B-A3FCEA7A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14 / 19</a:t>
            </a:r>
          </a:p>
        </p:txBody>
      </p:sp>
      <p:sp>
        <p:nvSpPr>
          <p:cNvPr id="6" name="number-5">
            <a:extLst xmlns:a="http://schemas.openxmlformats.org/drawingml/2006/main">
              <a:ext uri="{FF2B5EF4-FFF2-40B4-BE49-F238E27FC236}">
                <a16:creationId xmlns:a16="http://schemas.microsoft.com/office/drawing/2014/main" id="{DE53D9F1-6BE8-4B82-B4CC-45BA928B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5.</a:t>
            </a:r>
          </a:p>
        </p:txBody>
      </p:sp>
      <p:sp>
        <p:nvSpPr>
          <p:cNvPr id="7" name="item-5">
            <a:extLst xmlns:a="http://schemas.openxmlformats.org/drawingml/2006/main">
              <a:ext uri="{FF2B5EF4-FFF2-40B4-BE49-F238E27FC236}">
                <a16:creationId xmlns:a16="http://schemas.microsoft.com/office/drawing/2014/main" id="{D2B8F822-E03A-49E6-B4FF-E29C0D13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POP → Retrieves email from a mail server</a:t>
            </a:r>
          </a:p>
        </p:txBody>
      </p:sp>
      <p:sp>
        <p:nvSpPr>
          <p:cNvPr id="8" name="number-6">
            <a:extLst xmlns:a="http://schemas.openxmlformats.org/drawingml/2006/main">
              <a:ext uri="{FF2B5EF4-FFF2-40B4-BE49-F238E27FC236}">
                <a16:creationId xmlns:a16="http://schemas.microsoft.com/office/drawing/2014/main" id="{CD9C85A5-169E-4CCA-9405-15644835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6.</a:t>
            </a:r>
          </a:p>
        </p:txBody>
      </p:sp>
      <p:sp>
        <p:nvSpPr>
          <p:cNvPr id="9" name="item-6">
            <a:extLst xmlns:a="http://schemas.openxmlformats.org/drawingml/2006/main">
              <a:ext uri="{FF2B5EF4-FFF2-40B4-BE49-F238E27FC236}">
                <a16:creationId xmlns:a16="http://schemas.microsoft.com/office/drawing/2014/main" id="{CA7FE727-E296-4C44-8564-83D8B6BD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81300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IMAP → Retrieves email and manages mailboxes on the server</a:t>
            </a:r>
          </a:p>
        </p:txBody>
      </p:sp>
      <p:sp>
        <p:nvSpPr>
          <p:cNvPr id="10" name="number-7">
            <a:extLst xmlns:a="http://schemas.openxmlformats.org/drawingml/2006/main">
              <a:ext uri="{FF2B5EF4-FFF2-40B4-BE49-F238E27FC236}">
                <a16:creationId xmlns:a16="http://schemas.microsoft.com/office/drawing/2014/main" id="{1108BBE6-578F-4E23-A8D3-8D220A07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7.</a:t>
            </a:r>
          </a:p>
        </p:txBody>
      </p:sp>
      <p:sp>
        <p:nvSpPr>
          <p:cNvPr id="11" name="item-7">
            <a:extLst xmlns:a="http://schemas.openxmlformats.org/drawingml/2006/main">
              <a:ext uri="{FF2B5EF4-FFF2-40B4-BE49-F238E27FC236}">
                <a16:creationId xmlns:a16="http://schemas.microsoft.com/office/drawing/2014/main" id="{6CB43136-3DEB-4C63-AAF3-1995E6A9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43325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TCP → Error-free transmission of packets</a:t>
            </a:r>
          </a:p>
        </p:txBody>
      </p:sp>
      <p:sp>
        <p:nvSpPr>
          <p:cNvPr id="12" name="number-8">
            <a:extLst xmlns:a="http://schemas.openxmlformats.org/drawingml/2006/main">
              <a:ext uri="{FF2B5EF4-FFF2-40B4-BE49-F238E27FC236}">
                <a16:creationId xmlns:a16="http://schemas.microsoft.com/office/drawing/2014/main" id="{371509AF-3EBB-419D-A911-65353140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8.</a:t>
            </a:r>
          </a:p>
        </p:txBody>
      </p:sp>
      <p:sp>
        <p:nvSpPr>
          <p:cNvPr id="13" name="item-8">
            <a:extLst xmlns:a="http://schemas.openxmlformats.org/drawingml/2006/main">
              <a:ext uri="{FF2B5EF4-FFF2-40B4-BE49-F238E27FC236}">
                <a16:creationId xmlns:a16="http://schemas.microsoft.com/office/drawing/2014/main" id="{CA8A070E-0669-4B8F-8137-39DAB2BF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05350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IP → Routes packets across a WAN</a:t>
            </a:r>
          </a:p>
        </p:txBody>
      </p:sp>
    </p:spTree>
    <p:extLst>
      <p:ext uri="{BB962C8B-B14F-4D97-AF65-F5344CB8AC3E}">
        <p14:creationId xmlns:p14="http://schemas.microsoft.com/office/powerpoint/2010/main" val="66574682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86B79842-12C4-41AF-8F31-87DF0AE9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1FA7B68-81CF-4429-8F31-D6F067BC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12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57C8CA3-2831-4297-9051-5E4EBF4B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 1–2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545c0c7c304e79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D059E9A-3E6B-479E-B70D-1EDB927F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15 / 19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6745F616-5637-4C28-AD74-B766DA23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Close the experience. Answer from memory on the worksheet.</a:t>
            </a:r>
          </a:p>
        </p:txBody>
      </p:sp>
      <p:sp>
        <p:nvSpPr>
          <p:cNvPr id="7" name="question-0">
            <a:extLst xmlns:a="http://schemas.openxmlformats.org/drawingml/2006/main">
              <a:ext uri="{FF2B5EF4-FFF2-40B4-BE49-F238E27FC236}">
                <a16:creationId xmlns:a16="http://schemas.microsoft.com/office/drawing/2014/main" id="{4837C250-C8C5-407B-9402-7096814C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 Explain why agreed standards matter when devices from different makers connect.  [3]</a:t>
            </a:r>
          </a:p>
        </p:txBody>
      </p:sp>
      <p:sp>
        <p:nvSpPr>
          <p:cNvPr id="8" name="question-1">
            <a:extLst xmlns:a="http://schemas.openxmlformats.org/drawingml/2006/main">
              <a:ext uri="{FF2B5EF4-FFF2-40B4-BE49-F238E27FC236}">
                <a16:creationId xmlns:a16="http://schemas.microsoft.com/office/drawing/2014/main" id="{CC907695-AFF7-4E25-AEE5-ED7DADEC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 Name the protocol used to send email to a mail server.  [1]</a:t>
            </a:r>
          </a:p>
        </p:txBody>
      </p:sp>
    </p:spTree>
    <p:extLst>
      <p:ext uri="{BB962C8B-B14F-4D97-AF65-F5344CB8AC3E}">
        <p14:creationId xmlns:p14="http://schemas.microsoft.com/office/powerpoint/2010/main" val="140767918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C5D3D020-D3BC-48A4-8D18-E0549D3D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7F90A55-1F19-4ECF-A7EA-7A5C3207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12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84257DB-3EE0-4993-B7D7-FDF90D46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 3–4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19cfb3d7d34ca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601F2A5-327C-4CE1-A00D-CFBD6CE0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16 / 19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327AE340-A558-4710-9267-F2819070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Close the experience. Answer from memory on the worksheet.</a:t>
            </a:r>
          </a:p>
        </p:txBody>
      </p:sp>
      <p:sp>
        <p:nvSpPr>
          <p:cNvPr id="7" name="question-0">
            <a:extLst xmlns:a="http://schemas.openxmlformats.org/drawingml/2006/main">
              <a:ext uri="{FF2B5EF4-FFF2-40B4-BE49-F238E27FC236}">
                <a16:creationId xmlns:a16="http://schemas.microsoft.com/office/drawing/2014/main" id="{7FBC7FB7-EBDD-4E8F-ABC8-77A080F4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c)  Describe what HTTPS adds to HTTP and why it matters.  [3]</a:t>
            </a:r>
          </a:p>
        </p:txBody>
      </p:sp>
      <p:sp>
        <p:nvSpPr>
          <p:cNvPr id="8" name="question-1">
            <a:extLst xmlns:a="http://schemas.openxmlformats.org/drawingml/2006/main">
              <a:ext uri="{FF2B5EF4-FFF2-40B4-BE49-F238E27FC236}">
                <a16:creationId xmlns:a16="http://schemas.microsoft.com/office/drawing/2014/main" id="{B05C5040-80D3-4F45-B1F4-96EAC613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d)  Explain how TCP and IP work together when a web page is requested.  [4]</a:t>
            </a:r>
          </a:p>
        </p:txBody>
      </p:sp>
    </p:spTree>
    <p:extLst>
      <p:ext uri="{BB962C8B-B14F-4D97-AF65-F5344CB8AC3E}">
        <p14:creationId xmlns:p14="http://schemas.microsoft.com/office/powerpoint/2010/main" val="100078838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53DEFF0-C2CF-4FD3-8A8E-5B797FB1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97E06AD-7D93-41F5-A174-472B5F10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12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B9DA69A5-5794-463E-A0A5-F9BF02CE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 1–2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04ee6ae4434764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1276F56-6F8D-4204-A44C-F808A0AF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17 / 19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67E387B0-8957-4420-A869-F15E1007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1F176C00-4CC8-4222-9CD1-F67121D5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Shared standards let devices from different makers use compatible connectors, data formats and communication methods. They can connect and exchange data reliably.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E6346DA2-6615-4837-9F6C-1E39129D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SMTP sends email to a mail server.</a:t>
            </a:r>
          </a:p>
        </p:txBody>
      </p:sp>
    </p:spTree>
    <p:extLst>
      <p:ext uri="{BB962C8B-B14F-4D97-AF65-F5344CB8AC3E}">
        <p14:creationId xmlns:p14="http://schemas.microsoft.com/office/powerpoint/2010/main" val="32523047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68BED86-CD85-4A69-A82D-A6D97ED7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FBB72E4-5146-4B95-B1D3-22A011A1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12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E675FE1-098A-4986-96A1-D233B518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 3–4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6c8a2971424bae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2C4648E-EA6E-4607-BB2C-012198F6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18 / 19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15502A4D-6B26-4557-AC99-5D1E4218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C3E0DEE7-0592-4C32-A2F2-E179230B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c) HTTPS adds encryption and authentication to HTTP. These help prevent interception and reassure users they are communicating with the intended site.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51581E10-549B-40EB-A49D-498FC776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d) IP addresses and routes packets to the web server and back. TCP checks that packets arrive, reorders them and handles missing packets so the page can be reconstructed.</a:t>
            </a:r>
          </a:p>
        </p:txBody>
      </p:sp>
    </p:spTree>
    <p:extLst>
      <p:ext uri="{BB962C8B-B14F-4D97-AF65-F5344CB8AC3E}">
        <p14:creationId xmlns:p14="http://schemas.microsoft.com/office/powerpoint/2010/main" val="64081157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85A1AD80-0B7F-497C-9DD6-661E69BA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77652F3-8ECC-4D10-8052-3A19540D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12   /   SELF-CHECK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C030861-7B4E-4E1C-AA92-4C0B066D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confident am I?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4e7cc44da04fea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CC46307-2537-4BD9-964C-85DEBFF1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19 / 19</a:t>
            </a:r>
          </a:p>
        </p:txBody>
      </p:sp>
      <p:sp>
        <p:nvSpPr>
          <p:cNvPr id="6" name="confidence-intro">
            <a:extLst xmlns:a="http://schemas.openxmlformats.org/drawingml/2006/main">
              <a:ext uri="{FF2B5EF4-FFF2-40B4-BE49-F238E27FC236}">
                <a16:creationId xmlns:a16="http://schemas.microsoft.com/office/drawing/2014/main" id="{36B9A095-15A1-4681-BC80-BB59E690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Select Not yet, Getting there or Confident for each objective on the worksheet.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785ED3AF-9459-4952-8588-372DA3E5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D8C24074-3558-498D-9F31-B39BC1A3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Why standards are needed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833F87D9-9261-42C6-B3C0-9CC3D50F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9D861FA1-A020-4E1F-8D57-5C54B991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433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common protocols and what they do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8512EBEB-CBB3-4163-8B01-EC4BB991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1D96540B-2891-43C2-AEAE-5F91EE14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720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difference between standards and protocols</a:t>
            </a:r>
          </a:p>
        </p:txBody>
      </p:sp>
    </p:spTree>
    <p:extLst>
      <p:ext uri="{BB962C8B-B14F-4D97-AF65-F5344CB8AC3E}">
        <p14:creationId xmlns:p14="http://schemas.microsoft.com/office/powerpoint/2010/main" val="18976126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2026-09-25T14:15:49.1470000Z</dcterms:created>
  <dcterms:modified xsi:type="dcterms:W3CDTF">2026-09-25T14:15:49.1470000Z</dcterms:modified>
</coreProperties>
</file>