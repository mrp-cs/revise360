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Lesson 5: Waiting room.
Open the experience at revise360.co.uk and hand out PR_L05_WaitingRoom_Worksheet.docx.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Share the objectives, then go straight into the starter. Devices stay away for the first five minutes.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Silent start. Take two or three answers before moving on: this is where misconceptions surface.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Insist on writing before tapping. That single rule is the difference between revision and a quiz game.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Station 1: A loop with a condition. Students read this wall in the experience, write the key fact and the challenge answer, then answer the questions at the badge.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Station 2: Asking until it is right. Students read this wall in the experience, write the key fact and the challenge answer, then answer the questions at the badge.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Station 3: Sentinel values. Students read this wall in the experience, write the key fact and the challenge answer, then answer the questions at the badge.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Station 4: Counting inside a while. Students read this wall in the experience, write the key fact and the challenge answer, then answer the questions at the badge.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Station 5: Choosing for or while. Students read this wall in the experience, write the key fact and the challenge answer, then answer the questions at the badge.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Station 6: Putting it together. Students read this wall in the experience, write the key fact and the challenge answer, then answer the questions at the badge.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Make them commit to an answer on paper before they tap the star. Guessing first costs them the learning.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Use these as a settler, or as something for early finishers to read in the experience.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Timed and silent. Mark against the answer sheet, then ask students to record their weakest area.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Students copy their score-screen breakdown onto the worksheet, then rate themselves here.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018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822960" y="1417320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4B94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Python programming  |  Lesson 5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1920240"/>
            <a:ext cx="10515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FFFF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Waiting room</a:t>
            </a:r>
            <a:endParaRPr lang="en-US" sz="60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3291840"/>
            <a:ext cx="95097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800" dirty="0">
                <a:solidFill>
                  <a:srgbClr val="C7CDD9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Sometimes a program cannot know how many repeats it needs until it is already running. In the waiting room you will write condition-controlled loops that keep going until something changes.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822960" y="4846320"/>
            <a:ext cx="2926080" cy="0"/>
          </a:xfrm>
          <a:prstGeom prst="line">
            <a:avLst/>
          </a:prstGeom>
          <a:noFill/>
          <a:ln w="31750">
            <a:solidFill>
              <a:srgbClr val="2D63F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22960" y="502920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 Python course  |  Beyond the OCR J277 specification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Python programming  |  Lesson 5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411480"/>
            <a:ext cx="11155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By the end of this lesson</a:t>
            </a:r>
            <a:endParaRPr lang="en-US" sz="32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1170432"/>
            <a:ext cx="11155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How do you decide between a for loop and a while loop before you write a single line of code?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48640" y="1965960"/>
            <a:ext cx="566928" cy="566928"/>
          </a:xfrm>
          <a:prstGeom prst="ellipse">
            <a:avLst/>
          </a:prstGeom>
          <a:solidFill>
            <a:srgbClr val="2D63FF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48640" y="196596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</a:t>
            </a:r>
            <a:endParaRPr lang="en-US" sz="2000" dirty="0"/>
          </a:p>
        </p:txBody>
      </p:sp>
      <p:sp>
        <p:nvSpPr>
          <p:cNvPr id="9" name="Text 7"/>
          <p:cNvSpPr txBox="1"/>
          <p:nvPr/>
        </p:nvSpPr>
        <p:spPr>
          <a:xfrm>
            <a:off x="1325880" y="1965960"/>
            <a:ext cx="10332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Know how to write a while loop and what makes it stop repeating</a:t>
            </a:r>
            <a:endParaRPr lang="en-US" sz="1900" dirty="0"/>
          </a:p>
        </p:txBody>
      </p:sp>
      <p:sp>
        <p:nvSpPr>
          <p:cNvPr id="10" name="Shape 8"/>
          <p:cNvSpPr/>
          <p:nvPr/>
        </p:nvSpPr>
        <p:spPr>
          <a:xfrm>
            <a:off x="548640" y="2898648"/>
            <a:ext cx="566928" cy="566928"/>
          </a:xfrm>
          <a:prstGeom prst="ellipse">
            <a:avLst/>
          </a:prstGeom>
          <a:solidFill>
            <a:srgbClr val="2D63FF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548640" y="28986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2</a:t>
            </a:r>
            <a:endParaRPr lang="en-US" sz="2000" dirty="0"/>
          </a:p>
        </p:txBody>
      </p:sp>
      <p:sp>
        <p:nvSpPr>
          <p:cNvPr id="12" name="Text 10"/>
          <p:cNvSpPr txBox="1"/>
          <p:nvPr/>
        </p:nvSpPr>
        <p:spPr>
          <a:xfrm>
            <a:off x="1325880" y="2898648"/>
            <a:ext cx="10332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Understand how a validation loop keeps asking until the value typed in is acceptable</a:t>
            </a:r>
            <a:endParaRPr lang="en-US" sz="1900" dirty="0"/>
          </a:p>
        </p:txBody>
      </p:sp>
      <p:sp>
        <p:nvSpPr>
          <p:cNvPr id="13" name="Shape 11"/>
          <p:cNvSpPr/>
          <p:nvPr/>
        </p:nvSpPr>
        <p:spPr>
          <a:xfrm>
            <a:off x="548640" y="3831336"/>
            <a:ext cx="566928" cy="566928"/>
          </a:xfrm>
          <a:prstGeom prst="ellipse">
            <a:avLst/>
          </a:prstGeom>
          <a:solidFill>
            <a:srgbClr val="2D63FF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548640" y="383133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3</a:t>
            </a:r>
            <a:endParaRPr lang="en-US" sz="2000" dirty="0"/>
          </a:p>
        </p:txBody>
      </p:sp>
      <p:sp>
        <p:nvSpPr>
          <p:cNvPr id="15" name="Text 13"/>
          <p:cNvSpPr txBox="1"/>
          <p:nvPr/>
        </p:nvSpPr>
        <p:spPr>
          <a:xfrm>
            <a:off x="1325880" y="3831336"/>
            <a:ext cx="10332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Know how a sentinel value ends a loop when the amount of data is not known in advance</a:t>
            </a:r>
            <a:endParaRPr lang="en-US" sz="1900" dirty="0"/>
          </a:p>
        </p:txBody>
      </p:sp>
      <p:sp>
        <p:nvSpPr>
          <p:cNvPr id="16" name="Text 14"/>
          <p:cNvSpPr txBox="1"/>
          <p:nvPr/>
        </p:nvSpPr>
        <p:spPr>
          <a:xfrm>
            <a:off x="548640" y="5084064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Key words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548640" y="5468112"/>
            <a:ext cx="3383280" cy="40233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2D63FF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548640" y="5468112"/>
            <a:ext cx="33832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Condition-controlled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4059936" y="5468112"/>
            <a:ext cx="1188720" cy="40233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2D63FF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4059936" y="5468112"/>
            <a:ext cx="11887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while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5376672" y="5468112"/>
            <a:ext cx="2651760" cy="40233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2D63FF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5376672" y="5468112"/>
            <a:ext cx="2651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Validation loop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8156448" y="5468112"/>
            <a:ext cx="1627632" cy="40233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2D63FF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8156448" y="5468112"/>
            <a:ext cx="162763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Sentinel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9912096" y="5468112"/>
            <a:ext cx="1481328" cy="40233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2D63FF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9912096" y="5468112"/>
            <a:ext cx="148132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Counter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Python programming  |  Lesson 5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02920" y="457200"/>
            <a:ext cx="2103120" cy="457200"/>
          </a:xfrm>
          <a:prstGeom prst="roundRect">
            <a:avLst>
              <a:gd name="adj" fmla="val 20000"/>
            </a:avLst>
          </a:prstGeom>
          <a:solidFill>
            <a:srgbClr val="F4B942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502920" y="45720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0182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STARTER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2788920" y="45720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Five minutes, on paper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02920" y="1234440"/>
            <a:ext cx="11155680" cy="3200400"/>
          </a:xfrm>
          <a:prstGeom prst="roundRect">
            <a:avLst>
              <a:gd name="adj" fmla="val 3429"/>
            </a:avLst>
          </a:prstGeom>
          <a:solidFill>
            <a:srgbClr val="FFFFFF"/>
          </a:solidFill>
          <a:ln w="15875">
            <a:solidFill>
              <a:srgbClr val="2D63F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1005840" y="1645920"/>
            <a:ext cx="1014984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2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 program sets count = 5, then a while loop runs for as long as count &gt; 0, and the only line inside the loop prints count. Describe what happens when this program runs, and write down the one line that is missing.</a:t>
            </a:r>
            <a:endParaRPr lang="en-US" sz="2600" dirty="0"/>
          </a:p>
        </p:txBody>
      </p:sp>
      <p:sp>
        <p:nvSpPr>
          <p:cNvPr id="10" name="Text 8"/>
          <p:cNvSpPr txBox="1"/>
          <p:nvPr/>
        </p:nvSpPr>
        <p:spPr>
          <a:xfrm>
            <a:off x="502920" y="4709160"/>
            <a:ext cx="11155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No devices yet. Write your answer on the worksheet before anyone talks.</a:t>
            </a:r>
            <a:endParaRPr lang="en-US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Python programming  |  Lesson 5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411480"/>
            <a:ext cx="11155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Into the experience</a:t>
            </a:r>
            <a:endParaRPr lang="en-US" sz="32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1170432"/>
            <a:ext cx="11155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Open Waiting room on revise360.co.uk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48640" y="1874520"/>
            <a:ext cx="566928" cy="566928"/>
          </a:xfrm>
          <a:prstGeom prst="ellipse">
            <a:avLst/>
          </a:prstGeom>
          <a:solidFill>
            <a:srgbClr val="08A6A6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48640" y="187452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</a:t>
            </a:r>
            <a:endParaRPr lang="en-US" sz="2000" dirty="0"/>
          </a:p>
        </p:txBody>
      </p:sp>
      <p:sp>
        <p:nvSpPr>
          <p:cNvPr id="9" name="Text 7"/>
          <p:cNvSpPr txBox="1"/>
          <p:nvPr/>
        </p:nvSpPr>
        <p:spPr>
          <a:xfrm>
            <a:off x="1325880" y="1856232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Look around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1325880" y="2148840"/>
            <a:ext cx="10241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Six numbered stations are arranged around you. Turn right for 1 and 2, around for 3 and 4, left for 5 and 6.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548640" y="2898648"/>
            <a:ext cx="566928" cy="566928"/>
          </a:xfrm>
          <a:prstGeom prst="ellipse">
            <a:avLst/>
          </a:prstGeom>
          <a:solidFill>
            <a:srgbClr val="08A6A6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548640" y="28986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2</a:t>
            </a:r>
            <a:endParaRPr lang="en-US" sz="2000" dirty="0"/>
          </a:p>
        </p:txBody>
      </p:sp>
      <p:sp>
        <p:nvSpPr>
          <p:cNvPr id="13" name="Text 11"/>
          <p:cNvSpPr txBox="1"/>
          <p:nvPr/>
        </p:nvSpPr>
        <p:spPr>
          <a:xfrm>
            <a:off x="1325880" y="2880360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Plan before you type</a:t>
            </a:r>
            <a:endParaRPr lang="en-US" sz="1700" dirty="0"/>
          </a:p>
        </p:txBody>
      </p:sp>
      <p:sp>
        <p:nvSpPr>
          <p:cNvPr id="14" name="Text 12"/>
          <p:cNvSpPr txBox="1"/>
          <p:nvPr/>
        </p:nvSpPr>
        <p:spPr>
          <a:xfrm>
            <a:off x="1325880" y="3172968"/>
            <a:ext cx="10241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Read the task and its brief. Work out the inputs, what happens to them, and exactly what is printed.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548640" y="3922776"/>
            <a:ext cx="566928" cy="566928"/>
          </a:xfrm>
          <a:prstGeom prst="ellipse">
            <a:avLst/>
          </a:prstGeom>
          <a:solidFill>
            <a:srgbClr val="08A6A6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548640" y="392277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3</a:t>
            </a:r>
            <a:endParaRPr lang="en-US" sz="2000" dirty="0"/>
          </a:p>
        </p:txBody>
      </p:sp>
      <p:sp>
        <p:nvSpPr>
          <p:cNvPr id="17" name="Text 15"/>
          <p:cNvSpPr txBox="1"/>
          <p:nvPr/>
        </p:nvSpPr>
        <p:spPr>
          <a:xfrm>
            <a:off x="1325880" y="3904488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Write it and run it</a:t>
            </a:r>
            <a:endParaRPr lang="en-US" sz="1700" dirty="0"/>
          </a:p>
        </p:txBody>
      </p:sp>
      <p:sp>
        <p:nvSpPr>
          <p:cNvPr id="18" name="Text 16"/>
          <p:cNvSpPr txBox="1"/>
          <p:nvPr/>
        </p:nvSpPr>
        <p:spPr>
          <a:xfrm>
            <a:off x="1325880" y="4197096"/>
            <a:ext cx="10241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Type the program in the editor and press Run to see what it does. Then press Check to mark it against the tests.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548640" y="4946904"/>
            <a:ext cx="566928" cy="566928"/>
          </a:xfrm>
          <a:prstGeom prst="ellipse">
            <a:avLst/>
          </a:prstGeom>
          <a:solidFill>
            <a:srgbClr val="F4B942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548640" y="4946904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4</a:t>
            </a:r>
            <a:endParaRPr lang="en-US" sz="2000" dirty="0"/>
          </a:p>
        </p:txBody>
      </p:sp>
      <p:sp>
        <p:nvSpPr>
          <p:cNvPr id="21" name="Text 19"/>
          <p:cNvSpPr txBox="1"/>
          <p:nvPr/>
        </p:nvSpPr>
        <p:spPr>
          <a:xfrm>
            <a:off x="1325880" y="4928616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Read the failures</a:t>
            </a:r>
            <a:endParaRPr lang="en-US" sz="1700" dirty="0"/>
          </a:p>
        </p:txBody>
      </p:sp>
      <p:sp>
        <p:nvSpPr>
          <p:cNvPr id="22" name="Text 20"/>
          <p:cNvSpPr txBox="1"/>
          <p:nvPr/>
        </p:nvSpPr>
        <p:spPr>
          <a:xfrm>
            <a:off x="1325880" y="5221224"/>
            <a:ext cx="10241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 test that fails tells you what was expected and what came out. Fix and run it again - that is what programmers do.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Python programming  |  Lesson 5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8321040" y="6236208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D9DEE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Station 1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502920" y="438912"/>
            <a:ext cx="566928" cy="566928"/>
          </a:xfrm>
          <a:prstGeom prst="ellipse">
            <a:avLst/>
          </a:prstGeom>
          <a:solidFill>
            <a:srgbClr val="2D63F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02920" y="43891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1234440" y="411480"/>
            <a:ext cx="104241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 loop with a condition</a:t>
            </a:r>
            <a:endParaRPr lang="en-US" sz="3000" dirty="0"/>
          </a:p>
        </p:txBody>
      </p:sp>
      <p:sp>
        <p:nvSpPr>
          <p:cNvPr id="9" name="Shape 7"/>
          <p:cNvSpPr/>
          <p:nvPr/>
        </p:nvSpPr>
        <p:spPr>
          <a:xfrm>
            <a:off x="502920" y="1280160"/>
            <a:ext cx="70408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14400" y="1600200"/>
            <a:ext cx="63093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while repeats its block for as long as its condition stays True.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The condition is tested before every pass, so a while loop can run no times at all.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Common mistake: never changing the condition inside the loop, which leaves it running forever.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7818120" y="1280160"/>
            <a:ext cx="38404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F4B94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183880" y="150876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CHALLENGE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8183880" y="1874520"/>
            <a:ext cx="31546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What has to change inside a while loop for it ever to stop?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502920" y="4754880"/>
            <a:ext cx="11155680" cy="777240"/>
          </a:xfrm>
          <a:prstGeom prst="roundRect">
            <a:avLst>
              <a:gd name="adj" fmla="val 11765"/>
            </a:avLst>
          </a:prstGeom>
          <a:solidFill>
            <a:srgbClr val="EEF2FB"/>
          </a:solidFill>
          <a:ln w="12700">
            <a:solidFill>
              <a:srgbClr val="2D63FF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4400" y="4754880"/>
            <a:ext cx="10332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On your worksheet:  </a:t>
            </a:r>
            <a:pPr indent="0" marL="0"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 loop whose condition never becomes False is an infinite loop, and it will freeze the program.</a:t>
            </a:r>
            <a:endParaRPr lang="en-US" sz="1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Python programming  |  Lesson 5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8321040" y="6236208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D9DEE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Station 2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502920" y="438912"/>
            <a:ext cx="566928" cy="566928"/>
          </a:xfrm>
          <a:prstGeom prst="ellipse">
            <a:avLst/>
          </a:prstGeom>
          <a:solidFill>
            <a:srgbClr val="2D63F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02920" y="43891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2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1234440" y="411480"/>
            <a:ext cx="104241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Asking until it is right</a:t>
            </a:r>
            <a:endParaRPr lang="en-US" sz="3000" dirty="0"/>
          </a:p>
        </p:txBody>
      </p:sp>
      <p:sp>
        <p:nvSpPr>
          <p:cNvPr id="9" name="Shape 7"/>
          <p:cNvSpPr/>
          <p:nvPr/>
        </p:nvSpPr>
        <p:spPr>
          <a:xfrm>
            <a:off x="502920" y="1280160"/>
            <a:ext cx="70408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14400" y="1600200"/>
            <a:ext cx="63093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 validation loop reads a value, then asks again for as long as it breaks the rules.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Read once above the loop, then read again at the bottom of it.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Common mistake: leaving the second read out, so the same bad value is tested forever.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7818120" y="1280160"/>
            <a:ext cx="38404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F4B94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183880" y="150876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CHALLENGE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8183880" y="1874520"/>
            <a:ext cx="31546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Why does a validation loop need an input() in two different places?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502920" y="4754880"/>
            <a:ext cx="11155680" cy="777240"/>
          </a:xfrm>
          <a:prstGeom prst="roundRect">
            <a:avLst>
              <a:gd name="adj" fmla="val 11765"/>
            </a:avLst>
          </a:prstGeom>
          <a:solidFill>
            <a:srgbClr val="EEF2FB"/>
          </a:solidFill>
          <a:ln w="12700">
            <a:solidFill>
              <a:srgbClr val="2D63FF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4400" y="4754880"/>
            <a:ext cx="10332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On your worksheet:  </a:t>
            </a:r>
            <a:pPr indent="0" marL="0"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This shape has a name of its own: input validation, which is the heart of topic 2.3.</a:t>
            </a:r>
            <a:endParaRPr lang="en-US" sz="16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Python programming  |  Lesson 5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8321040" y="6236208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D9DEE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Station 3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502920" y="438912"/>
            <a:ext cx="566928" cy="566928"/>
          </a:xfrm>
          <a:prstGeom prst="ellipse">
            <a:avLst/>
          </a:prstGeom>
          <a:solidFill>
            <a:srgbClr val="2D63F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02920" y="43891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3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1234440" y="411480"/>
            <a:ext cx="104241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Sentinel values</a:t>
            </a:r>
            <a:endParaRPr lang="en-US" sz="3000" dirty="0"/>
          </a:p>
        </p:txBody>
      </p:sp>
      <p:sp>
        <p:nvSpPr>
          <p:cNvPr id="9" name="Shape 7"/>
          <p:cNvSpPr/>
          <p:nvPr/>
        </p:nvSpPr>
        <p:spPr>
          <a:xfrm>
            <a:off x="502920" y="1280160"/>
            <a:ext cx="70408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14400" y="1600200"/>
            <a:ext cx="63093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 sentinel is an agreed value meaning 'no more data', such as -1 or the word end.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The loop keeps going until the sentinel arrives, however many items came before it.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Common mistake: counting the sentinel itself as one of the real values.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7818120" y="1280160"/>
            <a:ext cx="38404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F4B94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183880" y="150876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CHALLENGE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8183880" y="1874520"/>
            <a:ext cx="31546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Why must a sentinel be a value the real data can never take?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502920" y="4754880"/>
            <a:ext cx="11155680" cy="777240"/>
          </a:xfrm>
          <a:prstGeom prst="roundRect">
            <a:avLst>
              <a:gd name="adj" fmla="val 11765"/>
            </a:avLst>
          </a:prstGeom>
          <a:solidFill>
            <a:srgbClr val="EEF2FB"/>
          </a:solidFill>
          <a:ln w="12700">
            <a:solidFill>
              <a:srgbClr val="2D63FF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4400" y="4754880"/>
            <a:ext cx="10332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On your worksheet:  </a:t>
            </a:r>
            <a:pPr indent="0" marL="0"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Sentinel means guard: the value stands at the end of the data keeping watch.</a:t>
            </a:r>
            <a:endParaRPr lang="en-US" sz="16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Python programming  |  Lesson 5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8321040" y="6236208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D9DEE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Station 4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502920" y="438912"/>
            <a:ext cx="566928" cy="566928"/>
          </a:xfrm>
          <a:prstGeom prst="ellipse">
            <a:avLst/>
          </a:prstGeom>
          <a:solidFill>
            <a:srgbClr val="2D63F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02920" y="43891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4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1234440" y="411480"/>
            <a:ext cx="104241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Counting inside a while</a:t>
            </a:r>
            <a:endParaRPr lang="en-US" sz="3000" dirty="0"/>
          </a:p>
        </p:txBody>
      </p:sp>
      <p:sp>
        <p:nvSpPr>
          <p:cNvPr id="9" name="Shape 7"/>
          <p:cNvSpPr/>
          <p:nvPr/>
        </p:nvSpPr>
        <p:spPr>
          <a:xfrm>
            <a:off x="502920" y="1280160"/>
            <a:ext cx="70408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14400" y="1600200"/>
            <a:ext cx="63093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 counter and a running total are set up before the loop and updated inside it.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The same pass can count the items and test each one against a rule.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Common mistake: updating the counter after the loop has already finished.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7818120" y="1280160"/>
            <a:ext cx="38404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F4B94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183880" y="150876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CHALLENGE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8183880" y="1874520"/>
            <a:ext cx="31546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How would you count how many of the scores read reached 40?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502920" y="4754880"/>
            <a:ext cx="11155680" cy="777240"/>
          </a:xfrm>
          <a:prstGeom prst="roundRect">
            <a:avLst>
              <a:gd name="adj" fmla="val 11765"/>
            </a:avLst>
          </a:prstGeom>
          <a:solidFill>
            <a:srgbClr val="EEF2FB"/>
          </a:solidFill>
          <a:ln w="12700">
            <a:solidFill>
              <a:srgbClr val="2D63FF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4400" y="4754880"/>
            <a:ext cx="10332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On your worksheet:  </a:t>
            </a:r>
            <a:pPr indent="0" marL="0"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 while loop with a counter can do anything a for loop can, but a for loop says it more clearly.</a:t>
            </a:r>
            <a:endParaRPr lang="en-US" sz="16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Python programming  |  Lesson 5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8321040" y="6236208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D9DEE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Station 5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502920" y="438912"/>
            <a:ext cx="566928" cy="566928"/>
          </a:xfrm>
          <a:prstGeom prst="ellipse">
            <a:avLst/>
          </a:prstGeom>
          <a:solidFill>
            <a:srgbClr val="2D63F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02920" y="43891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5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1234440" y="411480"/>
            <a:ext cx="104241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Choosing for or while</a:t>
            </a:r>
            <a:endParaRPr lang="en-US" sz="3000" dirty="0"/>
          </a:p>
        </p:txBody>
      </p:sp>
      <p:sp>
        <p:nvSpPr>
          <p:cNvPr id="9" name="Shape 7"/>
          <p:cNvSpPr/>
          <p:nvPr/>
        </p:nvSpPr>
        <p:spPr>
          <a:xfrm>
            <a:off x="502920" y="1280160"/>
            <a:ext cx="70408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14400" y="1600200"/>
            <a:ext cx="63093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Use for when the number of repeats is known before the loop starts.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Use while when it depends on the data, or on what the user chooses to type.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Common mistake: a while loop with its own counter where a for loop would be shorter and safer.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7818120" y="1280160"/>
            <a:ext cx="38404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F4B94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183880" y="150876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CHALLENGE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8183880" y="1874520"/>
            <a:ext cx="31546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Which loop would you use to read a known number of parcel weights?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502920" y="4754880"/>
            <a:ext cx="11155680" cy="777240"/>
          </a:xfrm>
          <a:prstGeom prst="roundRect">
            <a:avLst>
              <a:gd name="adj" fmla="val 11765"/>
            </a:avLst>
          </a:prstGeom>
          <a:solidFill>
            <a:srgbClr val="EEF2FB"/>
          </a:solidFill>
          <a:ln w="12700">
            <a:solidFill>
              <a:srgbClr val="2D63FF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4400" y="4754880"/>
            <a:ext cx="10332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On your worksheet:  </a:t>
            </a:r>
            <a:pPr indent="0" marL="0"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Both kinds are called iteration, and the exam expects you to name which one you have used.</a:t>
            </a:r>
            <a:endParaRPr lang="en-US" sz="16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Python programming  |  Lesson 5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8321040" y="6236208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D9DEE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Station 6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502920" y="438912"/>
            <a:ext cx="566928" cy="566928"/>
          </a:xfrm>
          <a:prstGeom prst="ellipse">
            <a:avLst/>
          </a:prstGeom>
          <a:solidFill>
            <a:srgbClr val="2D63F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02920" y="43891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6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1234440" y="411480"/>
            <a:ext cx="104241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Putting it together</a:t>
            </a:r>
            <a:endParaRPr lang="en-US" sz="3000" dirty="0"/>
          </a:p>
        </p:txBody>
      </p:sp>
      <p:sp>
        <p:nvSpPr>
          <p:cNvPr id="9" name="Shape 7"/>
          <p:cNvSpPr/>
          <p:nvPr/>
        </p:nvSpPr>
        <p:spPr>
          <a:xfrm>
            <a:off x="502920" y="1280160"/>
            <a:ext cx="70408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14400" y="1600200"/>
            <a:ext cx="63093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Set every total and counter up before the loop, and report them after it.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One while loop can both validate what comes in and gather the figures you need.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Common mistake: reporting inside the loop, which prints a line for every item read.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7818120" y="1280160"/>
            <a:ext cx="38404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F4B94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183880" y="150876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CHALLENGE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8183880" y="1874520"/>
            <a:ext cx="31546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Plan the variables a swimming session report needs before its loop starts.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502920" y="4754880"/>
            <a:ext cx="11155680" cy="777240"/>
          </a:xfrm>
          <a:prstGeom prst="roundRect">
            <a:avLst>
              <a:gd name="adj" fmla="val 11765"/>
            </a:avLst>
          </a:prstGeom>
          <a:solidFill>
            <a:srgbClr val="EEF2FB"/>
          </a:solidFill>
          <a:ln w="12700">
            <a:solidFill>
              <a:srgbClr val="2D63FF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4400" y="4754880"/>
            <a:ext cx="10332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On your worksheet:  </a:t>
            </a:r>
            <a:pPr indent="0" marL="0"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 loop that reads until a sentinel copes with no data at all, as long as the totals start at zero.</a:t>
            </a:r>
            <a:endParaRPr lang="en-US" sz="16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Python programming  |  Lesson 5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02920" y="438912"/>
            <a:ext cx="3108960" cy="502920"/>
          </a:xfrm>
          <a:prstGeom prst="roundRect">
            <a:avLst>
              <a:gd name="adj" fmla="val 18182"/>
            </a:avLst>
          </a:prstGeom>
          <a:solidFill>
            <a:srgbClr val="F4B942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502920" y="438912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0182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★  FINAL CHALLENGE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502920" y="1097280"/>
            <a:ext cx="11155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For or while?</a:t>
            </a:r>
            <a:endParaRPr lang="en-US" sz="3400" dirty="0"/>
          </a:p>
        </p:txBody>
      </p:sp>
      <p:sp>
        <p:nvSpPr>
          <p:cNvPr id="8" name="Shape 6"/>
          <p:cNvSpPr/>
          <p:nvPr/>
        </p:nvSpPr>
        <p:spPr>
          <a:xfrm>
            <a:off x="502920" y="2011680"/>
            <a:ext cx="11155680" cy="21945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5875">
            <a:solidFill>
              <a:srgbClr val="2D63F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1005840" y="2331720"/>
            <a:ext cx="101498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22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Eight jobs are waiting. Tap the star and decide whether each one needs a count-controlled for loop or a condition-controlled while loop.</a:t>
            </a:r>
            <a:endParaRPr lang="en-US" sz="2200" dirty="0"/>
          </a:p>
        </p:txBody>
      </p:sp>
      <p:sp>
        <p:nvSpPr>
          <p:cNvPr id="10" name="Text 8"/>
          <p:cNvSpPr txBox="1"/>
          <p:nvPr/>
        </p:nvSpPr>
        <p:spPr>
          <a:xfrm>
            <a:off x="502920" y="4526280"/>
            <a:ext cx="11155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Predict on paper first, then look down and test it.</a:t>
            </a:r>
            <a:endParaRPr lang="en-US" sz="16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Python programming  |  Lesson 5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411480"/>
            <a:ext cx="11155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Worth knowing</a:t>
            </a:r>
            <a:endParaRPr lang="en-US" sz="32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1170432"/>
            <a:ext cx="11155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The information markers dotted around the room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02920" y="1828800"/>
            <a:ext cx="5394960" cy="1737360"/>
          </a:xfrm>
          <a:prstGeom prst="roundRect">
            <a:avLst>
              <a:gd name="adj" fmla="val 6316"/>
            </a:avLst>
          </a:prstGeom>
          <a:solidFill>
            <a:srgbClr val="FFFFFF"/>
          </a:solidFill>
          <a:ln w="15875">
            <a:solidFill>
              <a:srgbClr val="2D63F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22960" y="201168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Stuck forever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2395728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If a program stops responding, an infinite loop is often why: the condition it waits for can never become False.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6217920" y="1828800"/>
            <a:ext cx="5394960" cy="1737360"/>
          </a:xfrm>
          <a:prstGeom prst="roundRect">
            <a:avLst>
              <a:gd name="adj" fmla="val 6316"/>
            </a:avLst>
          </a:prstGeom>
          <a:solidFill>
            <a:srgbClr val="FFFFFF"/>
          </a:solidFill>
          <a:ln w="15875">
            <a:solidFill>
              <a:srgbClr val="08A6A6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537960" y="201168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8A6A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Ask again politely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6537960" y="2395728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 good validation loop says what was wrong with the last answer, not just 'try again'.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502920" y="3794760"/>
            <a:ext cx="5394960" cy="1737360"/>
          </a:xfrm>
          <a:prstGeom prst="roundRect">
            <a:avLst>
              <a:gd name="adj" fmla="val 6316"/>
            </a:avLst>
          </a:prstGeom>
          <a:solidFill>
            <a:srgbClr val="FFFFFF"/>
          </a:solidFill>
          <a:ln w="15875">
            <a:solidFill>
              <a:srgbClr val="2D63FF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822960" y="397764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Choosing a sentinel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822960" y="4361688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-1 works for a price, because a price can never be negative. For a temperature it would be a terrible choice.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6217920" y="3794760"/>
            <a:ext cx="5394960" cy="1737360"/>
          </a:xfrm>
          <a:prstGeom prst="roundRect">
            <a:avLst>
              <a:gd name="adj" fmla="val 6316"/>
            </a:avLst>
          </a:prstGeom>
          <a:solidFill>
            <a:srgbClr val="FFFFFF"/>
          </a:solidFill>
          <a:ln w="15875">
            <a:solidFill>
              <a:srgbClr val="08A6A6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537960" y="397764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8A6A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Count or total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6537960" y="4361688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 counter always adds 1. A running total adds whatever came in. Plenty of programs need both at once.</a:t>
            </a:r>
            <a:endParaRPr lang="en-US" sz="13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Python programming  |  Lesson 5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411480"/>
            <a:ext cx="11155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Exam practice</a:t>
            </a:r>
            <a:endParaRPr lang="en-US" sz="32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1170432"/>
            <a:ext cx="11155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Devices away. Answer from memory on the worksheet.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02920" y="1828800"/>
            <a:ext cx="11155680" cy="10972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14400" y="1938528"/>
            <a:ext cx="941832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 validation loop reads a number, then repeats for as long as it is outside 1 to 50. When 99 is typed the program reports the same wrong number over and over. State what has been left out of the loop, and where in the loop it belongs.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10515600" y="2130552"/>
            <a:ext cx="868680" cy="493776"/>
          </a:xfrm>
          <a:prstGeom prst="roundRect">
            <a:avLst>
              <a:gd name="adj" fmla="val 18519"/>
            </a:avLst>
          </a:prstGeom>
          <a:solidFill>
            <a:srgbClr val="EEF2FB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10515600" y="2130552"/>
            <a:ext cx="8686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D63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[2]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502920" y="3127248"/>
            <a:ext cx="11155680" cy="10972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14400" y="3236976"/>
            <a:ext cx="941832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Write a program that reads lengths of rope in centimetres until 0 is typed, then prints how many lengths were read and their total length.</a:t>
            </a:r>
            <a:endParaRPr lang="en-US" sz="1700" dirty="0"/>
          </a:p>
        </p:txBody>
      </p:sp>
      <p:sp>
        <p:nvSpPr>
          <p:cNvPr id="13" name="Shape 11"/>
          <p:cNvSpPr/>
          <p:nvPr/>
        </p:nvSpPr>
        <p:spPr>
          <a:xfrm>
            <a:off x="10515600" y="3429000"/>
            <a:ext cx="868680" cy="493776"/>
          </a:xfrm>
          <a:prstGeom prst="roundRect">
            <a:avLst>
              <a:gd name="adj" fmla="val 18519"/>
            </a:avLst>
          </a:prstGeom>
          <a:solidFill>
            <a:srgbClr val="EEF2FB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10515600" y="3429000"/>
            <a:ext cx="8686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D63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[5]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502920" y="4425696"/>
            <a:ext cx="11155680" cy="10972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914400" y="4535424"/>
            <a:ext cx="941832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Write a program that keeps asking for a password until one of at least 8 characters is typed, and then prints Accepted.</a:t>
            </a:r>
            <a:endParaRPr lang="en-US" sz="1700" dirty="0"/>
          </a:p>
        </p:txBody>
      </p:sp>
      <p:sp>
        <p:nvSpPr>
          <p:cNvPr id="17" name="Shape 15"/>
          <p:cNvSpPr/>
          <p:nvPr/>
        </p:nvSpPr>
        <p:spPr>
          <a:xfrm>
            <a:off x="10515600" y="4727448"/>
            <a:ext cx="868680" cy="493776"/>
          </a:xfrm>
          <a:prstGeom prst="roundRect">
            <a:avLst>
              <a:gd name="adj" fmla="val 18519"/>
            </a:avLst>
          </a:prstGeom>
          <a:solidFill>
            <a:srgbClr val="EEF2FB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10515600" y="4727448"/>
            <a:ext cx="8686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D63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[4]</a:t>
            </a:r>
            <a:endParaRPr lang="en-US" sz="15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Python programming  |  Lesson 5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411480"/>
            <a:ext cx="11155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Before you go</a:t>
            </a:r>
            <a:endParaRPr lang="en-US" sz="32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1170432"/>
            <a:ext cx="11155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Rate yourself on each of these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02920" y="1920240"/>
            <a:ext cx="7863840" cy="777240"/>
          </a:xfrm>
          <a:prstGeom prst="roundRect">
            <a:avLst>
              <a:gd name="adj" fmla="val 14118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14400" y="1920240"/>
            <a:ext cx="7132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Writing a while loop that stops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8595360" y="2066544"/>
            <a:ext cx="987552" cy="484632"/>
          </a:xfrm>
          <a:prstGeom prst="roundRect">
            <a:avLst>
              <a:gd name="adj" fmla="val 18868"/>
            </a:avLst>
          </a:prstGeom>
          <a:solidFill>
            <a:srgbClr val="FFFFFF"/>
          </a:solidFill>
          <a:ln w="15875">
            <a:solidFill>
              <a:srgbClr val="08A6A6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595360" y="2066544"/>
            <a:ext cx="98755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8A6A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Secure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9674352" y="2066544"/>
            <a:ext cx="987552" cy="484632"/>
          </a:xfrm>
          <a:prstGeom prst="roundRect">
            <a:avLst>
              <a:gd name="adj" fmla="val 18868"/>
            </a:avLst>
          </a:prstGeom>
          <a:solidFill>
            <a:srgbClr val="FFFFFF"/>
          </a:solidFill>
          <a:ln w="15875">
            <a:solidFill>
              <a:srgbClr val="F4B94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674352" y="2066544"/>
            <a:ext cx="98755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4B94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Revise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10753344" y="2066544"/>
            <a:ext cx="987552" cy="484632"/>
          </a:xfrm>
          <a:prstGeom prst="roundRect">
            <a:avLst>
              <a:gd name="adj" fmla="val 18868"/>
            </a:avLst>
          </a:prstGeom>
          <a:solidFill>
            <a:srgbClr val="FFFFFF"/>
          </a:solidFill>
          <a:ln w="15875">
            <a:solidFill>
              <a:srgbClr val="E2574C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10753344" y="2066544"/>
            <a:ext cx="98755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2574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Focus here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02920" y="2880360"/>
            <a:ext cx="7863840" cy="777240"/>
          </a:xfrm>
          <a:prstGeom prst="roundRect">
            <a:avLst>
              <a:gd name="adj" fmla="val 14118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914400" y="2880360"/>
            <a:ext cx="7132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Writing a validation loop that asks again</a:t>
            </a:r>
            <a:endParaRPr lang="en-US" sz="1800" dirty="0"/>
          </a:p>
        </p:txBody>
      </p:sp>
      <p:sp>
        <p:nvSpPr>
          <p:cNvPr id="17" name="Shape 15"/>
          <p:cNvSpPr/>
          <p:nvPr/>
        </p:nvSpPr>
        <p:spPr>
          <a:xfrm>
            <a:off x="8595360" y="3026664"/>
            <a:ext cx="987552" cy="484632"/>
          </a:xfrm>
          <a:prstGeom prst="roundRect">
            <a:avLst>
              <a:gd name="adj" fmla="val 18868"/>
            </a:avLst>
          </a:prstGeom>
          <a:solidFill>
            <a:srgbClr val="FFFFFF"/>
          </a:solidFill>
          <a:ln w="15875">
            <a:solidFill>
              <a:srgbClr val="08A6A6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8595360" y="3026664"/>
            <a:ext cx="98755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8A6A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Secure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9674352" y="3026664"/>
            <a:ext cx="987552" cy="484632"/>
          </a:xfrm>
          <a:prstGeom prst="roundRect">
            <a:avLst>
              <a:gd name="adj" fmla="val 18868"/>
            </a:avLst>
          </a:prstGeom>
          <a:solidFill>
            <a:srgbClr val="FFFFFF"/>
          </a:solidFill>
          <a:ln w="15875">
            <a:solidFill>
              <a:srgbClr val="F4B942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9674352" y="3026664"/>
            <a:ext cx="98755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4B94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Revise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10753344" y="3026664"/>
            <a:ext cx="987552" cy="484632"/>
          </a:xfrm>
          <a:prstGeom prst="roundRect">
            <a:avLst>
              <a:gd name="adj" fmla="val 18868"/>
            </a:avLst>
          </a:prstGeom>
          <a:solidFill>
            <a:srgbClr val="FFFFFF"/>
          </a:solidFill>
          <a:ln w="15875">
            <a:solidFill>
              <a:srgbClr val="E2574C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10753344" y="3026664"/>
            <a:ext cx="98755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2574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Focus here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502920" y="3840480"/>
            <a:ext cx="7863840" cy="777240"/>
          </a:xfrm>
          <a:prstGeom prst="roundRect">
            <a:avLst>
              <a:gd name="adj" fmla="val 14118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914400" y="3840480"/>
            <a:ext cx="7132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Using a sentinel value to end a loop</a:t>
            </a:r>
            <a:endParaRPr lang="en-US" sz="1800" dirty="0"/>
          </a:p>
        </p:txBody>
      </p:sp>
      <p:sp>
        <p:nvSpPr>
          <p:cNvPr id="25" name="Shape 23"/>
          <p:cNvSpPr/>
          <p:nvPr/>
        </p:nvSpPr>
        <p:spPr>
          <a:xfrm>
            <a:off x="8595360" y="3986784"/>
            <a:ext cx="987552" cy="484632"/>
          </a:xfrm>
          <a:prstGeom prst="roundRect">
            <a:avLst>
              <a:gd name="adj" fmla="val 18868"/>
            </a:avLst>
          </a:prstGeom>
          <a:solidFill>
            <a:srgbClr val="FFFFFF"/>
          </a:solidFill>
          <a:ln w="15875">
            <a:solidFill>
              <a:srgbClr val="08A6A6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8595360" y="3986784"/>
            <a:ext cx="98755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8A6A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Secure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9674352" y="3986784"/>
            <a:ext cx="987552" cy="484632"/>
          </a:xfrm>
          <a:prstGeom prst="roundRect">
            <a:avLst>
              <a:gd name="adj" fmla="val 18868"/>
            </a:avLst>
          </a:prstGeom>
          <a:solidFill>
            <a:srgbClr val="FFFFFF"/>
          </a:solidFill>
          <a:ln w="15875">
            <a:solidFill>
              <a:srgbClr val="F4B942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9674352" y="3986784"/>
            <a:ext cx="98755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4B94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Revise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10753344" y="3986784"/>
            <a:ext cx="987552" cy="484632"/>
          </a:xfrm>
          <a:prstGeom prst="roundRect">
            <a:avLst>
              <a:gd name="adj" fmla="val 18868"/>
            </a:avLst>
          </a:prstGeom>
          <a:solidFill>
            <a:srgbClr val="FFFFFF"/>
          </a:solidFill>
          <a:ln w="15875">
            <a:solidFill>
              <a:srgbClr val="E2574C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10753344" y="3986784"/>
            <a:ext cx="98755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2574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Focus here</a:t>
            </a:r>
            <a:endParaRPr lang="en-US" sz="1000" dirty="0"/>
          </a:p>
        </p:txBody>
      </p:sp>
      <p:sp>
        <p:nvSpPr>
          <p:cNvPr id="31" name="Text 29"/>
          <p:cNvSpPr txBox="1"/>
          <p:nvPr/>
        </p:nvSpPr>
        <p:spPr>
          <a:xfrm>
            <a:off x="502920" y="5074920"/>
            <a:ext cx="11155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Anything marked Focus here: reopen Waiting room and use review mode on the questions you got wrong.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Revise 360 Ltd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Python programming  |  Lesson 5 — Waiting room</dc:title>
  <dc:subject>OCR J277 GCSE Computer Science</dc:subject>
  <dc:creator>Revise 360 Ltd</dc:creator>
  <cp:lastModifiedBy>Revise 360 Ltd</cp:lastModifiedBy>
  <cp:revision>1</cp:revision>
  <dcterms:created xsi:type="dcterms:W3CDTF">2026-10-02T12:49:28Z</dcterms:created>
  <dcterms:modified xsi:type="dcterms:W3CDTF">2026-10-02T12:49:28Z</dcterms:modified>
</cp:coreProperties>
</file>