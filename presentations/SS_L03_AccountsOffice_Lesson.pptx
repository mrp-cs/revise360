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Accounts office.
Open the experience at revise360.co.uk and hand out SS_L03_AccountsOffice_Worksheet.docx.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User accounts.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Access levels.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Groups and profiles.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Files and folders.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What the OS does with files.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File extensions.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Their profile is stored on the network, not on one machine.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Groups and profiles, and work through its example again, aloud, with the class watching, then re-ask this question.
The course's own response to a wrong answer here: It's why any machine in the school feels like yours.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(ss-l03-s3-c2),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1.5 Systems software  |  Lesson 3</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Accounts office</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 school network gives thousands of people their own space, and lets nobody see anyone else's. Find out how user management and file management make that work.</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does an operating system manage users and their files?</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what is meant by user management</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ways an operating system manages files</a:t>
            </a:r>
            <a:endParaRPr lang="en-US" sz="1900" dirty="0"/>
          </a:p>
        </p:txBody>
      </p:sp>
      <p:sp>
        <p:nvSpPr>
          <p:cNvPr id="13" name="Text 11"/>
          <p:cNvSpPr txBox="1"/>
          <p:nvPr/>
        </p:nvSpPr>
        <p:spPr>
          <a:xfrm>
            <a:off x="548640" y="4151376"/>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4" name="Shape 12"/>
          <p:cNvSpPr/>
          <p:nvPr/>
        </p:nvSpPr>
        <p:spPr>
          <a:xfrm>
            <a:off x="548640" y="4535424"/>
            <a:ext cx="2212848" cy="402336"/>
          </a:xfrm>
          <a:prstGeom prst="roundRect">
            <a:avLst>
              <a:gd name="adj" fmla="val 50000"/>
            </a:avLst>
          </a:prstGeom>
          <a:solidFill>
            <a:srgbClr val="FFFFFF"/>
          </a:solidFill>
          <a:ln w="12700">
            <a:solidFill>
              <a:srgbClr val="2D63FF"/>
            </a:solidFill>
            <a:prstDash val="solid"/>
          </a:ln>
        </p:spPr>
      </p:sp>
      <p:sp>
        <p:nvSpPr>
          <p:cNvPr id="15" name="Text 13"/>
          <p:cNvSpPr txBox="1"/>
          <p:nvPr/>
        </p:nvSpPr>
        <p:spPr>
          <a:xfrm>
            <a:off x="548640" y="4535424"/>
            <a:ext cx="221284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User account</a:t>
            </a:r>
            <a:endParaRPr lang="en-US" sz="1200" dirty="0"/>
          </a:p>
        </p:txBody>
      </p:sp>
      <p:sp>
        <p:nvSpPr>
          <p:cNvPr id="16" name="Shape 14"/>
          <p:cNvSpPr/>
          <p:nvPr/>
        </p:nvSpPr>
        <p:spPr>
          <a:xfrm>
            <a:off x="2889504" y="4535424"/>
            <a:ext cx="2212848" cy="402336"/>
          </a:xfrm>
          <a:prstGeom prst="roundRect">
            <a:avLst>
              <a:gd name="adj" fmla="val 50000"/>
            </a:avLst>
          </a:prstGeom>
          <a:solidFill>
            <a:srgbClr val="FFFFFF"/>
          </a:solidFill>
          <a:ln w="12700">
            <a:solidFill>
              <a:srgbClr val="2D63FF"/>
            </a:solidFill>
            <a:prstDash val="solid"/>
          </a:ln>
        </p:spPr>
      </p:sp>
      <p:sp>
        <p:nvSpPr>
          <p:cNvPr id="17" name="Text 15"/>
          <p:cNvSpPr txBox="1"/>
          <p:nvPr/>
        </p:nvSpPr>
        <p:spPr>
          <a:xfrm>
            <a:off x="2889504" y="4535424"/>
            <a:ext cx="221284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Access level</a:t>
            </a:r>
            <a:endParaRPr lang="en-US" sz="1200" dirty="0"/>
          </a:p>
        </p:txBody>
      </p:sp>
      <p:sp>
        <p:nvSpPr>
          <p:cNvPr id="18" name="Shape 16"/>
          <p:cNvSpPr/>
          <p:nvPr/>
        </p:nvSpPr>
        <p:spPr>
          <a:xfrm>
            <a:off x="5230368" y="4535424"/>
            <a:ext cx="2066544" cy="402336"/>
          </a:xfrm>
          <a:prstGeom prst="roundRect">
            <a:avLst>
              <a:gd name="adj" fmla="val 50000"/>
            </a:avLst>
          </a:prstGeom>
          <a:solidFill>
            <a:srgbClr val="FFFFFF"/>
          </a:solidFill>
          <a:ln w="12700">
            <a:solidFill>
              <a:srgbClr val="2D63FF"/>
            </a:solidFill>
            <a:prstDash val="solid"/>
          </a:ln>
        </p:spPr>
      </p:sp>
      <p:sp>
        <p:nvSpPr>
          <p:cNvPr id="19" name="Text 17"/>
          <p:cNvSpPr txBox="1"/>
          <p:nvPr/>
        </p:nvSpPr>
        <p:spPr>
          <a:xfrm>
            <a:off x="5230368" y="4535424"/>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Permissions</a:t>
            </a:r>
            <a:endParaRPr lang="en-US" sz="1200" dirty="0"/>
          </a:p>
        </p:txBody>
      </p:sp>
      <p:sp>
        <p:nvSpPr>
          <p:cNvPr id="20" name="Shape 18"/>
          <p:cNvSpPr/>
          <p:nvPr/>
        </p:nvSpPr>
        <p:spPr>
          <a:xfrm>
            <a:off x="7424928" y="4535424"/>
            <a:ext cx="1920240" cy="402336"/>
          </a:xfrm>
          <a:prstGeom prst="roundRect">
            <a:avLst>
              <a:gd name="adj" fmla="val 50000"/>
            </a:avLst>
          </a:prstGeom>
          <a:solidFill>
            <a:srgbClr val="FFFFFF"/>
          </a:solidFill>
          <a:ln w="12700">
            <a:solidFill>
              <a:srgbClr val="2D63FF"/>
            </a:solidFill>
            <a:prstDash val="solid"/>
          </a:ln>
        </p:spPr>
      </p:sp>
      <p:sp>
        <p:nvSpPr>
          <p:cNvPr id="21" name="Text 19"/>
          <p:cNvSpPr txBox="1"/>
          <p:nvPr/>
        </p:nvSpPr>
        <p:spPr>
          <a:xfrm>
            <a:off x="7424928" y="4535424"/>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User group</a:t>
            </a:r>
            <a:endParaRPr lang="en-US" sz="1200" dirty="0"/>
          </a:p>
        </p:txBody>
      </p:sp>
      <p:sp>
        <p:nvSpPr>
          <p:cNvPr id="22" name="Shape 20"/>
          <p:cNvSpPr/>
          <p:nvPr/>
        </p:nvSpPr>
        <p:spPr>
          <a:xfrm>
            <a:off x="9473184" y="4535424"/>
            <a:ext cx="1042416" cy="402336"/>
          </a:xfrm>
          <a:prstGeom prst="roundRect">
            <a:avLst>
              <a:gd name="adj" fmla="val 50000"/>
            </a:avLst>
          </a:prstGeom>
          <a:solidFill>
            <a:srgbClr val="FFFFFF"/>
          </a:solidFill>
          <a:ln w="12700">
            <a:solidFill>
              <a:srgbClr val="2D63FF"/>
            </a:solidFill>
            <a:prstDash val="solid"/>
          </a:ln>
        </p:spPr>
      </p:sp>
      <p:sp>
        <p:nvSpPr>
          <p:cNvPr id="23" name="Text 21"/>
          <p:cNvSpPr txBox="1"/>
          <p:nvPr/>
        </p:nvSpPr>
        <p:spPr>
          <a:xfrm>
            <a:off x="9473184" y="4535424"/>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Sign in to a school computer and list everything that is yours rather than the machine's. How does it know?</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Accounts office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User accounts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person gets an account: a username, a password and their own settings and files.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OS checks the password before letting anyone in. This is authentication.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Accounts mean the same machine can be shared without anyone seeing anyone else's work.</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List three things stored with your school account.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user account holds...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Access levels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access level decides what a user may do with a file: nothing, read it, or read and change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Give each user the least access their job needs.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OS checks the level every time a file is opened.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Set the access levels in the experience, then explain your choices.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 access level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Groups and profiles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Setting permissions for thousands of people one at a time is impossible, so users are put into groups.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permission set on a group applies to everyone in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profile holds a user's settings, so their desktop follows them to any machine on the network.</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do network managers set permissions on groups rather than on individuals?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user group 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Files and folders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OS stores data as files, and organises them in folders.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Folders sit inside folders, forming a hierarchy that starts at the root.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path describes the route to a file, for example Documents\Computing\1.5\notes.docx.</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Draw three levels of your own folder structure, starting at the root.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Files and folders are organised...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the OS does with files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creates, opens, renames, moves, copies and deletes files.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records where each file is physically stored, and how much space is free.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shows a tidy hierarchy to the user, even though the blocks may be scattered across the disk.</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the difference between moving and copying a file.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File management means...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File extensions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extension is the part after the dot: .docx, .jpg, .mp3, .exe.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tells the OS which program should open the file.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Changing the extension doesn't change what is inside the file.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Name five extensions and the type of file each one is.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file extension...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A user signs in to a different computer and finds their own desktop and documents. What made that possible?</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 OS guessed the settings</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Their profile is stored on the network, not on one machine</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 computers share a keyboard</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 files were emailed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Lock down the network</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Set the permissions for a school network, then sort the jobs. Tap the star to begin.</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Least privilege</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Security teams call this the principle of least privilege: give every account the smallest access that still lets the work happen. It limits the damage when an account is stolen.</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Who did what</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Operating systems keep logs of who signed in, and what they opened. It's how a school can find out who deleted a shared file.</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The root</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On Windows the top of a drive is C:\; on Linux and macOS it is simply /. Either way, everything else hangs below it.</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Long names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Early systems allowed eight characters and a three-letter extension, which is why old files have names like REPORT01.DOC.</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what is meant by user management.</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why a network manager sets permissions on groups rather than on individual users.</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three file management tasks carried out by an operating system.</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1.5 Systems software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User accounts and authentication</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Access levels and groups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Files, folders and file management</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Accounts office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1.5 Systems software  |  Lesson 3 — Accounts office</dc:title>
  <dc:subject>OCR J277 GCSE Computer Science</dc:subject>
  <dc:creator>Revise 360 Ltd</dc:creator>
  <cp:lastModifiedBy>Revise 360 Ltd</cp:lastModifiedBy>
  <cp:revision>1</cp:revision>
  <dcterms:created xsi:type="dcterms:W3CDTF">2026-10-03T17:08:49Z</dcterms:created>
  <dcterms:modified xsi:type="dcterms:W3CDTF">2026-10-03T17:08:49Z</dcterms:modified>
</cp:coreProperties>
</file>