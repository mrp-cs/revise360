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517998af2244f4" /><Relationship Type="http://schemas.openxmlformats.org/officeDocument/2006/relationships/extended-properties" Target="/docProps/app.xml" Id="Rae0600fd1a9c4ac5" /><Relationship Type="http://schemas.openxmlformats.org/officeDocument/2006/relationships/officeDocument" Target="/ppt/presentation.xml" Id="Ra631d66bfc9941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a23c8d75704c48"/>
  </p:sldMasterIdLst>
  <p:notesMasterIdLst>
    <p:notesMasterId xmlns:r="http://schemas.openxmlformats.org/officeDocument/2006/relationships" r:id="Rb7f6bda3c8334062"/>
  </p:notesMasterIdLst>
  <p:sldIdLst>
    <p:sldId xmlns:r="http://schemas.openxmlformats.org/officeDocument/2006/relationships" id="256" r:id="R7e7b67bd30424075"/>
    <p:sldId xmlns:r="http://schemas.openxmlformats.org/officeDocument/2006/relationships" id="257" r:id="Re80ff2f5f42641f6"/>
    <p:sldId xmlns:r="http://schemas.openxmlformats.org/officeDocument/2006/relationships" id="258" r:id="R70a3eb7f38d84575"/>
    <p:sldId xmlns:r="http://schemas.openxmlformats.org/officeDocument/2006/relationships" id="259" r:id="R1f5d75be45f24e50"/>
    <p:sldId xmlns:r="http://schemas.openxmlformats.org/officeDocument/2006/relationships" id="260" r:id="R670629a2b7074be9"/>
    <p:sldId xmlns:r="http://schemas.openxmlformats.org/officeDocument/2006/relationships" id="261" r:id="Rf36ca42dbedb41d4"/>
    <p:sldId xmlns:r="http://schemas.openxmlformats.org/officeDocument/2006/relationships" id="262" r:id="R10bca5096c07463e"/>
    <p:sldId xmlns:r="http://schemas.openxmlformats.org/officeDocument/2006/relationships" id="263" r:id="R99db9725ac274e53"/>
    <p:sldId xmlns:r="http://schemas.openxmlformats.org/officeDocument/2006/relationships" id="264" r:id="R407dc25775af4105"/>
    <p:sldId xmlns:r="http://schemas.openxmlformats.org/officeDocument/2006/relationships" id="265" r:id="R12d22d855e214c40"/>
    <p:sldId xmlns:r="http://schemas.openxmlformats.org/officeDocument/2006/relationships" id="266" r:id="R60ee5d61f662447a"/>
    <p:sldId xmlns:r="http://schemas.openxmlformats.org/officeDocument/2006/relationships" id="267" r:id="Ra880cb22585342bc"/>
    <p:sldId xmlns:r="http://schemas.openxmlformats.org/officeDocument/2006/relationships" id="268" r:id="R7059cca7317e413c"/>
    <p:sldId xmlns:r="http://schemas.openxmlformats.org/officeDocument/2006/relationships" id="269" r:id="Rfcc52a1fb0544c4b"/>
    <p:sldId xmlns:r="http://schemas.openxmlformats.org/officeDocument/2006/relationships" id="270" r:id="Rd21e23af4e9840c5"/>
    <p:sldId xmlns:r="http://schemas.openxmlformats.org/officeDocument/2006/relationships" id="271" r:id="Rb1f9525c42d441ff"/>
    <p:sldId xmlns:r="http://schemas.openxmlformats.org/officeDocument/2006/relationships" id="272" r:id="Rbfddf39cb1c14938"/>
    <p:sldId xmlns:r="http://schemas.openxmlformats.org/officeDocument/2006/relationships" id="273" r:id="Rf4165997efcd43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fd7bdb67514f57" /><Relationship Type="http://schemas.openxmlformats.org/officeDocument/2006/relationships/slideMaster" Target="/ppt/slideMasters/slideMaster1.xml" Id="Rc2a23c8d75704c48" /><Relationship Type="http://schemas.openxmlformats.org/officeDocument/2006/relationships/notesMaster" Target="/ppt/notesMasters/notesMaster1.xml" Id="Rb7f6bda3c8334062" /><Relationship Type="http://schemas.openxmlformats.org/officeDocument/2006/relationships/presProps" Target="/ppt/presProps.xml" Id="R78c37601b0db4148" /><Relationship Type="http://schemas.openxmlformats.org/officeDocument/2006/relationships/tableStyles" Target="/ppt/tableStyles.xml" Id="R493308ff963e46df" /><Relationship Type="http://schemas.openxmlformats.org/officeDocument/2006/relationships/slide" Target="/ppt/slides/slide1.xml" Id="R7e7b67bd30424075" /><Relationship Type="http://schemas.openxmlformats.org/officeDocument/2006/relationships/slide" Target="/ppt/slides/slide2.xml" Id="Re80ff2f5f42641f6" /><Relationship Type="http://schemas.openxmlformats.org/officeDocument/2006/relationships/slide" Target="/ppt/slides/slide3.xml" Id="R70a3eb7f38d84575" /><Relationship Type="http://schemas.openxmlformats.org/officeDocument/2006/relationships/slide" Target="/ppt/slides/slide4.xml" Id="R1f5d75be45f24e50" /><Relationship Type="http://schemas.openxmlformats.org/officeDocument/2006/relationships/slide" Target="/ppt/slides/slide5.xml" Id="R670629a2b7074be9" /><Relationship Type="http://schemas.openxmlformats.org/officeDocument/2006/relationships/slide" Target="/ppt/slides/slide6.xml" Id="Rf36ca42dbedb41d4" /><Relationship Type="http://schemas.openxmlformats.org/officeDocument/2006/relationships/slide" Target="/ppt/slides/slide7.xml" Id="R10bca5096c07463e" /><Relationship Type="http://schemas.openxmlformats.org/officeDocument/2006/relationships/slide" Target="/ppt/slides/slide8.xml" Id="R99db9725ac274e53" /><Relationship Type="http://schemas.openxmlformats.org/officeDocument/2006/relationships/slide" Target="/ppt/slides/slide9.xml" Id="R407dc25775af4105" /><Relationship Type="http://schemas.openxmlformats.org/officeDocument/2006/relationships/slide" Target="/ppt/slides/slide10.xml" Id="R12d22d855e214c40" /><Relationship Type="http://schemas.openxmlformats.org/officeDocument/2006/relationships/slide" Target="/ppt/slides/slide11.xml" Id="R60ee5d61f662447a" /><Relationship Type="http://schemas.openxmlformats.org/officeDocument/2006/relationships/slide" Target="/ppt/slides/slide12.xml" Id="Ra880cb22585342bc" /><Relationship Type="http://schemas.openxmlformats.org/officeDocument/2006/relationships/slide" Target="/ppt/slides/slide13.xml" Id="R7059cca7317e413c" /><Relationship Type="http://schemas.openxmlformats.org/officeDocument/2006/relationships/slide" Target="/ppt/slides/slide14.xml" Id="Rfcc52a1fb0544c4b" /><Relationship Type="http://schemas.openxmlformats.org/officeDocument/2006/relationships/slide" Target="/ppt/slides/slide15.xml" Id="Rd21e23af4e9840c5" /><Relationship Type="http://schemas.openxmlformats.org/officeDocument/2006/relationships/slide" Target="/ppt/slides/slide16.xml" Id="Rb1f9525c42d441ff" /><Relationship Type="http://schemas.openxmlformats.org/officeDocument/2006/relationships/slide" Target="/ppt/slides/slide17.xml" Id="Rbfddf39cb1c14938" /><Relationship Type="http://schemas.openxmlformats.org/officeDocument/2006/relationships/slide" Target="/ppt/slides/slide18.xml" Id="Rf4165997efcd43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617d7a76fb47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c80ddbe3444c8a" /><Relationship Type="http://schemas.openxmlformats.org/officeDocument/2006/relationships/notesMaster" Target="/ppt/notesMasters/notesMaster1.xml" Id="Raa45a2d16ddb41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0660afdf2b49f3" /><Relationship Type="http://schemas.openxmlformats.org/officeDocument/2006/relationships/notesMaster" Target="/ppt/notesMasters/notesMaster1.xml" Id="Re840f8c98b7e46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7e803f57944f3e" /><Relationship Type="http://schemas.openxmlformats.org/officeDocument/2006/relationships/notesMaster" Target="/ppt/notesMasters/notesMaster1.xml" Id="R0572a7b5858046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a26db8197a4771" /><Relationship Type="http://schemas.openxmlformats.org/officeDocument/2006/relationships/notesMaster" Target="/ppt/notesMasters/notesMaster1.xml" Id="R7869a66e0d464f9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9a755af61ba4e12" /><Relationship Type="http://schemas.openxmlformats.org/officeDocument/2006/relationships/notesMaster" Target="/ppt/notesMasters/notesMaster1.xml" Id="R6398f94626c3468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bb0fc394bda4b65" /><Relationship Type="http://schemas.openxmlformats.org/officeDocument/2006/relationships/notesMaster" Target="/ppt/notesMasters/notesMaster1.xml" Id="R23df1307f92f405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b2f1850c5724a50" /><Relationship Type="http://schemas.openxmlformats.org/officeDocument/2006/relationships/notesMaster" Target="/ppt/notesMasters/notesMaster1.xml" Id="Raeb7192cbbde472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e13e5409e87455e" /><Relationship Type="http://schemas.openxmlformats.org/officeDocument/2006/relationships/notesMaster" Target="/ppt/notesMasters/notesMaster1.xml" Id="R731d478fa81847b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5ca0b8204f8478d" /><Relationship Type="http://schemas.openxmlformats.org/officeDocument/2006/relationships/notesMaster" Target="/ppt/notesMasters/notesMaster1.xml" Id="Rb1024a2da3d04a4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c7d7e6f9f8f4f58" /><Relationship Type="http://schemas.openxmlformats.org/officeDocument/2006/relationships/notesMaster" Target="/ppt/notesMasters/notesMaster1.xml" Id="R37a831ebb3ae428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ff92930961b4362" /><Relationship Type="http://schemas.openxmlformats.org/officeDocument/2006/relationships/notesMaster" Target="/ppt/notesMasters/notesMaster1.xml" Id="Rd7de584eb048446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dec3318ef5741f3" /><Relationship Type="http://schemas.openxmlformats.org/officeDocument/2006/relationships/notesMaster" Target="/ppt/notesMasters/notesMaster1.xml" Id="R8f7d050a30a04da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4a82533cbf841e3" /><Relationship Type="http://schemas.openxmlformats.org/officeDocument/2006/relationships/notesMaster" Target="/ppt/notesMasters/notesMaster1.xml" Id="Rde827285b6c4419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d1c73cd9be242ea" /><Relationship Type="http://schemas.openxmlformats.org/officeDocument/2006/relationships/notesMaster" Target="/ppt/notesMasters/notesMaster1.xml" Id="R4381f234691840b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13a590e31cc4046" /><Relationship Type="http://schemas.openxmlformats.org/officeDocument/2006/relationships/notesMaster" Target="/ppt/notesMasters/notesMaster1.xml" Id="Rfc8bd20b5c2a4e7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911a78ccbe04286" /><Relationship Type="http://schemas.openxmlformats.org/officeDocument/2006/relationships/notesMaster" Target="/ppt/notesMasters/notesMaster1.xml" Id="R5c12b8d591e044c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6a7e71005374c87" /><Relationship Type="http://schemas.openxmlformats.org/officeDocument/2006/relationships/notesMaster" Target="/ppt/notesMasters/notesMaster1.xml" Id="R66fc346deddc40e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9b190f199a34219" /><Relationship Type="http://schemas.openxmlformats.org/officeDocument/2006/relationships/notesMaster" Target="/ppt/notesMasters/notesMaster1.xml" Id="R98d1f6ce1b5341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2: Applying abstraction.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2: Applying abstraction.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2: Applying abstraction.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2: Applying abstraction.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2: Applying abstraction.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2: Applying abstraction.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2: Applying abstraction.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>Allow approximately 25–30 minutes for the experience and worksheet. Pupils record facts in their own words.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2: Applying abstraction.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2: Applying abstraction.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2: Applying abstraction.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2: Applying abstraction.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2: Applying abstraction.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2: Applying abstraction.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2: Applying abstraction.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>Close the experience before attempting the questions.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2: Applying abstraction.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2: Applying abstraction.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2: Applying abstraction.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2: Applying abstraction.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0662191d6d4eb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a899051653c4194" /><Relationship Type="http://schemas.openxmlformats.org/officeDocument/2006/relationships/slideLayout" Target="/ppt/slideLayouts/slideLayout1.xml" Id="R7179045c9ed441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79045c9ed441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71e6c651244b4d" /><Relationship Type="http://schemas.openxmlformats.org/officeDocument/2006/relationships/image" Target="/ppt/media/image.png" Id="Rd0004c1394774f87" /><Relationship Type="http://schemas.openxmlformats.org/officeDocument/2006/relationships/image" Target="/ppt/media/image.jpeg" Id="R2283339ab4dd4b25" /><Relationship Type="http://schemas.openxmlformats.org/officeDocument/2006/relationships/notesSlide" Target="/ppt/notesSlides/notesSlide1.xml" Id="Rb9308475fb9a49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0a9eba58604f84" /><Relationship Type="http://schemas.openxmlformats.org/officeDocument/2006/relationships/image" Target="/ppt/media/image2.png" Id="R8347616a81cf496e" /><Relationship Type="http://schemas.openxmlformats.org/officeDocument/2006/relationships/notesSlide" Target="/ppt/notesSlides/notesSlide2.xml" Id="Rd74cc9d0e91442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14d084537c4a43" /><Relationship Type="http://schemas.openxmlformats.org/officeDocument/2006/relationships/image" Target="/ppt/media/image3.png" Id="Rd59178bd71f64236" /><Relationship Type="http://schemas.openxmlformats.org/officeDocument/2006/relationships/notesSlide" Target="/ppt/notesSlides/notesSlide3.xml" Id="R940660af0c614fd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91d1bf8cf04b39" /><Relationship Type="http://schemas.openxmlformats.org/officeDocument/2006/relationships/image" Target="/ppt/media/image4.png" Id="R0f0d54efe4aa416b" /><Relationship Type="http://schemas.openxmlformats.org/officeDocument/2006/relationships/notesSlide" Target="/ppt/notesSlides/notesSlide4.xml" Id="Rbcc2a86e533b41e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e9f7e36d9d45be" /><Relationship Type="http://schemas.openxmlformats.org/officeDocument/2006/relationships/image" Target="/ppt/media/image5.png" Id="R9fc58517e9db42fa" /><Relationship Type="http://schemas.openxmlformats.org/officeDocument/2006/relationships/notesSlide" Target="/ppt/notesSlides/notesSlide5.xml" Id="R03fb9534d830408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1fdc1b32cf46a6" /><Relationship Type="http://schemas.openxmlformats.org/officeDocument/2006/relationships/image" Target="/ppt/media/image6.png" Id="R8279586828414ed9" /><Relationship Type="http://schemas.openxmlformats.org/officeDocument/2006/relationships/notesSlide" Target="/ppt/notesSlides/notesSlide6.xml" Id="Rf287d1422d2a4cd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70cf1104334178" /><Relationship Type="http://schemas.openxmlformats.org/officeDocument/2006/relationships/image" Target="/ppt/media/image7.png" Id="R948a11a370354f20" /><Relationship Type="http://schemas.openxmlformats.org/officeDocument/2006/relationships/notesSlide" Target="/ppt/notesSlides/notesSlide7.xml" Id="Rfc0b78c5f0e1435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fc911379a2414a" /><Relationship Type="http://schemas.openxmlformats.org/officeDocument/2006/relationships/image" Target="/ppt/media/image8.png" Id="R01763ba0f0eb4d36" /><Relationship Type="http://schemas.openxmlformats.org/officeDocument/2006/relationships/notesSlide" Target="/ppt/notesSlides/notesSlide8.xml" Id="R956a61a1980e452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2005a606d344f1" /><Relationship Type="http://schemas.openxmlformats.org/officeDocument/2006/relationships/image" Target="/ppt/media/image9.png" Id="R916b35daa23f46bf" /><Relationship Type="http://schemas.openxmlformats.org/officeDocument/2006/relationships/notesSlide" Target="/ppt/notesSlides/notesSlide9.xml" Id="Raa2520ccfe084c7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538cf70afc4478" /><Relationship Type="http://schemas.openxmlformats.org/officeDocument/2006/relationships/image" Target="/ppt/media/image10.png" Id="R8602aab03ab74de6" /><Relationship Type="http://schemas.openxmlformats.org/officeDocument/2006/relationships/notesSlide" Target="/ppt/notesSlides/notesSlide10.xml" Id="R68553cee49e34ca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0d709c1c7540d3" /><Relationship Type="http://schemas.openxmlformats.org/officeDocument/2006/relationships/image" Target="/ppt/media/image11.png" Id="Re8fafe13afd0453b" /><Relationship Type="http://schemas.openxmlformats.org/officeDocument/2006/relationships/notesSlide" Target="/ppt/notesSlides/notesSlide11.xml" Id="R521b5d3667204de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2ae618ef1149bf" /><Relationship Type="http://schemas.openxmlformats.org/officeDocument/2006/relationships/image" Target="/ppt/media/image12.png" Id="R84688d87e8d24cb8" /><Relationship Type="http://schemas.openxmlformats.org/officeDocument/2006/relationships/notesSlide" Target="/ppt/notesSlides/notesSlide12.xml" Id="R8841c5f53ed541c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b2b790f10c468c" /><Relationship Type="http://schemas.openxmlformats.org/officeDocument/2006/relationships/image" Target="/ppt/media/image13.png" Id="Ra364cae8074a43c9" /><Relationship Type="http://schemas.openxmlformats.org/officeDocument/2006/relationships/notesSlide" Target="/ppt/notesSlides/notesSlide13.xml" Id="R94cb2b35d7b7435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a1e3b6296e44af" /><Relationship Type="http://schemas.openxmlformats.org/officeDocument/2006/relationships/image" Target="/ppt/media/image14.png" Id="Re4f5f866eaf44684" /><Relationship Type="http://schemas.openxmlformats.org/officeDocument/2006/relationships/notesSlide" Target="/ppt/notesSlides/notesSlide14.xml" Id="R936dd69d04c140d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f200ba502943d7" /><Relationship Type="http://schemas.openxmlformats.org/officeDocument/2006/relationships/image" Target="/ppt/media/image15.png" Id="R95a0a82ff927487c" /><Relationship Type="http://schemas.openxmlformats.org/officeDocument/2006/relationships/notesSlide" Target="/ppt/notesSlides/notesSlide15.xml" Id="R17618043f0f042a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f82bf59e2a4056" /><Relationship Type="http://schemas.openxmlformats.org/officeDocument/2006/relationships/image" Target="/ppt/media/image16.png" Id="Rd824b41a767f435c" /><Relationship Type="http://schemas.openxmlformats.org/officeDocument/2006/relationships/notesSlide" Target="/ppt/notesSlides/notesSlide16.xml" Id="R78a02e451ccb489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8aae1dd07c4d51" /><Relationship Type="http://schemas.openxmlformats.org/officeDocument/2006/relationships/image" Target="/ppt/media/image17.png" Id="Rc7e73e20ad214fec" /><Relationship Type="http://schemas.openxmlformats.org/officeDocument/2006/relationships/notesSlide" Target="/ppt/notesSlides/notesSlide17.xml" Id="Rb47530be73be435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92daa8a2694f01" /><Relationship Type="http://schemas.openxmlformats.org/officeDocument/2006/relationships/image" Target="/ppt/media/image18.png" Id="R3920310ef46447a6" /><Relationship Type="http://schemas.openxmlformats.org/officeDocument/2006/relationships/notesSlide" Target="/ppt/notesSlides/notesSlide18.xml" Id="R771a5fcb09b448c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A49B242-0A93-4CAA-A976-B7B85414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7C87B069-4AE3-41FB-8E32-622FAD07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2.1   /   LESSON 02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3815F20-9933-4640-9E82-67A009EF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MODEL DESIGN LAB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004c1394774f87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48E3C81-C842-45B0-92BB-277816F0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 / 18</a:t>
            </a:r>
          </a:p>
        </p:txBody>
      </p:sp>
      <p:sp>
        <p:nvSpPr>
          <p:cNvPr id="6" name="subject">
            <a:extLst xmlns:a="http://schemas.openxmlformats.org/drawingml/2006/main">
              <a:ext uri="{FF2B5EF4-FFF2-40B4-BE49-F238E27FC236}">
                <a16:creationId xmlns:a16="http://schemas.microsoft.com/office/drawing/2014/main" id="{1D1867E6-9160-4B7B-B718-C2045EBD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Applying abstraction</a:t>
            </a:r>
          </a:p>
        </p:txBody>
      </p:sp>
      <p:sp>
        <p:nvSpPr>
          <p:cNvPr id="7" name="cover-key-label">
            <a:extLst xmlns:a="http://schemas.openxmlformats.org/drawingml/2006/main">
              <a:ext uri="{FF2B5EF4-FFF2-40B4-BE49-F238E27FC236}">
                <a16:creationId xmlns:a16="http://schemas.microsoft.com/office/drawing/2014/main" id="{DB6C6EAB-F00F-49E7-BB96-0088CAEA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DO NOW: RESEARCH AND DISCUSS</a:t>
            </a:r>
          </a:p>
        </p:txBody>
      </p:sp>
      <p:sp>
        <p:nvSpPr>
          <p:cNvPr id="8" name="cover-key-question">
            <a:extLst xmlns:a="http://schemas.openxmlformats.org/drawingml/2006/main">
              <a:ext uri="{FF2B5EF4-FFF2-40B4-BE49-F238E27FC236}">
                <a16:creationId xmlns:a16="http://schemas.microsoft.com/office/drawing/2014/main" id="{00081038-3E7F-400E-8756-EE3640E7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762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Can a simplified model give a correct answer?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83339ab4dd4b2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76950" y="1931789"/>
            <a:ext cx="5400675" cy="337542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0518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29D0D74-D405-4298-8504-19625DD8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BC94BCC8-515D-47EA-B6E2-2B7D4AC1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02   /   WORKSHEET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EB715B87-24C3-4EB0-A531-09F29276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By the end of this lesson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47616a81cf496e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946EE4D-4656-4BC2-8F50-308BDCE2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2 / 18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4F21E87F-93E4-451F-AB4E-8822ED37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46CD32E7-7220-4C45-83BD-1A75D522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43100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Apply abstraction to a new problem.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27D15F66-C79A-48FB-A458-5FCABD71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6D66A0FC-FF53-4CDB-B571-D4D170C6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0512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Identify inputs, processing and outputs.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214AB879-F5E1-46A1-B3B7-732C3DA0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47E0FF81-472A-4959-B572-95A0EA47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67150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Refine a model when requirements change.</a:t>
            </a:r>
          </a:p>
        </p:txBody>
      </p:sp>
      <p:sp>
        <p:nvSpPr>
          <p:cNvPr id="12" name="number-4">
            <a:extLst xmlns:a="http://schemas.openxmlformats.org/drawingml/2006/main">
              <a:ext uri="{FF2B5EF4-FFF2-40B4-BE49-F238E27FC236}">
                <a16:creationId xmlns:a16="http://schemas.microsoft.com/office/drawing/2014/main" id="{43B6C4DF-53E7-4684-A2E0-0FBDE1EF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291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3" name="item-4">
            <a:extLst xmlns:a="http://schemas.openxmlformats.org/drawingml/2006/main">
              <a:ext uri="{FF2B5EF4-FFF2-40B4-BE49-F238E27FC236}">
                <a16:creationId xmlns:a16="http://schemas.microsoft.com/office/drawing/2014/main" id="{B7588F05-DB7C-4321-91CF-115D3867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2917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6950932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389AE9BD-4456-44D0-A496-4A715994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3D7E3F66-12BD-4737-B732-CF062507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02   /   WORKSHEET STARTER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62E71EDE-630B-477B-8324-3C6B882C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Starter: before the experience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9178bd71f64236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4CED2EF-8770-4B94-8FF7-8186209C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3 / 18</a:t>
            </a:r>
          </a:p>
        </p:txBody>
      </p:sp>
      <p:sp>
        <p:nvSpPr>
          <p:cNvPr id="6" name="worksheet-starter">
            <a:extLst xmlns:a="http://schemas.openxmlformats.org/drawingml/2006/main">
              <a:ext uri="{FF2B5EF4-FFF2-40B4-BE49-F238E27FC236}">
                <a16:creationId xmlns:a16="http://schemas.microsoft.com/office/drawing/2014/main" id="{4CABB616-5B19-458F-ADE4-F0436868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572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program compares two places north or south. Does it need latitude, shop names or building colours?</a:t>
            </a:r>
          </a:p>
        </p:txBody>
      </p:sp>
    </p:spTree>
    <p:extLst>
      <p:ext uri="{BB962C8B-B14F-4D97-AF65-F5344CB8AC3E}">
        <p14:creationId xmlns:p14="http://schemas.microsoft.com/office/powerpoint/2010/main" val="20612503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CE6C1A7-1190-46F6-B558-07CF48F6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1A9E94E-2324-4A21-8E1F-53F06181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02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42F7C639-9A4F-4B2E-A66B-E7FC7229A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Starter: sample answers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0d54efe4aa416b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810CE3C-06F6-401D-921D-2679EFD1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4 / 18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04B18CF0-64CE-463F-A9B8-6A6A21ED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D57E31F4-31D7-4905-A796-BE34CBF2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86000"/>
            <a:ext cx="99250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Latitude is relevant to north/south position. Shop names and building colours are not.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F9E7E19B-3986-45FC-B0B8-7910C783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AA142279-1763-4095-BB35-E7C2790B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67150"/>
            <a:ext cx="99250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0192561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8B0042C-2776-4B77-8450-5D698DB3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53158093-4E51-4193-8466-193E324E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02   /   WORKSHEET KEY TERMS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8721011-60E3-4A46-ACE7-07BEAB79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Key terminology quiz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c58517e9db42fa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FC27DE5-76DC-4F16-881C-303A1916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5 / 18</a:t>
            </a:r>
          </a:p>
        </p:txBody>
      </p:sp>
      <p:sp>
        <p:nvSpPr>
          <p:cNvPr id="6" name="term-number-0">
            <a:extLst xmlns:a="http://schemas.openxmlformats.org/drawingml/2006/main">
              <a:ext uri="{FF2B5EF4-FFF2-40B4-BE49-F238E27FC236}">
                <a16:creationId xmlns:a16="http://schemas.microsoft.com/office/drawing/2014/main" id="{B76E08EA-1329-4F7D-B904-1FFEF4D2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76475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term-0">
            <a:extLst xmlns:a="http://schemas.openxmlformats.org/drawingml/2006/main">
              <a:ext uri="{FF2B5EF4-FFF2-40B4-BE49-F238E27FC236}">
                <a16:creationId xmlns:a16="http://schemas.microsoft.com/office/drawing/2014/main" id="{072ACAD3-9670-4434-9EBA-05DBFA23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76475"/>
            <a:ext cx="966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Input</a:t>
            </a:r>
          </a:p>
        </p:txBody>
      </p:sp>
      <p:sp>
        <p:nvSpPr>
          <p:cNvPr id="8" name="term-number-1">
            <a:extLst xmlns:a="http://schemas.openxmlformats.org/drawingml/2006/main">
              <a:ext uri="{FF2B5EF4-FFF2-40B4-BE49-F238E27FC236}">
                <a16:creationId xmlns:a16="http://schemas.microsoft.com/office/drawing/2014/main" id="{A8F18C87-2E1F-4B72-8996-4CD90B50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term-1">
            <a:extLst xmlns:a="http://schemas.openxmlformats.org/drawingml/2006/main">
              <a:ext uri="{FF2B5EF4-FFF2-40B4-BE49-F238E27FC236}">
                <a16:creationId xmlns:a16="http://schemas.microsoft.com/office/drawing/2014/main" id="{1C1C0B9C-20D9-4654-9F28-D51D1DA9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86225"/>
            <a:ext cx="966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9420321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207CAA27-6A33-4D26-8EEC-DDD6F195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2C8C088F-E4C7-463F-A500-13D69523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02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AF3A2E8-08E7-4B52-8CB0-E9EDFA86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Key terminology: answers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79586828414ed9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1FD2F40-F2E4-4894-A4B9-2F16BF1E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6 / 18</a:t>
            </a:r>
          </a:p>
        </p:txBody>
      </p:sp>
      <p:sp>
        <p:nvSpPr>
          <p:cNvPr id="6" name="answer-term-0">
            <a:extLst xmlns:a="http://schemas.openxmlformats.org/drawingml/2006/main">
              <a:ext uri="{FF2B5EF4-FFF2-40B4-BE49-F238E27FC236}">
                <a16:creationId xmlns:a16="http://schemas.microsoft.com/office/drawing/2014/main" id="{C05575DA-F440-47EE-AADE-AE15CCD1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Input</a:t>
            </a:r>
          </a:p>
        </p:txBody>
      </p:sp>
      <p:sp>
        <p:nvSpPr>
          <p:cNvPr id="7" name="answer-definition-0">
            <a:extLst xmlns:a="http://schemas.openxmlformats.org/drawingml/2006/main">
              <a:ext uri="{FF2B5EF4-FFF2-40B4-BE49-F238E27FC236}">
                <a16:creationId xmlns:a16="http://schemas.microsoft.com/office/drawing/2014/main" id="{C6F926E0-3B0C-455B-B77A-C8974AE3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Data supplied to an algorithm.</a:t>
            </a:r>
          </a:p>
        </p:txBody>
      </p:sp>
      <p:sp>
        <p:nvSpPr>
          <p:cNvPr id="8" name="answer-term-1">
            <a:extLst xmlns:a="http://schemas.openxmlformats.org/drawingml/2006/main">
              <a:ext uri="{FF2B5EF4-FFF2-40B4-BE49-F238E27FC236}">
                <a16:creationId xmlns:a16="http://schemas.microsoft.com/office/drawing/2014/main" id="{C9190DB0-181E-4A8A-9E5E-95B19960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338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Output</a:t>
            </a:r>
          </a:p>
        </p:txBody>
      </p:sp>
      <p:sp>
        <p:nvSpPr>
          <p:cNvPr id="9" name="answer-definition-1">
            <a:extLst xmlns:a="http://schemas.openxmlformats.org/drawingml/2006/main">
              <a:ext uri="{FF2B5EF4-FFF2-40B4-BE49-F238E27FC236}">
                <a16:creationId xmlns:a16="http://schemas.microsoft.com/office/drawing/2014/main" id="{B865E412-4386-4ED0-B8E9-05D05365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Information produced by an algorithm.</a:t>
            </a:r>
          </a:p>
        </p:txBody>
      </p:sp>
    </p:spTree>
    <p:extLst>
      <p:ext uri="{BB962C8B-B14F-4D97-AF65-F5344CB8AC3E}">
        <p14:creationId xmlns:p14="http://schemas.microsoft.com/office/powerpoint/2010/main" val="5443408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BA66B78-BFDC-4298-A4DA-5CB5A770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EDA0D920-036D-4124-8F12-38EB1186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2.1   /   LESSON 02   /   EXPERIENCE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F5191E8A-E142-4BC2-8435-1D8EA13B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Worksheet + experience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8a11a370354f20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0A45757-2C05-40D6-9E75-84F5AEC8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7 / 18</a:t>
            </a:r>
          </a:p>
        </p:txBody>
      </p:sp>
      <p:sp>
        <p:nvSpPr>
          <p:cNvPr id="6" name="open-label">
            <a:extLst xmlns:a="http://schemas.openxmlformats.org/drawingml/2006/main">
              <a:ext uri="{FF2B5EF4-FFF2-40B4-BE49-F238E27FC236}">
                <a16:creationId xmlns:a16="http://schemas.microsoft.com/office/drawing/2014/main" id="{3B14933E-F008-4A1E-B920-32134F7F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01   OPEN THE EXPERIENCE NOW</a:t>
            </a:r>
          </a:p>
        </p:txBody>
      </p:sp>
      <p:sp>
        <p:nvSpPr>
          <p:cNvPr id="7" name="open-body">
            <a:extLst xmlns:a="http://schemas.openxmlformats.org/drawingml/2006/main">
              <a:ext uri="{FF2B5EF4-FFF2-40B4-BE49-F238E27FC236}">
                <a16:creationId xmlns:a16="http://schemas.microsoft.com/office/drawing/2014/main" id="{7A71894B-6674-45BD-B430-F339D03A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Open Model design lab in Topic 2.1. Keep the worksheet beside you.</a:t>
            </a:r>
          </a:p>
        </p:txBody>
      </p:sp>
      <p:sp>
        <p:nvSpPr>
          <p:cNvPr id="8" name="station-label">
            <a:extLst xmlns:a="http://schemas.openxmlformats.org/drawingml/2006/main">
              <a:ext uri="{FF2B5EF4-FFF2-40B4-BE49-F238E27FC236}">
                <a16:creationId xmlns:a16="http://schemas.microsoft.com/office/drawing/2014/main" id="{B90E3C20-8F8E-412D-B38A-D521747F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02   SIX STATIONS</a:t>
            </a:r>
          </a:p>
        </p:txBody>
      </p:sp>
      <p:sp>
        <p:nvSpPr>
          <p:cNvPr id="9" name="station-body">
            <a:extLst xmlns:a="http://schemas.openxmlformats.org/drawingml/2006/main">
              <a:ext uri="{FF2B5EF4-FFF2-40B4-BE49-F238E27FC236}">
                <a16:creationId xmlns:a16="http://schemas.microsoft.com/office/drawing/2014/main" id="{B45B51EE-5945-44D5-9C7B-668BC232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10572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At each station, write key facts IN YOUR OWN WORDS. Answer its worksheet challenge before tapping the badge.</a:t>
            </a:r>
          </a:p>
        </p:txBody>
      </p:sp>
      <p:sp>
        <p:nvSpPr>
          <p:cNvPr id="10" name="finish-label">
            <a:extLst xmlns:a="http://schemas.openxmlformats.org/drawingml/2006/main">
              <a:ext uri="{FF2B5EF4-FFF2-40B4-BE49-F238E27FC236}">
                <a16:creationId xmlns:a16="http://schemas.microsoft.com/office/drawing/2014/main" id="{0B3F37C6-3223-43C3-B5C5-0734100D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03   FINAL CHALLENGE</a:t>
            </a:r>
          </a:p>
        </p:txBody>
      </p:sp>
      <p:sp>
        <p:nvSpPr>
          <p:cNvPr id="11" name="finish-body">
            <a:extLst xmlns:a="http://schemas.openxmlformats.org/drawingml/2006/main">
              <a:ext uri="{FF2B5EF4-FFF2-40B4-BE49-F238E27FC236}">
                <a16:creationId xmlns:a16="http://schemas.microsoft.com/office/drawing/2014/main" id="{23A69AAC-E055-45B3-BEBA-D02CB812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57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Attempt the worksheet final challenge before tapping the star. Record your score, then use review mode to correct mistakes.</a:t>
            </a:r>
          </a:p>
        </p:txBody>
      </p:sp>
      <p:sp>
        <p:nvSpPr>
          <p:cNvPr id="12" name="plenary-label">
            <a:extLst xmlns:a="http://schemas.openxmlformats.org/drawingml/2006/main">
              <a:ext uri="{FF2B5EF4-FFF2-40B4-BE49-F238E27FC236}">
                <a16:creationId xmlns:a16="http://schemas.microsoft.com/office/drawing/2014/main" id="{97D05B46-012B-43E3-B865-D49BCF33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04   PLENARY</a:t>
            </a:r>
          </a:p>
        </p:txBody>
      </p:sp>
      <p:sp>
        <p:nvSpPr>
          <p:cNvPr id="13" name="plenary-body">
            <a:extLst xmlns:a="http://schemas.openxmlformats.org/drawingml/2006/main">
              <a:ext uri="{FF2B5EF4-FFF2-40B4-BE49-F238E27FC236}">
                <a16:creationId xmlns:a16="http://schemas.microsoft.com/office/drawing/2014/main" id="{93D16BC3-41C8-47E2-B0D7-08EC3C3C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Finish the experience in this lesson. Near the end, close it for the plenary knowledge checks.</a:t>
            </a:r>
          </a:p>
        </p:txBody>
      </p:sp>
    </p:spTree>
    <p:extLst>
      <p:ext uri="{BB962C8B-B14F-4D97-AF65-F5344CB8AC3E}">
        <p14:creationId xmlns:p14="http://schemas.microsoft.com/office/powerpoint/2010/main" val="87235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58C536E9-5669-4451-9AAB-579BAC1A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819AAF36-B8DE-4251-8DE6-E6BCCD54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02   /   CONSOLIDATION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2722D1D8-2EB7-4550-BC01-C8F4AA1B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763ba0f0eb4d36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8D3831D-CA2C-4D2B-8512-1C6B95BF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8 / 18</a:t>
            </a:r>
          </a:p>
        </p:txBody>
      </p:sp>
      <p:sp>
        <p:nvSpPr>
          <p:cNvPr id="6" name="extension-prompt">
            <a:extLst xmlns:a="http://schemas.openxmlformats.org/drawingml/2006/main">
              <a:ext uri="{FF2B5EF4-FFF2-40B4-BE49-F238E27FC236}">
                <a16:creationId xmlns:a16="http://schemas.microsoft.com/office/drawing/2014/main" id="{3D632867-A970-4622-9F75-EC7929A6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19350"/>
            <a:ext cx="1057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Return to the Do Now question. Use two things you learned in the room to improve your original answer.</a:t>
            </a:r>
          </a:p>
        </p:txBody>
      </p:sp>
      <p:sp>
        <p:nvSpPr>
          <p:cNvPr id="7" name="extension-follow">
            <a:extLst xmlns:a="http://schemas.openxmlformats.org/drawingml/2006/main">
              <a:ext uri="{FF2B5EF4-FFF2-40B4-BE49-F238E27FC236}">
                <a16:creationId xmlns:a16="http://schemas.microsoft.com/office/drawing/2014/main" id="{0C21F904-CB27-4E5D-A9F7-D13B95D2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48200"/>
            <a:ext cx="1057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Link your explanation to the problem and use a worked example where it helps.</a:t>
            </a:r>
          </a:p>
        </p:txBody>
      </p:sp>
    </p:spTree>
    <p:extLst>
      <p:ext uri="{BB962C8B-B14F-4D97-AF65-F5344CB8AC3E}">
        <p14:creationId xmlns:p14="http://schemas.microsoft.com/office/powerpoint/2010/main" val="7409979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9B263055-5EA4-4302-98FD-2C08B0E0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2A5B0DE7-189B-4E0D-AC5D-CF426592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02   /   CONSOLIDATION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641086F9-DF63-4768-BF4E-D1F572BC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Check and improve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6b35daa23f46bf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14C2577-C6E7-49B9-B106-D65BE85A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9 / 18</a:t>
            </a:r>
          </a:p>
        </p:txBody>
      </p:sp>
      <p:sp>
        <p:nvSpPr>
          <p:cNvPr id="6" name="extension-two">
            <a:extLst xmlns:a="http://schemas.openxmlformats.org/drawingml/2006/main">
              <a:ext uri="{FF2B5EF4-FFF2-40B4-BE49-F238E27FC236}">
                <a16:creationId xmlns:a16="http://schemas.microsoft.com/office/drawing/2014/main" id="{29844E22-D648-40A0-BC22-276A81AE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76525"/>
            <a:ext cx="10620375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Use review mode to correct any mistakes. Write one correction and explain why the right answer fits. Then complete the plenary from memory.</a:t>
            </a:r>
          </a:p>
        </p:txBody>
      </p:sp>
    </p:spTree>
    <p:extLst>
      <p:ext uri="{BB962C8B-B14F-4D97-AF65-F5344CB8AC3E}">
        <p14:creationId xmlns:p14="http://schemas.microsoft.com/office/powerpoint/2010/main" val="16106681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78803E9-413E-4B42-B661-1890FAB9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FF0305E1-8E4B-4FE7-9B7B-B01E262E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02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71FFA7C-71E3-407E-A084-8AAA8734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stronger explanation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02aab03ab74de6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5BD4D03-162B-45A5-AA28-72FD38F4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10 / 18</a:t>
            </a:r>
          </a:p>
        </p:txBody>
      </p:sp>
      <p:sp>
        <p:nvSpPr>
          <p:cNvPr id="6" name="extension-check">
            <a:extLst xmlns:a="http://schemas.openxmlformats.org/drawingml/2006/main">
              <a:ext uri="{FF2B5EF4-FFF2-40B4-BE49-F238E27FC236}">
                <a16:creationId xmlns:a16="http://schemas.microsoft.com/office/drawing/2014/main" id="{06547FB7-89E1-430C-BA4E-A0059FB7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Compare your reasoning, then improve one sentence on your worksheet.</a:t>
            </a:r>
          </a:p>
        </p:txBody>
      </p:sp>
      <p:sp>
        <p:nvSpPr>
          <p:cNvPr id="7" name="answer-application">
            <a:extLst xmlns:a="http://schemas.openxmlformats.org/drawingml/2006/main">
              <a:ext uri="{FF2B5EF4-FFF2-40B4-BE49-F238E27FC236}">
                <a16:creationId xmlns:a16="http://schemas.microsoft.com/office/drawing/2014/main" id="{7F1A9A78-A783-4735-9B4E-2787A5EE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Test the simplified model</a:t>
            </a:r>
          </a:p>
        </p:txBody>
      </p:sp>
      <p:sp>
        <p:nvSpPr>
          <p:cNvPr id="8" name="answer-application-body">
            <a:extLst xmlns:a="http://schemas.openxmlformats.org/drawingml/2006/main">
              <a:ext uri="{FF2B5EF4-FFF2-40B4-BE49-F238E27FC236}">
                <a16:creationId xmlns:a16="http://schemas.microsoft.com/office/drawing/2014/main" id="{28087EFB-17A1-4A2B-B86E-2733BD05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104775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They check equality and signed-number comparisons that positive unequal examples may miss.</a:t>
            </a:r>
          </a:p>
        </p:txBody>
      </p:sp>
      <p:sp>
        <p:nvSpPr>
          <p:cNvPr id="9" name="answer-stretch">
            <a:extLst xmlns:a="http://schemas.openxmlformats.org/drawingml/2006/main">
              <a:ext uri="{FF2B5EF4-FFF2-40B4-BE49-F238E27FC236}">
                <a16:creationId xmlns:a16="http://schemas.microsoft.com/office/drawing/2014/main" id="{5A018C42-6685-447F-818E-7126648E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529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Review and explain</a:t>
            </a:r>
          </a:p>
        </p:txBody>
      </p:sp>
      <p:sp>
        <p:nvSpPr>
          <p:cNvPr id="10" name="answer-stretch-body">
            <a:extLst xmlns:a="http://schemas.openxmlformats.org/drawingml/2006/main">
              <a:ext uri="{FF2B5EF4-FFF2-40B4-BE49-F238E27FC236}">
                <a16:creationId xmlns:a16="http://schemas.microsoft.com/office/drawing/2014/main" id="{0C0236B0-96D2-4CB9-BE2E-068D8FFE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10477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Your correction should name the correct idea and explain why it fits the question. Use the experience feedback to check it.</a:t>
            </a:r>
          </a:p>
        </p:txBody>
      </p:sp>
    </p:spTree>
    <p:extLst>
      <p:ext uri="{BB962C8B-B14F-4D97-AF65-F5344CB8AC3E}">
        <p14:creationId xmlns:p14="http://schemas.microsoft.com/office/powerpoint/2010/main" val="10771968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EF7E645-4366-476F-A5B1-90C7C70A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159341AF-F465-4757-AC09-3A0C4AF7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02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EBF8C94-893F-4F9B-8993-606E888E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1–3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fafe13afd0453b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E93BEC9-DC57-4892-87B7-6699B7FB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11 / 18</a:t>
            </a:r>
          </a:p>
        </p:txBody>
      </p:sp>
      <p:sp>
        <p:nvSpPr>
          <p:cNvPr id="6" name="check-stations">
            <a:extLst xmlns:a="http://schemas.openxmlformats.org/drawingml/2006/main">
              <a:ext uri="{FF2B5EF4-FFF2-40B4-BE49-F238E27FC236}">
                <a16:creationId xmlns:a16="http://schemas.microsoft.com/office/drawing/2014/main" id="{51C9C7E2-F4F1-420D-88E1-62F2A7BC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0">
            <a:extLst xmlns:a="http://schemas.openxmlformats.org/drawingml/2006/main">
              <a:ext uri="{FF2B5EF4-FFF2-40B4-BE49-F238E27FC236}">
                <a16:creationId xmlns:a16="http://schemas.microsoft.com/office/drawing/2014/main" id="{D616DF12-F12D-4F89-BE2A-F5A3C233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  Define the question</a:t>
            </a:r>
          </a:p>
        </p:txBody>
      </p:sp>
      <p:sp>
        <p:nvSpPr>
          <p:cNvPr id="8" name="station-answer-0">
            <a:extLst xmlns:a="http://schemas.openxmlformats.org/drawingml/2006/main">
              <a:ext uri="{FF2B5EF4-FFF2-40B4-BE49-F238E27FC236}">
                <a16:creationId xmlns:a16="http://schemas.microsoft.com/office/drawing/2014/main" id="{F6BEAF51-6593-4158-B949-6DCAF3DF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384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 required answer determines which data the model needs.</a:t>
            </a:r>
          </a:p>
        </p:txBody>
      </p:sp>
      <p:sp>
        <p:nvSpPr>
          <p:cNvPr id="9" name="station-name-1">
            <a:extLst xmlns:a="http://schemas.openxmlformats.org/drawingml/2006/main">
              <a:ext uri="{FF2B5EF4-FFF2-40B4-BE49-F238E27FC236}">
                <a16:creationId xmlns:a16="http://schemas.microsoft.com/office/drawing/2014/main" id="{1C2437BA-61EC-4CC1-A291-672A28BC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337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  Signed coordinates</a:t>
            </a:r>
          </a:p>
        </p:txBody>
      </p:sp>
      <p:sp>
        <p:nvSpPr>
          <p:cNvPr id="10" name="station-answer-1">
            <a:extLst xmlns:a="http://schemas.openxmlformats.org/drawingml/2006/main">
              <a:ext uri="{FF2B5EF4-FFF2-40B4-BE49-F238E27FC236}">
                <a16:creationId xmlns:a16="http://schemas.microsoft.com/office/drawing/2014/main" id="{2AD176F9-D05F-473B-8386-F181E623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-8 is larger than -21, so it is further north.</a:t>
            </a:r>
          </a:p>
        </p:txBody>
      </p:sp>
      <p:sp>
        <p:nvSpPr>
          <p:cNvPr id="11" name="station-name-2">
            <a:extLst xmlns:a="http://schemas.openxmlformats.org/drawingml/2006/main">
              <a:ext uri="{FF2B5EF4-FFF2-40B4-BE49-F238E27FC236}">
                <a16:creationId xmlns:a16="http://schemas.microsoft.com/office/drawing/2014/main" id="{D795BB1C-F6B4-4C53-AB97-8133E250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  Equality matters</a:t>
            </a:r>
          </a:p>
        </p:txBody>
      </p:sp>
      <p:sp>
        <p:nvSpPr>
          <p:cNvPr id="12" name="station-answer-2">
            <a:extLst xmlns:a="http://schemas.openxmlformats.org/drawingml/2006/main">
              <a:ext uri="{FF2B5EF4-FFF2-40B4-BE49-F238E27FC236}">
                <a16:creationId xmlns:a16="http://schemas.microsoft.com/office/drawing/2014/main" id="{36B68946-29BE-4832-BBD8-102C229E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Without it, equal latitudes could be incorrectly labelled north or south.</a:t>
            </a:r>
          </a:p>
        </p:txBody>
      </p:sp>
    </p:spTree>
    <p:extLst>
      <p:ext uri="{BB962C8B-B14F-4D97-AF65-F5344CB8AC3E}">
        <p14:creationId xmlns:p14="http://schemas.microsoft.com/office/powerpoint/2010/main" val="85359440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51900B3-0610-4E01-90E0-77DC6FF3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B0525AC8-4A6A-4190-909D-B5EB30CD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02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7AFF9494-BEC4-4AEA-BD48-105C969A5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4–6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688d87e8d24cb8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8FF5AE6-5314-4952-A1CD-C9E9FC07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12 / 18</a:t>
            </a:r>
          </a:p>
        </p:txBody>
      </p:sp>
      <p:sp>
        <p:nvSpPr>
          <p:cNvPr id="6" name="check-stations">
            <a:extLst xmlns:a="http://schemas.openxmlformats.org/drawingml/2006/main">
              <a:ext uri="{FF2B5EF4-FFF2-40B4-BE49-F238E27FC236}">
                <a16:creationId xmlns:a16="http://schemas.microsoft.com/office/drawing/2014/main" id="{478BE9EE-4B04-4078-A860-876FCD86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3">
            <a:extLst xmlns:a="http://schemas.openxmlformats.org/drawingml/2006/main">
              <a:ext uri="{FF2B5EF4-FFF2-40B4-BE49-F238E27FC236}">
                <a16:creationId xmlns:a16="http://schemas.microsoft.com/office/drawing/2014/main" id="{0F0EBA09-E83B-415E-AD99-3550F935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  Inputs and processing</a:t>
            </a:r>
          </a:p>
        </p:txBody>
      </p:sp>
      <p:sp>
        <p:nvSpPr>
          <p:cNvPr id="8" name="station-answer-3">
            <a:extLst xmlns:a="http://schemas.openxmlformats.org/drawingml/2006/main">
              <a:ext uri="{FF2B5EF4-FFF2-40B4-BE49-F238E27FC236}">
                <a16:creationId xmlns:a16="http://schemas.microsoft.com/office/drawing/2014/main" id="{8D150509-4F43-452B-BA18-B4451906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384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It is a process because it transforms the input into the fare.</a:t>
            </a:r>
          </a:p>
        </p:txBody>
      </p:sp>
      <p:sp>
        <p:nvSpPr>
          <p:cNvPr id="9" name="station-name-4">
            <a:extLst xmlns:a="http://schemas.openxmlformats.org/drawingml/2006/main">
              <a:ext uri="{FF2B5EF4-FFF2-40B4-BE49-F238E27FC236}">
                <a16:creationId xmlns:a16="http://schemas.microsoft.com/office/drawing/2014/main" id="{F40CAFDA-7B28-4DDD-97A6-7FEB15E5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337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5  Change the requirement</a:t>
            </a:r>
          </a:p>
        </p:txBody>
      </p:sp>
      <p:sp>
        <p:nvSpPr>
          <p:cNvPr id="10" name="station-answer-4">
            <a:extLst xmlns:a="http://schemas.openxmlformats.org/drawingml/2006/main">
              <a:ext uri="{FF2B5EF4-FFF2-40B4-BE49-F238E27FC236}">
                <a16:creationId xmlns:a16="http://schemas.microsoft.com/office/drawing/2014/main" id="{DF6939EB-FAE7-4750-B799-6DB46BA8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Longitude supports comparing east/west positions within a stated coordinate convention.</a:t>
            </a:r>
          </a:p>
        </p:txBody>
      </p:sp>
      <p:sp>
        <p:nvSpPr>
          <p:cNvPr id="11" name="station-name-5">
            <a:extLst xmlns:a="http://schemas.openxmlformats.org/drawingml/2006/main">
              <a:ext uri="{FF2B5EF4-FFF2-40B4-BE49-F238E27FC236}">
                <a16:creationId xmlns:a16="http://schemas.microsoft.com/office/drawing/2014/main" id="{1F7890C8-2979-416E-AA29-BEE1AB3B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6  Test the simplified model</a:t>
            </a:r>
          </a:p>
        </p:txBody>
      </p:sp>
      <p:sp>
        <p:nvSpPr>
          <p:cNvPr id="12" name="station-answer-5">
            <a:extLst xmlns:a="http://schemas.openxmlformats.org/drawingml/2006/main">
              <a:ext uri="{FF2B5EF4-FFF2-40B4-BE49-F238E27FC236}">
                <a16:creationId xmlns:a16="http://schemas.microsoft.com/office/drawing/2014/main" id="{07216969-988D-4AF8-B64A-611D4169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They check equality and signed-number comparisons that positive unequal examples may miss.</a:t>
            </a:r>
          </a:p>
        </p:txBody>
      </p:sp>
    </p:spTree>
    <p:extLst>
      <p:ext uri="{BB962C8B-B14F-4D97-AF65-F5344CB8AC3E}">
        <p14:creationId xmlns:p14="http://schemas.microsoft.com/office/powerpoint/2010/main" val="80697766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782CCF1-F8AC-4963-BE7C-39F589EC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DA98E84-19B5-4128-9F22-3EF63F2A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02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3D092674-2E5F-4365-B13E-1BCD7239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Final challenge: answers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64cae8074a43c9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371B726-81B4-4823-AF8C-B2AEE4C1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13 / 18</a:t>
            </a:r>
          </a:p>
        </p:txBody>
      </p:sp>
      <p:sp>
        <p:nvSpPr>
          <p:cNvPr id="6" name="star-key">
            <a:extLst xmlns:a="http://schemas.openxmlformats.org/drawingml/2006/main">
              <a:ext uri="{FF2B5EF4-FFF2-40B4-BE49-F238E27FC236}">
                <a16:creationId xmlns:a16="http://schemas.microsoft.com/office/drawing/2014/main" id="{4E2C5E58-B348-4B06-A627-247270C0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choices and the reasons you gave.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D13603A8-78DC-40B6-A8F6-04D146FD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050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DA3F8A68-07AA-4136-A4C5-7B3C68E6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43125"/>
            <a:ext cx="99250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1. A fare is distance * 2. Distance is 7. What is output?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Answer: 14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</a:p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2. Match each improvement to its purpose.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Answer: Add an equality branch: Handle equal values; Remove wall colours: Reduce irrelevant detail; Add age: Apply an age discount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Only add detail that supports the requirement.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D63D0CFC-FB29-4A55-9634-1938AE0C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1AF0E8F5-58C1-4699-8D32-68538ACE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43200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64A6377B-270D-4D04-B61F-A116A4C0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B2168BAC-D34D-4D09-BD22-C3074326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81375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3" name="number-4">
            <a:extLst xmlns:a="http://schemas.openxmlformats.org/drawingml/2006/main">
              <a:ext uri="{FF2B5EF4-FFF2-40B4-BE49-F238E27FC236}">
                <a16:creationId xmlns:a16="http://schemas.microsoft.com/office/drawing/2014/main" id="{DAD3008D-DBDD-4EB1-B9E0-42941BDA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4" name="item-4">
            <a:extLst xmlns:a="http://schemas.openxmlformats.org/drawingml/2006/main">
              <a:ext uri="{FF2B5EF4-FFF2-40B4-BE49-F238E27FC236}">
                <a16:creationId xmlns:a16="http://schemas.microsoft.com/office/drawing/2014/main" id="{072DFA35-D5B3-464A-85A9-266225B7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19550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5" name="number-5">
            <a:extLst xmlns:a="http://schemas.openxmlformats.org/drawingml/2006/main">
              <a:ext uri="{FF2B5EF4-FFF2-40B4-BE49-F238E27FC236}">
                <a16:creationId xmlns:a16="http://schemas.microsoft.com/office/drawing/2014/main" id="{03F791EC-5D9B-433E-96F6-EF44C17A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577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6" name="item-5">
            <a:extLst xmlns:a="http://schemas.openxmlformats.org/drawingml/2006/main">
              <a:ext uri="{FF2B5EF4-FFF2-40B4-BE49-F238E27FC236}">
                <a16:creationId xmlns:a16="http://schemas.microsoft.com/office/drawing/2014/main" id="{11146F44-2CCE-4536-BF13-60F44AE2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57725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7" name="number-6">
            <a:extLst xmlns:a="http://schemas.openxmlformats.org/drawingml/2006/main">
              <a:ext uri="{FF2B5EF4-FFF2-40B4-BE49-F238E27FC236}">
                <a16:creationId xmlns:a16="http://schemas.microsoft.com/office/drawing/2014/main" id="{738F10DC-3C3F-4622-9638-0CD9ADB1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959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8" name="item-6">
            <a:extLst xmlns:a="http://schemas.openxmlformats.org/drawingml/2006/main">
              <a:ext uri="{FF2B5EF4-FFF2-40B4-BE49-F238E27FC236}">
                <a16:creationId xmlns:a16="http://schemas.microsoft.com/office/drawing/2014/main" id="{B4AC7286-B492-4B59-A29F-AA4F10A9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95900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22917826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0BB8106-766C-4D11-B62C-A315B1DC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E93FE83-8B7D-4ED0-A507-D6DF7BF8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02   /   PLENARY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2FAFAE26-D488-4C37-A08D-D8E5A9D0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questions (a–b)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f5f866eaf44684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F7FA607-A51E-4EFD-8772-BFCA4D0A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14 / 18</a:t>
            </a:r>
          </a:p>
        </p:txBody>
      </p:sp>
      <p:sp>
        <p:nvSpPr>
          <p:cNvPr id="6" name="plenary-instruction">
            <a:extLst xmlns:a="http://schemas.openxmlformats.org/drawingml/2006/main">
              <a:ext uri="{FF2B5EF4-FFF2-40B4-BE49-F238E27FC236}">
                <a16:creationId xmlns:a16="http://schemas.microsoft.com/office/drawing/2014/main" id="{4DD4F8FC-DBBD-4F52-8BC4-1F8B4C27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Take the headset off or close the page. Answer from memory on the worksheet.</a:t>
            </a:r>
          </a:p>
        </p:txBody>
      </p:sp>
      <p:sp>
        <p:nvSpPr>
          <p:cNvPr id="7" name="a">
            <a:extLst xmlns:a="http://schemas.openxmlformats.org/drawingml/2006/main">
              <a:ext uri="{FF2B5EF4-FFF2-40B4-BE49-F238E27FC236}">
                <a16:creationId xmlns:a16="http://schemas.microsoft.com/office/drawing/2014/main" id="{9C6FAEDB-072B-436C-AA9C-D5832563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81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a)</a:t>
            </a:r>
          </a:p>
        </p:txBody>
      </p:sp>
      <p:sp>
        <p:nvSpPr>
          <p:cNvPr id="8" name="question-a">
            <a:extLst xmlns:a="http://schemas.openxmlformats.org/drawingml/2006/main">
              <a:ext uri="{FF2B5EF4-FFF2-40B4-BE49-F238E27FC236}">
                <a16:creationId xmlns:a16="http://schemas.microsoft.com/office/drawing/2014/main" id="{6B2BF4EA-272A-415D-B46E-43EF0DF1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581275"/>
            <a:ext cx="99441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Identify input, process and output for a fare calculated as distance multiplied by 2. [3]</a:t>
            </a:r>
          </a:p>
        </p:txBody>
      </p:sp>
      <p:sp>
        <p:nvSpPr>
          <p:cNvPr id="9" name="b">
            <a:extLst xmlns:a="http://schemas.openxmlformats.org/drawingml/2006/main">
              <a:ext uri="{FF2B5EF4-FFF2-40B4-BE49-F238E27FC236}">
                <a16:creationId xmlns:a16="http://schemas.microsoft.com/office/drawing/2014/main" id="{9509E02A-7E28-413B-8372-24604E28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1433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b)</a:t>
            </a:r>
          </a:p>
        </p:txBody>
      </p:sp>
      <p:sp>
        <p:nvSpPr>
          <p:cNvPr id="10" name="question-b">
            <a:extLst xmlns:a="http://schemas.openxmlformats.org/drawingml/2006/main">
              <a:ext uri="{FF2B5EF4-FFF2-40B4-BE49-F238E27FC236}">
                <a16:creationId xmlns:a16="http://schemas.microsoft.com/office/drawing/2014/main" id="{EA1267F7-E672-4AB5-8CC0-CE07B620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143375"/>
            <a:ext cx="99441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Explain why comparing only positive latitudes is insufficient testing. [2]</a:t>
            </a:r>
          </a:p>
        </p:txBody>
      </p:sp>
    </p:spTree>
    <p:extLst>
      <p:ext uri="{BB962C8B-B14F-4D97-AF65-F5344CB8AC3E}">
        <p14:creationId xmlns:p14="http://schemas.microsoft.com/office/powerpoint/2010/main" val="16794007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5F1F2C14-4C50-48A4-9B67-A997A262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DDB8B4A9-62FC-49C3-9E8B-2D918615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02   /   PLENARY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8C7269B5-94FA-4086-8755-DE73995D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question (c)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a0a82ff927487c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9C331FB-3C6F-4EEC-BBEB-57203449B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15 / 18</a:t>
            </a:r>
          </a:p>
        </p:txBody>
      </p:sp>
      <p:sp>
        <p:nvSpPr>
          <p:cNvPr id="6" name="from-memory">
            <a:extLst xmlns:a="http://schemas.openxmlformats.org/drawingml/2006/main">
              <a:ext uri="{FF2B5EF4-FFF2-40B4-BE49-F238E27FC236}">
                <a16:creationId xmlns:a16="http://schemas.microsoft.com/office/drawing/2014/main" id="{BDF8659F-4B53-45A1-96E8-35452E8F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107156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Keep the experience closed. Explain your reasoning in full sentences.</a:t>
            </a:r>
          </a:p>
        </p:txBody>
      </p:sp>
      <p:sp>
        <p:nvSpPr>
          <p:cNvPr id="7" name="c">
            <a:extLst xmlns:a="http://schemas.openxmlformats.org/drawingml/2006/main">
              <a:ext uri="{FF2B5EF4-FFF2-40B4-BE49-F238E27FC236}">
                <a16:creationId xmlns:a16="http://schemas.microsoft.com/office/drawing/2014/main" id="{629CF0F4-E195-43D7-9CCA-D8090133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81300"/>
            <a:ext cx="6096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c)</a:t>
            </a:r>
          </a:p>
        </p:txBody>
      </p:sp>
      <p:sp>
        <p:nvSpPr>
          <p:cNvPr id="8" name="question-c">
            <a:extLst xmlns:a="http://schemas.openxmlformats.org/drawingml/2006/main">
              <a:ext uri="{FF2B5EF4-FFF2-40B4-BE49-F238E27FC236}">
                <a16:creationId xmlns:a16="http://schemas.microsoft.com/office/drawing/2014/main" id="{2397C953-3257-449B-B101-570ACDF6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81300"/>
            <a:ext cx="98679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model compares only north/south locations. Explain a refinement needed for equal latitudes. [2]</a:t>
            </a:r>
          </a:p>
        </p:txBody>
      </p:sp>
      <p:sp>
        <p:nvSpPr>
          <p:cNvPr id="9" name="marks">
            <a:extLst xmlns:a="http://schemas.openxmlformats.org/drawingml/2006/main">
              <a:ext uri="{FF2B5EF4-FFF2-40B4-BE49-F238E27FC236}">
                <a16:creationId xmlns:a16="http://schemas.microsoft.com/office/drawing/2014/main" id="{B5E43C45-0F63-4BF1-AFCD-45A804E5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438775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Use the marks in brackets to judge how much detail to include.</a:t>
            </a:r>
          </a:p>
        </p:txBody>
      </p:sp>
    </p:spTree>
    <p:extLst>
      <p:ext uri="{BB962C8B-B14F-4D97-AF65-F5344CB8AC3E}">
        <p14:creationId xmlns:p14="http://schemas.microsoft.com/office/powerpoint/2010/main" val="74753174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69886798-8F0F-4B54-BAEC-A0540120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D6D98F3-B670-4101-B9A9-2184D5A6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02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6C64587-B8D3-44DA-8AA8-1AB5AE6D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answers (a–b)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24b41a767f435c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EEFA3B3-6527-4E2D-9FE8-B1783E9B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16 / 18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910FB56C-D13F-443C-831C-7EB54AF5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71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Indicative points. Credit accurate answers in students’ own words.</a:t>
            </a:r>
          </a:p>
        </p:txBody>
      </p:sp>
      <p:sp>
        <p:nvSpPr>
          <p:cNvPr id="7" name="scheme-a">
            <a:extLst xmlns:a="http://schemas.openxmlformats.org/drawingml/2006/main">
              <a:ext uri="{FF2B5EF4-FFF2-40B4-BE49-F238E27FC236}">
                <a16:creationId xmlns:a16="http://schemas.microsoft.com/office/drawing/2014/main" id="{41502BD5-C47A-4406-827D-A550F44A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33625"/>
            <a:ext cx="10572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 Distance (1), multiply by 2 (1), fare (1).</a:t>
            </a:r>
          </a:p>
        </p:txBody>
      </p:sp>
      <p:sp>
        <p:nvSpPr>
          <p:cNvPr id="8" name="scheme-b">
            <a:extLst xmlns:a="http://schemas.openxmlformats.org/drawingml/2006/main">
              <a:ext uri="{FF2B5EF4-FFF2-40B4-BE49-F238E27FC236}">
                <a16:creationId xmlns:a16="http://schemas.microsoft.com/office/drawing/2014/main" id="{4030A590-8409-4747-8A49-22010C81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10572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  It misses negative values (1), where incorrect use of absolute values could reverse the result (1).</a:t>
            </a:r>
          </a:p>
        </p:txBody>
      </p:sp>
    </p:spTree>
    <p:extLst>
      <p:ext uri="{BB962C8B-B14F-4D97-AF65-F5344CB8AC3E}">
        <p14:creationId xmlns:p14="http://schemas.microsoft.com/office/powerpoint/2010/main" val="144624375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0081A4B-6AC1-4816-AF79-691B19F4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8160FA52-8505-4663-AF29-746E3C6A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02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E723C30E-7C0B-4663-9CFD-AEBB0B68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answer (c)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e73e20ad214fec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FCDE95E-15E9-4DFC-BCC0-8290133C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17 / 18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367C08AF-7243-4EE2-AFA0-1DBD0A7C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Indicative points for the final question.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C971BC91-2C30-4670-9E94-EB7BAD54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860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38BA7518-F976-4AA8-9FBD-9CA4E93E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8602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Add a test for equality (1) and output a same-latitude result (1).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4CE5C16C-95D9-4554-BC9D-0CB5CA0D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909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C4346348-B81F-437B-A07E-C9085E2A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9092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DBDD63D3-A34B-4614-BC00-7470B22F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958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AAD983A1-375A-4785-BE52-216AFD70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9582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58965231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A368A0EC-80FD-4672-B2B2-DBDF6094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94A4DF14-4035-4380-8761-948455E2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02   /   SELF-CHECK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86131C61-4DE8-4ADA-AA38-AF5838A8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How confident am I?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20310ef46447a6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D9F0318-AD5A-451A-9E2A-0B42908D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18 / 18</a:t>
            </a:r>
          </a:p>
        </p:txBody>
      </p:sp>
      <p:sp>
        <p:nvSpPr>
          <p:cNvPr id="6" name="confidence-instruction">
            <a:extLst xmlns:a="http://schemas.openxmlformats.org/drawingml/2006/main">
              <a:ext uri="{FF2B5EF4-FFF2-40B4-BE49-F238E27FC236}">
                <a16:creationId xmlns:a16="http://schemas.microsoft.com/office/drawing/2014/main" id="{21CCFCB5-9EEF-4D0C-ACC8-C2D3D4C2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477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On the worksheet, select Not yet, Getting there or Confident for each objective.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1445CA78-BAE2-4623-A518-59C7169A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B9CB63FA-CF41-41AC-AAF6-A489CFF3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14600"/>
            <a:ext cx="992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Apply abstraction to a new problem.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BF24F2CF-D0BF-433B-A4BD-27BA2030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43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2EBB092A-60CB-4087-9DD4-5443676B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43275"/>
            <a:ext cx="992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Identify inputs, processing and outputs.</a:t>
            </a: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43B035FB-801C-4E05-87F1-800820CE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02E48C22-31AC-4A31-87AE-D3A00B3F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71950"/>
            <a:ext cx="992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Refine a model when requirements change.</a:t>
            </a:r>
          </a:p>
        </p:txBody>
      </p:sp>
      <p:sp>
        <p:nvSpPr>
          <p:cNvPr id="13" name="number-4">
            <a:extLst xmlns:a="http://schemas.openxmlformats.org/drawingml/2006/main">
              <a:ext uri="{FF2B5EF4-FFF2-40B4-BE49-F238E27FC236}">
                <a16:creationId xmlns:a16="http://schemas.microsoft.com/office/drawing/2014/main" id="{CE4EAE46-F751-4F69-9E68-CFF078A9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006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4" name="item-4">
            <a:extLst xmlns:a="http://schemas.openxmlformats.org/drawingml/2006/main">
              <a:ext uri="{FF2B5EF4-FFF2-40B4-BE49-F238E27FC236}">
                <a16:creationId xmlns:a16="http://schemas.microsoft.com/office/drawing/2014/main" id="{F71661C6-7DB3-4EC1-B1E5-D88C7A61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00625"/>
            <a:ext cx="992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4799295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2026-09-28T13:00:10.0490000Z</dcterms:created>
  <dcterms:modified xsi:type="dcterms:W3CDTF">2026-09-28T13:00:10.0490000Z</dcterms:modified>
</coreProperties>
</file>