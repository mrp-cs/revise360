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1: Impact desk.
Open the experience at revise360.co.uk and hand out EL_L01_Impactdesk_Worksheet.docx.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the objectives, then go straight into the starter. Devices stay away for the first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Silent start. Take two or three answers before moving on: this is where misconceptions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writing before tapping. That single rule is the difference between revision and a quiz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1: Beyond building it.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2: Ethical issues.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3: Two sides of an argument.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4: Stakeholders.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5: Piracy: a worked example.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6: Writing the answer.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 this through at the front, thinking aloud, before anyone starts their own. Build it in the order of the panels and do not show the finished paragraph until the class has heard the thinking that produced it.
The scenario is deliberately not one anybody is about to write about: the station challenges are pupil typing, piracy and lunch-payment facial recognition, and the exam practice is town-centre facial recognition. Pupils cannot copy this answer into any of them.
The move worth naming out loud is the last sentence. A conclusion that picks a side and gives a reason is what separates the top band from a list of impacts. Ask the class for a different conclusion, defended, before moving on - there is more than one that earns the marks.
Say this out loud: Watch which part takes me longest. It is not naming the impacts - it is saying who is affected and why that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is D: They ask you to weigh competing points and reach a justified conclusion.
Do not say it yet. Every pupil commits first - fingers, whiteboards or a show of hands on each letter in turn - and you count the split before anyone can change their mind.
IF MOST OF THE CLASS IS RIGHT: say why it is right in one sentence and go straight on to the independent work.
IF A SIGNIFICANT GROUP IS ON ONE WRONG LETTER: that option is the misconception to teach against before anyone goes on. Go back to station 3, Two sides of an argument, and work through its example again, aloud, with the class watching, then re-ask this question.
The course's own response to a wrong answer here: Marks come from the reasoning, not the length.
A limitation, stated rather than papered over: one response covers every wrong option; it does not say what to revisit for each one. The course does not record what each separate wrong option means, and this slide does not invent it. Decide your own reteach for each option before the lesson; the options above are the start of it.
This is a real activity from the experience (el-l01-s3-c2), so the wording here is the wording a pupil will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commit to an answer on paper before they tap the star. Guessing first costs them the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these as a settler, or as something for early finishers to read in the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Timed and silent. Mark against the answer sheet, then ask students to record their weakest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their score-screen breakdown onto the worksheet, then rate themselves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828"/>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822960" y="1417320"/>
            <a:ext cx="10515600" cy="411480"/>
          </a:xfrm>
          <a:prstGeom prst="rect">
            <a:avLst/>
          </a:prstGeom>
          <a:noFill/>
          <a:ln/>
        </p:spPr>
        <p:txBody>
          <a:bodyPr wrap="square" lIns="0" tIns="0" rIns="0" bIns="0" rtlCol="0" anchor="ctr"/>
          <a:lstStyle/>
          <a:p>
            <a:pPr indent="0" marL="0">
              <a:buNone/>
            </a:pPr>
            <a:r>
              <a:rPr lang="en-US" sz="1500" dirty="0">
                <a:solidFill>
                  <a:srgbClr val="F4B942"/>
                </a:solidFill>
                <a:latin typeface="IBM Plex Mono" pitchFamily="34" charset="0"/>
                <a:ea typeface="IBM Plex Mono" pitchFamily="34" charset="-122"/>
                <a:cs typeface="IBM Plex Mono" pitchFamily="34" charset="-120"/>
              </a:rPr>
              <a:t>1.6 Ethical, legal, cultural and environmental impacts  |  Lesson 1</a:t>
            </a:r>
            <a:endParaRPr lang="en-US" sz="1500" dirty="0"/>
          </a:p>
        </p:txBody>
      </p:sp>
      <p:sp>
        <p:nvSpPr>
          <p:cNvPr id="4" name="Text 2"/>
          <p:cNvSpPr txBox="1"/>
          <p:nvPr/>
        </p:nvSpPr>
        <p:spPr>
          <a:xfrm>
            <a:off x="822960" y="1920240"/>
            <a:ext cx="10515600" cy="1280160"/>
          </a:xfrm>
          <a:prstGeom prst="rect">
            <a:avLst/>
          </a:prstGeom>
          <a:noFill/>
          <a:ln/>
        </p:spPr>
        <p:txBody>
          <a:bodyPr wrap="square" lIns="0" tIns="0" rIns="0" bIns="0" rtlCol="0" anchor="ctr"/>
          <a:lstStyle/>
          <a:p>
            <a:pPr indent="0" marL="0">
              <a:buNone/>
            </a:pPr>
            <a:r>
              <a:rPr lang="en-US" sz="6000" b="1" dirty="0">
                <a:solidFill>
                  <a:srgbClr val="FFFFFF"/>
                </a:solidFill>
                <a:latin typeface="IBM Plex Sans" pitchFamily="34" charset="0"/>
                <a:ea typeface="IBM Plex Sans" pitchFamily="34" charset="-122"/>
                <a:cs typeface="IBM Plex Sans" pitchFamily="34" charset="-120"/>
              </a:rPr>
              <a:t>Impact desk</a:t>
            </a:r>
            <a:endParaRPr lang="en-US" sz="6000" dirty="0"/>
          </a:p>
        </p:txBody>
      </p:sp>
      <p:sp>
        <p:nvSpPr>
          <p:cNvPr id="5" name="Text 3"/>
          <p:cNvSpPr txBox="1"/>
          <p:nvPr/>
        </p:nvSpPr>
        <p:spPr>
          <a:xfrm>
            <a:off x="822960" y="3291840"/>
            <a:ext cx="9509760" cy="1371600"/>
          </a:xfrm>
          <a:prstGeom prst="rect">
            <a:avLst/>
          </a:prstGeom>
          <a:noFill/>
          <a:ln/>
        </p:spPr>
        <p:txBody>
          <a:bodyPr wrap="square" lIns="0" tIns="0" rIns="0" bIns="0" rtlCol="0" anchor="ctr"/>
          <a:lstStyle/>
          <a:p>
            <a:pPr indent="0" marL="0">
              <a:lnSpc>
                <a:spcPct val="125000"/>
              </a:lnSpc>
              <a:buNone/>
            </a:pPr>
            <a:r>
              <a:rPr lang="en-US" sz="1800" dirty="0">
                <a:solidFill>
                  <a:srgbClr val="C7CDD9"/>
                </a:solidFill>
                <a:latin typeface="IBM Plex Sans" pitchFamily="34" charset="0"/>
                <a:ea typeface="IBM Plex Sans" pitchFamily="34" charset="-122"/>
                <a:cs typeface="IBM Plex Sans" pitchFamily="34" charset="-120"/>
              </a:rPr>
              <a:t>The six kinds of impact every new technology has, and how to argue an ethical question properly.</a:t>
            </a:r>
            <a:endParaRPr lang="en-US" sz="1800" dirty="0"/>
          </a:p>
        </p:txBody>
      </p:sp>
      <p:sp>
        <p:nvSpPr>
          <p:cNvPr id="6" name="Shape 4"/>
          <p:cNvSpPr/>
          <p:nvPr/>
        </p:nvSpPr>
        <p:spPr>
          <a:xfrm>
            <a:off x="822960" y="4846320"/>
            <a:ext cx="2926080" cy="0"/>
          </a:xfrm>
          <a:prstGeom prst="line">
            <a:avLst/>
          </a:prstGeom>
          <a:noFill/>
          <a:ln w="31750">
            <a:solidFill>
              <a:srgbClr val="2D63FF"/>
            </a:solidFill>
            <a:prstDash val="solid"/>
          </a:ln>
        </p:spPr>
      </p:sp>
      <p:sp>
        <p:nvSpPr>
          <p:cNvPr id="7" name="Text 5"/>
          <p:cNvSpPr txBox="1"/>
          <p:nvPr/>
        </p:nvSpPr>
        <p:spPr>
          <a:xfrm>
            <a:off x="822960" y="5029200"/>
            <a:ext cx="10515600" cy="365760"/>
          </a:xfrm>
          <a:prstGeom prst="rect">
            <a:avLst/>
          </a:prstGeom>
          <a:noFill/>
          <a:ln/>
        </p:spPr>
        <p:txBody>
          <a:bodyPr wrap="square" lIns="0" tIns="0" rIns="0" bIns="0" rtlCol="0" anchor="ctr"/>
          <a:lstStyle/>
          <a:p>
            <a:pPr indent="0" marL="0">
              <a:buNone/>
            </a:pPr>
            <a:r>
              <a:rPr lang="en-US" sz="1300" dirty="0">
                <a:solidFill>
                  <a:srgbClr val="667085"/>
                </a:solidFill>
                <a:latin typeface="IBM Plex Mono" pitchFamily="34" charset="0"/>
                <a:ea typeface="IBM Plex Mono" pitchFamily="34" charset="-122"/>
                <a:cs typeface="IBM Plex Mono" pitchFamily="34" charset="-120"/>
              </a:rPr>
              <a:t>OCR J277 Paper 1  |  Computer systems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By the end of this lesson</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What should be considered before a new technology is introduced?</a:t>
            </a:r>
            <a:endParaRPr lang="en-US" sz="1500" dirty="0"/>
          </a:p>
        </p:txBody>
      </p:sp>
      <p:sp>
        <p:nvSpPr>
          <p:cNvPr id="7" name="Shape 5"/>
          <p:cNvSpPr/>
          <p:nvPr/>
        </p:nvSpPr>
        <p:spPr>
          <a:xfrm>
            <a:off x="548640" y="1965960"/>
            <a:ext cx="566928" cy="566928"/>
          </a:xfrm>
          <a:prstGeom prst="ellipse">
            <a:avLst/>
          </a:prstGeom>
          <a:solidFill>
            <a:srgbClr val="2D63FF"/>
          </a:solidFill>
          <a:ln/>
        </p:spPr>
      </p:sp>
      <p:sp>
        <p:nvSpPr>
          <p:cNvPr id="8" name="Text 6"/>
          <p:cNvSpPr txBox="1"/>
          <p:nvPr/>
        </p:nvSpPr>
        <p:spPr>
          <a:xfrm>
            <a:off x="548640" y="1965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965960"/>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the range of issues to consider when a new technology is introduced</a:t>
            </a:r>
            <a:endParaRPr lang="en-US" sz="1900" dirty="0"/>
          </a:p>
        </p:txBody>
      </p:sp>
      <p:sp>
        <p:nvSpPr>
          <p:cNvPr id="10" name="Shape 8"/>
          <p:cNvSpPr/>
          <p:nvPr/>
        </p:nvSpPr>
        <p:spPr>
          <a:xfrm>
            <a:off x="548640" y="2898648"/>
            <a:ext cx="566928" cy="566928"/>
          </a:xfrm>
          <a:prstGeom prst="ellipse">
            <a:avLst/>
          </a:prstGeom>
          <a:solidFill>
            <a:srgbClr val="2D63FF"/>
          </a:solidFill>
          <a:ln/>
        </p:spPr>
      </p:sp>
      <p:sp>
        <p:nvSpPr>
          <p:cNvPr id="11" name="Text 9"/>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2" name="Text 10"/>
          <p:cNvSpPr txBox="1"/>
          <p:nvPr/>
        </p:nvSpPr>
        <p:spPr>
          <a:xfrm>
            <a:off x="1325880" y="2898648"/>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Understand at least one ethical issue of computer technology</a:t>
            </a:r>
            <a:endParaRPr lang="en-US" sz="1900" dirty="0"/>
          </a:p>
        </p:txBody>
      </p:sp>
      <p:sp>
        <p:nvSpPr>
          <p:cNvPr id="13" name="Shape 11"/>
          <p:cNvSpPr/>
          <p:nvPr/>
        </p:nvSpPr>
        <p:spPr>
          <a:xfrm>
            <a:off x="548640" y="3831336"/>
            <a:ext cx="566928" cy="566928"/>
          </a:xfrm>
          <a:prstGeom prst="ellipse">
            <a:avLst/>
          </a:prstGeom>
          <a:solidFill>
            <a:srgbClr val="2D63FF"/>
          </a:solidFill>
          <a:ln/>
        </p:spPr>
      </p:sp>
      <p:sp>
        <p:nvSpPr>
          <p:cNvPr id="14" name="Text 12"/>
          <p:cNvSpPr txBox="1"/>
          <p:nvPr/>
        </p:nvSpPr>
        <p:spPr>
          <a:xfrm>
            <a:off x="548640" y="383133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5" name="Text 13"/>
          <p:cNvSpPr txBox="1"/>
          <p:nvPr/>
        </p:nvSpPr>
        <p:spPr>
          <a:xfrm>
            <a:off x="1325880" y="3831336"/>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Be able to argue both sides and reach a conclusion</a:t>
            </a:r>
            <a:endParaRPr lang="en-US" sz="1900" dirty="0"/>
          </a:p>
        </p:txBody>
      </p:sp>
      <p:sp>
        <p:nvSpPr>
          <p:cNvPr id="16" name="Text 14"/>
          <p:cNvSpPr txBox="1"/>
          <p:nvPr/>
        </p:nvSpPr>
        <p:spPr>
          <a:xfrm>
            <a:off x="548640" y="5084064"/>
            <a:ext cx="2743200" cy="320040"/>
          </a:xfrm>
          <a:prstGeom prst="rect">
            <a:avLst/>
          </a:prstGeom>
          <a:noFill/>
          <a:ln/>
        </p:spPr>
        <p:txBody>
          <a:bodyPr wrap="square" lIns="0" tIns="0" rIns="0" bIns="0" rtlCol="0" anchor="ctr"/>
          <a:lstStyle/>
          <a:p>
            <a:pPr indent="0" marL="0">
              <a:buNone/>
            </a:pPr>
            <a:r>
              <a:rPr lang="en-US" sz="1200" dirty="0">
                <a:solidFill>
                  <a:srgbClr val="667085"/>
                </a:solidFill>
                <a:latin typeface="IBM Plex Mono" pitchFamily="34" charset="0"/>
                <a:ea typeface="IBM Plex Mono" pitchFamily="34" charset="-122"/>
                <a:cs typeface="IBM Plex Mono" pitchFamily="34" charset="-120"/>
              </a:rPr>
              <a:t>Key words</a:t>
            </a:r>
            <a:endParaRPr lang="en-US" sz="1200" dirty="0"/>
          </a:p>
        </p:txBody>
      </p:sp>
      <p:sp>
        <p:nvSpPr>
          <p:cNvPr id="17" name="Shape 15"/>
          <p:cNvSpPr/>
          <p:nvPr/>
        </p:nvSpPr>
        <p:spPr>
          <a:xfrm>
            <a:off x="548640" y="5468112"/>
            <a:ext cx="2359152" cy="402336"/>
          </a:xfrm>
          <a:prstGeom prst="roundRect">
            <a:avLst>
              <a:gd name="adj" fmla="val 50000"/>
            </a:avLst>
          </a:prstGeom>
          <a:solidFill>
            <a:srgbClr val="FFFFFF"/>
          </a:solidFill>
          <a:ln w="12700">
            <a:solidFill>
              <a:srgbClr val="2D63FF"/>
            </a:solidFill>
            <a:prstDash val="solid"/>
          </a:ln>
        </p:spPr>
      </p:sp>
      <p:sp>
        <p:nvSpPr>
          <p:cNvPr id="18" name="Text 16"/>
          <p:cNvSpPr txBox="1"/>
          <p:nvPr/>
        </p:nvSpPr>
        <p:spPr>
          <a:xfrm>
            <a:off x="548640" y="5468112"/>
            <a:ext cx="2359152"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Ethical issue</a:t>
            </a:r>
            <a:endParaRPr lang="en-US" sz="1200" dirty="0"/>
          </a:p>
        </p:txBody>
      </p:sp>
      <p:sp>
        <p:nvSpPr>
          <p:cNvPr id="19" name="Shape 17"/>
          <p:cNvSpPr/>
          <p:nvPr/>
        </p:nvSpPr>
        <p:spPr>
          <a:xfrm>
            <a:off x="3035808" y="5468112"/>
            <a:ext cx="2066544" cy="402336"/>
          </a:xfrm>
          <a:prstGeom prst="roundRect">
            <a:avLst>
              <a:gd name="adj" fmla="val 50000"/>
            </a:avLst>
          </a:prstGeom>
          <a:solidFill>
            <a:srgbClr val="FFFFFF"/>
          </a:solidFill>
          <a:ln w="12700">
            <a:solidFill>
              <a:srgbClr val="2D63FF"/>
            </a:solidFill>
            <a:prstDash val="solid"/>
          </a:ln>
        </p:spPr>
      </p:sp>
      <p:sp>
        <p:nvSpPr>
          <p:cNvPr id="20" name="Text 18"/>
          <p:cNvSpPr txBox="1"/>
          <p:nvPr/>
        </p:nvSpPr>
        <p:spPr>
          <a:xfrm>
            <a:off x="3035808" y="5468112"/>
            <a:ext cx="206654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Stakeholder</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2103120" cy="457200"/>
          </a:xfrm>
          <a:prstGeom prst="roundRect">
            <a:avLst>
              <a:gd name="adj" fmla="val 20000"/>
            </a:avLst>
          </a:prstGeom>
          <a:solidFill>
            <a:srgbClr val="F4B942"/>
          </a:solidFill>
          <a:ln/>
        </p:spPr>
      </p:sp>
      <p:sp>
        <p:nvSpPr>
          <p:cNvPr id="6" name="Text 4"/>
          <p:cNvSpPr txBox="1"/>
          <p:nvPr/>
        </p:nvSpPr>
        <p:spPr>
          <a:xfrm>
            <a:off x="502920" y="457200"/>
            <a:ext cx="2103120" cy="45720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STARTER</a:t>
            </a:r>
            <a:endParaRPr lang="en-US" sz="1300" dirty="0"/>
          </a:p>
        </p:txBody>
      </p:sp>
      <p:sp>
        <p:nvSpPr>
          <p:cNvPr id="7" name="Text 5"/>
          <p:cNvSpPr txBox="1"/>
          <p:nvPr/>
        </p:nvSpPr>
        <p:spPr>
          <a:xfrm>
            <a:off x="2788920" y="457200"/>
            <a:ext cx="5486400" cy="457200"/>
          </a:xfrm>
          <a:prstGeom prst="rect">
            <a:avLst/>
          </a:prstGeom>
          <a:noFill/>
          <a:ln/>
        </p:spPr>
        <p:txBody>
          <a:bodyPr wrap="square" lIns="0" tIns="0" rIns="0" bIns="0" rtlCol="0" anchor="ctr"/>
          <a:lstStyle/>
          <a:p>
            <a:pPr indent="0" marL="0">
              <a:buNone/>
            </a:pPr>
            <a:r>
              <a:rPr lang="en-US" sz="1400" dirty="0">
                <a:solidFill>
                  <a:srgbClr val="667085"/>
                </a:solidFill>
                <a:latin typeface="IBM Plex Sans" pitchFamily="34" charset="0"/>
                <a:ea typeface="IBM Plex Sans" pitchFamily="34" charset="-122"/>
                <a:cs typeface="IBM Plex Sans" pitchFamily="34" charset="-120"/>
              </a:rPr>
              <a:t>Five minutes, on paper</a:t>
            </a:r>
            <a:endParaRPr lang="en-US" sz="1400" dirty="0"/>
          </a:p>
        </p:txBody>
      </p:sp>
      <p:sp>
        <p:nvSpPr>
          <p:cNvPr id="8" name="Shape 6"/>
          <p:cNvSpPr/>
          <p:nvPr/>
        </p:nvSpPr>
        <p:spPr>
          <a:xfrm>
            <a:off x="502920" y="1234440"/>
            <a:ext cx="11155680" cy="3200400"/>
          </a:xfrm>
          <a:prstGeom prst="roundRect">
            <a:avLst>
              <a:gd name="adj" fmla="val 3429"/>
            </a:avLst>
          </a:prstGeom>
          <a:solidFill>
            <a:srgbClr val="FFFFFF"/>
          </a:solidFill>
          <a:ln w="15875">
            <a:solidFill>
              <a:srgbClr val="2D63FF"/>
            </a:solidFill>
            <a:prstDash val="solid"/>
          </a:ln>
        </p:spPr>
      </p:sp>
      <p:sp>
        <p:nvSpPr>
          <p:cNvPr id="9" name="Text 7"/>
          <p:cNvSpPr txBox="1"/>
          <p:nvPr/>
        </p:nvSpPr>
        <p:spPr>
          <a:xfrm>
            <a:off x="1005840" y="1645920"/>
            <a:ext cx="10149840" cy="2377440"/>
          </a:xfrm>
          <a:prstGeom prst="rect">
            <a:avLst/>
          </a:prstGeom>
          <a:noFill/>
          <a:ln/>
        </p:spPr>
        <p:txBody>
          <a:bodyPr wrap="square" lIns="0" tIns="0" rIns="0" bIns="0" rtlCol="0" anchor="ctr"/>
          <a:lstStyle/>
          <a:p>
            <a:pPr indent="0" marL="0">
              <a:lnSpc>
                <a:spcPct val="130000"/>
              </a:lnSpc>
              <a:buNone/>
            </a:pPr>
            <a:r>
              <a:rPr lang="en-US" sz="2600" dirty="0">
                <a:solidFill>
                  <a:srgbClr val="101828"/>
                </a:solidFill>
                <a:latin typeface="IBM Plex Sans" pitchFamily="34" charset="0"/>
                <a:ea typeface="IBM Plex Sans" pitchFamily="34" charset="-122"/>
                <a:cs typeface="IBM Plex Sans" pitchFamily="34" charset="-120"/>
              </a:rPr>
              <a:t>Think of a technology released in your lifetime that made something worse as well as better. What was gained, and what was lost?</a:t>
            </a:r>
            <a:endParaRPr lang="en-US" sz="2600" dirty="0"/>
          </a:p>
        </p:txBody>
      </p:sp>
      <p:sp>
        <p:nvSpPr>
          <p:cNvPr id="10" name="Text 8"/>
          <p:cNvSpPr txBox="1"/>
          <p:nvPr/>
        </p:nvSpPr>
        <p:spPr>
          <a:xfrm>
            <a:off x="502920" y="4709160"/>
            <a:ext cx="11155680" cy="45720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No devices yet. Write your answer on the worksheet before anyone talks.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Into the experience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Open Impact desk on revise360.co.uk</a:t>
            </a:r>
            <a:endParaRPr lang="en-US" sz="1500" dirty="0"/>
          </a:p>
        </p:txBody>
      </p:sp>
      <p:sp>
        <p:nvSpPr>
          <p:cNvPr id="7" name="Shape 5"/>
          <p:cNvSpPr/>
          <p:nvPr/>
        </p:nvSpPr>
        <p:spPr>
          <a:xfrm>
            <a:off x="548640" y="1874520"/>
            <a:ext cx="566928" cy="566928"/>
          </a:xfrm>
          <a:prstGeom prst="ellipse">
            <a:avLst/>
          </a:prstGeom>
          <a:solidFill>
            <a:srgbClr val="08A6A6"/>
          </a:solidFill>
          <a:ln/>
        </p:spPr>
      </p:sp>
      <p:sp>
        <p:nvSpPr>
          <p:cNvPr id="8" name="Text 6"/>
          <p:cNvSpPr txBox="1"/>
          <p:nvPr/>
        </p:nvSpPr>
        <p:spPr>
          <a:xfrm>
            <a:off x="548640" y="18745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856232"/>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around</a:t>
            </a:r>
            <a:endParaRPr lang="en-US" sz="1700" dirty="0"/>
          </a:p>
        </p:txBody>
      </p:sp>
      <p:sp>
        <p:nvSpPr>
          <p:cNvPr id="10" name="Text 8"/>
          <p:cNvSpPr txBox="1"/>
          <p:nvPr/>
        </p:nvSpPr>
        <p:spPr>
          <a:xfrm>
            <a:off x="1325880" y="2148840"/>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Six numbered stations are arranged around you. Turn right for 1 and 2, around for 3 and 4, left for 5 and 6.</a:t>
            </a:r>
            <a:endParaRPr lang="en-US" sz="1400" dirty="0"/>
          </a:p>
        </p:txBody>
      </p:sp>
      <p:sp>
        <p:nvSpPr>
          <p:cNvPr id="11" name="Shape 9"/>
          <p:cNvSpPr/>
          <p:nvPr/>
        </p:nvSpPr>
        <p:spPr>
          <a:xfrm>
            <a:off x="548640" y="2898648"/>
            <a:ext cx="566928" cy="566928"/>
          </a:xfrm>
          <a:prstGeom prst="ellipse">
            <a:avLst/>
          </a:prstGeom>
          <a:solidFill>
            <a:srgbClr val="08A6A6"/>
          </a:solidFill>
          <a:ln/>
        </p:spPr>
      </p:sp>
      <p:sp>
        <p:nvSpPr>
          <p:cNvPr id="12" name="Text 10"/>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3" name="Text 11"/>
          <p:cNvSpPr txBox="1"/>
          <p:nvPr/>
        </p:nvSpPr>
        <p:spPr>
          <a:xfrm>
            <a:off x="1325880" y="2880360"/>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Read, then write</a:t>
            </a:r>
            <a:endParaRPr lang="en-US" sz="1700" dirty="0"/>
          </a:p>
        </p:txBody>
      </p:sp>
      <p:sp>
        <p:nvSpPr>
          <p:cNvPr id="14" name="Text 12"/>
          <p:cNvSpPr txBox="1"/>
          <p:nvPr/>
        </p:nvSpPr>
        <p:spPr>
          <a:xfrm>
            <a:off x="1325880" y="3172968"/>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Read the wall, write the key fact and your answer to the challenge on the worksheet.</a:t>
            </a:r>
            <a:endParaRPr lang="en-US" sz="1400" dirty="0"/>
          </a:p>
        </p:txBody>
      </p:sp>
      <p:sp>
        <p:nvSpPr>
          <p:cNvPr id="15" name="Shape 13"/>
          <p:cNvSpPr/>
          <p:nvPr/>
        </p:nvSpPr>
        <p:spPr>
          <a:xfrm>
            <a:off x="548640" y="3922776"/>
            <a:ext cx="566928" cy="566928"/>
          </a:xfrm>
          <a:prstGeom prst="ellipse">
            <a:avLst/>
          </a:prstGeom>
          <a:solidFill>
            <a:srgbClr val="08A6A6"/>
          </a:solidFill>
          <a:ln/>
        </p:spPr>
      </p:sp>
      <p:sp>
        <p:nvSpPr>
          <p:cNvPr id="16" name="Text 14"/>
          <p:cNvSpPr txBox="1"/>
          <p:nvPr/>
        </p:nvSpPr>
        <p:spPr>
          <a:xfrm>
            <a:off x="548640" y="392277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7" name="Text 15"/>
          <p:cNvSpPr txBox="1"/>
          <p:nvPr/>
        </p:nvSpPr>
        <p:spPr>
          <a:xfrm>
            <a:off x="1325880" y="3904488"/>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Then tap the badge</a:t>
            </a:r>
            <a:endParaRPr lang="en-US" sz="1700" dirty="0"/>
          </a:p>
        </p:txBody>
      </p:sp>
      <p:sp>
        <p:nvSpPr>
          <p:cNvPr id="18" name="Text 16"/>
          <p:cNvSpPr txBox="1"/>
          <p:nvPr/>
        </p:nvSpPr>
        <p:spPr>
          <a:xfrm>
            <a:off x="1325880" y="4197096"/>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Only answer the questions once you have written. Your first answer is the one that counts.</a:t>
            </a:r>
            <a:endParaRPr lang="en-US" sz="1400" dirty="0"/>
          </a:p>
        </p:txBody>
      </p:sp>
      <p:sp>
        <p:nvSpPr>
          <p:cNvPr id="19" name="Shape 17"/>
          <p:cNvSpPr/>
          <p:nvPr/>
        </p:nvSpPr>
        <p:spPr>
          <a:xfrm>
            <a:off x="548640" y="4946904"/>
            <a:ext cx="566928" cy="566928"/>
          </a:xfrm>
          <a:prstGeom prst="ellipse">
            <a:avLst/>
          </a:prstGeom>
          <a:solidFill>
            <a:srgbClr val="F4B942"/>
          </a:solidFill>
          <a:ln/>
        </p:spPr>
      </p:sp>
      <p:sp>
        <p:nvSpPr>
          <p:cNvPr id="20" name="Text 18"/>
          <p:cNvSpPr txBox="1"/>
          <p:nvPr/>
        </p:nvSpPr>
        <p:spPr>
          <a:xfrm>
            <a:off x="548640" y="4946904"/>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21" name="Text 19"/>
          <p:cNvSpPr txBox="1"/>
          <p:nvPr/>
        </p:nvSpPr>
        <p:spPr>
          <a:xfrm>
            <a:off x="1325880" y="4928616"/>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down at the end</a:t>
            </a:r>
            <a:endParaRPr lang="en-US" sz="1700" dirty="0"/>
          </a:p>
        </p:txBody>
      </p:sp>
      <p:sp>
        <p:nvSpPr>
          <p:cNvPr id="22" name="Text 20"/>
          <p:cNvSpPr txBox="1"/>
          <p:nvPr/>
        </p:nvSpPr>
        <p:spPr>
          <a:xfrm>
            <a:off x="1325880" y="5221224"/>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The starred final challenge is on the floor. Predict on paper first.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1</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Beyond building it</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new system is judged on far more than whether it works.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Six kinds of impact come up again and again: ethical, legal, cultural, environmental, privacy and the wider effect on society.</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Most real decisions involve several at once, pulling in different directions.</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Name the six kinds of impact, and give an example of each in one line.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The impacts to consider are...</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2</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Ethical issues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An ethical issue asks whether something should be done, not whether it can be.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Examples: tracking people's location, using AI to mark exams, selling data about children, automating jobs away.</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There is rarely one right answer, which is why the exam asks you to discuss both sides.</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Write one ethical question raised by a technology you use, and one argument each way.</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An ethical issue is...</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3</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Two sides of an argument</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good answer gives arguments for, arguments against, and a conclusion you can defend.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Each argument needs a reason and, ideally, who it affects.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'It's bad' is not an argument. 'It's bad because…, which harms…' is.</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Write one argument for and one against schools monitoring what pupils type.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good argument includes...</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4</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Stakeholders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stakeholder is anyone affected by a system: users, staff, customers, the wider public.</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 same change helps some stakeholders and harms others.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Naming the stakeholders is usually the first mark in an impact question.</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List four stakeholders affected by a school introducing cashless payments.</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stakeholder is...</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5</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5</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Piracy: a worked example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Copying films, music, games or software without paying is illegal, and it is also an ethical question.</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For: content is expensive, some is unavailable legally, one copy costs the maker nothing extra.</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Against: creators lose income, studios make fewer risky projects, the money funds crime.</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Write your own conclusion on piracy, and justify it in two sentences.</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The arguments about piracy are...</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6</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6</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Writing the answer</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Name the impact: ethical, legal, cultural, environmental, privacy.</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Name the stakeholders and say how each is affected.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Give both sides, then conclude.</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Plan an eight-mark answer on schools using facial recognition for lunch payments.</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To answer an impact question, I should...</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Watch me answer an eight-mark one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A different question from yours, so you get the method and not the answer</a:t>
            </a:r>
            <a:endParaRPr lang="en-US" sz="1500" dirty="0"/>
          </a:p>
        </p:txBody>
      </p:sp>
      <p:sp>
        <p:nvSpPr>
          <p:cNvPr id="7" name="Shape 5"/>
          <p:cNvSpPr/>
          <p:nvPr/>
        </p:nvSpPr>
        <p:spPr>
          <a:xfrm>
            <a:off x="502920" y="1737360"/>
            <a:ext cx="3566160" cy="2377440"/>
          </a:xfrm>
          <a:prstGeom prst="roundRect">
            <a:avLst>
              <a:gd name="adj" fmla="val 4615"/>
            </a:avLst>
          </a:prstGeom>
          <a:solidFill>
            <a:srgbClr val="FFFFFF"/>
          </a:solidFill>
          <a:ln w="15875">
            <a:solidFill>
              <a:srgbClr val="D9DEE7"/>
            </a:solidFill>
            <a:prstDash val="solid"/>
          </a:ln>
        </p:spPr>
      </p:sp>
      <p:sp>
        <p:nvSpPr>
          <p:cNvPr id="8" name="Text 6"/>
          <p:cNvSpPr txBox="1"/>
          <p:nvPr/>
        </p:nvSpPr>
        <p:spPr>
          <a:xfrm>
            <a:off x="777240" y="1901952"/>
            <a:ext cx="3017520" cy="292608"/>
          </a:xfrm>
          <a:prstGeom prst="rect">
            <a:avLst/>
          </a:prstGeom>
          <a:noFill/>
          <a:ln/>
        </p:spPr>
        <p:txBody>
          <a:bodyPr wrap="square" lIns="0" tIns="0" rIns="0" bIns="0" rtlCol="0" anchor="ctr"/>
          <a:lstStyle/>
          <a:p>
            <a:pPr indent="0" marL="0">
              <a:buNone/>
            </a:pPr>
            <a:r>
              <a:rPr lang="en-US" sz="1100" b="1" dirty="0">
                <a:solidFill>
                  <a:srgbClr val="667085"/>
                </a:solidFill>
                <a:latin typeface="IBM Plex Mono" pitchFamily="34" charset="0"/>
                <a:ea typeface="IBM Plex Mono" pitchFamily="34" charset="-122"/>
                <a:cs typeface="IBM Plex Mono" pitchFamily="34" charset="-120"/>
              </a:rPr>
              <a:t>THE QUESTION</a:t>
            </a:r>
            <a:endParaRPr lang="en-US" sz="1100" dirty="0"/>
          </a:p>
        </p:txBody>
      </p:sp>
      <p:sp>
        <p:nvSpPr>
          <p:cNvPr id="9" name="Text 7"/>
          <p:cNvSpPr txBox="1"/>
          <p:nvPr/>
        </p:nvSpPr>
        <p:spPr>
          <a:xfrm>
            <a:off x="777240" y="2249424"/>
            <a:ext cx="3017520" cy="1719072"/>
          </a:xfrm>
          <a:prstGeom prst="rect">
            <a:avLst/>
          </a:prstGeom>
          <a:noFill/>
          <a:ln/>
        </p:spPr>
        <p:txBody>
          <a:bodyPr wrap="square" lIns="0" tIns="0" rIns="0" bIns="0" rtlCol="0" anchor="t"/>
          <a:lstStyle/>
          <a:p>
            <a:pPr indent="0" marL="0">
              <a:lnSpc>
                <a:spcPct val="118000"/>
              </a:lnSpc>
              <a:buNone/>
            </a:pPr>
            <a:r>
              <a:rPr lang="en-US" sz="1100" dirty="0">
                <a:solidFill>
                  <a:srgbClr val="101828"/>
                </a:solidFill>
                <a:latin typeface="IBM Plex Sans" pitchFamily="34" charset="0"/>
                <a:ea typeface="IBM Plex Sans" pitchFamily="34" charset="-122"/>
                <a:cs typeface="IBM Plex Sans" pitchFamily="34" charset="-120"/>
              </a:rPr>
              <a:t>A bank is closing the last branch in a town. Everything moves to its app.</a:t>
            </a:r>
            <a:endParaRPr lang="en-US" sz="1100" dirty="0"/>
          </a:p>
          <a:p>
            <a:pPr indent="0" marL="0">
              <a:lnSpc>
                <a:spcPct val="118000"/>
              </a:lnSpc>
              <a:buNone/>
            </a:pPr>
            <a:endParaRPr lang="en-US" sz="1100" dirty="0"/>
          </a:p>
          <a:p>
            <a:pPr indent="0" marL="0">
              <a:lnSpc>
                <a:spcPct val="118000"/>
              </a:lnSpc>
              <a:buNone/>
            </a:pPr>
            <a:r>
              <a:rPr lang="en-US" sz="1100" dirty="0">
                <a:solidFill>
                  <a:srgbClr val="101828"/>
                </a:solidFill>
                <a:latin typeface="IBM Plex Sans" pitchFamily="34" charset="0"/>
                <a:ea typeface="IBM Plex Sans" pitchFamily="34" charset="-122"/>
                <a:cs typeface="IBM Plex Sans" pitchFamily="34" charset="-120"/>
              </a:rPr>
              <a:t>Discuss the impacts of this decision.  [8]</a:t>
            </a:r>
            <a:endParaRPr lang="en-US" sz="1100" dirty="0"/>
          </a:p>
        </p:txBody>
      </p:sp>
      <p:sp>
        <p:nvSpPr>
          <p:cNvPr id="10" name="Shape 8"/>
          <p:cNvSpPr/>
          <p:nvPr/>
        </p:nvSpPr>
        <p:spPr>
          <a:xfrm>
            <a:off x="4297680" y="1737360"/>
            <a:ext cx="3566160" cy="2377440"/>
          </a:xfrm>
          <a:prstGeom prst="roundRect">
            <a:avLst>
              <a:gd name="adj" fmla="val 4615"/>
            </a:avLst>
          </a:prstGeom>
          <a:solidFill>
            <a:srgbClr val="FFFFFF"/>
          </a:solidFill>
          <a:ln w="15875">
            <a:solidFill>
              <a:srgbClr val="D9DEE7"/>
            </a:solidFill>
            <a:prstDash val="solid"/>
          </a:ln>
        </p:spPr>
      </p:sp>
      <p:sp>
        <p:nvSpPr>
          <p:cNvPr id="11" name="Text 9"/>
          <p:cNvSpPr txBox="1"/>
          <p:nvPr/>
        </p:nvSpPr>
        <p:spPr>
          <a:xfrm>
            <a:off x="4572000" y="1901952"/>
            <a:ext cx="3017520" cy="292608"/>
          </a:xfrm>
          <a:prstGeom prst="rect">
            <a:avLst/>
          </a:prstGeom>
          <a:noFill/>
          <a:ln/>
        </p:spPr>
        <p:txBody>
          <a:bodyPr wrap="square" lIns="0" tIns="0" rIns="0" bIns="0" rtlCol="0" anchor="ctr"/>
          <a:lstStyle/>
          <a:p>
            <a:pPr indent="0" marL="0">
              <a:buNone/>
            </a:pPr>
            <a:r>
              <a:rPr lang="en-US" sz="1100" b="1" dirty="0">
                <a:solidFill>
                  <a:srgbClr val="667085"/>
                </a:solidFill>
                <a:latin typeface="IBM Plex Mono" pitchFamily="34" charset="0"/>
                <a:ea typeface="IBM Plex Mono" pitchFamily="34" charset="-122"/>
                <a:cs typeface="IBM Plex Mono" pitchFamily="34" charset="-120"/>
              </a:rPr>
              <a:t>WHAT I'M THINKING</a:t>
            </a:r>
            <a:endParaRPr lang="en-US" sz="1100" dirty="0"/>
          </a:p>
        </p:txBody>
      </p:sp>
      <p:sp>
        <p:nvSpPr>
          <p:cNvPr id="12" name="Text 10"/>
          <p:cNvSpPr txBox="1"/>
          <p:nvPr/>
        </p:nvSpPr>
        <p:spPr>
          <a:xfrm>
            <a:off x="4572000" y="2249424"/>
            <a:ext cx="3017520" cy="1719072"/>
          </a:xfrm>
          <a:prstGeom prst="rect">
            <a:avLst/>
          </a:prstGeom>
          <a:noFill/>
          <a:ln/>
        </p:spPr>
        <p:txBody>
          <a:bodyPr wrap="square" lIns="0" tIns="0" rIns="0" bIns="0" rtlCol="0" anchor="t"/>
          <a:lstStyle/>
          <a:p>
            <a:pPr indent="0" marL="0">
              <a:lnSpc>
                <a:spcPct val="118000"/>
              </a:lnSpc>
              <a:buNone/>
            </a:pPr>
            <a:r>
              <a:rPr lang="en-US" sz="1100" dirty="0">
                <a:solidFill>
                  <a:srgbClr val="101828"/>
                </a:solidFill>
                <a:latin typeface="IBM Plex Sans" pitchFamily="34" charset="0"/>
                <a:ea typeface="IBM Plex Sans" pitchFamily="34" charset="-122"/>
                <a:cs typeface="IBM Plex Sans" pitchFamily="34" charset="-120"/>
              </a:rPr>
              <a:t>Eight marks is reasoning, not a list.</a:t>
            </a:r>
            <a:endParaRPr lang="en-US" sz="1100" dirty="0"/>
          </a:p>
          <a:p>
            <a:pPr indent="0" marL="0">
              <a:lnSpc>
                <a:spcPct val="118000"/>
              </a:lnSpc>
              <a:buNone/>
            </a:pPr>
            <a:endParaRPr lang="en-US" sz="1100" dirty="0"/>
          </a:p>
          <a:p>
            <a:pPr indent="0" marL="0">
              <a:lnSpc>
                <a:spcPct val="118000"/>
              </a:lnSpc>
              <a:buNone/>
            </a:pPr>
            <a:r>
              <a:rPr lang="en-US" sz="1100" dirty="0">
                <a:solidFill>
                  <a:srgbClr val="101828"/>
                </a:solidFill>
                <a:latin typeface="IBM Plex Sans" pitchFamily="34" charset="0"/>
                <a:ea typeface="IBM Plex Sans" pitchFamily="34" charset="-122"/>
                <a:cs typeface="IBM Plex Sans" pitchFamily="34" charset="-120"/>
              </a:rPr>
              <a:t>Two impacts I can say something real about beat all six named thinly.</a:t>
            </a:r>
            <a:endParaRPr lang="en-US" sz="1100" dirty="0"/>
          </a:p>
          <a:p>
            <a:pPr indent="0" marL="0">
              <a:lnSpc>
                <a:spcPct val="118000"/>
              </a:lnSpc>
              <a:buNone/>
            </a:pPr>
            <a:endParaRPr lang="en-US" sz="1100" dirty="0"/>
          </a:p>
          <a:p>
            <a:pPr indent="0" marL="0">
              <a:lnSpc>
                <a:spcPct val="118000"/>
              </a:lnSpc>
              <a:buNone/>
            </a:pPr>
            <a:r>
              <a:rPr lang="en-US" sz="1100" dirty="0">
                <a:solidFill>
                  <a:srgbClr val="101828"/>
                </a:solidFill>
                <a:latin typeface="IBM Plex Sans" pitchFamily="34" charset="0"/>
                <a:ea typeface="IBM Plex Sans" pitchFamily="34" charset="-122"/>
                <a:cs typeface="IBM Plex Sans" pitchFamily="34" charset="-120"/>
              </a:rPr>
              <a:t>So: name who is affected, argue both ways, then commit.</a:t>
            </a:r>
            <a:endParaRPr lang="en-US" sz="1100" dirty="0"/>
          </a:p>
        </p:txBody>
      </p:sp>
      <p:sp>
        <p:nvSpPr>
          <p:cNvPr id="13" name="Shape 11"/>
          <p:cNvSpPr/>
          <p:nvPr/>
        </p:nvSpPr>
        <p:spPr>
          <a:xfrm>
            <a:off x="8092440" y="1737360"/>
            <a:ext cx="3566160" cy="2377440"/>
          </a:xfrm>
          <a:prstGeom prst="roundRect">
            <a:avLst>
              <a:gd name="adj" fmla="val 4615"/>
            </a:avLst>
          </a:prstGeom>
          <a:solidFill>
            <a:srgbClr val="FFFFFF"/>
          </a:solidFill>
          <a:ln w="15875">
            <a:solidFill>
              <a:srgbClr val="D9DEE7"/>
            </a:solidFill>
            <a:prstDash val="solid"/>
          </a:ln>
        </p:spPr>
      </p:sp>
      <p:sp>
        <p:nvSpPr>
          <p:cNvPr id="14" name="Text 12"/>
          <p:cNvSpPr txBox="1"/>
          <p:nvPr/>
        </p:nvSpPr>
        <p:spPr>
          <a:xfrm>
            <a:off x="8366760" y="1901952"/>
            <a:ext cx="3017520" cy="292608"/>
          </a:xfrm>
          <a:prstGeom prst="rect">
            <a:avLst/>
          </a:prstGeom>
          <a:noFill/>
          <a:ln/>
        </p:spPr>
        <p:txBody>
          <a:bodyPr wrap="square" lIns="0" tIns="0" rIns="0" bIns="0" rtlCol="0" anchor="ctr"/>
          <a:lstStyle/>
          <a:p>
            <a:pPr indent="0" marL="0">
              <a:buNone/>
            </a:pPr>
            <a:r>
              <a:rPr lang="en-US" sz="1100" b="1" dirty="0">
                <a:solidFill>
                  <a:srgbClr val="667085"/>
                </a:solidFill>
                <a:latin typeface="IBM Plex Mono" pitchFamily="34" charset="0"/>
                <a:ea typeface="IBM Plex Mono" pitchFamily="34" charset="-122"/>
                <a:cs typeface="IBM Plex Mono" pitchFamily="34" charset="-120"/>
              </a:rPr>
              <a:t>HOW I BUILD IT</a:t>
            </a:r>
            <a:endParaRPr lang="en-US" sz="1100" dirty="0"/>
          </a:p>
        </p:txBody>
      </p:sp>
      <p:sp>
        <p:nvSpPr>
          <p:cNvPr id="15" name="Text 13"/>
          <p:cNvSpPr txBox="1"/>
          <p:nvPr/>
        </p:nvSpPr>
        <p:spPr>
          <a:xfrm>
            <a:off x="8366760" y="2249424"/>
            <a:ext cx="3017520" cy="1719072"/>
          </a:xfrm>
          <a:prstGeom prst="rect">
            <a:avLst/>
          </a:prstGeom>
          <a:noFill/>
          <a:ln/>
        </p:spPr>
        <p:txBody>
          <a:bodyPr wrap="square" lIns="0" tIns="0" rIns="0" bIns="0" rtlCol="0" anchor="t"/>
          <a:lstStyle/>
          <a:p>
            <a:pPr indent="0" marL="0">
              <a:lnSpc>
                <a:spcPct val="118000"/>
              </a:lnSpc>
              <a:buNone/>
            </a:pPr>
            <a:r>
              <a:rPr lang="en-US" sz="1100" dirty="0">
                <a:solidFill>
                  <a:srgbClr val="101828"/>
                </a:solidFill>
                <a:latin typeface="IBM Plex Sans" pitchFamily="34" charset="0"/>
                <a:ea typeface="IBM Plex Sans" pitchFamily="34" charset="-122"/>
                <a:cs typeface="IBM Plex Sans" pitchFamily="34" charset="-120"/>
              </a:rPr>
              <a:t>ETHICAL - some cannot use an app.</a:t>
            </a:r>
            <a:endParaRPr lang="en-US" sz="1100" dirty="0"/>
          </a:p>
          <a:p>
            <a:pPr indent="0" marL="0">
              <a:lnSpc>
                <a:spcPct val="118000"/>
              </a:lnSpc>
              <a:buNone/>
            </a:pPr>
            <a:r>
              <a:rPr lang="en-US" sz="1100" dirty="0">
                <a:solidFill>
                  <a:srgbClr val="101828"/>
                </a:solidFill>
                <a:latin typeface="IBM Plex Sans" pitchFamily="34" charset="0"/>
                <a:ea typeface="IBM Plex Sans" pitchFamily="34" charset="-122"/>
                <a:cs typeface="IBM Plex Sans" pitchFamily="34" charset="-120"/>
              </a:rPr>
              <a:t>Affected: older customers, anyone with no smartphone.</a:t>
            </a:r>
            <a:endParaRPr lang="en-US" sz="1100" dirty="0"/>
          </a:p>
          <a:p>
            <a:pPr indent="0" marL="0">
              <a:lnSpc>
                <a:spcPct val="118000"/>
              </a:lnSpc>
              <a:buNone/>
            </a:pPr>
            <a:endParaRPr lang="en-US" sz="1100" dirty="0"/>
          </a:p>
          <a:p>
            <a:pPr indent="0" marL="0">
              <a:lnSpc>
                <a:spcPct val="118000"/>
              </a:lnSpc>
              <a:buNone/>
            </a:pPr>
            <a:r>
              <a:rPr lang="en-US" sz="1100" dirty="0">
                <a:solidFill>
                  <a:srgbClr val="101828"/>
                </a:solidFill>
                <a:latin typeface="IBM Plex Sans" pitchFamily="34" charset="0"/>
                <a:ea typeface="IBM Plex Sans" pitchFamily="34" charset="-122"/>
                <a:cs typeface="IBM Plex Sans" pitchFamily="34" charset="-120"/>
              </a:rPr>
              <a:t>For: cheaper, open all hours.</a:t>
            </a:r>
            <a:endParaRPr lang="en-US" sz="1100" dirty="0"/>
          </a:p>
          <a:p>
            <a:pPr indent="0" marL="0">
              <a:lnSpc>
                <a:spcPct val="118000"/>
              </a:lnSpc>
              <a:buNone/>
            </a:pPr>
            <a:r>
              <a:rPr lang="en-US" sz="1100" dirty="0">
                <a:solidFill>
                  <a:srgbClr val="101828"/>
                </a:solidFill>
                <a:latin typeface="IBM Plex Sans" pitchFamily="34" charset="0"/>
                <a:ea typeface="IBM Plex Sans" pitchFamily="34" charset="-122"/>
                <a:cs typeface="IBM Plex Sans" pitchFamily="34" charset="-120"/>
              </a:rPr>
              <a:t>Against: those needing it most can replace it least.</a:t>
            </a:r>
            <a:endParaRPr lang="en-US" sz="1100" dirty="0"/>
          </a:p>
          <a:p>
            <a:pPr indent="0" marL="0">
              <a:lnSpc>
                <a:spcPct val="118000"/>
              </a:lnSpc>
              <a:buNone/>
            </a:pPr>
            <a:endParaRPr lang="en-US" sz="1100" dirty="0"/>
          </a:p>
          <a:p>
            <a:pPr indent="0" marL="0">
              <a:lnSpc>
                <a:spcPct val="118000"/>
              </a:lnSpc>
              <a:buNone/>
            </a:pPr>
            <a:r>
              <a:rPr lang="en-US" sz="1100" dirty="0">
                <a:solidFill>
                  <a:srgbClr val="101828"/>
                </a:solidFill>
                <a:latin typeface="IBM Plex Sans" pitchFamily="34" charset="0"/>
                <a:ea typeface="IBM Plex Sans" pitchFamily="34" charset="-122"/>
                <a:cs typeface="IBM Plex Sans" pitchFamily="34" charset="-120"/>
              </a:rPr>
              <a:t>CULTURAL - a town centre with no bank.</a:t>
            </a:r>
            <a:endParaRPr lang="en-US" sz="1100" dirty="0"/>
          </a:p>
        </p:txBody>
      </p:sp>
      <p:sp>
        <p:nvSpPr>
          <p:cNvPr id="16" name="Shape 14"/>
          <p:cNvSpPr/>
          <p:nvPr/>
        </p:nvSpPr>
        <p:spPr>
          <a:xfrm>
            <a:off x="502920" y="4251960"/>
            <a:ext cx="11155680" cy="2057400"/>
          </a:xfrm>
          <a:prstGeom prst="roundRect">
            <a:avLst>
              <a:gd name="adj" fmla="val 5333"/>
            </a:avLst>
          </a:prstGeom>
          <a:solidFill>
            <a:srgbClr val="FFFFFF"/>
          </a:solidFill>
          <a:ln w="15875">
            <a:solidFill>
              <a:srgbClr val="08A6A6"/>
            </a:solidFill>
            <a:prstDash val="solid"/>
          </a:ln>
        </p:spPr>
      </p:sp>
      <p:sp>
        <p:nvSpPr>
          <p:cNvPr id="17" name="Text 15"/>
          <p:cNvSpPr txBox="1"/>
          <p:nvPr/>
        </p:nvSpPr>
        <p:spPr>
          <a:xfrm>
            <a:off x="868680" y="4416552"/>
            <a:ext cx="10424160" cy="292608"/>
          </a:xfrm>
          <a:prstGeom prst="rect">
            <a:avLst/>
          </a:prstGeom>
          <a:noFill/>
          <a:ln/>
        </p:spPr>
        <p:txBody>
          <a:bodyPr wrap="square" lIns="0" tIns="0" rIns="0" bIns="0" rtlCol="0" anchor="ctr"/>
          <a:lstStyle/>
          <a:p>
            <a:pPr indent="0" marL="0">
              <a:buNone/>
            </a:pPr>
            <a:r>
              <a:rPr lang="en-US" sz="1100" b="1" dirty="0">
                <a:solidFill>
                  <a:srgbClr val="08A6A6"/>
                </a:solidFill>
                <a:latin typeface="IBM Plex Mono" pitchFamily="34" charset="0"/>
                <a:ea typeface="IBM Plex Mono" pitchFamily="34" charset="-122"/>
                <a:cs typeface="IBM Plex Mono" pitchFamily="34" charset="-120"/>
              </a:rPr>
              <a:t>THE FINISHED ANSWER</a:t>
            </a:r>
            <a:endParaRPr lang="en-US" sz="1100" dirty="0"/>
          </a:p>
        </p:txBody>
      </p:sp>
      <p:sp>
        <p:nvSpPr>
          <p:cNvPr id="18" name="Text 16"/>
          <p:cNvSpPr txBox="1"/>
          <p:nvPr/>
        </p:nvSpPr>
        <p:spPr>
          <a:xfrm>
            <a:off x="868680" y="4764024"/>
            <a:ext cx="10424160" cy="1463040"/>
          </a:xfrm>
          <a:prstGeom prst="rect">
            <a:avLst/>
          </a:prstGeom>
          <a:noFill/>
          <a:ln/>
        </p:spPr>
        <p:txBody>
          <a:bodyPr wrap="square" lIns="0" tIns="0" rIns="0" bIns="0" rtlCol="0" anchor="t"/>
          <a:lstStyle/>
          <a:p>
            <a:pPr indent="0" marL="0">
              <a:lnSpc>
                <a:spcPct val="120000"/>
              </a:lnSpc>
              <a:buNone/>
            </a:pPr>
            <a:r>
              <a:rPr lang="en-US" sz="1500" dirty="0">
                <a:solidFill>
                  <a:srgbClr val="101828"/>
                </a:solidFill>
                <a:latin typeface="IBM Plex Sans" pitchFamily="34" charset="0"/>
                <a:ea typeface="IBM Plex Sans" pitchFamily="34" charset="-122"/>
                <a:cs typeface="IBM Plex Sans" pitchFamily="34" charset="-120"/>
              </a:rPr>
              <a:t>"Closing the branch raises an ethical issue, because some customers cannot use the app at all. Older customers and those without a smartphone lose the only way they can bank, while the bank and most of its customers gain a cheaper service open at any hour. There is a cultural impact too: the town centre loses another reason to visit it. On balance the closure is hard to justify until the bank has provided for the customers it leaves behind, because those worst affected have fewest alternatives."</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1051560" cy="420624"/>
          </a:xfrm>
          <a:prstGeom prst="roundRect">
            <a:avLst>
              <a:gd name="adj" fmla="val 21739"/>
            </a:avLst>
          </a:prstGeom>
          <a:solidFill>
            <a:srgbClr val="F4B942"/>
          </a:solidFill>
          <a:ln/>
        </p:spPr>
      </p:sp>
      <p:sp>
        <p:nvSpPr>
          <p:cNvPr id="6" name="Text 4"/>
          <p:cNvSpPr txBox="1"/>
          <p:nvPr/>
        </p:nvSpPr>
        <p:spPr>
          <a:xfrm>
            <a:off x="502920" y="457200"/>
            <a:ext cx="1051560" cy="420624"/>
          </a:xfrm>
          <a:prstGeom prst="rect">
            <a:avLst/>
          </a:prstGeom>
          <a:noFill/>
          <a:ln/>
        </p:spPr>
        <p:txBody>
          <a:bodyPr wrap="square" lIns="0" tIns="0" rIns="0" bIns="0" rtlCol="0" anchor="ctr"/>
          <a:lstStyle/>
          <a:p>
            <a:pPr algn="ctr" indent="0" marL="0">
              <a:buNone/>
            </a:pPr>
            <a:r>
              <a:rPr lang="en-US" sz="1200" b="1" dirty="0">
                <a:solidFill>
                  <a:srgbClr val="101828"/>
                </a:solidFill>
                <a:latin typeface="IBM Plex Mono" pitchFamily="34" charset="0"/>
                <a:ea typeface="IBM Plex Mono" pitchFamily="34" charset="-122"/>
                <a:cs typeface="IBM Plex Mono" pitchFamily="34" charset="-120"/>
              </a:rPr>
              <a:t>CHECK</a:t>
            </a:r>
            <a:endParaRPr lang="en-US" sz="1200" dirty="0"/>
          </a:p>
        </p:txBody>
      </p:sp>
      <p:sp>
        <p:nvSpPr>
          <p:cNvPr id="7" name="Text 5"/>
          <p:cNvSpPr txBox="1"/>
          <p:nvPr/>
        </p:nvSpPr>
        <p:spPr>
          <a:xfrm>
            <a:off x="1737360" y="457200"/>
            <a:ext cx="9875520" cy="420624"/>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Hands down. Everyone commits.</a:t>
            </a:r>
            <a:endParaRPr lang="en-US" sz="1500" dirty="0"/>
          </a:p>
        </p:txBody>
      </p:sp>
      <p:sp>
        <p:nvSpPr>
          <p:cNvPr id="8" name="Text 6"/>
          <p:cNvSpPr txBox="1"/>
          <p:nvPr/>
        </p:nvSpPr>
        <p:spPr>
          <a:xfrm>
            <a:off x="502920" y="1097280"/>
            <a:ext cx="11155680" cy="1005840"/>
          </a:xfrm>
          <a:prstGeom prst="rect">
            <a:avLst/>
          </a:prstGeom>
          <a:noFill/>
          <a:ln/>
        </p:spPr>
        <p:txBody>
          <a:bodyPr wrap="square" lIns="0" tIns="0" rIns="0" bIns="0" rtlCol="0" anchor="ctr"/>
          <a:lstStyle/>
          <a:p>
            <a:pPr indent="0" marL="0">
              <a:lnSpc>
                <a:spcPct val="115000"/>
              </a:lnSpc>
              <a:buNone/>
            </a:pPr>
            <a:r>
              <a:rPr lang="en-US" sz="2600" b="1" dirty="0">
                <a:solidFill>
                  <a:srgbClr val="101828"/>
                </a:solidFill>
                <a:latin typeface="IBM Plex Sans" pitchFamily="34" charset="0"/>
                <a:ea typeface="IBM Plex Sans" pitchFamily="34" charset="-122"/>
                <a:cs typeface="IBM Plex Sans" pitchFamily="34" charset="-120"/>
              </a:rPr>
              <a:t>Why do these questions carry high marks in the exam?</a:t>
            </a:r>
            <a:endParaRPr lang="en-US" sz="2600" dirty="0"/>
          </a:p>
        </p:txBody>
      </p:sp>
      <p:sp>
        <p:nvSpPr>
          <p:cNvPr id="9" name="Shape 7"/>
          <p:cNvSpPr/>
          <p:nvPr/>
        </p:nvSpPr>
        <p:spPr>
          <a:xfrm>
            <a:off x="502920" y="2331720"/>
            <a:ext cx="11155680" cy="731520"/>
          </a:xfrm>
          <a:prstGeom prst="roundRect">
            <a:avLst>
              <a:gd name="adj" fmla="val 15000"/>
            </a:avLst>
          </a:prstGeom>
          <a:solidFill>
            <a:srgbClr val="FFFFFF"/>
          </a:solidFill>
          <a:ln w="15875">
            <a:solidFill>
              <a:srgbClr val="D9DEE7"/>
            </a:solidFill>
            <a:prstDash val="solid"/>
          </a:ln>
        </p:spPr>
      </p:sp>
      <p:sp>
        <p:nvSpPr>
          <p:cNvPr id="10" name="Shape 8"/>
          <p:cNvSpPr/>
          <p:nvPr/>
        </p:nvSpPr>
        <p:spPr>
          <a:xfrm>
            <a:off x="777240" y="2478024"/>
            <a:ext cx="438912" cy="438912"/>
          </a:xfrm>
          <a:prstGeom prst="roundRect">
            <a:avLst>
              <a:gd name="adj" fmla="val 20833"/>
            </a:avLst>
          </a:prstGeom>
          <a:solidFill>
            <a:srgbClr val="EEF2FB"/>
          </a:solidFill>
          <a:ln/>
        </p:spPr>
      </p:sp>
      <p:sp>
        <p:nvSpPr>
          <p:cNvPr id="11" name="Text 9"/>
          <p:cNvSpPr txBox="1"/>
          <p:nvPr/>
        </p:nvSpPr>
        <p:spPr>
          <a:xfrm>
            <a:off x="777240" y="247802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A</a:t>
            </a:r>
            <a:endParaRPr lang="en-US" sz="1300" dirty="0"/>
          </a:p>
        </p:txBody>
      </p:sp>
      <p:sp>
        <p:nvSpPr>
          <p:cNvPr id="12" name="Text 10"/>
          <p:cNvSpPr txBox="1"/>
          <p:nvPr/>
        </p:nvSpPr>
        <p:spPr>
          <a:xfrm>
            <a:off x="1417320" y="233172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They need long answers</a:t>
            </a:r>
            <a:endParaRPr lang="en-US" sz="1700" dirty="0"/>
          </a:p>
        </p:txBody>
      </p:sp>
      <p:sp>
        <p:nvSpPr>
          <p:cNvPr id="13" name="Shape 11"/>
          <p:cNvSpPr/>
          <p:nvPr/>
        </p:nvSpPr>
        <p:spPr>
          <a:xfrm>
            <a:off x="502920" y="3200400"/>
            <a:ext cx="11155680" cy="731520"/>
          </a:xfrm>
          <a:prstGeom prst="roundRect">
            <a:avLst>
              <a:gd name="adj" fmla="val 15000"/>
            </a:avLst>
          </a:prstGeom>
          <a:solidFill>
            <a:srgbClr val="FFFFFF"/>
          </a:solidFill>
          <a:ln w="15875">
            <a:solidFill>
              <a:srgbClr val="D9DEE7"/>
            </a:solidFill>
            <a:prstDash val="solid"/>
          </a:ln>
        </p:spPr>
      </p:sp>
      <p:sp>
        <p:nvSpPr>
          <p:cNvPr id="14" name="Shape 12"/>
          <p:cNvSpPr/>
          <p:nvPr/>
        </p:nvSpPr>
        <p:spPr>
          <a:xfrm>
            <a:off x="777240" y="3346704"/>
            <a:ext cx="438912" cy="438912"/>
          </a:xfrm>
          <a:prstGeom prst="roundRect">
            <a:avLst>
              <a:gd name="adj" fmla="val 20833"/>
            </a:avLst>
          </a:prstGeom>
          <a:solidFill>
            <a:srgbClr val="EEF2FB"/>
          </a:solidFill>
          <a:ln/>
        </p:spPr>
      </p:sp>
      <p:sp>
        <p:nvSpPr>
          <p:cNvPr id="15" name="Text 13"/>
          <p:cNvSpPr txBox="1"/>
          <p:nvPr/>
        </p:nvSpPr>
        <p:spPr>
          <a:xfrm>
            <a:off x="777240" y="334670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B</a:t>
            </a:r>
            <a:endParaRPr lang="en-US" sz="1300" dirty="0"/>
          </a:p>
        </p:txBody>
      </p:sp>
      <p:sp>
        <p:nvSpPr>
          <p:cNvPr id="16" name="Text 14"/>
          <p:cNvSpPr txBox="1"/>
          <p:nvPr/>
        </p:nvSpPr>
        <p:spPr>
          <a:xfrm>
            <a:off x="1417320" y="320040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They have one correct answer</a:t>
            </a:r>
            <a:endParaRPr lang="en-US" sz="1700" dirty="0"/>
          </a:p>
        </p:txBody>
      </p:sp>
      <p:sp>
        <p:nvSpPr>
          <p:cNvPr id="17" name="Shape 15"/>
          <p:cNvSpPr/>
          <p:nvPr/>
        </p:nvSpPr>
        <p:spPr>
          <a:xfrm>
            <a:off x="502920" y="4069080"/>
            <a:ext cx="11155680" cy="731520"/>
          </a:xfrm>
          <a:prstGeom prst="roundRect">
            <a:avLst>
              <a:gd name="adj" fmla="val 15000"/>
            </a:avLst>
          </a:prstGeom>
          <a:solidFill>
            <a:srgbClr val="FFFFFF"/>
          </a:solidFill>
          <a:ln w="15875">
            <a:solidFill>
              <a:srgbClr val="D9DEE7"/>
            </a:solidFill>
            <a:prstDash val="solid"/>
          </a:ln>
        </p:spPr>
      </p:sp>
      <p:sp>
        <p:nvSpPr>
          <p:cNvPr id="18" name="Shape 16"/>
          <p:cNvSpPr/>
          <p:nvPr/>
        </p:nvSpPr>
        <p:spPr>
          <a:xfrm>
            <a:off x="777240" y="4215384"/>
            <a:ext cx="438912" cy="438912"/>
          </a:xfrm>
          <a:prstGeom prst="roundRect">
            <a:avLst>
              <a:gd name="adj" fmla="val 20833"/>
            </a:avLst>
          </a:prstGeom>
          <a:solidFill>
            <a:srgbClr val="EEF2FB"/>
          </a:solidFill>
          <a:ln/>
        </p:spPr>
      </p:sp>
      <p:sp>
        <p:nvSpPr>
          <p:cNvPr id="19" name="Text 17"/>
          <p:cNvSpPr txBox="1"/>
          <p:nvPr/>
        </p:nvSpPr>
        <p:spPr>
          <a:xfrm>
            <a:off x="777240" y="421538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C</a:t>
            </a:r>
            <a:endParaRPr lang="en-US" sz="1300" dirty="0"/>
          </a:p>
        </p:txBody>
      </p:sp>
      <p:sp>
        <p:nvSpPr>
          <p:cNvPr id="20" name="Text 18"/>
          <p:cNvSpPr txBox="1"/>
          <p:nvPr/>
        </p:nvSpPr>
        <p:spPr>
          <a:xfrm>
            <a:off x="1417320" y="406908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They test spelling</a:t>
            </a:r>
            <a:endParaRPr lang="en-US" sz="1700" dirty="0"/>
          </a:p>
        </p:txBody>
      </p:sp>
      <p:sp>
        <p:nvSpPr>
          <p:cNvPr id="21" name="Shape 19"/>
          <p:cNvSpPr/>
          <p:nvPr/>
        </p:nvSpPr>
        <p:spPr>
          <a:xfrm>
            <a:off x="502920" y="4937760"/>
            <a:ext cx="11155680" cy="731520"/>
          </a:xfrm>
          <a:prstGeom prst="roundRect">
            <a:avLst>
              <a:gd name="adj" fmla="val 15000"/>
            </a:avLst>
          </a:prstGeom>
          <a:solidFill>
            <a:srgbClr val="FFFFFF"/>
          </a:solidFill>
          <a:ln w="15875">
            <a:solidFill>
              <a:srgbClr val="D9DEE7"/>
            </a:solidFill>
            <a:prstDash val="solid"/>
          </a:ln>
        </p:spPr>
      </p:sp>
      <p:sp>
        <p:nvSpPr>
          <p:cNvPr id="22" name="Shape 20"/>
          <p:cNvSpPr/>
          <p:nvPr/>
        </p:nvSpPr>
        <p:spPr>
          <a:xfrm>
            <a:off x="777240" y="5084064"/>
            <a:ext cx="438912" cy="438912"/>
          </a:xfrm>
          <a:prstGeom prst="roundRect">
            <a:avLst>
              <a:gd name="adj" fmla="val 20833"/>
            </a:avLst>
          </a:prstGeom>
          <a:solidFill>
            <a:srgbClr val="EEF2FB"/>
          </a:solidFill>
          <a:ln/>
        </p:spPr>
      </p:sp>
      <p:sp>
        <p:nvSpPr>
          <p:cNvPr id="23" name="Text 21"/>
          <p:cNvSpPr txBox="1"/>
          <p:nvPr/>
        </p:nvSpPr>
        <p:spPr>
          <a:xfrm>
            <a:off x="777240" y="508406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D</a:t>
            </a:r>
            <a:endParaRPr lang="en-US" sz="1300" dirty="0"/>
          </a:p>
        </p:txBody>
      </p:sp>
      <p:sp>
        <p:nvSpPr>
          <p:cNvPr id="24" name="Text 22"/>
          <p:cNvSpPr txBox="1"/>
          <p:nvPr/>
        </p:nvSpPr>
        <p:spPr>
          <a:xfrm>
            <a:off x="1417320" y="493776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They ask you to weigh competing points and reach a justified conclusion</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38912"/>
            <a:ext cx="3108960" cy="502920"/>
          </a:xfrm>
          <a:prstGeom prst="roundRect">
            <a:avLst>
              <a:gd name="adj" fmla="val 18182"/>
            </a:avLst>
          </a:prstGeom>
          <a:solidFill>
            <a:srgbClr val="F4B942"/>
          </a:solidFill>
          <a:ln/>
        </p:spPr>
      </p:sp>
      <p:sp>
        <p:nvSpPr>
          <p:cNvPr id="6" name="Text 4"/>
          <p:cNvSpPr txBox="1"/>
          <p:nvPr/>
        </p:nvSpPr>
        <p:spPr>
          <a:xfrm>
            <a:off x="502920" y="438912"/>
            <a:ext cx="3108960" cy="50292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  FINAL CHALLENGE</a:t>
            </a:r>
            <a:endParaRPr lang="en-US" sz="1300" dirty="0"/>
          </a:p>
        </p:txBody>
      </p:sp>
      <p:sp>
        <p:nvSpPr>
          <p:cNvPr id="7" name="Text 5"/>
          <p:cNvSpPr txBox="1"/>
          <p:nvPr/>
        </p:nvSpPr>
        <p:spPr>
          <a:xfrm>
            <a:off x="502920" y="1097280"/>
            <a:ext cx="11155680" cy="731520"/>
          </a:xfrm>
          <a:prstGeom prst="rect">
            <a:avLst/>
          </a:prstGeom>
          <a:noFill/>
          <a:ln/>
        </p:spPr>
        <p:txBody>
          <a:bodyPr wrap="square" lIns="0" tIns="0" rIns="0" bIns="0" rtlCol="0" anchor="ctr"/>
          <a:lstStyle/>
          <a:p>
            <a:pPr indent="0" marL="0">
              <a:buNone/>
            </a:pPr>
            <a:r>
              <a:rPr lang="en-US" sz="3400" b="1" dirty="0">
                <a:solidFill>
                  <a:srgbClr val="101828"/>
                </a:solidFill>
                <a:latin typeface="IBM Plex Sans" pitchFamily="34" charset="0"/>
                <a:ea typeface="IBM Plex Sans" pitchFamily="34" charset="-122"/>
                <a:cs typeface="IBM Plex Sans" pitchFamily="34" charset="-120"/>
              </a:rPr>
              <a:t>Sort the impacts</a:t>
            </a:r>
            <a:endParaRPr lang="en-US" sz="3400" dirty="0"/>
          </a:p>
        </p:txBody>
      </p:sp>
      <p:sp>
        <p:nvSpPr>
          <p:cNvPr id="8" name="Shape 6"/>
          <p:cNvSpPr/>
          <p:nvPr/>
        </p:nvSpPr>
        <p:spPr>
          <a:xfrm>
            <a:off x="502920" y="2011680"/>
            <a:ext cx="11155680" cy="2194560"/>
          </a:xfrm>
          <a:prstGeom prst="roundRect">
            <a:avLst>
              <a:gd name="adj" fmla="val 5000"/>
            </a:avLst>
          </a:prstGeom>
          <a:solidFill>
            <a:srgbClr val="FFFFFF"/>
          </a:solidFill>
          <a:ln w="15875">
            <a:solidFill>
              <a:srgbClr val="2D63FF"/>
            </a:solidFill>
            <a:prstDash val="solid"/>
          </a:ln>
        </p:spPr>
      </p:sp>
      <p:sp>
        <p:nvSpPr>
          <p:cNvPr id="9" name="Text 7"/>
          <p:cNvSpPr txBox="1"/>
          <p:nvPr/>
        </p:nvSpPr>
        <p:spPr>
          <a:xfrm>
            <a:off x="1005840" y="2331720"/>
            <a:ext cx="10149840" cy="1554480"/>
          </a:xfrm>
          <a:prstGeom prst="rect">
            <a:avLst/>
          </a:prstGeom>
          <a:noFill/>
          <a:ln/>
        </p:spPr>
        <p:txBody>
          <a:bodyPr wrap="square" lIns="0" tIns="0" rIns="0" bIns="0" rtlCol="0" anchor="ctr"/>
          <a:lstStyle/>
          <a:p>
            <a:pPr indent="0" marL="0">
              <a:lnSpc>
                <a:spcPct val="130000"/>
              </a:lnSpc>
              <a:buNone/>
            </a:pPr>
            <a:r>
              <a:rPr lang="en-US" sz="2200" dirty="0">
                <a:solidFill>
                  <a:srgbClr val="101828"/>
                </a:solidFill>
                <a:latin typeface="IBM Plex Sans" pitchFamily="34" charset="0"/>
                <a:ea typeface="IBM Plex Sans" pitchFamily="34" charset="-122"/>
                <a:cs typeface="IBM Plex Sans" pitchFamily="34" charset="-120"/>
              </a:rPr>
              <a:t>Eight concerns about new technologies. Tap the star and sort each into the kind of impact it is.</a:t>
            </a:r>
            <a:endParaRPr lang="en-US" sz="2200" dirty="0"/>
          </a:p>
        </p:txBody>
      </p:sp>
      <p:sp>
        <p:nvSpPr>
          <p:cNvPr id="10" name="Text 8"/>
          <p:cNvSpPr txBox="1"/>
          <p:nvPr/>
        </p:nvSpPr>
        <p:spPr>
          <a:xfrm>
            <a:off x="502920" y="4526280"/>
            <a:ext cx="11155680" cy="457200"/>
          </a:xfrm>
          <a:prstGeom prst="rect">
            <a:avLst/>
          </a:prstGeom>
          <a:noFill/>
          <a:ln/>
        </p:spPr>
        <p:txBody>
          <a:bodyPr wrap="square" lIns="0" tIns="0" rIns="0" bIns="0" rtlCol="0" anchor="ctr"/>
          <a:lstStyle/>
          <a:p>
            <a:pPr indent="0" marL="0">
              <a:buNone/>
            </a:pPr>
            <a:r>
              <a:rPr lang="en-US" sz="1600" dirty="0">
                <a:solidFill>
                  <a:srgbClr val="667085"/>
                </a:solidFill>
                <a:latin typeface="IBM Plex Sans" pitchFamily="34" charset="0"/>
                <a:ea typeface="IBM Plex Sans" pitchFamily="34" charset="-122"/>
                <a:cs typeface="IBM Plex Sans" pitchFamily="34" charset="-120"/>
              </a:rPr>
              <a:t>Predict on paper first, then look down and test it.</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Worth knowing</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The information markers dotted around the room</a:t>
            </a:r>
            <a:endParaRPr lang="en-US" sz="1500" dirty="0"/>
          </a:p>
        </p:txBody>
      </p:sp>
      <p:sp>
        <p:nvSpPr>
          <p:cNvPr id="7" name="Shape 5"/>
          <p:cNvSpPr/>
          <p:nvPr/>
        </p:nvSpPr>
        <p:spPr>
          <a:xfrm>
            <a:off x="502920" y="1828800"/>
            <a:ext cx="5394960" cy="1737360"/>
          </a:xfrm>
          <a:prstGeom prst="roundRect">
            <a:avLst>
              <a:gd name="adj" fmla="val 6316"/>
            </a:avLst>
          </a:prstGeom>
          <a:solidFill>
            <a:srgbClr val="FFFFFF"/>
          </a:solidFill>
          <a:ln w="15875">
            <a:solidFill>
              <a:srgbClr val="2D63FF"/>
            </a:solidFill>
            <a:prstDash val="solid"/>
          </a:ln>
        </p:spPr>
      </p:sp>
      <p:sp>
        <p:nvSpPr>
          <p:cNvPr id="8" name="Text 6"/>
          <p:cNvSpPr txBox="1"/>
          <p:nvPr/>
        </p:nvSpPr>
        <p:spPr>
          <a:xfrm>
            <a:off x="822960" y="201168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Why this topic exists</a:t>
            </a:r>
            <a:endParaRPr lang="en-US" sz="1600" dirty="0"/>
          </a:p>
        </p:txBody>
      </p:sp>
      <p:sp>
        <p:nvSpPr>
          <p:cNvPr id="9" name="Text 7"/>
          <p:cNvSpPr txBox="1"/>
          <p:nvPr/>
        </p:nvSpPr>
        <p:spPr>
          <a:xfrm>
            <a:off x="822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Every specification now includes impacts, because the people building systems are the ones who decide what gets built. The technical skill is only half the job.</a:t>
            </a:r>
            <a:endParaRPr lang="en-US" sz="1300" dirty="0"/>
          </a:p>
        </p:txBody>
      </p:sp>
      <p:sp>
        <p:nvSpPr>
          <p:cNvPr id="10" name="Shape 8"/>
          <p:cNvSpPr/>
          <p:nvPr/>
        </p:nvSpPr>
        <p:spPr>
          <a:xfrm>
            <a:off x="6217920" y="1828800"/>
            <a:ext cx="5394960" cy="1737360"/>
          </a:xfrm>
          <a:prstGeom prst="roundRect">
            <a:avLst>
              <a:gd name="adj" fmla="val 6316"/>
            </a:avLst>
          </a:prstGeom>
          <a:solidFill>
            <a:srgbClr val="FFFFFF"/>
          </a:solidFill>
          <a:ln w="15875">
            <a:solidFill>
              <a:srgbClr val="08A6A6"/>
            </a:solidFill>
            <a:prstDash val="solid"/>
          </a:ln>
        </p:spPr>
      </p:sp>
      <p:sp>
        <p:nvSpPr>
          <p:cNvPr id="11" name="Text 9"/>
          <p:cNvSpPr txBox="1"/>
          <p:nvPr/>
        </p:nvSpPr>
        <p:spPr>
          <a:xfrm>
            <a:off x="6537960" y="201168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Trolley problems</a:t>
            </a:r>
            <a:endParaRPr lang="en-US" sz="1600" dirty="0"/>
          </a:p>
        </p:txBody>
      </p:sp>
      <p:sp>
        <p:nvSpPr>
          <p:cNvPr id="12" name="Text 10"/>
          <p:cNvSpPr txBox="1"/>
          <p:nvPr/>
        </p:nvSpPr>
        <p:spPr>
          <a:xfrm>
            <a:off x="6537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Driverless cars force a decision nobody wants to write down: who a car should protect in a crash. Engineers really do have to choose.</a:t>
            </a:r>
            <a:endParaRPr lang="en-US" sz="1300" dirty="0"/>
          </a:p>
        </p:txBody>
      </p:sp>
      <p:sp>
        <p:nvSpPr>
          <p:cNvPr id="13" name="Shape 11"/>
          <p:cNvSpPr/>
          <p:nvPr/>
        </p:nvSpPr>
        <p:spPr>
          <a:xfrm>
            <a:off x="502920" y="3794760"/>
            <a:ext cx="5394960" cy="1737360"/>
          </a:xfrm>
          <a:prstGeom prst="roundRect">
            <a:avLst>
              <a:gd name="adj" fmla="val 6316"/>
            </a:avLst>
          </a:prstGeom>
          <a:solidFill>
            <a:srgbClr val="FFFFFF"/>
          </a:solidFill>
          <a:ln w="15875">
            <a:solidFill>
              <a:srgbClr val="2D63FF"/>
            </a:solidFill>
            <a:prstDash val="solid"/>
          </a:ln>
        </p:spPr>
      </p:sp>
      <p:sp>
        <p:nvSpPr>
          <p:cNvPr id="14" name="Text 12"/>
          <p:cNvSpPr txBox="1"/>
          <p:nvPr/>
        </p:nvSpPr>
        <p:spPr>
          <a:xfrm>
            <a:off x="822960" y="397764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Marks for arguing</a:t>
            </a:r>
            <a:endParaRPr lang="en-US" sz="1600" dirty="0"/>
          </a:p>
        </p:txBody>
      </p:sp>
      <p:sp>
        <p:nvSpPr>
          <p:cNvPr id="15" name="Text 13"/>
          <p:cNvSpPr txBox="1"/>
          <p:nvPr/>
        </p:nvSpPr>
        <p:spPr>
          <a:xfrm>
            <a:off x="822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Impact questions are among the highest-mark questions on the paper, and the marks are for reasoning rather than recall.</a:t>
            </a:r>
            <a:endParaRPr lang="en-US" sz="1300" dirty="0"/>
          </a:p>
        </p:txBody>
      </p:sp>
      <p:sp>
        <p:nvSpPr>
          <p:cNvPr id="16" name="Shape 14"/>
          <p:cNvSpPr/>
          <p:nvPr/>
        </p:nvSpPr>
        <p:spPr>
          <a:xfrm>
            <a:off x="6217920" y="3794760"/>
            <a:ext cx="5394960" cy="1737360"/>
          </a:xfrm>
          <a:prstGeom prst="roundRect">
            <a:avLst>
              <a:gd name="adj" fmla="val 6316"/>
            </a:avLst>
          </a:prstGeom>
          <a:solidFill>
            <a:srgbClr val="FFFFFF"/>
          </a:solidFill>
          <a:ln w="15875">
            <a:solidFill>
              <a:srgbClr val="08A6A6"/>
            </a:solidFill>
            <a:prstDash val="solid"/>
          </a:ln>
        </p:spPr>
      </p:sp>
      <p:sp>
        <p:nvSpPr>
          <p:cNvPr id="17" name="Text 15"/>
          <p:cNvSpPr txBox="1"/>
          <p:nvPr/>
        </p:nvSpPr>
        <p:spPr>
          <a:xfrm>
            <a:off x="6537960" y="397764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Stakeholders in law</a:t>
            </a:r>
            <a:endParaRPr lang="en-US" sz="1600" dirty="0"/>
          </a:p>
        </p:txBody>
      </p:sp>
      <p:sp>
        <p:nvSpPr>
          <p:cNvPr id="18" name="Text 16"/>
          <p:cNvSpPr txBox="1"/>
          <p:nvPr/>
        </p:nvSpPr>
        <p:spPr>
          <a:xfrm>
            <a:off x="6537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Big public projects legally require consultation with the people affected, which is stakeholder analysis by another name.</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Exam practice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Devices away. Answer from memory on the worksheet.</a:t>
            </a:r>
            <a:endParaRPr lang="en-US" sz="1500" dirty="0"/>
          </a:p>
        </p:txBody>
      </p:sp>
      <p:sp>
        <p:nvSpPr>
          <p:cNvPr id="7" name="Shape 5"/>
          <p:cNvSpPr/>
          <p:nvPr/>
        </p:nvSpPr>
        <p:spPr>
          <a:xfrm>
            <a:off x="502920" y="1828800"/>
            <a:ext cx="11155680" cy="1097280"/>
          </a:xfrm>
          <a:prstGeom prst="roundRect">
            <a:avLst>
              <a:gd name="adj" fmla="val 10000"/>
            </a:avLst>
          </a:prstGeom>
          <a:solidFill>
            <a:srgbClr val="FFFFFF"/>
          </a:solidFill>
          <a:ln w="15875">
            <a:solidFill>
              <a:srgbClr val="D9DEE7"/>
            </a:solidFill>
            <a:prstDash val="solid"/>
          </a:ln>
        </p:spPr>
      </p:sp>
      <p:sp>
        <p:nvSpPr>
          <p:cNvPr id="8" name="Text 6"/>
          <p:cNvSpPr txBox="1"/>
          <p:nvPr/>
        </p:nvSpPr>
        <p:spPr>
          <a:xfrm>
            <a:off x="914400" y="1938528"/>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State two kinds of impact that should be considered before a new technology is introduced.</a:t>
            </a:r>
            <a:endParaRPr lang="en-US" sz="1700" dirty="0"/>
          </a:p>
        </p:txBody>
      </p:sp>
      <p:sp>
        <p:nvSpPr>
          <p:cNvPr id="9" name="Shape 7"/>
          <p:cNvSpPr/>
          <p:nvPr/>
        </p:nvSpPr>
        <p:spPr>
          <a:xfrm>
            <a:off x="10515600" y="2130552"/>
            <a:ext cx="868680" cy="493776"/>
          </a:xfrm>
          <a:prstGeom prst="roundRect">
            <a:avLst>
              <a:gd name="adj" fmla="val 18519"/>
            </a:avLst>
          </a:prstGeom>
          <a:solidFill>
            <a:srgbClr val="EEF2FB"/>
          </a:solidFill>
          <a:ln/>
        </p:spPr>
      </p:sp>
      <p:sp>
        <p:nvSpPr>
          <p:cNvPr id="10" name="Text 8"/>
          <p:cNvSpPr txBox="1"/>
          <p:nvPr/>
        </p:nvSpPr>
        <p:spPr>
          <a:xfrm>
            <a:off x="10515600" y="2130552"/>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[2]</a:t>
            </a:r>
            <a:endParaRPr lang="en-US" sz="1500" dirty="0"/>
          </a:p>
        </p:txBody>
      </p:sp>
      <p:sp>
        <p:nvSpPr>
          <p:cNvPr id="11" name="Shape 9"/>
          <p:cNvSpPr/>
          <p:nvPr/>
        </p:nvSpPr>
        <p:spPr>
          <a:xfrm>
            <a:off x="502920" y="3127248"/>
            <a:ext cx="11155680" cy="1097280"/>
          </a:xfrm>
          <a:prstGeom prst="roundRect">
            <a:avLst>
              <a:gd name="adj" fmla="val 10000"/>
            </a:avLst>
          </a:prstGeom>
          <a:solidFill>
            <a:srgbClr val="FFFFFF"/>
          </a:solidFill>
          <a:ln w="15875">
            <a:solidFill>
              <a:srgbClr val="D9DEE7"/>
            </a:solidFill>
            <a:prstDash val="solid"/>
          </a:ln>
        </p:spPr>
      </p:sp>
      <p:sp>
        <p:nvSpPr>
          <p:cNvPr id="12" name="Text 10"/>
          <p:cNvSpPr txBox="1"/>
          <p:nvPr/>
        </p:nvSpPr>
        <p:spPr>
          <a:xfrm>
            <a:off x="914400" y="3236976"/>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Explain what is meant by a stakeholder, using an example.</a:t>
            </a:r>
            <a:endParaRPr lang="en-US" sz="1700" dirty="0"/>
          </a:p>
        </p:txBody>
      </p:sp>
      <p:sp>
        <p:nvSpPr>
          <p:cNvPr id="13" name="Shape 11"/>
          <p:cNvSpPr/>
          <p:nvPr/>
        </p:nvSpPr>
        <p:spPr>
          <a:xfrm>
            <a:off x="10515600" y="3429000"/>
            <a:ext cx="868680" cy="493776"/>
          </a:xfrm>
          <a:prstGeom prst="roundRect">
            <a:avLst>
              <a:gd name="adj" fmla="val 18519"/>
            </a:avLst>
          </a:prstGeom>
          <a:solidFill>
            <a:srgbClr val="EEF2FB"/>
          </a:solidFill>
          <a:ln/>
        </p:spPr>
      </p:sp>
      <p:sp>
        <p:nvSpPr>
          <p:cNvPr id="14" name="Text 12"/>
          <p:cNvSpPr txBox="1"/>
          <p:nvPr/>
        </p:nvSpPr>
        <p:spPr>
          <a:xfrm>
            <a:off x="10515600" y="3429000"/>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[2]</a:t>
            </a:r>
            <a:endParaRPr lang="en-US" sz="1500" dirty="0"/>
          </a:p>
        </p:txBody>
      </p:sp>
      <p:sp>
        <p:nvSpPr>
          <p:cNvPr id="15" name="Shape 13"/>
          <p:cNvSpPr/>
          <p:nvPr/>
        </p:nvSpPr>
        <p:spPr>
          <a:xfrm>
            <a:off x="502920" y="4425696"/>
            <a:ext cx="11155680" cy="1097280"/>
          </a:xfrm>
          <a:prstGeom prst="roundRect">
            <a:avLst>
              <a:gd name="adj" fmla="val 10000"/>
            </a:avLst>
          </a:prstGeom>
          <a:solidFill>
            <a:srgbClr val="FFFFFF"/>
          </a:solidFill>
          <a:ln w="15875">
            <a:solidFill>
              <a:srgbClr val="D9DEE7"/>
            </a:solidFill>
            <a:prstDash val="solid"/>
          </a:ln>
        </p:spPr>
      </p:sp>
      <p:sp>
        <p:nvSpPr>
          <p:cNvPr id="16" name="Text 14"/>
          <p:cNvSpPr txBox="1"/>
          <p:nvPr/>
        </p:nvSpPr>
        <p:spPr>
          <a:xfrm>
            <a:off x="914400" y="4535424"/>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A council plans to put cameras with facial recognition in the town centre. Discuss the impacts of this decision.</a:t>
            </a:r>
            <a:endParaRPr lang="en-US" sz="1700" dirty="0"/>
          </a:p>
        </p:txBody>
      </p:sp>
      <p:sp>
        <p:nvSpPr>
          <p:cNvPr id="17" name="Shape 15"/>
          <p:cNvSpPr/>
          <p:nvPr/>
        </p:nvSpPr>
        <p:spPr>
          <a:xfrm>
            <a:off x="10515600" y="4727448"/>
            <a:ext cx="868680" cy="493776"/>
          </a:xfrm>
          <a:prstGeom prst="roundRect">
            <a:avLst>
              <a:gd name="adj" fmla="val 18519"/>
            </a:avLst>
          </a:prstGeom>
          <a:solidFill>
            <a:srgbClr val="EEF2FB"/>
          </a:solidFill>
          <a:ln/>
        </p:spPr>
      </p:sp>
      <p:sp>
        <p:nvSpPr>
          <p:cNvPr id="18" name="Text 16"/>
          <p:cNvSpPr txBox="1"/>
          <p:nvPr/>
        </p:nvSpPr>
        <p:spPr>
          <a:xfrm>
            <a:off x="10515600" y="4727448"/>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[8]</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Before you go</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Rate yourself on each of these</a:t>
            </a:r>
            <a:endParaRPr lang="en-US" sz="1500" dirty="0"/>
          </a:p>
        </p:txBody>
      </p:sp>
      <p:sp>
        <p:nvSpPr>
          <p:cNvPr id="7" name="Shape 5"/>
          <p:cNvSpPr/>
          <p:nvPr/>
        </p:nvSpPr>
        <p:spPr>
          <a:xfrm>
            <a:off x="502920" y="1920240"/>
            <a:ext cx="7863840" cy="777240"/>
          </a:xfrm>
          <a:prstGeom prst="roundRect">
            <a:avLst>
              <a:gd name="adj" fmla="val 14118"/>
            </a:avLst>
          </a:prstGeom>
          <a:solidFill>
            <a:srgbClr val="FFFFFF"/>
          </a:solidFill>
          <a:ln w="15875">
            <a:solidFill>
              <a:srgbClr val="D9DEE7"/>
            </a:solidFill>
            <a:prstDash val="solid"/>
          </a:ln>
        </p:spPr>
      </p:sp>
      <p:sp>
        <p:nvSpPr>
          <p:cNvPr id="8" name="Text 6"/>
          <p:cNvSpPr txBox="1"/>
          <p:nvPr/>
        </p:nvSpPr>
        <p:spPr>
          <a:xfrm>
            <a:off x="914400" y="192024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The kinds of impact</a:t>
            </a:r>
            <a:endParaRPr lang="en-US" sz="1800" dirty="0"/>
          </a:p>
        </p:txBody>
      </p:sp>
      <p:sp>
        <p:nvSpPr>
          <p:cNvPr id="9" name="Shape 7"/>
          <p:cNvSpPr/>
          <p:nvPr/>
        </p:nvSpPr>
        <p:spPr>
          <a:xfrm>
            <a:off x="8595360" y="2066544"/>
            <a:ext cx="987552" cy="484632"/>
          </a:xfrm>
          <a:prstGeom prst="roundRect">
            <a:avLst>
              <a:gd name="adj" fmla="val 18868"/>
            </a:avLst>
          </a:prstGeom>
          <a:solidFill>
            <a:srgbClr val="FFFFFF"/>
          </a:solidFill>
          <a:ln w="15875">
            <a:solidFill>
              <a:srgbClr val="08A6A6"/>
            </a:solidFill>
            <a:prstDash val="solid"/>
          </a:ln>
        </p:spPr>
      </p:sp>
      <p:sp>
        <p:nvSpPr>
          <p:cNvPr id="10" name="Text 8"/>
          <p:cNvSpPr txBox="1"/>
          <p:nvPr/>
        </p:nvSpPr>
        <p:spPr>
          <a:xfrm>
            <a:off x="8595360" y="206654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1" name="Shape 9"/>
          <p:cNvSpPr/>
          <p:nvPr/>
        </p:nvSpPr>
        <p:spPr>
          <a:xfrm>
            <a:off x="9674352" y="2066544"/>
            <a:ext cx="987552" cy="484632"/>
          </a:xfrm>
          <a:prstGeom prst="roundRect">
            <a:avLst>
              <a:gd name="adj" fmla="val 18868"/>
            </a:avLst>
          </a:prstGeom>
          <a:solidFill>
            <a:srgbClr val="FFFFFF"/>
          </a:solidFill>
          <a:ln w="15875">
            <a:solidFill>
              <a:srgbClr val="F4B942"/>
            </a:solidFill>
            <a:prstDash val="solid"/>
          </a:ln>
        </p:spPr>
      </p:sp>
      <p:sp>
        <p:nvSpPr>
          <p:cNvPr id="12" name="Text 10"/>
          <p:cNvSpPr txBox="1"/>
          <p:nvPr/>
        </p:nvSpPr>
        <p:spPr>
          <a:xfrm>
            <a:off x="9674352" y="206654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13" name="Shape 11"/>
          <p:cNvSpPr/>
          <p:nvPr/>
        </p:nvSpPr>
        <p:spPr>
          <a:xfrm>
            <a:off x="10753344" y="2066544"/>
            <a:ext cx="987552" cy="484632"/>
          </a:xfrm>
          <a:prstGeom prst="roundRect">
            <a:avLst>
              <a:gd name="adj" fmla="val 18868"/>
            </a:avLst>
          </a:prstGeom>
          <a:solidFill>
            <a:srgbClr val="FFFFFF"/>
          </a:solidFill>
          <a:ln w="15875">
            <a:solidFill>
              <a:srgbClr val="E2574C"/>
            </a:solidFill>
            <a:prstDash val="solid"/>
          </a:ln>
        </p:spPr>
      </p:sp>
      <p:sp>
        <p:nvSpPr>
          <p:cNvPr id="14" name="Text 12"/>
          <p:cNvSpPr txBox="1"/>
          <p:nvPr/>
        </p:nvSpPr>
        <p:spPr>
          <a:xfrm>
            <a:off x="10753344" y="206654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15" name="Shape 13"/>
          <p:cNvSpPr/>
          <p:nvPr/>
        </p:nvSpPr>
        <p:spPr>
          <a:xfrm>
            <a:off x="502920" y="2880360"/>
            <a:ext cx="7863840" cy="777240"/>
          </a:xfrm>
          <a:prstGeom prst="roundRect">
            <a:avLst>
              <a:gd name="adj" fmla="val 14118"/>
            </a:avLst>
          </a:prstGeom>
          <a:solidFill>
            <a:srgbClr val="FFFFFF"/>
          </a:solidFill>
          <a:ln w="15875">
            <a:solidFill>
              <a:srgbClr val="D9DEE7"/>
            </a:solidFill>
            <a:prstDash val="solid"/>
          </a:ln>
        </p:spPr>
      </p:sp>
      <p:sp>
        <p:nvSpPr>
          <p:cNvPr id="16" name="Text 14"/>
          <p:cNvSpPr txBox="1"/>
          <p:nvPr/>
        </p:nvSpPr>
        <p:spPr>
          <a:xfrm>
            <a:off x="914400" y="288036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Ethical versus legal</a:t>
            </a:r>
            <a:endParaRPr lang="en-US" sz="1800" dirty="0"/>
          </a:p>
        </p:txBody>
      </p:sp>
      <p:sp>
        <p:nvSpPr>
          <p:cNvPr id="17" name="Shape 15"/>
          <p:cNvSpPr/>
          <p:nvPr/>
        </p:nvSpPr>
        <p:spPr>
          <a:xfrm>
            <a:off x="8595360" y="3026664"/>
            <a:ext cx="987552" cy="484632"/>
          </a:xfrm>
          <a:prstGeom prst="roundRect">
            <a:avLst>
              <a:gd name="adj" fmla="val 18868"/>
            </a:avLst>
          </a:prstGeom>
          <a:solidFill>
            <a:srgbClr val="FFFFFF"/>
          </a:solidFill>
          <a:ln w="15875">
            <a:solidFill>
              <a:srgbClr val="08A6A6"/>
            </a:solidFill>
            <a:prstDash val="solid"/>
          </a:ln>
        </p:spPr>
      </p:sp>
      <p:sp>
        <p:nvSpPr>
          <p:cNvPr id="18" name="Text 16"/>
          <p:cNvSpPr txBox="1"/>
          <p:nvPr/>
        </p:nvSpPr>
        <p:spPr>
          <a:xfrm>
            <a:off x="8595360" y="302666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9" name="Shape 17"/>
          <p:cNvSpPr/>
          <p:nvPr/>
        </p:nvSpPr>
        <p:spPr>
          <a:xfrm>
            <a:off x="9674352" y="3026664"/>
            <a:ext cx="987552" cy="484632"/>
          </a:xfrm>
          <a:prstGeom prst="roundRect">
            <a:avLst>
              <a:gd name="adj" fmla="val 18868"/>
            </a:avLst>
          </a:prstGeom>
          <a:solidFill>
            <a:srgbClr val="FFFFFF"/>
          </a:solidFill>
          <a:ln w="15875">
            <a:solidFill>
              <a:srgbClr val="F4B942"/>
            </a:solidFill>
            <a:prstDash val="solid"/>
          </a:ln>
        </p:spPr>
      </p:sp>
      <p:sp>
        <p:nvSpPr>
          <p:cNvPr id="20" name="Text 18"/>
          <p:cNvSpPr txBox="1"/>
          <p:nvPr/>
        </p:nvSpPr>
        <p:spPr>
          <a:xfrm>
            <a:off x="9674352" y="302666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1" name="Shape 19"/>
          <p:cNvSpPr/>
          <p:nvPr/>
        </p:nvSpPr>
        <p:spPr>
          <a:xfrm>
            <a:off x="10753344" y="3026664"/>
            <a:ext cx="987552" cy="484632"/>
          </a:xfrm>
          <a:prstGeom prst="roundRect">
            <a:avLst>
              <a:gd name="adj" fmla="val 18868"/>
            </a:avLst>
          </a:prstGeom>
          <a:solidFill>
            <a:srgbClr val="FFFFFF"/>
          </a:solidFill>
          <a:ln w="15875">
            <a:solidFill>
              <a:srgbClr val="E2574C"/>
            </a:solidFill>
            <a:prstDash val="solid"/>
          </a:ln>
        </p:spPr>
      </p:sp>
      <p:sp>
        <p:nvSpPr>
          <p:cNvPr id="22" name="Text 20"/>
          <p:cNvSpPr txBox="1"/>
          <p:nvPr/>
        </p:nvSpPr>
        <p:spPr>
          <a:xfrm>
            <a:off x="10753344" y="302666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23" name="Shape 21"/>
          <p:cNvSpPr/>
          <p:nvPr/>
        </p:nvSpPr>
        <p:spPr>
          <a:xfrm>
            <a:off x="502920" y="3840480"/>
            <a:ext cx="7863840" cy="777240"/>
          </a:xfrm>
          <a:prstGeom prst="roundRect">
            <a:avLst>
              <a:gd name="adj" fmla="val 14118"/>
            </a:avLst>
          </a:prstGeom>
          <a:solidFill>
            <a:srgbClr val="FFFFFF"/>
          </a:solidFill>
          <a:ln w="15875">
            <a:solidFill>
              <a:srgbClr val="D9DEE7"/>
            </a:solidFill>
            <a:prstDash val="solid"/>
          </a:ln>
        </p:spPr>
      </p:sp>
      <p:sp>
        <p:nvSpPr>
          <p:cNvPr id="24" name="Text 22"/>
          <p:cNvSpPr txBox="1"/>
          <p:nvPr/>
        </p:nvSpPr>
        <p:spPr>
          <a:xfrm>
            <a:off x="914400" y="384048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Stakeholders and both-sides answers</a:t>
            </a:r>
            <a:endParaRPr lang="en-US" sz="1800" dirty="0"/>
          </a:p>
        </p:txBody>
      </p:sp>
      <p:sp>
        <p:nvSpPr>
          <p:cNvPr id="25" name="Shape 23"/>
          <p:cNvSpPr/>
          <p:nvPr/>
        </p:nvSpPr>
        <p:spPr>
          <a:xfrm>
            <a:off x="8595360" y="3986784"/>
            <a:ext cx="987552" cy="484632"/>
          </a:xfrm>
          <a:prstGeom prst="roundRect">
            <a:avLst>
              <a:gd name="adj" fmla="val 18868"/>
            </a:avLst>
          </a:prstGeom>
          <a:solidFill>
            <a:srgbClr val="FFFFFF"/>
          </a:solidFill>
          <a:ln w="15875">
            <a:solidFill>
              <a:srgbClr val="08A6A6"/>
            </a:solidFill>
            <a:prstDash val="solid"/>
          </a:ln>
        </p:spPr>
      </p:sp>
      <p:sp>
        <p:nvSpPr>
          <p:cNvPr id="26" name="Text 24"/>
          <p:cNvSpPr txBox="1"/>
          <p:nvPr/>
        </p:nvSpPr>
        <p:spPr>
          <a:xfrm>
            <a:off x="8595360" y="398678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27" name="Shape 25"/>
          <p:cNvSpPr/>
          <p:nvPr/>
        </p:nvSpPr>
        <p:spPr>
          <a:xfrm>
            <a:off x="9674352" y="3986784"/>
            <a:ext cx="987552" cy="484632"/>
          </a:xfrm>
          <a:prstGeom prst="roundRect">
            <a:avLst>
              <a:gd name="adj" fmla="val 18868"/>
            </a:avLst>
          </a:prstGeom>
          <a:solidFill>
            <a:srgbClr val="FFFFFF"/>
          </a:solidFill>
          <a:ln w="15875">
            <a:solidFill>
              <a:srgbClr val="F4B942"/>
            </a:solidFill>
            <a:prstDash val="solid"/>
          </a:ln>
        </p:spPr>
      </p:sp>
      <p:sp>
        <p:nvSpPr>
          <p:cNvPr id="28" name="Text 26"/>
          <p:cNvSpPr txBox="1"/>
          <p:nvPr/>
        </p:nvSpPr>
        <p:spPr>
          <a:xfrm>
            <a:off x="9674352" y="398678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9" name="Shape 27"/>
          <p:cNvSpPr/>
          <p:nvPr/>
        </p:nvSpPr>
        <p:spPr>
          <a:xfrm>
            <a:off x="10753344" y="3986784"/>
            <a:ext cx="987552" cy="484632"/>
          </a:xfrm>
          <a:prstGeom prst="roundRect">
            <a:avLst>
              <a:gd name="adj" fmla="val 18868"/>
            </a:avLst>
          </a:prstGeom>
          <a:solidFill>
            <a:srgbClr val="FFFFFF"/>
          </a:solidFill>
          <a:ln w="15875">
            <a:solidFill>
              <a:srgbClr val="E2574C"/>
            </a:solidFill>
            <a:prstDash val="solid"/>
          </a:ln>
        </p:spPr>
      </p:sp>
      <p:sp>
        <p:nvSpPr>
          <p:cNvPr id="30" name="Text 28"/>
          <p:cNvSpPr txBox="1"/>
          <p:nvPr/>
        </p:nvSpPr>
        <p:spPr>
          <a:xfrm>
            <a:off x="10753344" y="398678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31" name="Text 29"/>
          <p:cNvSpPr txBox="1"/>
          <p:nvPr/>
        </p:nvSpPr>
        <p:spPr>
          <a:xfrm>
            <a:off x="502920" y="5074920"/>
            <a:ext cx="11155680" cy="54864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Anything marked Focus here: reopen Impact desk and use review mode on the questions you got wrong.</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Revise 360 Ltd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1.6 Ethical, legal, cultural and environmental impacts  |  Lesson 1 — Impact desk</dc:title>
  <dc:subject>OCR J277 GCSE Computer Science</dc:subject>
  <dc:creator>Revise 360 Ltd</dc:creator>
  <cp:lastModifiedBy>Revise 360 Ltd</cp:lastModifiedBy>
  <cp:revision>1</cp:revision>
  <dcterms:created xsi:type="dcterms:W3CDTF">2026-10-03T16:28:09Z</dcterms:created>
  <dcterms:modified xsi:type="dcterms:W3CDTF">2026-10-03T16:28:09Z</dcterms:modified>
</cp:coreProperties>
</file>