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Lst>
  <p:notesMasterIdLst>
    <p:notesMasterId r:id="rId1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notesMaster" Target="notesMasters/notesMaster1.xml"/><Relationship Id="rId17" Type="http://schemas.openxmlformats.org/officeDocument/2006/relationships/presProps" Target="presProps.xml"/><Relationship Id="rId18" Type="http://schemas.openxmlformats.org/officeDocument/2006/relationships/viewProps" Target="viewProps.xml"/><Relationship Id="rId19" Type="http://schemas.openxmlformats.org/officeDocument/2006/relationships/theme" Target="theme/theme1.xml"/><Relationship Id="rId2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Lesson 10: Records office.
Open the experience at revise360.co.uk and hand out PR_L10_RecordsOffice_Worksheet.docx.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Share the objectives, then go straight into the starter. Devices stay away for the first five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Silent start. Take two or three answers before moving on: this is where misconceptions surface.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Insist on writing before tapping. That single rule is the difference between revision and a quiz game.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1: Reading a whole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2: Reading line by line.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3: Writing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4: Adding to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5: Records in a file.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Station 6: Putting it together. Students read this wall in the experience, write the key fact and the challenge answer, then answer the questions at the badge.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Make them commit to an answer on paper before they tap the star. Guessing first costs them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Use these as a settler, or as something for early finishers to read in the experience.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Timed and silent. Mark against the answer sheet, then ask students to record their weakest area.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Students copy their score-screen breakdown onto the worksheet, then rate themselves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01828"/>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822960" y="1417320"/>
            <a:ext cx="10515600" cy="411480"/>
          </a:xfrm>
          <a:prstGeom prst="rect">
            <a:avLst/>
          </a:prstGeom>
          <a:noFill/>
          <a:ln/>
        </p:spPr>
        <p:txBody>
          <a:bodyPr wrap="square" lIns="0" tIns="0" rIns="0" bIns="0" rtlCol="0" anchor="ctr"/>
          <a:lstStyle/>
          <a:p>
            <a:pPr indent="0" marL="0">
              <a:buNone/>
            </a:pPr>
            <a:r>
              <a:rPr lang="en-US" sz="1500" dirty="0">
                <a:solidFill>
                  <a:srgbClr val="F4B942"/>
                </a:solidFill>
                <a:latin typeface="IBM Plex Mono" pitchFamily="34" charset="0"/>
                <a:ea typeface="IBM Plex Mono" pitchFamily="34" charset="-122"/>
                <a:cs typeface="IBM Plex Mono" pitchFamily="34" charset="-120"/>
              </a:rPr>
              <a:t>Python programming  |  Lesson 10</a:t>
            </a:r>
            <a:endParaRPr lang="en-US" sz="1500" dirty="0"/>
          </a:p>
        </p:txBody>
      </p:sp>
      <p:sp>
        <p:nvSpPr>
          <p:cNvPr id="4" name="Text 2"/>
          <p:cNvSpPr txBox="1"/>
          <p:nvPr/>
        </p:nvSpPr>
        <p:spPr>
          <a:xfrm>
            <a:off x="822960" y="1920240"/>
            <a:ext cx="10515600" cy="1280160"/>
          </a:xfrm>
          <a:prstGeom prst="rect">
            <a:avLst/>
          </a:prstGeom>
          <a:noFill/>
          <a:ln/>
        </p:spPr>
        <p:txBody>
          <a:bodyPr wrap="square" lIns="0" tIns="0" rIns="0" bIns="0" rtlCol="0" anchor="ctr"/>
          <a:lstStyle/>
          <a:p>
            <a:pPr indent="0" marL="0">
              <a:buNone/>
            </a:pPr>
            <a:r>
              <a:rPr lang="en-US" sz="6000" b="1" dirty="0">
                <a:solidFill>
                  <a:srgbClr val="FFFFFF"/>
                </a:solidFill>
                <a:latin typeface="IBM Plex Sans" pitchFamily="34" charset="0"/>
                <a:ea typeface="IBM Plex Sans" pitchFamily="34" charset="-122"/>
                <a:cs typeface="IBM Plex Sans" pitchFamily="34" charset="-120"/>
              </a:rPr>
              <a:t>Records office</a:t>
            </a:r>
            <a:endParaRPr lang="en-US" sz="6000" dirty="0"/>
          </a:p>
        </p:txBody>
      </p:sp>
      <p:sp>
        <p:nvSpPr>
          <p:cNvPr id="5" name="Text 3"/>
          <p:cNvSpPr txBox="1"/>
          <p:nvPr/>
        </p:nvSpPr>
        <p:spPr>
          <a:xfrm>
            <a:off x="822960" y="3291840"/>
            <a:ext cx="9509760" cy="1371600"/>
          </a:xfrm>
          <a:prstGeom prst="rect">
            <a:avLst/>
          </a:prstGeom>
          <a:noFill/>
          <a:ln/>
        </p:spPr>
        <p:txBody>
          <a:bodyPr wrap="square" lIns="0" tIns="0" rIns="0" bIns="0" rtlCol="0" anchor="ctr"/>
          <a:lstStyle/>
          <a:p>
            <a:pPr indent="0" marL="0">
              <a:lnSpc>
                <a:spcPct val="125000"/>
              </a:lnSpc>
              <a:buNone/>
            </a:pPr>
            <a:r>
              <a:rPr lang="en-US" sz="1800" dirty="0">
                <a:solidFill>
                  <a:srgbClr val="C7CDD9"/>
                </a:solidFill>
                <a:latin typeface="IBM Plex Sans" pitchFamily="34" charset="0"/>
                <a:ea typeface="IBM Plex Sans" pitchFamily="34" charset="-122"/>
                <a:cs typeface="IBM Plex Sans" pitchFamily="34" charset="-120"/>
              </a:rPr>
              <a:t>Data in variables disappears the moment a program ends. A file keeps it, and the records office is where you learn to open one, read it, write it and search it.</a:t>
            </a:r>
            <a:endParaRPr lang="en-US" sz="1800" dirty="0"/>
          </a:p>
        </p:txBody>
      </p:sp>
      <p:sp>
        <p:nvSpPr>
          <p:cNvPr id="6" name="Shape 4"/>
          <p:cNvSpPr/>
          <p:nvPr/>
        </p:nvSpPr>
        <p:spPr>
          <a:xfrm>
            <a:off x="822960" y="4846320"/>
            <a:ext cx="2926080" cy="0"/>
          </a:xfrm>
          <a:prstGeom prst="line">
            <a:avLst/>
          </a:prstGeom>
          <a:noFill/>
          <a:ln w="31750">
            <a:solidFill>
              <a:srgbClr val="2D63FF"/>
            </a:solidFill>
            <a:prstDash val="solid"/>
          </a:ln>
        </p:spPr>
      </p:sp>
      <p:sp>
        <p:nvSpPr>
          <p:cNvPr id="7" name="Text 5"/>
          <p:cNvSpPr txBox="1"/>
          <p:nvPr/>
        </p:nvSpPr>
        <p:spPr>
          <a:xfrm>
            <a:off x="822960" y="5029200"/>
            <a:ext cx="10515600" cy="365760"/>
          </a:xfrm>
          <a:prstGeom prst="rect">
            <a:avLst/>
          </a:prstGeom>
          <a:noFill/>
          <a:ln/>
        </p:spPr>
        <p:txBody>
          <a:bodyPr wrap="square" lIns="0" tIns="0" rIns="0" bIns="0" rtlCol="0" anchor="ctr"/>
          <a:lstStyle/>
          <a:p>
            <a:pPr indent="0" marL="0">
              <a:buNone/>
            </a:pPr>
            <a:r>
              <a:rPr lang="en-US" sz="1300" dirty="0">
                <a:solidFill>
                  <a:srgbClr val="667085"/>
                </a:solidFill>
                <a:latin typeface="IBM Plex Mono" pitchFamily="34" charset="0"/>
                <a:ea typeface="IBM Plex Mono" pitchFamily="34" charset="-122"/>
                <a:cs typeface="IBM Plex Mono" pitchFamily="34" charset="-120"/>
              </a:rPr>
              <a:t>Revise 360 Python course  |  Beyond the OCR J277 specification</a:t>
            </a:r>
            <a:endParaRPr lang="en-US" sz="13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By the end of this lesson</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Why does the mode a file is opened in matter more than anything else on that line?</a:t>
            </a:r>
            <a:endParaRPr lang="en-US" sz="1500" dirty="0"/>
          </a:p>
        </p:txBody>
      </p:sp>
      <p:sp>
        <p:nvSpPr>
          <p:cNvPr id="7" name="Shape 5"/>
          <p:cNvSpPr/>
          <p:nvPr/>
        </p:nvSpPr>
        <p:spPr>
          <a:xfrm>
            <a:off x="548640" y="1965960"/>
            <a:ext cx="566928" cy="566928"/>
          </a:xfrm>
          <a:prstGeom prst="ellipse">
            <a:avLst/>
          </a:prstGeom>
          <a:solidFill>
            <a:srgbClr val="2D63FF"/>
          </a:solidFill>
          <a:ln/>
        </p:spPr>
      </p:sp>
      <p:sp>
        <p:nvSpPr>
          <p:cNvPr id="8" name="Text 6"/>
          <p:cNvSpPr txBox="1"/>
          <p:nvPr/>
        </p:nvSpPr>
        <p:spPr>
          <a:xfrm>
            <a:off x="548640" y="196596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965960"/>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open a text file, read what is in it and close it again</a:t>
            </a:r>
            <a:endParaRPr lang="en-US" sz="1900" dirty="0"/>
          </a:p>
        </p:txBody>
      </p:sp>
      <p:sp>
        <p:nvSpPr>
          <p:cNvPr id="10" name="Shape 8"/>
          <p:cNvSpPr/>
          <p:nvPr/>
        </p:nvSpPr>
        <p:spPr>
          <a:xfrm>
            <a:off x="548640" y="2898648"/>
            <a:ext cx="566928" cy="566928"/>
          </a:xfrm>
          <a:prstGeom prst="ellipse">
            <a:avLst/>
          </a:prstGeom>
          <a:solidFill>
            <a:srgbClr val="2D63FF"/>
          </a:solidFill>
          <a:ln/>
        </p:spPr>
      </p:sp>
      <p:sp>
        <p:nvSpPr>
          <p:cNvPr id="11" name="Text 9"/>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2" name="Text 10"/>
          <p:cNvSpPr txBox="1"/>
          <p:nvPr/>
        </p:nvSpPr>
        <p:spPr>
          <a:xfrm>
            <a:off x="1325880" y="2898648"/>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Understand the difference between write mode and append mode</a:t>
            </a:r>
            <a:endParaRPr lang="en-US" sz="1900" dirty="0"/>
          </a:p>
        </p:txBody>
      </p:sp>
      <p:sp>
        <p:nvSpPr>
          <p:cNvPr id="13" name="Shape 11"/>
          <p:cNvSpPr/>
          <p:nvPr/>
        </p:nvSpPr>
        <p:spPr>
          <a:xfrm>
            <a:off x="548640" y="3831336"/>
            <a:ext cx="566928" cy="566928"/>
          </a:xfrm>
          <a:prstGeom prst="ellipse">
            <a:avLst/>
          </a:prstGeom>
          <a:solidFill>
            <a:srgbClr val="2D63FF"/>
          </a:solidFill>
          <a:ln/>
        </p:spPr>
      </p:sp>
      <p:sp>
        <p:nvSpPr>
          <p:cNvPr id="14" name="Text 12"/>
          <p:cNvSpPr txBox="1"/>
          <p:nvPr/>
        </p:nvSpPr>
        <p:spPr>
          <a:xfrm>
            <a:off x="548640" y="383133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5" name="Text 13"/>
          <p:cNvSpPr txBox="1"/>
          <p:nvPr/>
        </p:nvSpPr>
        <p:spPr>
          <a:xfrm>
            <a:off x="1325880" y="3831336"/>
            <a:ext cx="10332720" cy="566928"/>
          </a:xfrm>
          <a:prstGeom prst="rect">
            <a:avLst/>
          </a:prstGeom>
          <a:noFill/>
          <a:ln/>
        </p:spPr>
        <p:txBody>
          <a:bodyPr wrap="square" lIns="0" tIns="0" rIns="0" bIns="0" rtlCol="0" anchor="ctr"/>
          <a:lstStyle/>
          <a:p>
            <a:pPr indent="0" marL="0">
              <a:buNone/>
            </a:pPr>
            <a:r>
              <a:rPr lang="en-US" sz="1900" dirty="0">
                <a:solidFill>
                  <a:srgbClr val="101828"/>
                </a:solidFill>
                <a:latin typeface="IBM Plex Sans" pitchFamily="34" charset="0"/>
                <a:ea typeface="IBM Plex Sans" pitchFamily="34" charset="-122"/>
                <a:cs typeface="IBM Plex Sans" pitchFamily="34" charset="-120"/>
              </a:rPr>
              <a:t>Know how to split one line of a file into its separate fields</a:t>
            </a:r>
            <a:endParaRPr lang="en-US" sz="1900" dirty="0"/>
          </a:p>
        </p:txBody>
      </p:sp>
      <p:sp>
        <p:nvSpPr>
          <p:cNvPr id="16" name="Text 14"/>
          <p:cNvSpPr txBox="1"/>
          <p:nvPr/>
        </p:nvSpPr>
        <p:spPr>
          <a:xfrm>
            <a:off x="548640" y="5084064"/>
            <a:ext cx="2743200" cy="320040"/>
          </a:xfrm>
          <a:prstGeom prst="rect">
            <a:avLst/>
          </a:prstGeom>
          <a:noFill/>
          <a:ln/>
        </p:spPr>
        <p:txBody>
          <a:bodyPr wrap="square" lIns="0" tIns="0" rIns="0" bIns="0" rtlCol="0" anchor="ctr"/>
          <a:lstStyle/>
          <a:p>
            <a:pPr indent="0" marL="0">
              <a:buNone/>
            </a:pPr>
            <a:r>
              <a:rPr lang="en-US" sz="1200" dirty="0">
                <a:solidFill>
                  <a:srgbClr val="667085"/>
                </a:solidFill>
                <a:latin typeface="IBM Plex Mono" pitchFamily="34" charset="0"/>
                <a:ea typeface="IBM Plex Mono" pitchFamily="34" charset="-122"/>
                <a:cs typeface="IBM Plex Mono" pitchFamily="34" charset="-120"/>
              </a:rPr>
              <a:t>Key words</a:t>
            </a:r>
            <a:endParaRPr lang="en-US" sz="1200" dirty="0"/>
          </a:p>
        </p:txBody>
      </p:sp>
      <p:sp>
        <p:nvSpPr>
          <p:cNvPr id="17" name="Shape 15"/>
          <p:cNvSpPr/>
          <p:nvPr/>
        </p:nvSpPr>
        <p:spPr>
          <a:xfrm>
            <a:off x="548640" y="5468112"/>
            <a:ext cx="2359152" cy="402336"/>
          </a:xfrm>
          <a:prstGeom prst="roundRect">
            <a:avLst>
              <a:gd name="adj" fmla="val 50000"/>
            </a:avLst>
          </a:prstGeom>
          <a:solidFill>
            <a:srgbClr val="FFFFFF"/>
          </a:solidFill>
          <a:ln w="12700">
            <a:solidFill>
              <a:srgbClr val="2D63FF"/>
            </a:solidFill>
            <a:prstDash val="solid"/>
          </a:ln>
        </p:spPr>
      </p:sp>
      <p:sp>
        <p:nvSpPr>
          <p:cNvPr id="18" name="Text 16"/>
          <p:cNvSpPr txBox="1"/>
          <p:nvPr/>
        </p:nvSpPr>
        <p:spPr>
          <a:xfrm>
            <a:off x="548640" y="5468112"/>
            <a:ext cx="2359152"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File handling</a:t>
            </a:r>
            <a:endParaRPr lang="en-US" sz="1200" dirty="0"/>
          </a:p>
        </p:txBody>
      </p:sp>
      <p:sp>
        <p:nvSpPr>
          <p:cNvPr id="19" name="Shape 17"/>
          <p:cNvSpPr/>
          <p:nvPr/>
        </p:nvSpPr>
        <p:spPr>
          <a:xfrm>
            <a:off x="3035808" y="5468112"/>
            <a:ext cx="1335024" cy="402336"/>
          </a:xfrm>
          <a:prstGeom prst="roundRect">
            <a:avLst>
              <a:gd name="adj" fmla="val 50000"/>
            </a:avLst>
          </a:prstGeom>
          <a:solidFill>
            <a:srgbClr val="FFFFFF"/>
          </a:solidFill>
          <a:ln w="12700">
            <a:solidFill>
              <a:srgbClr val="2D63FF"/>
            </a:solidFill>
            <a:prstDash val="solid"/>
          </a:ln>
        </p:spPr>
      </p:sp>
      <p:sp>
        <p:nvSpPr>
          <p:cNvPr id="20" name="Text 18"/>
          <p:cNvSpPr txBox="1"/>
          <p:nvPr/>
        </p:nvSpPr>
        <p:spPr>
          <a:xfrm>
            <a:off x="303580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open()</a:t>
            </a:r>
            <a:endParaRPr lang="en-US" sz="1200" dirty="0"/>
          </a:p>
        </p:txBody>
      </p:sp>
      <p:sp>
        <p:nvSpPr>
          <p:cNvPr id="21" name="Shape 19"/>
          <p:cNvSpPr/>
          <p:nvPr/>
        </p:nvSpPr>
        <p:spPr>
          <a:xfrm>
            <a:off x="4498848" y="5468112"/>
            <a:ext cx="1335024" cy="402336"/>
          </a:xfrm>
          <a:prstGeom prst="roundRect">
            <a:avLst>
              <a:gd name="adj" fmla="val 50000"/>
            </a:avLst>
          </a:prstGeom>
          <a:solidFill>
            <a:srgbClr val="FFFFFF"/>
          </a:solidFill>
          <a:ln w="12700">
            <a:solidFill>
              <a:srgbClr val="2D63FF"/>
            </a:solidFill>
            <a:prstDash val="solid"/>
          </a:ln>
        </p:spPr>
      </p:sp>
      <p:sp>
        <p:nvSpPr>
          <p:cNvPr id="22" name="Text 20"/>
          <p:cNvSpPr txBox="1"/>
          <p:nvPr/>
        </p:nvSpPr>
        <p:spPr>
          <a:xfrm>
            <a:off x="4498848"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a:t>
            </a:r>
            <a:endParaRPr lang="en-US" sz="1200" dirty="0"/>
          </a:p>
        </p:txBody>
      </p:sp>
      <p:sp>
        <p:nvSpPr>
          <p:cNvPr id="23" name="Shape 21"/>
          <p:cNvSpPr/>
          <p:nvPr/>
        </p:nvSpPr>
        <p:spPr>
          <a:xfrm>
            <a:off x="5961888" y="5468112"/>
            <a:ext cx="2066544" cy="402336"/>
          </a:xfrm>
          <a:prstGeom prst="roundRect">
            <a:avLst>
              <a:gd name="adj" fmla="val 50000"/>
            </a:avLst>
          </a:prstGeom>
          <a:solidFill>
            <a:srgbClr val="FFFFFF"/>
          </a:solidFill>
          <a:ln w="12700">
            <a:solidFill>
              <a:srgbClr val="2D63FF"/>
            </a:solidFill>
            <a:prstDash val="solid"/>
          </a:ln>
        </p:spPr>
      </p:sp>
      <p:sp>
        <p:nvSpPr>
          <p:cNvPr id="24" name="Text 22"/>
          <p:cNvSpPr txBox="1"/>
          <p:nvPr/>
        </p:nvSpPr>
        <p:spPr>
          <a:xfrm>
            <a:off x="5961888" y="5468112"/>
            <a:ext cx="206654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readlines()</a:t>
            </a:r>
            <a:endParaRPr lang="en-US" sz="1200" dirty="0"/>
          </a:p>
        </p:txBody>
      </p:sp>
      <p:sp>
        <p:nvSpPr>
          <p:cNvPr id="25" name="Shape 23"/>
          <p:cNvSpPr/>
          <p:nvPr/>
        </p:nvSpPr>
        <p:spPr>
          <a:xfrm>
            <a:off x="8156448" y="5468112"/>
            <a:ext cx="1920240" cy="402336"/>
          </a:xfrm>
          <a:prstGeom prst="roundRect">
            <a:avLst>
              <a:gd name="adj" fmla="val 50000"/>
            </a:avLst>
          </a:prstGeom>
          <a:solidFill>
            <a:srgbClr val="FFFFFF"/>
          </a:solidFill>
          <a:ln w="12700">
            <a:solidFill>
              <a:srgbClr val="2D63FF"/>
            </a:solidFill>
            <a:prstDash val="solid"/>
          </a:ln>
        </p:spPr>
      </p:sp>
      <p:sp>
        <p:nvSpPr>
          <p:cNvPr id="26" name="Text 24"/>
          <p:cNvSpPr txBox="1"/>
          <p:nvPr/>
        </p:nvSpPr>
        <p:spPr>
          <a:xfrm>
            <a:off x="8156448" y="5468112"/>
            <a:ext cx="1920240"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Write mode</a:t>
            </a:r>
            <a:endParaRPr lang="en-US" sz="1200" dirty="0"/>
          </a:p>
        </p:txBody>
      </p:sp>
      <p:sp>
        <p:nvSpPr>
          <p:cNvPr id="27" name="Shape 25"/>
          <p:cNvSpPr/>
          <p:nvPr/>
        </p:nvSpPr>
        <p:spPr>
          <a:xfrm>
            <a:off x="10204704" y="5468112"/>
            <a:ext cx="1335024" cy="402336"/>
          </a:xfrm>
          <a:prstGeom prst="roundRect">
            <a:avLst>
              <a:gd name="adj" fmla="val 50000"/>
            </a:avLst>
          </a:prstGeom>
          <a:solidFill>
            <a:srgbClr val="FFFFFF"/>
          </a:solidFill>
          <a:ln w="12700">
            <a:solidFill>
              <a:srgbClr val="2D63FF"/>
            </a:solidFill>
            <a:prstDash val="solid"/>
          </a:ln>
        </p:spPr>
      </p:sp>
      <p:sp>
        <p:nvSpPr>
          <p:cNvPr id="28" name="Text 26"/>
          <p:cNvSpPr txBox="1"/>
          <p:nvPr/>
        </p:nvSpPr>
        <p:spPr>
          <a:xfrm>
            <a:off x="10204704" y="5468112"/>
            <a:ext cx="1335024" cy="402336"/>
          </a:xfrm>
          <a:prstGeom prst="rect">
            <a:avLst/>
          </a:prstGeom>
          <a:noFill/>
          <a:ln/>
        </p:spPr>
        <p:txBody>
          <a:bodyPr wrap="square" lIns="0" tIns="0" rIns="0" bIns="0" rtlCol="0" anchor="ctr"/>
          <a:lstStyle/>
          <a:p>
            <a:pPr algn="ctr" indent="0" marL="0">
              <a:buNone/>
            </a:pPr>
            <a:r>
              <a:rPr lang="en-US" sz="1200" dirty="0">
                <a:solidFill>
                  <a:srgbClr val="2D63FF"/>
                </a:solidFill>
                <a:latin typeface="IBM Plex Sans" pitchFamily="34" charset="0"/>
                <a:ea typeface="IBM Plex Sans" pitchFamily="34" charset="-122"/>
                <a:cs typeface="IBM Plex Sans" pitchFamily="34" charset="-120"/>
              </a:rPr>
              <a:t>Record</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57200"/>
            <a:ext cx="2103120" cy="457200"/>
          </a:xfrm>
          <a:prstGeom prst="roundRect">
            <a:avLst>
              <a:gd name="adj" fmla="val 20000"/>
            </a:avLst>
          </a:prstGeom>
          <a:solidFill>
            <a:srgbClr val="F4B942"/>
          </a:solidFill>
          <a:ln/>
        </p:spPr>
      </p:sp>
      <p:sp>
        <p:nvSpPr>
          <p:cNvPr id="6" name="Text 4"/>
          <p:cNvSpPr txBox="1"/>
          <p:nvPr/>
        </p:nvSpPr>
        <p:spPr>
          <a:xfrm>
            <a:off x="502920" y="457200"/>
            <a:ext cx="2103120" cy="45720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STARTER</a:t>
            </a:r>
            <a:endParaRPr lang="en-US" sz="1300" dirty="0"/>
          </a:p>
        </p:txBody>
      </p:sp>
      <p:sp>
        <p:nvSpPr>
          <p:cNvPr id="7" name="Text 5"/>
          <p:cNvSpPr txBox="1"/>
          <p:nvPr/>
        </p:nvSpPr>
        <p:spPr>
          <a:xfrm>
            <a:off x="2788920" y="457200"/>
            <a:ext cx="5486400" cy="457200"/>
          </a:xfrm>
          <a:prstGeom prst="rect">
            <a:avLst/>
          </a:prstGeom>
          <a:noFill/>
          <a:ln/>
        </p:spPr>
        <p:txBody>
          <a:bodyPr wrap="square" lIns="0" tIns="0" rIns="0" bIns="0" rtlCol="0" anchor="ctr"/>
          <a:lstStyle/>
          <a:p>
            <a:pPr indent="0" marL="0">
              <a:buNone/>
            </a:pPr>
            <a:r>
              <a:rPr lang="en-US" sz="1400" dirty="0">
                <a:solidFill>
                  <a:srgbClr val="667085"/>
                </a:solidFill>
                <a:latin typeface="IBM Plex Sans" pitchFamily="34" charset="0"/>
                <a:ea typeface="IBM Plex Sans" pitchFamily="34" charset="-122"/>
                <a:cs typeface="IBM Plex Sans" pitchFamily="34" charset="-120"/>
              </a:rPr>
              <a:t>Five minutes, on paper</a:t>
            </a:r>
            <a:endParaRPr lang="en-US" sz="1400" dirty="0"/>
          </a:p>
        </p:txBody>
      </p:sp>
      <p:sp>
        <p:nvSpPr>
          <p:cNvPr id="8" name="Shape 6"/>
          <p:cNvSpPr/>
          <p:nvPr/>
        </p:nvSpPr>
        <p:spPr>
          <a:xfrm>
            <a:off x="502920" y="1234440"/>
            <a:ext cx="11155680" cy="3200400"/>
          </a:xfrm>
          <a:prstGeom prst="roundRect">
            <a:avLst>
              <a:gd name="adj" fmla="val 3429"/>
            </a:avLst>
          </a:prstGeom>
          <a:solidFill>
            <a:srgbClr val="FFFFFF"/>
          </a:solidFill>
          <a:ln w="15875">
            <a:solidFill>
              <a:srgbClr val="2D63FF"/>
            </a:solidFill>
            <a:prstDash val="solid"/>
          </a:ln>
        </p:spPr>
      </p:sp>
      <p:sp>
        <p:nvSpPr>
          <p:cNvPr id="9" name="Text 7"/>
          <p:cNvSpPr txBox="1"/>
          <p:nvPr/>
        </p:nvSpPr>
        <p:spPr>
          <a:xfrm>
            <a:off x="1005840" y="1645920"/>
            <a:ext cx="10149840" cy="2377440"/>
          </a:xfrm>
          <a:prstGeom prst="rect">
            <a:avLst/>
          </a:prstGeom>
          <a:noFill/>
          <a:ln/>
        </p:spPr>
        <p:txBody>
          <a:bodyPr wrap="square" lIns="0" tIns="0" rIns="0" bIns="0" rtlCol="0" anchor="ctr"/>
          <a:lstStyle/>
          <a:p>
            <a:pPr indent="0" marL="0">
              <a:lnSpc>
                <a:spcPct val="130000"/>
              </a:lnSpc>
              <a:buNone/>
            </a:pPr>
            <a:r>
              <a:rPr lang="en-US" sz="2600" dirty="0">
                <a:solidFill>
                  <a:srgbClr val="101828"/>
                </a:solidFill>
                <a:latin typeface="IBM Plex Sans" pitchFamily="34" charset="0"/>
                <a:ea typeface="IBM Plex Sans" pitchFamily="34" charset="-122"/>
                <a:cs typeface="IBM Plex Sans" pitchFamily="34" charset="-120"/>
              </a:rPr>
              <a:t>A program opens scores.txt in write mode, and the file already holds 40 lines of results. Write down what the file holds the moment that line has run, and which mode should have been used to add to it instead.</a:t>
            </a:r>
            <a:endParaRPr lang="en-US" sz="2600" dirty="0"/>
          </a:p>
        </p:txBody>
      </p:sp>
      <p:sp>
        <p:nvSpPr>
          <p:cNvPr id="10" name="Text 8"/>
          <p:cNvSpPr txBox="1"/>
          <p:nvPr/>
        </p:nvSpPr>
        <p:spPr>
          <a:xfrm>
            <a:off x="502920" y="4709160"/>
            <a:ext cx="11155680" cy="45720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No devices yet. Write your answer on the worksheet before anyone talks.</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Into the experience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Open Records office on revise360.co.uk</a:t>
            </a:r>
            <a:endParaRPr lang="en-US" sz="1500" dirty="0"/>
          </a:p>
        </p:txBody>
      </p:sp>
      <p:sp>
        <p:nvSpPr>
          <p:cNvPr id="7" name="Shape 5"/>
          <p:cNvSpPr/>
          <p:nvPr/>
        </p:nvSpPr>
        <p:spPr>
          <a:xfrm>
            <a:off x="548640" y="1874520"/>
            <a:ext cx="566928" cy="566928"/>
          </a:xfrm>
          <a:prstGeom prst="ellipse">
            <a:avLst/>
          </a:prstGeom>
          <a:solidFill>
            <a:srgbClr val="08A6A6"/>
          </a:solidFill>
          <a:ln/>
        </p:spPr>
      </p:sp>
      <p:sp>
        <p:nvSpPr>
          <p:cNvPr id="8" name="Text 6"/>
          <p:cNvSpPr txBox="1"/>
          <p:nvPr/>
        </p:nvSpPr>
        <p:spPr>
          <a:xfrm>
            <a:off x="548640" y="1874520"/>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9" name="Text 7"/>
          <p:cNvSpPr txBox="1"/>
          <p:nvPr/>
        </p:nvSpPr>
        <p:spPr>
          <a:xfrm>
            <a:off x="1325880" y="1856232"/>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Look around</a:t>
            </a:r>
            <a:endParaRPr lang="en-US" sz="1700" dirty="0"/>
          </a:p>
        </p:txBody>
      </p:sp>
      <p:sp>
        <p:nvSpPr>
          <p:cNvPr id="10" name="Text 8"/>
          <p:cNvSpPr txBox="1"/>
          <p:nvPr/>
        </p:nvSpPr>
        <p:spPr>
          <a:xfrm>
            <a:off x="1325880" y="2148840"/>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Six numbered stations are arranged around you. Turn right for 1 and 2, around for 3 and 4, left for 5 and 6.</a:t>
            </a:r>
            <a:endParaRPr lang="en-US" sz="1400" dirty="0"/>
          </a:p>
        </p:txBody>
      </p:sp>
      <p:sp>
        <p:nvSpPr>
          <p:cNvPr id="11" name="Shape 9"/>
          <p:cNvSpPr/>
          <p:nvPr/>
        </p:nvSpPr>
        <p:spPr>
          <a:xfrm>
            <a:off x="548640" y="2898648"/>
            <a:ext cx="566928" cy="566928"/>
          </a:xfrm>
          <a:prstGeom prst="ellipse">
            <a:avLst/>
          </a:prstGeom>
          <a:solidFill>
            <a:srgbClr val="08A6A6"/>
          </a:solidFill>
          <a:ln/>
        </p:spPr>
      </p:sp>
      <p:sp>
        <p:nvSpPr>
          <p:cNvPr id="12" name="Text 10"/>
          <p:cNvSpPr txBox="1"/>
          <p:nvPr/>
        </p:nvSpPr>
        <p:spPr>
          <a:xfrm>
            <a:off x="548640" y="2898648"/>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13" name="Text 11"/>
          <p:cNvSpPr txBox="1"/>
          <p:nvPr/>
        </p:nvSpPr>
        <p:spPr>
          <a:xfrm>
            <a:off x="1325880" y="2880360"/>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Plan before you type</a:t>
            </a:r>
            <a:endParaRPr lang="en-US" sz="1700" dirty="0"/>
          </a:p>
        </p:txBody>
      </p:sp>
      <p:sp>
        <p:nvSpPr>
          <p:cNvPr id="14" name="Text 12"/>
          <p:cNvSpPr txBox="1"/>
          <p:nvPr/>
        </p:nvSpPr>
        <p:spPr>
          <a:xfrm>
            <a:off x="1325880" y="3172968"/>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Read the task and its brief. Work out the inputs, what happens to them, and exactly what is printed.</a:t>
            </a:r>
            <a:endParaRPr lang="en-US" sz="1400" dirty="0"/>
          </a:p>
        </p:txBody>
      </p:sp>
      <p:sp>
        <p:nvSpPr>
          <p:cNvPr id="15" name="Shape 13"/>
          <p:cNvSpPr/>
          <p:nvPr/>
        </p:nvSpPr>
        <p:spPr>
          <a:xfrm>
            <a:off x="548640" y="3922776"/>
            <a:ext cx="566928" cy="566928"/>
          </a:xfrm>
          <a:prstGeom prst="ellipse">
            <a:avLst/>
          </a:prstGeom>
          <a:solidFill>
            <a:srgbClr val="08A6A6"/>
          </a:solidFill>
          <a:ln/>
        </p:spPr>
      </p:sp>
      <p:sp>
        <p:nvSpPr>
          <p:cNvPr id="16" name="Text 14"/>
          <p:cNvSpPr txBox="1"/>
          <p:nvPr/>
        </p:nvSpPr>
        <p:spPr>
          <a:xfrm>
            <a:off x="548640" y="3922776"/>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17" name="Text 15"/>
          <p:cNvSpPr txBox="1"/>
          <p:nvPr/>
        </p:nvSpPr>
        <p:spPr>
          <a:xfrm>
            <a:off x="1325880" y="3904488"/>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Write it and run it</a:t>
            </a:r>
            <a:endParaRPr lang="en-US" sz="1700" dirty="0"/>
          </a:p>
        </p:txBody>
      </p:sp>
      <p:sp>
        <p:nvSpPr>
          <p:cNvPr id="18" name="Text 16"/>
          <p:cNvSpPr txBox="1"/>
          <p:nvPr/>
        </p:nvSpPr>
        <p:spPr>
          <a:xfrm>
            <a:off x="1325880" y="4197096"/>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Type the program in the editor and press Run to see what it does. Then press Check to mark it against the tests.</a:t>
            </a:r>
            <a:endParaRPr lang="en-US" sz="1400" dirty="0"/>
          </a:p>
        </p:txBody>
      </p:sp>
      <p:sp>
        <p:nvSpPr>
          <p:cNvPr id="19" name="Shape 17"/>
          <p:cNvSpPr/>
          <p:nvPr/>
        </p:nvSpPr>
        <p:spPr>
          <a:xfrm>
            <a:off x="548640" y="4946904"/>
            <a:ext cx="566928" cy="566928"/>
          </a:xfrm>
          <a:prstGeom prst="ellipse">
            <a:avLst/>
          </a:prstGeom>
          <a:solidFill>
            <a:srgbClr val="F4B942"/>
          </a:solidFill>
          <a:ln/>
        </p:spPr>
      </p:sp>
      <p:sp>
        <p:nvSpPr>
          <p:cNvPr id="20" name="Text 18"/>
          <p:cNvSpPr txBox="1"/>
          <p:nvPr/>
        </p:nvSpPr>
        <p:spPr>
          <a:xfrm>
            <a:off x="548640" y="4946904"/>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21" name="Text 19"/>
          <p:cNvSpPr txBox="1"/>
          <p:nvPr/>
        </p:nvSpPr>
        <p:spPr>
          <a:xfrm>
            <a:off x="1325880" y="4928616"/>
            <a:ext cx="3017520" cy="320040"/>
          </a:xfrm>
          <a:prstGeom prst="rect">
            <a:avLst/>
          </a:prstGeom>
          <a:noFill/>
          <a:ln/>
        </p:spPr>
        <p:txBody>
          <a:bodyPr wrap="square" lIns="0" tIns="0" rIns="0" bIns="0" rtlCol="0" anchor="ctr"/>
          <a:lstStyle/>
          <a:p>
            <a:pPr indent="0" marL="0">
              <a:buNone/>
            </a:pPr>
            <a:r>
              <a:rPr lang="en-US" sz="1700" b="1" dirty="0">
                <a:solidFill>
                  <a:srgbClr val="101828"/>
                </a:solidFill>
                <a:latin typeface="IBM Plex Sans" pitchFamily="34" charset="0"/>
                <a:ea typeface="IBM Plex Sans" pitchFamily="34" charset="-122"/>
                <a:cs typeface="IBM Plex Sans" pitchFamily="34" charset="-120"/>
              </a:rPr>
              <a:t>Read the failures</a:t>
            </a:r>
            <a:endParaRPr lang="en-US" sz="1700" dirty="0"/>
          </a:p>
        </p:txBody>
      </p:sp>
      <p:sp>
        <p:nvSpPr>
          <p:cNvPr id="22" name="Text 20"/>
          <p:cNvSpPr txBox="1"/>
          <p:nvPr/>
        </p:nvSpPr>
        <p:spPr>
          <a:xfrm>
            <a:off x="1325880" y="5221224"/>
            <a:ext cx="10241280" cy="457200"/>
          </a:xfrm>
          <a:prstGeom prst="rect">
            <a:avLst/>
          </a:prstGeom>
          <a:noFill/>
          <a:ln/>
        </p:spPr>
        <p:txBody>
          <a:bodyPr wrap="square" lIns="0" tIns="0" rIns="0" bIns="0" rtlCol="0" anchor="t"/>
          <a:lstStyle/>
          <a:p>
            <a:pPr indent="0" marL="0">
              <a:buNone/>
            </a:pPr>
            <a:r>
              <a:rPr lang="en-US" sz="1400" dirty="0">
                <a:solidFill>
                  <a:srgbClr val="667085"/>
                </a:solidFill>
                <a:latin typeface="IBM Plex Sans" pitchFamily="34" charset="0"/>
                <a:ea typeface="IBM Plex Sans" pitchFamily="34" charset="-122"/>
                <a:cs typeface="IBM Plex Sans" pitchFamily="34" charset="-120"/>
              </a:rPr>
              <a:t>A test that fails tells you what was expected and what came out. Fix and run it again - that is what programmers do.</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1</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1</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a whole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"r") opens a file for reading and hands back a file object.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gives the whole file as one string, and .close() lets go of it when you are done.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opening a file that is not there, which stops the program with an error.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should a program close a file as soon as it has finished with it?</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left open can keep other programs out, and may lose data that was not written yet.</a:t>
            </a:r>
            <a:endParaRPr lang="en-US" sz="16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2</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2</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Reading line by line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.readline() reads one line, while .readlines() gives a list of every line.</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Each line still carries its newline, so .strip() tidies that off before you use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measuring a line before stripping it, which counts the newline as a character.</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Why is a stripped line one character shorter than the line that was read?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newline is one single invisible character, which is why a stripped line comes out shorter.</a:t>
            </a:r>
            <a:endParaRPr lang="en-US" sz="16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3</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3</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Writing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"w") opens a file for writing and empties whatever was in it.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.write() adds no newline of its own, so put a newline on the end of each line yourself.</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using write mode on a file you meant to add to, which wipes it completely.</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What happens to the contents of a file the moment it is opened in w mode?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Write mode creates the file if it is not there, which is handy and dangerous in equal measure.</a:t>
            </a:r>
            <a:endParaRPr lang="en-US" sz="16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4</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4</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Adding to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open(name, "a") is append mode: new text goes on the end and nothing is lost.</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Logs are always appended, so yesterday's entries are still there tomorrow.</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leaving the newline out, so the new entry runs straight into the last one.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Which mode would a visitor log use, and why that one?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Three modes cover everything you need: r to read, w to write from scratch and a to add on the end.</a:t>
            </a:r>
            <a:endParaRPr lang="en-US" sz="16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5</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5</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Records in a file</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record is one line of the file, and its fields are the parts separated by a comma.</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.split(",") breaks a line into a list of its fields.</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splitting before stripping, which leaves a newline stuck on the last field.</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How does a program find the record for one particular name?</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A file of comma-separated records is a CSV file, and a spreadsheet will open one straight away.</a:t>
            </a:r>
            <a:endParaRPr lang="en-US" sz="16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8321040" y="6236208"/>
            <a:ext cx="914400" cy="365760"/>
          </a:xfrm>
          <a:prstGeom prst="rect">
            <a:avLst/>
          </a:prstGeom>
          <a:noFill/>
          <a:ln/>
        </p:spPr>
        <p:txBody>
          <a:bodyPr wrap="square" lIns="0" tIns="0" rIns="0" bIns="0" rtlCol="0" anchor="ctr"/>
          <a:lstStyle/>
          <a:p>
            <a:pPr algn="r" indent="0" marL="0">
              <a:buNone/>
            </a:pPr>
            <a:r>
              <a:rPr lang="en-US" sz="1100" dirty="0">
                <a:solidFill>
                  <a:srgbClr val="D9DEE7"/>
                </a:solidFill>
                <a:latin typeface="IBM Plex Mono" pitchFamily="34" charset="0"/>
                <a:ea typeface="IBM Plex Mono" pitchFamily="34" charset="-122"/>
                <a:cs typeface="IBM Plex Mono" pitchFamily="34" charset="-120"/>
              </a:rPr>
              <a:t>Station 6</a:t>
            </a:r>
            <a:endParaRPr lang="en-US" sz="1100" dirty="0"/>
          </a:p>
        </p:txBody>
      </p:sp>
      <p:sp>
        <p:nvSpPr>
          <p:cNvPr id="6" name="Shape 4"/>
          <p:cNvSpPr/>
          <p:nvPr/>
        </p:nvSpPr>
        <p:spPr>
          <a:xfrm>
            <a:off x="502920" y="438912"/>
            <a:ext cx="566928" cy="566928"/>
          </a:xfrm>
          <a:prstGeom prst="ellipse">
            <a:avLst/>
          </a:prstGeom>
          <a:solidFill>
            <a:srgbClr val="2D63FF"/>
          </a:solidFill>
          <a:ln/>
        </p:spPr>
      </p:sp>
      <p:sp>
        <p:nvSpPr>
          <p:cNvPr id="7" name="Text 5"/>
          <p:cNvSpPr txBox="1"/>
          <p:nvPr/>
        </p:nvSpPr>
        <p:spPr>
          <a:xfrm>
            <a:off x="502920" y="438912"/>
            <a:ext cx="566928" cy="566928"/>
          </a:xfrm>
          <a:prstGeom prst="rect">
            <a:avLst/>
          </a:prstGeom>
          <a:noFill/>
          <a:ln/>
        </p:spPr>
        <p:txBody>
          <a:bodyPr wrap="square" lIns="0" tIns="0" rIns="0" bIns="0" rtlCol="0" anchor="ctr"/>
          <a:lstStyle/>
          <a:p>
            <a:pPr algn="ctr" indent="0" marL="0">
              <a:buNone/>
            </a:pPr>
            <a:r>
              <a:rPr lang="en-US" sz="2000" b="1" dirty="0">
                <a:solidFill>
                  <a:srgbClr val="FFFFFF"/>
                </a:solidFill>
                <a:latin typeface="IBM Plex Mono" pitchFamily="34" charset="0"/>
                <a:ea typeface="IBM Plex Mono" pitchFamily="34" charset="-122"/>
                <a:cs typeface="IBM Plex Mono" pitchFamily="34" charset="-120"/>
              </a:rPr>
              <a:t>6</a:t>
            </a:r>
            <a:endParaRPr lang="en-US" sz="2000" dirty="0"/>
          </a:p>
        </p:txBody>
      </p:sp>
      <p:sp>
        <p:nvSpPr>
          <p:cNvPr id="8" name="Text 6"/>
          <p:cNvSpPr txBox="1"/>
          <p:nvPr/>
        </p:nvSpPr>
        <p:spPr>
          <a:xfrm>
            <a:off x="1234440" y="411480"/>
            <a:ext cx="10424160" cy="621792"/>
          </a:xfrm>
          <a:prstGeom prst="rect">
            <a:avLst/>
          </a:prstGeom>
          <a:noFill/>
          <a:ln/>
        </p:spPr>
        <p:txBody>
          <a:bodyPr wrap="square" lIns="0" tIns="0" rIns="0" bIns="0" rtlCol="0" anchor="ctr"/>
          <a:lstStyle/>
          <a:p>
            <a:pPr indent="0" marL="0">
              <a:buNone/>
            </a:pPr>
            <a:r>
              <a:rPr lang="en-US" sz="3000" b="1" dirty="0">
                <a:solidFill>
                  <a:srgbClr val="101828"/>
                </a:solidFill>
                <a:latin typeface="IBM Plex Sans" pitchFamily="34" charset="0"/>
                <a:ea typeface="IBM Plex Sans" pitchFamily="34" charset="-122"/>
                <a:cs typeface="IBM Plex Sans" pitchFamily="34" charset="-120"/>
              </a:rPr>
              <a:t>Putting it together</a:t>
            </a:r>
            <a:endParaRPr lang="en-US" sz="3000" dirty="0"/>
          </a:p>
        </p:txBody>
      </p:sp>
      <p:sp>
        <p:nvSpPr>
          <p:cNvPr id="9" name="Shape 7"/>
          <p:cNvSpPr/>
          <p:nvPr/>
        </p:nvSpPr>
        <p:spPr>
          <a:xfrm>
            <a:off x="502920" y="1280160"/>
            <a:ext cx="7040880" cy="3246120"/>
          </a:xfrm>
          <a:prstGeom prst="roundRect">
            <a:avLst>
              <a:gd name="adj" fmla="val 3380"/>
            </a:avLst>
          </a:prstGeom>
          <a:solidFill>
            <a:srgbClr val="FFFFFF"/>
          </a:solidFill>
          <a:ln w="15875">
            <a:solidFill>
              <a:srgbClr val="D9DEE7"/>
            </a:solidFill>
            <a:prstDash val="solid"/>
          </a:ln>
        </p:spPr>
      </p:sp>
      <p:sp>
        <p:nvSpPr>
          <p:cNvPr id="10" name="Text 8"/>
          <p:cNvSpPr txBox="1"/>
          <p:nvPr/>
        </p:nvSpPr>
        <p:spPr>
          <a:xfrm>
            <a:off x="914400" y="1600200"/>
            <a:ext cx="6309360" cy="2651760"/>
          </a:xfrm>
          <a:prstGeom prst="rect">
            <a:avLst/>
          </a:prstGeom>
          <a:noFill/>
          <a:ln/>
        </p:spPr>
        <p:txBody>
          <a:bodyPr wrap="square" lIns="0" tIns="0" rIns="0" bIns="0" rtlCol="0" anchor="t"/>
          <a:lstStyle/>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Read the whole file first, close it, then work on the lines you are holding.</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A program can read one file and write a second one in the same run.</a:t>
            </a:r>
            <a:endParaRPr lang="en-US" sz="1700" dirty="0"/>
          </a:p>
          <a:p>
            <a:pPr marL="342900" indent="-342900">
              <a:lnSpc>
                <a:spcPct val="120000"/>
              </a:lnSpc>
              <a:spcAft>
                <a:spcPts val="1200"/>
              </a:spcAft>
              <a:buSzPct val="100000"/>
              <a:buChar char="•"/>
            </a:pPr>
            <a:r>
              <a:rPr lang="en-US" sz="1700" dirty="0">
                <a:solidFill>
                  <a:srgbClr val="101828"/>
                </a:solidFill>
                <a:latin typeface="IBM Plex Sans" pitchFamily="34" charset="0"/>
                <a:ea typeface="IBM Plex Sans" pitchFamily="34" charset="-122"/>
                <a:cs typeface="IBM Plex Sans" pitchFamily="34" charset="-120"/>
              </a:rPr>
              <a:t>Mistake: looping over a file you have already closed, or reading and writing one file at once.</a:t>
            </a:r>
            <a:endParaRPr lang="en-US" sz="1700" dirty="0"/>
          </a:p>
        </p:txBody>
      </p:sp>
      <p:sp>
        <p:nvSpPr>
          <p:cNvPr id="11" name="Shape 9"/>
          <p:cNvSpPr/>
          <p:nvPr/>
        </p:nvSpPr>
        <p:spPr>
          <a:xfrm>
            <a:off x="7818120" y="1280160"/>
            <a:ext cx="3840480" cy="3246120"/>
          </a:xfrm>
          <a:prstGeom prst="roundRect">
            <a:avLst>
              <a:gd name="adj" fmla="val 3380"/>
            </a:avLst>
          </a:prstGeom>
          <a:solidFill>
            <a:srgbClr val="FFFFFF"/>
          </a:solidFill>
          <a:ln w="15875">
            <a:solidFill>
              <a:srgbClr val="F4B942"/>
            </a:solidFill>
            <a:prstDash val="solid"/>
          </a:ln>
        </p:spPr>
      </p:sp>
      <p:sp>
        <p:nvSpPr>
          <p:cNvPr id="12" name="Text 10"/>
          <p:cNvSpPr txBox="1"/>
          <p:nvPr/>
        </p:nvSpPr>
        <p:spPr>
          <a:xfrm>
            <a:off x="8183880" y="1508760"/>
            <a:ext cx="3200400" cy="320040"/>
          </a:xfrm>
          <a:prstGeom prst="rect">
            <a:avLst/>
          </a:prstGeom>
          <a:noFill/>
          <a:ln/>
        </p:spPr>
        <p:txBody>
          <a:bodyPr wrap="square" lIns="0" tIns="0" rIns="0" bIns="0" rtlCol="0" anchor="ctr"/>
          <a:lstStyle/>
          <a:p>
            <a:pPr indent="0" marL="0">
              <a:buNone/>
            </a:pPr>
            <a:r>
              <a:rPr lang="en-US" sz="1200" b="1" dirty="0">
                <a:solidFill>
                  <a:srgbClr val="667085"/>
                </a:solidFill>
                <a:latin typeface="IBM Plex Mono" pitchFamily="34" charset="0"/>
                <a:ea typeface="IBM Plex Mono" pitchFamily="34" charset="-122"/>
                <a:cs typeface="IBM Plex Mono" pitchFamily="34" charset="-120"/>
              </a:rPr>
              <a:t>CHALLENGE</a:t>
            </a:r>
            <a:endParaRPr lang="en-US" sz="1200" dirty="0"/>
          </a:p>
        </p:txBody>
      </p:sp>
      <p:sp>
        <p:nvSpPr>
          <p:cNvPr id="13" name="Text 11"/>
          <p:cNvSpPr txBox="1"/>
          <p:nvPr/>
        </p:nvSpPr>
        <p:spPr>
          <a:xfrm>
            <a:off x="8183880" y="1874520"/>
            <a:ext cx="3154680" cy="2377440"/>
          </a:xfrm>
          <a:prstGeom prst="rect">
            <a:avLst/>
          </a:prstGeom>
          <a:noFill/>
          <a:ln/>
        </p:spPr>
        <p:txBody>
          <a:bodyPr wrap="square" lIns="0" tIns="0" rIns="0" bIns="0" rtlCol="0" anchor="t"/>
          <a:lstStyle/>
          <a:p>
            <a:pPr indent="0" marL="0">
              <a:lnSpc>
                <a:spcPct val="125000"/>
              </a:lnSpc>
              <a:buNone/>
            </a:pPr>
            <a:r>
              <a:rPr lang="en-US" sz="1600" dirty="0">
                <a:solidFill>
                  <a:srgbClr val="101828"/>
                </a:solidFill>
                <a:latin typeface="IBM Plex Sans" pitchFamily="34" charset="0"/>
                <a:ea typeface="IBM Plex Sans" pitchFamily="34" charset="-122"/>
                <a:cs typeface="IBM Plex Sans" pitchFamily="34" charset="-120"/>
              </a:rPr>
              <a:t>Plan the two files a sales report program would need.</a:t>
            </a:r>
            <a:endParaRPr lang="en-US" sz="1600" dirty="0"/>
          </a:p>
        </p:txBody>
      </p:sp>
      <p:sp>
        <p:nvSpPr>
          <p:cNvPr id="14" name="Shape 12"/>
          <p:cNvSpPr/>
          <p:nvPr/>
        </p:nvSpPr>
        <p:spPr>
          <a:xfrm>
            <a:off x="502920" y="4754880"/>
            <a:ext cx="11155680" cy="777240"/>
          </a:xfrm>
          <a:prstGeom prst="roundRect">
            <a:avLst>
              <a:gd name="adj" fmla="val 11765"/>
            </a:avLst>
          </a:prstGeom>
          <a:solidFill>
            <a:srgbClr val="EEF2FB"/>
          </a:solidFill>
          <a:ln w="12700">
            <a:solidFill>
              <a:srgbClr val="2D63FF"/>
            </a:solidFill>
            <a:prstDash val="solid"/>
          </a:ln>
        </p:spPr>
      </p:sp>
      <p:sp>
        <p:nvSpPr>
          <p:cNvPr id="15" name="Text 13"/>
          <p:cNvSpPr txBox="1"/>
          <p:nvPr/>
        </p:nvSpPr>
        <p:spPr>
          <a:xfrm>
            <a:off x="914400" y="4754880"/>
            <a:ext cx="10332720" cy="77724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On your worksheet:  </a:t>
            </a:r>
            <a:pPr indent="0" marL="0">
              <a:buNone/>
            </a:pPr>
            <a:r>
              <a:rPr lang="en-US" sz="1600" dirty="0">
                <a:solidFill>
                  <a:srgbClr val="101828"/>
                </a:solidFill>
                <a:latin typeface="IBM Plex Sans" pitchFamily="34" charset="0"/>
                <a:ea typeface="IBM Plex Sans" pitchFamily="34" charset="-122"/>
                <a:cs typeface="IBM Plex Sans" pitchFamily="34" charset="-120"/>
              </a:rPr>
              <a:t>Skipping blank lines is worth doing every time: a stray newline at the end of a file is very common.</a:t>
            </a:r>
            <a:endParaRPr lang="en-US" sz="16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Shape 3"/>
          <p:cNvSpPr/>
          <p:nvPr/>
        </p:nvSpPr>
        <p:spPr>
          <a:xfrm>
            <a:off x="502920" y="438912"/>
            <a:ext cx="3108960" cy="502920"/>
          </a:xfrm>
          <a:prstGeom prst="roundRect">
            <a:avLst>
              <a:gd name="adj" fmla="val 18182"/>
            </a:avLst>
          </a:prstGeom>
          <a:solidFill>
            <a:srgbClr val="F4B942"/>
          </a:solidFill>
          <a:ln/>
        </p:spPr>
      </p:sp>
      <p:sp>
        <p:nvSpPr>
          <p:cNvPr id="6" name="Text 4"/>
          <p:cNvSpPr txBox="1"/>
          <p:nvPr/>
        </p:nvSpPr>
        <p:spPr>
          <a:xfrm>
            <a:off x="502920" y="438912"/>
            <a:ext cx="3108960" cy="502920"/>
          </a:xfrm>
          <a:prstGeom prst="rect">
            <a:avLst/>
          </a:prstGeom>
          <a:noFill/>
          <a:ln/>
        </p:spPr>
        <p:txBody>
          <a:bodyPr wrap="square" lIns="0" tIns="0" rIns="0" bIns="0" rtlCol="0" anchor="ctr"/>
          <a:lstStyle/>
          <a:p>
            <a:pPr algn="ctr" indent="0" marL="0">
              <a:buNone/>
            </a:pPr>
            <a:r>
              <a:rPr lang="en-US" sz="1300" b="1" dirty="0">
                <a:solidFill>
                  <a:srgbClr val="101828"/>
                </a:solidFill>
                <a:latin typeface="IBM Plex Mono" pitchFamily="34" charset="0"/>
                <a:ea typeface="IBM Plex Mono" pitchFamily="34" charset="-122"/>
                <a:cs typeface="IBM Plex Mono" pitchFamily="34" charset="-120"/>
              </a:rPr>
              <a:t>★  FINAL CHALLENGE</a:t>
            </a:r>
            <a:endParaRPr lang="en-US" sz="1300" dirty="0"/>
          </a:p>
        </p:txBody>
      </p:sp>
      <p:sp>
        <p:nvSpPr>
          <p:cNvPr id="7" name="Text 5"/>
          <p:cNvSpPr txBox="1"/>
          <p:nvPr/>
        </p:nvSpPr>
        <p:spPr>
          <a:xfrm>
            <a:off x="502920" y="1097280"/>
            <a:ext cx="11155680" cy="731520"/>
          </a:xfrm>
          <a:prstGeom prst="rect">
            <a:avLst/>
          </a:prstGeom>
          <a:noFill/>
          <a:ln/>
        </p:spPr>
        <p:txBody>
          <a:bodyPr wrap="square" lIns="0" tIns="0" rIns="0" bIns="0" rtlCol="0" anchor="ctr"/>
          <a:lstStyle/>
          <a:p>
            <a:pPr indent="0" marL="0">
              <a:buNone/>
            </a:pPr>
            <a:r>
              <a:rPr lang="en-US" sz="3400" b="1" dirty="0">
                <a:solidFill>
                  <a:srgbClr val="101828"/>
                </a:solidFill>
                <a:latin typeface="IBM Plex Sans" pitchFamily="34" charset="0"/>
                <a:ea typeface="IBM Plex Sans" pitchFamily="34" charset="-122"/>
                <a:cs typeface="IBM Plex Sans" pitchFamily="34" charset="-120"/>
              </a:rPr>
              <a:t>Which mode?</a:t>
            </a:r>
            <a:endParaRPr lang="en-US" sz="3400" dirty="0"/>
          </a:p>
        </p:txBody>
      </p:sp>
      <p:sp>
        <p:nvSpPr>
          <p:cNvPr id="8" name="Shape 6"/>
          <p:cNvSpPr/>
          <p:nvPr/>
        </p:nvSpPr>
        <p:spPr>
          <a:xfrm>
            <a:off x="502920" y="2011680"/>
            <a:ext cx="11155680" cy="2194560"/>
          </a:xfrm>
          <a:prstGeom prst="roundRect">
            <a:avLst>
              <a:gd name="adj" fmla="val 5000"/>
            </a:avLst>
          </a:prstGeom>
          <a:solidFill>
            <a:srgbClr val="FFFFFF"/>
          </a:solidFill>
          <a:ln w="15875">
            <a:solidFill>
              <a:srgbClr val="2D63FF"/>
            </a:solidFill>
            <a:prstDash val="solid"/>
          </a:ln>
        </p:spPr>
      </p:sp>
      <p:sp>
        <p:nvSpPr>
          <p:cNvPr id="9" name="Text 7"/>
          <p:cNvSpPr txBox="1"/>
          <p:nvPr/>
        </p:nvSpPr>
        <p:spPr>
          <a:xfrm>
            <a:off x="1005840" y="2331720"/>
            <a:ext cx="10149840" cy="1554480"/>
          </a:xfrm>
          <a:prstGeom prst="rect">
            <a:avLst/>
          </a:prstGeom>
          <a:noFill/>
          <a:ln/>
        </p:spPr>
        <p:txBody>
          <a:bodyPr wrap="square" lIns="0" tIns="0" rIns="0" bIns="0" rtlCol="0" anchor="ctr"/>
          <a:lstStyle/>
          <a:p>
            <a:pPr indent="0" marL="0">
              <a:lnSpc>
                <a:spcPct val="130000"/>
              </a:lnSpc>
              <a:buNone/>
            </a:pPr>
            <a:r>
              <a:rPr lang="en-US" sz="2200" dirty="0">
                <a:solidFill>
                  <a:srgbClr val="101828"/>
                </a:solidFill>
                <a:latin typeface="IBM Plex Sans" pitchFamily="34" charset="0"/>
                <a:ea typeface="IBM Plex Sans" pitchFamily="34" charset="-122"/>
                <a:cs typeface="IBM Plex Sans" pitchFamily="34" charset="-120"/>
              </a:rPr>
              <a:t>Eight jobs have reached the records office. Tap the star and choose the file mode each one needs.</a:t>
            </a:r>
            <a:endParaRPr lang="en-US" sz="2200" dirty="0"/>
          </a:p>
        </p:txBody>
      </p:sp>
      <p:sp>
        <p:nvSpPr>
          <p:cNvPr id="10" name="Text 8"/>
          <p:cNvSpPr txBox="1"/>
          <p:nvPr/>
        </p:nvSpPr>
        <p:spPr>
          <a:xfrm>
            <a:off x="502920" y="4526280"/>
            <a:ext cx="11155680" cy="457200"/>
          </a:xfrm>
          <a:prstGeom prst="rect">
            <a:avLst/>
          </a:prstGeom>
          <a:noFill/>
          <a:ln/>
        </p:spPr>
        <p:txBody>
          <a:bodyPr wrap="square" lIns="0" tIns="0" rIns="0" bIns="0" rtlCol="0" anchor="ctr"/>
          <a:lstStyle/>
          <a:p>
            <a:pPr indent="0" marL="0">
              <a:buNone/>
            </a:pPr>
            <a:r>
              <a:rPr lang="en-US" sz="1600" dirty="0">
                <a:solidFill>
                  <a:srgbClr val="667085"/>
                </a:solidFill>
                <a:latin typeface="IBM Plex Sans" pitchFamily="34" charset="0"/>
                <a:ea typeface="IBM Plex Sans" pitchFamily="34" charset="-122"/>
                <a:cs typeface="IBM Plex Sans" pitchFamily="34" charset="-120"/>
              </a:rPr>
              <a:t>Predict on paper first, then look down and test it.</a:t>
            </a:r>
            <a:endParaRPr lang="en-US" sz="16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Worth knowing</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The information markers dotted around the room</a:t>
            </a:r>
            <a:endParaRPr lang="en-US" sz="1500" dirty="0"/>
          </a:p>
        </p:txBody>
      </p:sp>
      <p:sp>
        <p:nvSpPr>
          <p:cNvPr id="7" name="Shape 5"/>
          <p:cNvSpPr/>
          <p:nvPr/>
        </p:nvSpPr>
        <p:spPr>
          <a:xfrm>
            <a:off x="502920" y="1828800"/>
            <a:ext cx="5394960" cy="1737360"/>
          </a:xfrm>
          <a:prstGeom prst="roundRect">
            <a:avLst>
              <a:gd name="adj" fmla="val 6316"/>
            </a:avLst>
          </a:prstGeom>
          <a:solidFill>
            <a:srgbClr val="FFFFFF"/>
          </a:solidFill>
          <a:ln w="15875">
            <a:solidFill>
              <a:srgbClr val="2D63FF"/>
            </a:solidFill>
            <a:prstDash val="solid"/>
          </a:ln>
        </p:spPr>
      </p:sp>
      <p:sp>
        <p:nvSpPr>
          <p:cNvPr id="8" name="Text 6"/>
          <p:cNvSpPr txBox="1"/>
          <p:nvPr/>
        </p:nvSpPr>
        <p:spPr>
          <a:xfrm>
            <a:off x="822960" y="201168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Where it looks</a:t>
            </a:r>
            <a:endParaRPr lang="en-US" sz="1600" dirty="0"/>
          </a:p>
        </p:txBody>
      </p:sp>
      <p:sp>
        <p:nvSpPr>
          <p:cNvPr id="9" name="Text 7"/>
          <p:cNvSpPr txBox="1"/>
          <p:nvPr/>
        </p:nvSpPr>
        <p:spPr>
          <a:xfrm>
            <a:off x="822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program looks for a file in the folder it is running in, unless you give it a fuller path.</a:t>
            </a:r>
            <a:endParaRPr lang="en-US" sz="1300" dirty="0"/>
          </a:p>
        </p:txBody>
      </p:sp>
      <p:sp>
        <p:nvSpPr>
          <p:cNvPr id="10" name="Shape 8"/>
          <p:cNvSpPr/>
          <p:nvPr/>
        </p:nvSpPr>
        <p:spPr>
          <a:xfrm>
            <a:off x="6217920" y="1828800"/>
            <a:ext cx="5394960" cy="1737360"/>
          </a:xfrm>
          <a:prstGeom prst="roundRect">
            <a:avLst>
              <a:gd name="adj" fmla="val 6316"/>
            </a:avLst>
          </a:prstGeom>
          <a:solidFill>
            <a:srgbClr val="FFFFFF"/>
          </a:solidFill>
          <a:ln w="15875">
            <a:solidFill>
              <a:srgbClr val="08A6A6"/>
            </a:solidFill>
            <a:prstDash val="solid"/>
          </a:ln>
        </p:spPr>
      </p:sp>
      <p:sp>
        <p:nvSpPr>
          <p:cNvPr id="11" name="Text 9"/>
          <p:cNvSpPr txBox="1"/>
          <p:nvPr/>
        </p:nvSpPr>
        <p:spPr>
          <a:xfrm>
            <a:off x="6537960" y="201168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One line at a time</a:t>
            </a:r>
            <a:endParaRPr lang="en-US" sz="1600" dirty="0"/>
          </a:p>
        </p:txBody>
      </p:sp>
      <p:sp>
        <p:nvSpPr>
          <p:cNvPr id="12" name="Text 10"/>
          <p:cNvSpPr txBox="1"/>
          <p:nvPr/>
        </p:nvSpPr>
        <p:spPr>
          <a:xfrm>
            <a:off x="6537960" y="239572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Looping straight over the file object reads it a line at a time, which matters when a file is too big to fit in memory.</a:t>
            </a:r>
            <a:endParaRPr lang="en-US" sz="1300" dirty="0"/>
          </a:p>
        </p:txBody>
      </p:sp>
      <p:sp>
        <p:nvSpPr>
          <p:cNvPr id="13" name="Shape 11"/>
          <p:cNvSpPr/>
          <p:nvPr/>
        </p:nvSpPr>
        <p:spPr>
          <a:xfrm>
            <a:off x="502920" y="3794760"/>
            <a:ext cx="5394960" cy="1737360"/>
          </a:xfrm>
          <a:prstGeom prst="roundRect">
            <a:avLst>
              <a:gd name="adj" fmla="val 6316"/>
            </a:avLst>
          </a:prstGeom>
          <a:solidFill>
            <a:srgbClr val="FFFFFF"/>
          </a:solidFill>
          <a:ln w="15875">
            <a:solidFill>
              <a:srgbClr val="2D63FF"/>
            </a:solidFill>
            <a:prstDash val="solid"/>
          </a:ln>
        </p:spPr>
      </p:sp>
      <p:sp>
        <p:nvSpPr>
          <p:cNvPr id="14" name="Text 12"/>
          <p:cNvSpPr txBox="1"/>
          <p:nvPr/>
        </p:nvSpPr>
        <p:spPr>
          <a:xfrm>
            <a:off x="822960" y="3977640"/>
            <a:ext cx="4754880" cy="365760"/>
          </a:xfrm>
          <a:prstGeom prst="rect">
            <a:avLst/>
          </a:prstGeom>
          <a:noFill/>
          <a:ln/>
        </p:spPr>
        <p:txBody>
          <a:bodyPr wrap="square" lIns="0" tIns="0" rIns="0" bIns="0" rtlCol="0" anchor="ctr"/>
          <a:lstStyle/>
          <a:p>
            <a:pPr indent="0" marL="0">
              <a:buNone/>
            </a:pPr>
            <a:r>
              <a:rPr lang="en-US" sz="1600" b="1" dirty="0">
                <a:solidFill>
                  <a:srgbClr val="2D63FF"/>
                </a:solidFill>
                <a:latin typeface="IBM Plex Sans" pitchFamily="34" charset="0"/>
                <a:ea typeface="IBM Plex Sans" pitchFamily="34" charset="-122"/>
                <a:cs typeface="IBM Plex Sans" pitchFamily="34" charset="-120"/>
              </a:rPr>
              <a:t>No undo</a:t>
            </a:r>
            <a:endParaRPr lang="en-US" sz="1600" dirty="0"/>
          </a:p>
        </p:txBody>
      </p:sp>
      <p:sp>
        <p:nvSpPr>
          <p:cNvPr id="15" name="Text 13"/>
          <p:cNvSpPr txBox="1"/>
          <p:nvPr/>
        </p:nvSpPr>
        <p:spPr>
          <a:xfrm>
            <a:off x="822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Write mode empties the file the instant it opens, before you have written anything at all.</a:t>
            </a:r>
            <a:endParaRPr lang="en-US" sz="1300" dirty="0"/>
          </a:p>
        </p:txBody>
      </p:sp>
      <p:sp>
        <p:nvSpPr>
          <p:cNvPr id="16" name="Shape 14"/>
          <p:cNvSpPr/>
          <p:nvPr/>
        </p:nvSpPr>
        <p:spPr>
          <a:xfrm>
            <a:off x="6217920" y="3794760"/>
            <a:ext cx="5394960" cy="1737360"/>
          </a:xfrm>
          <a:prstGeom prst="roundRect">
            <a:avLst>
              <a:gd name="adj" fmla="val 6316"/>
            </a:avLst>
          </a:prstGeom>
          <a:solidFill>
            <a:srgbClr val="FFFFFF"/>
          </a:solidFill>
          <a:ln w="15875">
            <a:solidFill>
              <a:srgbClr val="08A6A6"/>
            </a:solidFill>
            <a:prstDash val="solid"/>
          </a:ln>
        </p:spPr>
      </p:sp>
      <p:sp>
        <p:nvSpPr>
          <p:cNvPr id="17" name="Text 15"/>
          <p:cNvSpPr txBox="1"/>
          <p:nvPr/>
        </p:nvSpPr>
        <p:spPr>
          <a:xfrm>
            <a:off x="6537960" y="3977640"/>
            <a:ext cx="4754880" cy="365760"/>
          </a:xfrm>
          <a:prstGeom prst="rect">
            <a:avLst/>
          </a:prstGeom>
          <a:noFill/>
          <a:ln/>
        </p:spPr>
        <p:txBody>
          <a:bodyPr wrap="square" lIns="0" tIns="0" rIns="0" bIns="0" rtlCol="0" anchor="ctr"/>
          <a:lstStyle/>
          <a:p>
            <a:pPr indent="0" marL="0">
              <a:buNone/>
            </a:pPr>
            <a:r>
              <a:rPr lang="en-US" sz="1600" b="1" dirty="0">
                <a:solidFill>
                  <a:srgbClr val="08A6A6"/>
                </a:solidFill>
                <a:latin typeface="IBM Plex Sans" pitchFamily="34" charset="0"/>
                <a:ea typeface="IBM Plex Sans" pitchFamily="34" charset="-122"/>
                <a:cs typeface="IBM Plex Sans" pitchFamily="34" charset="-120"/>
              </a:rPr>
              <a:t>Why logs append</a:t>
            </a:r>
            <a:endParaRPr lang="en-US" sz="1600" dirty="0"/>
          </a:p>
        </p:txBody>
      </p:sp>
      <p:sp>
        <p:nvSpPr>
          <p:cNvPr id="18" name="Text 16"/>
          <p:cNvSpPr txBox="1"/>
          <p:nvPr/>
        </p:nvSpPr>
        <p:spPr>
          <a:xfrm>
            <a:off x="6537960" y="4361688"/>
            <a:ext cx="4754880" cy="1005840"/>
          </a:xfrm>
          <a:prstGeom prst="rect">
            <a:avLst/>
          </a:prstGeom>
          <a:noFill/>
          <a:ln/>
        </p:spPr>
        <p:txBody>
          <a:bodyPr wrap="square" lIns="0" tIns="0" rIns="0" bIns="0" rtlCol="0" anchor="t"/>
          <a:lstStyle/>
          <a:p>
            <a:pPr indent="0" marL="0">
              <a:lnSpc>
                <a:spcPct val="120000"/>
              </a:lnSpc>
              <a:buNone/>
            </a:pPr>
            <a:r>
              <a:rPr lang="en-US" sz="1300" dirty="0">
                <a:solidFill>
                  <a:srgbClr val="667085"/>
                </a:solidFill>
                <a:latin typeface="IBM Plex Sans" pitchFamily="34" charset="0"/>
                <a:ea typeface="IBM Plex Sans" pitchFamily="34" charset="-122"/>
                <a:cs typeface="IBM Plex Sans" pitchFamily="34" charset="-120"/>
              </a:rPr>
              <a:t>A log is evidence of what happened. Appending adds an entry without touching anything already written.</a:t>
            </a:r>
            <a:endParaRPr lang="en-US" sz="13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Exam practice</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Devices away. Answer from memory on the worksheet.</a:t>
            </a:r>
            <a:endParaRPr lang="en-US" sz="1500" dirty="0"/>
          </a:p>
        </p:txBody>
      </p:sp>
      <p:sp>
        <p:nvSpPr>
          <p:cNvPr id="7" name="Shape 5"/>
          <p:cNvSpPr/>
          <p:nvPr/>
        </p:nvSpPr>
        <p:spPr>
          <a:xfrm>
            <a:off x="502920" y="1828800"/>
            <a:ext cx="11155680" cy="1097280"/>
          </a:xfrm>
          <a:prstGeom prst="roundRect">
            <a:avLst>
              <a:gd name="adj" fmla="val 10000"/>
            </a:avLst>
          </a:prstGeom>
          <a:solidFill>
            <a:srgbClr val="FFFFFF"/>
          </a:solidFill>
          <a:ln w="15875">
            <a:solidFill>
              <a:srgbClr val="D9DEE7"/>
            </a:solidFill>
            <a:prstDash val="solid"/>
          </a:ln>
        </p:spPr>
      </p:sp>
      <p:sp>
        <p:nvSpPr>
          <p:cNvPr id="8" name="Text 6"/>
          <p:cNvSpPr txBox="1"/>
          <p:nvPr/>
        </p:nvSpPr>
        <p:spPr>
          <a:xfrm>
            <a:off x="914400" y="1938528"/>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Every line read from a file is measured with len(), and each answer comes out one character bigger than expected. Name the character being counted, and write the line that removes it.</a:t>
            </a:r>
            <a:endParaRPr lang="en-US" sz="1700" dirty="0"/>
          </a:p>
        </p:txBody>
      </p:sp>
      <p:sp>
        <p:nvSpPr>
          <p:cNvPr id="9" name="Shape 7"/>
          <p:cNvSpPr/>
          <p:nvPr/>
        </p:nvSpPr>
        <p:spPr>
          <a:xfrm>
            <a:off x="10515600" y="2130552"/>
            <a:ext cx="868680" cy="493776"/>
          </a:xfrm>
          <a:prstGeom prst="roundRect">
            <a:avLst>
              <a:gd name="adj" fmla="val 18519"/>
            </a:avLst>
          </a:prstGeom>
          <a:solidFill>
            <a:srgbClr val="EEF2FB"/>
          </a:solidFill>
          <a:ln/>
        </p:spPr>
      </p:sp>
      <p:sp>
        <p:nvSpPr>
          <p:cNvPr id="10" name="Text 8"/>
          <p:cNvSpPr txBox="1"/>
          <p:nvPr/>
        </p:nvSpPr>
        <p:spPr>
          <a:xfrm>
            <a:off x="10515600" y="2130552"/>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[2]</a:t>
            </a:r>
            <a:endParaRPr lang="en-US" sz="1500" dirty="0"/>
          </a:p>
        </p:txBody>
      </p:sp>
      <p:sp>
        <p:nvSpPr>
          <p:cNvPr id="11" name="Shape 9"/>
          <p:cNvSpPr/>
          <p:nvPr/>
        </p:nvSpPr>
        <p:spPr>
          <a:xfrm>
            <a:off x="502920" y="3127248"/>
            <a:ext cx="11155680" cy="1097280"/>
          </a:xfrm>
          <a:prstGeom prst="roundRect">
            <a:avLst>
              <a:gd name="adj" fmla="val 10000"/>
            </a:avLst>
          </a:prstGeom>
          <a:solidFill>
            <a:srgbClr val="FFFFFF"/>
          </a:solidFill>
          <a:ln w="15875">
            <a:solidFill>
              <a:srgbClr val="D9DEE7"/>
            </a:solidFill>
            <a:prstDash val="solid"/>
          </a:ln>
        </p:spPr>
      </p:sp>
      <p:sp>
        <p:nvSpPr>
          <p:cNvPr id="12" name="Text 10"/>
          <p:cNvSpPr txBox="1"/>
          <p:nvPr/>
        </p:nvSpPr>
        <p:spPr>
          <a:xfrm>
            <a:off x="914400" y="3236976"/>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Write a program that adds a new visitor's name onto the end of log.txt without losing the names already in it, and then prints the whole file.</a:t>
            </a:r>
            <a:endParaRPr lang="en-US" sz="1700" dirty="0"/>
          </a:p>
        </p:txBody>
      </p:sp>
      <p:sp>
        <p:nvSpPr>
          <p:cNvPr id="13" name="Shape 11"/>
          <p:cNvSpPr/>
          <p:nvPr/>
        </p:nvSpPr>
        <p:spPr>
          <a:xfrm>
            <a:off x="10515600" y="3429000"/>
            <a:ext cx="868680" cy="493776"/>
          </a:xfrm>
          <a:prstGeom prst="roundRect">
            <a:avLst>
              <a:gd name="adj" fmla="val 18519"/>
            </a:avLst>
          </a:prstGeom>
          <a:solidFill>
            <a:srgbClr val="EEF2FB"/>
          </a:solidFill>
          <a:ln/>
        </p:spPr>
      </p:sp>
      <p:sp>
        <p:nvSpPr>
          <p:cNvPr id="14" name="Text 12"/>
          <p:cNvSpPr txBox="1"/>
          <p:nvPr/>
        </p:nvSpPr>
        <p:spPr>
          <a:xfrm>
            <a:off x="10515600" y="3429000"/>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[4]</a:t>
            </a:r>
            <a:endParaRPr lang="en-US" sz="1500" dirty="0"/>
          </a:p>
        </p:txBody>
      </p:sp>
      <p:sp>
        <p:nvSpPr>
          <p:cNvPr id="15" name="Shape 13"/>
          <p:cNvSpPr/>
          <p:nvPr/>
        </p:nvSpPr>
        <p:spPr>
          <a:xfrm>
            <a:off x="502920" y="4425696"/>
            <a:ext cx="11155680" cy="1097280"/>
          </a:xfrm>
          <a:prstGeom prst="roundRect">
            <a:avLst>
              <a:gd name="adj" fmla="val 10000"/>
            </a:avLst>
          </a:prstGeom>
          <a:solidFill>
            <a:srgbClr val="FFFFFF"/>
          </a:solidFill>
          <a:ln w="15875">
            <a:solidFill>
              <a:srgbClr val="D9DEE7"/>
            </a:solidFill>
            <a:prstDash val="solid"/>
          </a:ln>
        </p:spPr>
      </p:sp>
      <p:sp>
        <p:nvSpPr>
          <p:cNvPr id="16" name="Text 14"/>
          <p:cNvSpPr txBox="1"/>
          <p:nvPr/>
        </p:nvSpPr>
        <p:spPr>
          <a:xfrm>
            <a:off x="914400" y="4535424"/>
            <a:ext cx="9418320" cy="877824"/>
          </a:xfrm>
          <a:prstGeom prst="rect">
            <a:avLst/>
          </a:prstGeom>
          <a:noFill/>
          <a:ln/>
        </p:spPr>
        <p:txBody>
          <a:bodyPr wrap="square" lIns="0" tIns="0" rIns="0" bIns="0" rtlCol="0" anchor="ctr"/>
          <a:lstStyle/>
          <a:p>
            <a:pPr indent="0" marL="0">
              <a:lnSpc>
                <a:spcPct val="118000"/>
              </a:lnSpc>
              <a:buNone/>
            </a:pPr>
            <a:r>
              <a:rPr lang="en-US" sz="1700" dirty="0">
                <a:solidFill>
                  <a:srgbClr val="101828"/>
                </a:solidFill>
                <a:latin typeface="IBM Plex Sans" pitchFamily="34" charset="0"/>
                <a:ea typeface="IBM Plex Sans" pitchFamily="34" charset="-122"/>
                <a:cs typeface="IBM Plex Sans" pitchFamily="34" charset="-120"/>
              </a:rPr>
              <a:t>Each line of members.txt holds a name and an age, separated by a comma. Write a program that prints the name of every member aged 16 or over.</a:t>
            </a:r>
            <a:endParaRPr lang="en-US" sz="1700" dirty="0"/>
          </a:p>
        </p:txBody>
      </p:sp>
      <p:sp>
        <p:nvSpPr>
          <p:cNvPr id="17" name="Shape 15"/>
          <p:cNvSpPr/>
          <p:nvPr/>
        </p:nvSpPr>
        <p:spPr>
          <a:xfrm>
            <a:off x="10515600" y="4727448"/>
            <a:ext cx="868680" cy="493776"/>
          </a:xfrm>
          <a:prstGeom prst="roundRect">
            <a:avLst>
              <a:gd name="adj" fmla="val 18519"/>
            </a:avLst>
          </a:prstGeom>
          <a:solidFill>
            <a:srgbClr val="EEF2FB"/>
          </a:solidFill>
          <a:ln/>
        </p:spPr>
      </p:sp>
      <p:sp>
        <p:nvSpPr>
          <p:cNvPr id="18" name="Text 16"/>
          <p:cNvSpPr txBox="1"/>
          <p:nvPr/>
        </p:nvSpPr>
        <p:spPr>
          <a:xfrm>
            <a:off x="10515600" y="4727448"/>
            <a:ext cx="868680" cy="493776"/>
          </a:xfrm>
          <a:prstGeom prst="rect">
            <a:avLst/>
          </a:prstGeom>
          <a:noFill/>
          <a:ln/>
        </p:spPr>
        <p:txBody>
          <a:bodyPr wrap="square" lIns="0" tIns="0" rIns="0" bIns="0" rtlCol="0" anchor="ctr"/>
          <a:lstStyle/>
          <a:p>
            <a:pPr algn="ctr" indent="0" marL="0">
              <a:buNone/>
            </a:pPr>
            <a:r>
              <a:rPr lang="en-US" sz="1500" b="1" dirty="0">
                <a:solidFill>
                  <a:srgbClr val="2D63FF"/>
                </a:solidFill>
                <a:latin typeface="IBM Plex Mono" pitchFamily="34" charset="0"/>
                <a:ea typeface="IBM Plex Mono" pitchFamily="34" charset="-122"/>
                <a:cs typeface="IBM Plex Mono" pitchFamily="34" charset="-120"/>
              </a:rPr>
              <a:t>[5]</a:t>
            </a:r>
            <a:endParaRPr lang="en-US" sz="15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7F4"/>
        </a:solidFill>
      </p:bgPr>
    </p:bg>
    <p:spTree>
      <p:nvGrpSpPr>
        <p:cNvPr id="1" name=""/>
        <p:cNvGrpSpPr/>
        <p:nvPr/>
      </p:nvGrpSpPr>
      <p:grpSpPr>
        <a:xfrm>
          <a:off x="0" y="0"/>
          <a:ext cx="0" cy="0"/>
          <a:chOff x="0" y="0"/>
          <a:chExt cx="0" cy="0"/>
        </a:xfrm>
      </p:grpSpPr>
      <p:sp>
        <p:nvSpPr>
          <p:cNvPr id="2" name="Shape 0"/>
          <p:cNvSpPr/>
          <p:nvPr/>
        </p:nvSpPr>
        <p:spPr>
          <a:xfrm>
            <a:off x="0" y="0"/>
            <a:ext cx="12188952" cy="82296"/>
          </a:xfrm>
          <a:prstGeom prst="rect">
            <a:avLst/>
          </a:prstGeom>
          <a:solidFill>
            <a:srgbClr val="2D63FF"/>
          </a:solidFill>
          <a:ln/>
        </p:spPr>
      </p:sp>
      <p:sp>
        <p:nvSpPr>
          <p:cNvPr id="3" name="Text 1"/>
          <p:cNvSpPr txBox="1"/>
          <p:nvPr/>
        </p:nvSpPr>
        <p:spPr>
          <a:xfrm>
            <a:off x="502920" y="6236208"/>
            <a:ext cx="7772400" cy="365760"/>
          </a:xfrm>
          <a:prstGeom prst="rect">
            <a:avLst/>
          </a:prstGeom>
          <a:noFill/>
          <a:ln/>
        </p:spPr>
        <p:txBody>
          <a:bodyPr wrap="square" lIns="0" tIns="0" rIns="0" bIns="0" rtlCol="0" anchor="ctr"/>
          <a:lstStyle/>
          <a:p>
            <a:pPr indent="0" marL="0">
              <a:buNone/>
            </a:pPr>
            <a:r>
              <a:rPr lang="en-US" sz="1100" dirty="0">
                <a:solidFill>
                  <a:srgbClr val="667085"/>
                </a:solidFill>
                <a:latin typeface="IBM Plex Mono" pitchFamily="34" charset="0"/>
                <a:ea typeface="IBM Plex Mono" pitchFamily="34" charset="-122"/>
                <a:cs typeface="IBM Plex Mono" pitchFamily="34" charset="-120"/>
              </a:rPr>
              <a:t>Python programming  |  Lesson 10</a:t>
            </a:r>
            <a:endParaRPr lang="en-US" sz="1100" dirty="0"/>
          </a:p>
        </p:txBody>
      </p:sp>
      <p:sp>
        <p:nvSpPr>
          <p:cNvPr id="4" name="Text 2"/>
          <p:cNvSpPr txBox="1"/>
          <p:nvPr/>
        </p:nvSpPr>
        <p:spPr>
          <a:xfrm>
            <a:off x="9326880" y="6236208"/>
            <a:ext cx="2377440" cy="365760"/>
          </a:xfrm>
          <a:prstGeom prst="rect">
            <a:avLst/>
          </a:prstGeom>
          <a:noFill/>
          <a:ln/>
        </p:spPr>
        <p:txBody>
          <a:bodyPr wrap="square" lIns="0" tIns="0" rIns="0" bIns="0" rtlCol="0" anchor="ctr"/>
          <a:lstStyle/>
          <a:p>
            <a:pPr algn="r" indent="0" marL="0">
              <a:buNone/>
            </a:pPr>
            <a:r>
              <a:rPr lang="en-US" sz="1100" dirty="0">
                <a:solidFill>
                  <a:srgbClr val="667085"/>
                </a:solidFill>
                <a:latin typeface="IBM Plex Mono" pitchFamily="34" charset="0"/>
                <a:ea typeface="IBM Plex Mono" pitchFamily="34" charset="-122"/>
                <a:cs typeface="IBM Plex Mono" pitchFamily="34" charset="-120"/>
              </a:rPr>
              <a:t>Revise 360</a:t>
            </a:r>
            <a:endParaRPr lang="en-US" sz="1100" dirty="0"/>
          </a:p>
        </p:txBody>
      </p:sp>
      <p:sp>
        <p:nvSpPr>
          <p:cNvPr id="5" name="Text 3"/>
          <p:cNvSpPr txBox="1"/>
          <p:nvPr/>
        </p:nvSpPr>
        <p:spPr>
          <a:xfrm>
            <a:off x="502920" y="411480"/>
            <a:ext cx="11155680" cy="777240"/>
          </a:xfrm>
          <a:prstGeom prst="rect">
            <a:avLst/>
          </a:prstGeom>
          <a:noFill/>
          <a:ln/>
        </p:spPr>
        <p:txBody>
          <a:bodyPr wrap="square" lIns="0" tIns="0" rIns="0" bIns="0" rtlCol="0" anchor="ctr"/>
          <a:lstStyle/>
          <a:p>
            <a:pPr indent="0" marL="0">
              <a:buNone/>
            </a:pPr>
            <a:r>
              <a:rPr lang="en-US" sz="3200" b="1" dirty="0">
                <a:solidFill>
                  <a:srgbClr val="101828"/>
                </a:solidFill>
                <a:latin typeface="IBM Plex Sans" pitchFamily="34" charset="0"/>
                <a:ea typeface="IBM Plex Sans" pitchFamily="34" charset="-122"/>
                <a:cs typeface="IBM Plex Sans" pitchFamily="34" charset="-120"/>
              </a:rPr>
              <a:t>Before you go</a:t>
            </a:r>
            <a:endParaRPr lang="en-US" sz="3200" dirty="0"/>
          </a:p>
        </p:txBody>
      </p:sp>
      <p:sp>
        <p:nvSpPr>
          <p:cNvPr id="6" name="Text 4"/>
          <p:cNvSpPr txBox="1"/>
          <p:nvPr/>
        </p:nvSpPr>
        <p:spPr>
          <a:xfrm>
            <a:off x="502920" y="1170432"/>
            <a:ext cx="11155680" cy="41148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Rate yourself on each of these</a:t>
            </a:r>
            <a:endParaRPr lang="en-US" sz="1500" dirty="0"/>
          </a:p>
        </p:txBody>
      </p:sp>
      <p:sp>
        <p:nvSpPr>
          <p:cNvPr id="7" name="Shape 5"/>
          <p:cNvSpPr/>
          <p:nvPr/>
        </p:nvSpPr>
        <p:spPr>
          <a:xfrm>
            <a:off x="502920" y="1920240"/>
            <a:ext cx="7863840" cy="777240"/>
          </a:xfrm>
          <a:prstGeom prst="roundRect">
            <a:avLst>
              <a:gd name="adj" fmla="val 14118"/>
            </a:avLst>
          </a:prstGeom>
          <a:solidFill>
            <a:srgbClr val="FFFFFF"/>
          </a:solidFill>
          <a:ln w="15875">
            <a:solidFill>
              <a:srgbClr val="D9DEE7"/>
            </a:solidFill>
            <a:prstDash val="solid"/>
          </a:ln>
        </p:spPr>
      </p:sp>
      <p:sp>
        <p:nvSpPr>
          <p:cNvPr id="8" name="Text 6"/>
          <p:cNvSpPr txBox="1"/>
          <p:nvPr/>
        </p:nvSpPr>
        <p:spPr>
          <a:xfrm>
            <a:off x="914400" y="192024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Opening, reading and closing a file</a:t>
            </a:r>
            <a:endParaRPr lang="en-US" sz="1800" dirty="0"/>
          </a:p>
        </p:txBody>
      </p:sp>
      <p:sp>
        <p:nvSpPr>
          <p:cNvPr id="9" name="Shape 7"/>
          <p:cNvSpPr/>
          <p:nvPr/>
        </p:nvSpPr>
        <p:spPr>
          <a:xfrm>
            <a:off x="8595360" y="2066544"/>
            <a:ext cx="987552" cy="484632"/>
          </a:xfrm>
          <a:prstGeom prst="roundRect">
            <a:avLst>
              <a:gd name="adj" fmla="val 18868"/>
            </a:avLst>
          </a:prstGeom>
          <a:solidFill>
            <a:srgbClr val="FFFFFF"/>
          </a:solidFill>
          <a:ln w="15875">
            <a:solidFill>
              <a:srgbClr val="08A6A6"/>
            </a:solidFill>
            <a:prstDash val="solid"/>
          </a:ln>
        </p:spPr>
      </p:sp>
      <p:sp>
        <p:nvSpPr>
          <p:cNvPr id="10" name="Text 8"/>
          <p:cNvSpPr txBox="1"/>
          <p:nvPr/>
        </p:nvSpPr>
        <p:spPr>
          <a:xfrm>
            <a:off x="8595360" y="206654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1" name="Shape 9"/>
          <p:cNvSpPr/>
          <p:nvPr/>
        </p:nvSpPr>
        <p:spPr>
          <a:xfrm>
            <a:off x="9674352" y="2066544"/>
            <a:ext cx="987552" cy="484632"/>
          </a:xfrm>
          <a:prstGeom prst="roundRect">
            <a:avLst>
              <a:gd name="adj" fmla="val 18868"/>
            </a:avLst>
          </a:prstGeom>
          <a:solidFill>
            <a:srgbClr val="FFFFFF"/>
          </a:solidFill>
          <a:ln w="15875">
            <a:solidFill>
              <a:srgbClr val="F4B942"/>
            </a:solidFill>
            <a:prstDash val="solid"/>
          </a:ln>
        </p:spPr>
      </p:sp>
      <p:sp>
        <p:nvSpPr>
          <p:cNvPr id="12" name="Text 10"/>
          <p:cNvSpPr txBox="1"/>
          <p:nvPr/>
        </p:nvSpPr>
        <p:spPr>
          <a:xfrm>
            <a:off x="9674352" y="206654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13" name="Shape 11"/>
          <p:cNvSpPr/>
          <p:nvPr/>
        </p:nvSpPr>
        <p:spPr>
          <a:xfrm>
            <a:off x="10753344" y="2066544"/>
            <a:ext cx="987552" cy="484632"/>
          </a:xfrm>
          <a:prstGeom prst="roundRect">
            <a:avLst>
              <a:gd name="adj" fmla="val 18868"/>
            </a:avLst>
          </a:prstGeom>
          <a:solidFill>
            <a:srgbClr val="FFFFFF"/>
          </a:solidFill>
          <a:ln w="15875">
            <a:solidFill>
              <a:srgbClr val="E2574C"/>
            </a:solidFill>
            <a:prstDash val="solid"/>
          </a:ln>
        </p:spPr>
      </p:sp>
      <p:sp>
        <p:nvSpPr>
          <p:cNvPr id="14" name="Text 12"/>
          <p:cNvSpPr txBox="1"/>
          <p:nvPr/>
        </p:nvSpPr>
        <p:spPr>
          <a:xfrm>
            <a:off x="10753344" y="206654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15" name="Shape 13"/>
          <p:cNvSpPr/>
          <p:nvPr/>
        </p:nvSpPr>
        <p:spPr>
          <a:xfrm>
            <a:off x="502920" y="2880360"/>
            <a:ext cx="7863840" cy="777240"/>
          </a:xfrm>
          <a:prstGeom prst="roundRect">
            <a:avLst>
              <a:gd name="adj" fmla="val 14118"/>
            </a:avLst>
          </a:prstGeom>
          <a:solidFill>
            <a:srgbClr val="FFFFFF"/>
          </a:solidFill>
          <a:ln w="15875">
            <a:solidFill>
              <a:srgbClr val="D9DEE7"/>
            </a:solidFill>
            <a:prstDash val="solid"/>
          </a:ln>
        </p:spPr>
      </p:sp>
      <p:sp>
        <p:nvSpPr>
          <p:cNvPr id="16" name="Text 14"/>
          <p:cNvSpPr txBox="1"/>
          <p:nvPr/>
        </p:nvSpPr>
        <p:spPr>
          <a:xfrm>
            <a:off x="914400" y="288036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Choosing between write mode and append mode</a:t>
            </a:r>
            <a:endParaRPr lang="en-US" sz="1800" dirty="0"/>
          </a:p>
        </p:txBody>
      </p:sp>
      <p:sp>
        <p:nvSpPr>
          <p:cNvPr id="17" name="Shape 15"/>
          <p:cNvSpPr/>
          <p:nvPr/>
        </p:nvSpPr>
        <p:spPr>
          <a:xfrm>
            <a:off x="8595360" y="3026664"/>
            <a:ext cx="987552" cy="484632"/>
          </a:xfrm>
          <a:prstGeom prst="roundRect">
            <a:avLst>
              <a:gd name="adj" fmla="val 18868"/>
            </a:avLst>
          </a:prstGeom>
          <a:solidFill>
            <a:srgbClr val="FFFFFF"/>
          </a:solidFill>
          <a:ln w="15875">
            <a:solidFill>
              <a:srgbClr val="08A6A6"/>
            </a:solidFill>
            <a:prstDash val="solid"/>
          </a:ln>
        </p:spPr>
      </p:sp>
      <p:sp>
        <p:nvSpPr>
          <p:cNvPr id="18" name="Text 16"/>
          <p:cNvSpPr txBox="1"/>
          <p:nvPr/>
        </p:nvSpPr>
        <p:spPr>
          <a:xfrm>
            <a:off x="8595360" y="302666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19" name="Shape 17"/>
          <p:cNvSpPr/>
          <p:nvPr/>
        </p:nvSpPr>
        <p:spPr>
          <a:xfrm>
            <a:off x="9674352" y="3026664"/>
            <a:ext cx="987552" cy="484632"/>
          </a:xfrm>
          <a:prstGeom prst="roundRect">
            <a:avLst>
              <a:gd name="adj" fmla="val 18868"/>
            </a:avLst>
          </a:prstGeom>
          <a:solidFill>
            <a:srgbClr val="FFFFFF"/>
          </a:solidFill>
          <a:ln w="15875">
            <a:solidFill>
              <a:srgbClr val="F4B942"/>
            </a:solidFill>
            <a:prstDash val="solid"/>
          </a:ln>
        </p:spPr>
      </p:sp>
      <p:sp>
        <p:nvSpPr>
          <p:cNvPr id="20" name="Text 18"/>
          <p:cNvSpPr txBox="1"/>
          <p:nvPr/>
        </p:nvSpPr>
        <p:spPr>
          <a:xfrm>
            <a:off x="9674352" y="302666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1" name="Shape 19"/>
          <p:cNvSpPr/>
          <p:nvPr/>
        </p:nvSpPr>
        <p:spPr>
          <a:xfrm>
            <a:off x="10753344" y="3026664"/>
            <a:ext cx="987552" cy="484632"/>
          </a:xfrm>
          <a:prstGeom prst="roundRect">
            <a:avLst>
              <a:gd name="adj" fmla="val 18868"/>
            </a:avLst>
          </a:prstGeom>
          <a:solidFill>
            <a:srgbClr val="FFFFFF"/>
          </a:solidFill>
          <a:ln w="15875">
            <a:solidFill>
              <a:srgbClr val="E2574C"/>
            </a:solidFill>
            <a:prstDash val="solid"/>
          </a:ln>
        </p:spPr>
      </p:sp>
      <p:sp>
        <p:nvSpPr>
          <p:cNvPr id="22" name="Text 20"/>
          <p:cNvSpPr txBox="1"/>
          <p:nvPr/>
        </p:nvSpPr>
        <p:spPr>
          <a:xfrm>
            <a:off x="10753344" y="302666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23" name="Shape 21"/>
          <p:cNvSpPr/>
          <p:nvPr/>
        </p:nvSpPr>
        <p:spPr>
          <a:xfrm>
            <a:off x="502920" y="3840480"/>
            <a:ext cx="7863840" cy="777240"/>
          </a:xfrm>
          <a:prstGeom prst="roundRect">
            <a:avLst>
              <a:gd name="adj" fmla="val 14118"/>
            </a:avLst>
          </a:prstGeom>
          <a:solidFill>
            <a:srgbClr val="FFFFFF"/>
          </a:solidFill>
          <a:ln w="15875">
            <a:solidFill>
              <a:srgbClr val="D9DEE7"/>
            </a:solidFill>
            <a:prstDash val="solid"/>
          </a:ln>
        </p:spPr>
      </p:sp>
      <p:sp>
        <p:nvSpPr>
          <p:cNvPr id="24" name="Text 22"/>
          <p:cNvSpPr txBox="1"/>
          <p:nvPr/>
        </p:nvSpPr>
        <p:spPr>
          <a:xfrm>
            <a:off x="914400" y="3840480"/>
            <a:ext cx="7132320" cy="777240"/>
          </a:xfrm>
          <a:prstGeom prst="rect">
            <a:avLst/>
          </a:prstGeom>
          <a:noFill/>
          <a:ln/>
        </p:spPr>
        <p:txBody>
          <a:bodyPr wrap="square" lIns="0" tIns="0" rIns="0" bIns="0" rtlCol="0" anchor="ctr"/>
          <a:lstStyle/>
          <a:p>
            <a:pPr indent="0" marL="0">
              <a:buNone/>
            </a:pPr>
            <a:r>
              <a:rPr lang="en-US" sz="1800" dirty="0">
                <a:solidFill>
                  <a:srgbClr val="101828"/>
                </a:solidFill>
                <a:latin typeface="IBM Plex Sans" pitchFamily="34" charset="0"/>
                <a:ea typeface="IBM Plex Sans" pitchFamily="34" charset="-122"/>
                <a:cs typeface="IBM Plex Sans" pitchFamily="34" charset="-120"/>
              </a:rPr>
              <a:t>Splitting a record into its fields</a:t>
            </a:r>
            <a:endParaRPr lang="en-US" sz="1800" dirty="0"/>
          </a:p>
        </p:txBody>
      </p:sp>
      <p:sp>
        <p:nvSpPr>
          <p:cNvPr id="25" name="Shape 23"/>
          <p:cNvSpPr/>
          <p:nvPr/>
        </p:nvSpPr>
        <p:spPr>
          <a:xfrm>
            <a:off x="8595360" y="3986784"/>
            <a:ext cx="987552" cy="484632"/>
          </a:xfrm>
          <a:prstGeom prst="roundRect">
            <a:avLst>
              <a:gd name="adj" fmla="val 18868"/>
            </a:avLst>
          </a:prstGeom>
          <a:solidFill>
            <a:srgbClr val="FFFFFF"/>
          </a:solidFill>
          <a:ln w="15875">
            <a:solidFill>
              <a:srgbClr val="08A6A6"/>
            </a:solidFill>
            <a:prstDash val="solid"/>
          </a:ln>
        </p:spPr>
      </p:sp>
      <p:sp>
        <p:nvSpPr>
          <p:cNvPr id="26" name="Text 24"/>
          <p:cNvSpPr txBox="1"/>
          <p:nvPr/>
        </p:nvSpPr>
        <p:spPr>
          <a:xfrm>
            <a:off x="8595360" y="3986784"/>
            <a:ext cx="987552" cy="484632"/>
          </a:xfrm>
          <a:prstGeom prst="rect">
            <a:avLst/>
          </a:prstGeom>
          <a:noFill/>
          <a:ln/>
        </p:spPr>
        <p:txBody>
          <a:bodyPr wrap="square" lIns="0" tIns="0" rIns="0" bIns="0" rtlCol="0" anchor="ctr"/>
          <a:lstStyle/>
          <a:p>
            <a:pPr algn="ctr" indent="0" marL="0">
              <a:buNone/>
            </a:pPr>
            <a:r>
              <a:rPr lang="en-US" sz="1000" dirty="0">
                <a:solidFill>
                  <a:srgbClr val="08A6A6"/>
                </a:solidFill>
                <a:latin typeface="IBM Plex Sans" pitchFamily="34" charset="0"/>
                <a:ea typeface="IBM Plex Sans" pitchFamily="34" charset="-122"/>
                <a:cs typeface="IBM Plex Sans" pitchFamily="34" charset="-120"/>
              </a:rPr>
              <a:t>Secure</a:t>
            </a:r>
            <a:endParaRPr lang="en-US" sz="1000" dirty="0"/>
          </a:p>
        </p:txBody>
      </p:sp>
      <p:sp>
        <p:nvSpPr>
          <p:cNvPr id="27" name="Shape 25"/>
          <p:cNvSpPr/>
          <p:nvPr/>
        </p:nvSpPr>
        <p:spPr>
          <a:xfrm>
            <a:off x="9674352" y="3986784"/>
            <a:ext cx="987552" cy="484632"/>
          </a:xfrm>
          <a:prstGeom prst="roundRect">
            <a:avLst>
              <a:gd name="adj" fmla="val 18868"/>
            </a:avLst>
          </a:prstGeom>
          <a:solidFill>
            <a:srgbClr val="FFFFFF"/>
          </a:solidFill>
          <a:ln w="15875">
            <a:solidFill>
              <a:srgbClr val="F4B942"/>
            </a:solidFill>
            <a:prstDash val="solid"/>
          </a:ln>
        </p:spPr>
      </p:sp>
      <p:sp>
        <p:nvSpPr>
          <p:cNvPr id="28" name="Text 26"/>
          <p:cNvSpPr txBox="1"/>
          <p:nvPr/>
        </p:nvSpPr>
        <p:spPr>
          <a:xfrm>
            <a:off x="9674352" y="3986784"/>
            <a:ext cx="987552" cy="484632"/>
          </a:xfrm>
          <a:prstGeom prst="rect">
            <a:avLst/>
          </a:prstGeom>
          <a:noFill/>
          <a:ln/>
        </p:spPr>
        <p:txBody>
          <a:bodyPr wrap="square" lIns="0" tIns="0" rIns="0" bIns="0" rtlCol="0" anchor="ctr"/>
          <a:lstStyle/>
          <a:p>
            <a:pPr algn="ctr" indent="0" marL="0">
              <a:buNone/>
            </a:pPr>
            <a:r>
              <a:rPr lang="en-US" sz="1000" dirty="0">
                <a:solidFill>
                  <a:srgbClr val="F4B942"/>
                </a:solidFill>
                <a:latin typeface="IBM Plex Sans" pitchFamily="34" charset="0"/>
                <a:ea typeface="IBM Plex Sans" pitchFamily="34" charset="-122"/>
                <a:cs typeface="IBM Plex Sans" pitchFamily="34" charset="-120"/>
              </a:rPr>
              <a:t>Revise</a:t>
            </a:r>
            <a:endParaRPr lang="en-US" sz="1000" dirty="0"/>
          </a:p>
        </p:txBody>
      </p:sp>
      <p:sp>
        <p:nvSpPr>
          <p:cNvPr id="29" name="Shape 27"/>
          <p:cNvSpPr/>
          <p:nvPr/>
        </p:nvSpPr>
        <p:spPr>
          <a:xfrm>
            <a:off x="10753344" y="3986784"/>
            <a:ext cx="987552" cy="484632"/>
          </a:xfrm>
          <a:prstGeom prst="roundRect">
            <a:avLst>
              <a:gd name="adj" fmla="val 18868"/>
            </a:avLst>
          </a:prstGeom>
          <a:solidFill>
            <a:srgbClr val="FFFFFF"/>
          </a:solidFill>
          <a:ln w="15875">
            <a:solidFill>
              <a:srgbClr val="E2574C"/>
            </a:solidFill>
            <a:prstDash val="solid"/>
          </a:ln>
        </p:spPr>
      </p:sp>
      <p:sp>
        <p:nvSpPr>
          <p:cNvPr id="30" name="Text 28"/>
          <p:cNvSpPr txBox="1"/>
          <p:nvPr/>
        </p:nvSpPr>
        <p:spPr>
          <a:xfrm>
            <a:off x="10753344" y="3986784"/>
            <a:ext cx="987552" cy="484632"/>
          </a:xfrm>
          <a:prstGeom prst="rect">
            <a:avLst/>
          </a:prstGeom>
          <a:noFill/>
          <a:ln/>
        </p:spPr>
        <p:txBody>
          <a:bodyPr wrap="square" lIns="0" tIns="0" rIns="0" bIns="0" rtlCol="0" anchor="ctr"/>
          <a:lstStyle/>
          <a:p>
            <a:pPr algn="ctr" indent="0" marL="0">
              <a:buNone/>
            </a:pPr>
            <a:r>
              <a:rPr lang="en-US" sz="1000" dirty="0">
                <a:solidFill>
                  <a:srgbClr val="E2574C"/>
                </a:solidFill>
                <a:latin typeface="IBM Plex Sans" pitchFamily="34" charset="0"/>
                <a:ea typeface="IBM Plex Sans" pitchFamily="34" charset="-122"/>
                <a:cs typeface="IBM Plex Sans" pitchFamily="34" charset="-120"/>
              </a:rPr>
              <a:t>Focus here</a:t>
            </a:r>
            <a:endParaRPr lang="en-US" sz="1000" dirty="0"/>
          </a:p>
        </p:txBody>
      </p:sp>
      <p:sp>
        <p:nvSpPr>
          <p:cNvPr id="31" name="Text 29"/>
          <p:cNvSpPr txBox="1"/>
          <p:nvPr/>
        </p:nvSpPr>
        <p:spPr>
          <a:xfrm>
            <a:off x="502920" y="5074920"/>
            <a:ext cx="11155680" cy="548640"/>
          </a:xfrm>
          <a:prstGeom prst="rect">
            <a:avLst/>
          </a:prstGeom>
          <a:noFill/>
          <a:ln/>
        </p:spPr>
        <p:txBody>
          <a:bodyPr wrap="square" lIns="0" tIns="0" rIns="0" bIns="0" rtlCol="0" anchor="ctr"/>
          <a:lstStyle/>
          <a:p>
            <a:pPr indent="0" marL="0">
              <a:buNone/>
            </a:pPr>
            <a:r>
              <a:rPr lang="en-US" sz="1500" dirty="0">
                <a:solidFill>
                  <a:srgbClr val="667085"/>
                </a:solidFill>
                <a:latin typeface="IBM Plex Sans" pitchFamily="34" charset="0"/>
                <a:ea typeface="IBM Plex Sans" pitchFamily="34" charset="-122"/>
                <a:cs typeface="IBM Plex Sans" pitchFamily="34" charset="-120"/>
              </a:rPr>
              <a:t>Anything marked Focus here: reopen Records office and use review mode on the questions you got wrong.</a:t>
            </a:r>
            <a:endParaRPr lang="en-US" sz="15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14</Slides>
  <Notes>14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14</vt:i4>
      </vt:variant>
    </vt:vector>
  </HeadingPairs>
  <TitlesOfParts>
    <vt:vector size="1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vector>
  </TitlesOfParts>
  <Company>Revise 360 Ltd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Python programming  |  Lesson 10 — Records office</dc:title>
  <dc:subject>OCR J277 GCSE Computer Science</dc:subject>
  <dc:creator>Revise 360 Ltd</dc:creator>
  <cp:lastModifiedBy>Revise 360 Ltd</cp:lastModifiedBy>
  <cp:revision>1</cp:revision>
  <dcterms:created xsi:type="dcterms:W3CDTF">2026-10-01T23:56:57Z</dcterms:created>
  <dcterms:modified xsi:type="dcterms:W3CDTF">2026-10-01T23:56:57Z</dcterms:modified>
</cp:coreProperties>
</file>