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610db22a0246d6" /><Relationship Type="http://schemas.openxmlformats.org/officeDocument/2006/relationships/extended-properties" Target="/docProps/app.xml" Id="R8edeccae0090470b" /><Relationship Type="http://schemas.openxmlformats.org/officeDocument/2006/relationships/officeDocument" Target="/ppt/presentation.xml" Id="R8e8b9c35637646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55e21a6a4e41c8"/>
  </p:sldMasterIdLst>
  <p:notesMasterIdLst>
    <p:notesMasterId xmlns:r="http://schemas.openxmlformats.org/officeDocument/2006/relationships" r:id="R7d5158a73baf42ff"/>
  </p:notesMasterIdLst>
  <p:sldIdLst>
    <p:sldId xmlns:r="http://schemas.openxmlformats.org/officeDocument/2006/relationships" id="256" r:id="Rc51fafdd218a416c"/>
    <p:sldId xmlns:r="http://schemas.openxmlformats.org/officeDocument/2006/relationships" id="257" r:id="Rcbca1ef25aa24f7b"/>
    <p:sldId xmlns:r="http://schemas.openxmlformats.org/officeDocument/2006/relationships" id="258" r:id="R163d2970c5104386"/>
    <p:sldId xmlns:r="http://schemas.openxmlformats.org/officeDocument/2006/relationships" id="259" r:id="Rcd4e3ee0a15a4867"/>
    <p:sldId xmlns:r="http://schemas.openxmlformats.org/officeDocument/2006/relationships" id="260" r:id="Rf2749d9f3b8c47cd"/>
    <p:sldId xmlns:r="http://schemas.openxmlformats.org/officeDocument/2006/relationships" id="261" r:id="R4c25bfad8bc041e8"/>
    <p:sldId xmlns:r="http://schemas.openxmlformats.org/officeDocument/2006/relationships" id="262" r:id="Rb5b1fa465e3e468d"/>
    <p:sldId xmlns:r="http://schemas.openxmlformats.org/officeDocument/2006/relationships" id="263" r:id="R254104ff266d4b17"/>
    <p:sldId xmlns:r="http://schemas.openxmlformats.org/officeDocument/2006/relationships" id="264" r:id="Rab93f3464fc04911"/>
    <p:sldId xmlns:r="http://schemas.openxmlformats.org/officeDocument/2006/relationships" id="265" r:id="R16c8bccf2a0c49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dc59fb60584405" /><Relationship Type="http://schemas.openxmlformats.org/officeDocument/2006/relationships/slideMaster" Target="/ppt/slideMasters/slideMaster1.xml" Id="R9355e21a6a4e41c8" /><Relationship Type="http://schemas.openxmlformats.org/officeDocument/2006/relationships/notesMaster" Target="/ppt/notesMasters/notesMaster1.xml" Id="R7d5158a73baf42ff" /><Relationship Type="http://schemas.openxmlformats.org/officeDocument/2006/relationships/presProps" Target="/ppt/presProps.xml" Id="Rab687ce30a7b4e6c" /><Relationship Type="http://schemas.openxmlformats.org/officeDocument/2006/relationships/tableStyles" Target="/ppt/tableStyles.xml" Id="R33fcdab7f1114904" /><Relationship Type="http://schemas.openxmlformats.org/officeDocument/2006/relationships/slide" Target="/ppt/slides/slide1.xml" Id="Rc51fafdd218a416c" /><Relationship Type="http://schemas.openxmlformats.org/officeDocument/2006/relationships/slide" Target="/ppt/slides/slide2.xml" Id="Rcbca1ef25aa24f7b" /><Relationship Type="http://schemas.openxmlformats.org/officeDocument/2006/relationships/slide" Target="/ppt/slides/slide3.xml" Id="R163d2970c5104386" /><Relationship Type="http://schemas.openxmlformats.org/officeDocument/2006/relationships/slide" Target="/ppt/slides/slide4.xml" Id="Rcd4e3ee0a15a4867" /><Relationship Type="http://schemas.openxmlformats.org/officeDocument/2006/relationships/slide" Target="/ppt/slides/slide5.xml" Id="Rf2749d9f3b8c47cd" /><Relationship Type="http://schemas.openxmlformats.org/officeDocument/2006/relationships/slide" Target="/ppt/slides/slide6.xml" Id="R4c25bfad8bc041e8" /><Relationship Type="http://schemas.openxmlformats.org/officeDocument/2006/relationships/slide" Target="/ppt/slides/slide7.xml" Id="Rb5b1fa465e3e468d" /><Relationship Type="http://schemas.openxmlformats.org/officeDocument/2006/relationships/slide" Target="/ppt/slides/slide8.xml" Id="R254104ff266d4b17" /><Relationship Type="http://schemas.openxmlformats.org/officeDocument/2006/relationships/slide" Target="/ppt/slides/slide9.xml" Id="Rab93f3464fc04911" /><Relationship Type="http://schemas.openxmlformats.org/officeDocument/2006/relationships/slide" Target="/ppt/slides/slide10.xml" Id="R16c8bccf2a0c49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011e4a98b04a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4a342202a84f55" /><Relationship Type="http://schemas.openxmlformats.org/officeDocument/2006/relationships/notesMaster" Target="/ppt/notesMasters/notesMaster1.xml" Id="Re880773cf01342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445f96d7a0491a" /><Relationship Type="http://schemas.openxmlformats.org/officeDocument/2006/relationships/notesMaster" Target="/ppt/notesMasters/notesMaster1.xml" Id="Rbf4b867d084b45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49d8d270394594" /><Relationship Type="http://schemas.openxmlformats.org/officeDocument/2006/relationships/notesMaster" Target="/ppt/notesMasters/notesMaster1.xml" Id="R60c18746793348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89761f951c407a" /><Relationship Type="http://schemas.openxmlformats.org/officeDocument/2006/relationships/notesMaster" Target="/ppt/notesMasters/notesMaster1.xml" Id="R97133a5bacdb45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e32fca93a64458" /><Relationship Type="http://schemas.openxmlformats.org/officeDocument/2006/relationships/notesMaster" Target="/ppt/notesMasters/notesMaster1.xml" Id="R141ea87299fd4b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4121efecc64772" /><Relationship Type="http://schemas.openxmlformats.org/officeDocument/2006/relationships/notesMaster" Target="/ppt/notesMasters/notesMaster1.xml" Id="R9f9ee7ac9f8a4d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d228e2160b451c" /><Relationship Type="http://schemas.openxmlformats.org/officeDocument/2006/relationships/notesMaster" Target="/ppt/notesMasters/notesMaster1.xml" Id="R4e9b8e826e8c4e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f067868b7b43c2" /><Relationship Type="http://schemas.openxmlformats.org/officeDocument/2006/relationships/notesMaster" Target="/ppt/notesMasters/notesMaster1.xml" Id="Rac2fcff8dcb743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a38e32af6f40fa" /><Relationship Type="http://schemas.openxmlformats.org/officeDocument/2006/relationships/notesMaster" Target="/ppt/notesMasters/notesMaster1.xml" Id="R40ac620fd82d49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ea748f10e8464c" /><Relationship Type="http://schemas.openxmlformats.org/officeDocument/2006/relationships/notesMaster" Target="/ppt/notesMasters/notesMaster1.xml" Id="Ra04e131ff21148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lesson. Open the matching worksheet and experience from Topic 1.1. Use the deck in order, revealing starter answers only after pupils have attempted the quiz.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about five minutes. Students can write the four terms in their books or on the worksheet. Ask them to justify one answer before showing the next slide.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 close equivalents where the technical meaning is intact. The starter prompt printed in the worksheet can serve as a short discussion before the experience.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Directions in every experience: turn right for stations 1 and 2, around for 3 and 4, left for 5 and 6, and down for the star. Students should record notes before attempting each badge.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extension. Invite a worked explanation, not a one-word answer. Students can discuss in pairs after writing first.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for students who finish the experience before the class plenary. If time is short, move the whole class to the quiz.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first two exam-practice questions from the lesson worksheet. Give writing time and avoid displaying answers until all students have attempted them.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question c from the worksheet. Let students complete it independently, then reveal the indicative answer points.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classroom answer points, not an official OCR mark scheme. Ask students to annotate one improvement in a different colour.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implying clock frequency alone determines real-world performance, or that twice the cores always doubles speed. For c, look for an explanation of each factor in this video-editing context. Ask students to revise one sentence after self-check.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2dc0db146d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2b91c32d784f17" /><Relationship Type="http://schemas.openxmlformats.org/officeDocument/2006/relationships/slideLayout" Target="/ppt/slideLayouts/slideLayout1.xml" Id="R415a55864d584a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5a55864d584a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d773f16d44157" /><Relationship Type="http://schemas.openxmlformats.org/officeDocument/2006/relationships/image" Target="/ppt/media/image.jpeg" Id="R60ce782342524ef3" /><Relationship Type="http://schemas.openxmlformats.org/officeDocument/2006/relationships/notesSlide" Target="/ppt/notesSlides/notesSlide1.xml" Id="Rb764b78fb27b42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5375e00d64b31" /><Relationship Type="http://schemas.openxmlformats.org/officeDocument/2006/relationships/notesSlide" Target="/ppt/notesSlides/notesSlide2.xml" Id="R764c5fe3c0534f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dc08321684d71" /><Relationship Type="http://schemas.openxmlformats.org/officeDocument/2006/relationships/notesSlide" Target="/ppt/notesSlides/notesSlide3.xml" Id="R883aa2f803c143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3a9fec36147c7" /><Relationship Type="http://schemas.openxmlformats.org/officeDocument/2006/relationships/hyperlink" Target="https://mrp-cs.github.io/Revise360/experience.html?id=sa-l03" TargetMode="External" Id="Rd3e4e91cc75049d8" /><Relationship Type="http://schemas.openxmlformats.org/officeDocument/2006/relationships/notesSlide" Target="/ppt/notesSlides/notesSlide4.xml" Id="R6feb9b151fa44f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d303cc63e417c" /><Relationship Type="http://schemas.openxmlformats.org/officeDocument/2006/relationships/notesSlide" Target="/ppt/notesSlides/notesSlide5.xml" Id="R9da11f56807e48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d78d1f7944d9f" /><Relationship Type="http://schemas.openxmlformats.org/officeDocument/2006/relationships/notesSlide" Target="/ppt/notesSlides/notesSlide6.xml" Id="R9515b72f41e14d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b6bcd66e54b9e" /><Relationship Type="http://schemas.openxmlformats.org/officeDocument/2006/relationships/notesSlide" Target="/ppt/notesSlides/notesSlide7.xml" Id="Rd4a72cd3d94843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338739c1d438e" /><Relationship Type="http://schemas.openxmlformats.org/officeDocument/2006/relationships/notesSlide" Target="/ppt/notesSlides/notesSlide8.xml" Id="R3ba1fe9eabd241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51e45a4044977" /><Relationship Type="http://schemas.openxmlformats.org/officeDocument/2006/relationships/notesSlide" Target="/ppt/notesSlides/notesSlide9.xml" Id="Rd39a5501c0d04b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e17accd4a46a7" /><Relationship Type="http://schemas.openxmlformats.org/officeDocument/2006/relationships/notesSlide" Target="/ppt/notesSlides/notesSlide10.xml" Id="R7e763b329ce246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63B3F60A-EA68-4806-A930-E8D59CB1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3FC14821-E3A3-4356-97B5-FD16DB0C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SPEED LAB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2187F15-A0DB-478C-8118-CC706A9B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7B72BE6-0F2C-4587-B3B7-40282A1E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10</a:t>
            </a:r>
          </a:p>
        </p:txBody>
      </p:sp>
      <p:sp>
        <p:nvSpPr>
          <p:cNvPr id="5" name="subject">
            <a:extLst xmlns:a="http://schemas.openxmlformats.org/drawingml/2006/main">
              <a:ext uri="{FF2B5EF4-FFF2-40B4-BE49-F238E27FC236}">
                <a16:creationId xmlns:a16="http://schemas.microsoft.com/office/drawing/2014/main" id="{4C0EE715-C4BA-4D3E-B8C2-CDAE11E5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CPU performance</a:t>
            </a:r>
          </a:p>
        </p:txBody>
      </p:sp>
      <p:sp>
        <p:nvSpPr>
          <p:cNvPr id="6" name="sequence">
            <a:extLst xmlns:a="http://schemas.openxmlformats.org/drawingml/2006/main">
              <a:ext uri="{FF2B5EF4-FFF2-40B4-BE49-F238E27FC236}">
                <a16:creationId xmlns:a16="http://schemas.microsoft.com/office/drawing/2014/main" id="{62764703-3182-4030-96F8-707031B0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50482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Starter quiz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360° experience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Plenary exam quiz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e782342524ef3"/>
          <a:srcRect xmlns:a="http://schemas.openxmlformats.org/drawingml/2006/main" l="5297" t="0" r="5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5575" y="1809750"/>
            <a:ext cx="5000625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464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22DA8598-F376-421A-927D-1A259EBF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7245D927-94D1-41E6-9476-654C3A56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key terms quiz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41FCC4C-24D3-4108-94D6-DA853DCB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F86C217-E7F3-45CC-B198-25ED9C26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10</a:t>
            </a:r>
          </a:p>
        </p:txBody>
      </p:sp>
      <p:sp>
        <p:nvSpPr>
          <p:cNvPr id="5" name="starter-instruction">
            <a:extLst xmlns:a="http://schemas.openxmlformats.org/drawingml/2006/main">
              <a:ext uri="{FF2B5EF4-FFF2-40B4-BE49-F238E27FC236}">
                <a16:creationId xmlns:a16="http://schemas.microsoft.com/office/drawing/2014/main" id="{047241C7-2257-424E-A3FB-BCB185F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Write the key term that matches each definition. Work from memory.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13B9DFC6-B4DB-4803-B507-BC204064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383D691A-D552-4181-A1F2-352DDADF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number of CPU clock cycles per second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13D759BB-B9B0-4456-922B-AF7349E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3A4C5C37-CFCF-4C26-B6E4-9B7F982B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Fast memory for frequently used data and instructions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693BD9E8-AE41-4144-9E52-4AFDE085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B638C8C9-7D75-4F01-893D-0B03BE7C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576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processing unit inside a CPU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D31AC9C7-4FA5-4434-B43A-CADE65CC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BCFD6E36-7DAB-4883-9371-F8D7A47A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Running a CPU above its intended clock speed</a:t>
            </a:r>
          </a:p>
        </p:txBody>
      </p:sp>
    </p:spTree>
    <p:extLst>
      <p:ext uri="{BB962C8B-B14F-4D97-AF65-F5344CB8AC3E}">
        <p14:creationId xmlns:p14="http://schemas.microsoft.com/office/powerpoint/2010/main" val="14361318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6764DEF0-663C-4EC8-A945-651BB33C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7D30656-09EF-416C-B20C-F5FA1C03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09ACA85-8C69-419E-84CB-4EDB89F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08D7714-7880-43DA-9A12-E492B868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10</a:t>
            </a:r>
          </a:p>
        </p:txBody>
      </p:sp>
      <p:sp>
        <p:nvSpPr>
          <p:cNvPr id="5" name="check">
            <a:extLst xmlns:a="http://schemas.openxmlformats.org/drawingml/2006/main">
              <a:ext uri="{FF2B5EF4-FFF2-40B4-BE49-F238E27FC236}">
                <a16:creationId xmlns:a16="http://schemas.microsoft.com/office/drawing/2014/main" id="{7DE304A2-453B-400E-9551-9B7E3F7B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the term and correct any gaps in your definition.</a:t>
            </a:r>
          </a:p>
        </p:txBody>
      </p:sp>
      <p:sp>
        <p:nvSpPr>
          <p:cNvPr id="6" name="answer-0">
            <a:extLst xmlns:a="http://schemas.openxmlformats.org/drawingml/2006/main">
              <a:ext uri="{FF2B5EF4-FFF2-40B4-BE49-F238E27FC236}">
                <a16:creationId xmlns:a16="http://schemas.microsoft.com/office/drawing/2014/main" id="{1505C451-DF8A-4129-B118-A07AFD58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 Clock speed</a:t>
            </a:r>
          </a:p>
        </p:txBody>
      </p:sp>
      <p:sp>
        <p:nvSpPr>
          <p:cNvPr id="7" name="meaning-0">
            <a:extLst xmlns:a="http://schemas.openxmlformats.org/drawingml/2006/main">
              <a:ext uri="{FF2B5EF4-FFF2-40B4-BE49-F238E27FC236}">
                <a16:creationId xmlns:a16="http://schemas.microsoft.com/office/drawing/2014/main" id="{F7D0D715-B220-43C5-8CBC-06A33884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27647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number of CPU clock cycles per second</a:t>
            </a:r>
          </a:p>
        </p:txBody>
      </p:sp>
      <p:sp>
        <p:nvSpPr>
          <p:cNvPr id="8" name="answer-1">
            <a:extLst xmlns:a="http://schemas.openxmlformats.org/drawingml/2006/main">
              <a:ext uri="{FF2B5EF4-FFF2-40B4-BE49-F238E27FC236}">
                <a16:creationId xmlns:a16="http://schemas.microsoft.com/office/drawing/2014/main" id="{53463608-AEAC-4B17-819B-26018377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 Cache</a:t>
            </a:r>
          </a:p>
        </p:txBody>
      </p:sp>
      <p:sp>
        <p:nvSpPr>
          <p:cNvPr id="9" name="meaning-1">
            <a:extLst xmlns:a="http://schemas.openxmlformats.org/drawingml/2006/main">
              <a:ext uri="{FF2B5EF4-FFF2-40B4-BE49-F238E27FC236}">
                <a16:creationId xmlns:a16="http://schemas.microsoft.com/office/drawing/2014/main" id="{6872A1F3-80DF-4043-AD41-F9ED9155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14325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Fast memory for frequently used data and instructions</a:t>
            </a:r>
          </a:p>
        </p:txBody>
      </p:sp>
      <p:sp>
        <p:nvSpPr>
          <p:cNvPr id="10" name="answer-2">
            <a:extLst xmlns:a="http://schemas.openxmlformats.org/drawingml/2006/main">
              <a:ext uri="{FF2B5EF4-FFF2-40B4-BE49-F238E27FC236}">
                <a16:creationId xmlns:a16="http://schemas.microsoft.com/office/drawing/2014/main" id="{3D16C9AC-2E91-477A-803B-0785ABCD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 Core</a:t>
            </a:r>
          </a:p>
        </p:txBody>
      </p:sp>
      <p:sp>
        <p:nvSpPr>
          <p:cNvPr id="11" name="meaning-2">
            <a:extLst xmlns:a="http://schemas.openxmlformats.org/drawingml/2006/main">
              <a:ext uri="{FF2B5EF4-FFF2-40B4-BE49-F238E27FC236}">
                <a16:creationId xmlns:a16="http://schemas.microsoft.com/office/drawing/2014/main" id="{AFA81141-58DA-4B96-A28A-A8564A65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01002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processing unit inside a CPU</a:t>
            </a:r>
          </a:p>
        </p:txBody>
      </p:sp>
      <p:sp>
        <p:nvSpPr>
          <p:cNvPr id="12" name="answer-3">
            <a:extLst xmlns:a="http://schemas.openxmlformats.org/drawingml/2006/main">
              <a:ext uri="{FF2B5EF4-FFF2-40B4-BE49-F238E27FC236}">
                <a16:creationId xmlns:a16="http://schemas.microsoft.com/office/drawing/2014/main" id="{4FE0398E-392B-48CC-8BDD-609E68DC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 Overclocking</a:t>
            </a:r>
          </a:p>
        </p:txBody>
      </p:sp>
      <p:sp>
        <p:nvSpPr>
          <p:cNvPr id="13" name="meaning-3">
            <a:extLst xmlns:a="http://schemas.openxmlformats.org/drawingml/2006/main">
              <a:ext uri="{FF2B5EF4-FFF2-40B4-BE49-F238E27FC236}">
                <a16:creationId xmlns:a16="http://schemas.microsoft.com/office/drawing/2014/main" id="{CB322CA2-FE4A-4D2A-9705-1240D32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87680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Running a CPU above its intended clock speed</a:t>
            </a:r>
          </a:p>
        </p:txBody>
      </p:sp>
    </p:spTree>
    <p:extLst>
      <p:ext uri="{BB962C8B-B14F-4D97-AF65-F5344CB8AC3E}">
        <p14:creationId xmlns:p14="http://schemas.microsoft.com/office/powerpoint/2010/main" val="16211083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094AA4F0-1C90-4C32-A878-FD40CD18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D312E97-5235-4DA7-8728-1028DA70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experience task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E31E6B4-92FB-4E49-AA3B-242A488C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4232AAE-9201-4315-801A-3494D8E4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10</a:t>
            </a:r>
          </a:p>
        </p:txBody>
      </p:sp>
      <p:sp>
        <p:nvSpPr>
          <p:cNvPr id="5" name="number-1">
            <a:extLst xmlns:a="http://schemas.openxmlformats.org/drawingml/2006/main">
              <a:ext uri="{FF2B5EF4-FFF2-40B4-BE49-F238E27FC236}">
                <a16:creationId xmlns:a16="http://schemas.microsoft.com/office/drawing/2014/main" id="{67392DE3-9224-45A0-B3DD-E80DA6D0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6" name="item-1">
            <a:extLst xmlns:a="http://schemas.openxmlformats.org/drawingml/2006/main">
              <a:ext uri="{FF2B5EF4-FFF2-40B4-BE49-F238E27FC236}">
                <a16:creationId xmlns:a16="http://schemas.microsoft.com/office/drawing/2014/main" id="{F9407A96-AC59-4770-BC5D-ACF1EB41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764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Speed lab from Topic 1.1. Keep your lesson worksheet beside you.</a:t>
            </a:r>
          </a:p>
        </p:txBody>
      </p:sp>
      <p:sp>
        <p:nvSpPr>
          <p:cNvPr id="7" name="number-2">
            <a:extLst xmlns:a="http://schemas.openxmlformats.org/drawingml/2006/main">
              <a:ext uri="{FF2B5EF4-FFF2-40B4-BE49-F238E27FC236}">
                <a16:creationId xmlns:a16="http://schemas.microsoft.com/office/drawing/2014/main" id="{CE6C1982-856D-42AD-B075-3E9C979A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8" name="item-2">
            <a:extLst xmlns:a="http://schemas.openxmlformats.org/drawingml/2006/main">
              <a:ext uri="{FF2B5EF4-FFF2-40B4-BE49-F238E27FC236}">
                <a16:creationId xmlns:a16="http://schemas.microsoft.com/office/drawing/2014/main" id="{5BC745E6-5534-4925-9182-2ACA7C10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19375"/>
            <a:ext cx="99250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At each numbered station, read the panel and write its key fact and challenge response before tapping the badge.</a:t>
            </a:r>
          </a:p>
        </p:txBody>
      </p:sp>
      <p:sp>
        <p:nvSpPr>
          <p:cNvPr id="9" name="number-3">
            <a:extLst xmlns:a="http://schemas.openxmlformats.org/drawingml/2006/main">
              <a:ext uri="{FF2B5EF4-FFF2-40B4-BE49-F238E27FC236}">
                <a16:creationId xmlns:a16="http://schemas.microsoft.com/office/drawing/2014/main" id="{76B01D25-8006-4BA3-B5B7-9B68AE99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0" name="item-3">
            <a:extLst xmlns:a="http://schemas.openxmlformats.org/drawingml/2006/main">
              <a:ext uri="{FF2B5EF4-FFF2-40B4-BE49-F238E27FC236}">
                <a16:creationId xmlns:a16="http://schemas.microsoft.com/office/drawing/2014/main" id="{1EC26794-9ABA-4EF1-9ECD-E11B0683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671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Answer the on-screen questions. Your first answer counts. Finish the star challenge by looking down.</a:t>
            </a:r>
          </a:p>
        </p:txBody>
      </p:sp>
      <p:sp>
        <p:nvSpPr>
          <p:cNvPr id="11" name="number-4">
            <a:extLst xmlns:a="http://schemas.openxmlformats.org/drawingml/2006/main">
              <a:ext uri="{FF2B5EF4-FFF2-40B4-BE49-F238E27FC236}">
                <a16:creationId xmlns:a16="http://schemas.microsoft.com/office/drawing/2014/main" id="{EE646289-9E6A-49EE-B085-9F3FFC0B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2" name="item-4">
            <a:extLst xmlns:a="http://schemas.openxmlformats.org/drawingml/2006/main">
              <a:ext uri="{FF2B5EF4-FFF2-40B4-BE49-F238E27FC236}">
                <a16:creationId xmlns:a16="http://schemas.microsoft.com/office/drawing/2014/main" id="{DF316013-32D4-400D-8216-A60CF686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148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Copy the score from the results screen into your worksheet (out of 17). Review any station you found hard.</a:t>
            </a:r>
          </a:p>
        </p:txBody>
      </p:sp>
      <p:sp>
        <p:nvSpPr>
          <p:cNvPr id="13" name="open-link">
            <a:extLst xmlns:a="http://schemas.openxmlformats.org/drawingml/2006/main">
              <a:ext uri="{FF2B5EF4-FFF2-40B4-BE49-F238E27FC236}">
                <a16:creationId xmlns:a16="http://schemas.microsoft.com/office/drawing/2014/main" id="{3C3C878D-6E3F-44CE-9D30-5DABDF2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d3e4e91cc75049d8"/>
              </a:rPr>
              <a:t>Open the experience online</a:t>
            </a:r>
          </a:p>
        </p:txBody>
      </p:sp>
    </p:spTree>
    <p:extLst>
      <p:ext uri="{BB962C8B-B14F-4D97-AF65-F5344CB8AC3E}">
        <p14:creationId xmlns:p14="http://schemas.microsoft.com/office/powerpoint/2010/main" val="9782628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B27FCA11-444F-4B50-9BFB-7073B747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31B73FC8-F507-42AB-A012-08928A7E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apply it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28BCE15-DEBB-4B10-B2F3-4AE57005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783449D-29C9-49F3-8ABA-A0EAE223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10</a:t>
            </a:r>
          </a:p>
        </p:txBody>
      </p:sp>
      <p:sp>
        <p:nvSpPr>
          <p:cNvPr id="5" name="extension-lead">
            <a:extLst xmlns:a="http://schemas.openxmlformats.org/drawingml/2006/main">
              <a:ext uri="{FF2B5EF4-FFF2-40B4-BE49-F238E27FC236}">
                <a16:creationId xmlns:a16="http://schemas.microsoft.com/office/drawing/2014/main" id="{DC21A19C-6A5A-4C5A-9A43-797BA970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7346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After completing the experience and recording your score: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13D5A0E5-0E85-45A7-B937-7C7B128B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CPU A has two cores at 3.8 GHz. CPU B has four cores at 3.0 GHz. Their caches are equal. Which might suit several programs running together?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89F78B1D-858D-4A72-A952-7B129DC7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Explain why a single task might give a different answer. Avoid claiming a guaranteed speedup.</a:t>
            </a:r>
          </a:p>
        </p:txBody>
      </p:sp>
    </p:spTree>
    <p:extLst>
      <p:ext uri="{BB962C8B-B14F-4D97-AF65-F5344CB8AC3E}">
        <p14:creationId xmlns:p14="http://schemas.microsoft.com/office/powerpoint/2010/main" val="10362782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92F18D5C-7CA1-4184-B4FE-E24A6B94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F5B7F7DA-A419-476E-87B0-72C0E005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check and stretch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4F5FBE8-D74E-4BDF-A7ED-B10838EE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615F4B4-DC0B-4FAD-9B08-FE46ADC1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10</a:t>
            </a:r>
          </a:p>
        </p:txBody>
      </p:sp>
      <p:sp>
        <p:nvSpPr>
          <p:cNvPr id="5" name="review">
            <a:extLst xmlns:a="http://schemas.openxmlformats.org/drawingml/2006/main">
              <a:ext uri="{FF2B5EF4-FFF2-40B4-BE49-F238E27FC236}">
                <a16:creationId xmlns:a16="http://schemas.microsoft.com/office/drawing/2014/main" id="{719EA2A3-3FFD-4601-88BE-4581525C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24025"/>
            <a:ext cx="1071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your worksheet and the experience feedback.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CD1D4CCF-3A74-4ACD-9AB5-9A0897C3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when extra cores will not help a task. Then explain how a cache miss makes the CPU wait for RAM.</a:t>
            </a:r>
          </a:p>
        </p:txBody>
      </p:sp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1826CECE-B0BB-4D13-B54C-4A1FC2F2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Then answer the plenary exam quiz on the next slides and your worksheet.</a:t>
            </a:r>
          </a:p>
        </p:txBody>
      </p:sp>
    </p:spTree>
    <p:extLst>
      <p:ext uri="{BB962C8B-B14F-4D97-AF65-F5344CB8AC3E}">
        <p14:creationId xmlns:p14="http://schemas.microsoft.com/office/powerpoint/2010/main" val="13177243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30EACB1E-DA7E-4C80-92B7-B7B16F9D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4418D9C-D2CA-4FE9-A9D4-5B9C165E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42D0F78-460F-44C1-AF5D-9A81EF7E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FB2E83F-1AED-4D2B-AF67-66C51609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10</a:t>
            </a:r>
          </a:p>
        </p:txBody>
      </p:sp>
      <p:sp>
        <p:nvSpPr>
          <p:cNvPr id="5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1DD92774-346E-4859-826B-B41C373B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Close the experience. Answer from memory before checking your notes.</a:t>
            </a:r>
          </a:p>
        </p:txBody>
      </p:sp>
      <p:sp>
        <p:nvSpPr>
          <p:cNvPr id="6" name="a">
            <a:extLst xmlns:a="http://schemas.openxmlformats.org/drawingml/2006/main">
              <a:ext uri="{FF2B5EF4-FFF2-40B4-BE49-F238E27FC236}">
                <a16:creationId xmlns:a16="http://schemas.microsoft.com/office/drawing/2014/main" id="{9A2E2933-96CE-4BE4-A7A6-0FBD230F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7" name="question-a">
            <a:extLst xmlns:a="http://schemas.openxmlformats.org/drawingml/2006/main">
              <a:ext uri="{FF2B5EF4-FFF2-40B4-BE49-F238E27FC236}">
                <a16:creationId xmlns:a16="http://schemas.microsoft.com/office/drawing/2014/main" id="{A17866A4-02CA-4C65-91CA-8398777A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48602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State three characteristics of a CPU that affect its performance. [3]</a:t>
            </a:r>
          </a:p>
        </p:txBody>
      </p:sp>
      <p:sp>
        <p:nvSpPr>
          <p:cNvPr id="8" name="b">
            <a:extLst xmlns:a="http://schemas.openxmlformats.org/drawingml/2006/main">
              <a:ext uri="{FF2B5EF4-FFF2-40B4-BE49-F238E27FC236}">
                <a16:creationId xmlns:a16="http://schemas.microsoft.com/office/drawing/2014/main" id="{BA5E6691-653D-4FA5-A657-1B0F714D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767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9" name="question-b">
            <a:extLst xmlns:a="http://schemas.openxmlformats.org/drawingml/2006/main">
              <a:ext uri="{FF2B5EF4-FFF2-40B4-BE49-F238E27FC236}">
                <a16:creationId xmlns:a16="http://schemas.microsoft.com/office/drawing/2014/main" id="{1E2F2A74-1930-4649-9110-FE5AD29E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076700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laptop is advertised with a quad-core 3.2 GHz processor. Explain what this tells you about the CPU. [3]</a:t>
            </a:r>
          </a:p>
        </p:txBody>
      </p:sp>
    </p:spTree>
    <p:extLst>
      <p:ext uri="{BB962C8B-B14F-4D97-AF65-F5344CB8AC3E}">
        <p14:creationId xmlns:p14="http://schemas.microsoft.com/office/powerpoint/2010/main" val="8124780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DAB9424B-AD5F-47C8-B886-0D469203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88C4D5C6-8D13-470F-819B-D78FCC6B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9A70AD0-3C58-4A14-A248-95BB887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71B5BA2-3B9F-434C-A1AD-5008C60B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10</a:t>
            </a:r>
          </a:p>
        </p:txBody>
      </p:sp>
      <p:sp>
        <p:nvSpPr>
          <p:cNvPr id="5" name="from-memory">
            <a:extLst xmlns:a="http://schemas.openxmlformats.org/drawingml/2006/main">
              <a:ext uri="{FF2B5EF4-FFF2-40B4-BE49-F238E27FC236}">
                <a16:creationId xmlns:a16="http://schemas.microsoft.com/office/drawing/2014/main" id="{F2CA9927-CC3B-412C-9C5C-CC745EC1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6" name="c">
            <a:extLst xmlns:a="http://schemas.openxmlformats.org/drawingml/2006/main">
              <a:ext uri="{FF2B5EF4-FFF2-40B4-BE49-F238E27FC236}">
                <a16:creationId xmlns:a16="http://schemas.microsoft.com/office/drawing/2014/main" id="{0A429AB6-19F7-4856-9E08-7AED75A1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7" name="question-c">
            <a:extLst xmlns:a="http://schemas.openxmlformats.org/drawingml/2006/main">
              <a:ext uri="{FF2B5EF4-FFF2-40B4-BE49-F238E27FC236}">
                <a16:creationId xmlns:a16="http://schemas.microsoft.com/office/drawing/2014/main" id="{37F79BAB-61EC-4066-9A01-A3FAB2A7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user edits video and finds their computer slow. Explain how each of the three characteristics could improve its performance. [6]</a:t>
            </a:r>
          </a:p>
        </p:txBody>
      </p:sp>
      <p:sp>
        <p:nvSpPr>
          <p:cNvPr id="8" name="marks">
            <a:extLst xmlns:a="http://schemas.openxmlformats.org/drawingml/2006/main">
              <a:ext uri="{FF2B5EF4-FFF2-40B4-BE49-F238E27FC236}">
                <a16:creationId xmlns:a16="http://schemas.microsoft.com/office/drawing/2014/main" id="{E5EDB48F-33E2-430E-B5E0-9F569212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5517173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1866CDAE-5B20-41DF-A38C-C6615725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A73F26F-36C1-4E29-BDCD-2A861BC8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CD530F8-DA3C-4329-9515-5918B253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4A6860F-6CB7-4514-89B4-1D7164E6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FC9006E2-F046-40B8-8927-8C76B579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6" name="scheme-a">
            <a:extLst xmlns:a="http://schemas.openxmlformats.org/drawingml/2006/main">
              <a:ext uri="{FF2B5EF4-FFF2-40B4-BE49-F238E27FC236}">
                <a16:creationId xmlns:a16="http://schemas.microsoft.com/office/drawing/2014/main" id="{058AB7C3-0147-4159-A1B9-327B2220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Clock speed, cache size and number of cores.</a:t>
            </a:r>
          </a:p>
        </p:txBody>
      </p:sp>
      <p:sp>
        <p:nvSpPr>
          <p:cNvPr id="7" name="scheme-b">
            <a:extLst xmlns:a="http://schemas.openxmlformats.org/drawingml/2006/main">
              <a:ext uri="{FF2B5EF4-FFF2-40B4-BE49-F238E27FC236}">
                <a16:creationId xmlns:a16="http://schemas.microsoft.com/office/drawing/2014/main" id="{3E978D54-D841-499D-88D0-869FCDB9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57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Quad-core means four processing cores. Each can execute instructions independently. 3.2 GHz describes about 3.2 billion clock cycles per second at that quoted speed.</a:t>
            </a:r>
          </a:p>
        </p:txBody>
      </p:sp>
    </p:spTree>
    <p:extLst>
      <p:ext uri="{BB962C8B-B14F-4D97-AF65-F5344CB8AC3E}">
        <p14:creationId xmlns:p14="http://schemas.microsoft.com/office/powerpoint/2010/main" val="15669876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FD129C66-9647-401E-8706-F4864B14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0817386-C441-43C1-A4CD-463A428E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37A4F1B-2F15-41A4-989E-CCBB0994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C1F2C83-89AE-4BF7-999D-2216291E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E11C144B-CAD7-4FF0-85E1-B0645490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B2131D81-9340-4615-A68E-B8EE9E60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F0D903C4-B157-4B06-9966-5C39BEC6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Higher clock speed can allow more cycles per second, helping instruction processing.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99092FB6-2C94-4D51-B642-BF9C8F2E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C27AAB9E-AA60-4628-9319-575B1A18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larger cache can hold more needed data near the CPU and reduce waits for RAM.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6D4FB16F-0B3F-495D-9431-7321E5A1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C71E35ED-DD55-430E-9A80-71D6866B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More cores can process separate threads in parallel when the editing software can use them.</a:t>
            </a:r>
          </a:p>
        </p:txBody>
      </p:sp>
    </p:spTree>
    <p:extLst>
      <p:ext uri="{BB962C8B-B14F-4D97-AF65-F5344CB8AC3E}">
        <p14:creationId xmlns:p14="http://schemas.microsoft.com/office/powerpoint/2010/main" val="5296841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2026-09-25T10:42:36.1470000Z</dcterms:created>
  <dcterms:modified xsi:type="dcterms:W3CDTF">2026-09-25T10:42:36.1470000Z</dcterms:modified>
</coreProperties>
</file>