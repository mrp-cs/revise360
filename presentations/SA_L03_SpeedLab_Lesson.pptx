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c284f517104b71" /><Relationship Type="http://schemas.openxmlformats.org/officeDocument/2006/relationships/extended-properties" Target="/docProps/app.xml" Id="R672a318f9dfd42ff" /><Relationship Type="http://schemas.openxmlformats.org/officeDocument/2006/relationships/officeDocument" Target="/ppt/presentation.xml" Id="Rc8e71ce6d7b840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38e6798f164ea1"/>
  </p:sldMasterIdLst>
  <p:notesMasterIdLst>
    <p:notesMasterId xmlns:r="http://schemas.openxmlformats.org/officeDocument/2006/relationships" r:id="R43f75ecb4a1b42c6"/>
  </p:notesMasterIdLst>
  <p:sldIdLst>
    <p:sldId xmlns:r="http://schemas.openxmlformats.org/officeDocument/2006/relationships" id="256" r:id="R2c97bc44cc414575"/>
    <p:sldId xmlns:r="http://schemas.openxmlformats.org/officeDocument/2006/relationships" id="257" r:id="Re56ad8bfc4774257"/>
    <p:sldId xmlns:r="http://schemas.openxmlformats.org/officeDocument/2006/relationships" id="258" r:id="R1e8478ce05b24860"/>
    <p:sldId xmlns:r="http://schemas.openxmlformats.org/officeDocument/2006/relationships" id="259" r:id="R96b940c910874092"/>
    <p:sldId xmlns:r="http://schemas.openxmlformats.org/officeDocument/2006/relationships" id="260" r:id="Re4f73db80ba34021"/>
    <p:sldId xmlns:r="http://schemas.openxmlformats.org/officeDocument/2006/relationships" id="261" r:id="R370a5f84468f4756"/>
    <p:sldId xmlns:r="http://schemas.openxmlformats.org/officeDocument/2006/relationships" id="262" r:id="R18cf4391595d4dbe"/>
    <p:sldId xmlns:r="http://schemas.openxmlformats.org/officeDocument/2006/relationships" id="263" r:id="R917f07938eb64add"/>
    <p:sldId xmlns:r="http://schemas.openxmlformats.org/officeDocument/2006/relationships" id="264" r:id="R3d5c6e8900254331"/>
    <p:sldId xmlns:r="http://schemas.openxmlformats.org/officeDocument/2006/relationships" id="265" r:id="Rcbab081153fe4add"/>
    <p:sldId xmlns:r="http://schemas.openxmlformats.org/officeDocument/2006/relationships" id="266" r:id="R4747eae59d134538"/>
    <p:sldId xmlns:r="http://schemas.openxmlformats.org/officeDocument/2006/relationships" id="267" r:id="Rd6a2ffac6f504060"/>
    <p:sldId xmlns:r="http://schemas.openxmlformats.org/officeDocument/2006/relationships" id="268" r:id="Rcd974bb062524fa1"/>
    <p:sldId xmlns:r="http://schemas.openxmlformats.org/officeDocument/2006/relationships" id="269" r:id="Ra0fa13e325a64e8a"/>
    <p:sldId xmlns:r="http://schemas.openxmlformats.org/officeDocument/2006/relationships" id="270" r:id="R25a0ae68f0f343b7"/>
    <p:sldId xmlns:r="http://schemas.openxmlformats.org/officeDocument/2006/relationships" id="271" r:id="R6dc3c45cfd8244b6"/>
    <p:sldId xmlns:r="http://schemas.openxmlformats.org/officeDocument/2006/relationships" id="272" r:id="Rb70bca6f954f44d4"/>
    <p:sldId xmlns:r="http://schemas.openxmlformats.org/officeDocument/2006/relationships" id="273" r:id="Rc5c04fc7a2084e2b"/>
    <p:sldId xmlns:r="http://schemas.openxmlformats.org/officeDocument/2006/relationships" id="274" r:id="R158eb6cbbf934cca"/>
    <p:sldId xmlns:r="http://schemas.openxmlformats.org/officeDocument/2006/relationships" id="275" r:id="Rd9c7ff533518494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31f03e83e0492f" /><Relationship Type="http://schemas.openxmlformats.org/officeDocument/2006/relationships/slideMaster" Target="/ppt/slideMasters/slideMaster1.xml" Id="R1138e6798f164ea1" /><Relationship Type="http://schemas.openxmlformats.org/officeDocument/2006/relationships/notesMaster" Target="/ppt/notesMasters/notesMaster1.xml" Id="R43f75ecb4a1b42c6" /><Relationship Type="http://schemas.openxmlformats.org/officeDocument/2006/relationships/presProps" Target="/ppt/presProps.xml" Id="Rbb306d2a8aac4293" /><Relationship Type="http://schemas.openxmlformats.org/officeDocument/2006/relationships/tableStyles" Target="/ppt/tableStyles.xml" Id="R907df5b15d744500" /><Relationship Type="http://schemas.openxmlformats.org/officeDocument/2006/relationships/slide" Target="/ppt/slides/slide1.xml" Id="R2c97bc44cc414575" /><Relationship Type="http://schemas.openxmlformats.org/officeDocument/2006/relationships/slide" Target="/ppt/slides/slide2.xml" Id="Re56ad8bfc4774257" /><Relationship Type="http://schemas.openxmlformats.org/officeDocument/2006/relationships/slide" Target="/ppt/slides/slide3.xml" Id="R1e8478ce05b24860" /><Relationship Type="http://schemas.openxmlformats.org/officeDocument/2006/relationships/slide" Target="/ppt/slides/slide4.xml" Id="R96b940c910874092" /><Relationship Type="http://schemas.openxmlformats.org/officeDocument/2006/relationships/slide" Target="/ppt/slides/slide5.xml" Id="Re4f73db80ba34021" /><Relationship Type="http://schemas.openxmlformats.org/officeDocument/2006/relationships/slide" Target="/ppt/slides/slide6.xml" Id="R370a5f84468f4756" /><Relationship Type="http://schemas.openxmlformats.org/officeDocument/2006/relationships/slide" Target="/ppt/slides/slide7.xml" Id="R18cf4391595d4dbe" /><Relationship Type="http://schemas.openxmlformats.org/officeDocument/2006/relationships/slide" Target="/ppt/slides/slide8.xml" Id="R917f07938eb64add" /><Relationship Type="http://schemas.openxmlformats.org/officeDocument/2006/relationships/slide" Target="/ppt/slides/slide9.xml" Id="R3d5c6e8900254331" /><Relationship Type="http://schemas.openxmlformats.org/officeDocument/2006/relationships/slide" Target="/ppt/slides/slide10.xml" Id="Rcbab081153fe4add" /><Relationship Type="http://schemas.openxmlformats.org/officeDocument/2006/relationships/slide" Target="/ppt/slides/slide11.xml" Id="R4747eae59d134538" /><Relationship Type="http://schemas.openxmlformats.org/officeDocument/2006/relationships/slide" Target="/ppt/slides/slide12.xml" Id="Rd6a2ffac6f504060" /><Relationship Type="http://schemas.openxmlformats.org/officeDocument/2006/relationships/slide" Target="/ppt/slides/slide13.xml" Id="Rcd974bb062524fa1" /><Relationship Type="http://schemas.openxmlformats.org/officeDocument/2006/relationships/slide" Target="/ppt/slides/slide14.xml" Id="Ra0fa13e325a64e8a" /><Relationship Type="http://schemas.openxmlformats.org/officeDocument/2006/relationships/slide" Target="/ppt/slides/slide15.xml" Id="R25a0ae68f0f343b7" /><Relationship Type="http://schemas.openxmlformats.org/officeDocument/2006/relationships/slide" Target="/ppt/slides/slide16.xml" Id="R6dc3c45cfd8244b6" /><Relationship Type="http://schemas.openxmlformats.org/officeDocument/2006/relationships/slide" Target="/ppt/slides/slide17.xml" Id="Rb70bca6f954f44d4" /><Relationship Type="http://schemas.openxmlformats.org/officeDocument/2006/relationships/slide" Target="/ppt/slides/slide18.xml" Id="Rc5c04fc7a2084e2b" /><Relationship Type="http://schemas.openxmlformats.org/officeDocument/2006/relationships/slide" Target="/ppt/slides/slide19.xml" Id="R158eb6cbbf934cca" /><Relationship Type="http://schemas.openxmlformats.org/officeDocument/2006/relationships/slide" Target="/ppt/slides/slide20.xml" Id="Rd9c7ff53351849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900110f52a4c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3e3006ca0f4139" /><Relationship Type="http://schemas.openxmlformats.org/officeDocument/2006/relationships/notesMaster" Target="/ppt/notesMasters/notesMaster1.xml" Id="R540c08f052364c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446bf81dab4b93" /><Relationship Type="http://schemas.openxmlformats.org/officeDocument/2006/relationships/notesMaster" Target="/ppt/notesMasters/notesMaster1.xml" Id="Rdabad1d8f3b04c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b8ef7a03514c92" /><Relationship Type="http://schemas.openxmlformats.org/officeDocument/2006/relationships/notesMaster" Target="/ppt/notesMasters/notesMaster1.xml" Id="Rf0c4475f599542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e4a70fa4d94391" /><Relationship Type="http://schemas.openxmlformats.org/officeDocument/2006/relationships/notesMaster" Target="/ppt/notesMasters/notesMaster1.xml" Id="Rb5a9a1197bf245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0b9e20d98f46e1" /><Relationship Type="http://schemas.openxmlformats.org/officeDocument/2006/relationships/notesMaster" Target="/ppt/notesMasters/notesMaster1.xml" Id="R9fb5d4b9d0014c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27fca06112946fa" /><Relationship Type="http://schemas.openxmlformats.org/officeDocument/2006/relationships/notesMaster" Target="/ppt/notesMasters/notesMaster1.xml" Id="R1cabf439f64f47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c6bcb50ba1464c" /><Relationship Type="http://schemas.openxmlformats.org/officeDocument/2006/relationships/notesMaster" Target="/ppt/notesMasters/notesMaster1.xml" Id="R7e685ad121ba484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870bf3d5cc24f9e" /><Relationship Type="http://schemas.openxmlformats.org/officeDocument/2006/relationships/notesMaster" Target="/ppt/notesMasters/notesMaster1.xml" Id="R253eb54389eb45d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b218a8e82b4750" /><Relationship Type="http://schemas.openxmlformats.org/officeDocument/2006/relationships/notesMaster" Target="/ppt/notesMasters/notesMaster1.xml" Id="R97ff83c93b0747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1fd063fa9054169" /><Relationship Type="http://schemas.openxmlformats.org/officeDocument/2006/relationships/notesMaster" Target="/ppt/notesMasters/notesMaster1.xml" Id="Rd8d643b1ea47455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80558ef3efe49aa" /><Relationship Type="http://schemas.openxmlformats.org/officeDocument/2006/relationships/notesMaster" Target="/ppt/notesMasters/notesMaster1.xml" Id="R171c50b16f764ca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c717be9b94d431c" /><Relationship Type="http://schemas.openxmlformats.org/officeDocument/2006/relationships/notesMaster" Target="/ppt/notesMasters/notesMaster1.xml" Id="Re2f2a5046d424e1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69d70d99a484e31" /><Relationship Type="http://schemas.openxmlformats.org/officeDocument/2006/relationships/notesMaster" Target="/ppt/notesMasters/notesMaster1.xml" Id="R8fc86435a071454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cf72d0f0c2f4cf3" /><Relationship Type="http://schemas.openxmlformats.org/officeDocument/2006/relationships/notesMaster" Target="/ppt/notesMasters/notesMaster1.xml" Id="R0910b4c74d05464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298b596523642e2" /><Relationship Type="http://schemas.openxmlformats.org/officeDocument/2006/relationships/notesMaster" Target="/ppt/notesMasters/notesMaster1.xml" Id="R61dc77e3e502476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f9aa3d1fd314c43" /><Relationship Type="http://schemas.openxmlformats.org/officeDocument/2006/relationships/notesMaster" Target="/ppt/notesMasters/notesMaster1.xml" Id="Rb3a3e1e23f164c5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ed6380dbbba4b5d" /><Relationship Type="http://schemas.openxmlformats.org/officeDocument/2006/relationships/notesMaster" Target="/ppt/notesMasters/notesMaster1.xml" Id="Ra6f0db8c015b4cf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c0d5928910c4524" /><Relationship Type="http://schemas.openxmlformats.org/officeDocument/2006/relationships/notesMaster" Target="/ppt/notesMasters/notesMaster1.xml" Id="R92a1717cf19f41b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29df297e9204423" /><Relationship Type="http://schemas.openxmlformats.org/officeDocument/2006/relationships/notesMaster" Target="/ppt/notesMasters/notesMaster1.xml" Id="Rebad609d245f457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f35a2fde69f4a86" /><Relationship Type="http://schemas.openxmlformats.org/officeDocument/2006/relationships/notesMaster" Target="/ppt/notesMasters/notesMaster1.xml" Id="R141d0731d0f84b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picture shows a straight-on perspective view of the actual 360 experience opening scene. Students should keep the experience closed until slide 7.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outcomes with the class. They follow the wording of the lesson worksheet.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pupils to attempt the exact starter question printed on the worksheet. Take a few suggestions before showing the model answer.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write definitions from memory. These two terms are the worksheet’s exact key terminology entries, including the recap terms in Lesson 4.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sample answers to the exact worksheet starter question. Accept other correct examples and explanations.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Both term definitions are visible for pupils to correct their quiz. Reveal this slide after attempts.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first slide where students open the experience file. Leave it visible while they get set up. The link opens the matching experience.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image is a straight-on perspective view of stations 1 and 2 in the actual experience. Students should record the key fact and their own answer before selecting each badge.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Once students have reached the score screen, they copy the mark straight away. The key question is printed on the worksheet after the score box.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extension is optional and comes after the experience. Give students time to reason in full sentences.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slide up while the rest of the class finishes. Do not reveal station answers until pupils have completed the experience.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sample answers after early finishers have attempted the two extension prompts. These are examples rather than a single required wording.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concise answers to the worksheet station prompts, shared only after pupils complete the experience. Correct wording can vary.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concise answers to the worksheet station prompts, shared only after pupils complete the experience. Correct wording can vary.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answers follow the final challenge in the interactive experience and the worksheet. Students should correct their table before the exam questions.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the exact exam-practice questions a and b from the worksheet. Give independent writing time before revealing the answers.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exact worksheet exam-practice question c. Let students answer independently.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classroom answer points, not an official OCR mark scheme. Ask students to improve one response in a different colour.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Avoid implying clock frequency alone determines real-world performance, or that twice the cores always doubles speed. For c, look for an explanation of each factor in this video-editing context. Ask students to revise one sentence after self-check.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the exact confidence objectives listed in the worksheet. Ask students to identify one item to revisit next time.</a:t>
            </a:r>
          </a:p>
          <a:p xmlns:a="http://schemas.openxmlformats.org/drawingml/2006/main">
            <a:r>
              <a:t>Sources: Revise360 experiences/sa-l03.json and worksheets/SA_L03_SpeedLab_Worksheet.docx.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ef8904fdab43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d4030384fd4432" /><Relationship Type="http://schemas.openxmlformats.org/officeDocument/2006/relationships/slideLayout" Target="/ppt/slideLayouts/slideLayout1.xml" Id="R5bb5bc967a3f42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b5bc967a3f42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efc6c8fe6f4197" /><Relationship Type="http://schemas.openxmlformats.org/officeDocument/2006/relationships/image" Target="/ppt/media/image.jpeg" Id="Re68ea83755e54282" /><Relationship Type="http://schemas.openxmlformats.org/officeDocument/2006/relationships/notesSlide" Target="/ppt/notesSlides/notesSlide1.xml" Id="Rb139ed50cedb48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7236c7730548ee" /><Relationship Type="http://schemas.openxmlformats.org/officeDocument/2006/relationships/notesSlide" Target="/ppt/notesSlides/notesSlide2.xml" Id="R2356435395754c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69f3a54a6746eb" /><Relationship Type="http://schemas.openxmlformats.org/officeDocument/2006/relationships/notesSlide" Target="/ppt/notesSlides/notesSlide3.xml" Id="R9ae1c70d777249b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1820b026484e9f" /><Relationship Type="http://schemas.openxmlformats.org/officeDocument/2006/relationships/notesSlide" Target="/ppt/notesSlides/notesSlide4.xml" Id="Raf68129a26f94a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af8a01be243f6" /><Relationship Type="http://schemas.openxmlformats.org/officeDocument/2006/relationships/notesSlide" Target="/ppt/notesSlides/notesSlide5.xml" Id="Rb28fa247ecc149e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8943b3493c4a3b" /><Relationship Type="http://schemas.openxmlformats.org/officeDocument/2006/relationships/notesSlide" Target="/ppt/notesSlides/notesSlide6.xml" Id="R1ae99fbfe1a147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0109e2624f4bb5" /><Relationship Type="http://schemas.openxmlformats.org/officeDocument/2006/relationships/hyperlink" Target="https://mrp-cs.github.io/Revise360/experience.html?id=sa-l03" TargetMode="External" Id="R164df8e6ea0949f5" /><Relationship Type="http://schemas.openxmlformats.org/officeDocument/2006/relationships/notesSlide" Target="/ppt/notesSlides/notesSlide7.xml" Id="R1a01b89968504d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5047a015f147d8" /><Relationship Type="http://schemas.openxmlformats.org/officeDocument/2006/relationships/image" Target="/ppt/media/image2.jpeg" Id="R63ee43c38ac94e3e" /><Relationship Type="http://schemas.openxmlformats.org/officeDocument/2006/relationships/notesSlide" Target="/ppt/notesSlides/notesSlide8.xml" Id="Ra6345371a6ba41b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49838237d741fb" /><Relationship Type="http://schemas.openxmlformats.org/officeDocument/2006/relationships/notesSlide" Target="/ppt/notesSlides/notesSlide9.xml" Id="Rbfdf786960ee4a4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a70133de64256" /><Relationship Type="http://schemas.openxmlformats.org/officeDocument/2006/relationships/notesSlide" Target="/ppt/notesSlides/notesSlide10.xml" Id="R3aea345ae87448f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f6dd9b29fa4ef3" /><Relationship Type="http://schemas.openxmlformats.org/officeDocument/2006/relationships/notesSlide" Target="/ppt/notesSlides/notesSlide11.xml" Id="R84bbeb41864d467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7b33bcb3c04935" /><Relationship Type="http://schemas.openxmlformats.org/officeDocument/2006/relationships/notesSlide" Target="/ppt/notesSlides/notesSlide12.xml" Id="R56112c82f6ec4b8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69a053aef428b" /><Relationship Type="http://schemas.openxmlformats.org/officeDocument/2006/relationships/notesSlide" Target="/ppt/notesSlides/notesSlide13.xml" Id="Ra160250f31b54e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4a311e912b4aa1" /><Relationship Type="http://schemas.openxmlformats.org/officeDocument/2006/relationships/notesSlide" Target="/ppt/notesSlides/notesSlide14.xml" Id="R1ab0cabc4724487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a5cb1e38ba4b47" /><Relationship Type="http://schemas.openxmlformats.org/officeDocument/2006/relationships/notesSlide" Target="/ppt/notesSlides/notesSlide15.xml" Id="R4dc88873f39a4ca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9f9d1ab48405b" /><Relationship Type="http://schemas.openxmlformats.org/officeDocument/2006/relationships/notesSlide" Target="/ppt/notesSlides/notesSlide16.xml" Id="R2cbaeb1ac664408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a30b25de0141e6" /><Relationship Type="http://schemas.openxmlformats.org/officeDocument/2006/relationships/notesSlide" Target="/ppt/notesSlides/notesSlide17.xml" Id="Ra63b92e1852b4e1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8934718f8b4774" /><Relationship Type="http://schemas.openxmlformats.org/officeDocument/2006/relationships/notesSlide" Target="/ppt/notesSlides/notesSlide18.xml" Id="Rbcba79f324704e6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58bd84cbe8424a" /><Relationship Type="http://schemas.openxmlformats.org/officeDocument/2006/relationships/notesSlide" Target="/ppt/notesSlides/notesSlide19.xml" Id="R534d6c2931c44e9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ffaba9240044b6" /><Relationship Type="http://schemas.openxmlformats.org/officeDocument/2006/relationships/notesSlide" Target="/ppt/notesSlides/notesSlide20.xml" Id="R35c6442c212b408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C3B54CD9-8EA6-45C0-B854-21DF5173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21D6340A-7B70-4E94-813C-2C1AC661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SPEED LAB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17DAA9B-504B-4853-A6FA-C30127A6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AAAEAC5-BC8A-4845-9B53-7F57C0C5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 / 20</a:t>
            </a:r>
          </a:p>
        </p:txBody>
      </p:sp>
      <p:sp>
        <p:nvSpPr>
          <p:cNvPr id="5" name="subject">
            <a:extLst xmlns:a="http://schemas.openxmlformats.org/drawingml/2006/main">
              <a:ext uri="{FF2B5EF4-FFF2-40B4-BE49-F238E27FC236}">
                <a16:creationId xmlns:a16="http://schemas.microsoft.com/office/drawing/2014/main" id="{EEB86324-B206-4291-ABA5-7F8846D8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CPU performance</a:t>
            </a:r>
          </a:p>
        </p:txBody>
      </p:sp>
      <p:sp>
        <p:nvSpPr>
          <p:cNvPr id="6" name="cover-note">
            <a:extLst xmlns:a="http://schemas.openxmlformats.org/drawingml/2006/main">
              <a:ext uri="{FF2B5EF4-FFF2-40B4-BE49-F238E27FC236}">
                <a16:creationId xmlns:a16="http://schemas.microsoft.com/office/drawing/2014/main" id="{6C19CCAA-3FDA-4C99-BA9D-4ECDF4C9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51435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 with your worksheet.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Open the experience after the starter answers.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8ea83755e54282"/>
          <a:stretch xmlns:a="http://schemas.openxmlformats.org/drawingml/2006/main"/>
        </p:blipFill>
        <p:spPr>
          <a:xfrm xmlns:a="http://schemas.openxmlformats.org/drawingml/2006/main">
            <a:off x="6076950" y="1819275"/>
            <a:ext cx="5400675" cy="3600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5244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ic">
            <a:extLst xmlns:a="http://schemas.openxmlformats.org/drawingml/2006/main">
              <a:ext uri="{FF2B5EF4-FFF2-40B4-BE49-F238E27FC236}">
                <a16:creationId xmlns:a16="http://schemas.microsoft.com/office/drawing/2014/main" id="{CE32DDC7-2A16-4896-9C53-7B99DDF4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7CEB2A94-7E32-477A-A6C5-49FBC838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By the end of this lesson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69A3EE8-E1D2-42DF-86DD-9ECFAFB4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Worksheet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19D2975-B39D-4C2F-90A2-E967E8B9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 / 20</a:t>
            </a:r>
          </a:p>
        </p:txBody>
      </p:sp>
      <p:sp>
        <p:nvSpPr>
          <p:cNvPr id="5" name="outcome-intro">
            <a:extLst xmlns:a="http://schemas.openxmlformats.org/drawingml/2006/main">
              <a:ext uri="{FF2B5EF4-FFF2-40B4-BE49-F238E27FC236}">
                <a16:creationId xmlns:a16="http://schemas.microsoft.com/office/drawing/2014/main" id="{AAFB601F-2FE4-4FBF-8CED-02FF4017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Your worksheet lists these learning outcomes: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BDC2DB7A-C3AD-4F27-B42E-B4AAFC46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39A60570-71D6-446F-BA07-F4DD04F1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66950"/>
            <a:ext cx="9925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Understand three ways in which CPU speed, and therefore computer speed, can be increased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C177148A-0AC4-4303-B2C7-CA7A0E652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623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0F957B64-F9F6-4875-BD43-3C4F3519A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62325"/>
            <a:ext cx="9925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Begin learning how to program</a:t>
            </a:r>
          </a:p>
        </p:txBody>
      </p:sp>
      <p:sp>
        <p:nvSpPr>
          <p:cNvPr id="10" name="starter-next">
            <a:extLst xmlns:a="http://schemas.openxmlformats.org/drawingml/2006/main">
              <a:ext uri="{FF2B5EF4-FFF2-40B4-BE49-F238E27FC236}">
                <a16:creationId xmlns:a16="http://schemas.microsoft.com/office/drawing/2014/main" id="{04B89795-B0A3-423F-9529-6A9FB242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0072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Complete the worksheet starter before opening the experience.</a:t>
            </a:r>
          </a:p>
        </p:txBody>
      </p:sp>
    </p:spTree>
    <p:extLst>
      <p:ext uri="{BB962C8B-B14F-4D97-AF65-F5344CB8AC3E}">
        <p14:creationId xmlns:p14="http://schemas.microsoft.com/office/powerpoint/2010/main" val="14763975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CDD5AE5D-03FC-493F-8D7D-D20CCB14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A3E68634-6B11-4F81-AE87-579673B3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before the experience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088A871-B93D-4514-8E4A-D0AE79E8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Worksheet starter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2ECDC67-CC9D-42D1-A0DE-8B177215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 / 20</a:t>
            </a:r>
          </a:p>
        </p:txBody>
      </p:sp>
      <p:sp>
        <p:nvSpPr>
          <p:cNvPr id="5" name="write-first">
            <a:extLst xmlns:a="http://schemas.openxmlformats.org/drawingml/2006/main">
              <a:ext uri="{FF2B5EF4-FFF2-40B4-BE49-F238E27FC236}">
                <a16:creationId xmlns:a16="http://schemas.microsoft.com/office/drawing/2014/main" id="{7014F1ED-9DAF-4014-9FFA-50EDAC5D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Answer the starter question in the box on your worksheet.</a:t>
            </a:r>
          </a:p>
        </p:txBody>
      </p:sp>
      <p:sp>
        <p:nvSpPr>
          <p:cNvPr id="6" name="worksheet-starter">
            <a:extLst xmlns:a="http://schemas.openxmlformats.org/drawingml/2006/main">
              <a:ext uri="{FF2B5EF4-FFF2-40B4-BE49-F238E27FC236}">
                <a16:creationId xmlns:a16="http://schemas.microsoft.com/office/drawing/2014/main" id="{C69B53F6-913F-4859-A7DC-F41C7179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1057275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Two laptops both have 8 GB of RAM, but one feels much faster. Suggest three things about their processors that could explain the difference.</a:t>
            </a:r>
          </a:p>
        </p:txBody>
      </p:sp>
      <p:sp>
        <p:nvSpPr>
          <p:cNvPr id="7" name="no-open">
            <a:extLst xmlns:a="http://schemas.openxmlformats.org/drawingml/2006/main">
              <a:ext uri="{FF2B5EF4-FFF2-40B4-BE49-F238E27FC236}">
                <a16:creationId xmlns:a16="http://schemas.microsoft.com/office/drawing/2014/main" id="{2EE88F58-4B82-4388-A005-FF5FC5BE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Keep the experience closed until the starter and key terms are checked.</a:t>
            </a:r>
          </a:p>
        </p:txBody>
      </p:sp>
    </p:spTree>
    <p:extLst>
      <p:ext uri="{BB962C8B-B14F-4D97-AF65-F5344CB8AC3E}">
        <p14:creationId xmlns:p14="http://schemas.microsoft.com/office/powerpoint/2010/main" val="7119263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387B0778-8BB1-4CF8-A931-7C55C1C7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6697DA5A-08BB-434D-9384-4EF2BA9A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 quiz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F4120BB-184A-441C-A448-EF08A9B7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Worksheet key terms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10DA496-73EB-4FD4-8A42-7152F2E8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4 / 20</a:t>
            </a:r>
          </a:p>
        </p:txBody>
      </p:sp>
      <p:sp>
        <p:nvSpPr>
          <p:cNvPr id="5" name="define-first">
            <a:extLst xmlns:a="http://schemas.openxmlformats.org/drawingml/2006/main">
              <a:ext uri="{FF2B5EF4-FFF2-40B4-BE49-F238E27FC236}">
                <a16:creationId xmlns:a16="http://schemas.microsoft.com/office/drawing/2014/main" id="{9DB188A4-4C6F-4FB4-B295-F9550526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572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Define the two terms listed in the key terminology section of your worksheet.</a:t>
            </a:r>
          </a:p>
        </p:txBody>
      </p:sp>
      <p:sp>
        <p:nvSpPr>
          <p:cNvPr id="6" name="term-number-0">
            <a:extLst xmlns:a="http://schemas.openxmlformats.org/drawingml/2006/main">
              <a:ext uri="{FF2B5EF4-FFF2-40B4-BE49-F238E27FC236}">
                <a16:creationId xmlns:a16="http://schemas.microsoft.com/office/drawing/2014/main" id="{E1358281-FA11-476F-9096-72B288AA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term-0">
            <a:extLst xmlns:a="http://schemas.openxmlformats.org/drawingml/2006/main">
              <a:ext uri="{FF2B5EF4-FFF2-40B4-BE49-F238E27FC236}">
                <a16:creationId xmlns:a16="http://schemas.microsoft.com/office/drawing/2014/main" id="{90F2D684-3A31-4FAE-B055-F6A02E7C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86050"/>
            <a:ext cx="9667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Cache</a:t>
            </a:r>
          </a:p>
        </p:txBody>
      </p:sp>
      <p:sp>
        <p:nvSpPr>
          <p:cNvPr id="8" name="term-number-1">
            <a:extLst xmlns:a="http://schemas.openxmlformats.org/drawingml/2006/main">
              <a:ext uri="{FF2B5EF4-FFF2-40B4-BE49-F238E27FC236}">
                <a16:creationId xmlns:a16="http://schemas.microsoft.com/office/drawing/2014/main" id="{1FC13571-A85B-4DF1-AC8B-13B4382D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term-1">
            <a:extLst xmlns:a="http://schemas.openxmlformats.org/drawingml/2006/main">
              <a:ext uri="{FF2B5EF4-FFF2-40B4-BE49-F238E27FC236}">
                <a16:creationId xmlns:a16="http://schemas.microsoft.com/office/drawing/2014/main" id="{13FA4EC4-4B1A-4063-ACD1-CB9F7340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24350"/>
            <a:ext cx="9667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Register</a:t>
            </a:r>
          </a:p>
        </p:txBody>
      </p:sp>
    </p:spTree>
    <p:extLst>
      <p:ext uri="{BB962C8B-B14F-4D97-AF65-F5344CB8AC3E}">
        <p14:creationId xmlns:p14="http://schemas.microsoft.com/office/powerpoint/2010/main" val="19272839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AB849482-9800-4EE4-93EB-B0938E02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59E70613-0737-476E-8CAC-9C81EB15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sample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D3058D1-AED5-4A58-8E6C-9A36733F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0B6A5F7-AACC-42D7-9BBF-525E1116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5 / 20</a:t>
            </a:r>
          </a:p>
        </p:txBody>
      </p:sp>
      <p:sp>
        <p:nvSpPr>
          <p:cNvPr id="5" name="sample-note">
            <a:extLst xmlns:a="http://schemas.openxmlformats.org/drawingml/2006/main">
              <a:ext uri="{FF2B5EF4-FFF2-40B4-BE49-F238E27FC236}">
                <a16:creationId xmlns:a16="http://schemas.microsoft.com/office/drawing/2014/main" id="{AC701B6C-3975-4625-A20C-8A9C4EB5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Compare your worksheet answer with these examples. Other accurate examples count.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B3267801-C6FF-4EA7-8F2A-DE84FDB8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C82A9D6D-1E31-48D2-9130-ADFB7056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99250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processors may differ in clock speed, cache size and number of cores.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DE3EE4D2-E591-408B-8212-FA6A9A2E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79386A90-1B29-4D77-8A97-54822E0F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00500"/>
            <a:ext cx="99250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benefit depends on the task. Extra cores help most when software can use them.</a:t>
            </a:r>
          </a:p>
        </p:txBody>
      </p:sp>
    </p:spTree>
    <p:extLst>
      <p:ext uri="{BB962C8B-B14F-4D97-AF65-F5344CB8AC3E}">
        <p14:creationId xmlns:p14="http://schemas.microsoft.com/office/powerpoint/2010/main" val="7353822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71E3C75D-2C9A-41A8-9399-033E18CB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5231F614-6658-4B7E-ACC5-801E5E89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terminology: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336CCA5-FA65-4EDE-B4EC-10EB993E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0C07DDD-98D8-4425-909F-5A146DD6C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6 / 20</a:t>
            </a:r>
          </a:p>
        </p:txBody>
      </p:sp>
      <p:sp>
        <p:nvSpPr>
          <p:cNvPr id="5" name="terms-note">
            <a:extLst xmlns:a="http://schemas.openxmlformats.org/drawingml/2006/main">
              <a:ext uri="{FF2B5EF4-FFF2-40B4-BE49-F238E27FC236}">
                <a16:creationId xmlns:a16="http://schemas.microsoft.com/office/drawing/2014/main" id="{D11EC899-6CB1-430C-98D8-CB1251FE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Correct or improve your two definitions before opening the experience.</a:t>
            </a:r>
          </a:p>
        </p:txBody>
      </p:sp>
      <p:sp>
        <p:nvSpPr>
          <p:cNvPr id="6" name="answer-term-0">
            <a:extLst xmlns:a="http://schemas.openxmlformats.org/drawingml/2006/main">
              <a:ext uri="{FF2B5EF4-FFF2-40B4-BE49-F238E27FC236}">
                <a16:creationId xmlns:a16="http://schemas.microsoft.com/office/drawing/2014/main" id="{C74FC17F-EA99-4EAC-9973-F10C1CC0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Cache</a:t>
            </a:r>
          </a:p>
        </p:txBody>
      </p:sp>
      <p:sp>
        <p:nvSpPr>
          <p:cNvPr id="7" name="answer-definition-0">
            <a:extLst xmlns:a="http://schemas.openxmlformats.org/drawingml/2006/main">
              <a:ext uri="{FF2B5EF4-FFF2-40B4-BE49-F238E27FC236}">
                <a16:creationId xmlns:a16="http://schemas.microsoft.com/office/drawing/2014/main" id="{145DCAF2-F46C-49E0-AA84-013E68DD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575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Small, fast memory for frequently used instructions and data.</a:t>
            </a:r>
          </a:p>
        </p:txBody>
      </p:sp>
      <p:sp>
        <p:nvSpPr>
          <p:cNvPr id="8" name="answer-term-1">
            <a:extLst xmlns:a="http://schemas.openxmlformats.org/drawingml/2006/main">
              <a:ext uri="{FF2B5EF4-FFF2-40B4-BE49-F238E27FC236}">
                <a16:creationId xmlns:a16="http://schemas.microsoft.com/office/drawing/2014/main" id="{64F66F39-2068-42A0-9113-188BED6B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338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Register</a:t>
            </a:r>
          </a:p>
        </p:txBody>
      </p:sp>
      <p:sp>
        <p:nvSpPr>
          <p:cNvPr id="9" name="answer-definition-1">
            <a:extLst xmlns:a="http://schemas.openxmlformats.org/drawingml/2006/main">
              <a:ext uri="{FF2B5EF4-FFF2-40B4-BE49-F238E27FC236}">
                <a16:creationId xmlns:a16="http://schemas.microsoft.com/office/drawing/2014/main" id="{BEF8CC71-FC2A-410B-84A7-61545947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tiny, very fast storage location inside the CPU for one value.</a:t>
            </a:r>
          </a:p>
        </p:txBody>
      </p:sp>
    </p:spTree>
    <p:extLst>
      <p:ext uri="{BB962C8B-B14F-4D97-AF65-F5344CB8AC3E}">
        <p14:creationId xmlns:p14="http://schemas.microsoft.com/office/powerpoint/2010/main" val="4223655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20F84B88-E9AA-4249-A6A8-9BA1D389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1AF783C5-6438-4957-828B-612D64DD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Open the experience now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D75DC88-DE70-4BEB-9831-D44D3157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Experience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E355A81-14CD-48E7-89BF-4B37BCB8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7 / 20</a:t>
            </a:r>
          </a:p>
        </p:txBody>
      </p:sp>
      <p:sp>
        <p:nvSpPr>
          <p:cNvPr id="5" name="number-1">
            <a:extLst xmlns:a="http://schemas.openxmlformats.org/drawingml/2006/main">
              <a:ext uri="{FF2B5EF4-FFF2-40B4-BE49-F238E27FC236}">
                <a16:creationId xmlns:a16="http://schemas.microsoft.com/office/drawing/2014/main" id="{41412019-18BD-4494-B396-761F6746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6" name="item-1">
            <a:extLst xmlns:a="http://schemas.openxmlformats.org/drawingml/2006/main">
              <a:ext uri="{FF2B5EF4-FFF2-40B4-BE49-F238E27FC236}">
                <a16:creationId xmlns:a16="http://schemas.microsoft.com/office/drawing/2014/main" id="{5FF7FB48-8AB4-48B0-9B29-DA841FA8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76400"/>
            <a:ext cx="9925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Select Speed lab from Topic 1.1. Keep your worksheet beside you.</a:t>
            </a:r>
          </a:p>
        </p:txBody>
      </p:sp>
      <p:sp>
        <p:nvSpPr>
          <p:cNvPr id="7" name="number-2">
            <a:extLst xmlns:a="http://schemas.openxmlformats.org/drawingml/2006/main">
              <a:ext uri="{FF2B5EF4-FFF2-40B4-BE49-F238E27FC236}">
                <a16:creationId xmlns:a16="http://schemas.microsoft.com/office/drawing/2014/main" id="{15F1BD0F-8400-4F25-82A3-6E2722FA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8" name="item-2">
            <a:extLst xmlns:a="http://schemas.openxmlformats.org/drawingml/2006/main">
              <a:ext uri="{FF2B5EF4-FFF2-40B4-BE49-F238E27FC236}">
                <a16:creationId xmlns:a16="http://schemas.microsoft.com/office/drawing/2014/main" id="{64E5EF48-199D-4E35-AC9D-9DD5BA15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47950"/>
            <a:ext cx="9925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At each station, read the wall panel and write the key fact and challenge answer before tapping the badge.</a:t>
            </a:r>
          </a:p>
        </p:txBody>
      </p:sp>
      <p:sp>
        <p:nvSpPr>
          <p:cNvPr id="9" name="number-3">
            <a:extLst xmlns:a="http://schemas.openxmlformats.org/drawingml/2006/main">
              <a:ext uri="{FF2B5EF4-FFF2-40B4-BE49-F238E27FC236}">
                <a16:creationId xmlns:a16="http://schemas.microsoft.com/office/drawing/2014/main" id="{C2245581-53F4-43DE-AFA8-CCFE71FD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052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0" name="item-3">
            <a:extLst xmlns:a="http://schemas.openxmlformats.org/drawingml/2006/main">
              <a:ext uri="{FF2B5EF4-FFF2-40B4-BE49-F238E27FC236}">
                <a16:creationId xmlns:a16="http://schemas.microsoft.com/office/drawing/2014/main" id="{27AE27E6-6752-4F49-A4E1-EE46A0BD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05225"/>
            <a:ext cx="99250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Tap the badge and answer on screen. Your first answer is the one that counts.</a:t>
            </a:r>
          </a:p>
        </p:txBody>
      </p:sp>
      <p:sp>
        <p:nvSpPr>
          <p:cNvPr id="11" name="number-4">
            <a:extLst xmlns:a="http://schemas.openxmlformats.org/drawingml/2006/main">
              <a:ext uri="{FF2B5EF4-FFF2-40B4-BE49-F238E27FC236}">
                <a16:creationId xmlns:a16="http://schemas.microsoft.com/office/drawing/2014/main" id="{7DCAF398-B916-417C-8579-72D2BA3C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2" name="item-4">
            <a:extLst xmlns:a="http://schemas.openxmlformats.org/drawingml/2006/main">
              <a:ext uri="{FF2B5EF4-FFF2-40B4-BE49-F238E27FC236}">
                <a16:creationId xmlns:a16="http://schemas.microsoft.com/office/drawing/2014/main" id="{41F14DBC-AC69-43B8-AECD-E165825C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95825"/>
            <a:ext cx="9925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When the score screen appears, copy your score into the yellow worksheet box (out of 17).</a:t>
            </a:r>
          </a:p>
        </p:txBody>
      </p:sp>
      <p:sp>
        <p:nvSpPr>
          <p:cNvPr id="13" name="open-link">
            <a:extLst xmlns:a="http://schemas.openxmlformats.org/drawingml/2006/main">
              <a:ext uri="{FF2B5EF4-FFF2-40B4-BE49-F238E27FC236}">
                <a16:creationId xmlns:a16="http://schemas.microsoft.com/office/drawing/2014/main" id="{42006F5D-70EE-4380-A2EC-15370F4F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81675"/>
            <a:ext cx="4953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2D63FF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164df8e6ea0949f5"/>
              </a:rPr>
              <a:t>Open the experience online</a:t>
            </a:r>
          </a:p>
        </p:txBody>
      </p:sp>
    </p:spTree>
    <p:extLst>
      <p:ext uri="{BB962C8B-B14F-4D97-AF65-F5344CB8AC3E}">
        <p14:creationId xmlns:p14="http://schemas.microsoft.com/office/powerpoint/2010/main" val="7029921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ic">
            <a:extLst xmlns:a="http://schemas.openxmlformats.org/drawingml/2006/main">
              <a:ext uri="{FF2B5EF4-FFF2-40B4-BE49-F238E27FC236}">
                <a16:creationId xmlns:a16="http://schemas.microsoft.com/office/drawing/2014/main" id="{5ACE4B23-EC67-425D-B073-FFC12FF2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6C0B3A2D-4514-498D-BE5C-BC36791A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stations in your worksheet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1ED98B0-5538-4C5E-AFEA-2A01682C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Experience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5E050D46-48CF-41DE-8D69-BC08D642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8 / 20</a:t>
            </a:r>
          </a:p>
        </p:txBody>
      </p:sp>
      <p:sp>
        <p:nvSpPr>
          <p:cNvPr id="5" name="route-intro">
            <a:extLst xmlns:a="http://schemas.openxmlformats.org/drawingml/2006/main">
              <a:ext uri="{FF2B5EF4-FFF2-40B4-BE49-F238E27FC236}">
                <a16:creationId xmlns:a16="http://schemas.microsoft.com/office/drawing/2014/main" id="{8E2D50CA-785D-4DB7-905B-7EC5F206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10477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same route as the experience and worksheet:</a:t>
            </a:r>
          </a:p>
        </p:txBody>
      </p:sp>
      <p:sp>
        <p:nvSpPr>
          <p:cNvPr id="6" name="route-direction-0">
            <a:extLst xmlns:a="http://schemas.openxmlformats.org/drawingml/2006/main">
              <a:ext uri="{FF2B5EF4-FFF2-40B4-BE49-F238E27FC236}">
                <a16:creationId xmlns:a16="http://schemas.microsoft.com/office/drawing/2014/main" id="{BE3582AC-1086-40FE-9808-60AFB48A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RIGHT</a:t>
            </a:r>
          </a:p>
        </p:txBody>
      </p:sp>
      <p:sp>
        <p:nvSpPr>
          <p:cNvPr id="7" name="route-names-0">
            <a:extLst xmlns:a="http://schemas.openxmlformats.org/drawingml/2006/main">
              <a:ext uri="{FF2B5EF4-FFF2-40B4-BE49-F238E27FC236}">
                <a16:creationId xmlns:a16="http://schemas.microsoft.com/office/drawing/2014/main" id="{5E6378C6-A494-4E68-943D-8C9268D3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266950"/>
            <a:ext cx="4438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1 Clock speed</a:t>
            </a:r>
          </a:p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2 Overclocking and heat</a:t>
            </a:r>
          </a:p>
        </p:txBody>
      </p:sp>
      <p:sp>
        <p:nvSpPr>
          <p:cNvPr id="8" name="route-direction-1">
            <a:extLst xmlns:a="http://schemas.openxmlformats.org/drawingml/2006/main">
              <a:ext uri="{FF2B5EF4-FFF2-40B4-BE49-F238E27FC236}">
                <a16:creationId xmlns:a16="http://schemas.microsoft.com/office/drawing/2014/main" id="{5301BB62-BE59-4C86-B3F8-DD2588C8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AROUND</a:t>
            </a:r>
          </a:p>
        </p:txBody>
      </p:sp>
      <p:sp>
        <p:nvSpPr>
          <p:cNvPr id="9" name="route-names-1">
            <a:extLst xmlns:a="http://schemas.openxmlformats.org/drawingml/2006/main">
              <a:ext uri="{FF2B5EF4-FFF2-40B4-BE49-F238E27FC236}">
                <a16:creationId xmlns:a16="http://schemas.microsoft.com/office/drawing/2014/main" id="{72EDF584-F40A-4F03-AE44-F2AE7D9F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209925"/>
            <a:ext cx="4438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3 Cache size</a:t>
            </a:r>
          </a:p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4 Number of cores</a:t>
            </a:r>
          </a:p>
        </p:txBody>
      </p:sp>
      <p:sp>
        <p:nvSpPr>
          <p:cNvPr id="10" name="route-direction-2">
            <a:extLst xmlns:a="http://schemas.openxmlformats.org/drawingml/2006/main">
              <a:ext uri="{FF2B5EF4-FFF2-40B4-BE49-F238E27FC236}">
                <a16:creationId xmlns:a16="http://schemas.microsoft.com/office/drawing/2014/main" id="{7176C96F-23EA-443A-AA42-28A9758D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62425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LEFT</a:t>
            </a:r>
          </a:p>
        </p:txBody>
      </p:sp>
      <p:sp>
        <p:nvSpPr>
          <p:cNvPr id="11" name="route-names-2">
            <a:extLst xmlns:a="http://schemas.openxmlformats.org/drawingml/2006/main">
              <a:ext uri="{FF2B5EF4-FFF2-40B4-BE49-F238E27FC236}">
                <a16:creationId xmlns:a16="http://schemas.microsoft.com/office/drawing/2014/main" id="{A0347D28-785C-4B27-8747-907C11EE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62425"/>
            <a:ext cx="4438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5 Single core, 2.5 GHz</a:t>
            </a:r>
          </a:p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6 Units of speed</a:t>
            </a:r>
          </a:p>
        </p:txBody>
      </p:sp>
      <p:sp>
        <p:nvSpPr>
          <p:cNvPr id="12" name="route-direction-3">
            <a:extLst xmlns:a="http://schemas.openxmlformats.org/drawingml/2006/main">
              <a:ext uri="{FF2B5EF4-FFF2-40B4-BE49-F238E27FC236}">
                <a16:creationId xmlns:a16="http://schemas.microsoft.com/office/drawing/2014/main" id="{45E198E5-B2E1-4272-94C3-08A66C25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DOWN</a:t>
            </a:r>
          </a:p>
        </p:txBody>
      </p:sp>
      <p:sp>
        <p:nvSpPr>
          <p:cNvPr id="13" name="route-names-3">
            <a:extLst xmlns:a="http://schemas.openxmlformats.org/drawingml/2006/main">
              <a:ext uri="{FF2B5EF4-FFF2-40B4-BE49-F238E27FC236}">
                <a16:creationId xmlns:a16="http://schemas.microsoft.com/office/drawing/2014/main" id="{2CDF03FB-682A-484B-9FB5-68E41CD1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14950"/>
            <a:ext cx="443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★ Final challenge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ee43c38ac94e3e"/>
          <a:stretch xmlns:a="http://schemas.openxmlformats.org/drawingml/2006/main"/>
        </p:blipFill>
        <p:spPr>
          <a:xfrm xmlns:a="http://schemas.openxmlformats.org/drawingml/2006/main">
            <a:off x="6505575" y="2241550"/>
            <a:ext cx="4933950" cy="3289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9516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ic">
            <a:extLst xmlns:a="http://schemas.openxmlformats.org/drawingml/2006/main">
              <a:ext uri="{FF2B5EF4-FFF2-40B4-BE49-F238E27FC236}">
                <a16:creationId xmlns:a16="http://schemas.microsoft.com/office/drawing/2014/main" id="{0456A3B1-8A26-4FBE-8AAD-165C65EA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25A39B06-07D7-42AC-8A46-8A679B68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Final challenge, score and key question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34610F7-3165-4B5F-AB1F-F0C37315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Worksheet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BF3040F-9DE5-4591-A6C8-F9515190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9 / 20</a:t>
            </a:r>
          </a:p>
        </p:txBody>
      </p:sp>
      <p:sp>
        <p:nvSpPr>
          <p:cNvPr id="5" name="star">
            <a:extLst xmlns:a="http://schemas.openxmlformats.org/drawingml/2006/main">
              <a:ext uri="{FF2B5EF4-FFF2-40B4-BE49-F238E27FC236}">
                <a16:creationId xmlns:a16="http://schemas.microsoft.com/office/drawing/2014/main" id="{D86D39EA-CA83-4020-98F0-A08434070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10572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Look down. Complete the ★ final challenge table on your worksheet before tapping the star.</a:t>
            </a:r>
          </a:p>
        </p:txBody>
      </p:sp>
      <p:sp>
        <p:nvSpPr>
          <p:cNvPr id="6" name="score">
            <a:extLst xmlns:a="http://schemas.openxmlformats.org/drawingml/2006/main">
              <a:ext uri="{FF2B5EF4-FFF2-40B4-BE49-F238E27FC236}">
                <a16:creationId xmlns:a16="http://schemas.microsoft.com/office/drawing/2014/main" id="{D9BD4941-D6AC-4B6C-9E80-127FFAEC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623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Copy the result from the score screen:  ______ / 17</a:t>
            </a:r>
          </a:p>
        </p:txBody>
      </p:sp>
      <p:sp>
        <p:nvSpPr>
          <p:cNvPr id="7" name="key-label">
            <a:extLst xmlns:a="http://schemas.openxmlformats.org/drawingml/2006/main">
              <a:ext uri="{FF2B5EF4-FFF2-40B4-BE49-F238E27FC236}">
                <a16:creationId xmlns:a16="http://schemas.microsoft.com/office/drawing/2014/main" id="{DF8B28EA-CF51-45BE-A6FB-4BFF9FCD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5292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KEY QUESTION</a:t>
            </a:r>
          </a:p>
        </p:txBody>
      </p:sp>
      <p:sp>
        <p:nvSpPr>
          <p:cNvPr id="8" name="key-question">
            <a:extLst xmlns:a="http://schemas.openxmlformats.org/drawingml/2006/main">
              <a:ext uri="{FF2B5EF4-FFF2-40B4-BE49-F238E27FC236}">
                <a16:creationId xmlns:a16="http://schemas.microsoft.com/office/drawing/2014/main" id="{97371627-2194-4405-8557-1B000EB4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67275"/>
            <a:ext cx="10572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What factors affect CPU performance?</a:t>
            </a:r>
          </a:p>
        </p:txBody>
      </p:sp>
    </p:spTree>
    <p:extLst>
      <p:ext uri="{BB962C8B-B14F-4D97-AF65-F5344CB8AC3E}">
        <p14:creationId xmlns:p14="http://schemas.microsoft.com/office/powerpoint/2010/main" val="11576478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F1299126-26C0-4C37-9D5A-A448E0A0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4AB517B9-156F-4A51-803F-33D5E469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apply it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AD6D133-9EA0-4A1E-AE50-4DD9DAE7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Extension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57A4A41A-8DD0-4CDE-BBE4-DA9B562E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10 / 20</a:t>
            </a:r>
          </a:p>
        </p:txBody>
      </p:sp>
      <p:sp>
        <p:nvSpPr>
          <p:cNvPr id="5" name="extension-lead">
            <a:extLst xmlns:a="http://schemas.openxmlformats.org/drawingml/2006/main">
              <a:ext uri="{FF2B5EF4-FFF2-40B4-BE49-F238E27FC236}">
                <a16:creationId xmlns:a16="http://schemas.microsoft.com/office/drawing/2014/main" id="{D206FC34-1CAE-4CD5-A7DA-6112DD53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28775"/>
            <a:ext cx="107346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After completing the experience and recording your score:</a:t>
            </a:r>
          </a:p>
        </p:txBody>
      </p:sp>
      <p:sp>
        <p:nvSpPr>
          <p:cNvPr id="6" name="extension-prompt">
            <a:extLst xmlns:a="http://schemas.openxmlformats.org/drawingml/2006/main">
              <a:ext uri="{FF2B5EF4-FFF2-40B4-BE49-F238E27FC236}">
                <a16:creationId xmlns:a16="http://schemas.microsoft.com/office/drawing/2014/main" id="{38621F07-EBE5-479B-B315-A2CB5E9D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19350"/>
            <a:ext cx="10572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CPU A has two cores at 3.8 GHz. CPU B has four cores at 3.0 GHz. Their caches are equal. Which might suit several programs running together?</a:t>
            </a:r>
          </a:p>
        </p:txBody>
      </p:sp>
      <p:sp>
        <p:nvSpPr>
          <p:cNvPr id="7" name="extension-follow">
            <a:extLst xmlns:a="http://schemas.openxmlformats.org/drawingml/2006/main">
              <a:ext uri="{FF2B5EF4-FFF2-40B4-BE49-F238E27FC236}">
                <a16:creationId xmlns:a16="http://schemas.microsoft.com/office/drawing/2014/main" id="{1B63731C-E048-4C48-B300-773C7B6D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Explain why a single task might give a different answer. Avoid claiming a guaranteed speedup.</a:t>
            </a:r>
          </a:p>
        </p:txBody>
      </p:sp>
    </p:spTree>
    <p:extLst>
      <p:ext uri="{BB962C8B-B14F-4D97-AF65-F5344CB8AC3E}">
        <p14:creationId xmlns:p14="http://schemas.microsoft.com/office/powerpoint/2010/main" val="17533651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1C39238C-79E4-4BB2-9C7F-32406C6A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70511E7A-5639-43C4-BE80-316D0D90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check and stretch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CBCA492-2D3E-4228-A2C4-5F9B428D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Extension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9596C4D-161A-426A-8135-205D7230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11 / 20</a:t>
            </a:r>
          </a:p>
        </p:txBody>
      </p:sp>
      <p:sp>
        <p:nvSpPr>
          <p:cNvPr id="5" name="review">
            <a:extLst xmlns:a="http://schemas.openxmlformats.org/drawingml/2006/main">
              <a:ext uri="{FF2B5EF4-FFF2-40B4-BE49-F238E27FC236}">
                <a16:creationId xmlns:a16="http://schemas.microsoft.com/office/drawing/2014/main" id="{914C204A-1ED2-4D69-878B-56F09B01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24025"/>
            <a:ext cx="1071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worksheet and the experience feedback.</a:t>
            </a:r>
          </a:p>
        </p:txBody>
      </p:sp>
      <p:sp>
        <p:nvSpPr>
          <p:cNvPr id="6" name="extension-two">
            <a:extLst xmlns:a="http://schemas.openxmlformats.org/drawingml/2006/main">
              <a:ext uri="{FF2B5EF4-FFF2-40B4-BE49-F238E27FC236}">
                <a16:creationId xmlns:a16="http://schemas.microsoft.com/office/drawing/2014/main" id="{C9DE08ED-6A68-4EB7-961A-991E0FEA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76525"/>
            <a:ext cx="1062037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when extra cores will not help a task. Then explain how a cache miss makes the CPU wait for RAM.</a:t>
            </a:r>
          </a:p>
        </p:txBody>
      </p:sp>
      <p:sp>
        <p:nvSpPr>
          <p:cNvPr id="7" name="handoff">
            <a:extLst xmlns:a="http://schemas.openxmlformats.org/drawingml/2006/main">
              <a:ext uri="{FF2B5EF4-FFF2-40B4-BE49-F238E27FC236}">
                <a16:creationId xmlns:a16="http://schemas.microsoft.com/office/drawing/2014/main" id="{CDD5D111-477B-4DAF-A002-BB44CD0D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When the class is ready, close the experience and answer the plenary exam quiz.</a:t>
            </a:r>
          </a:p>
        </p:txBody>
      </p:sp>
    </p:spTree>
    <p:extLst>
      <p:ext uri="{BB962C8B-B14F-4D97-AF65-F5344CB8AC3E}">
        <p14:creationId xmlns:p14="http://schemas.microsoft.com/office/powerpoint/2010/main" val="199302776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C58A7890-5C9B-4955-84CA-D726FFD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2DEBE5CF-2A8F-4CE5-81E6-9693C9A7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sample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509A8F9-35F8-4DE7-8E6E-F548161B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766BC5D-B908-451E-A9CF-A862D6D0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12 / 20</a:t>
            </a:r>
          </a:p>
        </p:txBody>
      </p:sp>
      <p:sp>
        <p:nvSpPr>
          <p:cNvPr id="5" name="extension-check">
            <a:extLst xmlns:a="http://schemas.openxmlformats.org/drawingml/2006/main">
              <a:ext uri="{FF2B5EF4-FFF2-40B4-BE49-F238E27FC236}">
                <a16:creationId xmlns:a16="http://schemas.microsoft.com/office/drawing/2014/main" id="{9BED3022-6DD9-4B8F-A4DE-6B333D12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Compare your reasoning, then improve one sentence on your worksheet.</a:t>
            </a:r>
          </a:p>
        </p:txBody>
      </p:sp>
      <p:sp>
        <p:nvSpPr>
          <p:cNvPr id="6" name="answer-application">
            <a:extLst xmlns:a="http://schemas.openxmlformats.org/drawingml/2006/main">
              <a:ext uri="{FF2B5EF4-FFF2-40B4-BE49-F238E27FC236}">
                <a16:creationId xmlns:a16="http://schemas.microsoft.com/office/drawing/2014/main" id="{D38C45C2-3384-4988-A09D-2F1E34F5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Application</a:t>
            </a:r>
          </a:p>
        </p:txBody>
      </p:sp>
      <p:sp>
        <p:nvSpPr>
          <p:cNvPr id="7" name="answer-application-body">
            <a:extLst xmlns:a="http://schemas.openxmlformats.org/drawingml/2006/main">
              <a:ext uri="{FF2B5EF4-FFF2-40B4-BE49-F238E27FC236}">
                <a16:creationId xmlns:a16="http://schemas.microsoft.com/office/drawing/2014/main" id="{4EEF5D06-B9B2-4CCC-B175-24669D7D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10477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CPU B may help several programs run together if they can use separate cores. CPU A may suit a task using one core. Clock speed alone cannot settle real performance.</a:t>
            </a:r>
          </a:p>
        </p:txBody>
      </p:sp>
      <p:sp>
        <p:nvSpPr>
          <p:cNvPr id="8" name="answer-stretch">
            <a:extLst xmlns:a="http://schemas.openxmlformats.org/drawingml/2006/main">
              <a:ext uri="{FF2B5EF4-FFF2-40B4-BE49-F238E27FC236}">
                <a16:creationId xmlns:a16="http://schemas.microsoft.com/office/drawing/2014/main" id="{08036E6E-FDCD-4EC1-AE3F-33FD90E4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Check and stretch</a:t>
            </a:r>
          </a:p>
        </p:txBody>
      </p:sp>
      <p:sp>
        <p:nvSpPr>
          <p:cNvPr id="9" name="answer-stretch-body">
            <a:extLst xmlns:a="http://schemas.openxmlformats.org/drawingml/2006/main">
              <a:ext uri="{FF2B5EF4-FFF2-40B4-BE49-F238E27FC236}">
                <a16:creationId xmlns:a16="http://schemas.microsoft.com/office/drawing/2014/main" id="{6F7FF0D1-96F5-4D44-A343-F1E95AA2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1047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Extra cores bring little gain when software has one serial thread. On a cache miss, the CPU must fetch the needed item from slower RAM.</a:t>
            </a:r>
          </a:p>
        </p:txBody>
      </p:sp>
    </p:spTree>
    <p:extLst>
      <p:ext uri="{BB962C8B-B14F-4D97-AF65-F5344CB8AC3E}">
        <p14:creationId xmlns:p14="http://schemas.microsoft.com/office/powerpoint/2010/main" val="62152613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ic">
            <a:extLst xmlns:a="http://schemas.openxmlformats.org/drawingml/2006/main">
              <a:ext uri="{FF2B5EF4-FFF2-40B4-BE49-F238E27FC236}">
                <a16:creationId xmlns:a16="http://schemas.microsoft.com/office/drawing/2014/main" id="{627BEDCB-D11F-4E3E-95B5-682C2D93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0AAE9E37-F22A-49B6-BD25-0C283051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1–3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D264013-2962-4274-80EF-50A90D7F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Answers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9977269-E468-4D23-9DB8-D22E97B0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13 / 20</a:t>
            </a:r>
          </a:p>
        </p:txBody>
      </p:sp>
      <p:sp>
        <p:nvSpPr>
          <p:cNvPr id="5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528D9CA0-8D30-4649-A7EA-05C374AE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Close the experience. Check your key facts and challenge responses.</a:t>
            </a:r>
          </a:p>
        </p:txBody>
      </p:sp>
      <p:sp>
        <p:nvSpPr>
          <p:cNvPr id="6" name="station-name-0">
            <a:extLst xmlns:a="http://schemas.openxmlformats.org/drawingml/2006/main">
              <a:ext uri="{FF2B5EF4-FFF2-40B4-BE49-F238E27FC236}">
                <a16:creationId xmlns:a16="http://schemas.microsoft.com/office/drawing/2014/main" id="{2E8059FD-E87A-4809-8E7B-51C13756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  Clock speed</a:t>
            </a:r>
          </a:p>
        </p:txBody>
      </p:sp>
      <p:sp>
        <p:nvSpPr>
          <p:cNvPr id="7" name="station-answer-0">
            <a:extLst xmlns:a="http://schemas.openxmlformats.org/drawingml/2006/main">
              <a:ext uri="{FF2B5EF4-FFF2-40B4-BE49-F238E27FC236}">
                <a16:creationId xmlns:a16="http://schemas.microsoft.com/office/drawing/2014/main" id="{AAB3C4E1-923B-446C-811B-FC4949C0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2.5 GHz processor runs about 2.5 billion clock cycles per second at that speed.</a:t>
            </a:r>
          </a:p>
        </p:txBody>
      </p:sp>
      <p:sp>
        <p:nvSpPr>
          <p:cNvPr id="8" name="station-name-1">
            <a:extLst xmlns:a="http://schemas.openxmlformats.org/drawingml/2006/main">
              <a:ext uri="{FF2B5EF4-FFF2-40B4-BE49-F238E27FC236}">
                <a16:creationId xmlns:a16="http://schemas.microsoft.com/office/drawing/2014/main" id="{A0B5A40A-B5F8-43CA-BB57-39B32231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  Overclocking and heat</a:t>
            </a:r>
          </a:p>
        </p:txBody>
      </p:sp>
      <p:sp>
        <p:nvSpPr>
          <p:cNvPr id="9" name="station-answer-1">
            <a:extLst xmlns:a="http://schemas.openxmlformats.org/drawingml/2006/main">
              <a:ext uri="{FF2B5EF4-FFF2-40B4-BE49-F238E27FC236}">
                <a16:creationId xmlns:a16="http://schemas.microsoft.com/office/drawing/2014/main" id="{D77A6745-F77C-4DD2-A65C-CA20FFB7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Overclocking raises speed above its intended setting and produces more heat; cooling reduces the risk.</a:t>
            </a:r>
          </a:p>
        </p:txBody>
      </p:sp>
      <p:sp>
        <p:nvSpPr>
          <p:cNvPr id="10" name="station-name-2">
            <a:extLst xmlns:a="http://schemas.openxmlformats.org/drawingml/2006/main">
              <a:ext uri="{FF2B5EF4-FFF2-40B4-BE49-F238E27FC236}">
                <a16:creationId xmlns:a16="http://schemas.microsoft.com/office/drawing/2014/main" id="{4DE9DEFE-517D-4D58-B3BE-22A9EDEE8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  Cache size</a:t>
            </a:r>
          </a:p>
        </p:txBody>
      </p:sp>
      <p:sp>
        <p:nvSpPr>
          <p:cNvPr id="11" name="station-answer-2">
            <a:extLst xmlns:a="http://schemas.openxmlformats.org/drawingml/2006/main">
              <a:ext uri="{FF2B5EF4-FFF2-40B4-BE49-F238E27FC236}">
                <a16:creationId xmlns:a16="http://schemas.microsoft.com/office/drawing/2014/main" id="{DE90600E-4A5E-4B47-9C38-567C18DD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larger cache may hold more needed data near the CPU, reducing slower RAM accesses.</a:t>
            </a:r>
          </a:p>
        </p:txBody>
      </p:sp>
    </p:spTree>
    <p:extLst>
      <p:ext uri="{BB962C8B-B14F-4D97-AF65-F5344CB8AC3E}">
        <p14:creationId xmlns:p14="http://schemas.microsoft.com/office/powerpoint/2010/main" val="176025278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ic">
            <a:extLst xmlns:a="http://schemas.openxmlformats.org/drawingml/2006/main">
              <a:ext uri="{FF2B5EF4-FFF2-40B4-BE49-F238E27FC236}">
                <a16:creationId xmlns:a16="http://schemas.microsoft.com/office/drawing/2014/main" id="{10F9ACB9-4D17-4875-BB53-635F288F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41BD5F7E-02EC-4880-880B-BA2B6EA83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4–6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81063EC-31E9-497A-9F04-DA4C0738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Answers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8EF710D-73EC-44B4-B8EB-3164C25A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14 / 20</a:t>
            </a:r>
          </a:p>
        </p:txBody>
      </p:sp>
      <p:sp>
        <p:nvSpPr>
          <p:cNvPr id="5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7C49F66C-7E7F-4591-AE6D-41DEC640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Continue checking the station notes on your worksheet.</a:t>
            </a:r>
          </a:p>
        </p:txBody>
      </p:sp>
      <p:sp>
        <p:nvSpPr>
          <p:cNvPr id="6" name="station-name-3">
            <a:extLst xmlns:a="http://schemas.openxmlformats.org/drawingml/2006/main">
              <a:ext uri="{FF2B5EF4-FFF2-40B4-BE49-F238E27FC236}">
                <a16:creationId xmlns:a16="http://schemas.microsoft.com/office/drawing/2014/main" id="{AD199FD0-728B-42D2-A2E4-8B0E0789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  Number of cores</a:t>
            </a:r>
          </a:p>
        </p:txBody>
      </p:sp>
      <p:sp>
        <p:nvSpPr>
          <p:cNvPr id="7" name="station-answer-3">
            <a:extLst xmlns:a="http://schemas.openxmlformats.org/drawingml/2006/main">
              <a:ext uri="{FF2B5EF4-FFF2-40B4-BE49-F238E27FC236}">
                <a16:creationId xmlns:a16="http://schemas.microsoft.com/office/drawing/2014/main" id="{8647FD39-B59D-4958-BDFB-FC1A213E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Several cores can handle threads in parallel, but one task may not split into several threads.</a:t>
            </a:r>
          </a:p>
        </p:txBody>
      </p:sp>
      <p:sp>
        <p:nvSpPr>
          <p:cNvPr id="8" name="station-name-4">
            <a:extLst xmlns:a="http://schemas.openxmlformats.org/drawingml/2006/main">
              <a:ext uri="{FF2B5EF4-FFF2-40B4-BE49-F238E27FC236}">
                <a16:creationId xmlns:a16="http://schemas.microsoft.com/office/drawing/2014/main" id="{E405D764-776F-4CCC-A689-52960681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5  Single core, 2.5 GHz</a:t>
            </a:r>
          </a:p>
        </p:txBody>
      </p:sp>
      <p:sp>
        <p:nvSpPr>
          <p:cNvPr id="9" name="station-answer-4">
            <a:extLst xmlns:a="http://schemas.openxmlformats.org/drawingml/2006/main">
              <a:ext uri="{FF2B5EF4-FFF2-40B4-BE49-F238E27FC236}">
                <a16:creationId xmlns:a16="http://schemas.microsoft.com/office/drawing/2014/main" id="{E9C956ED-DA04-4022-9EFB-91BE9363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Single core means one processing core; 2.5 GHz is its quoted clock speed. The CPU runs instructions.</a:t>
            </a:r>
          </a:p>
        </p:txBody>
      </p:sp>
      <p:sp>
        <p:nvSpPr>
          <p:cNvPr id="10" name="station-name-5">
            <a:extLst xmlns:a="http://schemas.openxmlformats.org/drawingml/2006/main">
              <a:ext uri="{FF2B5EF4-FFF2-40B4-BE49-F238E27FC236}">
                <a16:creationId xmlns:a16="http://schemas.microsoft.com/office/drawing/2014/main" id="{A8F15AD1-FBB8-46FD-AA32-53B913C4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6  Units of speed</a:t>
            </a:r>
          </a:p>
        </p:txBody>
      </p:sp>
      <p:sp>
        <p:nvSpPr>
          <p:cNvPr id="11" name="station-answer-5">
            <a:extLst xmlns:a="http://schemas.openxmlformats.org/drawingml/2006/main">
              <a:ext uri="{FF2B5EF4-FFF2-40B4-BE49-F238E27FC236}">
                <a16:creationId xmlns:a16="http://schemas.microsoft.com/office/drawing/2014/main" id="{D4F065D7-BAAA-43A0-B267-C4483438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400 kHz is slower than 900 MHz, which is slower than 1.2 GHz. Kilo, mega and giga scale up.</a:t>
            </a:r>
          </a:p>
        </p:txBody>
      </p:sp>
    </p:spTree>
    <p:extLst>
      <p:ext uri="{BB962C8B-B14F-4D97-AF65-F5344CB8AC3E}">
        <p14:creationId xmlns:p14="http://schemas.microsoft.com/office/powerpoint/2010/main" val="13157391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opic">
            <a:extLst xmlns:a="http://schemas.openxmlformats.org/drawingml/2006/main">
              <a:ext uri="{FF2B5EF4-FFF2-40B4-BE49-F238E27FC236}">
                <a16:creationId xmlns:a16="http://schemas.microsoft.com/office/drawing/2014/main" id="{2FCAD8F1-0E1F-4E3E-B1AB-12CE1120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1B74B3BA-AE91-4E2A-B8A2-6F642284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Final challenge: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CA39B37-2DB6-4288-AA41-7A9DCDC1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9B2C79F-2850-4C6B-B4B3-B4BE6FE2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15 / 20</a:t>
            </a:r>
          </a:p>
        </p:txBody>
      </p:sp>
      <p:sp>
        <p:nvSpPr>
          <p:cNvPr id="5" name="star-key">
            <a:extLst xmlns:a="http://schemas.openxmlformats.org/drawingml/2006/main">
              <a:ext uri="{FF2B5EF4-FFF2-40B4-BE49-F238E27FC236}">
                <a16:creationId xmlns:a16="http://schemas.microsoft.com/office/drawing/2014/main" id="{D45796C4-7593-41DE-8EFB-69EC2486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Compare your star challenge table with the answers below.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3DE2FD93-FD1C-49BE-B8EA-35AB5619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05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7AE590FA-65FE-4BC8-BF92-8137C3A8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05025"/>
            <a:ext cx="99250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200 kilohertz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FC455EDB-007E-4DE3-B671-DD86178E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94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9C577DC9-8D6A-4037-879D-A2815CDC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19400"/>
            <a:ext cx="99250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20 megahertz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F9A4A824-8654-4B7E-9377-18CA7BB9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51F04986-7551-4394-8774-37591314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33775"/>
            <a:ext cx="99250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800 megahertz</a:t>
            </a:r>
          </a:p>
        </p:txBody>
      </p:sp>
      <p:sp>
        <p:nvSpPr>
          <p:cNvPr id="12" name="number-4">
            <a:extLst xmlns:a="http://schemas.openxmlformats.org/drawingml/2006/main">
              <a:ext uri="{FF2B5EF4-FFF2-40B4-BE49-F238E27FC236}">
                <a16:creationId xmlns:a16="http://schemas.microsoft.com/office/drawing/2014/main" id="{DBCA22D5-B233-4767-B579-9F254DA3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3" name="item-4">
            <a:extLst xmlns:a="http://schemas.openxmlformats.org/drawingml/2006/main">
              <a:ext uri="{FF2B5EF4-FFF2-40B4-BE49-F238E27FC236}">
                <a16:creationId xmlns:a16="http://schemas.microsoft.com/office/drawing/2014/main" id="{A07F3672-2CDB-4CF2-962A-00798786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48150"/>
            <a:ext cx="99250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2 gigahertz</a:t>
            </a:r>
          </a:p>
        </p:txBody>
      </p:sp>
      <p:sp>
        <p:nvSpPr>
          <p:cNvPr id="14" name="number-5">
            <a:extLst xmlns:a="http://schemas.openxmlformats.org/drawingml/2006/main">
              <a:ext uri="{FF2B5EF4-FFF2-40B4-BE49-F238E27FC236}">
                <a16:creationId xmlns:a16="http://schemas.microsoft.com/office/drawing/2014/main" id="{0E9582B2-A819-4334-BBB7-B57C642F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625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5.</a:t>
            </a:r>
          </a:p>
        </p:txBody>
      </p:sp>
      <p:sp>
        <p:nvSpPr>
          <p:cNvPr id="15" name="item-5">
            <a:extLst xmlns:a="http://schemas.openxmlformats.org/drawingml/2006/main">
              <a:ext uri="{FF2B5EF4-FFF2-40B4-BE49-F238E27FC236}">
                <a16:creationId xmlns:a16="http://schemas.microsoft.com/office/drawing/2014/main" id="{1C72C028-B5A1-4268-936A-74094D11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62525"/>
            <a:ext cx="99250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3.5 gigahertz</a:t>
            </a:r>
          </a:p>
        </p:txBody>
      </p:sp>
    </p:spTree>
    <p:extLst>
      <p:ext uri="{BB962C8B-B14F-4D97-AF65-F5344CB8AC3E}">
        <p14:creationId xmlns:p14="http://schemas.microsoft.com/office/powerpoint/2010/main" val="68622876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EAE96CC0-1BCE-45E3-B5FD-6840F63F6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CCC4AF1F-5ADE-40B4-9175-F67A6B30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Exam practice: questions (a–b)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34E702C-5268-4A1F-BF14-C085CBC81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Plenary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1152726-D238-45B8-A9CF-E1565C3F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16 / 20</a:t>
            </a:r>
          </a:p>
        </p:txBody>
      </p:sp>
      <p:sp>
        <p:nvSpPr>
          <p:cNvPr id="5" name="plenary-instruction">
            <a:extLst xmlns:a="http://schemas.openxmlformats.org/drawingml/2006/main">
              <a:ext uri="{FF2B5EF4-FFF2-40B4-BE49-F238E27FC236}">
                <a16:creationId xmlns:a16="http://schemas.microsoft.com/office/drawing/2014/main" id="{04A3E2EB-F3AF-4616-8C8B-32DFF6BB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71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Take the headset off or close the page. Answer from memory on the worksheet.</a:t>
            </a:r>
          </a:p>
        </p:txBody>
      </p:sp>
      <p:sp>
        <p:nvSpPr>
          <p:cNvPr id="6" name="a">
            <a:extLst xmlns:a="http://schemas.openxmlformats.org/drawingml/2006/main">
              <a:ext uri="{FF2B5EF4-FFF2-40B4-BE49-F238E27FC236}">
                <a16:creationId xmlns:a16="http://schemas.microsoft.com/office/drawing/2014/main" id="{F5097380-01A7-4802-92AE-7C3A092E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5812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a)</a:t>
            </a:r>
          </a:p>
        </p:txBody>
      </p:sp>
      <p:sp>
        <p:nvSpPr>
          <p:cNvPr id="7" name="question-a">
            <a:extLst xmlns:a="http://schemas.openxmlformats.org/drawingml/2006/main">
              <a:ext uri="{FF2B5EF4-FFF2-40B4-BE49-F238E27FC236}">
                <a16:creationId xmlns:a16="http://schemas.microsoft.com/office/drawing/2014/main" id="{A6E04C24-83A6-461B-BC8A-1ACDB547D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581275"/>
            <a:ext cx="994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State three characteristics of a CPU that affect its performance. [3]</a:t>
            </a:r>
          </a:p>
        </p:txBody>
      </p:sp>
      <p:sp>
        <p:nvSpPr>
          <p:cNvPr id="8" name="b">
            <a:extLst xmlns:a="http://schemas.openxmlformats.org/drawingml/2006/main">
              <a:ext uri="{FF2B5EF4-FFF2-40B4-BE49-F238E27FC236}">
                <a16:creationId xmlns:a16="http://schemas.microsoft.com/office/drawing/2014/main" id="{C632542E-71AC-4616-9388-8A76BE57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43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b)</a:t>
            </a:r>
          </a:p>
        </p:txBody>
      </p:sp>
      <p:sp>
        <p:nvSpPr>
          <p:cNvPr id="9" name="question-b">
            <a:extLst xmlns:a="http://schemas.openxmlformats.org/drawingml/2006/main">
              <a:ext uri="{FF2B5EF4-FFF2-40B4-BE49-F238E27FC236}">
                <a16:creationId xmlns:a16="http://schemas.microsoft.com/office/drawing/2014/main" id="{6A2CC52D-89BA-4AFB-9D31-5E0162C6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43375"/>
            <a:ext cx="9944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laptop is advertised with a quad-core 3.2 GHz processor. Explain what this tells you about the CPU. [3]</a:t>
            </a:r>
          </a:p>
        </p:txBody>
      </p:sp>
    </p:spTree>
    <p:extLst>
      <p:ext uri="{BB962C8B-B14F-4D97-AF65-F5344CB8AC3E}">
        <p14:creationId xmlns:p14="http://schemas.microsoft.com/office/powerpoint/2010/main" val="193704580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ic">
            <a:extLst xmlns:a="http://schemas.openxmlformats.org/drawingml/2006/main">
              <a:ext uri="{FF2B5EF4-FFF2-40B4-BE49-F238E27FC236}">
                <a16:creationId xmlns:a16="http://schemas.microsoft.com/office/drawing/2014/main" id="{13282583-0B56-4DE8-89C7-D811338A9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67961653-2340-4154-B108-8DD18A2A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Exam practice: question (c)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D14DE2B-A5E8-4462-8413-A0F03CA1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Plenary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FEA4279-A376-4B22-BE45-B4E67641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17 / 20</a:t>
            </a:r>
          </a:p>
        </p:txBody>
      </p:sp>
      <p:sp>
        <p:nvSpPr>
          <p:cNvPr id="5" name="from-memory">
            <a:extLst xmlns:a="http://schemas.openxmlformats.org/drawingml/2006/main">
              <a:ext uri="{FF2B5EF4-FFF2-40B4-BE49-F238E27FC236}">
                <a16:creationId xmlns:a16="http://schemas.microsoft.com/office/drawing/2014/main" id="{4C1386FB-709B-4FD8-A256-E86F062D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10715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Keep the experience closed. Explain your reasoning in full sentences.</a:t>
            </a:r>
          </a:p>
        </p:txBody>
      </p:sp>
      <p:sp>
        <p:nvSpPr>
          <p:cNvPr id="6" name="c">
            <a:extLst xmlns:a="http://schemas.openxmlformats.org/drawingml/2006/main">
              <a:ext uri="{FF2B5EF4-FFF2-40B4-BE49-F238E27FC236}">
                <a16:creationId xmlns:a16="http://schemas.microsoft.com/office/drawing/2014/main" id="{4EAE8334-016C-47DA-83EF-77096EA3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81300"/>
            <a:ext cx="609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c)</a:t>
            </a:r>
          </a:p>
        </p:txBody>
      </p:sp>
      <p:sp>
        <p:nvSpPr>
          <p:cNvPr id="7" name="question-c">
            <a:extLst xmlns:a="http://schemas.openxmlformats.org/drawingml/2006/main">
              <a:ext uri="{FF2B5EF4-FFF2-40B4-BE49-F238E27FC236}">
                <a16:creationId xmlns:a16="http://schemas.microsoft.com/office/drawing/2014/main" id="{02329C50-9078-4BC1-A80D-1A92087A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81300"/>
            <a:ext cx="98679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user edits video and finds their computer slow. Explain how each of the three characteristics could improve its performance. [6]</a:t>
            </a:r>
          </a:p>
        </p:txBody>
      </p:sp>
      <p:sp>
        <p:nvSpPr>
          <p:cNvPr id="8" name="marks">
            <a:extLst xmlns:a="http://schemas.openxmlformats.org/drawingml/2006/main">
              <a:ext uri="{FF2B5EF4-FFF2-40B4-BE49-F238E27FC236}">
                <a16:creationId xmlns:a16="http://schemas.microsoft.com/office/drawing/2014/main" id="{94118082-7B8E-45ED-B80B-9481E8A0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38775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marks in brackets to judge how much detail to include.</a:t>
            </a:r>
          </a:p>
        </p:txBody>
      </p:sp>
    </p:spTree>
    <p:extLst>
      <p:ext uri="{BB962C8B-B14F-4D97-AF65-F5344CB8AC3E}">
        <p14:creationId xmlns:p14="http://schemas.microsoft.com/office/powerpoint/2010/main" val="148337357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55201553-E04E-4F39-B410-0F370BD47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81437AB1-C91D-4D7C-A551-1E58C474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Exam practice: answers (a–b)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FE36806-199F-49F9-BAAD-31638A1E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2CF00F9-E9A4-4DC7-9B7A-1E3D64CA7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18 / 20</a:t>
            </a:r>
          </a:p>
        </p:txBody>
      </p:sp>
      <p:sp>
        <p:nvSpPr>
          <p:cNvPr id="5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CB19CE17-6129-42B3-855D-F559A0F4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points. Credit accurate answers in students’ own words.</a:t>
            </a:r>
          </a:p>
        </p:txBody>
      </p:sp>
      <p:sp>
        <p:nvSpPr>
          <p:cNvPr id="6" name="scheme-a">
            <a:extLst xmlns:a="http://schemas.openxmlformats.org/drawingml/2006/main">
              <a:ext uri="{FF2B5EF4-FFF2-40B4-BE49-F238E27FC236}">
                <a16:creationId xmlns:a16="http://schemas.microsoft.com/office/drawing/2014/main" id="{956C80BE-919B-40DC-87A1-D11B2973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 Clock speed, cache size and number of cores.</a:t>
            </a:r>
          </a:p>
        </p:txBody>
      </p:sp>
      <p:sp>
        <p:nvSpPr>
          <p:cNvPr id="7" name="scheme-b">
            <a:extLst xmlns:a="http://schemas.openxmlformats.org/drawingml/2006/main">
              <a:ext uri="{FF2B5EF4-FFF2-40B4-BE49-F238E27FC236}">
                <a16:creationId xmlns:a16="http://schemas.microsoft.com/office/drawing/2014/main" id="{AE471A4D-0A3C-45E8-95A2-9022914D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1057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  Quad-core means four processing cores. Each can execute instructions independently. 3.2 GHz describes about 3.2 billion clock cycles per second at that quoted speed.</a:t>
            </a:r>
          </a:p>
        </p:txBody>
      </p:sp>
    </p:spTree>
    <p:extLst>
      <p:ext uri="{BB962C8B-B14F-4D97-AF65-F5344CB8AC3E}">
        <p14:creationId xmlns:p14="http://schemas.microsoft.com/office/powerpoint/2010/main" val="146278168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ic">
            <a:extLst xmlns:a="http://schemas.openxmlformats.org/drawingml/2006/main">
              <a:ext uri="{FF2B5EF4-FFF2-40B4-BE49-F238E27FC236}">
                <a16:creationId xmlns:a16="http://schemas.microsoft.com/office/drawing/2014/main" id="{72872443-1F63-4836-99E9-1A8AD244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2FFA5C12-187D-4E93-A5C6-AF5E514D7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Exam practice: answer (c)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4209451-6FC7-4CF8-8B30-885E9DA4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E9000B6-2181-4B33-BDD9-AC3D1A40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19 / 20</a:t>
            </a:r>
          </a:p>
        </p:txBody>
      </p:sp>
      <p:sp>
        <p:nvSpPr>
          <p:cNvPr id="5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05A7EC48-0C4E-4164-B31D-4B0442AF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715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 for the final question.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FF08FE6B-39AC-4026-B68B-AC5FC39E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4543098A-BC95-4A89-B093-844A606E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860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Higher clock speed can allow more cycles per second, helping instruction processing.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8D966AAA-3B5C-4094-8982-347F065C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3778BD06-181D-4F9E-8AF9-6E8538319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909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larger cache can hold more needed data near the CPU and reduce waits for RAM.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E43D1095-6173-46A0-845D-27CB20A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1A17DED0-23D1-496F-83D7-88632CD2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958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More cores can process separate threads in parallel when the editing software can use them.</a:t>
            </a:r>
          </a:p>
        </p:txBody>
      </p:sp>
    </p:spTree>
    <p:extLst>
      <p:ext uri="{BB962C8B-B14F-4D97-AF65-F5344CB8AC3E}">
        <p14:creationId xmlns:p14="http://schemas.microsoft.com/office/powerpoint/2010/main" val="202303076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ic">
            <a:extLst xmlns:a="http://schemas.openxmlformats.org/drawingml/2006/main">
              <a:ext uri="{FF2B5EF4-FFF2-40B4-BE49-F238E27FC236}">
                <a16:creationId xmlns:a16="http://schemas.microsoft.com/office/drawing/2014/main" id="{C8696627-8B0A-453C-8BA9-F03AC5B6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03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94E3342F-240E-4EF8-AC41-65C4922E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confident am I?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A8FDBF9-B428-4536-9FD9-0EC50893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Self-check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D45A81F-7392-4B2F-ADF4-C5A6CA19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20 / 20</a:t>
            </a:r>
          </a:p>
        </p:txBody>
      </p:sp>
      <p:sp>
        <p:nvSpPr>
          <p:cNvPr id="5" name="confidence-instruction">
            <a:extLst xmlns:a="http://schemas.openxmlformats.org/drawingml/2006/main">
              <a:ext uri="{FF2B5EF4-FFF2-40B4-BE49-F238E27FC236}">
                <a16:creationId xmlns:a16="http://schemas.microsoft.com/office/drawing/2014/main" id="{3B1B954A-E2EA-4F12-B658-5BDD2A5F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10477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On the worksheet, select Not yet, Getting there or Confident for each objective.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25FAA6D2-EE89-49E9-BFFD-5AE3682B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4E42CEE1-4DF8-493B-AC60-B0E7A601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1460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clock speed affects performance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63D303F0-192A-4E08-A28D-A2DC24AF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0D0A7BCF-685F-4373-9BBD-D1884453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2425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cache size affects performance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95B3FF59-25E6-4A4E-95EE-BD5FCD9B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A07C6D53-4265-40F0-ACE1-C0B66051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3390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the number of cores affects performance</a:t>
            </a:r>
          </a:p>
        </p:txBody>
      </p:sp>
    </p:spTree>
    <p:extLst>
      <p:ext uri="{BB962C8B-B14F-4D97-AF65-F5344CB8AC3E}">
        <p14:creationId xmlns:p14="http://schemas.microsoft.com/office/powerpoint/2010/main" val="9433628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2026-09-25T11:38:45.9520000Z</dcterms:created>
  <dcterms:modified xsi:type="dcterms:W3CDTF">2026-09-25T11:38:45.9520000Z</dcterms:modified>
</coreProperties>
</file>