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d711bd64534c50" /><Relationship Type="http://schemas.openxmlformats.org/officeDocument/2006/relationships/extended-properties" Target="/docProps/app.xml" Id="Rd3fc227f6e114aee" /><Relationship Type="http://schemas.openxmlformats.org/officeDocument/2006/relationships/officeDocument" Target="/ppt/presentation.xml" Id="Rc9db1f8fa9fb47c2" /></Relationships>
</file>

<file path=ppt/presentation.xml><?xml version="1.0" encoding="utf-8"?>
<p:presentation xmlns:p="http://schemas.openxmlformats.org/presentationml/2006/main">
  <p:sldMasterIdLst>
    <p:sldMasterId xmlns:r="http://schemas.openxmlformats.org/officeDocument/2006/relationships" id="2147483648" r:id="Rc411e2c53b4b48be"/>
  </p:sldMasterIdLst>
  <p:notesMasterIdLst>
    <p:notesMasterId xmlns:r="http://schemas.openxmlformats.org/officeDocument/2006/relationships" r:id="R423043c3fd544497"/>
  </p:notesMasterIdLst>
  <p:sldIdLst>
    <p:sldId xmlns:r="http://schemas.openxmlformats.org/officeDocument/2006/relationships" id="256" r:id="R2b158522a8a14251"/>
    <p:sldId xmlns:r="http://schemas.openxmlformats.org/officeDocument/2006/relationships" id="257" r:id="R9ebb1b737fe2443d"/>
    <p:sldId xmlns:r="http://schemas.openxmlformats.org/officeDocument/2006/relationships" id="258" r:id="Ra870519f36a6465b"/>
    <p:sldId xmlns:r="http://schemas.openxmlformats.org/officeDocument/2006/relationships" id="259" r:id="R6c7a71d2a9d24d5a"/>
    <p:sldId xmlns:r="http://schemas.openxmlformats.org/officeDocument/2006/relationships" id="260" r:id="R2eb86b39494243b9"/>
    <p:sldId xmlns:r="http://schemas.openxmlformats.org/officeDocument/2006/relationships" id="261" r:id="Rba38ef612c2e406a"/>
    <p:sldId xmlns:r="http://schemas.openxmlformats.org/officeDocument/2006/relationships" id="262" r:id="Rc07917106e654e41"/>
    <p:sldId xmlns:r="http://schemas.openxmlformats.org/officeDocument/2006/relationships" id="263" r:id="R46695bdebf68452a"/>
    <p:sldId xmlns:r="http://schemas.openxmlformats.org/officeDocument/2006/relationships" id="264" r:id="Rebceb8ba22804b29"/>
    <p:sldId xmlns:r="http://schemas.openxmlformats.org/officeDocument/2006/relationships" id="265" r:id="Rc24d1ca1dd254adc"/>
    <p:sldId xmlns:r="http://schemas.openxmlformats.org/officeDocument/2006/relationships" id="266" r:id="R5b320bf64bd2498d"/>
    <p:sldId xmlns:r="http://schemas.openxmlformats.org/officeDocument/2006/relationships" id="267" r:id="R878c8ec096584b73"/>
    <p:sldId xmlns:r="http://schemas.openxmlformats.org/officeDocument/2006/relationships" id="268" r:id="Ra47df867a7a04fdb"/>
    <p:sldId xmlns:r="http://schemas.openxmlformats.org/officeDocument/2006/relationships" id="269" r:id="Re115d0bde0c94f2a"/>
    <p:sldId xmlns:r="http://schemas.openxmlformats.org/officeDocument/2006/relationships" id="270" r:id="Rd2540fcbd8244e48"/>
    <p:sldId xmlns:r="http://schemas.openxmlformats.org/officeDocument/2006/relationships" id="271" r:id="Rcc6117b81ced4b29"/>
    <p:sldId xmlns:r="http://schemas.openxmlformats.org/officeDocument/2006/relationships" id="272" r:id="R3657684fa4a049bc"/>
    <p:sldId xmlns:r="http://schemas.openxmlformats.org/officeDocument/2006/relationships" id="273" r:id="R78c7c32762d9497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4a148f377248ab" /><Relationship Type="http://schemas.openxmlformats.org/officeDocument/2006/relationships/slideMaster" Target="/ppt/slideMasters/slideMaster1.xml" Id="Rc411e2c53b4b48be" /><Relationship Type="http://schemas.openxmlformats.org/officeDocument/2006/relationships/notesMaster" Target="/ppt/notesMasters/notesMaster1.xml" Id="R423043c3fd544497" /><Relationship Type="http://schemas.openxmlformats.org/officeDocument/2006/relationships/presProps" Target="/ppt/presProps.xml" Id="Rc850af9f9e474fe5" /><Relationship Type="http://schemas.openxmlformats.org/officeDocument/2006/relationships/tableStyles" Target="/ppt/tableStyles.xml" Id="R76cbaaedc22b4db9" /><Relationship Type="http://schemas.openxmlformats.org/officeDocument/2006/relationships/slide" Target="/ppt/slides/slide1.xml" Id="R2b158522a8a14251" /><Relationship Type="http://schemas.openxmlformats.org/officeDocument/2006/relationships/slide" Target="/ppt/slides/slide2.xml" Id="R9ebb1b737fe2443d" /><Relationship Type="http://schemas.openxmlformats.org/officeDocument/2006/relationships/slide" Target="/ppt/slides/slide3.xml" Id="Ra870519f36a6465b" /><Relationship Type="http://schemas.openxmlformats.org/officeDocument/2006/relationships/slide" Target="/ppt/slides/slide4.xml" Id="R6c7a71d2a9d24d5a" /><Relationship Type="http://schemas.openxmlformats.org/officeDocument/2006/relationships/slide" Target="/ppt/slides/slide5.xml" Id="R2eb86b39494243b9" /><Relationship Type="http://schemas.openxmlformats.org/officeDocument/2006/relationships/slide" Target="/ppt/slides/slide6.xml" Id="Rba38ef612c2e406a" /><Relationship Type="http://schemas.openxmlformats.org/officeDocument/2006/relationships/slide" Target="/ppt/slides/slide7.xml" Id="Rc07917106e654e41" /><Relationship Type="http://schemas.openxmlformats.org/officeDocument/2006/relationships/slide" Target="/ppt/slides/slide8.xml" Id="R46695bdebf68452a" /><Relationship Type="http://schemas.openxmlformats.org/officeDocument/2006/relationships/slide" Target="/ppt/slides/slide9.xml" Id="Rebceb8ba22804b29" /><Relationship Type="http://schemas.openxmlformats.org/officeDocument/2006/relationships/slide" Target="/ppt/slides/slide10.xml" Id="Rc24d1ca1dd254adc" /><Relationship Type="http://schemas.openxmlformats.org/officeDocument/2006/relationships/slide" Target="/ppt/slides/slide11.xml" Id="R5b320bf64bd2498d" /><Relationship Type="http://schemas.openxmlformats.org/officeDocument/2006/relationships/slide" Target="/ppt/slides/slide12.xml" Id="R878c8ec096584b73" /><Relationship Type="http://schemas.openxmlformats.org/officeDocument/2006/relationships/slide" Target="/ppt/slides/slide13.xml" Id="Ra47df867a7a04fdb" /><Relationship Type="http://schemas.openxmlformats.org/officeDocument/2006/relationships/slide" Target="/ppt/slides/slide14.xml" Id="Re115d0bde0c94f2a" /><Relationship Type="http://schemas.openxmlformats.org/officeDocument/2006/relationships/slide" Target="/ppt/slides/slide15.xml" Id="Rd2540fcbd8244e48" /><Relationship Type="http://schemas.openxmlformats.org/officeDocument/2006/relationships/slide" Target="/ppt/slides/slide16.xml" Id="Rcc6117b81ced4b29" /><Relationship Type="http://schemas.openxmlformats.org/officeDocument/2006/relationships/slide" Target="/ppt/slides/slide17.xml" Id="R3657684fa4a049bc" /><Relationship Type="http://schemas.openxmlformats.org/officeDocument/2006/relationships/slide" Target="/ppt/slides/slide18.xml" Id="R78c7c32762d9497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c69cf0caf546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9c9f99df5e4c97" /><Relationship Type="http://schemas.openxmlformats.org/officeDocument/2006/relationships/notesMaster" Target="/ppt/notesMasters/notesMaster1.xml" Id="R3a692403a8304a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7c786476494501" /><Relationship Type="http://schemas.openxmlformats.org/officeDocument/2006/relationships/notesMaster" Target="/ppt/notesMasters/notesMaster1.xml" Id="R00e836e494db45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63672390a347d2" /><Relationship Type="http://schemas.openxmlformats.org/officeDocument/2006/relationships/notesMaster" Target="/ppt/notesMasters/notesMaster1.xml" Id="R91c88aa11d6c47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47457d262d46de" /><Relationship Type="http://schemas.openxmlformats.org/officeDocument/2006/relationships/notesMaster" Target="/ppt/notesMasters/notesMaster1.xml" Id="R33c0c2ed16e140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8b34713c6b4515" /><Relationship Type="http://schemas.openxmlformats.org/officeDocument/2006/relationships/notesMaster" Target="/ppt/notesMasters/notesMaster1.xml" Id="R66884a87a80244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801b2b49a54639" /><Relationship Type="http://schemas.openxmlformats.org/officeDocument/2006/relationships/notesMaster" Target="/ppt/notesMasters/notesMaster1.xml" Id="R3d9f0ee1fd4343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cd356a8f3f49c1" /><Relationship Type="http://schemas.openxmlformats.org/officeDocument/2006/relationships/notesMaster" Target="/ppt/notesMasters/notesMaster1.xml" Id="R6f60f87c23dc4a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abec676ef54328" /><Relationship Type="http://schemas.openxmlformats.org/officeDocument/2006/relationships/notesMaster" Target="/ppt/notesMasters/notesMaster1.xml" Id="R3ab88d9ce4e641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27bbc00991c4aa2" /><Relationship Type="http://schemas.openxmlformats.org/officeDocument/2006/relationships/notesMaster" Target="/ppt/notesMasters/notesMaster1.xml" Id="R9eacf0a8f8a246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9db874924e4d1e" /><Relationship Type="http://schemas.openxmlformats.org/officeDocument/2006/relationships/notesMaster" Target="/ppt/notesMasters/notesMaster1.xml" Id="R7bb3ab5c223348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3d197fdec440c2" /><Relationship Type="http://schemas.openxmlformats.org/officeDocument/2006/relationships/notesMaster" Target="/ppt/notesMasters/notesMaster1.xml" Id="R3d01d328a2d0420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1701bd41154c35" /><Relationship Type="http://schemas.openxmlformats.org/officeDocument/2006/relationships/notesMaster" Target="/ppt/notesMasters/notesMaster1.xml" Id="R8b0d019b0dd443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58dc0f681e94019" /><Relationship Type="http://schemas.openxmlformats.org/officeDocument/2006/relationships/notesMaster" Target="/ppt/notesMasters/notesMaster1.xml" Id="R52a30d94765346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2568ea8ed84720" /><Relationship Type="http://schemas.openxmlformats.org/officeDocument/2006/relationships/notesMaster" Target="/ppt/notesMasters/notesMaster1.xml" Id="Rc96726c831ae48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4269ff9293d4192" /><Relationship Type="http://schemas.openxmlformats.org/officeDocument/2006/relationships/notesMaster" Target="/ppt/notesMasters/notesMaster1.xml" Id="R0a51044f1a084a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36dac0ab51c479b" /><Relationship Type="http://schemas.openxmlformats.org/officeDocument/2006/relationships/notesMaster" Target="/ppt/notesMasters/notesMaster1.xml" Id="R6615f3be68d245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901920d8eb44432" /><Relationship Type="http://schemas.openxmlformats.org/officeDocument/2006/relationships/notesMaster" Target="/ppt/notesMasters/notesMaster1.xml" Id="R73aedb6e25ac4d6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499839cd701493b" /><Relationship Type="http://schemas.openxmlformats.org/officeDocument/2006/relationships/notesMaster" Target="/ppt/notesMasters/notesMaster1.xml" Id="Re94526dac7ce44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The experience opens after the starter and key term answers have been checked.</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board slide after the key term answers and leave it visible during the experience. The OPEN EXPERIENCE label links to the matching experience. Everyone should finish the experience in this lesson and move to the plenary near the end. The worksheet gives the route and station names.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Avoid implying clock frequency alone determines real-world performance, or that twice the cores always doubles speed. For c, look for an explanation of each factor in this video-editing context. Ask students to revise one sentence after self-check.</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experiences/sa-l03.json and worksheets/SA_L03_SpeedLab_Worksheet.docx.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2197dadadf48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02c69536db14f01" /><Relationship Type="http://schemas.openxmlformats.org/officeDocument/2006/relationships/slideLayout" Target="/ppt/slideLayouts/slideLayout1.xml" Id="R0da7d1c2489a41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a7d1c2489a41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8a5a6faf1d4466" /><Relationship Type="http://schemas.openxmlformats.org/officeDocument/2006/relationships/image" Target="/ppt/media/image.png" Id="R67b06e9de4b24d7a" /><Relationship Type="http://schemas.openxmlformats.org/officeDocument/2006/relationships/image" Target="/ppt/media/image.jpeg" Id="Ra456c7877f484423" /><Relationship Type="http://schemas.openxmlformats.org/officeDocument/2006/relationships/notesSlide" Target="/ppt/notesSlides/notesSlide1.xml" Id="Rcbf5764d347741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871e6a82394844" /><Relationship Type="http://schemas.openxmlformats.org/officeDocument/2006/relationships/image" Target="/ppt/media/image2.png" Id="R33de4691d6514a69" /><Relationship Type="http://schemas.openxmlformats.org/officeDocument/2006/relationships/notesSlide" Target="/ppt/notesSlides/notesSlide2.xml" Id="Re84edbe956e14e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d2994d5c4f14642" /><Relationship Type="http://schemas.openxmlformats.org/officeDocument/2006/relationships/image" Target="/ppt/media/image3.png" Id="Rda3b55b3a56f42a5" /><Relationship Type="http://schemas.openxmlformats.org/officeDocument/2006/relationships/notesSlide" Target="/ppt/notesSlides/notesSlide3.xml" Id="R9a7118947ce944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45814707d647a0" /><Relationship Type="http://schemas.openxmlformats.org/officeDocument/2006/relationships/image" Target="/ppt/media/image4.png" Id="Ra568309b608e47e7" /><Relationship Type="http://schemas.openxmlformats.org/officeDocument/2006/relationships/notesSlide" Target="/ppt/notesSlides/notesSlide4.xml" Id="R0455409c643b47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c0cc96171fb4296" /><Relationship Type="http://schemas.openxmlformats.org/officeDocument/2006/relationships/image" Target="/ppt/media/image5.png" Id="Rf2afca3f8cb74905" /><Relationship Type="http://schemas.openxmlformats.org/officeDocument/2006/relationships/notesSlide" Target="/ppt/notesSlides/notesSlide5.xml" Id="Rd45e19ed2a184c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879b5ce1e04db4" /><Relationship Type="http://schemas.openxmlformats.org/officeDocument/2006/relationships/image" Target="/ppt/media/image6.png" Id="R8f20233b9d304625" /><Relationship Type="http://schemas.openxmlformats.org/officeDocument/2006/relationships/notesSlide" Target="/ppt/notesSlides/notesSlide6.xml" Id="R289254c0c14347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c40946a2fd54e9d" /><Relationship Type="http://schemas.openxmlformats.org/officeDocument/2006/relationships/image" Target="/ppt/media/image7.png" Id="R390221cb9bed4bfb" /><Relationship Type="http://schemas.openxmlformats.org/officeDocument/2006/relationships/hyperlink" Target="https://mrp-cs.github.io/Revise360/experience.html?id=sa-l03" TargetMode="External" Id="Ra732ac98cbf94c9f" /><Relationship Type="http://schemas.openxmlformats.org/officeDocument/2006/relationships/notesSlide" Target="/ppt/notesSlides/notesSlide7.xml" Id="R2fb9e7c985eb4d5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23e603bdcb84f44" /><Relationship Type="http://schemas.openxmlformats.org/officeDocument/2006/relationships/image" Target="/ppt/media/image8.png" Id="R07a80c5d83b243ea" /><Relationship Type="http://schemas.openxmlformats.org/officeDocument/2006/relationships/notesSlide" Target="/ppt/notesSlides/notesSlide8.xml" Id="R68f395a157884d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5e1ddafd7284833" /><Relationship Type="http://schemas.openxmlformats.org/officeDocument/2006/relationships/image" Target="/ppt/media/image9.png" Id="R85be7eab17d049b7" /><Relationship Type="http://schemas.openxmlformats.org/officeDocument/2006/relationships/notesSlide" Target="/ppt/notesSlides/notesSlide9.xml" Id="R3ddb45b7b37340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3609ca075044821" /><Relationship Type="http://schemas.openxmlformats.org/officeDocument/2006/relationships/image" Target="/ppt/media/image10.png" Id="R0eb8a4fe20bb43fd" /><Relationship Type="http://schemas.openxmlformats.org/officeDocument/2006/relationships/notesSlide" Target="/ppt/notesSlides/notesSlide10.xml" Id="R7f2e13b7edc249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3e3e46fb8524d68" /><Relationship Type="http://schemas.openxmlformats.org/officeDocument/2006/relationships/image" Target="/ppt/media/image11.png" Id="Rf6d06d161315441a" /><Relationship Type="http://schemas.openxmlformats.org/officeDocument/2006/relationships/notesSlide" Target="/ppt/notesSlides/notesSlide11.xml" Id="Rfce6b28724ed4a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cf6dde750894cee" /><Relationship Type="http://schemas.openxmlformats.org/officeDocument/2006/relationships/image" Target="/ppt/media/image12.png" Id="Rd4a859986eea4dc3" /><Relationship Type="http://schemas.openxmlformats.org/officeDocument/2006/relationships/notesSlide" Target="/ppt/notesSlides/notesSlide12.xml" Id="R8314851f65ee423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a30d558bcf425c" /><Relationship Type="http://schemas.openxmlformats.org/officeDocument/2006/relationships/image" Target="/ppt/media/image13.png" Id="R4e6f49461c7e4738" /><Relationship Type="http://schemas.openxmlformats.org/officeDocument/2006/relationships/notesSlide" Target="/ppt/notesSlides/notesSlide13.xml" Id="Rdffb4ac0d37d4b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c64628247804600" /><Relationship Type="http://schemas.openxmlformats.org/officeDocument/2006/relationships/image" Target="/ppt/media/image14.png" Id="R4b7570edc2294fe8" /><Relationship Type="http://schemas.openxmlformats.org/officeDocument/2006/relationships/notesSlide" Target="/ppt/notesSlides/notesSlide14.xml" Id="R0acbb71033df4a1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fdb609c7ef24bc9" /><Relationship Type="http://schemas.openxmlformats.org/officeDocument/2006/relationships/image" Target="/ppt/media/image15.png" Id="R22e6890b0fb5404f" /><Relationship Type="http://schemas.openxmlformats.org/officeDocument/2006/relationships/notesSlide" Target="/ppt/notesSlides/notesSlide15.xml" Id="Rdd7226028ab441e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246beb4e88941c7" /><Relationship Type="http://schemas.openxmlformats.org/officeDocument/2006/relationships/image" Target="/ppt/media/image16.png" Id="R71d430c3cea64aff" /><Relationship Type="http://schemas.openxmlformats.org/officeDocument/2006/relationships/notesSlide" Target="/ppt/notesSlides/notesSlide16.xml" Id="R281514a2678147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221aec057e04cfd" /><Relationship Type="http://schemas.openxmlformats.org/officeDocument/2006/relationships/image" Target="/ppt/media/image17.png" Id="R81239e6ca0854d54" /><Relationship Type="http://schemas.openxmlformats.org/officeDocument/2006/relationships/notesSlide" Target="/ppt/notesSlides/notesSlide17.xml" Id="R10932a03389c47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65b369245a244b1" /><Relationship Type="http://schemas.openxmlformats.org/officeDocument/2006/relationships/image" Target="/ppt/media/image18.png" Id="R2053955375f0497e" /><Relationship Type="http://schemas.openxmlformats.org/officeDocument/2006/relationships/notesSlide" Target="/ppt/notesSlides/notesSlide18.xml" Id="R22eb713cc81e4660"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FB8EDF4B-933F-4BF2-AC60-A2754D7C1073}"/>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CE5D7FF-EC70-4C21-A0AE-43FA60D0867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03</a:t>
            </a:r>
          </a:p>
        </p:txBody>
      </p:sp>
      <p:sp>
        <p:nvSpPr>
          <p:cNvPr id="3" name="heading">
            <a:extLst xmlns:a="http://schemas.openxmlformats.org/drawingml/2006/main">
              <a:ext uri="{FF2B5EF4-FFF2-40B4-BE49-F238E27FC236}">
                <a16:creationId xmlns:a16="http://schemas.microsoft.com/office/drawing/2014/main" id="{CC400387-5EDA-411A-BC06-1BB79E38F39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SPEED LAB</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7b06e9de4b24d7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D85387FD-B5BD-4072-A20C-6FEDBEB2AE2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 / 18</a:t>
            </a:r>
          </a:p>
        </p:txBody>
      </p:sp>
      <p:sp>
        <p:nvSpPr>
          <p:cNvPr id="6" name="subject">
            <a:extLst xmlns:a="http://schemas.openxmlformats.org/drawingml/2006/main">
              <a:ext uri="{FF2B5EF4-FFF2-40B4-BE49-F238E27FC236}">
                <a16:creationId xmlns:a16="http://schemas.microsoft.com/office/drawing/2014/main" id="{1A504160-E9E2-470F-807D-11BD3D906ADD}"/>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CPU performance</a:t>
            </a:r>
          </a:p>
        </p:txBody>
      </p:sp>
      <p:sp>
        <p:nvSpPr>
          <p:cNvPr id="7" name="cover-key-label">
            <a:extLst xmlns:a="http://schemas.openxmlformats.org/drawingml/2006/main">
              <a:ext uri="{FF2B5EF4-FFF2-40B4-BE49-F238E27FC236}">
                <a16:creationId xmlns:a16="http://schemas.microsoft.com/office/drawing/2014/main" id="{5596469A-BBCE-4564-90D1-318BEC989A98}"/>
              </a:ext>
            </a:extLst>
          </p:cNvPr>
          <p:cNvSpPr>
            <a:spLocks xmlns:a="http://schemas.openxmlformats.org/drawingml/2006/main" noGrp="1"/>
          </p:cNvSpPr>
          <p:nvPr/>
        </p:nvSpPr>
        <p:spPr>
          <a:xfrm xmlns:a="http://schemas.openxmlformats.org/drawingml/2006/main">
            <a:off x="685800" y="3038475"/>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KEY QUESTION</a:t>
            </a:r>
          </a:p>
        </p:txBody>
      </p:sp>
      <p:sp>
        <p:nvSpPr>
          <p:cNvPr id="8" name="cover-key-question">
            <a:extLst xmlns:a="http://schemas.openxmlformats.org/drawingml/2006/main">
              <a:ext uri="{FF2B5EF4-FFF2-40B4-BE49-F238E27FC236}">
                <a16:creationId xmlns:a16="http://schemas.microsoft.com/office/drawing/2014/main" id="{9C06303D-40C9-4653-9C4E-9A349DC7F804}"/>
              </a:ext>
            </a:extLst>
          </p:cNvPr>
          <p:cNvSpPr>
            <a:spLocks xmlns:a="http://schemas.openxmlformats.org/drawingml/2006/main" noGrp="1"/>
          </p:cNvSpPr>
          <p:nvPr/>
        </p:nvSpPr>
        <p:spPr>
          <a:xfrm xmlns:a="http://schemas.openxmlformats.org/drawingml/2006/main">
            <a:off x="685800" y="3429000"/>
            <a:ext cx="4762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What factors affect CPU performance?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456c7877f484423"/>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5640365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9797FB2B-5C96-47EF-AAD0-8F45D35CC2B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474CCB8-9495-4807-A34D-363C2594A22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a:t>
            </a:r>
          </a:p>
        </p:txBody>
      </p:sp>
      <p:sp>
        <p:nvSpPr>
          <p:cNvPr id="3" name="heading">
            <a:extLst xmlns:a="http://schemas.openxmlformats.org/drawingml/2006/main">
              <a:ext uri="{FF2B5EF4-FFF2-40B4-BE49-F238E27FC236}">
                <a16:creationId xmlns:a16="http://schemas.microsoft.com/office/drawing/2014/main" id="{32097959-5D75-4EB6-B733-845C5D6C762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3de4691d6514a69"/>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497CCAF-8BFC-419D-A36E-27B0F864B2C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18</a:t>
            </a:r>
          </a:p>
        </p:txBody>
      </p:sp>
      <p:sp>
        <p:nvSpPr>
          <p:cNvPr id="6" name="number-1">
            <a:extLst xmlns:a="http://schemas.openxmlformats.org/drawingml/2006/main">
              <a:ext uri="{FF2B5EF4-FFF2-40B4-BE49-F238E27FC236}">
                <a16:creationId xmlns:a16="http://schemas.microsoft.com/office/drawing/2014/main" id="{54144390-A5E3-449E-A956-B34EBC85069F}"/>
              </a:ext>
            </a:extLst>
          </p:cNvPr>
          <p:cNvSpPr>
            <a:spLocks xmlns:a="http://schemas.openxmlformats.org/drawingml/2006/main" noGrp="1"/>
          </p:cNvSpPr>
          <p:nvPr/>
        </p:nvSpPr>
        <p:spPr>
          <a:xfrm xmlns:a="http://schemas.openxmlformats.org/drawingml/2006/main">
            <a:off x="723900" y="1943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23081E22-0DA5-4C80-A5C8-300B2ACFF32E}"/>
              </a:ext>
            </a:extLst>
          </p:cNvPr>
          <p:cNvSpPr>
            <a:spLocks xmlns:a="http://schemas.openxmlformats.org/drawingml/2006/main" noGrp="1"/>
          </p:cNvSpPr>
          <p:nvPr/>
        </p:nvSpPr>
        <p:spPr>
          <a:xfrm xmlns:a="http://schemas.openxmlformats.org/drawingml/2006/main">
            <a:off x="1352550" y="19431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three ways in which CPU speed, and therefore computer speed, can be increased</a:t>
            </a:r>
          </a:p>
        </p:txBody>
      </p:sp>
      <p:sp>
        <p:nvSpPr>
          <p:cNvPr id="8" name="number-2">
            <a:extLst xmlns:a="http://schemas.openxmlformats.org/drawingml/2006/main">
              <a:ext uri="{FF2B5EF4-FFF2-40B4-BE49-F238E27FC236}">
                <a16:creationId xmlns:a16="http://schemas.microsoft.com/office/drawing/2014/main" id="{1FEC275E-1030-45B8-999B-A2B8A62B7A13}"/>
              </a:ext>
            </a:extLst>
          </p:cNvPr>
          <p:cNvSpPr>
            <a:spLocks xmlns:a="http://schemas.openxmlformats.org/drawingml/2006/main" noGrp="1"/>
          </p:cNvSpPr>
          <p:nvPr/>
        </p:nvSpPr>
        <p:spPr>
          <a:xfrm xmlns:a="http://schemas.openxmlformats.org/drawingml/2006/main">
            <a:off x="723900" y="31813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F892552A-2010-42BA-90A1-491BB6C5D2E7}"/>
              </a:ext>
            </a:extLst>
          </p:cNvPr>
          <p:cNvSpPr>
            <a:spLocks xmlns:a="http://schemas.openxmlformats.org/drawingml/2006/main" noGrp="1"/>
          </p:cNvSpPr>
          <p:nvPr/>
        </p:nvSpPr>
        <p:spPr>
          <a:xfrm xmlns:a="http://schemas.openxmlformats.org/drawingml/2006/main">
            <a:off x="1352550" y="318135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Begin learning how to program</a:t>
            </a:r>
          </a:p>
        </p:txBody>
      </p:sp>
    </p:spTree>
    <p:extLst>
      <p:ext uri="{BB962C8B-B14F-4D97-AF65-F5344CB8AC3E}">
        <p14:creationId xmlns:p14="http://schemas.microsoft.com/office/powerpoint/2010/main" val="14982365"/>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DFCCD8C5-A506-42D2-9B25-9D9FBD883EB6}"/>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AF6CDCB-B5D7-4D2B-9414-A4DC53D5E94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 STARTER</a:t>
            </a:r>
          </a:p>
        </p:txBody>
      </p:sp>
      <p:sp>
        <p:nvSpPr>
          <p:cNvPr id="3" name="heading">
            <a:extLst xmlns:a="http://schemas.openxmlformats.org/drawingml/2006/main">
              <a:ext uri="{FF2B5EF4-FFF2-40B4-BE49-F238E27FC236}">
                <a16:creationId xmlns:a16="http://schemas.microsoft.com/office/drawing/2014/main" id="{B2099393-5C79-47C2-88EA-359068B9CC8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a3b55b3a56f42a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6023F75-00EC-4239-911D-ACACC7CD029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18</a:t>
            </a:r>
          </a:p>
        </p:txBody>
      </p:sp>
      <p:sp>
        <p:nvSpPr>
          <p:cNvPr id="6" name="worksheet-starter">
            <a:extLst xmlns:a="http://schemas.openxmlformats.org/drawingml/2006/main">
              <a:ext uri="{FF2B5EF4-FFF2-40B4-BE49-F238E27FC236}">
                <a16:creationId xmlns:a16="http://schemas.microsoft.com/office/drawing/2014/main" id="{7C175702-E39E-426E-BCB2-DB3CE39776D7}"/>
              </a:ext>
            </a:extLst>
          </p:cNvPr>
          <p:cNvSpPr>
            <a:spLocks xmlns:a="http://schemas.openxmlformats.org/drawingml/2006/main" noGrp="1"/>
          </p:cNvSpPr>
          <p:nvPr/>
        </p:nvSpPr>
        <p:spPr>
          <a:xfrm xmlns:a="http://schemas.openxmlformats.org/drawingml/2006/main">
            <a:off x="704850" y="2095500"/>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Two laptops both have 8 GB of RAM, but one feels much faster. Suggest three things about their processors that could explain the difference.</a:t>
            </a:r>
          </a:p>
        </p:txBody>
      </p:sp>
    </p:spTree>
    <p:extLst>
      <p:ext uri="{BB962C8B-B14F-4D97-AF65-F5344CB8AC3E}">
        <p14:creationId xmlns:p14="http://schemas.microsoft.com/office/powerpoint/2010/main" val="1437234192"/>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EB70B65C-0B38-4A45-A755-E8C3B3E6FFD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C42FED0D-9DA6-492A-92CE-927C323A66C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98DC84BE-0398-469D-86E2-1A31F06AC1F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568309b608e47e7"/>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5509955-4F91-41DA-8C2B-8D0262DD9AA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18</a:t>
            </a:r>
          </a:p>
        </p:txBody>
      </p:sp>
      <p:sp>
        <p:nvSpPr>
          <p:cNvPr id="6" name="number-1">
            <a:extLst xmlns:a="http://schemas.openxmlformats.org/drawingml/2006/main">
              <a:ext uri="{FF2B5EF4-FFF2-40B4-BE49-F238E27FC236}">
                <a16:creationId xmlns:a16="http://schemas.microsoft.com/office/drawing/2014/main" id="{21693CF0-C69B-4856-AAA3-63D75083732B}"/>
              </a:ext>
            </a:extLst>
          </p:cNvPr>
          <p:cNvSpPr>
            <a:spLocks xmlns:a="http://schemas.openxmlformats.org/drawingml/2006/main" noGrp="1"/>
          </p:cNvSpPr>
          <p:nvPr/>
        </p:nvSpPr>
        <p:spPr>
          <a:xfrm xmlns:a="http://schemas.openxmlformats.org/drawingml/2006/main">
            <a:off x="723900" y="22860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F4A70539-0B83-49D3-B6E3-EBD8836C852D}"/>
              </a:ext>
            </a:extLst>
          </p:cNvPr>
          <p:cNvSpPr>
            <a:spLocks xmlns:a="http://schemas.openxmlformats.org/drawingml/2006/main" noGrp="1"/>
          </p:cNvSpPr>
          <p:nvPr/>
        </p:nvSpPr>
        <p:spPr>
          <a:xfrm xmlns:a="http://schemas.openxmlformats.org/drawingml/2006/main">
            <a:off x="1352550" y="228600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The processors may differ in clock speed, cache size and number of cores.</a:t>
            </a:r>
          </a:p>
        </p:txBody>
      </p:sp>
      <p:sp>
        <p:nvSpPr>
          <p:cNvPr id="8" name="number-2">
            <a:extLst xmlns:a="http://schemas.openxmlformats.org/drawingml/2006/main">
              <a:ext uri="{FF2B5EF4-FFF2-40B4-BE49-F238E27FC236}">
                <a16:creationId xmlns:a16="http://schemas.microsoft.com/office/drawing/2014/main" id="{6888A3AA-A935-404A-9A1C-6DD777D62E4A}"/>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6C94F4F5-5576-4EAF-9962-7826BA64996D}"/>
              </a:ext>
            </a:extLst>
          </p:cNvPr>
          <p:cNvSpPr>
            <a:spLocks xmlns:a="http://schemas.openxmlformats.org/drawingml/2006/main" noGrp="1"/>
          </p:cNvSpPr>
          <p:nvPr/>
        </p:nvSpPr>
        <p:spPr>
          <a:xfrm xmlns:a="http://schemas.openxmlformats.org/drawingml/2006/main">
            <a:off x="1352550" y="386715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The benefit depends on the task. Extra cores help most when software can use them.</a:t>
            </a:r>
          </a:p>
        </p:txBody>
      </p:sp>
    </p:spTree>
    <p:extLst>
      <p:ext uri="{BB962C8B-B14F-4D97-AF65-F5344CB8AC3E}">
        <p14:creationId xmlns:p14="http://schemas.microsoft.com/office/powerpoint/2010/main" val="153327288"/>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D34CCB09-6392-4006-A242-3C87DCA1D75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637ECEE-C7E4-49F1-8A2D-663F8029100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WORKSHEET KEY TERMS</a:t>
            </a:r>
          </a:p>
        </p:txBody>
      </p:sp>
      <p:sp>
        <p:nvSpPr>
          <p:cNvPr id="3" name="heading">
            <a:extLst xmlns:a="http://schemas.openxmlformats.org/drawingml/2006/main">
              <a:ext uri="{FF2B5EF4-FFF2-40B4-BE49-F238E27FC236}">
                <a16:creationId xmlns:a16="http://schemas.microsoft.com/office/drawing/2014/main" id="{8B34A091-83FB-43A2-A26A-CF6D9653B45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2afca3f8cb7490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F2FF7FFE-A06D-4E53-86AB-41A4DBC2ADA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18</a:t>
            </a:r>
          </a:p>
        </p:txBody>
      </p:sp>
      <p:sp>
        <p:nvSpPr>
          <p:cNvPr id="6" name="term-number-0">
            <a:extLst xmlns:a="http://schemas.openxmlformats.org/drawingml/2006/main">
              <a:ext uri="{FF2B5EF4-FFF2-40B4-BE49-F238E27FC236}">
                <a16:creationId xmlns:a16="http://schemas.microsoft.com/office/drawing/2014/main" id="{7FC732D8-80F6-45E8-B1F1-5B731EE8E0C1}"/>
              </a:ext>
            </a:extLst>
          </p:cNvPr>
          <p:cNvSpPr>
            <a:spLocks xmlns:a="http://schemas.openxmlformats.org/drawingml/2006/main" noGrp="1"/>
          </p:cNvSpPr>
          <p:nvPr/>
        </p:nvSpPr>
        <p:spPr>
          <a:xfrm xmlns:a="http://schemas.openxmlformats.org/drawingml/2006/main">
            <a:off x="723900" y="227647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106D882D-9FF1-48C8-A3AE-F2708F10D2BC}"/>
              </a:ext>
            </a:extLst>
          </p:cNvPr>
          <p:cNvSpPr>
            <a:spLocks xmlns:a="http://schemas.openxmlformats.org/drawingml/2006/main" noGrp="1"/>
          </p:cNvSpPr>
          <p:nvPr/>
        </p:nvSpPr>
        <p:spPr>
          <a:xfrm xmlns:a="http://schemas.openxmlformats.org/drawingml/2006/main">
            <a:off x="1371600" y="227647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Cache</a:t>
            </a:r>
          </a:p>
        </p:txBody>
      </p:sp>
      <p:sp>
        <p:nvSpPr>
          <p:cNvPr id="8" name="term-number-1">
            <a:extLst xmlns:a="http://schemas.openxmlformats.org/drawingml/2006/main">
              <a:ext uri="{FF2B5EF4-FFF2-40B4-BE49-F238E27FC236}">
                <a16:creationId xmlns:a16="http://schemas.microsoft.com/office/drawing/2014/main" id="{7B2AE4D6-3DCE-4638-8A22-921AFF86EC66}"/>
              </a:ext>
            </a:extLst>
          </p:cNvPr>
          <p:cNvSpPr>
            <a:spLocks xmlns:a="http://schemas.openxmlformats.org/drawingml/2006/main" noGrp="1"/>
          </p:cNvSpPr>
          <p:nvPr/>
        </p:nvSpPr>
        <p:spPr>
          <a:xfrm xmlns:a="http://schemas.openxmlformats.org/drawingml/2006/main">
            <a:off x="723900" y="408622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BE7AEDBF-5D48-4349-80A2-F3805EA14583}"/>
              </a:ext>
            </a:extLst>
          </p:cNvPr>
          <p:cNvSpPr>
            <a:spLocks xmlns:a="http://schemas.openxmlformats.org/drawingml/2006/main" noGrp="1"/>
          </p:cNvSpPr>
          <p:nvPr/>
        </p:nvSpPr>
        <p:spPr>
          <a:xfrm xmlns:a="http://schemas.openxmlformats.org/drawingml/2006/main">
            <a:off x="1371600" y="408622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Register</a:t>
            </a:r>
          </a:p>
        </p:txBody>
      </p:sp>
    </p:spTree>
    <p:extLst>
      <p:ext uri="{BB962C8B-B14F-4D97-AF65-F5344CB8AC3E}">
        <p14:creationId xmlns:p14="http://schemas.microsoft.com/office/powerpoint/2010/main" val="7477945"/>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655078E5-B652-4219-A284-2BA0254405B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DBCA1E9-1CFD-4D83-9F2F-84298D2783A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D5941D13-4321-4453-91A4-552520EB1D0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f20233b9d30462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160273F9-68A3-4349-B690-5E036317256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18</a:t>
            </a:r>
          </a:p>
        </p:txBody>
      </p:sp>
      <p:sp>
        <p:nvSpPr>
          <p:cNvPr id="6" name="answer-term-0">
            <a:extLst xmlns:a="http://schemas.openxmlformats.org/drawingml/2006/main">
              <a:ext uri="{FF2B5EF4-FFF2-40B4-BE49-F238E27FC236}">
                <a16:creationId xmlns:a16="http://schemas.microsoft.com/office/drawing/2014/main" id="{2D4BFEB8-74C8-4F45-B475-C9600E0A9FAD}"/>
              </a:ext>
            </a:extLst>
          </p:cNvPr>
          <p:cNvSpPr>
            <a:spLocks xmlns:a="http://schemas.openxmlformats.org/drawingml/2006/main" noGrp="1"/>
          </p:cNvSpPr>
          <p:nvPr/>
        </p:nvSpPr>
        <p:spPr>
          <a:xfrm xmlns:a="http://schemas.openxmlformats.org/drawingml/2006/main">
            <a:off x="723900" y="2047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Cache</a:t>
            </a:r>
          </a:p>
        </p:txBody>
      </p:sp>
      <p:sp>
        <p:nvSpPr>
          <p:cNvPr id="7" name="answer-definition-0">
            <a:extLst xmlns:a="http://schemas.openxmlformats.org/drawingml/2006/main">
              <a:ext uri="{FF2B5EF4-FFF2-40B4-BE49-F238E27FC236}">
                <a16:creationId xmlns:a16="http://schemas.microsoft.com/office/drawing/2014/main" id="{AA811382-06E4-486D-8DF9-A43F9D8AF893}"/>
              </a:ext>
            </a:extLst>
          </p:cNvPr>
          <p:cNvSpPr>
            <a:spLocks xmlns:a="http://schemas.openxmlformats.org/drawingml/2006/main" noGrp="1"/>
          </p:cNvSpPr>
          <p:nvPr/>
        </p:nvSpPr>
        <p:spPr>
          <a:xfrm xmlns:a="http://schemas.openxmlformats.org/drawingml/2006/main">
            <a:off x="723900" y="2628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Small, fast memory for frequently used instructions and data.</a:t>
            </a:r>
          </a:p>
        </p:txBody>
      </p:sp>
      <p:sp>
        <p:nvSpPr>
          <p:cNvPr id="8" name="answer-term-1">
            <a:extLst xmlns:a="http://schemas.openxmlformats.org/drawingml/2006/main">
              <a:ext uri="{FF2B5EF4-FFF2-40B4-BE49-F238E27FC236}">
                <a16:creationId xmlns:a16="http://schemas.microsoft.com/office/drawing/2014/main" id="{E9406026-B678-45B1-81B2-65A681929969}"/>
              </a:ext>
            </a:extLst>
          </p:cNvPr>
          <p:cNvSpPr>
            <a:spLocks xmlns:a="http://schemas.openxmlformats.org/drawingml/2006/main" noGrp="1"/>
          </p:cNvSpPr>
          <p:nvPr/>
        </p:nvSpPr>
        <p:spPr>
          <a:xfrm xmlns:a="http://schemas.openxmlformats.org/drawingml/2006/main">
            <a:off x="723900" y="39338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Register</a:t>
            </a:r>
          </a:p>
        </p:txBody>
      </p:sp>
      <p:sp>
        <p:nvSpPr>
          <p:cNvPr id="9" name="answer-definition-1">
            <a:extLst xmlns:a="http://schemas.openxmlformats.org/drawingml/2006/main">
              <a:ext uri="{FF2B5EF4-FFF2-40B4-BE49-F238E27FC236}">
                <a16:creationId xmlns:a16="http://schemas.microsoft.com/office/drawing/2014/main" id="{DF0D5093-4D6B-4949-A15C-8B81442E5572}"/>
              </a:ext>
            </a:extLst>
          </p:cNvPr>
          <p:cNvSpPr>
            <a:spLocks xmlns:a="http://schemas.openxmlformats.org/drawingml/2006/main" noGrp="1"/>
          </p:cNvSpPr>
          <p:nvPr/>
        </p:nvSpPr>
        <p:spPr>
          <a:xfrm xmlns:a="http://schemas.openxmlformats.org/drawingml/2006/main">
            <a:off x="723900" y="45148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tiny, very fast storage location inside the CPU for one value.</a:t>
            </a:r>
          </a:p>
        </p:txBody>
      </p:sp>
    </p:spTree>
    <p:extLst>
      <p:ext uri="{BB962C8B-B14F-4D97-AF65-F5344CB8AC3E}">
        <p14:creationId xmlns:p14="http://schemas.microsoft.com/office/powerpoint/2010/main" val="9224979"/>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4F68BD23-EC83-4CCE-9B8E-B86A4B308CDA}"/>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0368CB9-4BC2-4093-B0C5-04F73748E81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03   /   EXPERIENCE</a:t>
            </a:r>
          </a:p>
        </p:txBody>
      </p:sp>
      <p:sp>
        <p:nvSpPr>
          <p:cNvPr id="3" name="heading">
            <a:extLst xmlns:a="http://schemas.openxmlformats.org/drawingml/2006/main">
              <a:ext uri="{FF2B5EF4-FFF2-40B4-BE49-F238E27FC236}">
                <a16:creationId xmlns:a16="http://schemas.microsoft.com/office/drawing/2014/main" id="{D29D2DD6-0441-4D21-AD8F-084410BEB8A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Worksheet + experience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90221cb9bed4bf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ED8BED32-DCE2-4A80-AC34-C13D50AD25F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7 / 18</a:t>
            </a:r>
          </a:p>
        </p:txBody>
      </p:sp>
      <p:sp>
        <p:nvSpPr>
          <p:cNvPr id="6" name="open-label">
            <a:extLst xmlns:a="http://schemas.openxmlformats.org/drawingml/2006/main">
              <a:ext uri="{FF2B5EF4-FFF2-40B4-BE49-F238E27FC236}">
                <a16:creationId xmlns:a16="http://schemas.microsoft.com/office/drawing/2014/main" id="{D7D1CD1B-CA94-482C-A850-F15C353C1611}"/>
              </a:ext>
            </a:extLst>
          </p:cNvPr>
          <p:cNvSpPr>
            <a:spLocks xmlns:a="http://schemas.openxmlformats.org/drawingml/2006/main" noGrp="1"/>
          </p:cNvSpPr>
          <p:nvPr/>
        </p:nvSpPr>
        <p:spPr>
          <a:xfrm xmlns:a="http://schemas.openxmlformats.org/drawingml/2006/main">
            <a:off x="723900" y="15240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01   </a:t>
            </a:r>
            <a:r>
              <a:rPr sz="1425" b="1">
                <a:solidFill>
                  <a:srgbClr val="77D8FF"/>
                </a:solidFill>
                <a:latin typeface="DejaVu Sans"/>
                <a:ea typeface="DejaVu Sans"/>
                <a:cs typeface="DejaVu Sans"/>
                <a:hlinkClick xmlns:r="http://schemas.openxmlformats.org/officeDocument/2006/relationships" r:id="Ra732ac98cbf94c9f"/>
              </a:rPr>
              <a:t>OPEN EXPERIENCE ↗</a:t>
            </a:r>
          </a:p>
        </p:txBody>
      </p:sp>
      <p:sp>
        <p:nvSpPr>
          <p:cNvPr id="7" name="open-body">
            <a:extLst xmlns:a="http://schemas.openxmlformats.org/drawingml/2006/main">
              <a:ext uri="{FF2B5EF4-FFF2-40B4-BE49-F238E27FC236}">
                <a16:creationId xmlns:a16="http://schemas.microsoft.com/office/drawing/2014/main" id="{16B45B0C-F97A-4438-A742-2B1910777614}"/>
              </a:ext>
            </a:extLst>
          </p:cNvPr>
          <p:cNvSpPr>
            <a:spLocks xmlns:a="http://schemas.openxmlformats.org/drawingml/2006/main" noGrp="1"/>
          </p:cNvSpPr>
          <p:nvPr/>
        </p:nvSpPr>
        <p:spPr>
          <a:xfrm xmlns:a="http://schemas.openxmlformats.org/drawingml/2006/main">
            <a:off x="723900" y="1847850"/>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Speed lab in Topic 1.1. Keep the worksheet beside you.</a:t>
            </a:r>
          </a:p>
        </p:txBody>
      </p:sp>
      <p:sp>
        <p:nvSpPr>
          <p:cNvPr id="8" name="station-label">
            <a:extLst xmlns:a="http://schemas.openxmlformats.org/drawingml/2006/main">
              <a:ext uri="{FF2B5EF4-FFF2-40B4-BE49-F238E27FC236}">
                <a16:creationId xmlns:a16="http://schemas.microsoft.com/office/drawing/2014/main" id="{0E32CE10-BA44-435C-8C9E-AE0933FE82FE}"/>
              </a:ext>
            </a:extLst>
          </p:cNvPr>
          <p:cNvSpPr>
            <a:spLocks xmlns:a="http://schemas.openxmlformats.org/drawingml/2006/main" noGrp="1"/>
          </p:cNvSpPr>
          <p:nvPr/>
        </p:nvSpPr>
        <p:spPr>
          <a:xfrm xmlns:a="http://schemas.openxmlformats.org/drawingml/2006/main">
            <a:off x="723900" y="25908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02   SIX STATIONS</a:t>
            </a:r>
          </a:p>
        </p:txBody>
      </p:sp>
      <p:sp>
        <p:nvSpPr>
          <p:cNvPr id="9" name="station-body">
            <a:extLst xmlns:a="http://schemas.openxmlformats.org/drawingml/2006/main">
              <a:ext uri="{FF2B5EF4-FFF2-40B4-BE49-F238E27FC236}">
                <a16:creationId xmlns:a16="http://schemas.microsoft.com/office/drawing/2014/main" id="{3C7E171D-EBD3-4687-A36F-D7E982665D9F}"/>
              </a:ext>
            </a:extLst>
          </p:cNvPr>
          <p:cNvSpPr>
            <a:spLocks xmlns:a="http://schemas.openxmlformats.org/drawingml/2006/main" noGrp="1"/>
          </p:cNvSpPr>
          <p:nvPr/>
        </p:nvSpPr>
        <p:spPr>
          <a:xfrm xmlns:a="http://schemas.openxmlformats.org/drawingml/2006/main">
            <a:off x="723900" y="2914650"/>
            <a:ext cx="1057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Read each panel. Write the key fact IN YOUR OWN WORDS and answer the worksheet challenge before tapping its badge.</a:t>
            </a:r>
          </a:p>
        </p:txBody>
      </p:sp>
      <p:sp>
        <p:nvSpPr>
          <p:cNvPr id="10" name="finish-label">
            <a:extLst xmlns:a="http://schemas.openxmlformats.org/drawingml/2006/main">
              <a:ext uri="{FF2B5EF4-FFF2-40B4-BE49-F238E27FC236}">
                <a16:creationId xmlns:a16="http://schemas.microsoft.com/office/drawing/2014/main" id="{D3BFAE23-E43A-4E9E-A159-78DE094ED0E0}"/>
              </a:ext>
            </a:extLst>
          </p:cNvPr>
          <p:cNvSpPr>
            <a:spLocks xmlns:a="http://schemas.openxmlformats.org/drawingml/2006/main" noGrp="1"/>
          </p:cNvSpPr>
          <p:nvPr/>
        </p:nvSpPr>
        <p:spPr>
          <a:xfrm xmlns:a="http://schemas.openxmlformats.org/drawingml/2006/main">
            <a:off x="723900" y="3714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03   FINAL CHALLENGE</a:t>
            </a:r>
          </a:p>
        </p:txBody>
      </p:sp>
      <p:sp>
        <p:nvSpPr>
          <p:cNvPr id="11" name="finish-body">
            <a:extLst xmlns:a="http://schemas.openxmlformats.org/drawingml/2006/main">
              <a:ext uri="{FF2B5EF4-FFF2-40B4-BE49-F238E27FC236}">
                <a16:creationId xmlns:a16="http://schemas.microsoft.com/office/drawing/2014/main" id="{9CC6D5B4-23DB-46AD-B70E-D59D04173328}"/>
              </a:ext>
            </a:extLst>
          </p:cNvPr>
          <p:cNvSpPr>
            <a:spLocks xmlns:a="http://schemas.openxmlformats.org/drawingml/2006/main" noGrp="1"/>
          </p:cNvSpPr>
          <p:nvPr/>
        </p:nvSpPr>
        <p:spPr>
          <a:xfrm xmlns:a="http://schemas.openxmlformats.org/drawingml/2006/main">
            <a:off x="723900" y="4048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Complete the ★ table before tapping the star. Copy your score (out of 17), then answer the worksheet key question.</a:t>
            </a:r>
          </a:p>
        </p:txBody>
      </p:sp>
      <p:sp>
        <p:nvSpPr>
          <p:cNvPr id="12" name="plenary-label">
            <a:extLst xmlns:a="http://schemas.openxmlformats.org/drawingml/2006/main">
              <a:ext uri="{FF2B5EF4-FFF2-40B4-BE49-F238E27FC236}">
                <a16:creationId xmlns:a16="http://schemas.microsoft.com/office/drawing/2014/main" id="{37C97C95-E1E9-4F6B-BB05-538050CDF7A0}"/>
              </a:ext>
            </a:extLst>
          </p:cNvPr>
          <p:cNvSpPr>
            <a:spLocks xmlns:a="http://schemas.openxmlformats.org/drawingml/2006/main" noGrp="1"/>
          </p:cNvSpPr>
          <p:nvPr/>
        </p:nvSpPr>
        <p:spPr>
          <a:xfrm xmlns:a="http://schemas.openxmlformats.org/drawingml/2006/main">
            <a:off x="723900" y="49149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04   PLENARY</a:t>
            </a:r>
          </a:p>
        </p:txBody>
      </p:sp>
      <p:sp>
        <p:nvSpPr>
          <p:cNvPr id="13" name="plenary-body">
            <a:extLst xmlns:a="http://schemas.openxmlformats.org/drawingml/2006/main">
              <a:ext uri="{FF2B5EF4-FFF2-40B4-BE49-F238E27FC236}">
                <a16:creationId xmlns:a16="http://schemas.microsoft.com/office/drawing/2014/main" id="{47529584-2609-4528-BBFB-F5F36025921D}"/>
              </a:ext>
            </a:extLst>
          </p:cNvPr>
          <p:cNvSpPr>
            <a:spLocks xmlns:a="http://schemas.openxmlformats.org/drawingml/2006/main" noGrp="1"/>
          </p:cNvSpPr>
          <p:nvPr/>
        </p:nvSpPr>
        <p:spPr>
          <a:xfrm xmlns:a="http://schemas.openxmlformats.org/drawingml/2006/main">
            <a:off x="723900" y="52387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FFFFFF"/>
                </a:solidFill>
                <a:latin typeface="DejaVu Sans"/>
                <a:ea typeface="DejaVu Sans"/>
                <a:cs typeface="DejaVu Sans"/>
              </a:defRPr>
            </a:pPr>
            <a:r>
              <a:rPr sz="1800" b="0">
                <a:solidFill>
                  <a:srgbClr val="FFFFFF"/>
                </a:solidFill>
                <a:latin typeface="DejaVu Sans"/>
                <a:ea typeface="DejaVu Sans"/>
                <a:cs typeface="DejaVu Sans"/>
              </a:rPr>
              <a:t>Finish the experience in this lesson. Near the end, close it for the plenary knowledge checks.</a:t>
            </a:r>
          </a:p>
        </p:txBody>
      </p:sp>
    </p:spTree>
    <p:extLst>
      <p:ext uri="{BB962C8B-B14F-4D97-AF65-F5344CB8AC3E}">
        <p14:creationId xmlns:p14="http://schemas.microsoft.com/office/powerpoint/2010/main" val="2271337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oter background">
            <a:extLst xmlns:a="http://schemas.openxmlformats.org/drawingml/2006/main">
              <a:ext uri="{FF2B5EF4-FFF2-40B4-BE49-F238E27FC236}">
                <a16:creationId xmlns:a16="http://schemas.microsoft.com/office/drawing/2014/main" id="{A773A1C9-6448-4BFC-B121-83C2F69D5F9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E4E6BE03-37FD-4DD4-8967-8549251E283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EXTENSION</a:t>
            </a:r>
          </a:p>
        </p:txBody>
      </p:sp>
      <p:sp>
        <p:nvSpPr>
          <p:cNvPr id="3" name="heading">
            <a:extLst xmlns:a="http://schemas.openxmlformats.org/drawingml/2006/main">
              <a:ext uri="{FF2B5EF4-FFF2-40B4-BE49-F238E27FC236}">
                <a16:creationId xmlns:a16="http://schemas.microsoft.com/office/drawing/2014/main" id="{18F1654B-8700-46AC-8EAA-C59F8A83FBA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7a80c5d83b243e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FB28DBF-21FB-4387-852E-2ACDC7AAEA1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18</a:t>
            </a:r>
          </a:p>
        </p:txBody>
      </p:sp>
      <p:sp>
        <p:nvSpPr>
          <p:cNvPr id="6" name="extension-prompt">
            <a:extLst xmlns:a="http://schemas.openxmlformats.org/drawingml/2006/main">
              <a:ext uri="{FF2B5EF4-FFF2-40B4-BE49-F238E27FC236}">
                <a16:creationId xmlns:a16="http://schemas.microsoft.com/office/drawing/2014/main" id="{E4274737-EC0F-429A-B2F1-7783BECFC04F}"/>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CPU A has two cores at 3.8 GHz. CPU B has four cores at 3.0 GHz. Their caches are equal. Which might suit several programs running together?</a:t>
            </a:r>
          </a:p>
        </p:txBody>
      </p:sp>
      <p:sp>
        <p:nvSpPr>
          <p:cNvPr id="7" name="extension-follow">
            <a:extLst xmlns:a="http://schemas.openxmlformats.org/drawingml/2006/main">
              <a:ext uri="{FF2B5EF4-FFF2-40B4-BE49-F238E27FC236}">
                <a16:creationId xmlns:a16="http://schemas.microsoft.com/office/drawing/2014/main" id="{1910BBA0-31B9-4383-BA31-1E3143A7C467}"/>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Explain why a single task might give a different answer. Avoid claiming a guaranteed speedup.</a:t>
            </a:r>
          </a:p>
        </p:txBody>
      </p:sp>
    </p:spTree>
    <p:extLst>
      <p:ext uri="{BB962C8B-B14F-4D97-AF65-F5344CB8AC3E}">
        <p14:creationId xmlns:p14="http://schemas.microsoft.com/office/powerpoint/2010/main" val="1949461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940301EB-CAB9-4477-99CD-A81E3F90FDD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670300C-0E05-46A7-A3E5-150382D14D5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EXTENSION</a:t>
            </a:r>
          </a:p>
        </p:txBody>
      </p:sp>
      <p:sp>
        <p:nvSpPr>
          <p:cNvPr id="3" name="heading">
            <a:extLst xmlns:a="http://schemas.openxmlformats.org/drawingml/2006/main">
              <a:ext uri="{FF2B5EF4-FFF2-40B4-BE49-F238E27FC236}">
                <a16:creationId xmlns:a16="http://schemas.microsoft.com/office/drawing/2014/main" id="{0284FCB9-E397-4275-97AF-2E6D6E7F8D9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5be7eab17d049b7"/>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4D078F1-4352-4518-AF5A-C325DA941D5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18</a:t>
            </a:r>
          </a:p>
        </p:txBody>
      </p:sp>
      <p:sp>
        <p:nvSpPr>
          <p:cNvPr id="6" name="extension-two">
            <a:extLst xmlns:a="http://schemas.openxmlformats.org/drawingml/2006/main">
              <a:ext uri="{FF2B5EF4-FFF2-40B4-BE49-F238E27FC236}">
                <a16:creationId xmlns:a16="http://schemas.microsoft.com/office/drawing/2014/main" id="{6297042A-6ABF-4B7E-971B-936200E8A1D0}"/>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Explain when extra cores will not help a task. Then explain how a cache miss makes the CPU wait for RAM.</a:t>
            </a:r>
          </a:p>
        </p:txBody>
      </p:sp>
    </p:spTree>
    <p:extLst>
      <p:ext uri="{BB962C8B-B14F-4D97-AF65-F5344CB8AC3E}">
        <p14:creationId xmlns:p14="http://schemas.microsoft.com/office/powerpoint/2010/main" val="1882820114"/>
      </p:ext>
    </p:extLst>
  </p:cSld>
</p:sld>
</file>

<file path=ppt/slides/slide10.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2FD5AFC5-47AE-45EE-8004-E27B66D13321}"/>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BE0847B9-D763-43DF-B82D-36D089C40C3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E2CAD6F6-5E0A-4A9A-8776-3B12A4D1873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eb8a4fe20bb43fd"/>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4A80366B-DA58-4CB3-9B0C-EEAE67BE986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18</a:t>
            </a:r>
          </a:p>
        </p:txBody>
      </p:sp>
      <p:sp>
        <p:nvSpPr>
          <p:cNvPr id="6" name="extension-check">
            <a:extLst xmlns:a="http://schemas.openxmlformats.org/drawingml/2006/main">
              <a:ext uri="{FF2B5EF4-FFF2-40B4-BE49-F238E27FC236}">
                <a16:creationId xmlns:a16="http://schemas.microsoft.com/office/drawing/2014/main" id="{B3C55363-A788-40CB-A066-D6E9BB0DB96D}"/>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7" name="answer-application">
            <a:extLst xmlns:a="http://schemas.openxmlformats.org/drawingml/2006/main">
              <a:ext uri="{FF2B5EF4-FFF2-40B4-BE49-F238E27FC236}">
                <a16:creationId xmlns:a16="http://schemas.microsoft.com/office/drawing/2014/main" id="{02F6B7D3-71BD-4E03-A436-A90966811CDA}"/>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8" name="answer-application-body">
            <a:extLst xmlns:a="http://schemas.openxmlformats.org/drawingml/2006/main">
              <a:ext uri="{FF2B5EF4-FFF2-40B4-BE49-F238E27FC236}">
                <a16:creationId xmlns:a16="http://schemas.microsoft.com/office/drawing/2014/main" id="{3217AE89-E607-4025-B56A-CADDEB1012FC}"/>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CPU B may help several programs run together if they can use separate cores. CPU A may suit a task using one core. Clock speed alone cannot settle real performance.</a:t>
            </a:r>
          </a:p>
        </p:txBody>
      </p:sp>
      <p:sp>
        <p:nvSpPr>
          <p:cNvPr id="9" name="answer-stretch">
            <a:extLst xmlns:a="http://schemas.openxmlformats.org/drawingml/2006/main">
              <a:ext uri="{FF2B5EF4-FFF2-40B4-BE49-F238E27FC236}">
                <a16:creationId xmlns:a16="http://schemas.microsoft.com/office/drawing/2014/main" id="{76DB3965-8600-43B9-A63D-59D9288BA6BC}"/>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10" name="answer-stretch-body">
            <a:extLst xmlns:a="http://schemas.openxmlformats.org/drawingml/2006/main">
              <a:ext uri="{FF2B5EF4-FFF2-40B4-BE49-F238E27FC236}">
                <a16:creationId xmlns:a16="http://schemas.microsoft.com/office/drawing/2014/main" id="{0FBD0E02-07C0-424F-B2EF-260D927BA3C9}"/>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Extra cores bring little gain when software has one serial thread. On a cache miss, the CPU must fetch the needed item from slower RAM.</a:t>
            </a:r>
          </a:p>
        </p:txBody>
      </p:sp>
    </p:spTree>
    <p:extLst>
      <p:ext uri="{BB962C8B-B14F-4D97-AF65-F5344CB8AC3E}">
        <p14:creationId xmlns:p14="http://schemas.microsoft.com/office/powerpoint/2010/main" val="723695709"/>
      </p:ext>
    </p:extLst>
  </p:cSld>
</p:sld>
</file>

<file path=ppt/slides/slide11.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B43F7C92-9CAD-441A-9790-C7D3D7A44216}"/>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520DF483-427A-41F1-B978-3CDD61CAD6C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ANSWERS</a:t>
            </a:r>
          </a:p>
        </p:txBody>
      </p:sp>
      <p:sp>
        <p:nvSpPr>
          <p:cNvPr id="3" name="heading">
            <a:extLst xmlns:a="http://schemas.openxmlformats.org/drawingml/2006/main">
              <a:ext uri="{FF2B5EF4-FFF2-40B4-BE49-F238E27FC236}">
                <a16:creationId xmlns:a16="http://schemas.microsoft.com/office/drawing/2014/main" id="{23E2977E-D567-4CAD-BB71-36622E8B714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f6d06d161315441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095D34F9-78BA-4DF9-8C3F-2DB10767D84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18</a:t>
            </a:r>
          </a:p>
        </p:txBody>
      </p:sp>
      <p:sp>
        <p:nvSpPr>
          <p:cNvPr id="6" name="check-stations">
            <a:extLst xmlns:a="http://schemas.openxmlformats.org/drawingml/2006/main">
              <a:ext uri="{FF2B5EF4-FFF2-40B4-BE49-F238E27FC236}">
                <a16:creationId xmlns:a16="http://schemas.microsoft.com/office/drawing/2014/main" id="{0F6E5F68-40B6-4E12-ABE3-A3787B3DC075}"/>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0">
            <a:extLst xmlns:a="http://schemas.openxmlformats.org/drawingml/2006/main">
              <a:ext uri="{FF2B5EF4-FFF2-40B4-BE49-F238E27FC236}">
                <a16:creationId xmlns:a16="http://schemas.microsoft.com/office/drawing/2014/main" id="{5CE4C414-997F-43A9-A913-795C3D4EAD02}"/>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Clock speed</a:t>
            </a:r>
          </a:p>
        </p:txBody>
      </p:sp>
      <p:sp>
        <p:nvSpPr>
          <p:cNvPr id="8" name="station-answer-0">
            <a:extLst xmlns:a="http://schemas.openxmlformats.org/drawingml/2006/main">
              <a:ext uri="{FF2B5EF4-FFF2-40B4-BE49-F238E27FC236}">
                <a16:creationId xmlns:a16="http://schemas.microsoft.com/office/drawing/2014/main" id="{82ED7B76-3D8B-46B3-AEB8-CA0FDDEDDDFB}"/>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2.5 GHz processor runs about 2.5 billion clock cycles per second at that speed.</a:t>
            </a:r>
          </a:p>
        </p:txBody>
      </p:sp>
      <p:sp>
        <p:nvSpPr>
          <p:cNvPr id="9" name="station-name-1">
            <a:extLst xmlns:a="http://schemas.openxmlformats.org/drawingml/2006/main">
              <a:ext uri="{FF2B5EF4-FFF2-40B4-BE49-F238E27FC236}">
                <a16:creationId xmlns:a16="http://schemas.microsoft.com/office/drawing/2014/main" id="{C797C11C-6608-4BDF-8C53-CC248C93BBFB}"/>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Overclocking and heat</a:t>
            </a:r>
          </a:p>
        </p:txBody>
      </p:sp>
      <p:sp>
        <p:nvSpPr>
          <p:cNvPr id="10" name="station-answer-1">
            <a:extLst xmlns:a="http://schemas.openxmlformats.org/drawingml/2006/main">
              <a:ext uri="{FF2B5EF4-FFF2-40B4-BE49-F238E27FC236}">
                <a16:creationId xmlns:a16="http://schemas.microsoft.com/office/drawing/2014/main" id="{7A47C711-CC2A-4EF2-B60A-FB731BDC780F}"/>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Overclocking raises speed above its intended setting and produces more heat; cooling reduces the risk.</a:t>
            </a:r>
          </a:p>
        </p:txBody>
      </p:sp>
      <p:sp>
        <p:nvSpPr>
          <p:cNvPr id="11" name="station-name-2">
            <a:extLst xmlns:a="http://schemas.openxmlformats.org/drawingml/2006/main">
              <a:ext uri="{FF2B5EF4-FFF2-40B4-BE49-F238E27FC236}">
                <a16:creationId xmlns:a16="http://schemas.microsoft.com/office/drawing/2014/main" id="{B56363CF-8215-4384-9276-1DE0EAB64988}"/>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Cache size</a:t>
            </a:r>
          </a:p>
        </p:txBody>
      </p:sp>
      <p:sp>
        <p:nvSpPr>
          <p:cNvPr id="12" name="station-answer-2">
            <a:extLst xmlns:a="http://schemas.openxmlformats.org/drawingml/2006/main">
              <a:ext uri="{FF2B5EF4-FFF2-40B4-BE49-F238E27FC236}">
                <a16:creationId xmlns:a16="http://schemas.microsoft.com/office/drawing/2014/main" id="{B75067C0-FC67-46B2-8B0D-6DD7D17B3CF0}"/>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 larger cache may hold more needed data near the CPU, reducing slower RAM accesses.</a:t>
            </a:r>
          </a:p>
        </p:txBody>
      </p:sp>
    </p:spTree>
    <p:extLst>
      <p:ext uri="{BB962C8B-B14F-4D97-AF65-F5344CB8AC3E}">
        <p14:creationId xmlns:p14="http://schemas.microsoft.com/office/powerpoint/2010/main" val="927732184"/>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F388BBFC-A90B-462E-A937-0DEC3FF9EFA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AD80925-0B87-4A00-9C6D-19F1DD71CC7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ANSWERS</a:t>
            </a:r>
          </a:p>
        </p:txBody>
      </p:sp>
      <p:sp>
        <p:nvSpPr>
          <p:cNvPr id="3" name="heading">
            <a:extLst xmlns:a="http://schemas.openxmlformats.org/drawingml/2006/main">
              <a:ext uri="{FF2B5EF4-FFF2-40B4-BE49-F238E27FC236}">
                <a16:creationId xmlns:a16="http://schemas.microsoft.com/office/drawing/2014/main" id="{2B1025C3-1867-48E4-88D7-250595FDE42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4a859986eea4dc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3F67A40-D7D7-412B-AE02-0E6FE371E7F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18</a:t>
            </a:r>
          </a:p>
        </p:txBody>
      </p:sp>
      <p:sp>
        <p:nvSpPr>
          <p:cNvPr id="6" name="check-stations">
            <a:extLst xmlns:a="http://schemas.openxmlformats.org/drawingml/2006/main">
              <a:ext uri="{FF2B5EF4-FFF2-40B4-BE49-F238E27FC236}">
                <a16:creationId xmlns:a16="http://schemas.microsoft.com/office/drawing/2014/main" id="{5A8B0F1A-E33E-43DB-A057-C25AB11C2078}"/>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3">
            <a:extLst xmlns:a="http://schemas.openxmlformats.org/drawingml/2006/main">
              <a:ext uri="{FF2B5EF4-FFF2-40B4-BE49-F238E27FC236}">
                <a16:creationId xmlns:a16="http://schemas.microsoft.com/office/drawing/2014/main" id="{E9355282-C708-4798-9F04-B2239835AF18}"/>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Number of cores</a:t>
            </a:r>
          </a:p>
        </p:txBody>
      </p:sp>
      <p:sp>
        <p:nvSpPr>
          <p:cNvPr id="8" name="station-answer-3">
            <a:extLst xmlns:a="http://schemas.openxmlformats.org/drawingml/2006/main">
              <a:ext uri="{FF2B5EF4-FFF2-40B4-BE49-F238E27FC236}">
                <a16:creationId xmlns:a16="http://schemas.microsoft.com/office/drawing/2014/main" id="{D9F08AD3-10BA-4FD2-83CA-A974C3DF6FBE}"/>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Several cores can handle threads in parallel, but one task may not split into several threads.</a:t>
            </a:r>
          </a:p>
        </p:txBody>
      </p:sp>
      <p:sp>
        <p:nvSpPr>
          <p:cNvPr id="9" name="station-name-4">
            <a:extLst xmlns:a="http://schemas.openxmlformats.org/drawingml/2006/main">
              <a:ext uri="{FF2B5EF4-FFF2-40B4-BE49-F238E27FC236}">
                <a16:creationId xmlns:a16="http://schemas.microsoft.com/office/drawing/2014/main" id="{9A2CC753-F00D-4079-84AF-4D603D7D1D69}"/>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Single core, 2.5 GHz</a:t>
            </a:r>
          </a:p>
        </p:txBody>
      </p:sp>
      <p:sp>
        <p:nvSpPr>
          <p:cNvPr id="10" name="station-answer-4">
            <a:extLst xmlns:a="http://schemas.openxmlformats.org/drawingml/2006/main">
              <a:ext uri="{FF2B5EF4-FFF2-40B4-BE49-F238E27FC236}">
                <a16:creationId xmlns:a16="http://schemas.microsoft.com/office/drawing/2014/main" id="{474BC866-C5EF-4C91-8117-E0FA58D25343}"/>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Single core means one processing core; 2.5 GHz is its quoted clock speed. The CPU runs instructions.</a:t>
            </a:r>
          </a:p>
        </p:txBody>
      </p:sp>
      <p:sp>
        <p:nvSpPr>
          <p:cNvPr id="11" name="station-name-5">
            <a:extLst xmlns:a="http://schemas.openxmlformats.org/drawingml/2006/main">
              <a:ext uri="{FF2B5EF4-FFF2-40B4-BE49-F238E27FC236}">
                <a16:creationId xmlns:a16="http://schemas.microsoft.com/office/drawing/2014/main" id="{727DE206-853F-451F-8B88-D80901BD52AF}"/>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Units of speed</a:t>
            </a:r>
          </a:p>
        </p:txBody>
      </p:sp>
      <p:sp>
        <p:nvSpPr>
          <p:cNvPr id="12" name="station-answer-5">
            <a:extLst xmlns:a="http://schemas.openxmlformats.org/drawingml/2006/main">
              <a:ext uri="{FF2B5EF4-FFF2-40B4-BE49-F238E27FC236}">
                <a16:creationId xmlns:a16="http://schemas.microsoft.com/office/drawing/2014/main" id="{E4AB38A3-C29E-45FF-8D65-3D6E738349CC}"/>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400 kHz is slower than 900 MHz, which is slower than 1.2 GHz. Kilo, mega and giga scale up.</a:t>
            </a:r>
          </a:p>
        </p:txBody>
      </p:sp>
    </p:spTree>
    <p:extLst>
      <p:ext uri="{BB962C8B-B14F-4D97-AF65-F5344CB8AC3E}">
        <p14:creationId xmlns:p14="http://schemas.microsoft.com/office/powerpoint/2010/main" val="174610475"/>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7" name="footer background">
            <a:extLst xmlns:a="http://schemas.openxmlformats.org/drawingml/2006/main">
              <a:ext uri="{FF2B5EF4-FFF2-40B4-BE49-F238E27FC236}">
                <a16:creationId xmlns:a16="http://schemas.microsoft.com/office/drawing/2014/main" id="{5898CA7A-95C9-47E2-AA10-07BA13C5410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EB3897FA-0783-4ABB-9541-D0EAA28E153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42055AC6-7C9E-4023-B18B-529A8D198CB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e6f49461c7e473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AA287C3D-B44B-480C-A8C5-EAC395507FE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18</a:t>
            </a:r>
          </a:p>
        </p:txBody>
      </p:sp>
      <p:sp>
        <p:nvSpPr>
          <p:cNvPr id="6" name="star-key">
            <a:extLst xmlns:a="http://schemas.openxmlformats.org/drawingml/2006/main">
              <a:ext uri="{FF2B5EF4-FFF2-40B4-BE49-F238E27FC236}">
                <a16:creationId xmlns:a16="http://schemas.microsoft.com/office/drawing/2014/main" id="{A31B01EF-14E0-45E9-973C-437424177B2F}"/>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7" name="number-1">
            <a:extLst xmlns:a="http://schemas.openxmlformats.org/drawingml/2006/main">
              <a:ext uri="{FF2B5EF4-FFF2-40B4-BE49-F238E27FC236}">
                <a16:creationId xmlns:a16="http://schemas.microsoft.com/office/drawing/2014/main" id="{F3F0EED5-0844-4CBF-A2D1-279B23D47D61}"/>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9A760806-6969-45D5-9288-1EA701197135}"/>
              </a:ext>
            </a:extLst>
          </p:cNvPr>
          <p:cNvSpPr>
            <a:spLocks xmlns:a="http://schemas.openxmlformats.org/drawingml/2006/main" noGrp="1"/>
          </p:cNvSpPr>
          <p:nvPr/>
        </p:nvSpPr>
        <p:spPr>
          <a:xfrm xmlns:a="http://schemas.openxmlformats.org/drawingml/2006/main">
            <a:off x="1352550" y="210502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200 kilohertz</a:t>
            </a:r>
          </a:p>
        </p:txBody>
      </p:sp>
      <p:sp>
        <p:nvSpPr>
          <p:cNvPr id="9" name="number-2">
            <a:extLst xmlns:a="http://schemas.openxmlformats.org/drawingml/2006/main">
              <a:ext uri="{FF2B5EF4-FFF2-40B4-BE49-F238E27FC236}">
                <a16:creationId xmlns:a16="http://schemas.microsoft.com/office/drawing/2014/main" id="{B7D485A3-BF7C-482C-89ED-19BAF08ECF23}"/>
              </a:ext>
            </a:extLst>
          </p:cNvPr>
          <p:cNvSpPr>
            <a:spLocks xmlns:a="http://schemas.openxmlformats.org/drawingml/2006/main" noGrp="1"/>
          </p:cNvSpPr>
          <p:nvPr/>
        </p:nvSpPr>
        <p:spPr>
          <a:xfrm xmlns:a="http://schemas.openxmlformats.org/drawingml/2006/main">
            <a:off x="723900" y="28194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23535DA4-A319-45AD-ABBE-8814AA55C544}"/>
              </a:ext>
            </a:extLst>
          </p:cNvPr>
          <p:cNvSpPr>
            <a:spLocks xmlns:a="http://schemas.openxmlformats.org/drawingml/2006/main" noGrp="1"/>
          </p:cNvSpPr>
          <p:nvPr/>
        </p:nvSpPr>
        <p:spPr>
          <a:xfrm xmlns:a="http://schemas.openxmlformats.org/drawingml/2006/main">
            <a:off x="1352550" y="2819400"/>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20 megahertz</a:t>
            </a:r>
          </a:p>
        </p:txBody>
      </p:sp>
      <p:sp>
        <p:nvSpPr>
          <p:cNvPr id="11" name="number-3">
            <a:extLst xmlns:a="http://schemas.openxmlformats.org/drawingml/2006/main">
              <a:ext uri="{FF2B5EF4-FFF2-40B4-BE49-F238E27FC236}">
                <a16:creationId xmlns:a16="http://schemas.microsoft.com/office/drawing/2014/main" id="{D2BA4030-0087-4C7B-8DF2-4706D63AE636}"/>
              </a:ext>
            </a:extLst>
          </p:cNvPr>
          <p:cNvSpPr>
            <a:spLocks xmlns:a="http://schemas.openxmlformats.org/drawingml/2006/main" noGrp="1"/>
          </p:cNvSpPr>
          <p:nvPr/>
        </p:nvSpPr>
        <p:spPr>
          <a:xfrm xmlns:a="http://schemas.openxmlformats.org/drawingml/2006/main">
            <a:off x="723900" y="35337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3B0E360D-6698-48F2-8C46-473889682886}"/>
              </a:ext>
            </a:extLst>
          </p:cNvPr>
          <p:cNvSpPr>
            <a:spLocks xmlns:a="http://schemas.openxmlformats.org/drawingml/2006/main" noGrp="1"/>
          </p:cNvSpPr>
          <p:nvPr/>
        </p:nvSpPr>
        <p:spPr>
          <a:xfrm xmlns:a="http://schemas.openxmlformats.org/drawingml/2006/main">
            <a:off x="1352550" y="353377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800 megahertz</a:t>
            </a:r>
          </a:p>
        </p:txBody>
      </p:sp>
      <p:sp>
        <p:nvSpPr>
          <p:cNvPr id="13" name="number-4">
            <a:extLst xmlns:a="http://schemas.openxmlformats.org/drawingml/2006/main">
              <a:ext uri="{FF2B5EF4-FFF2-40B4-BE49-F238E27FC236}">
                <a16:creationId xmlns:a16="http://schemas.microsoft.com/office/drawing/2014/main" id="{2DD39ECF-2B74-47F3-A221-4FE0F5BC22F4}"/>
              </a:ext>
            </a:extLst>
          </p:cNvPr>
          <p:cNvSpPr>
            <a:spLocks xmlns:a="http://schemas.openxmlformats.org/drawingml/2006/main" noGrp="1"/>
          </p:cNvSpPr>
          <p:nvPr/>
        </p:nvSpPr>
        <p:spPr>
          <a:xfrm xmlns:a="http://schemas.openxmlformats.org/drawingml/2006/main">
            <a:off x="723900" y="4248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5E6A6CA6-9E03-435E-A7D5-CDB0551C7505}"/>
              </a:ext>
            </a:extLst>
          </p:cNvPr>
          <p:cNvSpPr>
            <a:spLocks xmlns:a="http://schemas.openxmlformats.org/drawingml/2006/main" noGrp="1"/>
          </p:cNvSpPr>
          <p:nvPr/>
        </p:nvSpPr>
        <p:spPr>
          <a:xfrm xmlns:a="http://schemas.openxmlformats.org/drawingml/2006/main">
            <a:off x="1352550" y="4248150"/>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2 gigahertz</a:t>
            </a:r>
          </a:p>
        </p:txBody>
      </p:sp>
      <p:sp>
        <p:nvSpPr>
          <p:cNvPr id="15" name="number-5">
            <a:extLst xmlns:a="http://schemas.openxmlformats.org/drawingml/2006/main">
              <a:ext uri="{FF2B5EF4-FFF2-40B4-BE49-F238E27FC236}">
                <a16:creationId xmlns:a16="http://schemas.microsoft.com/office/drawing/2014/main" id="{7761D977-1B51-441E-B699-36C900EF4564}"/>
              </a:ext>
            </a:extLst>
          </p:cNvPr>
          <p:cNvSpPr>
            <a:spLocks xmlns:a="http://schemas.openxmlformats.org/drawingml/2006/main" noGrp="1"/>
          </p:cNvSpPr>
          <p:nvPr/>
        </p:nvSpPr>
        <p:spPr>
          <a:xfrm xmlns:a="http://schemas.openxmlformats.org/drawingml/2006/main">
            <a:off x="723900" y="49625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6" name="item-5">
            <a:extLst xmlns:a="http://schemas.openxmlformats.org/drawingml/2006/main">
              <a:ext uri="{FF2B5EF4-FFF2-40B4-BE49-F238E27FC236}">
                <a16:creationId xmlns:a16="http://schemas.microsoft.com/office/drawing/2014/main" id="{11D12EE5-BC6F-4A7A-BD2B-7724CF8E5B7E}"/>
              </a:ext>
            </a:extLst>
          </p:cNvPr>
          <p:cNvSpPr>
            <a:spLocks xmlns:a="http://schemas.openxmlformats.org/drawingml/2006/main" noGrp="1"/>
          </p:cNvSpPr>
          <p:nvPr/>
        </p:nvSpPr>
        <p:spPr>
          <a:xfrm xmlns:a="http://schemas.openxmlformats.org/drawingml/2006/main">
            <a:off x="1352550" y="4962525"/>
            <a:ext cx="99250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3.5 gigahertz</a:t>
            </a:r>
          </a:p>
        </p:txBody>
      </p:sp>
    </p:spTree>
    <p:extLst>
      <p:ext uri="{BB962C8B-B14F-4D97-AF65-F5344CB8AC3E}">
        <p14:creationId xmlns:p14="http://schemas.microsoft.com/office/powerpoint/2010/main" val="132136573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5DB22552-FA8F-487D-A7CD-DDDEEA0B818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78BB102-5A2D-48A0-9EA3-8AC63894420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PLENARY</a:t>
            </a:r>
          </a:p>
        </p:txBody>
      </p:sp>
      <p:sp>
        <p:nvSpPr>
          <p:cNvPr id="3" name="heading">
            <a:extLst xmlns:a="http://schemas.openxmlformats.org/drawingml/2006/main">
              <a:ext uri="{FF2B5EF4-FFF2-40B4-BE49-F238E27FC236}">
                <a16:creationId xmlns:a16="http://schemas.microsoft.com/office/drawing/2014/main" id="{0AB0C8B0-3BDD-48D6-95A3-A2DF2404AC9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b7570edc2294fe8"/>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7A2B7A8-43ED-44D2-8D90-86B7A04644F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18</a:t>
            </a:r>
          </a:p>
        </p:txBody>
      </p:sp>
      <p:sp>
        <p:nvSpPr>
          <p:cNvPr id="6" name="plenary-instruction">
            <a:extLst xmlns:a="http://schemas.openxmlformats.org/drawingml/2006/main">
              <a:ext uri="{FF2B5EF4-FFF2-40B4-BE49-F238E27FC236}">
                <a16:creationId xmlns:a16="http://schemas.microsoft.com/office/drawing/2014/main" id="{F5449A42-C871-4B67-A3C6-492451F7FFCF}"/>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7" name="a">
            <a:extLst xmlns:a="http://schemas.openxmlformats.org/drawingml/2006/main">
              <a:ext uri="{FF2B5EF4-FFF2-40B4-BE49-F238E27FC236}">
                <a16:creationId xmlns:a16="http://schemas.microsoft.com/office/drawing/2014/main" id="{757A103E-8C69-4ECA-A82F-FF359A215BD6}"/>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8" name="question-a">
            <a:extLst xmlns:a="http://schemas.openxmlformats.org/drawingml/2006/main">
              <a:ext uri="{FF2B5EF4-FFF2-40B4-BE49-F238E27FC236}">
                <a16:creationId xmlns:a16="http://schemas.microsoft.com/office/drawing/2014/main" id="{04A4A978-1B6D-4225-8E40-BD7C4355B010}"/>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State three characteristics of a CPU that affect its performance. [3]</a:t>
            </a:r>
          </a:p>
        </p:txBody>
      </p:sp>
      <p:sp>
        <p:nvSpPr>
          <p:cNvPr id="9" name="b">
            <a:extLst xmlns:a="http://schemas.openxmlformats.org/drawingml/2006/main">
              <a:ext uri="{FF2B5EF4-FFF2-40B4-BE49-F238E27FC236}">
                <a16:creationId xmlns:a16="http://schemas.microsoft.com/office/drawing/2014/main" id="{8545C360-83ED-4998-A9A4-217D0D34E839}"/>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10" name="question-b">
            <a:extLst xmlns:a="http://schemas.openxmlformats.org/drawingml/2006/main">
              <a:ext uri="{FF2B5EF4-FFF2-40B4-BE49-F238E27FC236}">
                <a16:creationId xmlns:a16="http://schemas.microsoft.com/office/drawing/2014/main" id="{64B58676-6569-479E-8E04-8633A220CD86}"/>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A laptop is advertised with a quad-core 3.2 GHz processor. Explain what this tells you about the CPU. [3]</a:t>
            </a:r>
          </a:p>
        </p:txBody>
      </p:sp>
    </p:spTree>
    <p:extLst>
      <p:ext uri="{BB962C8B-B14F-4D97-AF65-F5344CB8AC3E}">
        <p14:creationId xmlns:p14="http://schemas.microsoft.com/office/powerpoint/2010/main" val="72499196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EEA71AFF-7798-485C-91BA-92EA7AF6333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83EA2613-65FA-4F97-B735-F3229C67DE4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PLENARY</a:t>
            </a:r>
          </a:p>
        </p:txBody>
      </p:sp>
      <p:sp>
        <p:nvSpPr>
          <p:cNvPr id="3" name="heading">
            <a:extLst xmlns:a="http://schemas.openxmlformats.org/drawingml/2006/main">
              <a:ext uri="{FF2B5EF4-FFF2-40B4-BE49-F238E27FC236}">
                <a16:creationId xmlns:a16="http://schemas.microsoft.com/office/drawing/2014/main" id="{D622C6D7-87A8-44EC-9B1A-D22690C4F58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2e6890b0fb5404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F80DDEB0-BCE0-42A4-85F7-4FAC1A5349D9}"/>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18</a:t>
            </a:r>
          </a:p>
        </p:txBody>
      </p:sp>
      <p:sp>
        <p:nvSpPr>
          <p:cNvPr id="6" name="from-memory">
            <a:extLst xmlns:a="http://schemas.openxmlformats.org/drawingml/2006/main">
              <a:ext uri="{FF2B5EF4-FFF2-40B4-BE49-F238E27FC236}">
                <a16:creationId xmlns:a16="http://schemas.microsoft.com/office/drawing/2014/main" id="{57568B41-635A-467C-91CB-E90963662F79}"/>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7" name="c">
            <a:extLst xmlns:a="http://schemas.openxmlformats.org/drawingml/2006/main">
              <a:ext uri="{FF2B5EF4-FFF2-40B4-BE49-F238E27FC236}">
                <a16:creationId xmlns:a16="http://schemas.microsoft.com/office/drawing/2014/main" id="{7647E91C-76DF-4C83-88F4-04C811B79A0C}"/>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8" name="question-c">
            <a:extLst xmlns:a="http://schemas.openxmlformats.org/drawingml/2006/main">
              <a:ext uri="{FF2B5EF4-FFF2-40B4-BE49-F238E27FC236}">
                <a16:creationId xmlns:a16="http://schemas.microsoft.com/office/drawing/2014/main" id="{11411DB4-06B5-4B98-8BD3-E119C1677131}"/>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A user edits video and finds their computer slow. Explain how each of the three characteristics could improve its performance. [6]</a:t>
            </a:r>
          </a:p>
        </p:txBody>
      </p:sp>
      <p:sp>
        <p:nvSpPr>
          <p:cNvPr id="9" name="marks">
            <a:extLst xmlns:a="http://schemas.openxmlformats.org/drawingml/2006/main">
              <a:ext uri="{FF2B5EF4-FFF2-40B4-BE49-F238E27FC236}">
                <a16:creationId xmlns:a16="http://schemas.microsoft.com/office/drawing/2014/main" id="{2A9FCB8F-EE91-47FF-A0EF-486CAD05CBD8}"/>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270979819"/>
      </p:ext>
    </p:extLst>
  </p:cSld>
</p:sld>
</file>

<file path=ppt/slides/slide1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footer background">
            <a:extLst xmlns:a="http://schemas.openxmlformats.org/drawingml/2006/main">
              <a:ext uri="{FF2B5EF4-FFF2-40B4-BE49-F238E27FC236}">
                <a16:creationId xmlns:a16="http://schemas.microsoft.com/office/drawing/2014/main" id="{F47AC3B7-5423-4887-9D26-579218372ED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1C5AC4FD-F8AD-4B16-BDC4-43FCA39F641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A62201C9-E5FB-4FBC-9A20-2CDECD9D968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1d430c3cea64aff"/>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F200E699-2214-485E-8354-A90D0BA2332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18</a:t>
            </a:r>
          </a:p>
        </p:txBody>
      </p:sp>
      <p:sp>
        <p:nvSpPr>
          <p:cNvPr id="6" name="scheme-intro">
            <a:extLst xmlns:a="http://schemas.openxmlformats.org/drawingml/2006/main">
              <a:ext uri="{FF2B5EF4-FFF2-40B4-BE49-F238E27FC236}">
                <a16:creationId xmlns:a16="http://schemas.microsoft.com/office/drawing/2014/main" id="{303A7ED1-A5C8-42CB-B471-4733CD6FD184}"/>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7" name="scheme-a">
            <a:extLst xmlns:a="http://schemas.openxmlformats.org/drawingml/2006/main">
              <a:ext uri="{FF2B5EF4-FFF2-40B4-BE49-F238E27FC236}">
                <a16:creationId xmlns:a16="http://schemas.microsoft.com/office/drawing/2014/main" id="{B606E9CF-4D52-4E3F-8D74-6A693EBCAC1C}"/>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Clock speed, cache size and number of cores.</a:t>
            </a:r>
          </a:p>
        </p:txBody>
      </p:sp>
      <p:sp>
        <p:nvSpPr>
          <p:cNvPr id="8" name="scheme-b">
            <a:extLst xmlns:a="http://schemas.openxmlformats.org/drawingml/2006/main">
              <a:ext uri="{FF2B5EF4-FFF2-40B4-BE49-F238E27FC236}">
                <a16:creationId xmlns:a16="http://schemas.microsoft.com/office/drawing/2014/main" id="{7036D704-04D5-43A7-84E3-DD034DA9BCA5}"/>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Quad-core means four processing cores. Each can execute instructions independently. 3.2 GHz describes about 3.2 billion clock cycles per second at that quoted speed.</a:t>
            </a:r>
          </a:p>
        </p:txBody>
      </p:sp>
    </p:spTree>
    <p:extLst>
      <p:ext uri="{BB962C8B-B14F-4D97-AF65-F5344CB8AC3E}">
        <p14:creationId xmlns:p14="http://schemas.microsoft.com/office/powerpoint/2010/main" val="1756389030"/>
      </p:ext>
    </p:extLst>
  </p:cSld>
</p:sld>
</file>

<file path=ppt/slides/slide17.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BE902C34-A026-4DA0-83F2-C05729942B2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26CE24B5-9734-4E4A-A57E-C70FF0DAA5B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CHECK</a:t>
            </a:r>
          </a:p>
        </p:txBody>
      </p:sp>
      <p:sp>
        <p:nvSpPr>
          <p:cNvPr id="3" name="heading">
            <a:extLst xmlns:a="http://schemas.openxmlformats.org/drawingml/2006/main">
              <a:ext uri="{FF2B5EF4-FFF2-40B4-BE49-F238E27FC236}">
                <a16:creationId xmlns:a16="http://schemas.microsoft.com/office/drawing/2014/main" id="{F5DBEF1C-75A2-487D-B58F-61987B04DB4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1239e6ca0854d5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A3784C1-72A8-485E-9659-5FD9130610E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18</a:t>
            </a:r>
          </a:p>
        </p:txBody>
      </p:sp>
      <p:sp>
        <p:nvSpPr>
          <p:cNvPr id="6" name="scheme-intro">
            <a:extLst xmlns:a="http://schemas.openxmlformats.org/drawingml/2006/main">
              <a:ext uri="{FF2B5EF4-FFF2-40B4-BE49-F238E27FC236}">
                <a16:creationId xmlns:a16="http://schemas.microsoft.com/office/drawing/2014/main" id="{F7941571-05D9-4CAB-B52C-9E74FCA6BB3F}"/>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7" name="number-1">
            <a:extLst xmlns:a="http://schemas.openxmlformats.org/drawingml/2006/main">
              <a:ext uri="{FF2B5EF4-FFF2-40B4-BE49-F238E27FC236}">
                <a16:creationId xmlns:a16="http://schemas.microsoft.com/office/drawing/2014/main" id="{8D59888B-BE84-476A-B94F-2AFB51B86655}"/>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BC1801FF-2EBE-4AC1-9B75-DE24595718E8}"/>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Higher clock speed can allow more cycles per second, helping instruction processing.</a:t>
            </a:r>
          </a:p>
        </p:txBody>
      </p:sp>
      <p:sp>
        <p:nvSpPr>
          <p:cNvPr id="9" name="number-2">
            <a:extLst xmlns:a="http://schemas.openxmlformats.org/drawingml/2006/main">
              <a:ext uri="{FF2B5EF4-FFF2-40B4-BE49-F238E27FC236}">
                <a16:creationId xmlns:a16="http://schemas.microsoft.com/office/drawing/2014/main" id="{D084D828-F17B-46AF-962F-6BE2950B7841}"/>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72839A10-E8B5-45F4-8B22-90B1AA2F9245}"/>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larger cache can hold more needed data near the CPU and reduce waits for RAM.</a:t>
            </a:r>
          </a:p>
        </p:txBody>
      </p:sp>
      <p:sp>
        <p:nvSpPr>
          <p:cNvPr id="11" name="number-3">
            <a:extLst xmlns:a="http://schemas.openxmlformats.org/drawingml/2006/main">
              <a:ext uri="{FF2B5EF4-FFF2-40B4-BE49-F238E27FC236}">
                <a16:creationId xmlns:a16="http://schemas.microsoft.com/office/drawing/2014/main" id="{E993F1BA-975B-4BC6-82BD-575A7CF5CE51}"/>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9F3D1786-1DDF-4223-B916-C9495827E453}"/>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More cores can process separate threads in parallel when the editing software can use them.</a:t>
            </a:r>
          </a:p>
        </p:txBody>
      </p:sp>
    </p:spTree>
    <p:extLst>
      <p:ext uri="{BB962C8B-B14F-4D97-AF65-F5344CB8AC3E}">
        <p14:creationId xmlns:p14="http://schemas.microsoft.com/office/powerpoint/2010/main" val="8083449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80543772-32DF-4699-B6FD-04271A784DF7}"/>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CE1B7049-951C-4452-B76E-A93DB9B3B65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03   /   SELF-CHECK</a:t>
            </a:r>
          </a:p>
        </p:txBody>
      </p:sp>
      <p:sp>
        <p:nvSpPr>
          <p:cNvPr id="3" name="heading">
            <a:extLst xmlns:a="http://schemas.openxmlformats.org/drawingml/2006/main">
              <a:ext uri="{FF2B5EF4-FFF2-40B4-BE49-F238E27FC236}">
                <a16:creationId xmlns:a16="http://schemas.microsoft.com/office/drawing/2014/main" id="{C91C562A-B031-4999-9FC9-929C7566418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053955375f0497e"/>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E23F0555-4DE0-4856-AE2D-05E84ADD433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18</a:t>
            </a:r>
          </a:p>
        </p:txBody>
      </p:sp>
      <p:sp>
        <p:nvSpPr>
          <p:cNvPr id="6" name="confidence-instruction">
            <a:extLst xmlns:a="http://schemas.openxmlformats.org/drawingml/2006/main">
              <a:ext uri="{FF2B5EF4-FFF2-40B4-BE49-F238E27FC236}">
                <a16:creationId xmlns:a16="http://schemas.microsoft.com/office/drawing/2014/main" id="{08320EE7-0679-4360-BECC-811AF798937F}"/>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7" name="number-1">
            <a:extLst xmlns:a="http://schemas.openxmlformats.org/drawingml/2006/main">
              <a:ext uri="{FF2B5EF4-FFF2-40B4-BE49-F238E27FC236}">
                <a16:creationId xmlns:a16="http://schemas.microsoft.com/office/drawing/2014/main" id="{24B9389D-9707-43B2-938B-E5DBDE089BBE}"/>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15E1D809-8D02-44C2-B34E-304E2A0AC3AB}"/>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clock speed affects performance</a:t>
            </a:r>
          </a:p>
        </p:txBody>
      </p:sp>
      <p:sp>
        <p:nvSpPr>
          <p:cNvPr id="9" name="number-2">
            <a:extLst xmlns:a="http://schemas.openxmlformats.org/drawingml/2006/main">
              <a:ext uri="{FF2B5EF4-FFF2-40B4-BE49-F238E27FC236}">
                <a16:creationId xmlns:a16="http://schemas.microsoft.com/office/drawing/2014/main" id="{E629671E-E5BC-4129-920A-C26259F203FC}"/>
              </a:ext>
            </a:extLst>
          </p:cNvPr>
          <p:cNvSpPr>
            <a:spLocks xmlns:a="http://schemas.openxmlformats.org/drawingml/2006/main" noGrp="1"/>
          </p:cNvSpPr>
          <p:nvPr/>
        </p:nvSpPr>
        <p:spPr>
          <a:xfrm xmlns:a="http://schemas.openxmlformats.org/drawingml/2006/main">
            <a:off x="723900" y="35242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54F1D28B-55D8-48B7-8721-08D14C0A8C81}"/>
              </a:ext>
            </a:extLst>
          </p:cNvPr>
          <p:cNvSpPr>
            <a:spLocks xmlns:a="http://schemas.openxmlformats.org/drawingml/2006/main" noGrp="1"/>
          </p:cNvSpPr>
          <p:nvPr/>
        </p:nvSpPr>
        <p:spPr>
          <a:xfrm xmlns:a="http://schemas.openxmlformats.org/drawingml/2006/main">
            <a:off x="1352550" y="35242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cache size affects performance</a:t>
            </a:r>
          </a:p>
        </p:txBody>
      </p:sp>
      <p:sp>
        <p:nvSpPr>
          <p:cNvPr id="11" name="number-3">
            <a:extLst xmlns:a="http://schemas.openxmlformats.org/drawingml/2006/main">
              <a:ext uri="{FF2B5EF4-FFF2-40B4-BE49-F238E27FC236}">
                <a16:creationId xmlns:a16="http://schemas.microsoft.com/office/drawing/2014/main" id="{A1FF2F52-2D85-4FA7-B557-238CD84A9CE4}"/>
              </a:ext>
            </a:extLst>
          </p:cNvPr>
          <p:cNvSpPr>
            <a:spLocks xmlns:a="http://schemas.openxmlformats.org/drawingml/2006/main" noGrp="1"/>
          </p:cNvSpPr>
          <p:nvPr/>
        </p:nvSpPr>
        <p:spPr>
          <a:xfrm xmlns:a="http://schemas.openxmlformats.org/drawingml/2006/main">
            <a:off x="723900" y="4533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C82F6661-8E30-4AA8-88F8-3610D7258C9D}"/>
              </a:ext>
            </a:extLst>
          </p:cNvPr>
          <p:cNvSpPr>
            <a:spLocks xmlns:a="http://schemas.openxmlformats.org/drawingml/2006/main" noGrp="1"/>
          </p:cNvSpPr>
          <p:nvPr/>
        </p:nvSpPr>
        <p:spPr>
          <a:xfrm xmlns:a="http://schemas.openxmlformats.org/drawingml/2006/main">
            <a:off x="1352550" y="45339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How the number of cores affects performance</a:t>
            </a:r>
          </a:p>
        </p:txBody>
      </p:sp>
    </p:spTree>
    <p:extLst>
      <p:ext uri="{BB962C8B-B14F-4D97-AF65-F5344CB8AC3E}">
        <p14:creationId xmlns:p14="http://schemas.microsoft.com/office/powerpoint/2010/main" val="14625080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2026-09-25T12:41:52.7110000Z</dcterms:created>
  <dcterms:modified xsi:type="dcterms:W3CDTF">2026-09-25T12:41:52.7110000Z</dcterms:modified>
</coreProperties>
</file>