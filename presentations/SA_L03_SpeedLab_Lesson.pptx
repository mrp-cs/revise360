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ea4d5f9dc04700" /><Relationship Type="http://schemas.openxmlformats.org/officeDocument/2006/relationships/extended-properties" Target="/docProps/app.xml" Id="R06fa7b1821554d7e" /><Relationship Type="http://schemas.openxmlformats.org/officeDocument/2006/relationships/officeDocument" Target="/ppt/presentation.xml" Id="Rba2580ea22fb44cb" /></Relationships>
</file>

<file path=ppt/presentation.xml><?xml version="1.0" encoding="utf-8"?>
<p:presentation xmlns:p="http://schemas.openxmlformats.org/presentationml/2006/main">
  <p:sldMasterIdLst>
    <p:sldMasterId xmlns:r="http://schemas.openxmlformats.org/officeDocument/2006/relationships" id="2147483648" r:id="R8eba46e7150c447c"/>
  </p:sldMasterIdLst>
  <p:notesMasterIdLst>
    <p:notesMasterId xmlns:r="http://schemas.openxmlformats.org/officeDocument/2006/relationships" r:id="R5807a64f30bb4def"/>
  </p:notesMasterIdLst>
  <p:sldIdLst>
    <p:sldId xmlns:r="http://schemas.openxmlformats.org/officeDocument/2006/relationships" id="256" r:id="R77bbf48d419f4efd"/>
    <p:sldId xmlns:r="http://schemas.openxmlformats.org/officeDocument/2006/relationships" id="257" r:id="Rf78f97bafcbf4ad9"/>
    <p:sldId xmlns:r="http://schemas.openxmlformats.org/officeDocument/2006/relationships" id="258" r:id="R198d1443024743c2"/>
    <p:sldId xmlns:r="http://schemas.openxmlformats.org/officeDocument/2006/relationships" id="259" r:id="R33d8af7423e64123"/>
    <p:sldId xmlns:r="http://schemas.openxmlformats.org/officeDocument/2006/relationships" id="260" r:id="R262b7d895e6d4d3a"/>
    <p:sldId xmlns:r="http://schemas.openxmlformats.org/officeDocument/2006/relationships" id="261" r:id="R8b6332cabeb94b4d"/>
    <p:sldId xmlns:r="http://schemas.openxmlformats.org/officeDocument/2006/relationships" id="262" r:id="Ra30889e403af4c1c"/>
    <p:sldId xmlns:r="http://schemas.openxmlformats.org/officeDocument/2006/relationships" id="263" r:id="R553ccf416afd4243"/>
    <p:sldId xmlns:r="http://schemas.openxmlformats.org/officeDocument/2006/relationships" id="264" r:id="R4136cb1a2afb4d86"/>
    <p:sldId xmlns:r="http://schemas.openxmlformats.org/officeDocument/2006/relationships" id="265" r:id="R07087f0bd05a4bb5"/>
    <p:sldId xmlns:r="http://schemas.openxmlformats.org/officeDocument/2006/relationships" id="266" r:id="Rc0e546eaedbe4772"/>
    <p:sldId xmlns:r="http://schemas.openxmlformats.org/officeDocument/2006/relationships" id="267" r:id="Rbd121a1878324df0"/>
    <p:sldId xmlns:r="http://schemas.openxmlformats.org/officeDocument/2006/relationships" id="268" r:id="R9e18bd229ecb41d8"/>
    <p:sldId xmlns:r="http://schemas.openxmlformats.org/officeDocument/2006/relationships" id="269" r:id="Rd8b0ceb88e244a4f"/>
    <p:sldId xmlns:r="http://schemas.openxmlformats.org/officeDocument/2006/relationships" id="270" r:id="R4618fb5f3e864618"/>
    <p:sldId xmlns:r="http://schemas.openxmlformats.org/officeDocument/2006/relationships" id="271" r:id="Rcb096e59860a41d8"/>
    <p:sldId xmlns:r="http://schemas.openxmlformats.org/officeDocument/2006/relationships" id="272" r:id="R6fada1800d3540ec"/>
    <p:sldId xmlns:r="http://schemas.openxmlformats.org/officeDocument/2006/relationships" id="273" r:id="R26304dd12cfe4570"/>
    <p:sldId xmlns:r="http://schemas.openxmlformats.org/officeDocument/2006/relationships" id="274" r:id="R5a6f550c2a4d499b"/>
    <p:sldId xmlns:r="http://schemas.openxmlformats.org/officeDocument/2006/relationships" id="275" r:id="R0efbd95e90fe4ba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9cba302dc7f4bdd" /><Relationship Type="http://schemas.openxmlformats.org/officeDocument/2006/relationships/slideMaster" Target="/ppt/slideMasters/slideMaster1.xml" Id="R8eba46e7150c447c" /><Relationship Type="http://schemas.openxmlformats.org/officeDocument/2006/relationships/notesMaster" Target="/ppt/notesMasters/notesMaster1.xml" Id="R5807a64f30bb4def" /><Relationship Type="http://schemas.openxmlformats.org/officeDocument/2006/relationships/presProps" Target="/ppt/presProps.xml" Id="R6359932f80ea456c" /><Relationship Type="http://schemas.openxmlformats.org/officeDocument/2006/relationships/tableStyles" Target="/ppt/tableStyles.xml" Id="R6a6a6f759cb84d45" /><Relationship Type="http://schemas.openxmlformats.org/officeDocument/2006/relationships/slide" Target="/ppt/slides/slide1.xml" Id="R77bbf48d419f4efd" /><Relationship Type="http://schemas.openxmlformats.org/officeDocument/2006/relationships/slide" Target="/ppt/slides/slide2.xml" Id="Rf78f97bafcbf4ad9" /><Relationship Type="http://schemas.openxmlformats.org/officeDocument/2006/relationships/slide" Target="/ppt/slides/slide3.xml" Id="R198d1443024743c2" /><Relationship Type="http://schemas.openxmlformats.org/officeDocument/2006/relationships/slide" Target="/ppt/slides/slide4.xml" Id="R33d8af7423e64123" /><Relationship Type="http://schemas.openxmlformats.org/officeDocument/2006/relationships/slide" Target="/ppt/slides/slide5.xml" Id="R262b7d895e6d4d3a" /><Relationship Type="http://schemas.openxmlformats.org/officeDocument/2006/relationships/slide" Target="/ppt/slides/slide6.xml" Id="R8b6332cabeb94b4d" /><Relationship Type="http://schemas.openxmlformats.org/officeDocument/2006/relationships/slide" Target="/ppt/slides/slide7.xml" Id="Ra30889e403af4c1c" /><Relationship Type="http://schemas.openxmlformats.org/officeDocument/2006/relationships/slide" Target="/ppt/slides/slide8.xml" Id="R553ccf416afd4243" /><Relationship Type="http://schemas.openxmlformats.org/officeDocument/2006/relationships/slide" Target="/ppt/slides/slide9.xml" Id="R4136cb1a2afb4d86" /><Relationship Type="http://schemas.openxmlformats.org/officeDocument/2006/relationships/slide" Target="/ppt/slides/slide10.xml" Id="R07087f0bd05a4bb5" /><Relationship Type="http://schemas.openxmlformats.org/officeDocument/2006/relationships/slide" Target="/ppt/slides/slide11.xml" Id="Rc0e546eaedbe4772" /><Relationship Type="http://schemas.openxmlformats.org/officeDocument/2006/relationships/slide" Target="/ppt/slides/slide12.xml" Id="Rbd121a1878324df0" /><Relationship Type="http://schemas.openxmlformats.org/officeDocument/2006/relationships/slide" Target="/ppt/slides/slide13.xml" Id="R9e18bd229ecb41d8" /><Relationship Type="http://schemas.openxmlformats.org/officeDocument/2006/relationships/slide" Target="/ppt/slides/slide14.xml" Id="Rd8b0ceb88e244a4f" /><Relationship Type="http://schemas.openxmlformats.org/officeDocument/2006/relationships/slide" Target="/ppt/slides/slide15.xml" Id="R4618fb5f3e864618" /><Relationship Type="http://schemas.openxmlformats.org/officeDocument/2006/relationships/slide" Target="/ppt/slides/slide16.xml" Id="Rcb096e59860a41d8" /><Relationship Type="http://schemas.openxmlformats.org/officeDocument/2006/relationships/slide" Target="/ppt/slides/slide17.xml" Id="R6fada1800d3540ec" /><Relationship Type="http://schemas.openxmlformats.org/officeDocument/2006/relationships/slide" Target="/ppt/slides/slide18.xml" Id="R26304dd12cfe4570" /><Relationship Type="http://schemas.openxmlformats.org/officeDocument/2006/relationships/slide" Target="/ppt/slides/slide19.xml" Id="R5a6f550c2a4d499b" /><Relationship Type="http://schemas.openxmlformats.org/officeDocument/2006/relationships/slide" Target="/ppt/slides/slide20.xml" Id="R0efbd95e90fe4ba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0250391ed242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714af9e333a4345" /><Relationship Type="http://schemas.openxmlformats.org/officeDocument/2006/relationships/notesMaster" Target="/ppt/notesMasters/notesMaster1.xml" Id="Ra8808df3190948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0da789369d9b4999" /><Relationship Type="http://schemas.openxmlformats.org/officeDocument/2006/relationships/notesMaster" Target="/ppt/notesMasters/notesMaster1.xml" Id="Rf0c27f8ead494f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e24abccaad4c1b" /><Relationship Type="http://schemas.openxmlformats.org/officeDocument/2006/relationships/notesMaster" Target="/ppt/notesMasters/notesMaster1.xml" Id="Rb35a508aaace49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fa9a3d550a4e8c" /><Relationship Type="http://schemas.openxmlformats.org/officeDocument/2006/relationships/notesMaster" Target="/ppt/notesMasters/notesMaster1.xml" Id="R20cc0553da0941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576ab46edf4ac5" /><Relationship Type="http://schemas.openxmlformats.org/officeDocument/2006/relationships/notesMaster" Target="/ppt/notesMasters/notesMaster1.xml" Id="Re7ad5050581d42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92f9a2e02b4e5f" /><Relationship Type="http://schemas.openxmlformats.org/officeDocument/2006/relationships/notesMaster" Target="/ppt/notesMasters/notesMaster1.xml" Id="R88ac028aa63a48f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d5a010ece444643" /><Relationship Type="http://schemas.openxmlformats.org/officeDocument/2006/relationships/notesMaster" Target="/ppt/notesMasters/notesMaster1.xml" Id="Rd109a5663d6a405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4f621a76a7544dc" /><Relationship Type="http://schemas.openxmlformats.org/officeDocument/2006/relationships/notesMaster" Target="/ppt/notesMasters/notesMaster1.xml" Id="R8897e1b3642a49a2" /></Relationships>
</file>

<file path=ppt/notesSlides/_rels/notesSlide9.xml.rels>&#65279;<?xml version="1.0" encoding="utf-8"?><Relationships xmlns="http://schemas.openxmlformats.org/package/2006/relationships"><Relationship Type="http://schemas.openxmlformats.org/officeDocument/2006/relationships/slide" Target="/ppt/slides/slide9.xml" Id="R5064028de1154398" /><Relationship Type="http://schemas.openxmlformats.org/officeDocument/2006/relationships/notesMaster" Target="/ppt/notesMasters/notesMaster1.xml" Id="R752c50d5905b40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8489fa4efb4fdf" /><Relationship Type="http://schemas.openxmlformats.org/officeDocument/2006/relationships/notesMaster" Target="/ppt/notesMasters/notesMaster1.xml" Id="R4de07e012079456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81fd0be55164779" /><Relationship Type="http://schemas.openxmlformats.org/officeDocument/2006/relationships/notesMaster" Target="/ppt/notesMasters/notesMaster1.xml" Id="R30d0f81378484a9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6e066b5b004985" /><Relationship Type="http://schemas.openxmlformats.org/officeDocument/2006/relationships/notesMaster" Target="/ppt/notesMasters/notesMaster1.xml" Id="Rb0aaccba92aa49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9f5eb90dc04d69" /><Relationship Type="http://schemas.openxmlformats.org/officeDocument/2006/relationships/notesMaster" Target="/ppt/notesMasters/notesMaster1.xml" Id="Red8132caa58d47f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42cdba656514cc6" /><Relationship Type="http://schemas.openxmlformats.org/officeDocument/2006/relationships/notesMaster" Target="/ppt/notesMasters/notesMaster1.xml" Id="Rb713415cda17464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ab8810041c84743" /><Relationship Type="http://schemas.openxmlformats.org/officeDocument/2006/relationships/notesMaster" Target="/ppt/notesMasters/notesMaster1.xml" Id="R8f16b9fada73446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53d93c15014e9e" /><Relationship Type="http://schemas.openxmlformats.org/officeDocument/2006/relationships/notesMaster" Target="/ppt/notesMasters/notesMaster1.xml" Id="R62bbf7a3655b40f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e4874d066424d6c" /><Relationship Type="http://schemas.openxmlformats.org/officeDocument/2006/relationships/notesMaster" Target="/ppt/notesMasters/notesMaster1.xml" Id="R5348c9d9a6654f6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94d492dc4794a57" /><Relationship Type="http://schemas.openxmlformats.org/officeDocument/2006/relationships/notesMaster" Target="/ppt/notesMasters/notesMaster1.xml" Id="Rf7fee791bab8470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0159a1fcd164813" /><Relationship Type="http://schemas.openxmlformats.org/officeDocument/2006/relationships/notesMaster" Target="/ppt/notesMasters/notesMaster1.xml" Id="R4fd99a1caad24d3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78028bdca9e4828" /><Relationship Type="http://schemas.openxmlformats.org/officeDocument/2006/relationships/notesMaster" Target="/ppt/notesMasters/notesMaster1.xml" Id="Rf819b41bd66547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picture shows a straight-on perspective view of the actual 360 experience opening scene. Students should keep the experience closed until slide 7.</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outcomes with the class. They follow the wording of the lesson worksheet.</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pupils to attempt the exact starter question printed on the worksheet. Take a few suggestions before showing the model answer.</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sample answers to the exact worksheet starter question. Accept other correct examples and explanations.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definitions from memory. These two terms are the worksheet’s exact key terminology entries, including the recap terms in Lesson 4.</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term definitions are visible for pupils to correct their quiz. Reveal this slide after attempts.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slide where students open the experience file. Leave it visible while they get set up. The link opens the matching experience.</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image is a straight-on perspective view of stations 1 and 2 in the actual experience. Students should record the key fact and their own answer before selecting each badge.</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students have reached the score screen, they copy the mark straight away. The key question is printed on the worksheet after the score box.</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and comes after the experience. Give students time to reason in full sentences.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work after the experience has been completed. Move the whole class to the plenary knowledge check near the end of the lesson. Do not reveal station answers until pupils have completed the experience.</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sample answers after students have attempted the two application prompts. These are examples rather than a single required wording.</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answers follow the final challenge in the interactive experience and the worksheet. Students should correct their table before the exam questions.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exam-practice questions a and b from the worksheet. Give independent writing time before revealing the answers.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worksheet exam-practice question c. Let students answer independently.</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classroom answer points, not an official OCR mark scheme. Ask students to improve one response in a different colour.</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Avoid implying clock frequency alone determines real-world performance, or that twice the cores always doubles speed. For c, look for an explanation of each factor in this video-editing context. Ask students to revise one sentence after self-check.</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the exact confidence objectives listed in the worksheet. Ask students to identify one item to revisit next time.</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c5f97fd9eb4e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d295fa3eab4985" /><Relationship Type="http://schemas.openxmlformats.org/officeDocument/2006/relationships/slideLayout" Target="/ppt/slideLayouts/slideLayout1.xml" Id="R225c5957542e45e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5c5957542e45e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ad97650465455d" /><Relationship Type="http://schemas.openxmlformats.org/officeDocument/2006/relationships/image" Target="/ppt/media/image.jpeg" Id="R02c03e87ee114f35" /><Relationship Type="http://schemas.openxmlformats.org/officeDocument/2006/relationships/notesSlide" Target="/ppt/notesSlides/notesSlide1.xml" Id="R665fdfc94a2449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d80d897e22402d" /><Relationship Type="http://schemas.openxmlformats.org/officeDocument/2006/relationships/notesSlide" Target="/ppt/notesSlides/notesSlide2.xml" Id="R9641f940af3645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306a2baa63488f" /><Relationship Type="http://schemas.openxmlformats.org/officeDocument/2006/relationships/notesSlide" Target="/ppt/notesSlides/notesSlide3.xml" Id="R63c9989b4e5e46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0bfe9d36cff41b9" /><Relationship Type="http://schemas.openxmlformats.org/officeDocument/2006/relationships/notesSlide" Target="/ppt/notesSlides/notesSlide4.xml" Id="R29a10f6dd614400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f49cde13bc946f8" /><Relationship Type="http://schemas.openxmlformats.org/officeDocument/2006/relationships/notesSlide" Target="/ppt/notesSlides/notesSlide5.xml" Id="Rdef502c573f94a9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b5682998bf94b2b" /><Relationship Type="http://schemas.openxmlformats.org/officeDocument/2006/relationships/notesSlide" Target="/ppt/notesSlides/notesSlide6.xml" Id="R85be0f0000d946c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1e7eca11ee84d04" /><Relationship Type="http://schemas.openxmlformats.org/officeDocument/2006/relationships/hyperlink" Target="https://mrp-cs.github.io/Revise360/experience.html?id=sa-l03" TargetMode="External" Id="R3d6cf058053a4ca8" /><Relationship Type="http://schemas.openxmlformats.org/officeDocument/2006/relationships/notesSlide" Target="/ppt/notesSlides/notesSlide7.xml" Id="Rd6ebd4757879478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830460204b541a1" /><Relationship Type="http://schemas.openxmlformats.org/officeDocument/2006/relationships/image" Target="/ppt/media/image2.jpeg" Id="Re3043c4f9a7d43e6" /><Relationship Type="http://schemas.openxmlformats.org/officeDocument/2006/relationships/notesSlide" Target="/ppt/notesSlides/notesSlide8.xml" Id="Reb289669acc946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dbbdbfab54a4c29" /><Relationship Type="http://schemas.openxmlformats.org/officeDocument/2006/relationships/notesSlide" Target="/ppt/notesSlides/notesSlide9.xml" Id="Ree3b714441b34e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44d7c2b4c914fe1" /><Relationship Type="http://schemas.openxmlformats.org/officeDocument/2006/relationships/notesSlide" Target="/ppt/notesSlides/notesSlide10.xml" Id="R57097752df9c43d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eea28f312a04339" /><Relationship Type="http://schemas.openxmlformats.org/officeDocument/2006/relationships/notesSlide" Target="/ppt/notesSlides/notesSlide11.xml" Id="R94ed37c592be4f6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405a503a01045d4" /><Relationship Type="http://schemas.openxmlformats.org/officeDocument/2006/relationships/notesSlide" Target="/ppt/notesSlides/notesSlide12.xml" Id="R0bc4b305d50d459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e7052ce521040a8" /><Relationship Type="http://schemas.openxmlformats.org/officeDocument/2006/relationships/notesSlide" Target="/ppt/notesSlides/notesSlide13.xml" Id="Rc9683a92d0bf484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9248c4e430f4bbe" /><Relationship Type="http://schemas.openxmlformats.org/officeDocument/2006/relationships/notesSlide" Target="/ppt/notesSlides/notesSlide14.xml" Id="Red74e19ccdb54ec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52cc6b509554443" /><Relationship Type="http://schemas.openxmlformats.org/officeDocument/2006/relationships/notesSlide" Target="/ppt/notesSlides/notesSlide15.xml" Id="Rdd31fb5650bc48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d208b3847b047f7" /><Relationship Type="http://schemas.openxmlformats.org/officeDocument/2006/relationships/notesSlide" Target="/ppt/notesSlides/notesSlide16.xml" Id="R13bf0d787e164f6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e8724c6feda4b3b" /><Relationship Type="http://schemas.openxmlformats.org/officeDocument/2006/relationships/notesSlide" Target="/ppt/notesSlides/notesSlide17.xml" Id="Rd16ba897c4124ee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d787484b6be42a2" /><Relationship Type="http://schemas.openxmlformats.org/officeDocument/2006/relationships/notesSlide" Target="/ppt/notesSlides/notesSlide18.xml" Id="Rab09850b5ed04a6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40155d1dece45a9" /><Relationship Type="http://schemas.openxmlformats.org/officeDocument/2006/relationships/notesSlide" Target="/ppt/notesSlides/notesSlide19.xml" Id="R5d977e1b1d214e1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81a63e28d784796" /><Relationship Type="http://schemas.openxmlformats.org/officeDocument/2006/relationships/notesSlide" Target="/ppt/notesSlides/notesSlide20.xml" Id="R2004e3bcc40b40d5" /></Relationships>
</file>

<file path=ppt/slides/slide1.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E0FEB5F6-C7F1-4178-B7E8-25B19538A054}"/>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03</a:t>
            </a:r>
          </a:p>
        </p:txBody>
      </p:sp>
      <p:sp>
        <p:nvSpPr>
          <p:cNvPr id="2" name="heading">
            <a:extLst xmlns:a="http://schemas.openxmlformats.org/drawingml/2006/main">
              <a:ext uri="{FF2B5EF4-FFF2-40B4-BE49-F238E27FC236}">
                <a16:creationId xmlns:a16="http://schemas.microsoft.com/office/drawing/2014/main" id="{54F264D8-7678-4184-B0CE-B7950541EB8A}"/>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SPEED LAB</a:t>
            </a:r>
          </a:p>
        </p:txBody>
      </p:sp>
      <p:sp>
        <p:nvSpPr>
          <p:cNvPr id="3" name="footer">
            <a:extLst xmlns:a="http://schemas.openxmlformats.org/drawingml/2006/main">
              <a:ext uri="{FF2B5EF4-FFF2-40B4-BE49-F238E27FC236}">
                <a16:creationId xmlns:a16="http://schemas.microsoft.com/office/drawing/2014/main" id="{7EF7BBDD-7CFA-46E1-B4E5-C8C2E5697175}"/>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94384604-6CED-457A-874B-5147C103EAC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1 / 20</a:t>
            </a:r>
          </a:p>
        </p:txBody>
      </p:sp>
      <p:sp>
        <p:nvSpPr>
          <p:cNvPr id="5" name="subject">
            <a:extLst xmlns:a="http://schemas.openxmlformats.org/drawingml/2006/main">
              <a:ext uri="{FF2B5EF4-FFF2-40B4-BE49-F238E27FC236}">
                <a16:creationId xmlns:a16="http://schemas.microsoft.com/office/drawing/2014/main" id="{2F190A6B-4600-404A-8C9E-F2A0DAE9E920}"/>
              </a:ext>
            </a:extLst>
          </p:cNvPr>
          <p:cNvSpPr>
            <a:spLocks xmlns:a="http://schemas.openxmlformats.org/drawingml/2006/main" noGrp="1"/>
          </p:cNvSpPr>
          <p:nvPr/>
        </p:nvSpPr>
        <p:spPr>
          <a:xfrm xmlns:a="http://schemas.openxmlformats.org/drawingml/2006/main">
            <a:off x="685800" y="1762125"/>
            <a:ext cx="514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77D8FF"/>
                </a:solidFill>
                <a:latin typeface="DejaVu Sans"/>
                <a:ea typeface="DejaVu Sans"/>
                <a:cs typeface="DejaVu Sans"/>
              </a:defRPr>
            </a:pPr>
            <a:r>
              <a:rPr sz="2325" b="0">
                <a:solidFill>
                  <a:srgbClr val="77D8FF"/>
                </a:solidFill>
                <a:latin typeface="DejaVu Sans"/>
                <a:ea typeface="DejaVu Sans"/>
                <a:cs typeface="DejaVu Sans"/>
              </a:rPr>
              <a:t>CPU performance</a:t>
            </a:r>
          </a:p>
        </p:txBody>
      </p:sp>
      <p:sp>
        <p:nvSpPr>
          <p:cNvPr id="6" name="cover-note">
            <a:extLst xmlns:a="http://schemas.openxmlformats.org/drawingml/2006/main">
              <a:ext uri="{FF2B5EF4-FFF2-40B4-BE49-F238E27FC236}">
                <a16:creationId xmlns:a16="http://schemas.microsoft.com/office/drawing/2014/main" id="{9E087C5C-78DE-429B-B9EA-6D3107E9F452}"/>
              </a:ext>
            </a:extLst>
          </p:cNvPr>
          <p:cNvSpPr>
            <a:spLocks xmlns:a="http://schemas.openxmlformats.org/drawingml/2006/main" noGrp="1"/>
          </p:cNvSpPr>
          <p:nvPr/>
        </p:nvSpPr>
        <p:spPr>
          <a:xfrm xmlns:a="http://schemas.openxmlformats.org/drawingml/2006/main">
            <a:off x="685800" y="3267075"/>
            <a:ext cx="51435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8000"/>
              </a:lnSpc>
              <a:buNone/>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Start with your worksheet.</a:t>
            </a:r>
          </a:p>
          <a:p xmlns:a="http://schemas.openxmlformats.org/drawingml/2006/main">
            <a:pPr>
              <a:lnSpc>
                <a:spcPct val="118000"/>
              </a:lnSpc>
              <a:buNone/>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Open the experience after the starter and key terms have been marked.</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02c03e87ee114f35"/>
          <a:stretch xmlns:a="http://schemas.openxmlformats.org/drawingml/2006/main"/>
        </p:blipFill>
        <p:spPr>
          <a:xfrm xmlns:a="http://schemas.openxmlformats.org/drawingml/2006/main">
            <a:off x="6076950" y="1819275"/>
            <a:ext cx="5400675" cy="3600450"/>
          </a:xfrm>
          <a:prstGeom xmlns:a="http://schemas.openxmlformats.org/drawingml/2006/main" prst="rect">
            <a:avLst/>
          </a:prstGeom>
        </p:spPr>
      </p:pic>
    </p:spTree>
    <p:extLst>
      <p:ext uri="{BB962C8B-B14F-4D97-AF65-F5344CB8AC3E}">
        <p14:creationId xmlns:p14="http://schemas.microsoft.com/office/powerpoint/2010/main" val="19805374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opic">
            <a:extLst xmlns:a="http://schemas.openxmlformats.org/drawingml/2006/main">
              <a:ext uri="{FF2B5EF4-FFF2-40B4-BE49-F238E27FC236}">
                <a16:creationId xmlns:a16="http://schemas.microsoft.com/office/drawing/2014/main" id="{A316C46B-9546-4542-BCE0-5D3DD299020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WORKSHEET</a:t>
            </a:r>
          </a:p>
        </p:txBody>
      </p:sp>
      <p:sp>
        <p:nvSpPr>
          <p:cNvPr id="2" name="heading">
            <a:extLst xmlns:a="http://schemas.openxmlformats.org/drawingml/2006/main">
              <a:ext uri="{FF2B5EF4-FFF2-40B4-BE49-F238E27FC236}">
                <a16:creationId xmlns:a16="http://schemas.microsoft.com/office/drawing/2014/main" id="{B5340807-456E-4D7A-9F3E-C503CF98B33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By the end of this lesson</a:t>
            </a:r>
          </a:p>
        </p:txBody>
      </p:sp>
      <p:sp>
        <p:nvSpPr>
          <p:cNvPr id="3" name="footer">
            <a:extLst xmlns:a="http://schemas.openxmlformats.org/drawingml/2006/main">
              <a:ext uri="{FF2B5EF4-FFF2-40B4-BE49-F238E27FC236}">
                <a16:creationId xmlns:a16="http://schemas.microsoft.com/office/drawing/2014/main" id="{200B4124-0B7B-46D5-BBB2-5B1C338E9B32}"/>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8B54C444-C18A-4B59-8081-D5DDEAF198D9}"/>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 / 20</a:t>
            </a:r>
          </a:p>
        </p:txBody>
      </p:sp>
      <p:sp>
        <p:nvSpPr>
          <p:cNvPr id="5" name="outcome-intro">
            <a:extLst xmlns:a="http://schemas.openxmlformats.org/drawingml/2006/main">
              <a:ext uri="{FF2B5EF4-FFF2-40B4-BE49-F238E27FC236}">
                <a16:creationId xmlns:a16="http://schemas.microsoft.com/office/drawing/2014/main" id="{6A402D10-0BAF-4924-9EE1-0A515ADB957C}"/>
              </a:ext>
            </a:extLst>
          </p:cNvPr>
          <p:cNvSpPr>
            <a:spLocks xmlns:a="http://schemas.openxmlformats.org/drawingml/2006/main" noGrp="1"/>
          </p:cNvSpPr>
          <p:nvPr/>
        </p:nvSpPr>
        <p:spPr>
          <a:xfrm xmlns:a="http://schemas.openxmlformats.org/drawingml/2006/main">
            <a:off x="704850" y="15811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Your worksheet lists these learning outcomes:</a:t>
            </a:r>
          </a:p>
        </p:txBody>
      </p:sp>
      <p:sp>
        <p:nvSpPr>
          <p:cNvPr id="6" name="number-1">
            <a:extLst xmlns:a="http://schemas.openxmlformats.org/drawingml/2006/main">
              <a:ext uri="{FF2B5EF4-FFF2-40B4-BE49-F238E27FC236}">
                <a16:creationId xmlns:a16="http://schemas.microsoft.com/office/drawing/2014/main" id="{0E653945-993B-490D-B538-9D56E8AC4BB4}"/>
              </a:ext>
            </a:extLst>
          </p:cNvPr>
          <p:cNvSpPr>
            <a:spLocks xmlns:a="http://schemas.openxmlformats.org/drawingml/2006/main" noGrp="1"/>
          </p:cNvSpPr>
          <p:nvPr/>
        </p:nvSpPr>
        <p:spPr>
          <a:xfrm xmlns:a="http://schemas.openxmlformats.org/drawingml/2006/main">
            <a:off x="723900" y="2266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B91E5143-0026-4D3E-B1F1-13F7338BAFE7}"/>
              </a:ext>
            </a:extLst>
          </p:cNvPr>
          <p:cNvSpPr>
            <a:spLocks xmlns:a="http://schemas.openxmlformats.org/drawingml/2006/main" noGrp="1"/>
          </p:cNvSpPr>
          <p:nvPr/>
        </p:nvSpPr>
        <p:spPr>
          <a:xfrm xmlns:a="http://schemas.openxmlformats.org/drawingml/2006/main">
            <a:off x="1352550" y="2266950"/>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three ways in which CPU speed, and therefore computer speed, can be increased</a:t>
            </a:r>
          </a:p>
        </p:txBody>
      </p:sp>
      <p:sp>
        <p:nvSpPr>
          <p:cNvPr id="8" name="number-2">
            <a:extLst xmlns:a="http://schemas.openxmlformats.org/drawingml/2006/main">
              <a:ext uri="{FF2B5EF4-FFF2-40B4-BE49-F238E27FC236}">
                <a16:creationId xmlns:a16="http://schemas.microsoft.com/office/drawing/2014/main" id="{F1DE19B8-AEC9-448B-9A02-B199B4C14310}"/>
              </a:ext>
            </a:extLst>
          </p:cNvPr>
          <p:cNvSpPr>
            <a:spLocks xmlns:a="http://schemas.openxmlformats.org/drawingml/2006/main" noGrp="1"/>
          </p:cNvSpPr>
          <p:nvPr/>
        </p:nvSpPr>
        <p:spPr>
          <a:xfrm xmlns:a="http://schemas.openxmlformats.org/drawingml/2006/main">
            <a:off x="723900" y="33623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B7B05CF4-7F9A-4D5D-A709-9C685294D95F}"/>
              </a:ext>
            </a:extLst>
          </p:cNvPr>
          <p:cNvSpPr>
            <a:spLocks xmlns:a="http://schemas.openxmlformats.org/drawingml/2006/main" noGrp="1"/>
          </p:cNvSpPr>
          <p:nvPr/>
        </p:nvSpPr>
        <p:spPr>
          <a:xfrm xmlns:a="http://schemas.openxmlformats.org/drawingml/2006/main">
            <a:off x="1352550" y="3362325"/>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Begin learning how to program</a:t>
            </a:r>
          </a:p>
        </p:txBody>
      </p:sp>
      <p:sp>
        <p:nvSpPr>
          <p:cNvPr id="10" name="starter-next">
            <a:extLst xmlns:a="http://schemas.openxmlformats.org/drawingml/2006/main">
              <a:ext uri="{FF2B5EF4-FFF2-40B4-BE49-F238E27FC236}">
                <a16:creationId xmlns:a16="http://schemas.microsoft.com/office/drawing/2014/main" id="{A4C02B74-9E81-42A8-9323-365E55AC33A5}"/>
              </a:ext>
            </a:extLst>
          </p:cNvPr>
          <p:cNvSpPr>
            <a:spLocks xmlns:a="http://schemas.openxmlformats.org/drawingml/2006/main" noGrp="1"/>
          </p:cNvSpPr>
          <p:nvPr/>
        </p:nvSpPr>
        <p:spPr>
          <a:xfrm xmlns:a="http://schemas.openxmlformats.org/drawingml/2006/main">
            <a:off x="704850" y="57816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D63FF"/>
                </a:solidFill>
                <a:latin typeface="DejaVu Sans"/>
                <a:ea typeface="DejaVu Sans"/>
                <a:cs typeface="DejaVu Sans"/>
              </a:defRPr>
            </a:pPr>
            <a:r>
              <a:rPr sz="1650" b="1">
                <a:solidFill>
                  <a:srgbClr val="2D63FF"/>
                </a:solidFill>
                <a:latin typeface="DejaVu Sans"/>
                <a:ea typeface="DejaVu Sans"/>
                <a:cs typeface="DejaVu Sans"/>
              </a:rPr>
              <a:t>Complete the experience in this lesson; finish with the plenary knowledge check.</a:t>
            </a:r>
          </a:p>
        </p:txBody>
      </p:sp>
    </p:spTree>
    <p:extLst>
      <p:ext uri="{BB962C8B-B14F-4D97-AF65-F5344CB8AC3E}">
        <p14:creationId xmlns:p14="http://schemas.microsoft.com/office/powerpoint/2010/main" val="1810011060"/>
      </p:ext>
    </p:extLst>
  </p:cSld>
</p:sld>
</file>

<file path=ppt/slides/slide3.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39203890-6B51-4832-B923-ACF3D23DF62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WORKSHEET STARTER</a:t>
            </a:r>
          </a:p>
        </p:txBody>
      </p:sp>
      <p:sp>
        <p:nvSpPr>
          <p:cNvPr id="2" name="heading">
            <a:extLst xmlns:a="http://schemas.openxmlformats.org/drawingml/2006/main">
              <a:ext uri="{FF2B5EF4-FFF2-40B4-BE49-F238E27FC236}">
                <a16:creationId xmlns:a16="http://schemas.microsoft.com/office/drawing/2014/main" id="{2733B8A0-C09A-4E73-A27C-5D4DD7E5318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before the experience</a:t>
            </a:r>
          </a:p>
        </p:txBody>
      </p:sp>
      <p:sp>
        <p:nvSpPr>
          <p:cNvPr id="3" name="footer">
            <a:extLst xmlns:a="http://schemas.openxmlformats.org/drawingml/2006/main">
              <a:ext uri="{FF2B5EF4-FFF2-40B4-BE49-F238E27FC236}">
                <a16:creationId xmlns:a16="http://schemas.microsoft.com/office/drawing/2014/main" id="{7C883B70-1592-4152-BE77-973F51ECECDA}"/>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FB528CDD-9DDE-44C0-A8A5-011D865BA3C9}"/>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3 / 20</a:t>
            </a:r>
          </a:p>
        </p:txBody>
      </p:sp>
      <p:sp>
        <p:nvSpPr>
          <p:cNvPr id="5" name="write-first">
            <a:extLst xmlns:a="http://schemas.openxmlformats.org/drawingml/2006/main">
              <a:ext uri="{FF2B5EF4-FFF2-40B4-BE49-F238E27FC236}">
                <a16:creationId xmlns:a16="http://schemas.microsoft.com/office/drawing/2014/main" id="{8781C891-F2A8-41DD-98A5-3121EAFBACA7}"/>
              </a:ext>
            </a:extLst>
          </p:cNvPr>
          <p:cNvSpPr>
            <a:spLocks xmlns:a="http://schemas.openxmlformats.org/drawingml/2006/main" noGrp="1"/>
          </p:cNvSpPr>
          <p:nvPr/>
        </p:nvSpPr>
        <p:spPr>
          <a:xfrm xmlns:a="http://schemas.openxmlformats.org/drawingml/2006/main">
            <a:off x="704850" y="15621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Answer the starter question in the box on your worksheet.</a:t>
            </a:r>
          </a:p>
        </p:txBody>
      </p:sp>
      <p:sp>
        <p:nvSpPr>
          <p:cNvPr id="6" name="worksheet-starter">
            <a:extLst xmlns:a="http://schemas.openxmlformats.org/drawingml/2006/main">
              <a:ext uri="{FF2B5EF4-FFF2-40B4-BE49-F238E27FC236}">
                <a16:creationId xmlns:a16="http://schemas.microsoft.com/office/drawing/2014/main" id="{046D91AA-F198-4293-946A-B2A6F8E7DEB9}"/>
              </a:ext>
            </a:extLst>
          </p:cNvPr>
          <p:cNvSpPr>
            <a:spLocks xmlns:a="http://schemas.openxmlformats.org/drawingml/2006/main" noGrp="1"/>
          </p:cNvSpPr>
          <p:nvPr/>
        </p:nvSpPr>
        <p:spPr>
          <a:xfrm xmlns:a="http://schemas.openxmlformats.org/drawingml/2006/main">
            <a:off x="704850" y="2438400"/>
            <a:ext cx="10572750" cy="2609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01828"/>
                </a:solidFill>
                <a:latin typeface="DejaVu Sans"/>
                <a:ea typeface="DejaVu Sans"/>
                <a:cs typeface="DejaVu Sans"/>
              </a:defRPr>
            </a:pPr>
            <a:r>
              <a:rPr sz="2550" b="1">
                <a:solidFill>
                  <a:srgbClr val="101828"/>
                </a:solidFill>
                <a:latin typeface="DejaVu Sans"/>
                <a:ea typeface="DejaVu Sans"/>
                <a:cs typeface="DejaVu Sans"/>
              </a:rPr>
              <a:t>Two laptops both have 8 GB of RAM, but one feels much faster. Suggest three things about their processors that could explain the difference.</a:t>
            </a:r>
          </a:p>
        </p:txBody>
      </p:sp>
      <p:sp>
        <p:nvSpPr>
          <p:cNvPr id="7" name="no-open">
            <a:extLst xmlns:a="http://schemas.openxmlformats.org/drawingml/2006/main">
              <a:ext uri="{FF2B5EF4-FFF2-40B4-BE49-F238E27FC236}">
                <a16:creationId xmlns:a16="http://schemas.microsoft.com/office/drawing/2014/main" id="{0DC96AF0-0DD6-475A-A928-1C006E82F4DD}"/>
              </a:ext>
            </a:extLst>
          </p:cNvPr>
          <p:cNvSpPr>
            <a:spLocks xmlns:a="http://schemas.openxmlformats.org/drawingml/2006/main" noGrp="1"/>
          </p:cNvSpPr>
          <p:nvPr/>
        </p:nvSpPr>
        <p:spPr>
          <a:xfrm xmlns:a="http://schemas.openxmlformats.org/drawingml/2006/main">
            <a:off x="704850" y="54768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2D63FF"/>
                </a:solidFill>
                <a:latin typeface="DejaVu Sans"/>
                <a:ea typeface="DejaVu Sans"/>
                <a:cs typeface="DejaVu Sans"/>
              </a:defRPr>
            </a:pPr>
            <a:r>
              <a:rPr sz="1725" b="0">
                <a:solidFill>
                  <a:srgbClr val="2D63FF"/>
                </a:solidFill>
                <a:latin typeface="DejaVu Sans"/>
                <a:ea typeface="DejaVu Sans"/>
                <a:cs typeface="DejaVu Sans"/>
              </a:rPr>
              <a:t>Keep the experience closed until the starter and key terms are checked.</a:t>
            </a:r>
          </a:p>
        </p:txBody>
      </p:sp>
    </p:spTree>
    <p:extLst>
      <p:ext uri="{BB962C8B-B14F-4D97-AF65-F5344CB8AC3E}">
        <p14:creationId xmlns:p14="http://schemas.microsoft.com/office/powerpoint/2010/main" val="460701197"/>
      </p:ext>
    </p:extLst>
  </p:cSld>
</p:sld>
</file>

<file path=ppt/slides/slide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597BD07C-4354-4951-80F6-6E49597B215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2" name="heading">
            <a:extLst xmlns:a="http://schemas.openxmlformats.org/drawingml/2006/main">
              <a:ext uri="{FF2B5EF4-FFF2-40B4-BE49-F238E27FC236}">
                <a16:creationId xmlns:a16="http://schemas.microsoft.com/office/drawing/2014/main" id="{4DD02269-BA43-431A-99EB-6ACE9209BD1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sample answers</a:t>
            </a:r>
          </a:p>
        </p:txBody>
      </p:sp>
      <p:sp>
        <p:nvSpPr>
          <p:cNvPr id="3" name="footer">
            <a:extLst xmlns:a="http://schemas.openxmlformats.org/drawingml/2006/main">
              <a:ext uri="{FF2B5EF4-FFF2-40B4-BE49-F238E27FC236}">
                <a16:creationId xmlns:a16="http://schemas.microsoft.com/office/drawing/2014/main" id="{FEC39770-9C01-4937-8C87-C07123D1CE72}"/>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CAB6461C-53ED-40CA-AD6C-AE97635813F0}"/>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4 / 20</a:t>
            </a:r>
          </a:p>
        </p:txBody>
      </p:sp>
      <p:sp>
        <p:nvSpPr>
          <p:cNvPr id="5" name="sample-note">
            <a:extLst xmlns:a="http://schemas.openxmlformats.org/drawingml/2006/main">
              <a:ext uri="{FF2B5EF4-FFF2-40B4-BE49-F238E27FC236}">
                <a16:creationId xmlns:a16="http://schemas.microsoft.com/office/drawing/2014/main" id="{0CA9465D-235B-48FE-8E10-DFA2F2E19C50}"/>
              </a:ext>
            </a:extLst>
          </p:cNvPr>
          <p:cNvSpPr>
            <a:spLocks xmlns:a="http://schemas.openxmlformats.org/drawingml/2006/main" noGrp="1"/>
          </p:cNvSpPr>
          <p:nvPr/>
        </p:nvSpPr>
        <p:spPr>
          <a:xfrm xmlns:a="http://schemas.openxmlformats.org/drawingml/2006/main">
            <a:off x="704850" y="1562100"/>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worksheet answer with these examples. Other accurate examples count.</a:t>
            </a:r>
          </a:p>
        </p:txBody>
      </p:sp>
      <p:sp>
        <p:nvSpPr>
          <p:cNvPr id="6" name="number-1">
            <a:extLst xmlns:a="http://schemas.openxmlformats.org/drawingml/2006/main">
              <a:ext uri="{FF2B5EF4-FFF2-40B4-BE49-F238E27FC236}">
                <a16:creationId xmlns:a16="http://schemas.microsoft.com/office/drawing/2014/main" id="{BB88E6D8-C984-420D-AD50-682F0A06543D}"/>
              </a:ext>
            </a:extLst>
          </p:cNvPr>
          <p:cNvSpPr>
            <a:spLocks xmlns:a="http://schemas.openxmlformats.org/drawingml/2006/main" noGrp="1"/>
          </p:cNvSpPr>
          <p:nvPr/>
        </p:nvSpPr>
        <p:spPr>
          <a:xfrm xmlns:a="http://schemas.openxmlformats.org/drawingml/2006/main">
            <a:off x="723900" y="24765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2D63FF"/>
                </a:solidFill>
                <a:latin typeface="DejaVu Sans"/>
                <a:ea typeface="DejaVu Sans"/>
                <a:cs typeface="DejaVu Sans"/>
              </a:defRPr>
            </a:pPr>
            <a:r>
              <a:rPr sz="217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5B9FCC40-0CFB-449B-AEE6-F1B7AE161BB8}"/>
              </a:ext>
            </a:extLst>
          </p:cNvPr>
          <p:cNvSpPr>
            <a:spLocks xmlns:a="http://schemas.openxmlformats.org/drawingml/2006/main" noGrp="1"/>
          </p:cNvSpPr>
          <p:nvPr/>
        </p:nvSpPr>
        <p:spPr>
          <a:xfrm xmlns:a="http://schemas.openxmlformats.org/drawingml/2006/main">
            <a:off x="1352550" y="2476500"/>
            <a:ext cx="99250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The processors may differ in clock speed, cache size and number of cores.</a:t>
            </a:r>
          </a:p>
        </p:txBody>
      </p:sp>
      <p:sp>
        <p:nvSpPr>
          <p:cNvPr id="8" name="number-2">
            <a:extLst xmlns:a="http://schemas.openxmlformats.org/drawingml/2006/main">
              <a:ext uri="{FF2B5EF4-FFF2-40B4-BE49-F238E27FC236}">
                <a16:creationId xmlns:a16="http://schemas.microsoft.com/office/drawing/2014/main" id="{28E55198-FA1E-4041-83C8-42D8923519D2}"/>
              </a:ext>
            </a:extLst>
          </p:cNvPr>
          <p:cNvSpPr>
            <a:spLocks xmlns:a="http://schemas.openxmlformats.org/drawingml/2006/main" noGrp="1"/>
          </p:cNvSpPr>
          <p:nvPr/>
        </p:nvSpPr>
        <p:spPr>
          <a:xfrm xmlns:a="http://schemas.openxmlformats.org/drawingml/2006/main">
            <a:off x="723900" y="40005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2D63FF"/>
                </a:solidFill>
                <a:latin typeface="DejaVu Sans"/>
                <a:ea typeface="DejaVu Sans"/>
                <a:cs typeface="DejaVu Sans"/>
              </a:defRPr>
            </a:pPr>
            <a:r>
              <a:rPr sz="217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9C14E7F5-B07D-47A9-B6DD-502AEA88DFCC}"/>
              </a:ext>
            </a:extLst>
          </p:cNvPr>
          <p:cNvSpPr>
            <a:spLocks xmlns:a="http://schemas.openxmlformats.org/drawingml/2006/main" noGrp="1"/>
          </p:cNvSpPr>
          <p:nvPr/>
        </p:nvSpPr>
        <p:spPr>
          <a:xfrm xmlns:a="http://schemas.openxmlformats.org/drawingml/2006/main">
            <a:off x="1352550" y="4000500"/>
            <a:ext cx="99250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The benefit depends on the task. Extra cores help most when software can use them.</a:t>
            </a:r>
          </a:p>
        </p:txBody>
      </p:sp>
    </p:spTree>
    <p:extLst>
      <p:ext uri="{BB962C8B-B14F-4D97-AF65-F5344CB8AC3E}">
        <p14:creationId xmlns:p14="http://schemas.microsoft.com/office/powerpoint/2010/main" val="1845958204"/>
      </p:ext>
    </p:extLst>
  </p:cSld>
</p:sld>
</file>

<file path=ppt/slides/slide5.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6CEF8607-CAC1-458A-BB14-497BD3E9E13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WORKSHEET KEY TERMS</a:t>
            </a:r>
          </a:p>
        </p:txBody>
      </p:sp>
      <p:sp>
        <p:nvSpPr>
          <p:cNvPr id="2" name="heading">
            <a:extLst xmlns:a="http://schemas.openxmlformats.org/drawingml/2006/main">
              <a:ext uri="{FF2B5EF4-FFF2-40B4-BE49-F238E27FC236}">
                <a16:creationId xmlns:a16="http://schemas.microsoft.com/office/drawing/2014/main" id="{4AA0BDB4-7533-4FD0-9FEE-1CADA49DE528}"/>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quiz</a:t>
            </a:r>
          </a:p>
        </p:txBody>
      </p:sp>
      <p:sp>
        <p:nvSpPr>
          <p:cNvPr id="3" name="footer">
            <a:extLst xmlns:a="http://schemas.openxmlformats.org/drawingml/2006/main">
              <a:ext uri="{FF2B5EF4-FFF2-40B4-BE49-F238E27FC236}">
                <a16:creationId xmlns:a16="http://schemas.microsoft.com/office/drawing/2014/main" id="{BA7B3119-767B-4ADE-B229-B5DC861E34E1}"/>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304F141E-F609-4EAB-8587-16D25A202EF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5 / 20</a:t>
            </a:r>
          </a:p>
        </p:txBody>
      </p:sp>
      <p:sp>
        <p:nvSpPr>
          <p:cNvPr id="5" name="define-first">
            <a:extLst xmlns:a="http://schemas.openxmlformats.org/drawingml/2006/main">
              <a:ext uri="{FF2B5EF4-FFF2-40B4-BE49-F238E27FC236}">
                <a16:creationId xmlns:a16="http://schemas.microsoft.com/office/drawing/2014/main" id="{387F475A-48B9-49DD-941A-EF58B6FBC0CC}"/>
              </a:ext>
            </a:extLst>
          </p:cNvPr>
          <p:cNvSpPr>
            <a:spLocks xmlns:a="http://schemas.openxmlformats.org/drawingml/2006/main" noGrp="1"/>
          </p:cNvSpPr>
          <p:nvPr/>
        </p:nvSpPr>
        <p:spPr>
          <a:xfrm xmlns:a="http://schemas.openxmlformats.org/drawingml/2006/main">
            <a:off x="704850" y="15621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Define the two terms listed in the key terminology section of your worksheet.</a:t>
            </a:r>
          </a:p>
        </p:txBody>
      </p:sp>
      <p:sp>
        <p:nvSpPr>
          <p:cNvPr id="6" name="term-number-0">
            <a:extLst xmlns:a="http://schemas.openxmlformats.org/drawingml/2006/main">
              <a:ext uri="{FF2B5EF4-FFF2-40B4-BE49-F238E27FC236}">
                <a16:creationId xmlns:a16="http://schemas.microsoft.com/office/drawing/2014/main" id="{589D98D9-D733-4B45-AF1A-E00E07DD5C2A}"/>
              </a:ext>
            </a:extLst>
          </p:cNvPr>
          <p:cNvSpPr>
            <a:spLocks xmlns:a="http://schemas.openxmlformats.org/drawingml/2006/main" noGrp="1"/>
          </p:cNvSpPr>
          <p:nvPr/>
        </p:nvSpPr>
        <p:spPr>
          <a:xfrm xmlns:a="http://schemas.openxmlformats.org/drawingml/2006/main">
            <a:off x="723900" y="2686050"/>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1">
                <a:solidFill>
                  <a:srgbClr val="2D63FF"/>
                </a:solidFill>
                <a:latin typeface="DejaVu Sans"/>
                <a:ea typeface="DejaVu Sans"/>
                <a:cs typeface="DejaVu Sans"/>
              </a:defRPr>
            </a:pPr>
            <a:r>
              <a:rPr sz="2625" b="1">
                <a:solidFill>
                  <a:srgbClr val="2D63FF"/>
                </a:solidFill>
                <a:latin typeface="DejaVu Sans"/>
                <a:ea typeface="DejaVu Sans"/>
                <a:cs typeface="DejaVu Sans"/>
              </a:rPr>
              <a:t>1.</a:t>
            </a:r>
          </a:p>
        </p:txBody>
      </p:sp>
      <p:sp>
        <p:nvSpPr>
          <p:cNvPr id="7" name="term-0">
            <a:extLst xmlns:a="http://schemas.openxmlformats.org/drawingml/2006/main">
              <a:ext uri="{FF2B5EF4-FFF2-40B4-BE49-F238E27FC236}">
                <a16:creationId xmlns:a16="http://schemas.microsoft.com/office/drawing/2014/main" id="{DD77800D-D322-48F5-A27E-BB9824B0F3F9}"/>
              </a:ext>
            </a:extLst>
          </p:cNvPr>
          <p:cNvSpPr>
            <a:spLocks xmlns:a="http://schemas.openxmlformats.org/drawingml/2006/main" noGrp="1"/>
          </p:cNvSpPr>
          <p:nvPr/>
        </p:nvSpPr>
        <p:spPr>
          <a:xfrm xmlns:a="http://schemas.openxmlformats.org/drawingml/2006/main">
            <a:off x="1371600" y="2686050"/>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01828"/>
                </a:solidFill>
                <a:latin typeface="DejaVu Sans"/>
                <a:ea typeface="DejaVu Sans"/>
                <a:cs typeface="DejaVu Sans"/>
              </a:defRPr>
            </a:pPr>
            <a:r>
              <a:rPr sz="2700" b="1">
                <a:solidFill>
                  <a:srgbClr val="101828"/>
                </a:solidFill>
                <a:latin typeface="DejaVu Sans"/>
                <a:ea typeface="DejaVu Sans"/>
                <a:cs typeface="DejaVu Sans"/>
              </a:rPr>
              <a:t>Cache</a:t>
            </a:r>
          </a:p>
        </p:txBody>
      </p:sp>
      <p:sp>
        <p:nvSpPr>
          <p:cNvPr id="8" name="term-number-1">
            <a:extLst xmlns:a="http://schemas.openxmlformats.org/drawingml/2006/main">
              <a:ext uri="{FF2B5EF4-FFF2-40B4-BE49-F238E27FC236}">
                <a16:creationId xmlns:a16="http://schemas.microsoft.com/office/drawing/2014/main" id="{894F47C6-A1E0-4BB3-99AB-105118072B00}"/>
              </a:ext>
            </a:extLst>
          </p:cNvPr>
          <p:cNvSpPr>
            <a:spLocks xmlns:a="http://schemas.openxmlformats.org/drawingml/2006/main" noGrp="1"/>
          </p:cNvSpPr>
          <p:nvPr/>
        </p:nvSpPr>
        <p:spPr>
          <a:xfrm xmlns:a="http://schemas.openxmlformats.org/drawingml/2006/main">
            <a:off x="723900" y="4324350"/>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1">
                <a:solidFill>
                  <a:srgbClr val="2D63FF"/>
                </a:solidFill>
                <a:latin typeface="DejaVu Sans"/>
                <a:ea typeface="DejaVu Sans"/>
                <a:cs typeface="DejaVu Sans"/>
              </a:defRPr>
            </a:pPr>
            <a:r>
              <a:rPr sz="2625" b="1">
                <a:solidFill>
                  <a:srgbClr val="2D63FF"/>
                </a:solidFill>
                <a:latin typeface="DejaVu Sans"/>
                <a:ea typeface="DejaVu Sans"/>
                <a:cs typeface="DejaVu Sans"/>
              </a:rPr>
              <a:t>2.</a:t>
            </a:r>
          </a:p>
        </p:txBody>
      </p:sp>
      <p:sp>
        <p:nvSpPr>
          <p:cNvPr id="9" name="term-1">
            <a:extLst xmlns:a="http://schemas.openxmlformats.org/drawingml/2006/main">
              <a:ext uri="{FF2B5EF4-FFF2-40B4-BE49-F238E27FC236}">
                <a16:creationId xmlns:a16="http://schemas.microsoft.com/office/drawing/2014/main" id="{42AA1130-143D-44DD-91B3-422EBE2EB9BB}"/>
              </a:ext>
            </a:extLst>
          </p:cNvPr>
          <p:cNvSpPr>
            <a:spLocks xmlns:a="http://schemas.openxmlformats.org/drawingml/2006/main" noGrp="1"/>
          </p:cNvSpPr>
          <p:nvPr/>
        </p:nvSpPr>
        <p:spPr>
          <a:xfrm xmlns:a="http://schemas.openxmlformats.org/drawingml/2006/main">
            <a:off x="1371600" y="4324350"/>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01828"/>
                </a:solidFill>
                <a:latin typeface="DejaVu Sans"/>
                <a:ea typeface="DejaVu Sans"/>
                <a:cs typeface="DejaVu Sans"/>
              </a:defRPr>
            </a:pPr>
            <a:r>
              <a:rPr sz="2700" b="1">
                <a:solidFill>
                  <a:srgbClr val="101828"/>
                </a:solidFill>
                <a:latin typeface="DejaVu Sans"/>
                <a:ea typeface="DejaVu Sans"/>
                <a:cs typeface="DejaVu Sans"/>
              </a:rPr>
              <a:t>Register</a:t>
            </a:r>
          </a:p>
        </p:txBody>
      </p:sp>
    </p:spTree>
    <p:extLst>
      <p:ext uri="{BB962C8B-B14F-4D97-AF65-F5344CB8AC3E}">
        <p14:creationId xmlns:p14="http://schemas.microsoft.com/office/powerpoint/2010/main" val="1891053066"/>
      </p:ext>
    </p:extLst>
  </p:cSld>
</p:sld>
</file>

<file path=ppt/slides/slide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D24A0D16-C2FF-4F83-AEE8-7A9D55451D45}"/>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2" name="heading">
            <a:extLst xmlns:a="http://schemas.openxmlformats.org/drawingml/2006/main">
              <a:ext uri="{FF2B5EF4-FFF2-40B4-BE49-F238E27FC236}">
                <a16:creationId xmlns:a16="http://schemas.microsoft.com/office/drawing/2014/main" id="{A590BF7D-3D39-4ADE-A2B7-9AFE975108F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answers</a:t>
            </a:r>
          </a:p>
        </p:txBody>
      </p:sp>
      <p:sp>
        <p:nvSpPr>
          <p:cNvPr id="3" name="footer">
            <a:extLst xmlns:a="http://schemas.openxmlformats.org/drawingml/2006/main">
              <a:ext uri="{FF2B5EF4-FFF2-40B4-BE49-F238E27FC236}">
                <a16:creationId xmlns:a16="http://schemas.microsoft.com/office/drawing/2014/main" id="{54397140-1362-49A4-AC6A-74A7B6ADB97A}"/>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E346264A-D929-49B1-A0BD-A5E6A02384B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6 / 20</a:t>
            </a:r>
          </a:p>
        </p:txBody>
      </p:sp>
      <p:sp>
        <p:nvSpPr>
          <p:cNvPr id="5" name="terms-note">
            <a:extLst xmlns:a="http://schemas.openxmlformats.org/drawingml/2006/main">
              <a:ext uri="{FF2B5EF4-FFF2-40B4-BE49-F238E27FC236}">
                <a16:creationId xmlns:a16="http://schemas.microsoft.com/office/drawing/2014/main" id="{97827DB8-C159-4A55-8294-2FAEB3774293}"/>
              </a:ext>
            </a:extLst>
          </p:cNvPr>
          <p:cNvSpPr>
            <a:spLocks xmlns:a="http://schemas.openxmlformats.org/drawingml/2006/main" noGrp="1"/>
          </p:cNvSpPr>
          <p:nvPr/>
        </p:nvSpPr>
        <p:spPr>
          <a:xfrm xmlns:a="http://schemas.openxmlformats.org/drawingml/2006/main">
            <a:off x="704850" y="1562100"/>
            <a:ext cx="1047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Correct or improve your two definitions before opening the experience.</a:t>
            </a:r>
          </a:p>
        </p:txBody>
      </p:sp>
      <p:sp>
        <p:nvSpPr>
          <p:cNvPr id="6" name="answer-term-0">
            <a:extLst xmlns:a="http://schemas.openxmlformats.org/drawingml/2006/main">
              <a:ext uri="{FF2B5EF4-FFF2-40B4-BE49-F238E27FC236}">
                <a16:creationId xmlns:a16="http://schemas.microsoft.com/office/drawing/2014/main" id="{AD9DA486-B535-476C-8908-FC11C966D5C0}"/>
              </a:ext>
            </a:extLst>
          </p:cNvPr>
          <p:cNvSpPr>
            <a:spLocks xmlns:a="http://schemas.openxmlformats.org/drawingml/2006/main" noGrp="1"/>
          </p:cNvSpPr>
          <p:nvPr/>
        </p:nvSpPr>
        <p:spPr>
          <a:xfrm xmlns:a="http://schemas.openxmlformats.org/drawingml/2006/main">
            <a:off x="723900" y="2476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Cache</a:t>
            </a:r>
          </a:p>
        </p:txBody>
      </p:sp>
      <p:sp>
        <p:nvSpPr>
          <p:cNvPr id="7" name="answer-definition-0">
            <a:extLst xmlns:a="http://schemas.openxmlformats.org/drawingml/2006/main">
              <a:ext uri="{FF2B5EF4-FFF2-40B4-BE49-F238E27FC236}">
                <a16:creationId xmlns:a16="http://schemas.microsoft.com/office/drawing/2014/main" id="{5332B334-7A34-48D9-947C-A55476734D1C}"/>
              </a:ext>
            </a:extLst>
          </p:cNvPr>
          <p:cNvSpPr>
            <a:spLocks xmlns:a="http://schemas.openxmlformats.org/drawingml/2006/main" noGrp="1"/>
          </p:cNvSpPr>
          <p:nvPr/>
        </p:nvSpPr>
        <p:spPr>
          <a:xfrm xmlns:a="http://schemas.openxmlformats.org/drawingml/2006/main">
            <a:off x="723900" y="3057525"/>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Small, fast memory for frequently used instructions and data.</a:t>
            </a:r>
          </a:p>
        </p:txBody>
      </p:sp>
      <p:sp>
        <p:nvSpPr>
          <p:cNvPr id="8" name="answer-term-1">
            <a:extLst xmlns:a="http://schemas.openxmlformats.org/drawingml/2006/main">
              <a:ext uri="{FF2B5EF4-FFF2-40B4-BE49-F238E27FC236}">
                <a16:creationId xmlns:a16="http://schemas.microsoft.com/office/drawing/2014/main" id="{220F00F2-FEFE-4917-9CE4-37E3780DDCEB}"/>
              </a:ext>
            </a:extLst>
          </p:cNvPr>
          <p:cNvSpPr>
            <a:spLocks xmlns:a="http://schemas.openxmlformats.org/drawingml/2006/main" noGrp="1"/>
          </p:cNvSpPr>
          <p:nvPr/>
        </p:nvSpPr>
        <p:spPr>
          <a:xfrm xmlns:a="http://schemas.openxmlformats.org/drawingml/2006/main">
            <a:off x="723900" y="4333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Register</a:t>
            </a:r>
          </a:p>
        </p:txBody>
      </p:sp>
      <p:sp>
        <p:nvSpPr>
          <p:cNvPr id="9" name="answer-definition-1">
            <a:extLst xmlns:a="http://schemas.openxmlformats.org/drawingml/2006/main">
              <a:ext uri="{FF2B5EF4-FFF2-40B4-BE49-F238E27FC236}">
                <a16:creationId xmlns:a16="http://schemas.microsoft.com/office/drawing/2014/main" id="{F96FB848-8D45-4D28-9412-89BC3000EBF8}"/>
              </a:ext>
            </a:extLst>
          </p:cNvPr>
          <p:cNvSpPr>
            <a:spLocks xmlns:a="http://schemas.openxmlformats.org/drawingml/2006/main" noGrp="1"/>
          </p:cNvSpPr>
          <p:nvPr/>
        </p:nvSpPr>
        <p:spPr>
          <a:xfrm xmlns:a="http://schemas.openxmlformats.org/drawingml/2006/main">
            <a:off x="723900" y="491490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tiny, very fast storage location inside the CPU for one value.</a:t>
            </a:r>
          </a:p>
        </p:txBody>
      </p:sp>
    </p:spTree>
    <p:extLst>
      <p:ext uri="{BB962C8B-B14F-4D97-AF65-F5344CB8AC3E}">
        <p14:creationId xmlns:p14="http://schemas.microsoft.com/office/powerpoint/2010/main" val="1007440197"/>
      </p:ext>
    </p:extLst>
  </p:cSld>
</p:sld>
</file>

<file path=ppt/slides/slide7.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33C98A6D-50C6-4BC0-ABF6-3F475BAF1B1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03   /   EXPERIENCE</a:t>
            </a:r>
          </a:p>
        </p:txBody>
      </p:sp>
      <p:sp>
        <p:nvSpPr>
          <p:cNvPr id="2" name="heading">
            <a:extLst xmlns:a="http://schemas.openxmlformats.org/drawingml/2006/main">
              <a:ext uri="{FF2B5EF4-FFF2-40B4-BE49-F238E27FC236}">
                <a16:creationId xmlns:a16="http://schemas.microsoft.com/office/drawing/2014/main" id="{94FBE03B-A499-403C-B667-86F7D140ECD4}"/>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Open the experience now</a:t>
            </a:r>
          </a:p>
        </p:txBody>
      </p:sp>
      <p:sp>
        <p:nvSpPr>
          <p:cNvPr id="3" name="footer">
            <a:extLst xmlns:a="http://schemas.openxmlformats.org/drawingml/2006/main">
              <a:ext uri="{FF2B5EF4-FFF2-40B4-BE49-F238E27FC236}">
                <a16:creationId xmlns:a16="http://schemas.microsoft.com/office/drawing/2014/main" id="{6DD695BB-F3E3-4235-A126-6FA2094B084A}"/>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C200F376-9259-45BD-989E-2469E379C56C}"/>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7 / 20</a:t>
            </a:r>
          </a:p>
        </p:txBody>
      </p:sp>
      <p:sp>
        <p:nvSpPr>
          <p:cNvPr id="5" name="start-label">
            <a:extLst xmlns:a="http://schemas.openxmlformats.org/drawingml/2006/main">
              <a:ext uri="{FF2B5EF4-FFF2-40B4-BE49-F238E27FC236}">
                <a16:creationId xmlns:a16="http://schemas.microsoft.com/office/drawing/2014/main" id="{507D2CE9-6B58-4D6B-8B56-D0AD593DB230}"/>
              </a:ext>
            </a:extLst>
          </p:cNvPr>
          <p:cNvSpPr>
            <a:spLocks xmlns:a="http://schemas.openxmlformats.org/drawingml/2006/main" noGrp="1"/>
          </p:cNvSpPr>
          <p:nvPr/>
        </p:nvSpPr>
        <p:spPr>
          <a:xfrm xmlns:a="http://schemas.openxmlformats.org/drawingml/2006/main">
            <a:off x="723900" y="1657350"/>
            <a:ext cx="142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START</a:t>
            </a:r>
          </a:p>
        </p:txBody>
      </p:sp>
      <p:sp>
        <p:nvSpPr>
          <p:cNvPr id="6" name="start">
            <a:extLst xmlns:a="http://schemas.openxmlformats.org/drawingml/2006/main">
              <a:ext uri="{FF2B5EF4-FFF2-40B4-BE49-F238E27FC236}">
                <a16:creationId xmlns:a16="http://schemas.microsoft.com/office/drawing/2014/main" id="{9ADA9ED8-D573-407C-8FFD-E72526512432}"/>
              </a:ext>
            </a:extLst>
          </p:cNvPr>
          <p:cNvSpPr>
            <a:spLocks xmlns:a="http://schemas.openxmlformats.org/drawingml/2006/main" noGrp="1"/>
          </p:cNvSpPr>
          <p:nvPr/>
        </p:nvSpPr>
        <p:spPr>
          <a:xfrm xmlns:a="http://schemas.openxmlformats.org/drawingml/2006/main">
            <a:off x="723900" y="1990725"/>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Select Speed lab from Topic 1.1 and keep your worksheet beside you.</a:t>
            </a:r>
          </a:p>
        </p:txBody>
      </p:sp>
      <p:sp>
        <p:nvSpPr>
          <p:cNvPr id="7" name="own-words-label">
            <a:extLst xmlns:a="http://schemas.openxmlformats.org/drawingml/2006/main">
              <a:ext uri="{FF2B5EF4-FFF2-40B4-BE49-F238E27FC236}">
                <a16:creationId xmlns:a16="http://schemas.microsoft.com/office/drawing/2014/main" id="{DA027AD0-A527-43C1-9FC8-855097F3432A}"/>
              </a:ext>
            </a:extLst>
          </p:cNvPr>
          <p:cNvSpPr>
            <a:spLocks xmlns:a="http://schemas.openxmlformats.org/drawingml/2006/main" noGrp="1"/>
          </p:cNvSpPr>
          <p:nvPr/>
        </p:nvSpPr>
        <p:spPr>
          <a:xfrm xmlns:a="http://schemas.openxmlformats.org/drawingml/2006/main">
            <a:off x="723900" y="2924175"/>
            <a:ext cx="4000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AT EVERY STATION</a:t>
            </a:r>
          </a:p>
        </p:txBody>
      </p:sp>
      <p:sp>
        <p:nvSpPr>
          <p:cNvPr id="8" name="own-words">
            <a:extLst xmlns:a="http://schemas.openxmlformats.org/drawingml/2006/main">
              <a:ext uri="{FF2B5EF4-FFF2-40B4-BE49-F238E27FC236}">
                <a16:creationId xmlns:a16="http://schemas.microsoft.com/office/drawing/2014/main" id="{FBDEEF73-0B90-430F-A092-3A92B1936ACC}"/>
              </a:ext>
            </a:extLst>
          </p:cNvPr>
          <p:cNvSpPr>
            <a:spLocks xmlns:a="http://schemas.openxmlformats.org/drawingml/2006/main" noGrp="1"/>
          </p:cNvSpPr>
          <p:nvPr/>
        </p:nvSpPr>
        <p:spPr>
          <a:xfrm xmlns:a="http://schemas.openxmlformats.org/drawingml/2006/main">
            <a:off x="723900" y="3276600"/>
            <a:ext cx="10572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FFFFFF"/>
                </a:solidFill>
                <a:latin typeface="DejaVu Sans"/>
                <a:ea typeface="DejaVu Sans"/>
                <a:cs typeface="DejaVu Sans"/>
              </a:defRPr>
            </a:pPr>
            <a:r>
              <a:rPr sz="2250" b="1">
                <a:solidFill>
                  <a:srgbClr val="FFFFFF"/>
                </a:solidFill>
                <a:latin typeface="DejaVu Sans"/>
                <a:ea typeface="DejaVu Sans"/>
                <a:cs typeface="DejaVu Sans"/>
              </a:rPr>
              <a:t>Write the key fact IN YOUR OWN WORDS and answer the worksheet challenge before tapping the badge.</a:t>
            </a:r>
          </a:p>
        </p:txBody>
      </p:sp>
      <p:sp>
        <p:nvSpPr>
          <p:cNvPr id="9" name="finish-label">
            <a:extLst xmlns:a="http://schemas.openxmlformats.org/drawingml/2006/main">
              <a:ext uri="{FF2B5EF4-FFF2-40B4-BE49-F238E27FC236}">
                <a16:creationId xmlns:a16="http://schemas.microsoft.com/office/drawing/2014/main" id="{22DC8388-E8F0-49FC-B5C1-C8428BAC090E}"/>
              </a:ext>
            </a:extLst>
          </p:cNvPr>
          <p:cNvSpPr>
            <a:spLocks xmlns:a="http://schemas.openxmlformats.org/drawingml/2006/main" noGrp="1"/>
          </p:cNvSpPr>
          <p:nvPr/>
        </p:nvSpPr>
        <p:spPr>
          <a:xfrm xmlns:a="http://schemas.openxmlformats.org/drawingml/2006/main">
            <a:off x="723900" y="4638675"/>
            <a:ext cx="142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FINISH</a:t>
            </a:r>
          </a:p>
        </p:txBody>
      </p:sp>
      <p:sp>
        <p:nvSpPr>
          <p:cNvPr id="10" name="finish">
            <a:extLst xmlns:a="http://schemas.openxmlformats.org/drawingml/2006/main">
              <a:ext uri="{FF2B5EF4-FFF2-40B4-BE49-F238E27FC236}">
                <a16:creationId xmlns:a16="http://schemas.microsoft.com/office/drawing/2014/main" id="{45F84F92-6FB6-46A1-8A3F-C993CB8D3F14}"/>
              </a:ext>
            </a:extLst>
          </p:cNvPr>
          <p:cNvSpPr>
            <a:spLocks xmlns:a="http://schemas.openxmlformats.org/drawingml/2006/main" noGrp="1"/>
          </p:cNvSpPr>
          <p:nvPr/>
        </p:nvSpPr>
        <p:spPr>
          <a:xfrm xmlns:a="http://schemas.openxmlformats.org/drawingml/2006/main">
            <a:off x="723900" y="49720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Answer on screen, then copy your score into the yellow worksheet box (out of 17).</a:t>
            </a:r>
          </a:p>
        </p:txBody>
      </p:sp>
      <p:sp>
        <p:nvSpPr>
          <p:cNvPr id="11" name="open-link">
            <a:extLst xmlns:a="http://schemas.openxmlformats.org/drawingml/2006/main">
              <a:ext uri="{FF2B5EF4-FFF2-40B4-BE49-F238E27FC236}">
                <a16:creationId xmlns:a16="http://schemas.microsoft.com/office/drawing/2014/main" id="{F7458EF2-B7D0-4622-8E4E-44032EADA32D}"/>
              </a:ext>
            </a:extLst>
          </p:cNvPr>
          <p:cNvSpPr>
            <a:spLocks xmlns:a="http://schemas.openxmlformats.org/drawingml/2006/main" noGrp="1"/>
          </p:cNvSpPr>
          <p:nvPr/>
        </p:nvSpPr>
        <p:spPr>
          <a:xfrm xmlns:a="http://schemas.openxmlformats.org/drawingml/2006/main">
            <a:off x="723900" y="5838825"/>
            <a:ext cx="571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77D8FF"/>
                </a:solidFill>
                <a:latin typeface="DejaVu Sans"/>
                <a:ea typeface="DejaVu Sans"/>
                <a:cs typeface="DejaVu Sans"/>
              </a:defRPr>
            </a:pPr>
            <a:r>
              <a:rPr sz="1725" b="1">
                <a:solidFill>
                  <a:srgbClr val="77D8FF"/>
                </a:solidFill>
                <a:latin typeface="DejaVu Sans"/>
                <a:ea typeface="DejaVu Sans"/>
                <a:cs typeface="DejaVu Sans"/>
                <a:hlinkClick xmlns:r="http://schemas.openxmlformats.org/officeDocument/2006/relationships" r:id="R3d6cf058053a4ca8"/>
              </a:rPr>
              <a:t>Open the experience online</a:t>
            </a:r>
            <a:r>
              <a:rPr sz="1725" b="1">
                <a:solidFill>
                  <a:srgbClr val="77D8FF"/>
                </a:solidFill>
                <a:latin typeface="DejaVu Sans"/>
                <a:ea typeface="DejaVu Sans"/>
                <a:cs typeface="DejaVu Sans"/>
              </a:rPr>
              <a:t>  ↗</a:t>
            </a:r>
          </a:p>
        </p:txBody>
      </p:sp>
    </p:spTree>
    <p:extLst>
      <p:ext uri="{BB962C8B-B14F-4D97-AF65-F5344CB8AC3E}">
        <p14:creationId xmlns:p14="http://schemas.microsoft.com/office/powerpoint/2010/main" val="16984026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opic">
            <a:extLst xmlns:a="http://schemas.openxmlformats.org/drawingml/2006/main">
              <a:ext uri="{FF2B5EF4-FFF2-40B4-BE49-F238E27FC236}">
                <a16:creationId xmlns:a16="http://schemas.microsoft.com/office/drawing/2014/main" id="{88802313-1032-44D9-A6EE-F10AA51F758F}"/>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EXPERIENCE</a:t>
            </a:r>
          </a:p>
        </p:txBody>
      </p:sp>
      <p:sp>
        <p:nvSpPr>
          <p:cNvPr id="2" name="heading">
            <a:extLst xmlns:a="http://schemas.openxmlformats.org/drawingml/2006/main">
              <a:ext uri="{FF2B5EF4-FFF2-40B4-BE49-F238E27FC236}">
                <a16:creationId xmlns:a16="http://schemas.microsoft.com/office/drawing/2014/main" id="{664A5FC7-3A51-44D5-B268-88778FE7092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The stations in your worksheet</a:t>
            </a:r>
          </a:p>
        </p:txBody>
      </p:sp>
      <p:sp>
        <p:nvSpPr>
          <p:cNvPr id="3" name="footer">
            <a:extLst xmlns:a="http://schemas.openxmlformats.org/drawingml/2006/main">
              <a:ext uri="{FF2B5EF4-FFF2-40B4-BE49-F238E27FC236}">
                <a16:creationId xmlns:a16="http://schemas.microsoft.com/office/drawing/2014/main" id="{64F9F6F9-36F4-4235-A302-13715913CBA4}"/>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2E6D1221-C562-496F-A800-9B0CB041BBC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8 / 20</a:t>
            </a:r>
          </a:p>
        </p:txBody>
      </p:sp>
      <p:sp>
        <p:nvSpPr>
          <p:cNvPr id="5" name="route-intro">
            <a:extLst xmlns:a="http://schemas.openxmlformats.org/drawingml/2006/main">
              <a:ext uri="{FF2B5EF4-FFF2-40B4-BE49-F238E27FC236}">
                <a16:creationId xmlns:a16="http://schemas.microsoft.com/office/drawing/2014/main" id="{364553E5-D51C-4B80-B991-CB1044C1B7C7}"/>
              </a:ext>
            </a:extLst>
          </p:cNvPr>
          <p:cNvSpPr>
            <a:spLocks xmlns:a="http://schemas.openxmlformats.org/drawingml/2006/main" noGrp="1"/>
          </p:cNvSpPr>
          <p:nvPr/>
        </p:nvSpPr>
        <p:spPr>
          <a:xfrm xmlns:a="http://schemas.openxmlformats.org/drawingml/2006/main">
            <a:off x="704850" y="153352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Follow your worksheet route. Write key facts in your own words before tapping each badge.</a:t>
            </a:r>
          </a:p>
        </p:txBody>
      </p:sp>
      <p:sp>
        <p:nvSpPr>
          <p:cNvPr id="6" name="route-direction-0">
            <a:extLst xmlns:a="http://schemas.openxmlformats.org/drawingml/2006/main">
              <a:ext uri="{FF2B5EF4-FFF2-40B4-BE49-F238E27FC236}">
                <a16:creationId xmlns:a16="http://schemas.microsoft.com/office/drawing/2014/main" id="{E52AE46C-FE98-4DC9-ADEB-7AD74446E07E}"/>
              </a:ext>
            </a:extLst>
          </p:cNvPr>
          <p:cNvSpPr>
            <a:spLocks xmlns:a="http://schemas.openxmlformats.org/drawingml/2006/main" noGrp="1"/>
          </p:cNvSpPr>
          <p:nvPr/>
        </p:nvSpPr>
        <p:spPr>
          <a:xfrm xmlns:a="http://schemas.openxmlformats.org/drawingml/2006/main">
            <a:off x="704850" y="2266950"/>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RIGHT</a:t>
            </a:r>
          </a:p>
        </p:txBody>
      </p:sp>
      <p:sp>
        <p:nvSpPr>
          <p:cNvPr id="7" name="route-names-0">
            <a:extLst xmlns:a="http://schemas.openxmlformats.org/drawingml/2006/main">
              <a:ext uri="{FF2B5EF4-FFF2-40B4-BE49-F238E27FC236}">
                <a16:creationId xmlns:a16="http://schemas.microsoft.com/office/drawing/2014/main" id="{0573D511-102C-4AC3-88E2-24BE9C4AC68A}"/>
              </a:ext>
            </a:extLst>
          </p:cNvPr>
          <p:cNvSpPr>
            <a:spLocks xmlns:a="http://schemas.openxmlformats.org/drawingml/2006/main" noGrp="1"/>
          </p:cNvSpPr>
          <p:nvPr/>
        </p:nvSpPr>
        <p:spPr>
          <a:xfrm xmlns:a="http://schemas.openxmlformats.org/drawingml/2006/main">
            <a:off x="1809750" y="2266950"/>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1 Clock speed</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2 Overclocking and heat</a:t>
            </a:r>
          </a:p>
        </p:txBody>
      </p:sp>
      <p:sp>
        <p:nvSpPr>
          <p:cNvPr id="8" name="route-direction-1">
            <a:extLst xmlns:a="http://schemas.openxmlformats.org/drawingml/2006/main">
              <a:ext uri="{FF2B5EF4-FFF2-40B4-BE49-F238E27FC236}">
                <a16:creationId xmlns:a16="http://schemas.microsoft.com/office/drawing/2014/main" id="{0DA935FC-7483-476A-A689-41C3CB30AE59}"/>
              </a:ext>
            </a:extLst>
          </p:cNvPr>
          <p:cNvSpPr>
            <a:spLocks xmlns:a="http://schemas.openxmlformats.org/drawingml/2006/main" noGrp="1"/>
          </p:cNvSpPr>
          <p:nvPr/>
        </p:nvSpPr>
        <p:spPr>
          <a:xfrm xmlns:a="http://schemas.openxmlformats.org/drawingml/2006/main">
            <a:off x="704850" y="3209925"/>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AROUND</a:t>
            </a:r>
          </a:p>
        </p:txBody>
      </p:sp>
      <p:sp>
        <p:nvSpPr>
          <p:cNvPr id="9" name="route-names-1">
            <a:extLst xmlns:a="http://schemas.openxmlformats.org/drawingml/2006/main">
              <a:ext uri="{FF2B5EF4-FFF2-40B4-BE49-F238E27FC236}">
                <a16:creationId xmlns:a16="http://schemas.microsoft.com/office/drawing/2014/main" id="{E9660505-A872-4C16-A224-093945134355}"/>
              </a:ext>
            </a:extLst>
          </p:cNvPr>
          <p:cNvSpPr>
            <a:spLocks xmlns:a="http://schemas.openxmlformats.org/drawingml/2006/main" noGrp="1"/>
          </p:cNvSpPr>
          <p:nvPr/>
        </p:nvSpPr>
        <p:spPr>
          <a:xfrm xmlns:a="http://schemas.openxmlformats.org/drawingml/2006/main">
            <a:off x="1809750" y="3209925"/>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3 Cache size</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4 Number of cores</a:t>
            </a:r>
          </a:p>
        </p:txBody>
      </p:sp>
      <p:sp>
        <p:nvSpPr>
          <p:cNvPr id="10" name="route-direction-2">
            <a:extLst xmlns:a="http://schemas.openxmlformats.org/drawingml/2006/main">
              <a:ext uri="{FF2B5EF4-FFF2-40B4-BE49-F238E27FC236}">
                <a16:creationId xmlns:a16="http://schemas.microsoft.com/office/drawing/2014/main" id="{6100154C-00F3-4C46-B354-56A696136DEE}"/>
              </a:ext>
            </a:extLst>
          </p:cNvPr>
          <p:cNvSpPr>
            <a:spLocks xmlns:a="http://schemas.openxmlformats.org/drawingml/2006/main" noGrp="1"/>
          </p:cNvSpPr>
          <p:nvPr/>
        </p:nvSpPr>
        <p:spPr>
          <a:xfrm xmlns:a="http://schemas.openxmlformats.org/drawingml/2006/main">
            <a:off x="704850" y="4162425"/>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LEFT</a:t>
            </a:r>
          </a:p>
        </p:txBody>
      </p:sp>
      <p:sp>
        <p:nvSpPr>
          <p:cNvPr id="11" name="route-names-2">
            <a:extLst xmlns:a="http://schemas.openxmlformats.org/drawingml/2006/main">
              <a:ext uri="{FF2B5EF4-FFF2-40B4-BE49-F238E27FC236}">
                <a16:creationId xmlns:a16="http://schemas.microsoft.com/office/drawing/2014/main" id="{5FC4F464-102B-499A-9BB7-06CC807752B2}"/>
              </a:ext>
            </a:extLst>
          </p:cNvPr>
          <p:cNvSpPr>
            <a:spLocks xmlns:a="http://schemas.openxmlformats.org/drawingml/2006/main" noGrp="1"/>
          </p:cNvSpPr>
          <p:nvPr/>
        </p:nvSpPr>
        <p:spPr>
          <a:xfrm xmlns:a="http://schemas.openxmlformats.org/drawingml/2006/main">
            <a:off x="1809750" y="4162425"/>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5 Single core, 2.5 GHz</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6 Units of speed</a:t>
            </a:r>
          </a:p>
        </p:txBody>
      </p:sp>
      <p:sp>
        <p:nvSpPr>
          <p:cNvPr id="12" name="route-direction-3">
            <a:extLst xmlns:a="http://schemas.openxmlformats.org/drawingml/2006/main">
              <a:ext uri="{FF2B5EF4-FFF2-40B4-BE49-F238E27FC236}">
                <a16:creationId xmlns:a16="http://schemas.microsoft.com/office/drawing/2014/main" id="{710FFD92-E493-4373-8C38-C7C45087ADD0}"/>
              </a:ext>
            </a:extLst>
          </p:cNvPr>
          <p:cNvSpPr>
            <a:spLocks xmlns:a="http://schemas.openxmlformats.org/drawingml/2006/main" noGrp="1"/>
          </p:cNvSpPr>
          <p:nvPr/>
        </p:nvSpPr>
        <p:spPr>
          <a:xfrm xmlns:a="http://schemas.openxmlformats.org/drawingml/2006/main">
            <a:off x="704850" y="5314950"/>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DOWN</a:t>
            </a:r>
          </a:p>
        </p:txBody>
      </p:sp>
      <p:sp>
        <p:nvSpPr>
          <p:cNvPr id="13" name="route-names-3">
            <a:extLst xmlns:a="http://schemas.openxmlformats.org/drawingml/2006/main">
              <a:ext uri="{FF2B5EF4-FFF2-40B4-BE49-F238E27FC236}">
                <a16:creationId xmlns:a16="http://schemas.microsoft.com/office/drawing/2014/main" id="{0B110ADF-1EC5-40B1-B7B1-58E66F3528D4}"/>
              </a:ext>
            </a:extLst>
          </p:cNvPr>
          <p:cNvSpPr>
            <a:spLocks xmlns:a="http://schemas.openxmlformats.org/drawingml/2006/main" noGrp="1"/>
          </p:cNvSpPr>
          <p:nvPr/>
        </p:nvSpPr>
        <p:spPr>
          <a:xfrm xmlns:a="http://schemas.openxmlformats.org/drawingml/2006/main">
            <a:off x="1809750" y="5314950"/>
            <a:ext cx="4438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01828"/>
                </a:solidFill>
                <a:latin typeface="DejaVu Sans"/>
                <a:ea typeface="DejaVu Sans"/>
                <a:cs typeface="DejaVu Sans"/>
              </a:defRPr>
            </a:pPr>
            <a:r>
              <a:rPr sz="1875" b="1">
                <a:solidFill>
                  <a:srgbClr val="101828"/>
                </a:solidFill>
                <a:latin typeface="DejaVu Sans"/>
                <a:ea typeface="DejaVu Sans"/>
                <a:cs typeface="DejaVu Sans"/>
              </a:rPr>
              <a:t>★ Final challenge</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3043c4f9a7d43e6"/>
          <a:stretch xmlns:a="http://schemas.openxmlformats.org/drawingml/2006/main"/>
        </p:blipFill>
        <p:spPr>
          <a:xfrm xmlns:a="http://schemas.openxmlformats.org/drawingml/2006/main">
            <a:off x="6505575" y="2241550"/>
            <a:ext cx="4933950" cy="3289300"/>
          </a:xfrm>
          <a:prstGeom xmlns:a="http://schemas.openxmlformats.org/drawingml/2006/main" prst="rect">
            <a:avLst/>
          </a:prstGeom>
        </p:spPr>
      </p:pic>
    </p:spTree>
    <p:extLst>
      <p:ext uri="{BB962C8B-B14F-4D97-AF65-F5344CB8AC3E}">
        <p14:creationId xmlns:p14="http://schemas.microsoft.com/office/powerpoint/2010/main" val="10965513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pic">
            <a:extLst xmlns:a="http://schemas.openxmlformats.org/drawingml/2006/main">
              <a:ext uri="{FF2B5EF4-FFF2-40B4-BE49-F238E27FC236}">
                <a16:creationId xmlns:a16="http://schemas.microsoft.com/office/drawing/2014/main" id="{223D5F2E-BBB2-455C-B0E1-E50B24FE694D}"/>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WORKSHEET</a:t>
            </a:r>
          </a:p>
        </p:txBody>
      </p:sp>
      <p:sp>
        <p:nvSpPr>
          <p:cNvPr id="2" name="heading">
            <a:extLst xmlns:a="http://schemas.openxmlformats.org/drawingml/2006/main">
              <a:ext uri="{FF2B5EF4-FFF2-40B4-BE49-F238E27FC236}">
                <a16:creationId xmlns:a16="http://schemas.microsoft.com/office/drawing/2014/main" id="{F353F9F7-0161-4818-8710-A8237952820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score and key question</a:t>
            </a:r>
          </a:p>
        </p:txBody>
      </p:sp>
      <p:sp>
        <p:nvSpPr>
          <p:cNvPr id="3" name="footer">
            <a:extLst xmlns:a="http://schemas.openxmlformats.org/drawingml/2006/main">
              <a:ext uri="{FF2B5EF4-FFF2-40B4-BE49-F238E27FC236}">
                <a16:creationId xmlns:a16="http://schemas.microsoft.com/office/drawing/2014/main" id="{BD718EFD-41E9-453E-BD1A-924C630E5EE1}"/>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6572C66D-C2EF-4611-B1F6-B90522A138E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9 / 20</a:t>
            </a:r>
          </a:p>
        </p:txBody>
      </p:sp>
      <p:sp>
        <p:nvSpPr>
          <p:cNvPr id="5" name="star">
            <a:extLst xmlns:a="http://schemas.openxmlformats.org/drawingml/2006/main">
              <a:ext uri="{FF2B5EF4-FFF2-40B4-BE49-F238E27FC236}">
                <a16:creationId xmlns:a16="http://schemas.microsoft.com/office/drawing/2014/main" id="{7AF7B5D4-DFD8-44A3-B252-D64DA2DAA69F}"/>
              </a:ext>
            </a:extLst>
          </p:cNvPr>
          <p:cNvSpPr>
            <a:spLocks xmlns:a="http://schemas.openxmlformats.org/drawingml/2006/main" noGrp="1"/>
          </p:cNvSpPr>
          <p:nvPr/>
        </p:nvSpPr>
        <p:spPr>
          <a:xfrm xmlns:a="http://schemas.openxmlformats.org/drawingml/2006/main">
            <a:off x="704850" y="1676400"/>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01828"/>
                </a:solidFill>
                <a:latin typeface="DejaVu Sans"/>
                <a:ea typeface="DejaVu Sans"/>
                <a:cs typeface="DejaVu Sans"/>
              </a:defRPr>
            </a:pPr>
            <a:r>
              <a:rPr sz="2175" b="1">
                <a:solidFill>
                  <a:srgbClr val="101828"/>
                </a:solidFill>
                <a:latin typeface="DejaVu Sans"/>
                <a:ea typeface="DejaVu Sans"/>
                <a:cs typeface="DejaVu Sans"/>
              </a:rPr>
              <a:t>Look down. Complete the ★ final challenge table on your worksheet before tapping the star.</a:t>
            </a:r>
          </a:p>
        </p:txBody>
      </p:sp>
      <p:sp>
        <p:nvSpPr>
          <p:cNvPr id="6" name="score">
            <a:extLst xmlns:a="http://schemas.openxmlformats.org/drawingml/2006/main">
              <a:ext uri="{FF2B5EF4-FFF2-40B4-BE49-F238E27FC236}">
                <a16:creationId xmlns:a16="http://schemas.microsoft.com/office/drawing/2014/main" id="{9FBC1C8C-1260-43CF-98D9-0A29E7B115D4}"/>
              </a:ext>
            </a:extLst>
          </p:cNvPr>
          <p:cNvSpPr>
            <a:spLocks xmlns:a="http://schemas.openxmlformats.org/drawingml/2006/main" noGrp="1"/>
          </p:cNvSpPr>
          <p:nvPr/>
        </p:nvSpPr>
        <p:spPr>
          <a:xfrm xmlns:a="http://schemas.openxmlformats.org/drawingml/2006/main">
            <a:off x="704850" y="31623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2D63FF"/>
                </a:solidFill>
                <a:latin typeface="DejaVu Sans"/>
                <a:ea typeface="DejaVu Sans"/>
                <a:cs typeface="DejaVu Sans"/>
              </a:defRPr>
            </a:pPr>
            <a:r>
              <a:rPr sz="2175" b="1">
                <a:solidFill>
                  <a:srgbClr val="2D63FF"/>
                </a:solidFill>
                <a:latin typeface="DejaVu Sans"/>
                <a:ea typeface="DejaVu Sans"/>
                <a:cs typeface="DejaVu Sans"/>
              </a:rPr>
              <a:t>Copy the result from the score screen:  ______ / 17</a:t>
            </a:r>
          </a:p>
        </p:txBody>
      </p:sp>
      <p:sp>
        <p:nvSpPr>
          <p:cNvPr id="7" name="key-label">
            <a:extLst xmlns:a="http://schemas.openxmlformats.org/drawingml/2006/main">
              <a:ext uri="{FF2B5EF4-FFF2-40B4-BE49-F238E27FC236}">
                <a16:creationId xmlns:a16="http://schemas.microsoft.com/office/drawing/2014/main" id="{8096F28C-80D6-4908-8B3B-62E148BCE4BC}"/>
              </a:ext>
            </a:extLst>
          </p:cNvPr>
          <p:cNvSpPr>
            <a:spLocks xmlns:a="http://schemas.openxmlformats.org/drawingml/2006/main" noGrp="1"/>
          </p:cNvSpPr>
          <p:nvPr/>
        </p:nvSpPr>
        <p:spPr>
          <a:xfrm xmlns:a="http://schemas.openxmlformats.org/drawingml/2006/main">
            <a:off x="704850" y="43529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2D63FF"/>
                </a:solidFill>
                <a:latin typeface="DejaVu Sans"/>
                <a:ea typeface="DejaVu Sans"/>
                <a:cs typeface="DejaVu Sans"/>
              </a:defRPr>
            </a:pPr>
            <a:r>
              <a:rPr sz="1425" b="1">
                <a:solidFill>
                  <a:srgbClr val="2D63FF"/>
                </a:solidFill>
                <a:latin typeface="DejaVu Sans"/>
                <a:ea typeface="DejaVu Sans"/>
                <a:cs typeface="DejaVu Sans"/>
              </a:rPr>
              <a:t>KEY QUESTION</a:t>
            </a:r>
          </a:p>
        </p:txBody>
      </p:sp>
      <p:sp>
        <p:nvSpPr>
          <p:cNvPr id="8" name="key-question">
            <a:extLst xmlns:a="http://schemas.openxmlformats.org/drawingml/2006/main">
              <a:ext uri="{FF2B5EF4-FFF2-40B4-BE49-F238E27FC236}">
                <a16:creationId xmlns:a16="http://schemas.microsoft.com/office/drawing/2014/main" id="{14CCE2B9-8719-4D8E-BC93-8EC5BD2C7FB4}"/>
              </a:ext>
            </a:extLst>
          </p:cNvPr>
          <p:cNvSpPr>
            <a:spLocks xmlns:a="http://schemas.openxmlformats.org/drawingml/2006/main" noGrp="1"/>
          </p:cNvSpPr>
          <p:nvPr/>
        </p:nvSpPr>
        <p:spPr>
          <a:xfrm xmlns:a="http://schemas.openxmlformats.org/drawingml/2006/main">
            <a:off x="704850" y="4867275"/>
            <a:ext cx="10572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01828"/>
                </a:solidFill>
                <a:latin typeface="DejaVu Sans"/>
                <a:ea typeface="DejaVu Sans"/>
                <a:cs typeface="DejaVu Sans"/>
              </a:defRPr>
            </a:pPr>
            <a:r>
              <a:rPr sz="2550" b="1">
                <a:solidFill>
                  <a:srgbClr val="101828"/>
                </a:solidFill>
                <a:latin typeface="DejaVu Sans"/>
                <a:ea typeface="DejaVu Sans"/>
                <a:cs typeface="DejaVu Sans"/>
              </a:rPr>
              <a:t>What factors affect CPU performance?</a:t>
            </a:r>
          </a:p>
        </p:txBody>
      </p:sp>
    </p:spTree>
    <p:extLst>
      <p:ext uri="{BB962C8B-B14F-4D97-AF65-F5344CB8AC3E}">
        <p14:creationId xmlns:p14="http://schemas.microsoft.com/office/powerpoint/2010/main" val="134988306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165C1DB6-3BE2-4112-B949-4587C64A496C}"/>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EXTENSION</a:t>
            </a:r>
          </a:p>
        </p:txBody>
      </p:sp>
      <p:sp>
        <p:nvSpPr>
          <p:cNvPr id="2" name="heading">
            <a:extLst xmlns:a="http://schemas.openxmlformats.org/drawingml/2006/main">
              <a:ext uri="{FF2B5EF4-FFF2-40B4-BE49-F238E27FC236}">
                <a16:creationId xmlns:a16="http://schemas.microsoft.com/office/drawing/2014/main" id="{9577CC61-AD80-4CCE-A269-7AEAE273B2BA}"/>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Apply your learning</a:t>
            </a:r>
          </a:p>
        </p:txBody>
      </p:sp>
      <p:sp>
        <p:nvSpPr>
          <p:cNvPr id="3" name="footer">
            <a:extLst xmlns:a="http://schemas.openxmlformats.org/drawingml/2006/main">
              <a:ext uri="{FF2B5EF4-FFF2-40B4-BE49-F238E27FC236}">
                <a16:creationId xmlns:a16="http://schemas.microsoft.com/office/drawing/2014/main" id="{B563694A-137D-436D-B8CC-6DD0AEE30957}"/>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E88085FC-04A5-4CB3-9FBA-77524E7C423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10 / 20</a:t>
            </a:r>
          </a:p>
        </p:txBody>
      </p:sp>
      <p:sp>
        <p:nvSpPr>
          <p:cNvPr id="5" name="extension-lead">
            <a:extLst xmlns:a="http://schemas.openxmlformats.org/drawingml/2006/main">
              <a:ext uri="{FF2B5EF4-FFF2-40B4-BE49-F238E27FC236}">
                <a16:creationId xmlns:a16="http://schemas.microsoft.com/office/drawing/2014/main" id="{88EA05DE-DE19-4C29-A7E1-F1BC41941860}"/>
              </a:ext>
            </a:extLst>
          </p:cNvPr>
          <p:cNvSpPr>
            <a:spLocks xmlns:a="http://schemas.openxmlformats.org/drawingml/2006/main" noGrp="1"/>
          </p:cNvSpPr>
          <p:nvPr/>
        </p:nvSpPr>
        <p:spPr>
          <a:xfrm xmlns:a="http://schemas.openxmlformats.org/drawingml/2006/main">
            <a:off x="704850" y="1628775"/>
            <a:ext cx="107346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Once you have completed the experience, use your worksheet to reason further.</a:t>
            </a:r>
          </a:p>
        </p:txBody>
      </p:sp>
      <p:sp>
        <p:nvSpPr>
          <p:cNvPr id="6" name="extension-prompt">
            <a:extLst xmlns:a="http://schemas.openxmlformats.org/drawingml/2006/main">
              <a:ext uri="{FF2B5EF4-FFF2-40B4-BE49-F238E27FC236}">
                <a16:creationId xmlns:a16="http://schemas.microsoft.com/office/drawing/2014/main" id="{78661F6B-7D48-4474-9938-0127CDFBDCAE}"/>
              </a:ext>
            </a:extLst>
          </p:cNvPr>
          <p:cNvSpPr>
            <a:spLocks xmlns:a="http://schemas.openxmlformats.org/drawingml/2006/main" noGrp="1"/>
          </p:cNvSpPr>
          <p:nvPr/>
        </p:nvSpPr>
        <p:spPr>
          <a:xfrm xmlns:a="http://schemas.openxmlformats.org/drawingml/2006/main">
            <a:off x="714375" y="2419350"/>
            <a:ext cx="105727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CPU A has two cores at 3.8 GHz. CPU B has four cores at 3.0 GHz. Their caches are equal. Which might suit several programs running together?</a:t>
            </a:r>
          </a:p>
        </p:txBody>
      </p:sp>
      <p:sp>
        <p:nvSpPr>
          <p:cNvPr id="7" name="extension-follow">
            <a:extLst xmlns:a="http://schemas.openxmlformats.org/drawingml/2006/main">
              <a:ext uri="{FF2B5EF4-FFF2-40B4-BE49-F238E27FC236}">
                <a16:creationId xmlns:a16="http://schemas.microsoft.com/office/drawing/2014/main" id="{B9380705-82E1-4125-8E53-955852863F77}"/>
              </a:ext>
            </a:extLst>
          </p:cNvPr>
          <p:cNvSpPr>
            <a:spLocks xmlns:a="http://schemas.openxmlformats.org/drawingml/2006/main" noGrp="1"/>
          </p:cNvSpPr>
          <p:nvPr/>
        </p:nvSpPr>
        <p:spPr>
          <a:xfrm xmlns:a="http://schemas.openxmlformats.org/drawingml/2006/main">
            <a:off x="714375" y="46482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2D63FF"/>
                </a:solidFill>
                <a:latin typeface="DejaVu Sans"/>
                <a:ea typeface="DejaVu Sans"/>
                <a:cs typeface="DejaVu Sans"/>
              </a:defRPr>
            </a:pPr>
            <a:r>
              <a:rPr sz="1950" b="0">
                <a:solidFill>
                  <a:srgbClr val="2D63FF"/>
                </a:solidFill>
                <a:latin typeface="DejaVu Sans"/>
                <a:ea typeface="DejaVu Sans"/>
                <a:cs typeface="DejaVu Sans"/>
              </a:rPr>
              <a:t>Explain why a single task might give a different answer. Avoid claiming a guaranteed speedup.</a:t>
            </a:r>
          </a:p>
        </p:txBody>
      </p:sp>
    </p:spTree>
    <p:extLst>
      <p:ext uri="{BB962C8B-B14F-4D97-AF65-F5344CB8AC3E}">
        <p14:creationId xmlns:p14="http://schemas.microsoft.com/office/powerpoint/2010/main" val="13384614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64B4BEB4-2035-47BF-BAB9-3A67F77E82C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EXTENSION</a:t>
            </a:r>
          </a:p>
        </p:txBody>
      </p:sp>
      <p:sp>
        <p:nvSpPr>
          <p:cNvPr id="2" name="heading">
            <a:extLst xmlns:a="http://schemas.openxmlformats.org/drawingml/2006/main">
              <a:ext uri="{FF2B5EF4-FFF2-40B4-BE49-F238E27FC236}">
                <a16:creationId xmlns:a16="http://schemas.microsoft.com/office/drawing/2014/main" id="{B32431A3-6CF6-4FD1-AC51-5DEECC72AD3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Check and improve</a:t>
            </a:r>
          </a:p>
        </p:txBody>
      </p:sp>
      <p:sp>
        <p:nvSpPr>
          <p:cNvPr id="3" name="footer">
            <a:extLst xmlns:a="http://schemas.openxmlformats.org/drawingml/2006/main">
              <a:ext uri="{FF2B5EF4-FFF2-40B4-BE49-F238E27FC236}">
                <a16:creationId xmlns:a16="http://schemas.microsoft.com/office/drawing/2014/main" id="{E00029E7-F1D3-4E65-BC3D-1E94AF00D5AF}"/>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4BDCB1DA-1483-439B-8C24-19E7A1843FB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11 / 20</a:t>
            </a:r>
          </a:p>
        </p:txBody>
      </p:sp>
      <p:sp>
        <p:nvSpPr>
          <p:cNvPr id="5" name="review">
            <a:extLst xmlns:a="http://schemas.openxmlformats.org/drawingml/2006/main">
              <a:ext uri="{FF2B5EF4-FFF2-40B4-BE49-F238E27FC236}">
                <a16:creationId xmlns:a16="http://schemas.microsoft.com/office/drawing/2014/main" id="{D7E9BFAC-C1AD-4CB2-82AF-FEE61D9A5ACA}"/>
              </a:ext>
            </a:extLst>
          </p:cNvPr>
          <p:cNvSpPr>
            <a:spLocks xmlns:a="http://schemas.openxmlformats.org/drawingml/2006/main" noGrp="1"/>
          </p:cNvSpPr>
          <p:nvPr/>
        </p:nvSpPr>
        <p:spPr>
          <a:xfrm xmlns:a="http://schemas.openxmlformats.org/drawingml/2006/main">
            <a:off x="704850" y="1724025"/>
            <a:ext cx="10715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Use your worksheet notes and the experience feedback.</a:t>
            </a:r>
          </a:p>
        </p:txBody>
      </p:sp>
      <p:sp>
        <p:nvSpPr>
          <p:cNvPr id="6" name="extension-two">
            <a:extLst xmlns:a="http://schemas.openxmlformats.org/drawingml/2006/main">
              <a:ext uri="{FF2B5EF4-FFF2-40B4-BE49-F238E27FC236}">
                <a16:creationId xmlns:a16="http://schemas.microsoft.com/office/drawing/2014/main" id="{5EDBE98F-BA7A-4A7E-BAAF-72517C65030A}"/>
              </a:ext>
            </a:extLst>
          </p:cNvPr>
          <p:cNvSpPr>
            <a:spLocks xmlns:a="http://schemas.openxmlformats.org/drawingml/2006/main" noGrp="1"/>
          </p:cNvSpPr>
          <p:nvPr/>
        </p:nvSpPr>
        <p:spPr>
          <a:xfrm xmlns:a="http://schemas.openxmlformats.org/drawingml/2006/main">
            <a:off x="704850" y="2676525"/>
            <a:ext cx="10620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Explain when extra cores will not help a task. Then explain how a cache miss makes the CPU wait for RAM.</a:t>
            </a:r>
          </a:p>
        </p:txBody>
      </p:sp>
      <p:sp>
        <p:nvSpPr>
          <p:cNvPr id="7" name="handoff">
            <a:extLst xmlns:a="http://schemas.openxmlformats.org/drawingml/2006/main">
              <a:ext uri="{FF2B5EF4-FFF2-40B4-BE49-F238E27FC236}">
                <a16:creationId xmlns:a16="http://schemas.microsoft.com/office/drawing/2014/main" id="{59F8B6BC-2507-41A7-BFD4-B0EA9250B06B}"/>
              </a:ext>
            </a:extLst>
          </p:cNvPr>
          <p:cNvSpPr>
            <a:spLocks xmlns:a="http://schemas.openxmlformats.org/drawingml/2006/main" noGrp="1"/>
          </p:cNvSpPr>
          <p:nvPr/>
        </p:nvSpPr>
        <p:spPr>
          <a:xfrm xmlns:a="http://schemas.openxmlformats.org/drawingml/2006/main">
            <a:off x="704850" y="533400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2D63FF"/>
                </a:solidFill>
                <a:latin typeface="DejaVu Sans"/>
                <a:ea typeface="DejaVu Sans"/>
                <a:cs typeface="DejaVu Sans"/>
              </a:defRPr>
            </a:pPr>
            <a:r>
              <a:rPr sz="1875" b="0">
                <a:solidFill>
                  <a:srgbClr val="2D63FF"/>
                </a:solidFill>
                <a:latin typeface="DejaVu Sans"/>
                <a:ea typeface="DejaVu Sans"/>
                <a:cs typeface="DejaVu Sans"/>
              </a:rPr>
              <a:t>Near the end of the lesson, close the experience for the plenary knowledge check.</a:t>
            </a:r>
          </a:p>
        </p:txBody>
      </p:sp>
    </p:spTree>
    <p:extLst>
      <p:ext uri="{BB962C8B-B14F-4D97-AF65-F5344CB8AC3E}">
        <p14:creationId xmlns:p14="http://schemas.microsoft.com/office/powerpoint/2010/main" val="111714610"/>
      </p:ext>
    </p:extLst>
  </p:cSld>
</p:sld>
</file>

<file path=ppt/slides/slide1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4DCFEB63-C2A3-40D4-B414-07B1A88B3CC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2" name="heading">
            <a:extLst xmlns:a="http://schemas.openxmlformats.org/drawingml/2006/main">
              <a:ext uri="{FF2B5EF4-FFF2-40B4-BE49-F238E27FC236}">
                <a16:creationId xmlns:a16="http://schemas.microsoft.com/office/drawing/2014/main" id="{0D3B56D8-2C3F-4734-A1AA-870253D78D9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Application: sample answers</a:t>
            </a:r>
          </a:p>
        </p:txBody>
      </p:sp>
      <p:sp>
        <p:nvSpPr>
          <p:cNvPr id="3" name="footer">
            <a:extLst xmlns:a="http://schemas.openxmlformats.org/drawingml/2006/main">
              <a:ext uri="{FF2B5EF4-FFF2-40B4-BE49-F238E27FC236}">
                <a16:creationId xmlns:a16="http://schemas.microsoft.com/office/drawing/2014/main" id="{11346999-4E11-4B9E-9AC3-33F4A716C974}"/>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90358F3C-94D5-43D5-9D7D-5CB357A63D7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12 / 20</a:t>
            </a:r>
          </a:p>
        </p:txBody>
      </p:sp>
      <p:sp>
        <p:nvSpPr>
          <p:cNvPr id="5" name="extension-check">
            <a:extLst xmlns:a="http://schemas.openxmlformats.org/drawingml/2006/main">
              <a:ext uri="{FF2B5EF4-FFF2-40B4-BE49-F238E27FC236}">
                <a16:creationId xmlns:a16="http://schemas.microsoft.com/office/drawing/2014/main" id="{0CBF76D5-5ABC-4E74-908D-D9398C50D95C}"/>
              </a:ext>
            </a:extLst>
          </p:cNvPr>
          <p:cNvSpPr>
            <a:spLocks xmlns:a="http://schemas.openxmlformats.org/drawingml/2006/main" noGrp="1"/>
          </p:cNvSpPr>
          <p:nvPr/>
        </p:nvSpPr>
        <p:spPr>
          <a:xfrm xmlns:a="http://schemas.openxmlformats.org/drawingml/2006/main">
            <a:off x="704850" y="15335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reasoning, then improve one sentence on your worksheet.</a:t>
            </a:r>
          </a:p>
        </p:txBody>
      </p:sp>
      <p:sp>
        <p:nvSpPr>
          <p:cNvPr id="6" name="answer-application">
            <a:extLst xmlns:a="http://schemas.openxmlformats.org/drawingml/2006/main">
              <a:ext uri="{FF2B5EF4-FFF2-40B4-BE49-F238E27FC236}">
                <a16:creationId xmlns:a16="http://schemas.microsoft.com/office/drawing/2014/main" id="{A9C005EB-42B3-4000-A0C5-505CE910524A}"/>
              </a:ext>
            </a:extLst>
          </p:cNvPr>
          <p:cNvSpPr>
            <a:spLocks xmlns:a="http://schemas.openxmlformats.org/drawingml/2006/main" noGrp="1"/>
          </p:cNvSpPr>
          <p:nvPr/>
        </p:nvSpPr>
        <p:spPr>
          <a:xfrm xmlns:a="http://schemas.openxmlformats.org/drawingml/2006/main">
            <a:off x="723900" y="23050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Application</a:t>
            </a:r>
          </a:p>
        </p:txBody>
      </p:sp>
      <p:sp>
        <p:nvSpPr>
          <p:cNvPr id="7" name="answer-application-body">
            <a:extLst xmlns:a="http://schemas.openxmlformats.org/drawingml/2006/main">
              <a:ext uri="{FF2B5EF4-FFF2-40B4-BE49-F238E27FC236}">
                <a16:creationId xmlns:a16="http://schemas.microsoft.com/office/drawing/2014/main" id="{F6FCCEA6-389A-48E1-BC20-0236E9F1840B}"/>
              </a:ext>
            </a:extLst>
          </p:cNvPr>
          <p:cNvSpPr>
            <a:spLocks xmlns:a="http://schemas.openxmlformats.org/drawingml/2006/main" noGrp="1"/>
          </p:cNvSpPr>
          <p:nvPr/>
        </p:nvSpPr>
        <p:spPr>
          <a:xfrm xmlns:a="http://schemas.openxmlformats.org/drawingml/2006/main">
            <a:off x="723900" y="2771775"/>
            <a:ext cx="10477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CPU B may help several programs run together if they can use separate cores. CPU A may suit a task using one core. Clock speed alone cannot settle real performance.</a:t>
            </a:r>
          </a:p>
        </p:txBody>
      </p:sp>
      <p:sp>
        <p:nvSpPr>
          <p:cNvPr id="8" name="answer-stretch">
            <a:extLst xmlns:a="http://schemas.openxmlformats.org/drawingml/2006/main">
              <a:ext uri="{FF2B5EF4-FFF2-40B4-BE49-F238E27FC236}">
                <a16:creationId xmlns:a16="http://schemas.microsoft.com/office/drawing/2014/main" id="{905F77AE-6DFD-4A4D-9137-00D25EBBE6C8}"/>
              </a:ext>
            </a:extLst>
          </p:cNvPr>
          <p:cNvSpPr>
            <a:spLocks xmlns:a="http://schemas.openxmlformats.org/drawingml/2006/main" noGrp="1"/>
          </p:cNvSpPr>
          <p:nvPr/>
        </p:nvSpPr>
        <p:spPr>
          <a:xfrm xmlns:a="http://schemas.openxmlformats.org/drawingml/2006/main">
            <a:off x="723900" y="43529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Check and stretch</a:t>
            </a:r>
          </a:p>
        </p:txBody>
      </p:sp>
      <p:sp>
        <p:nvSpPr>
          <p:cNvPr id="9" name="answer-stretch-body">
            <a:extLst xmlns:a="http://schemas.openxmlformats.org/drawingml/2006/main">
              <a:ext uri="{FF2B5EF4-FFF2-40B4-BE49-F238E27FC236}">
                <a16:creationId xmlns:a16="http://schemas.microsoft.com/office/drawing/2014/main" id="{64E33DE1-3038-4D8A-BA1B-1F508F3FDF97}"/>
              </a:ext>
            </a:extLst>
          </p:cNvPr>
          <p:cNvSpPr>
            <a:spLocks xmlns:a="http://schemas.openxmlformats.org/drawingml/2006/main" noGrp="1"/>
          </p:cNvSpPr>
          <p:nvPr/>
        </p:nvSpPr>
        <p:spPr>
          <a:xfrm xmlns:a="http://schemas.openxmlformats.org/drawingml/2006/main">
            <a:off x="723900" y="4810125"/>
            <a:ext cx="1047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Extra cores bring little gain when software has one serial thread. On a cache miss, the CPU must fetch the needed item from slower RAM.</a:t>
            </a:r>
          </a:p>
        </p:txBody>
      </p:sp>
    </p:spTree>
    <p:extLst>
      <p:ext uri="{BB962C8B-B14F-4D97-AF65-F5344CB8AC3E}">
        <p14:creationId xmlns:p14="http://schemas.microsoft.com/office/powerpoint/2010/main" val="956932320"/>
      </p:ext>
    </p:extLst>
  </p:cSld>
</p:sld>
</file>

<file path=ppt/slides/slide13.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B3A429E8-0CA5-41FA-A393-CCA867043923}"/>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ANSWERS</a:t>
            </a:r>
          </a:p>
        </p:txBody>
      </p:sp>
      <p:sp>
        <p:nvSpPr>
          <p:cNvPr id="2" name="heading">
            <a:extLst xmlns:a="http://schemas.openxmlformats.org/drawingml/2006/main">
              <a:ext uri="{FF2B5EF4-FFF2-40B4-BE49-F238E27FC236}">
                <a16:creationId xmlns:a16="http://schemas.microsoft.com/office/drawing/2014/main" id="{E8ADC940-4FD3-4EDC-AA1B-280F56C8127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1–3</a:t>
            </a:r>
          </a:p>
        </p:txBody>
      </p:sp>
      <p:sp>
        <p:nvSpPr>
          <p:cNvPr id="3" name="footer">
            <a:extLst xmlns:a="http://schemas.openxmlformats.org/drawingml/2006/main">
              <a:ext uri="{FF2B5EF4-FFF2-40B4-BE49-F238E27FC236}">
                <a16:creationId xmlns:a16="http://schemas.microsoft.com/office/drawing/2014/main" id="{067575A2-E78C-48FE-918C-57A10711FA28}"/>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E57390C6-4C94-4E53-98C2-9AAEDF05D7E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13 / 20</a:t>
            </a:r>
          </a:p>
        </p:txBody>
      </p:sp>
      <p:sp>
        <p:nvSpPr>
          <p:cNvPr id="5" name="check-stations">
            <a:extLst xmlns:a="http://schemas.openxmlformats.org/drawingml/2006/main">
              <a:ext uri="{FF2B5EF4-FFF2-40B4-BE49-F238E27FC236}">
                <a16:creationId xmlns:a16="http://schemas.microsoft.com/office/drawing/2014/main" id="{A44C6278-C4B0-44B3-AB7F-9C7479ABD13B}"/>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Close the experience. Check your key facts and challenge responses.</a:t>
            </a:r>
          </a:p>
        </p:txBody>
      </p:sp>
      <p:sp>
        <p:nvSpPr>
          <p:cNvPr id="6" name="station-name-0">
            <a:extLst xmlns:a="http://schemas.openxmlformats.org/drawingml/2006/main">
              <a:ext uri="{FF2B5EF4-FFF2-40B4-BE49-F238E27FC236}">
                <a16:creationId xmlns:a16="http://schemas.microsoft.com/office/drawing/2014/main" id="{20A0B9EE-B0A8-41EE-A5BA-FA55344DE925}"/>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  Clock speed</a:t>
            </a:r>
          </a:p>
        </p:txBody>
      </p:sp>
      <p:sp>
        <p:nvSpPr>
          <p:cNvPr id="7" name="station-answer-0">
            <a:extLst xmlns:a="http://schemas.openxmlformats.org/drawingml/2006/main">
              <a:ext uri="{FF2B5EF4-FFF2-40B4-BE49-F238E27FC236}">
                <a16:creationId xmlns:a16="http://schemas.microsoft.com/office/drawing/2014/main" id="{EB86EBC4-1476-4D18-B8D2-3159650117C0}"/>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 2.5 GHz processor runs about 2.5 billion clock cycles per second at that speed.</a:t>
            </a:r>
          </a:p>
        </p:txBody>
      </p:sp>
      <p:sp>
        <p:nvSpPr>
          <p:cNvPr id="8" name="station-name-1">
            <a:extLst xmlns:a="http://schemas.openxmlformats.org/drawingml/2006/main">
              <a:ext uri="{FF2B5EF4-FFF2-40B4-BE49-F238E27FC236}">
                <a16:creationId xmlns:a16="http://schemas.microsoft.com/office/drawing/2014/main" id="{A0B55342-8D09-414D-911C-50A869EDF119}"/>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  Overclocking and heat</a:t>
            </a:r>
          </a:p>
        </p:txBody>
      </p:sp>
      <p:sp>
        <p:nvSpPr>
          <p:cNvPr id="9" name="station-answer-1">
            <a:extLst xmlns:a="http://schemas.openxmlformats.org/drawingml/2006/main">
              <a:ext uri="{FF2B5EF4-FFF2-40B4-BE49-F238E27FC236}">
                <a16:creationId xmlns:a16="http://schemas.microsoft.com/office/drawing/2014/main" id="{4DA4A3C9-6574-4AF4-B5ED-76FB2E34D4AE}"/>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Overclocking raises speed above its intended setting and produces more heat; cooling reduces the risk.</a:t>
            </a:r>
          </a:p>
        </p:txBody>
      </p:sp>
      <p:sp>
        <p:nvSpPr>
          <p:cNvPr id="10" name="station-name-2">
            <a:extLst xmlns:a="http://schemas.openxmlformats.org/drawingml/2006/main">
              <a:ext uri="{FF2B5EF4-FFF2-40B4-BE49-F238E27FC236}">
                <a16:creationId xmlns:a16="http://schemas.microsoft.com/office/drawing/2014/main" id="{4DDBEF61-AB9D-4C51-A290-188360E89F9D}"/>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  Cache size</a:t>
            </a:r>
          </a:p>
        </p:txBody>
      </p:sp>
      <p:sp>
        <p:nvSpPr>
          <p:cNvPr id="11" name="station-answer-2">
            <a:extLst xmlns:a="http://schemas.openxmlformats.org/drawingml/2006/main">
              <a:ext uri="{FF2B5EF4-FFF2-40B4-BE49-F238E27FC236}">
                <a16:creationId xmlns:a16="http://schemas.microsoft.com/office/drawing/2014/main" id="{07FF2C27-C3A0-4081-967A-28DF90AE7E6D}"/>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 larger cache may hold more needed data near the CPU, reducing slower RAM accesses.</a:t>
            </a:r>
          </a:p>
        </p:txBody>
      </p:sp>
    </p:spTree>
    <p:extLst>
      <p:ext uri="{BB962C8B-B14F-4D97-AF65-F5344CB8AC3E}">
        <p14:creationId xmlns:p14="http://schemas.microsoft.com/office/powerpoint/2010/main" val="603092536"/>
      </p:ext>
    </p:extLst>
  </p:cSld>
</p:sld>
</file>

<file path=ppt/slides/slide1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ABFD6AD3-F778-444F-BD10-22D32FCF270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ANSWERS</a:t>
            </a:r>
          </a:p>
        </p:txBody>
      </p:sp>
      <p:sp>
        <p:nvSpPr>
          <p:cNvPr id="2" name="heading">
            <a:extLst xmlns:a="http://schemas.openxmlformats.org/drawingml/2006/main">
              <a:ext uri="{FF2B5EF4-FFF2-40B4-BE49-F238E27FC236}">
                <a16:creationId xmlns:a16="http://schemas.microsoft.com/office/drawing/2014/main" id="{DF683D5F-BC89-42CB-B51E-EB3A3969C9B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4–6</a:t>
            </a:r>
          </a:p>
        </p:txBody>
      </p:sp>
      <p:sp>
        <p:nvSpPr>
          <p:cNvPr id="3" name="footer">
            <a:extLst xmlns:a="http://schemas.openxmlformats.org/drawingml/2006/main">
              <a:ext uri="{FF2B5EF4-FFF2-40B4-BE49-F238E27FC236}">
                <a16:creationId xmlns:a16="http://schemas.microsoft.com/office/drawing/2014/main" id="{991B2BF5-FC97-4066-A967-6C2D61E00C9D}"/>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A4007489-D57A-4F61-A1BD-22D3F1A1AE8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14 / 20</a:t>
            </a:r>
          </a:p>
        </p:txBody>
      </p:sp>
      <p:sp>
        <p:nvSpPr>
          <p:cNvPr id="5" name="check-stations">
            <a:extLst xmlns:a="http://schemas.openxmlformats.org/drawingml/2006/main">
              <a:ext uri="{FF2B5EF4-FFF2-40B4-BE49-F238E27FC236}">
                <a16:creationId xmlns:a16="http://schemas.microsoft.com/office/drawing/2014/main" id="{FC990E9F-CC81-4546-9D62-F54A7335EE53}"/>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Continue checking the station notes on your worksheet.</a:t>
            </a:r>
          </a:p>
        </p:txBody>
      </p:sp>
      <p:sp>
        <p:nvSpPr>
          <p:cNvPr id="6" name="station-name-3">
            <a:extLst xmlns:a="http://schemas.openxmlformats.org/drawingml/2006/main">
              <a:ext uri="{FF2B5EF4-FFF2-40B4-BE49-F238E27FC236}">
                <a16:creationId xmlns:a16="http://schemas.microsoft.com/office/drawing/2014/main" id="{E630CEA6-10AE-4D2D-9B84-BEDC66615300}"/>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4  Number of cores</a:t>
            </a:r>
          </a:p>
        </p:txBody>
      </p:sp>
      <p:sp>
        <p:nvSpPr>
          <p:cNvPr id="7" name="station-answer-3">
            <a:extLst xmlns:a="http://schemas.openxmlformats.org/drawingml/2006/main">
              <a:ext uri="{FF2B5EF4-FFF2-40B4-BE49-F238E27FC236}">
                <a16:creationId xmlns:a16="http://schemas.microsoft.com/office/drawing/2014/main" id="{7BD555D3-7141-411A-A88C-A42F59297770}"/>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Several cores can handle threads in parallel, but one task may not split into several threads.</a:t>
            </a:r>
          </a:p>
        </p:txBody>
      </p:sp>
      <p:sp>
        <p:nvSpPr>
          <p:cNvPr id="8" name="station-name-4">
            <a:extLst xmlns:a="http://schemas.openxmlformats.org/drawingml/2006/main">
              <a:ext uri="{FF2B5EF4-FFF2-40B4-BE49-F238E27FC236}">
                <a16:creationId xmlns:a16="http://schemas.microsoft.com/office/drawing/2014/main" id="{69357D98-94F1-4378-A16F-5F0D3939A962}"/>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5  Single core, 2.5 GHz</a:t>
            </a:r>
          </a:p>
        </p:txBody>
      </p:sp>
      <p:sp>
        <p:nvSpPr>
          <p:cNvPr id="9" name="station-answer-4">
            <a:extLst xmlns:a="http://schemas.openxmlformats.org/drawingml/2006/main">
              <a:ext uri="{FF2B5EF4-FFF2-40B4-BE49-F238E27FC236}">
                <a16:creationId xmlns:a16="http://schemas.microsoft.com/office/drawing/2014/main" id="{9CE5B98D-5AE6-4A23-9C7E-CD7DD78078A6}"/>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Single core means one processing core; 2.5 GHz is its quoted clock speed. The CPU runs instructions.</a:t>
            </a:r>
          </a:p>
        </p:txBody>
      </p:sp>
      <p:sp>
        <p:nvSpPr>
          <p:cNvPr id="10" name="station-name-5">
            <a:extLst xmlns:a="http://schemas.openxmlformats.org/drawingml/2006/main">
              <a:ext uri="{FF2B5EF4-FFF2-40B4-BE49-F238E27FC236}">
                <a16:creationId xmlns:a16="http://schemas.microsoft.com/office/drawing/2014/main" id="{B4ED7A9F-1E34-4C9C-B203-EC0F2C01F1BE}"/>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6  Units of speed</a:t>
            </a:r>
          </a:p>
        </p:txBody>
      </p:sp>
      <p:sp>
        <p:nvSpPr>
          <p:cNvPr id="11" name="station-answer-5">
            <a:extLst xmlns:a="http://schemas.openxmlformats.org/drawingml/2006/main">
              <a:ext uri="{FF2B5EF4-FFF2-40B4-BE49-F238E27FC236}">
                <a16:creationId xmlns:a16="http://schemas.microsoft.com/office/drawing/2014/main" id="{9361868B-6938-42AB-9099-CC193FE4D87B}"/>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400 kHz is slower than 900 MHz, which is slower than 1.2 GHz. Kilo, mega and giga scale up.</a:t>
            </a:r>
          </a:p>
        </p:txBody>
      </p:sp>
    </p:spTree>
    <p:extLst>
      <p:ext uri="{BB962C8B-B14F-4D97-AF65-F5344CB8AC3E}">
        <p14:creationId xmlns:p14="http://schemas.microsoft.com/office/powerpoint/2010/main" val="831282774"/>
      </p:ext>
    </p:extLst>
  </p:cSld>
</p:sld>
</file>

<file path=ppt/slides/slide15.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6" name="topic">
            <a:extLst xmlns:a="http://schemas.openxmlformats.org/drawingml/2006/main">
              <a:ext uri="{FF2B5EF4-FFF2-40B4-BE49-F238E27FC236}">
                <a16:creationId xmlns:a16="http://schemas.microsoft.com/office/drawing/2014/main" id="{90E568FB-2938-41F5-B5D5-96CF33CEA7D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2" name="heading">
            <a:extLst xmlns:a="http://schemas.openxmlformats.org/drawingml/2006/main">
              <a:ext uri="{FF2B5EF4-FFF2-40B4-BE49-F238E27FC236}">
                <a16:creationId xmlns:a16="http://schemas.microsoft.com/office/drawing/2014/main" id="{2A507548-4517-452B-92CC-B756C90252F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answers</a:t>
            </a:r>
          </a:p>
        </p:txBody>
      </p:sp>
      <p:sp>
        <p:nvSpPr>
          <p:cNvPr id="3" name="footer">
            <a:extLst xmlns:a="http://schemas.openxmlformats.org/drawingml/2006/main">
              <a:ext uri="{FF2B5EF4-FFF2-40B4-BE49-F238E27FC236}">
                <a16:creationId xmlns:a16="http://schemas.microsoft.com/office/drawing/2014/main" id="{232F0B9A-BD85-422A-9FE7-8E15596F5E5E}"/>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B7BC97EC-E9F1-4BB0-9EAC-ECCF2483985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15 / 20</a:t>
            </a:r>
          </a:p>
        </p:txBody>
      </p:sp>
      <p:sp>
        <p:nvSpPr>
          <p:cNvPr id="5" name="star-key">
            <a:extLst xmlns:a="http://schemas.openxmlformats.org/drawingml/2006/main">
              <a:ext uri="{FF2B5EF4-FFF2-40B4-BE49-F238E27FC236}">
                <a16:creationId xmlns:a16="http://schemas.microsoft.com/office/drawing/2014/main" id="{40BE632D-EBA9-4D3E-BD19-FA47D0B31F43}"/>
              </a:ext>
            </a:extLst>
          </p:cNvPr>
          <p:cNvSpPr>
            <a:spLocks xmlns:a="http://schemas.openxmlformats.org/drawingml/2006/main" noGrp="1"/>
          </p:cNvSpPr>
          <p:nvPr/>
        </p:nvSpPr>
        <p:spPr>
          <a:xfrm xmlns:a="http://schemas.openxmlformats.org/drawingml/2006/main">
            <a:off x="704850" y="152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star challenge table with the answers below.</a:t>
            </a:r>
          </a:p>
        </p:txBody>
      </p:sp>
      <p:sp>
        <p:nvSpPr>
          <p:cNvPr id="6" name="number-1">
            <a:extLst xmlns:a="http://schemas.openxmlformats.org/drawingml/2006/main">
              <a:ext uri="{FF2B5EF4-FFF2-40B4-BE49-F238E27FC236}">
                <a16:creationId xmlns:a16="http://schemas.microsoft.com/office/drawing/2014/main" id="{69DB655F-3504-439C-8597-BABF9B470649}"/>
              </a:ext>
            </a:extLst>
          </p:cNvPr>
          <p:cNvSpPr>
            <a:spLocks xmlns:a="http://schemas.openxmlformats.org/drawingml/2006/main" noGrp="1"/>
          </p:cNvSpPr>
          <p:nvPr/>
        </p:nvSpPr>
        <p:spPr>
          <a:xfrm xmlns:a="http://schemas.openxmlformats.org/drawingml/2006/main">
            <a:off x="723900" y="2105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A102B381-7585-46B1-9FA0-86958B1A5F89}"/>
              </a:ext>
            </a:extLst>
          </p:cNvPr>
          <p:cNvSpPr>
            <a:spLocks xmlns:a="http://schemas.openxmlformats.org/drawingml/2006/main" noGrp="1"/>
          </p:cNvSpPr>
          <p:nvPr/>
        </p:nvSpPr>
        <p:spPr>
          <a:xfrm xmlns:a="http://schemas.openxmlformats.org/drawingml/2006/main">
            <a:off x="1352550" y="2105025"/>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200 kilohertz</a:t>
            </a:r>
          </a:p>
        </p:txBody>
      </p:sp>
      <p:sp>
        <p:nvSpPr>
          <p:cNvPr id="8" name="number-2">
            <a:extLst xmlns:a="http://schemas.openxmlformats.org/drawingml/2006/main">
              <a:ext uri="{FF2B5EF4-FFF2-40B4-BE49-F238E27FC236}">
                <a16:creationId xmlns:a16="http://schemas.microsoft.com/office/drawing/2014/main" id="{FFCA4AC1-D11B-4F5D-9D0E-3FC272462223}"/>
              </a:ext>
            </a:extLst>
          </p:cNvPr>
          <p:cNvSpPr>
            <a:spLocks xmlns:a="http://schemas.openxmlformats.org/drawingml/2006/main" noGrp="1"/>
          </p:cNvSpPr>
          <p:nvPr/>
        </p:nvSpPr>
        <p:spPr>
          <a:xfrm xmlns:a="http://schemas.openxmlformats.org/drawingml/2006/main">
            <a:off x="723900" y="28194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C8D2CF1B-0FDA-494D-842D-413B20E5D834}"/>
              </a:ext>
            </a:extLst>
          </p:cNvPr>
          <p:cNvSpPr>
            <a:spLocks xmlns:a="http://schemas.openxmlformats.org/drawingml/2006/main" noGrp="1"/>
          </p:cNvSpPr>
          <p:nvPr/>
        </p:nvSpPr>
        <p:spPr>
          <a:xfrm xmlns:a="http://schemas.openxmlformats.org/drawingml/2006/main">
            <a:off x="1352550" y="2819400"/>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20 megahertz</a:t>
            </a:r>
          </a:p>
        </p:txBody>
      </p:sp>
      <p:sp>
        <p:nvSpPr>
          <p:cNvPr id="10" name="number-3">
            <a:extLst xmlns:a="http://schemas.openxmlformats.org/drawingml/2006/main">
              <a:ext uri="{FF2B5EF4-FFF2-40B4-BE49-F238E27FC236}">
                <a16:creationId xmlns:a16="http://schemas.microsoft.com/office/drawing/2014/main" id="{AB630F0A-ABD6-4BE3-BB45-3A1EE6A5BF37}"/>
              </a:ext>
            </a:extLst>
          </p:cNvPr>
          <p:cNvSpPr>
            <a:spLocks xmlns:a="http://schemas.openxmlformats.org/drawingml/2006/main" noGrp="1"/>
          </p:cNvSpPr>
          <p:nvPr/>
        </p:nvSpPr>
        <p:spPr>
          <a:xfrm xmlns:a="http://schemas.openxmlformats.org/drawingml/2006/main">
            <a:off x="723900" y="35337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F4F49FC7-35D2-42A6-9B72-41A93AC3E83F}"/>
              </a:ext>
            </a:extLst>
          </p:cNvPr>
          <p:cNvSpPr>
            <a:spLocks xmlns:a="http://schemas.openxmlformats.org/drawingml/2006/main" noGrp="1"/>
          </p:cNvSpPr>
          <p:nvPr/>
        </p:nvSpPr>
        <p:spPr>
          <a:xfrm xmlns:a="http://schemas.openxmlformats.org/drawingml/2006/main">
            <a:off x="1352550" y="3533775"/>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800 megahertz</a:t>
            </a:r>
          </a:p>
        </p:txBody>
      </p:sp>
      <p:sp>
        <p:nvSpPr>
          <p:cNvPr id="12" name="number-4">
            <a:extLst xmlns:a="http://schemas.openxmlformats.org/drawingml/2006/main">
              <a:ext uri="{FF2B5EF4-FFF2-40B4-BE49-F238E27FC236}">
                <a16:creationId xmlns:a16="http://schemas.microsoft.com/office/drawing/2014/main" id="{28B1198E-21A9-498E-ADAD-4115F2B1A7AC}"/>
              </a:ext>
            </a:extLst>
          </p:cNvPr>
          <p:cNvSpPr>
            <a:spLocks xmlns:a="http://schemas.openxmlformats.org/drawingml/2006/main" noGrp="1"/>
          </p:cNvSpPr>
          <p:nvPr/>
        </p:nvSpPr>
        <p:spPr>
          <a:xfrm xmlns:a="http://schemas.openxmlformats.org/drawingml/2006/main">
            <a:off x="723900" y="4248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E3BD94D8-16CA-4084-96EC-FC3430DB0A75}"/>
              </a:ext>
            </a:extLst>
          </p:cNvPr>
          <p:cNvSpPr>
            <a:spLocks xmlns:a="http://schemas.openxmlformats.org/drawingml/2006/main" noGrp="1"/>
          </p:cNvSpPr>
          <p:nvPr/>
        </p:nvSpPr>
        <p:spPr>
          <a:xfrm xmlns:a="http://schemas.openxmlformats.org/drawingml/2006/main">
            <a:off x="1352550" y="4248150"/>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2 gigahertz</a:t>
            </a:r>
          </a:p>
        </p:txBody>
      </p:sp>
      <p:sp>
        <p:nvSpPr>
          <p:cNvPr id="14" name="number-5">
            <a:extLst xmlns:a="http://schemas.openxmlformats.org/drawingml/2006/main">
              <a:ext uri="{FF2B5EF4-FFF2-40B4-BE49-F238E27FC236}">
                <a16:creationId xmlns:a16="http://schemas.microsoft.com/office/drawing/2014/main" id="{ECB88C9D-1A4D-4FDE-83DF-594F892FC80B}"/>
              </a:ext>
            </a:extLst>
          </p:cNvPr>
          <p:cNvSpPr>
            <a:spLocks xmlns:a="http://schemas.openxmlformats.org/drawingml/2006/main" noGrp="1"/>
          </p:cNvSpPr>
          <p:nvPr/>
        </p:nvSpPr>
        <p:spPr>
          <a:xfrm xmlns:a="http://schemas.openxmlformats.org/drawingml/2006/main">
            <a:off x="723900" y="49625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5.</a:t>
            </a:r>
          </a:p>
        </p:txBody>
      </p:sp>
      <p:sp>
        <p:nvSpPr>
          <p:cNvPr id="15" name="item-5">
            <a:extLst xmlns:a="http://schemas.openxmlformats.org/drawingml/2006/main">
              <a:ext uri="{FF2B5EF4-FFF2-40B4-BE49-F238E27FC236}">
                <a16:creationId xmlns:a16="http://schemas.microsoft.com/office/drawing/2014/main" id="{2B2F28A2-CA3C-4EE8-9401-FBD70518FC69}"/>
              </a:ext>
            </a:extLst>
          </p:cNvPr>
          <p:cNvSpPr>
            <a:spLocks xmlns:a="http://schemas.openxmlformats.org/drawingml/2006/main" noGrp="1"/>
          </p:cNvSpPr>
          <p:nvPr/>
        </p:nvSpPr>
        <p:spPr>
          <a:xfrm xmlns:a="http://schemas.openxmlformats.org/drawingml/2006/main">
            <a:off x="1352550" y="4962525"/>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3.5 gigahertz</a:t>
            </a:r>
          </a:p>
        </p:txBody>
      </p:sp>
    </p:spTree>
    <p:extLst>
      <p:ext uri="{BB962C8B-B14F-4D97-AF65-F5344CB8AC3E}">
        <p14:creationId xmlns:p14="http://schemas.microsoft.com/office/powerpoint/2010/main" val="42377627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1B58C11E-4F06-439C-94B3-9C072D23AA3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PLENARY</a:t>
            </a:r>
          </a:p>
        </p:txBody>
      </p:sp>
      <p:sp>
        <p:nvSpPr>
          <p:cNvPr id="2" name="heading">
            <a:extLst xmlns:a="http://schemas.openxmlformats.org/drawingml/2006/main">
              <a:ext uri="{FF2B5EF4-FFF2-40B4-BE49-F238E27FC236}">
                <a16:creationId xmlns:a16="http://schemas.microsoft.com/office/drawing/2014/main" id="{876FED8F-8C9F-45B8-B661-A24543082CE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questions (a–b)</a:t>
            </a:r>
          </a:p>
        </p:txBody>
      </p:sp>
      <p:sp>
        <p:nvSpPr>
          <p:cNvPr id="3" name="footer">
            <a:extLst xmlns:a="http://schemas.openxmlformats.org/drawingml/2006/main">
              <a:ext uri="{FF2B5EF4-FFF2-40B4-BE49-F238E27FC236}">
                <a16:creationId xmlns:a16="http://schemas.microsoft.com/office/drawing/2014/main" id="{241100A6-2A14-443F-BD3B-AAECF8A55B46}"/>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517425AD-5494-4B22-BB72-B53D45EF7BD4}"/>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16 / 20</a:t>
            </a:r>
          </a:p>
        </p:txBody>
      </p:sp>
      <p:sp>
        <p:nvSpPr>
          <p:cNvPr id="5" name="plenary-instruction">
            <a:extLst xmlns:a="http://schemas.openxmlformats.org/drawingml/2006/main">
              <a:ext uri="{FF2B5EF4-FFF2-40B4-BE49-F238E27FC236}">
                <a16:creationId xmlns:a16="http://schemas.microsoft.com/office/drawing/2014/main" id="{98BA97ED-6134-412E-88B3-0F24AB241DC3}"/>
              </a:ext>
            </a:extLst>
          </p:cNvPr>
          <p:cNvSpPr>
            <a:spLocks xmlns:a="http://schemas.openxmlformats.org/drawingml/2006/main" noGrp="1"/>
          </p:cNvSpPr>
          <p:nvPr/>
        </p:nvSpPr>
        <p:spPr>
          <a:xfrm xmlns:a="http://schemas.openxmlformats.org/drawingml/2006/main">
            <a:off x="704850" y="156210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Take the headset off or close the page. Answer from memory on the worksheet.</a:t>
            </a:r>
          </a:p>
        </p:txBody>
      </p:sp>
      <p:sp>
        <p:nvSpPr>
          <p:cNvPr id="6" name="a">
            <a:extLst xmlns:a="http://schemas.openxmlformats.org/drawingml/2006/main">
              <a:ext uri="{FF2B5EF4-FFF2-40B4-BE49-F238E27FC236}">
                <a16:creationId xmlns:a16="http://schemas.microsoft.com/office/drawing/2014/main" id="{9B00974E-1F40-43C3-BF49-3C6F36107B6C}"/>
              </a:ext>
            </a:extLst>
          </p:cNvPr>
          <p:cNvSpPr>
            <a:spLocks xmlns:a="http://schemas.openxmlformats.org/drawingml/2006/main" noGrp="1"/>
          </p:cNvSpPr>
          <p:nvPr/>
        </p:nvSpPr>
        <p:spPr>
          <a:xfrm xmlns:a="http://schemas.openxmlformats.org/drawingml/2006/main">
            <a:off x="733425" y="2581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a)</a:t>
            </a:r>
          </a:p>
        </p:txBody>
      </p:sp>
      <p:sp>
        <p:nvSpPr>
          <p:cNvPr id="7" name="question-a">
            <a:extLst xmlns:a="http://schemas.openxmlformats.org/drawingml/2006/main">
              <a:ext uri="{FF2B5EF4-FFF2-40B4-BE49-F238E27FC236}">
                <a16:creationId xmlns:a16="http://schemas.microsoft.com/office/drawing/2014/main" id="{E4DA75A0-B71E-4C82-AAAE-1DEF41FB137E}"/>
              </a:ext>
            </a:extLst>
          </p:cNvPr>
          <p:cNvSpPr>
            <a:spLocks xmlns:a="http://schemas.openxmlformats.org/drawingml/2006/main" noGrp="1"/>
          </p:cNvSpPr>
          <p:nvPr/>
        </p:nvSpPr>
        <p:spPr>
          <a:xfrm xmlns:a="http://schemas.openxmlformats.org/drawingml/2006/main">
            <a:off x="1343025" y="2581275"/>
            <a:ext cx="9944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State three characteristics of a CPU that affect its performance. [3]</a:t>
            </a:r>
          </a:p>
        </p:txBody>
      </p:sp>
      <p:sp>
        <p:nvSpPr>
          <p:cNvPr id="8" name="b">
            <a:extLst xmlns:a="http://schemas.openxmlformats.org/drawingml/2006/main">
              <a:ext uri="{FF2B5EF4-FFF2-40B4-BE49-F238E27FC236}">
                <a16:creationId xmlns:a16="http://schemas.microsoft.com/office/drawing/2014/main" id="{C7F82335-804B-4182-84E0-45C1389FF1BC}"/>
              </a:ext>
            </a:extLst>
          </p:cNvPr>
          <p:cNvSpPr>
            <a:spLocks xmlns:a="http://schemas.openxmlformats.org/drawingml/2006/main" noGrp="1"/>
          </p:cNvSpPr>
          <p:nvPr/>
        </p:nvSpPr>
        <p:spPr>
          <a:xfrm xmlns:a="http://schemas.openxmlformats.org/drawingml/2006/main">
            <a:off x="733425" y="4143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b)</a:t>
            </a:r>
          </a:p>
        </p:txBody>
      </p:sp>
      <p:sp>
        <p:nvSpPr>
          <p:cNvPr id="9" name="question-b">
            <a:extLst xmlns:a="http://schemas.openxmlformats.org/drawingml/2006/main">
              <a:ext uri="{FF2B5EF4-FFF2-40B4-BE49-F238E27FC236}">
                <a16:creationId xmlns:a16="http://schemas.microsoft.com/office/drawing/2014/main" id="{C6E2E13C-1FC1-47F3-A651-3B1A330AC55C}"/>
              </a:ext>
            </a:extLst>
          </p:cNvPr>
          <p:cNvSpPr>
            <a:spLocks xmlns:a="http://schemas.openxmlformats.org/drawingml/2006/main" noGrp="1"/>
          </p:cNvSpPr>
          <p:nvPr/>
        </p:nvSpPr>
        <p:spPr>
          <a:xfrm xmlns:a="http://schemas.openxmlformats.org/drawingml/2006/main">
            <a:off x="1343025" y="4143375"/>
            <a:ext cx="99441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A laptop is advertised with a quad-core 3.2 GHz processor. Explain what this tells you about the CPU. [3]</a:t>
            </a:r>
          </a:p>
        </p:txBody>
      </p:sp>
    </p:spTree>
    <p:extLst>
      <p:ext uri="{BB962C8B-B14F-4D97-AF65-F5344CB8AC3E}">
        <p14:creationId xmlns:p14="http://schemas.microsoft.com/office/powerpoint/2010/main" val="148336969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pic">
            <a:extLst xmlns:a="http://schemas.openxmlformats.org/drawingml/2006/main">
              <a:ext uri="{FF2B5EF4-FFF2-40B4-BE49-F238E27FC236}">
                <a16:creationId xmlns:a16="http://schemas.microsoft.com/office/drawing/2014/main" id="{1BC6B6D1-E3FC-4B99-BB50-47025C9D256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PLENARY</a:t>
            </a:r>
          </a:p>
        </p:txBody>
      </p:sp>
      <p:sp>
        <p:nvSpPr>
          <p:cNvPr id="2" name="heading">
            <a:extLst xmlns:a="http://schemas.openxmlformats.org/drawingml/2006/main">
              <a:ext uri="{FF2B5EF4-FFF2-40B4-BE49-F238E27FC236}">
                <a16:creationId xmlns:a16="http://schemas.microsoft.com/office/drawing/2014/main" id="{366A9D77-79BA-499F-911A-198B7786C4D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 (c)</a:t>
            </a:r>
          </a:p>
        </p:txBody>
      </p:sp>
      <p:sp>
        <p:nvSpPr>
          <p:cNvPr id="3" name="footer">
            <a:extLst xmlns:a="http://schemas.openxmlformats.org/drawingml/2006/main">
              <a:ext uri="{FF2B5EF4-FFF2-40B4-BE49-F238E27FC236}">
                <a16:creationId xmlns:a16="http://schemas.microsoft.com/office/drawing/2014/main" id="{C18F73C0-ADCB-4D42-8396-E878FCB1AC4D}"/>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6EDFE079-3B2B-4CE4-B698-444D7454399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17 / 20</a:t>
            </a:r>
          </a:p>
        </p:txBody>
      </p:sp>
      <p:sp>
        <p:nvSpPr>
          <p:cNvPr id="5" name="from-memory">
            <a:extLst xmlns:a="http://schemas.openxmlformats.org/drawingml/2006/main">
              <a:ext uri="{FF2B5EF4-FFF2-40B4-BE49-F238E27FC236}">
                <a16:creationId xmlns:a16="http://schemas.microsoft.com/office/drawing/2014/main" id="{5BE3991B-51C3-4B20-B9AF-DBC309FAC545}"/>
              </a:ext>
            </a:extLst>
          </p:cNvPr>
          <p:cNvSpPr>
            <a:spLocks xmlns:a="http://schemas.openxmlformats.org/drawingml/2006/main" noGrp="1"/>
          </p:cNvSpPr>
          <p:nvPr/>
        </p:nvSpPr>
        <p:spPr>
          <a:xfrm xmlns:a="http://schemas.openxmlformats.org/drawingml/2006/main">
            <a:off x="704850" y="1600200"/>
            <a:ext cx="10715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Keep the experience closed. Explain your reasoning in full sentences.</a:t>
            </a:r>
          </a:p>
        </p:txBody>
      </p:sp>
      <p:sp>
        <p:nvSpPr>
          <p:cNvPr id="6" name="c">
            <a:extLst xmlns:a="http://schemas.openxmlformats.org/drawingml/2006/main">
              <a:ext uri="{FF2B5EF4-FFF2-40B4-BE49-F238E27FC236}">
                <a16:creationId xmlns:a16="http://schemas.microsoft.com/office/drawing/2014/main" id="{A198CBB2-BA60-4D2F-A350-3ED7CF6B8063}"/>
              </a:ext>
            </a:extLst>
          </p:cNvPr>
          <p:cNvSpPr>
            <a:spLocks xmlns:a="http://schemas.openxmlformats.org/drawingml/2006/main" noGrp="1"/>
          </p:cNvSpPr>
          <p:nvPr/>
        </p:nvSpPr>
        <p:spPr>
          <a:xfrm xmlns:a="http://schemas.openxmlformats.org/drawingml/2006/main">
            <a:off x="733425" y="2781300"/>
            <a:ext cx="609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D63FF"/>
                </a:solidFill>
                <a:latin typeface="DejaVu Sans"/>
                <a:ea typeface="DejaVu Sans"/>
                <a:cs typeface="DejaVu Sans"/>
              </a:defRPr>
            </a:pPr>
            <a:r>
              <a:rPr sz="2400" b="1">
                <a:solidFill>
                  <a:srgbClr val="2D63FF"/>
                </a:solidFill>
                <a:latin typeface="DejaVu Sans"/>
                <a:ea typeface="DejaVu Sans"/>
                <a:cs typeface="DejaVu Sans"/>
              </a:rPr>
              <a:t>c)</a:t>
            </a:r>
          </a:p>
        </p:txBody>
      </p:sp>
      <p:sp>
        <p:nvSpPr>
          <p:cNvPr id="7" name="question-c">
            <a:extLst xmlns:a="http://schemas.openxmlformats.org/drawingml/2006/main">
              <a:ext uri="{FF2B5EF4-FFF2-40B4-BE49-F238E27FC236}">
                <a16:creationId xmlns:a16="http://schemas.microsoft.com/office/drawing/2014/main" id="{EF652CE1-0251-4728-8133-144157859BD9}"/>
              </a:ext>
            </a:extLst>
          </p:cNvPr>
          <p:cNvSpPr>
            <a:spLocks xmlns:a="http://schemas.openxmlformats.org/drawingml/2006/main" noGrp="1"/>
          </p:cNvSpPr>
          <p:nvPr/>
        </p:nvSpPr>
        <p:spPr>
          <a:xfrm xmlns:a="http://schemas.openxmlformats.org/drawingml/2006/main">
            <a:off x="1381125" y="2781300"/>
            <a:ext cx="986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01828"/>
                </a:solidFill>
                <a:latin typeface="DejaVu Sans"/>
                <a:ea typeface="DejaVu Sans"/>
                <a:cs typeface="DejaVu Sans"/>
              </a:defRPr>
            </a:pPr>
            <a:r>
              <a:rPr sz="2475" b="0">
                <a:solidFill>
                  <a:srgbClr val="101828"/>
                </a:solidFill>
                <a:latin typeface="DejaVu Sans"/>
                <a:ea typeface="DejaVu Sans"/>
                <a:cs typeface="DejaVu Sans"/>
              </a:rPr>
              <a:t>A user edits video and finds their computer slow. Explain how each of the three characteristics could improve its performance. [6]</a:t>
            </a:r>
          </a:p>
        </p:txBody>
      </p:sp>
      <p:sp>
        <p:nvSpPr>
          <p:cNvPr id="8" name="marks">
            <a:extLst xmlns:a="http://schemas.openxmlformats.org/drawingml/2006/main">
              <a:ext uri="{FF2B5EF4-FFF2-40B4-BE49-F238E27FC236}">
                <a16:creationId xmlns:a16="http://schemas.microsoft.com/office/drawing/2014/main" id="{EECF20BD-85B9-4635-8E7E-148CD4E473DB}"/>
              </a:ext>
            </a:extLst>
          </p:cNvPr>
          <p:cNvSpPr>
            <a:spLocks xmlns:a="http://schemas.openxmlformats.org/drawingml/2006/main" noGrp="1"/>
          </p:cNvSpPr>
          <p:nvPr/>
        </p:nvSpPr>
        <p:spPr>
          <a:xfrm xmlns:a="http://schemas.openxmlformats.org/drawingml/2006/main">
            <a:off x="733425" y="54387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Use the marks in brackets to judge how much detail to include.</a:t>
            </a:r>
          </a:p>
        </p:txBody>
      </p:sp>
    </p:spTree>
    <p:extLst>
      <p:ext uri="{BB962C8B-B14F-4D97-AF65-F5344CB8AC3E}">
        <p14:creationId xmlns:p14="http://schemas.microsoft.com/office/powerpoint/2010/main" val="1423641387"/>
      </p:ext>
    </p:extLst>
  </p:cSld>
</p:sld>
</file>

<file path=ppt/slides/slide18.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89D88E00-6A78-4613-A473-26E4EF011CC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2" name="heading">
            <a:extLst xmlns:a="http://schemas.openxmlformats.org/drawingml/2006/main">
              <a:ext uri="{FF2B5EF4-FFF2-40B4-BE49-F238E27FC236}">
                <a16:creationId xmlns:a16="http://schemas.microsoft.com/office/drawing/2014/main" id="{674FC5F5-F4A0-46F8-B98F-FE03E7C49FDA}"/>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answers (a–b)</a:t>
            </a:r>
          </a:p>
        </p:txBody>
      </p:sp>
      <p:sp>
        <p:nvSpPr>
          <p:cNvPr id="3" name="footer">
            <a:extLst xmlns:a="http://schemas.openxmlformats.org/drawingml/2006/main">
              <a:ext uri="{FF2B5EF4-FFF2-40B4-BE49-F238E27FC236}">
                <a16:creationId xmlns:a16="http://schemas.microsoft.com/office/drawing/2014/main" id="{934DCB83-AA90-4A78-8A7B-A8439314451F}"/>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E952093B-9F23-41B0-ABBB-1FACF28F78B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18 / 20</a:t>
            </a:r>
          </a:p>
        </p:txBody>
      </p:sp>
      <p:sp>
        <p:nvSpPr>
          <p:cNvPr id="5" name="scheme-intro">
            <a:extLst xmlns:a="http://schemas.openxmlformats.org/drawingml/2006/main">
              <a:ext uri="{FF2B5EF4-FFF2-40B4-BE49-F238E27FC236}">
                <a16:creationId xmlns:a16="http://schemas.microsoft.com/office/drawing/2014/main" id="{FFD38E00-47EE-4670-BC42-5CDCD618B37E}"/>
              </a:ext>
            </a:extLst>
          </p:cNvPr>
          <p:cNvSpPr>
            <a:spLocks xmlns:a="http://schemas.openxmlformats.org/drawingml/2006/main" noGrp="1"/>
          </p:cNvSpPr>
          <p:nvPr/>
        </p:nvSpPr>
        <p:spPr>
          <a:xfrm xmlns:a="http://schemas.openxmlformats.org/drawingml/2006/main">
            <a:off x="704850" y="1543050"/>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Credit accurate answers in students’ own words.</a:t>
            </a:r>
          </a:p>
        </p:txBody>
      </p:sp>
      <p:sp>
        <p:nvSpPr>
          <p:cNvPr id="6" name="scheme-a">
            <a:extLst xmlns:a="http://schemas.openxmlformats.org/drawingml/2006/main">
              <a:ext uri="{FF2B5EF4-FFF2-40B4-BE49-F238E27FC236}">
                <a16:creationId xmlns:a16="http://schemas.microsoft.com/office/drawing/2014/main" id="{34B97E33-3247-49FF-9C7E-15CC144C4DD0}"/>
              </a:ext>
            </a:extLst>
          </p:cNvPr>
          <p:cNvSpPr>
            <a:spLocks xmlns:a="http://schemas.openxmlformats.org/drawingml/2006/main" noGrp="1"/>
          </p:cNvSpPr>
          <p:nvPr/>
        </p:nvSpPr>
        <p:spPr>
          <a:xfrm xmlns:a="http://schemas.openxmlformats.org/drawingml/2006/main">
            <a:off x="723900" y="2457450"/>
            <a:ext cx="10572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Clock speed, cache size and number of cores.</a:t>
            </a:r>
          </a:p>
        </p:txBody>
      </p:sp>
      <p:sp>
        <p:nvSpPr>
          <p:cNvPr id="7" name="scheme-b">
            <a:extLst xmlns:a="http://schemas.openxmlformats.org/drawingml/2006/main">
              <a:ext uri="{FF2B5EF4-FFF2-40B4-BE49-F238E27FC236}">
                <a16:creationId xmlns:a16="http://schemas.microsoft.com/office/drawing/2014/main" id="{60DA8485-D35B-4C6A-827D-C1935C529B8F}"/>
              </a:ext>
            </a:extLst>
          </p:cNvPr>
          <p:cNvSpPr>
            <a:spLocks xmlns:a="http://schemas.openxmlformats.org/drawingml/2006/main" noGrp="1"/>
          </p:cNvSpPr>
          <p:nvPr/>
        </p:nvSpPr>
        <p:spPr>
          <a:xfrm xmlns:a="http://schemas.openxmlformats.org/drawingml/2006/main">
            <a:off x="723900" y="4086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b  Quad-core means four processing cores. Each can execute instructions independently. 3.2 GHz describes about 3.2 billion clock cycles per second at that quoted speed.</a:t>
            </a:r>
          </a:p>
        </p:txBody>
      </p:sp>
    </p:spTree>
    <p:extLst>
      <p:ext uri="{BB962C8B-B14F-4D97-AF65-F5344CB8AC3E}">
        <p14:creationId xmlns:p14="http://schemas.microsoft.com/office/powerpoint/2010/main" val="1470308533"/>
      </p:ext>
    </p:extLst>
  </p:cSld>
</p:sld>
</file>

<file path=ppt/slides/slide19.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73F38134-5436-4B8B-9467-6BAA84B82F1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2" name="heading">
            <a:extLst xmlns:a="http://schemas.openxmlformats.org/drawingml/2006/main">
              <a:ext uri="{FF2B5EF4-FFF2-40B4-BE49-F238E27FC236}">
                <a16:creationId xmlns:a16="http://schemas.microsoft.com/office/drawing/2014/main" id="{CD03ADDC-F5C8-4AF8-8EE3-A3A200B8F83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 (c)</a:t>
            </a:r>
          </a:p>
        </p:txBody>
      </p:sp>
      <p:sp>
        <p:nvSpPr>
          <p:cNvPr id="3" name="footer">
            <a:extLst xmlns:a="http://schemas.openxmlformats.org/drawingml/2006/main">
              <a:ext uri="{FF2B5EF4-FFF2-40B4-BE49-F238E27FC236}">
                <a16:creationId xmlns:a16="http://schemas.microsoft.com/office/drawing/2014/main" id="{C9F83834-54FB-468C-8B6F-80246FEB5CD1}"/>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6F3D5A8E-358F-45B3-9DA0-992D59D1D33C}"/>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19 / 20</a:t>
            </a:r>
          </a:p>
        </p:txBody>
      </p:sp>
      <p:sp>
        <p:nvSpPr>
          <p:cNvPr id="5" name="scheme-intro">
            <a:extLst xmlns:a="http://schemas.openxmlformats.org/drawingml/2006/main">
              <a:ext uri="{FF2B5EF4-FFF2-40B4-BE49-F238E27FC236}">
                <a16:creationId xmlns:a16="http://schemas.microsoft.com/office/drawing/2014/main" id="{30DC50FC-57A8-4364-9C3B-CA36207E0FA0}"/>
              </a:ext>
            </a:extLst>
          </p:cNvPr>
          <p:cNvSpPr>
            <a:spLocks xmlns:a="http://schemas.openxmlformats.org/drawingml/2006/main" noGrp="1"/>
          </p:cNvSpPr>
          <p:nvPr/>
        </p:nvSpPr>
        <p:spPr>
          <a:xfrm xmlns:a="http://schemas.openxmlformats.org/drawingml/2006/main">
            <a:off x="704850" y="1533525"/>
            <a:ext cx="1071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for the final question.</a:t>
            </a:r>
          </a:p>
        </p:txBody>
      </p:sp>
      <p:sp>
        <p:nvSpPr>
          <p:cNvPr id="6" name="number-1">
            <a:extLst xmlns:a="http://schemas.openxmlformats.org/drawingml/2006/main">
              <a:ext uri="{FF2B5EF4-FFF2-40B4-BE49-F238E27FC236}">
                <a16:creationId xmlns:a16="http://schemas.microsoft.com/office/drawing/2014/main" id="{5E00BB8F-7D32-47F2-B495-A84F5871FF88}"/>
              </a:ext>
            </a:extLst>
          </p:cNvPr>
          <p:cNvSpPr>
            <a:spLocks xmlns:a="http://schemas.openxmlformats.org/drawingml/2006/main" noGrp="1"/>
          </p:cNvSpPr>
          <p:nvPr/>
        </p:nvSpPr>
        <p:spPr>
          <a:xfrm xmlns:a="http://schemas.openxmlformats.org/drawingml/2006/main">
            <a:off x="723900" y="2486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21F7DB45-CDF3-4046-914E-B7DE2906621D}"/>
              </a:ext>
            </a:extLst>
          </p:cNvPr>
          <p:cNvSpPr>
            <a:spLocks xmlns:a="http://schemas.openxmlformats.org/drawingml/2006/main" noGrp="1"/>
          </p:cNvSpPr>
          <p:nvPr/>
        </p:nvSpPr>
        <p:spPr>
          <a:xfrm xmlns:a="http://schemas.openxmlformats.org/drawingml/2006/main">
            <a:off x="1352550" y="24860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Higher clock speed can allow more cycles per second, helping instruction processing.</a:t>
            </a:r>
          </a:p>
        </p:txBody>
      </p:sp>
      <p:sp>
        <p:nvSpPr>
          <p:cNvPr id="8" name="number-2">
            <a:extLst xmlns:a="http://schemas.openxmlformats.org/drawingml/2006/main">
              <a:ext uri="{FF2B5EF4-FFF2-40B4-BE49-F238E27FC236}">
                <a16:creationId xmlns:a16="http://schemas.microsoft.com/office/drawing/2014/main" id="{1C2E40BA-7A83-45D4-B3F5-EF4F37B318B9}"/>
              </a:ext>
            </a:extLst>
          </p:cNvPr>
          <p:cNvSpPr>
            <a:spLocks xmlns:a="http://schemas.openxmlformats.org/drawingml/2006/main" noGrp="1"/>
          </p:cNvSpPr>
          <p:nvPr/>
        </p:nvSpPr>
        <p:spPr>
          <a:xfrm xmlns:a="http://schemas.openxmlformats.org/drawingml/2006/main">
            <a:off x="723900" y="3590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FCB5005A-5EB3-4EA0-8D44-91EA70742650}"/>
              </a:ext>
            </a:extLst>
          </p:cNvPr>
          <p:cNvSpPr>
            <a:spLocks xmlns:a="http://schemas.openxmlformats.org/drawingml/2006/main" noGrp="1"/>
          </p:cNvSpPr>
          <p:nvPr/>
        </p:nvSpPr>
        <p:spPr>
          <a:xfrm xmlns:a="http://schemas.openxmlformats.org/drawingml/2006/main">
            <a:off x="1352550" y="35909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A larger cache can hold more needed data near the CPU and reduce waits for RAM.</a:t>
            </a:r>
          </a:p>
        </p:txBody>
      </p:sp>
      <p:sp>
        <p:nvSpPr>
          <p:cNvPr id="10" name="number-3">
            <a:extLst xmlns:a="http://schemas.openxmlformats.org/drawingml/2006/main">
              <a:ext uri="{FF2B5EF4-FFF2-40B4-BE49-F238E27FC236}">
                <a16:creationId xmlns:a16="http://schemas.microsoft.com/office/drawing/2014/main" id="{A4162743-2302-4ABC-A928-65B1D105EC36}"/>
              </a:ext>
            </a:extLst>
          </p:cNvPr>
          <p:cNvSpPr>
            <a:spLocks xmlns:a="http://schemas.openxmlformats.org/drawingml/2006/main" noGrp="1"/>
          </p:cNvSpPr>
          <p:nvPr/>
        </p:nvSpPr>
        <p:spPr>
          <a:xfrm xmlns:a="http://schemas.openxmlformats.org/drawingml/2006/main">
            <a:off x="723900" y="46958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4E258EEC-8280-45C2-9C3E-1CD1A0CF0503}"/>
              </a:ext>
            </a:extLst>
          </p:cNvPr>
          <p:cNvSpPr>
            <a:spLocks xmlns:a="http://schemas.openxmlformats.org/drawingml/2006/main" noGrp="1"/>
          </p:cNvSpPr>
          <p:nvPr/>
        </p:nvSpPr>
        <p:spPr>
          <a:xfrm xmlns:a="http://schemas.openxmlformats.org/drawingml/2006/main">
            <a:off x="1352550" y="46958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More cores can process separate threads in parallel when the editing software can use them.</a:t>
            </a:r>
          </a:p>
        </p:txBody>
      </p:sp>
    </p:spTree>
    <p:extLst>
      <p:ext uri="{BB962C8B-B14F-4D97-AF65-F5344CB8AC3E}">
        <p14:creationId xmlns:p14="http://schemas.microsoft.com/office/powerpoint/2010/main" val="57130733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6F4F0DC8-F69F-473B-8134-F2467528496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SELF-CHECK</a:t>
            </a:r>
          </a:p>
        </p:txBody>
      </p:sp>
      <p:sp>
        <p:nvSpPr>
          <p:cNvPr id="2" name="heading">
            <a:extLst xmlns:a="http://schemas.openxmlformats.org/drawingml/2006/main">
              <a:ext uri="{FF2B5EF4-FFF2-40B4-BE49-F238E27FC236}">
                <a16:creationId xmlns:a16="http://schemas.microsoft.com/office/drawing/2014/main" id="{D480890F-0A18-4D51-9CB9-C070FAE454E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How confident am I?</a:t>
            </a:r>
          </a:p>
        </p:txBody>
      </p:sp>
      <p:sp>
        <p:nvSpPr>
          <p:cNvPr id="3" name="footer">
            <a:extLst xmlns:a="http://schemas.openxmlformats.org/drawingml/2006/main">
              <a:ext uri="{FF2B5EF4-FFF2-40B4-BE49-F238E27FC236}">
                <a16:creationId xmlns:a16="http://schemas.microsoft.com/office/drawing/2014/main" id="{9536F89C-5EC6-40A0-8EB8-D0C0EC84A19A}"/>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6A645108-AC13-4EA3-B991-216E6F0391A1}"/>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20 / 20</a:t>
            </a:r>
          </a:p>
        </p:txBody>
      </p:sp>
      <p:sp>
        <p:nvSpPr>
          <p:cNvPr id="5" name="confidence-instruction">
            <a:extLst xmlns:a="http://schemas.openxmlformats.org/drawingml/2006/main">
              <a:ext uri="{FF2B5EF4-FFF2-40B4-BE49-F238E27FC236}">
                <a16:creationId xmlns:a16="http://schemas.microsoft.com/office/drawing/2014/main" id="{8F4BCAF4-1684-4EFB-94EB-3F5CCD55FB69}"/>
              </a:ext>
            </a:extLst>
          </p:cNvPr>
          <p:cNvSpPr>
            <a:spLocks xmlns:a="http://schemas.openxmlformats.org/drawingml/2006/main" noGrp="1"/>
          </p:cNvSpPr>
          <p:nvPr/>
        </p:nvSpPr>
        <p:spPr>
          <a:xfrm xmlns:a="http://schemas.openxmlformats.org/drawingml/2006/main">
            <a:off x="704850" y="1571625"/>
            <a:ext cx="10477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On the worksheet, select Not yet, Getting there or Confident for each objective.</a:t>
            </a:r>
          </a:p>
        </p:txBody>
      </p:sp>
      <p:sp>
        <p:nvSpPr>
          <p:cNvPr id="6" name="number-1">
            <a:extLst xmlns:a="http://schemas.openxmlformats.org/drawingml/2006/main">
              <a:ext uri="{FF2B5EF4-FFF2-40B4-BE49-F238E27FC236}">
                <a16:creationId xmlns:a16="http://schemas.microsoft.com/office/drawing/2014/main" id="{5DA5E7E3-641C-45F4-97FF-D18D9DDBD512}"/>
              </a:ext>
            </a:extLst>
          </p:cNvPr>
          <p:cNvSpPr>
            <a:spLocks xmlns:a="http://schemas.openxmlformats.org/drawingml/2006/main" noGrp="1"/>
          </p:cNvSpPr>
          <p:nvPr/>
        </p:nvSpPr>
        <p:spPr>
          <a:xfrm xmlns:a="http://schemas.openxmlformats.org/drawingml/2006/main">
            <a:off x="723900" y="2514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1AEACDE0-D918-432C-BE97-39C0D0237269}"/>
              </a:ext>
            </a:extLst>
          </p:cNvPr>
          <p:cNvSpPr>
            <a:spLocks xmlns:a="http://schemas.openxmlformats.org/drawingml/2006/main" noGrp="1"/>
          </p:cNvSpPr>
          <p:nvPr/>
        </p:nvSpPr>
        <p:spPr>
          <a:xfrm xmlns:a="http://schemas.openxmlformats.org/drawingml/2006/main">
            <a:off x="1352550" y="25146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How clock speed affects performance</a:t>
            </a:r>
          </a:p>
        </p:txBody>
      </p:sp>
      <p:sp>
        <p:nvSpPr>
          <p:cNvPr id="8" name="number-2">
            <a:extLst xmlns:a="http://schemas.openxmlformats.org/drawingml/2006/main">
              <a:ext uri="{FF2B5EF4-FFF2-40B4-BE49-F238E27FC236}">
                <a16:creationId xmlns:a16="http://schemas.microsoft.com/office/drawing/2014/main" id="{027AB85C-8B0A-49E9-996E-DB92243B0151}"/>
              </a:ext>
            </a:extLst>
          </p:cNvPr>
          <p:cNvSpPr>
            <a:spLocks xmlns:a="http://schemas.openxmlformats.org/drawingml/2006/main" noGrp="1"/>
          </p:cNvSpPr>
          <p:nvPr/>
        </p:nvSpPr>
        <p:spPr>
          <a:xfrm xmlns:a="http://schemas.openxmlformats.org/drawingml/2006/main">
            <a:off x="723900" y="35242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9EDE1773-0395-4545-B10B-EF8E9CADA677}"/>
              </a:ext>
            </a:extLst>
          </p:cNvPr>
          <p:cNvSpPr>
            <a:spLocks xmlns:a="http://schemas.openxmlformats.org/drawingml/2006/main" noGrp="1"/>
          </p:cNvSpPr>
          <p:nvPr/>
        </p:nvSpPr>
        <p:spPr>
          <a:xfrm xmlns:a="http://schemas.openxmlformats.org/drawingml/2006/main">
            <a:off x="1352550" y="352425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How cache size affects performance</a:t>
            </a:r>
          </a:p>
        </p:txBody>
      </p:sp>
      <p:sp>
        <p:nvSpPr>
          <p:cNvPr id="10" name="number-3">
            <a:extLst xmlns:a="http://schemas.openxmlformats.org/drawingml/2006/main">
              <a:ext uri="{FF2B5EF4-FFF2-40B4-BE49-F238E27FC236}">
                <a16:creationId xmlns:a16="http://schemas.microsoft.com/office/drawing/2014/main" id="{0F093DCA-7B18-4771-9998-EF0DCC073ED5}"/>
              </a:ext>
            </a:extLst>
          </p:cNvPr>
          <p:cNvSpPr>
            <a:spLocks xmlns:a="http://schemas.openxmlformats.org/drawingml/2006/main" noGrp="1"/>
          </p:cNvSpPr>
          <p:nvPr/>
        </p:nvSpPr>
        <p:spPr>
          <a:xfrm xmlns:a="http://schemas.openxmlformats.org/drawingml/2006/main">
            <a:off x="723900" y="4533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C10295E7-C6C7-4708-B5E9-4A569985591D}"/>
              </a:ext>
            </a:extLst>
          </p:cNvPr>
          <p:cNvSpPr>
            <a:spLocks xmlns:a="http://schemas.openxmlformats.org/drawingml/2006/main" noGrp="1"/>
          </p:cNvSpPr>
          <p:nvPr/>
        </p:nvSpPr>
        <p:spPr>
          <a:xfrm xmlns:a="http://schemas.openxmlformats.org/drawingml/2006/main">
            <a:off x="1352550" y="45339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How the number of cores affects performance</a:t>
            </a:r>
          </a:p>
        </p:txBody>
      </p:sp>
    </p:spTree>
    <p:extLst>
      <p:ext uri="{BB962C8B-B14F-4D97-AF65-F5344CB8AC3E}">
        <p14:creationId xmlns:p14="http://schemas.microsoft.com/office/powerpoint/2010/main" val="20227003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2026-09-25T12:17:39.5970000Z</dcterms:created>
  <dcterms:modified xsi:type="dcterms:W3CDTF">2026-09-25T12:17:39.5970000Z</dcterms:modified>
</coreProperties>
</file>