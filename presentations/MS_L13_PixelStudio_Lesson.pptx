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5b470ef91240f1" /><Relationship Type="http://schemas.openxmlformats.org/officeDocument/2006/relationships/extended-properties" Target="/docProps/app.xml" Id="R015e9d71b9d5475e" /><Relationship Type="http://schemas.openxmlformats.org/officeDocument/2006/relationships/officeDocument" Target="/ppt/presentation.xml" Id="R6f6dc7913f454e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8e51480b8845ee"/>
  </p:sldMasterIdLst>
  <p:notesMasterIdLst>
    <p:notesMasterId xmlns:r="http://schemas.openxmlformats.org/officeDocument/2006/relationships" r:id="R23804258fe574135"/>
  </p:notesMasterIdLst>
  <p:sldIdLst>
    <p:sldId xmlns:r="http://schemas.openxmlformats.org/officeDocument/2006/relationships" id="256" r:id="Rf7e8d877e3c64459"/>
    <p:sldId xmlns:r="http://schemas.openxmlformats.org/officeDocument/2006/relationships" id="257" r:id="R6fc5aa88445340bb"/>
    <p:sldId xmlns:r="http://schemas.openxmlformats.org/officeDocument/2006/relationships" id="258" r:id="R331e33d0efa84bb6"/>
    <p:sldId xmlns:r="http://schemas.openxmlformats.org/officeDocument/2006/relationships" id="259" r:id="Rd0242f91bbb64c73"/>
    <p:sldId xmlns:r="http://schemas.openxmlformats.org/officeDocument/2006/relationships" id="260" r:id="Rdbe716838ecc45bc"/>
    <p:sldId xmlns:r="http://schemas.openxmlformats.org/officeDocument/2006/relationships" id="261" r:id="R7c977bdfe3094f20"/>
    <p:sldId xmlns:r="http://schemas.openxmlformats.org/officeDocument/2006/relationships" id="262" r:id="Rf712734e17434d2d"/>
    <p:sldId xmlns:r="http://schemas.openxmlformats.org/officeDocument/2006/relationships" id="263" r:id="Rd39f800997c341d4"/>
    <p:sldId xmlns:r="http://schemas.openxmlformats.org/officeDocument/2006/relationships" id="264" r:id="R72f3354a20cf44f0"/>
    <p:sldId xmlns:r="http://schemas.openxmlformats.org/officeDocument/2006/relationships" id="265" r:id="Rad03dda8460e4917"/>
    <p:sldId xmlns:r="http://schemas.openxmlformats.org/officeDocument/2006/relationships" id="266" r:id="Ra41ea8b099d14b8e"/>
    <p:sldId xmlns:r="http://schemas.openxmlformats.org/officeDocument/2006/relationships" id="267" r:id="R9f34489469b74659"/>
    <p:sldId xmlns:r="http://schemas.openxmlformats.org/officeDocument/2006/relationships" id="268" r:id="R5c176ec4726f489d"/>
    <p:sldId xmlns:r="http://schemas.openxmlformats.org/officeDocument/2006/relationships" id="269" r:id="R25bef4b64a5f4060"/>
    <p:sldId xmlns:r="http://schemas.openxmlformats.org/officeDocument/2006/relationships" id="270" r:id="Re19af0c7393a4c4f"/>
    <p:sldId xmlns:r="http://schemas.openxmlformats.org/officeDocument/2006/relationships" id="271" r:id="R9a6ef0c2d7d542c6"/>
    <p:sldId xmlns:r="http://schemas.openxmlformats.org/officeDocument/2006/relationships" id="272" r:id="R179199b71292491b"/>
    <p:sldId xmlns:r="http://schemas.openxmlformats.org/officeDocument/2006/relationships" id="273" r:id="R3a8020bd88a54988"/>
    <p:sldId xmlns:r="http://schemas.openxmlformats.org/officeDocument/2006/relationships" id="274" r:id="R38231551b45941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ca66b8a89e40cc" /><Relationship Type="http://schemas.openxmlformats.org/officeDocument/2006/relationships/slideMaster" Target="/ppt/slideMasters/slideMaster1.xml" Id="R268e51480b8845ee" /><Relationship Type="http://schemas.openxmlformats.org/officeDocument/2006/relationships/notesMaster" Target="/ppt/notesMasters/notesMaster1.xml" Id="R23804258fe574135" /><Relationship Type="http://schemas.openxmlformats.org/officeDocument/2006/relationships/presProps" Target="/ppt/presProps.xml" Id="Rfc915c8617e34073" /><Relationship Type="http://schemas.openxmlformats.org/officeDocument/2006/relationships/tableStyles" Target="/ppt/tableStyles.xml" Id="R6057bd44b04b48c0" /><Relationship Type="http://schemas.openxmlformats.org/officeDocument/2006/relationships/slide" Target="/ppt/slides/slide1.xml" Id="Rf7e8d877e3c64459" /><Relationship Type="http://schemas.openxmlformats.org/officeDocument/2006/relationships/slide" Target="/ppt/slides/slide2.xml" Id="R6fc5aa88445340bb" /><Relationship Type="http://schemas.openxmlformats.org/officeDocument/2006/relationships/slide" Target="/ppt/slides/slide3.xml" Id="R331e33d0efa84bb6" /><Relationship Type="http://schemas.openxmlformats.org/officeDocument/2006/relationships/slide" Target="/ppt/slides/slide4.xml" Id="Rd0242f91bbb64c73" /><Relationship Type="http://schemas.openxmlformats.org/officeDocument/2006/relationships/slide" Target="/ppt/slides/slide5.xml" Id="Rdbe716838ecc45bc" /><Relationship Type="http://schemas.openxmlformats.org/officeDocument/2006/relationships/slide" Target="/ppt/slides/slide6.xml" Id="R7c977bdfe3094f20" /><Relationship Type="http://schemas.openxmlformats.org/officeDocument/2006/relationships/slide" Target="/ppt/slides/slide7.xml" Id="Rf712734e17434d2d" /><Relationship Type="http://schemas.openxmlformats.org/officeDocument/2006/relationships/slide" Target="/ppt/slides/slide8.xml" Id="Rd39f800997c341d4" /><Relationship Type="http://schemas.openxmlformats.org/officeDocument/2006/relationships/slide" Target="/ppt/slides/slide9.xml" Id="R72f3354a20cf44f0" /><Relationship Type="http://schemas.openxmlformats.org/officeDocument/2006/relationships/slide" Target="/ppt/slides/slide10.xml" Id="Rad03dda8460e4917" /><Relationship Type="http://schemas.openxmlformats.org/officeDocument/2006/relationships/slide" Target="/ppt/slides/slide11.xml" Id="Ra41ea8b099d14b8e" /><Relationship Type="http://schemas.openxmlformats.org/officeDocument/2006/relationships/slide" Target="/ppt/slides/slide12.xml" Id="R9f34489469b74659" /><Relationship Type="http://schemas.openxmlformats.org/officeDocument/2006/relationships/slide" Target="/ppt/slides/slide13.xml" Id="R5c176ec4726f489d" /><Relationship Type="http://schemas.openxmlformats.org/officeDocument/2006/relationships/slide" Target="/ppt/slides/slide14.xml" Id="R25bef4b64a5f4060" /><Relationship Type="http://schemas.openxmlformats.org/officeDocument/2006/relationships/slide" Target="/ppt/slides/slide15.xml" Id="Re19af0c7393a4c4f" /><Relationship Type="http://schemas.openxmlformats.org/officeDocument/2006/relationships/slide" Target="/ppt/slides/slide16.xml" Id="R9a6ef0c2d7d542c6" /><Relationship Type="http://schemas.openxmlformats.org/officeDocument/2006/relationships/slide" Target="/ppt/slides/slide17.xml" Id="R179199b71292491b" /><Relationship Type="http://schemas.openxmlformats.org/officeDocument/2006/relationships/slide" Target="/ppt/slides/slide18.xml" Id="R3a8020bd88a54988" /><Relationship Type="http://schemas.openxmlformats.org/officeDocument/2006/relationships/slide" Target="/ppt/slides/slide19.xml" Id="R38231551b45941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c62afe31fc41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e9d8b140934293" /><Relationship Type="http://schemas.openxmlformats.org/officeDocument/2006/relationships/notesMaster" Target="/ppt/notesMasters/notesMaster1.xml" Id="R198b6b873e9c44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9df3f18ede4578" /><Relationship Type="http://schemas.openxmlformats.org/officeDocument/2006/relationships/notesMaster" Target="/ppt/notesMasters/notesMaster1.xml" Id="R7e154c5087b44f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b7f28733ea41ba" /><Relationship Type="http://schemas.openxmlformats.org/officeDocument/2006/relationships/notesMaster" Target="/ppt/notesMasters/notesMaster1.xml" Id="R9dedd2957e9d4d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2aed0b25764d8e" /><Relationship Type="http://schemas.openxmlformats.org/officeDocument/2006/relationships/notesMaster" Target="/ppt/notesMasters/notesMaster1.xml" Id="Ra972da2046ea41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ab092fdc844df" /><Relationship Type="http://schemas.openxmlformats.org/officeDocument/2006/relationships/notesMaster" Target="/ppt/notesMasters/notesMaster1.xml" Id="R161a61d9e76048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c37c6f18724234" /><Relationship Type="http://schemas.openxmlformats.org/officeDocument/2006/relationships/notesMaster" Target="/ppt/notesMasters/notesMaster1.xml" Id="R4551fc2c07d14f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74cef8f6c74141" /><Relationship Type="http://schemas.openxmlformats.org/officeDocument/2006/relationships/notesMaster" Target="/ppt/notesMasters/notesMaster1.xml" Id="Rd4ea93b57f0348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8bae7399a84989" /><Relationship Type="http://schemas.openxmlformats.org/officeDocument/2006/relationships/notesMaster" Target="/ppt/notesMasters/notesMaster1.xml" Id="Rb5baee7b435245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430f64f5234177" /><Relationship Type="http://schemas.openxmlformats.org/officeDocument/2006/relationships/notesMaster" Target="/ppt/notesMasters/notesMaster1.xml" Id="Rc57e48f62ff845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9a144838f94f9a" /><Relationship Type="http://schemas.openxmlformats.org/officeDocument/2006/relationships/notesMaster" Target="/ppt/notesMasters/notesMaster1.xml" Id="Rc6e82afea6454c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7a5a0714674b18" /><Relationship Type="http://schemas.openxmlformats.org/officeDocument/2006/relationships/notesMaster" Target="/ppt/notesMasters/notesMaster1.xml" Id="R7f91de56adad46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8106e39eae4611" /><Relationship Type="http://schemas.openxmlformats.org/officeDocument/2006/relationships/notesMaster" Target="/ppt/notesMasters/notesMaster1.xml" Id="Rcf41e4acad1e4b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87b83debf34998" /><Relationship Type="http://schemas.openxmlformats.org/officeDocument/2006/relationships/notesMaster" Target="/ppt/notesMasters/notesMaster1.xml" Id="R5992eb5d98fb40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f151f28de541b9" /><Relationship Type="http://schemas.openxmlformats.org/officeDocument/2006/relationships/notesMaster" Target="/ppt/notesMasters/notesMaster1.xml" Id="R15f04a1b3aa24e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3dce2f27234cc9" /><Relationship Type="http://schemas.openxmlformats.org/officeDocument/2006/relationships/notesMaster" Target="/ppt/notesMasters/notesMaster1.xml" Id="Rdce89d3a18a743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1025fc09a14437" /><Relationship Type="http://schemas.openxmlformats.org/officeDocument/2006/relationships/notesMaster" Target="/ppt/notesMasters/notesMaster1.xml" Id="R46b0f73fc3c24e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4794f887b04931" /><Relationship Type="http://schemas.openxmlformats.org/officeDocument/2006/relationships/notesMaster" Target="/ppt/notesMasters/notesMaster1.xml" Id="R91d722efef3f40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761800a79b4696" /><Relationship Type="http://schemas.openxmlformats.org/officeDocument/2006/relationships/notesMaster" Target="/ppt/notesMasters/notesMaster1.xml" Id="R3e5b132813b548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81d5d2e09549e4" /><Relationship Type="http://schemas.openxmlformats.org/officeDocument/2006/relationships/notesMaster" Target="/ppt/notesMasters/notesMaster1.xml" Id="R2ddc7e03bcb748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grid copies the exact target array in the experience final challenge. Values 0–3 map to the same four colours as the interactive pixel task.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experiences/ms-l13.json and worksheets/MS_L13_PixelStudio_Worksheet.docx.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8f6668b294a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5ff432167541dd" /><Relationship Type="http://schemas.openxmlformats.org/officeDocument/2006/relationships/slideLayout" Target="/ppt/slideLayouts/slideLayout1.xml" Id="R629ad7a5e1724c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9ad7a5e1724c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bd2f1f19e4755" /><Relationship Type="http://schemas.openxmlformats.org/officeDocument/2006/relationships/image" Target="/ppt/media/image.png" Id="R2f8092a1238343b7" /><Relationship Type="http://schemas.openxmlformats.org/officeDocument/2006/relationships/image" Target="/ppt/media/image.jpeg" Id="R962a5d03d9624de3" /><Relationship Type="http://schemas.openxmlformats.org/officeDocument/2006/relationships/notesSlide" Target="/ppt/notesSlides/notesSlide1.xml" Id="R71ffce9bd90047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ef1d059514e4a" /><Relationship Type="http://schemas.openxmlformats.org/officeDocument/2006/relationships/image" Target="/ppt/media/image2.png" Id="Rf645182c1f4b4aae" /><Relationship Type="http://schemas.openxmlformats.org/officeDocument/2006/relationships/notesSlide" Target="/ppt/notesSlides/notesSlide2.xml" Id="R54d6f7fe20fd47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98316620c4d0b" /><Relationship Type="http://schemas.openxmlformats.org/officeDocument/2006/relationships/image" Target="/ppt/media/image3.png" Id="R55582dc429ae4b8f" /><Relationship Type="http://schemas.openxmlformats.org/officeDocument/2006/relationships/notesSlide" Target="/ppt/notesSlides/notesSlide3.xml" Id="Rb8d77807c23c4a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f01b18eee4344" /><Relationship Type="http://schemas.openxmlformats.org/officeDocument/2006/relationships/image" Target="/ppt/media/image4.png" Id="R5e2ea2a386534c9d" /><Relationship Type="http://schemas.openxmlformats.org/officeDocument/2006/relationships/notesSlide" Target="/ppt/notesSlides/notesSlide4.xml" Id="Rf02d0d95846749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984d666c045c0" /><Relationship Type="http://schemas.openxmlformats.org/officeDocument/2006/relationships/image" Target="/ppt/media/image5.png" Id="R18f1e1b1624a4301" /><Relationship Type="http://schemas.openxmlformats.org/officeDocument/2006/relationships/notesSlide" Target="/ppt/notesSlides/notesSlide5.xml" Id="Rb43b2be098184a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726e05efd495f" /><Relationship Type="http://schemas.openxmlformats.org/officeDocument/2006/relationships/image" Target="/ppt/media/image6.png" Id="R390ecb841790455f" /><Relationship Type="http://schemas.openxmlformats.org/officeDocument/2006/relationships/notesSlide" Target="/ppt/notesSlides/notesSlide6.xml" Id="R765933f1068540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8d26cbea94e97" /><Relationship Type="http://schemas.openxmlformats.org/officeDocument/2006/relationships/image" Target="/ppt/media/image7.png" Id="R23eb490958e64f5d" /><Relationship Type="http://schemas.openxmlformats.org/officeDocument/2006/relationships/hyperlink" Target="https://mrp-cs.github.io/Revise360/experience.html?id=ms-l13" TargetMode="External" Id="R9d0702fd114345fd" /><Relationship Type="http://schemas.openxmlformats.org/officeDocument/2006/relationships/notesSlide" Target="/ppt/notesSlides/notesSlide7.xml" Id="R0057833284d046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eaeb907b444c4" /><Relationship Type="http://schemas.openxmlformats.org/officeDocument/2006/relationships/image" Target="/ppt/media/image8.png" Id="Rde0bce9260d3482f" /><Relationship Type="http://schemas.openxmlformats.org/officeDocument/2006/relationships/notesSlide" Target="/ppt/notesSlides/notesSlide8.xml" Id="Rb9400104a3724a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cb9c903d04ea5" /><Relationship Type="http://schemas.openxmlformats.org/officeDocument/2006/relationships/image" Target="/ppt/media/image9.png" Id="R98079c5efd8a428c" /><Relationship Type="http://schemas.openxmlformats.org/officeDocument/2006/relationships/notesSlide" Target="/ppt/notesSlides/notesSlide9.xml" Id="R91d4a38a86f849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c3fc729f64ba9" /><Relationship Type="http://schemas.openxmlformats.org/officeDocument/2006/relationships/image" Target="/ppt/media/image10.png" Id="Rc5f6c52da7494010" /><Relationship Type="http://schemas.openxmlformats.org/officeDocument/2006/relationships/notesSlide" Target="/ppt/notesSlides/notesSlide10.xml" Id="R58e5f2392ca14d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7ab765ff740a8" /><Relationship Type="http://schemas.openxmlformats.org/officeDocument/2006/relationships/image" Target="/ppt/media/image11.png" Id="R0d3f1e41d81c46d3" /><Relationship Type="http://schemas.openxmlformats.org/officeDocument/2006/relationships/notesSlide" Target="/ppt/notesSlides/notesSlide11.xml" Id="Rb0facf93bedc45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8b390e0de4fa9" /><Relationship Type="http://schemas.openxmlformats.org/officeDocument/2006/relationships/image" Target="/ppt/media/image12.png" Id="R3f7b1916ac934a94" /><Relationship Type="http://schemas.openxmlformats.org/officeDocument/2006/relationships/notesSlide" Target="/ppt/notesSlides/notesSlide12.xml" Id="R9b99f382382642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7000174994f8d" /><Relationship Type="http://schemas.openxmlformats.org/officeDocument/2006/relationships/image" Target="/ppt/media/image13.png" Id="Rab6a3c62baac4ed2" /><Relationship Type="http://schemas.openxmlformats.org/officeDocument/2006/relationships/notesSlide" Target="/ppt/notesSlides/notesSlide13.xml" Id="R265f338287a34c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9abd22ad34558" /><Relationship Type="http://schemas.openxmlformats.org/officeDocument/2006/relationships/image" Target="/ppt/media/image14.png" Id="R8767f4562f6c4357" /><Relationship Type="http://schemas.openxmlformats.org/officeDocument/2006/relationships/notesSlide" Target="/ppt/notesSlides/notesSlide14.xml" Id="Rf2fb9a7b354f4d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b723c69bb47e2" /><Relationship Type="http://schemas.openxmlformats.org/officeDocument/2006/relationships/image" Target="/ppt/media/image15.png" Id="R6edfc45f3cc24fdc" /><Relationship Type="http://schemas.openxmlformats.org/officeDocument/2006/relationships/notesSlide" Target="/ppt/notesSlides/notesSlide15.xml" Id="R1c62cb8761f445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857ca3bb24714" /><Relationship Type="http://schemas.openxmlformats.org/officeDocument/2006/relationships/image" Target="/ppt/media/image16.png" Id="R1aba500f873d4639" /><Relationship Type="http://schemas.openxmlformats.org/officeDocument/2006/relationships/notesSlide" Target="/ppt/notesSlides/notesSlide16.xml" Id="R9b9d5e8c0cd541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560253aa14a06" /><Relationship Type="http://schemas.openxmlformats.org/officeDocument/2006/relationships/image" Target="/ppt/media/image17.png" Id="Rcec987dece1f43ee" /><Relationship Type="http://schemas.openxmlformats.org/officeDocument/2006/relationships/notesSlide" Target="/ppt/notesSlides/notesSlide17.xml" Id="R25af314f171945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c2466fc1143c9" /><Relationship Type="http://schemas.openxmlformats.org/officeDocument/2006/relationships/image" Target="/ppt/media/image18.png" Id="R5937f43638414cf1" /><Relationship Type="http://schemas.openxmlformats.org/officeDocument/2006/relationships/notesSlide" Target="/ppt/notesSlides/notesSlide18.xml" Id="Ra6f636e1b8a54a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25eaf0c944efe" /><Relationship Type="http://schemas.openxmlformats.org/officeDocument/2006/relationships/image" Target="/ppt/media/image19.png" Id="Rd98710cda23d4530" /><Relationship Type="http://schemas.openxmlformats.org/officeDocument/2006/relationships/notesSlide" Target="/ppt/notesSlides/notesSlide19.xml" Id="R38cc1e0b292546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AEA8B3E-A6CE-4F0E-BAB2-3B232F04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C68BADB-FB94-4238-9F3D-406A592F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13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4BD4F35-B689-4959-A61B-D39047D8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PIXEL STUDIO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092a1238343b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0C4B1E4-4568-49DB-BB35-5F2AAA8C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19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7E202DEC-2967-4EAB-8D64-9A413858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Bitmaps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725AD7AB-00AB-49C7-B245-27A4AF9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5E94DCD4-D4F3-4723-8564-448C1965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does a computer store graphics?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a5d03d9624de3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17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45F577E-5A04-4AFD-988F-814EBD64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DBB6989-BF94-4361-8817-A26A4171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3CAD87C-0AC2-4000-8652-E1768418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5182c1f4b4aa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7C2B2CD-39DA-4E8C-B2F5-98E4E275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9931758-E016-420C-9028-538A15CB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388543D-2CEA-43BE-AD5C-8F062F1F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how an image is a series of pixels represented in binary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32AF038E-9E9D-4499-8E63-19600C67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BB918890-E7A7-46B1-AA19-D74DE775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what is meant by metadata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BBD4ADBA-2292-48A3-BC97-3954D55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EDF9392F-F53A-4811-A6BB-6E877BAE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effect of colour depth and resolution on file size</a:t>
            </a:r>
          </a:p>
        </p:txBody>
      </p:sp>
    </p:spTree>
    <p:extLst>
      <p:ext uri="{BB962C8B-B14F-4D97-AF65-F5344CB8AC3E}">
        <p14:creationId xmlns:p14="http://schemas.microsoft.com/office/powerpoint/2010/main" val="20577565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B80E876-8B64-4303-86C5-729AA4B8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CC29034-0BC2-4169-917B-555D9528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81536D6-1921-435C-B695-9388667D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82dc429ae4b8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E5D5DE4-E42E-4A06-8647-07F45929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19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0B305A0E-1679-4804-9703-A9220963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Zoom right into a photo on your phone until it goes blocky. What are you actually looking at, and what is stored for each square?</a:t>
            </a:r>
          </a:p>
        </p:txBody>
      </p:sp>
    </p:spTree>
    <p:extLst>
      <p:ext uri="{BB962C8B-B14F-4D97-AF65-F5344CB8AC3E}">
        <p14:creationId xmlns:p14="http://schemas.microsoft.com/office/powerpoint/2010/main" val="1479120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8C8CE39-CD32-4F7F-B79B-4BEE80B6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C90B9CF-ECF7-41D2-98DF-12BFF3BC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72EA633-12A2-4427-B133-CD70ADA1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ea2a386534c9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99A5B28-448F-46C2-A082-6343562F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ED4616E4-0FBB-4747-936F-6E3841AB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810D09E6-9A6F-4ACF-85BD-2FC6D990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 see individual pixels, the coloured squares that make up a bitmap image.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B3E9C0FA-F816-4BD4-8875-E2C7F4E9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DCFF47B0-C64A-4576-A34C-B67AA019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each pixel, a binary value encodes its colour; more bits per pixel allow more colours.</a:t>
            </a:r>
          </a:p>
        </p:txBody>
      </p:sp>
    </p:spTree>
    <p:extLst>
      <p:ext uri="{BB962C8B-B14F-4D97-AF65-F5344CB8AC3E}">
        <p14:creationId xmlns:p14="http://schemas.microsoft.com/office/powerpoint/2010/main" val="252737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D13B15C-A2CC-4B4B-92DD-39C9EF3C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BB68712-9E75-442F-98D0-7451FDE6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8C95D4E-A805-4269-94BB-A0E1E749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1e1b1624a430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C898C38-CD50-4DF1-AA1A-A2DBCFE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19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77E9CF42-167C-4B41-B6E2-9ADDA4D7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B77B49D0-C29E-46C4-8323-7C97359D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Pixel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D759508C-5DA9-4515-A30F-EB403F2E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F947D1F8-8F60-45ED-A744-B7CA77BC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Metadata</a:t>
            </a:r>
          </a:p>
        </p:txBody>
      </p:sp>
    </p:spTree>
    <p:extLst>
      <p:ext uri="{BB962C8B-B14F-4D97-AF65-F5344CB8AC3E}">
        <p14:creationId xmlns:p14="http://schemas.microsoft.com/office/powerpoint/2010/main" val="624439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B8F6BAA-203A-4272-B10D-4733ACCD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0CE1D18-FDCC-4026-B69D-10CCAD94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7228DBB-C399-4560-9ACE-B032774A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ecb841790455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7A67AAD-A64F-4C6D-A503-9788CBB0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19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09DEA818-47B9-4A83-94CD-0F4F5B1F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Pixel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12736788-C997-4799-A405-431AD000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Pixel: one picture element in a bitmap, storing a colour value.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A2C1C5FB-9F9F-41F7-9ECA-3967DC72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Metadata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85CE815A-BB5B-447B-8E8C-AC2FCB14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Metadata: data describing an image, such as its dimensions, date or camera settings.</a:t>
            </a:r>
          </a:p>
        </p:txBody>
      </p:sp>
    </p:spTree>
    <p:extLst>
      <p:ext uri="{BB962C8B-B14F-4D97-AF65-F5344CB8AC3E}">
        <p14:creationId xmlns:p14="http://schemas.microsoft.com/office/powerpoint/2010/main" val="2042078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54F4C1F-A657-43DE-A23D-7D719EDD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39BDC94-5B57-492F-867D-265BA841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13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468AA06-D1DC-4328-9AB6-4672EA50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b490958e64f5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EBAA447-E61D-4EDE-9E68-5D625345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19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67B2C8F-6B23-4EC4-8096-FC3B6479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d0702fd114345fd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BA4A8C55-4992-4342-8259-6398F545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Pixel studio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8CFB551D-48C5-42B1-9378-69F7302F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F85B1666-2F17-4085-952C-926FDAB2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8739D247-23CA-430D-910C-90787F9F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60A12072-5C58-4D32-9A19-5B1A53EA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15),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10D903D0-D1BD-45D1-8C3E-F90D99D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EDB0234E-B689-4512-B115-AD12D0A3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929659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55E0F4B-42DF-41F3-AADE-33C748FD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2833F47-C5A4-4987-92E1-5223297F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4883A4C-AFA5-41FA-A6B5-863D3828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bce9260d3482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21E9CE1-3C7A-499B-848E-52ACAE2A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19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9F77BD4B-07AF-4522-9666-59FDD8B1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Task: file size. Calculate the raw file size for each image. Show your working.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49042BB7-57C6-4DAD-890A-C3F27E1A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1141705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AE57D06-236D-4213-8D45-C1F1A36D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D8B616-D336-47F9-9D8C-B04E87CC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4FF79C5-D790-46C8-9B2A-5045F674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79c5efd8a428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70F3AE6-F4DC-484C-B4AD-7366DDDD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19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33611E67-F478-48BB-9688-CD42A8E5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If width and height both double but colour depth stays the same, what happens to raw file size?</a:t>
            </a:r>
          </a:p>
        </p:txBody>
      </p:sp>
    </p:spTree>
    <p:extLst>
      <p:ext uri="{BB962C8B-B14F-4D97-AF65-F5344CB8AC3E}">
        <p14:creationId xmlns:p14="http://schemas.microsoft.com/office/powerpoint/2010/main" val="7793125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908F24D-ADA1-406B-BC67-546149C5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F432541-D7B1-4F5B-AC25-AC07A099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926041B-20CD-414E-AF18-7B2EFD8A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6c52da749401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D23B70C-DCB7-427B-9CA5-4388DB60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1BB9A3B-3D95-4447-B3B3-6D87ECC3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C7D096C3-7FFE-4B32-AC5E-60292C27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8 × 8 × 1 = 64 bits = 8 bytes; 8 × 8 × 2 = 128 bits = 16 bytes.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61A7585D-0A36-4297-84A1-87C48D8C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ED1E4BBC-0123-4F1A-884F-634FCE12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640 × 480 × 8 = 2,457,600 bits = 307.2 kB; 1920 × 1080 × 24 = 49,766,400 bits = 6.2208 MB.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DE951BC7-EA9C-4FB5-A88D-36873FB2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69D84E2E-A5CA-4AA6-B598-283EB64A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There are four times as many pixels, so the raw pixel data becomes four times as large. Compression and metadata can change the real file size.</a:t>
            </a:r>
          </a:p>
        </p:txBody>
      </p:sp>
    </p:spTree>
    <p:extLst>
      <p:ext uri="{BB962C8B-B14F-4D97-AF65-F5344CB8AC3E}">
        <p14:creationId xmlns:p14="http://schemas.microsoft.com/office/powerpoint/2010/main" val="1453511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26DAF68-7247-4C08-A7BF-386EDC7C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6CA1DDA-51FA-4BBD-8318-9E09F519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035B01D-A086-43C1-9B91-071EAC92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f1e41d81c46d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E6D3C0-0FDF-4AF1-97D4-DA9A62FF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96EC7A6D-1685-4A33-9DFD-D59506BB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F78C6156-D72F-4AFF-9B6E-7E3A541C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Pixels and bitmaps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D76C32F3-3B81-4AA4-9990-C56A56D0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bitmap is a grid of pixels. The 8 × 8, 1-bit image has 64 bits = 8 bytes before metadata or compression.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5E5D3D25-E2C2-4489-B734-379E32C1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Colour depth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A8011E20-4114-44CD-8358-9BB24358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Colour depth is bits per pixel. Four bits allow 2⁴ = 16 colours; two bits allow four colours.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9A859C30-E60D-46FC-8CCE-EF4ABDDB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Resolution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9AD5C05B-53EC-4A90-A930-1849466D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Resolution is pixel dimensions. Doubling width and height gives four times as many pixels and about four times the raw data.</a:t>
            </a:r>
          </a:p>
        </p:txBody>
      </p:sp>
    </p:spTree>
    <p:extLst>
      <p:ext uri="{BB962C8B-B14F-4D97-AF65-F5344CB8AC3E}">
        <p14:creationId xmlns:p14="http://schemas.microsoft.com/office/powerpoint/2010/main" val="2014050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DF7D0D9-55D5-4A52-AA78-D564DEC8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7897BF9-180D-40C2-AD2F-FD28C22F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2E4AE2C-B84F-4013-A09A-8E433570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b1916ac934a9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8C375C3-5EE4-4C52-A6BE-3D3EF610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285DC423-151D-4059-AE61-3E045C13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D8ADC99A-7956-45F5-9F3D-7A062425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Metadata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A2683D0-F83B-4E66-BA7E-587E8307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Metadata can include dimensions, date created, camera model and location; it describes the image rather than its pixel colours.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6B38F4C7-C7CE-412F-B0EB-488405C7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Calculating file size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35668C53-1011-48C0-930A-20B77C77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200 × 100 × 4 = 80,000 bits = 10,000 bytes = 10 kB of raw pixel data.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2BFF7478-F7CB-4731-ABA6-5C51E97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Quality against size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C7A8CA5A-BD58-48BB-9A33-A4ADB71A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website may use fewer pixels so images load quickly; print needs more detail at larger physical size.</a:t>
            </a:r>
          </a:p>
        </p:txBody>
      </p:sp>
    </p:spTree>
    <p:extLst>
      <p:ext uri="{BB962C8B-B14F-4D97-AF65-F5344CB8AC3E}">
        <p14:creationId xmlns:p14="http://schemas.microsoft.com/office/powerpoint/2010/main" val="13314584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40A7040-8312-4325-BF73-E7544A26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6F88362-7DD6-4512-B77A-A5183FE2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1945339-BCB2-448B-8B52-A2890DB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a3c62baac4ed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112A96-F979-4CAD-85AD-4A3081D0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E6D544F3-2F58-4F9C-86C5-815AC741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2687A531-96D1-4D3E-97E0-DCC3BD74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Match the 8 × 8 grid shown on the next slide. 8 × 8 × 2 = 128 bits, or 16 bytes.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928BF3B3-11A6-4C9D-80BD-B3909C46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D1E1978B-9C3E-4646-82ED-CD5FED1C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500. 1,000 × 500 × 8 = 4,000,000 bits, ÷ 8 = 500,000 bytes, ÷ 1,000 = 500 kB.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0CB62EAD-168C-41BC-B601-184A9ED4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5ED0D58B-C7F8-4F55-8383-3C0EB5F7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image's dimensions and the date it was created. Metadata describes the image, not the device showing it.</a:t>
            </a:r>
          </a:p>
        </p:txBody>
      </p:sp>
    </p:spTree>
    <p:extLst>
      <p:ext uri="{BB962C8B-B14F-4D97-AF65-F5344CB8AC3E}">
        <p14:creationId xmlns:p14="http://schemas.microsoft.com/office/powerpoint/2010/main" val="4297562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DFBB740-8AC9-44CA-8063-40BDB6F5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B928B60-B1D7-4A70-B711-FE036D04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B5988D5-9ABA-45EE-88B7-B422829A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pixel grid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7f4562f6c435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2C6CBF3-C52B-498A-8F53-5CDFFF3E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19</a:t>
            </a:r>
          </a:p>
        </p:txBody>
      </p:sp>
      <p:sp>
        <p:nvSpPr>
          <p:cNvPr id="6" name="pixel-instruction">
            <a:extLst xmlns:a="http://schemas.openxmlformats.org/drawingml/2006/main">
              <a:ext uri="{FF2B5EF4-FFF2-40B4-BE49-F238E27FC236}">
                <a16:creationId xmlns:a16="http://schemas.microsoft.com/office/drawing/2014/main" id="{E76DB481-A17D-4405-B2DB-1966113F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The completed 2-bit image from the experience:</a:t>
            </a:r>
          </a:p>
        </p:txBody>
      </p:sp>
      <p:sp>
        <p:nvSpPr>
          <p:cNvPr id="7" name="pixel-0-0">
            <a:extLst xmlns:a="http://schemas.openxmlformats.org/drawingml/2006/main">
              <a:ext uri="{FF2B5EF4-FFF2-40B4-BE49-F238E27FC236}">
                <a16:creationId xmlns:a16="http://schemas.microsoft.com/office/drawing/2014/main" id="{94EB9349-88C9-4E9D-B586-760FCEBD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8" name="pixel-0-1">
            <a:extLst xmlns:a="http://schemas.openxmlformats.org/drawingml/2006/main">
              <a:ext uri="{FF2B5EF4-FFF2-40B4-BE49-F238E27FC236}">
                <a16:creationId xmlns:a16="http://schemas.microsoft.com/office/drawing/2014/main" id="{22FDA2AF-F01A-48F4-90BF-BF60167F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02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9" name="pixel-0-2">
            <a:extLst xmlns:a="http://schemas.openxmlformats.org/drawingml/2006/main">
              <a:ext uri="{FF2B5EF4-FFF2-40B4-BE49-F238E27FC236}">
                <a16:creationId xmlns:a16="http://schemas.microsoft.com/office/drawing/2014/main" id="{8DF08426-D30D-4C60-ACEE-C33A65B9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002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10" name="pixel-0-3">
            <a:extLst xmlns:a="http://schemas.openxmlformats.org/drawingml/2006/main">
              <a:ext uri="{FF2B5EF4-FFF2-40B4-BE49-F238E27FC236}">
                <a16:creationId xmlns:a16="http://schemas.microsoft.com/office/drawing/2014/main" id="{98A5FFF3-D3C3-4080-9F4B-72ECF156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002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11" name="pixel-0-4">
            <a:extLst xmlns:a="http://schemas.openxmlformats.org/drawingml/2006/main">
              <a:ext uri="{FF2B5EF4-FFF2-40B4-BE49-F238E27FC236}">
                <a16:creationId xmlns:a16="http://schemas.microsoft.com/office/drawing/2014/main" id="{38D7E6E6-EE49-41DE-8BBA-8F1190F1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002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12" name="pixel-0-5">
            <a:extLst xmlns:a="http://schemas.openxmlformats.org/drawingml/2006/main">
              <a:ext uri="{FF2B5EF4-FFF2-40B4-BE49-F238E27FC236}">
                <a16:creationId xmlns:a16="http://schemas.microsoft.com/office/drawing/2014/main" id="{E302FF2F-ECEA-46ED-8B3F-1D132F9A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2002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13" name="pixel-0-6">
            <a:extLst xmlns:a="http://schemas.openxmlformats.org/drawingml/2006/main">
              <a:ext uri="{FF2B5EF4-FFF2-40B4-BE49-F238E27FC236}">
                <a16:creationId xmlns:a16="http://schemas.microsoft.com/office/drawing/2014/main" id="{5E15FCA6-DBC8-4490-9FFC-E14FF743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02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14" name="pixel-0-7">
            <a:extLst xmlns:a="http://schemas.openxmlformats.org/drawingml/2006/main">
              <a:ext uri="{FF2B5EF4-FFF2-40B4-BE49-F238E27FC236}">
                <a16:creationId xmlns:a16="http://schemas.microsoft.com/office/drawing/2014/main" id="{DF300F60-DE11-4C9D-89C7-3C19B54E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15" name="pixel-1-0">
            <a:extLst xmlns:a="http://schemas.openxmlformats.org/drawingml/2006/main">
              <a:ext uri="{FF2B5EF4-FFF2-40B4-BE49-F238E27FC236}">
                <a16:creationId xmlns:a16="http://schemas.microsoft.com/office/drawing/2014/main" id="{2597F691-B511-412E-9340-17AEE41D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16" name="pixel-1-1">
            <a:extLst xmlns:a="http://schemas.openxmlformats.org/drawingml/2006/main">
              <a:ext uri="{FF2B5EF4-FFF2-40B4-BE49-F238E27FC236}">
                <a16:creationId xmlns:a16="http://schemas.microsoft.com/office/drawing/2014/main" id="{B46458DA-2CA0-471D-988A-CFA37787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609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17" name="pixel-1-2">
            <a:extLst xmlns:a="http://schemas.openxmlformats.org/drawingml/2006/main">
              <a:ext uri="{FF2B5EF4-FFF2-40B4-BE49-F238E27FC236}">
                <a16:creationId xmlns:a16="http://schemas.microsoft.com/office/drawing/2014/main" id="{EE91B544-E844-490A-918D-7CBC9C5B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09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18" name="pixel-1-3">
            <a:extLst xmlns:a="http://schemas.openxmlformats.org/drawingml/2006/main">
              <a:ext uri="{FF2B5EF4-FFF2-40B4-BE49-F238E27FC236}">
                <a16:creationId xmlns:a16="http://schemas.microsoft.com/office/drawing/2014/main" id="{25545340-03D4-4C81-82EA-762EAB40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09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19" name="pixel-1-4">
            <a:extLst xmlns:a="http://schemas.openxmlformats.org/drawingml/2006/main">
              <a:ext uri="{FF2B5EF4-FFF2-40B4-BE49-F238E27FC236}">
                <a16:creationId xmlns:a16="http://schemas.microsoft.com/office/drawing/2014/main" id="{F656E2AA-16A4-4555-9E32-C5EE8762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09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20" name="pixel-1-5">
            <a:extLst xmlns:a="http://schemas.openxmlformats.org/drawingml/2006/main">
              <a:ext uri="{FF2B5EF4-FFF2-40B4-BE49-F238E27FC236}">
                <a16:creationId xmlns:a16="http://schemas.microsoft.com/office/drawing/2014/main" id="{046FEECE-D8EF-42DD-92AD-A1D27ABD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09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21" name="pixel-1-6">
            <a:extLst xmlns:a="http://schemas.openxmlformats.org/drawingml/2006/main">
              <a:ext uri="{FF2B5EF4-FFF2-40B4-BE49-F238E27FC236}">
                <a16:creationId xmlns:a16="http://schemas.microsoft.com/office/drawing/2014/main" id="{E6BAFD65-2662-4DE2-93F7-B2E93714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09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22" name="pixel-1-7">
            <a:extLst xmlns:a="http://schemas.openxmlformats.org/drawingml/2006/main">
              <a:ext uri="{FF2B5EF4-FFF2-40B4-BE49-F238E27FC236}">
                <a16:creationId xmlns:a16="http://schemas.microsoft.com/office/drawing/2014/main" id="{55243273-D130-48CF-85B9-ACCE0267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09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23" name="pixel-2-0">
            <a:extLst xmlns:a="http://schemas.openxmlformats.org/drawingml/2006/main">
              <a:ext uri="{FF2B5EF4-FFF2-40B4-BE49-F238E27FC236}">
                <a16:creationId xmlns:a16="http://schemas.microsoft.com/office/drawing/2014/main" id="{AA3407F5-D68C-468E-8957-391D73A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194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24" name="pixel-2-1">
            <a:extLst xmlns:a="http://schemas.openxmlformats.org/drawingml/2006/main">
              <a:ext uri="{FF2B5EF4-FFF2-40B4-BE49-F238E27FC236}">
                <a16:creationId xmlns:a16="http://schemas.microsoft.com/office/drawing/2014/main" id="{89E034F5-490C-4FA1-92CD-06177411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0194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25" name="pixel-2-2">
            <a:extLst xmlns:a="http://schemas.openxmlformats.org/drawingml/2006/main">
              <a:ext uri="{FF2B5EF4-FFF2-40B4-BE49-F238E27FC236}">
                <a16:creationId xmlns:a16="http://schemas.microsoft.com/office/drawing/2014/main" id="{F511FC63-B77B-4A17-9EFF-CE7CD5B2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194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C96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26" name="pixel-2-3">
            <a:extLst xmlns:a="http://schemas.openxmlformats.org/drawingml/2006/main">
              <a:ext uri="{FF2B5EF4-FFF2-40B4-BE49-F238E27FC236}">
                <a16:creationId xmlns:a16="http://schemas.microsoft.com/office/drawing/2014/main" id="{AADAEC77-398D-4FA0-94FB-6C30C6BF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194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C96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27" name="pixel-2-4">
            <a:extLst xmlns:a="http://schemas.openxmlformats.org/drawingml/2006/main">
              <a:ext uri="{FF2B5EF4-FFF2-40B4-BE49-F238E27FC236}">
                <a16:creationId xmlns:a16="http://schemas.microsoft.com/office/drawing/2014/main" id="{5D0A1F26-2248-48F4-9A4F-EB8FDA02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194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28" name="pixel-2-5">
            <a:extLst xmlns:a="http://schemas.openxmlformats.org/drawingml/2006/main">
              <a:ext uri="{FF2B5EF4-FFF2-40B4-BE49-F238E27FC236}">
                <a16:creationId xmlns:a16="http://schemas.microsoft.com/office/drawing/2014/main" id="{4D43E1BA-C947-4A0C-92F6-395EECE1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194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29" name="pixel-2-6">
            <a:extLst xmlns:a="http://schemas.openxmlformats.org/drawingml/2006/main">
              <a:ext uri="{FF2B5EF4-FFF2-40B4-BE49-F238E27FC236}">
                <a16:creationId xmlns:a16="http://schemas.microsoft.com/office/drawing/2014/main" id="{D65A4193-859C-4790-864A-5A3CCAD7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194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30" name="pixel-2-7">
            <a:extLst xmlns:a="http://schemas.openxmlformats.org/drawingml/2006/main">
              <a:ext uri="{FF2B5EF4-FFF2-40B4-BE49-F238E27FC236}">
                <a16:creationId xmlns:a16="http://schemas.microsoft.com/office/drawing/2014/main" id="{C3075F24-94D3-499C-91F9-FE9E21C6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194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31" name="pixel-3-0">
            <a:extLst xmlns:a="http://schemas.openxmlformats.org/drawingml/2006/main">
              <a:ext uri="{FF2B5EF4-FFF2-40B4-BE49-F238E27FC236}">
                <a16:creationId xmlns:a16="http://schemas.microsoft.com/office/drawing/2014/main" id="{00A5F02B-ECA8-4CE0-9A54-0C9EF7BF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32" name="pixel-3-1">
            <a:extLst xmlns:a="http://schemas.openxmlformats.org/drawingml/2006/main">
              <a:ext uri="{FF2B5EF4-FFF2-40B4-BE49-F238E27FC236}">
                <a16:creationId xmlns:a16="http://schemas.microsoft.com/office/drawing/2014/main" id="{C075C1C5-4A5D-402C-9DB5-9B7C903D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33" name="pixel-3-2">
            <a:extLst xmlns:a="http://schemas.openxmlformats.org/drawingml/2006/main">
              <a:ext uri="{FF2B5EF4-FFF2-40B4-BE49-F238E27FC236}">
                <a16:creationId xmlns:a16="http://schemas.microsoft.com/office/drawing/2014/main" id="{4EB009C5-84F1-49E8-AD46-E4E88A0A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C96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34" name="pixel-3-3">
            <a:extLst xmlns:a="http://schemas.openxmlformats.org/drawingml/2006/main">
              <a:ext uri="{FF2B5EF4-FFF2-40B4-BE49-F238E27FC236}">
                <a16:creationId xmlns:a16="http://schemas.microsoft.com/office/drawing/2014/main" id="{509621EC-5E27-4C4F-B1C9-31068562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C96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35" name="pixel-3-4">
            <a:extLst xmlns:a="http://schemas.openxmlformats.org/drawingml/2006/main">
              <a:ext uri="{FF2B5EF4-FFF2-40B4-BE49-F238E27FC236}">
                <a16:creationId xmlns:a16="http://schemas.microsoft.com/office/drawing/2014/main" id="{5E145BD1-B873-4490-AC9D-128066CB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36" name="pixel-3-5">
            <a:extLst xmlns:a="http://schemas.openxmlformats.org/drawingml/2006/main">
              <a:ext uri="{FF2B5EF4-FFF2-40B4-BE49-F238E27FC236}">
                <a16:creationId xmlns:a16="http://schemas.microsoft.com/office/drawing/2014/main" id="{F9909689-F167-46B5-98BE-B7371F67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37" name="pixel-3-6">
            <a:extLst xmlns:a="http://schemas.openxmlformats.org/drawingml/2006/main">
              <a:ext uri="{FF2B5EF4-FFF2-40B4-BE49-F238E27FC236}">
                <a16:creationId xmlns:a16="http://schemas.microsoft.com/office/drawing/2014/main" id="{90009A5A-0181-42E9-BD3A-6A4119C8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38" name="pixel-3-7">
            <a:extLst xmlns:a="http://schemas.openxmlformats.org/drawingml/2006/main">
              <a:ext uri="{FF2B5EF4-FFF2-40B4-BE49-F238E27FC236}">
                <a16:creationId xmlns:a16="http://schemas.microsoft.com/office/drawing/2014/main" id="{6734505A-C781-4946-AC25-16256B36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39" name="pixel-4-0">
            <a:extLst xmlns:a="http://schemas.openxmlformats.org/drawingml/2006/main">
              <a:ext uri="{FF2B5EF4-FFF2-40B4-BE49-F238E27FC236}">
                <a16:creationId xmlns:a16="http://schemas.microsoft.com/office/drawing/2014/main" id="{185FAD35-9E35-4234-916C-44EC2C2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385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40" name="pixel-4-1">
            <a:extLst xmlns:a="http://schemas.openxmlformats.org/drawingml/2006/main">
              <a:ext uri="{FF2B5EF4-FFF2-40B4-BE49-F238E27FC236}">
                <a16:creationId xmlns:a16="http://schemas.microsoft.com/office/drawing/2014/main" id="{9EF88DEC-CDE3-47B4-B7F9-2DC0B07F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8385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41" name="pixel-4-2">
            <a:extLst xmlns:a="http://schemas.openxmlformats.org/drawingml/2006/main">
              <a:ext uri="{FF2B5EF4-FFF2-40B4-BE49-F238E27FC236}">
                <a16:creationId xmlns:a16="http://schemas.microsoft.com/office/drawing/2014/main" id="{0B70B3BC-FF90-459C-B42B-CACA0809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385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42" name="pixel-4-3">
            <a:extLst xmlns:a="http://schemas.openxmlformats.org/drawingml/2006/main">
              <a:ext uri="{FF2B5EF4-FFF2-40B4-BE49-F238E27FC236}">
                <a16:creationId xmlns:a16="http://schemas.microsoft.com/office/drawing/2014/main" id="{88EB0E9D-3A61-422F-98D8-EFB392B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385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43" name="pixel-4-4">
            <a:extLst xmlns:a="http://schemas.openxmlformats.org/drawingml/2006/main">
              <a:ext uri="{FF2B5EF4-FFF2-40B4-BE49-F238E27FC236}">
                <a16:creationId xmlns:a16="http://schemas.microsoft.com/office/drawing/2014/main" id="{3FF6534F-0C96-4BBF-A676-9ECBCABF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385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44" name="pixel-4-5">
            <a:extLst xmlns:a="http://schemas.openxmlformats.org/drawingml/2006/main">
              <a:ext uri="{FF2B5EF4-FFF2-40B4-BE49-F238E27FC236}">
                <a16:creationId xmlns:a16="http://schemas.microsoft.com/office/drawing/2014/main" id="{C1930D8A-409A-4378-BBD9-79057D3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385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45" name="pixel-4-6">
            <a:extLst xmlns:a="http://schemas.openxmlformats.org/drawingml/2006/main">
              <a:ext uri="{FF2B5EF4-FFF2-40B4-BE49-F238E27FC236}">
                <a16:creationId xmlns:a16="http://schemas.microsoft.com/office/drawing/2014/main" id="{B4E99FFE-0738-41D8-BCAC-F4B66E01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385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46" name="pixel-4-7">
            <a:extLst xmlns:a="http://schemas.openxmlformats.org/drawingml/2006/main">
              <a:ext uri="{FF2B5EF4-FFF2-40B4-BE49-F238E27FC236}">
                <a16:creationId xmlns:a16="http://schemas.microsoft.com/office/drawing/2014/main" id="{312C08FD-CA33-4802-9276-4083F1F4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385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47" name="pixel-5-0">
            <a:extLst xmlns:a="http://schemas.openxmlformats.org/drawingml/2006/main">
              <a:ext uri="{FF2B5EF4-FFF2-40B4-BE49-F238E27FC236}">
                <a16:creationId xmlns:a16="http://schemas.microsoft.com/office/drawing/2014/main" id="{48092CA9-35A8-4FFA-99C5-5551AEC6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48" name="pixel-5-1">
            <a:extLst xmlns:a="http://schemas.openxmlformats.org/drawingml/2006/main">
              <a:ext uri="{FF2B5EF4-FFF2-40B4-BE49-F238E27FC236}">
                <a16:creationId xmlns:a16="http://schemas.microsoft.com/office/drawing/2014/main" id="{72452AB2-C047-4AC7-A594-DC41F37D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248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49" name="pixel-5-2">
            <a:extLst xmlns:a="http://schemas.openxmlformats.org/drawingml/2006/main">
              <a:ext uri="{FF2B5EF4-FFF2-40B4-BE49-F238E27FC236}">
                <a16:creationId xmlns:a16="http://schemas.microsoft.com/office/drawing/2014/main" id="{5CC88F4E-87C5-46C8-83AA-0E76196F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48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50" name="pixel-5-3">
            <a:extLst xmlns:a="http://schemas.openxmlformats.org/drawingml/2006/main">
              <a:ext uri="{FF2B5EF4-FFF2-40B4-BE49-F238E27FC236}">
                <a16:creationId xmlns:a16="http://schemas.microsoft.com/office/drawing/2014/main" id="{577CFCCD-72D2-4113-AB0F-C153128D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48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51" name="pixel-5-4">
            <a:extLst xmlns:a="http://schemas.openxmlformats.org/drawingml/2006/main">
              <a:ext uri="{FF2B5EF4-FFF2-40B4-BE49-F238E27FC236}">
                <a16:creationId xmlns:a16="http://schemas.microsoft.com/office/drawing/2014/main" id="{23662C1E-32BF-49FD-AE9C-40519DAD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48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52" name="pixel-5-5">
            <a:extLst xmlns:a="http://schemas.openxmlformats.org/drawingml/2006/main">
              <a:ext uri="{FF2B5EF4-FFF2-40B4-BE49-F238E27FC236}">
                <a16:creationId xmlns:a16="http://schemas.microsoft.com/office/drawing/2014/main" id="{A0D16ACC-3FDB-4140-B041-777274CB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48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53" name="pixel-5-6">
            <a:extLst xmlns:a="http://schemas.openxmlformats.org/drawingml/2006/main">
              <a:ext uri="{FF2B5EF4-FFF2-40B4-BE49-F238E27FC236}">
                <a16:creationId xmlns:a16="http://schemas.microsoft.com/office/drawing/2014/main" id="{F9DFE7FB-6499-4F7E-A976-150E53B1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48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54" name="pixel-5-7">
            <a:extLst xmlns:a="http://schemas.openxmlformats.org/drawingml/2006/main">
              <a:ext uri="{FF2B5EF4-FFF2-40B4-BE49-F238E27FC236}">
                <a16:creationId xmlns:a16="http://schemas.microsoft.com/office/drawing/2014/main" id="{036923CC-EB5F-429E-B227-F8A53B77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48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55" name="pixel-6-0">
            <a:extLst xmlns:a="http://schemas.openxmlformats.org/drawingml/2006/main">
              <a:ext uri="{FF2B5EF4-FFF2-40B4-BE49-F238E27FC236}">
                <a16:creationId xmlns:a16="http://schemas.microsoft.com/office/drawing/2014/main" id="{F232FD81-F198-446C-A06E-B927FA9F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57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56" name="pixel-6-1">
            <a:extLst xmlns:a="http://schemas.openxmlformats.org/drawingml/2006/main">
              <a:ext uri="{FF2B5EF4-FFF2-40B4-BE49-F238E27FC236}">
                <a16:creationId xmlns:a16="http://schemas.microsoft.com/office/drawing/2014/main" id="{4E448856-51CD-433F-BDC8-26506773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57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57" name="pixel-6-2">
            <a:extLst xmlns:a="http://schemas.openxmlformats.org/drawingml/2006/main">
              <a:ext uri="{FF2B5EF4-FFF2-40B4-BE49-F238E27FC236}">
                <a16:creationId xmlns:a16="http://schemas.microsoft.com/office/drawing/2014/main" id="{AAD24462-1553-4504-88EF-5A4C531F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57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58" name="pixel-6-3">
            <a:extLst xmlns:a="http://schemas.openxmlformats.org/drawingml/2006/main">
              <a:ext uri="{FF2B5EF4-FFF2-40B4-BE49-F238E27FC236}">
                <a16:creationId xmlns:a16="http://schemas.microsoft.com/office/drawing/2014/main" id="{26AB2FAC-E3A8-4BA9-A0D1-D408BAE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57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59" name="pixel-6-4">
            <a:extLst xmlns:a="http://schemas.openxmlformats.org/drawingml/2006/main">
              <a:ext uri="{FF2B5EF4-FFF2-40B4-BE49-F238E27FC236}">
                <a16:creationId xmlns:a16="http://schemas.microsoft.com/office/drawing/2014/main" id="{36587718-F32F-4E87-8667-AE77AF24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57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60" name="pixel-6-5">
            <a:extLst xmlns:a="http://schemas.openxmlformats.org/drawingml/2006/main">
              <a:ext uri="{FF2B5EF4-FFF2-40B4-BE49-F238E27FC236}">
                <a16:creationId xmlns:a16="http://schemas.microsoft.com/office/drawing/2014/main" id="{338ED2B5-CF4D-45C4-94B8-CC43D4B0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57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61" name="pixel-6-6">
            <a:extLst xmlns:a="http://schemas.openxmlformats.org/drawingml/2006/main">
              <a:ext uri="{FF2B5EF4-FFF2-40B4-BE49-F238E27FC236}">
                <a16:creationId xmlns:a16="http://schemas.microsoft.com/office/drawing/2014/main" id="{EEDD7702-8E23-4515-B2FA-778A6B72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57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62" name="pixel-6-7">
            <a:extLst xmlns:a="http://schemas.openxmlformats.org/drawingml/2006/main">
              <a:ext uri="{FF2B5EF4-FFF2-40B4-BE49-F238E27FC236}">
                <a16:creationId xmlns:a16="http://schemas.microsoft.com/office/drawing/2014/main" id="{5C256089-435B-45DB-A496-1355558C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657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63" name="pixel-7-0">
            <a:extLst xmlns:a="http://schemas.openxmlformats.org/drawingml/2006/main">
              <a:ext uri="{FF2B5EF4-FFF2-40B4-BE49-F238E27FC236}">
                <a16:creationId xmlns:a16="http://schemas.microsoft.com/office/drawing/2014/main" id="{15E0131D-3DF9-4162-AC17-3AB4AF8E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64" name="pixel-7-1">
            <a:extLst xmlns:a="http://schemas.openxmlformats.org/drawingml/2006/main">
              <a:ext uri="{FF2B5EF4-FFF2-40B4-BE49-F238E27FC236}">
                <a16:creationId xmlns:a16="http://schemas.microsoft.com/office/drawing/2014/main" id="{6A6D0844-7669-4B93-A8FC-9E021F47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65" name="pixel-7-2">
            <a:extLst xmlns:a="http://schemas.openxmlformats.org/drawingml/2006/main">
              <a:ext uri="{FF2B5EF4-FFF2-40B4-BE49-F238E27FC236}">
                <a16:creationId xmlns:a16="http://schemas.microsoft.com/office/drawing/2014/main" id="{E81DD81E-226A-4445-9549-91AD1CC1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66" name="pixel-7-3">
            <a:extLst xmlns:a="http://schemas.openxmlformats.org/drawingml/2006/main">
              <a:ext uri="{FF2B5EF4-FFF2-40B4-BE49-F238E27FC236}">
                <a16:creationId xmlns:a16="http://schemas.microsoft.com/office/drawing/2014/main" id="{F9A1C7DA-2324-4AFD-8E44-47BD2AE2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67" name="pixel-7-4">
            <a:extLst xmlns:a="http://schemas.openxmlformats.org/drawingml/2006/main">
              <a:ext uri="{FF2B5EF4-FFF2-40B4-BE49-F238E27FC236}">
                <a16:creationId xmlns:a16="http://schemas.microsoft.com/office/drawing/2014/main" id="{8E6FD128-7371-48B7-A456-A743DE94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68" name="pixel-7-5">
            <a:extLst xmlns:a="http://schemas.openxmlformats.org/drawingml/2006/main">
              <a:ext uri="{FF2B5EF4-FFF2-40B4-BE49-F238E27FC236}">
                <a16:creationId xmlns:a16="http://schemas.microsoft.com/office/drawing/2014/main" id="{B92BF6B8-79D0-4B95-8AFD-9F489111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69" name="pixel-7-6">
            <a:extLst xmlns:a="http://schemas.openxmlformats.org/drawingml/2006/main">
              <a:ext uri="{FF2B5EF4-FFF2-40B4-BE49-F238E27FC236}">
                <a16:creationId xmlns:a16="http://schemas.microsoft.com/office/drawing/2014/main" id="{01F32821-7724-4398-988A-0A34C931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70" name="pixel-7-7">
            <a:extLst xmlns:a="http://schemas.openxmlformats.org/drawingml/2006/main">
              <a:ext uri="{FF2B5EF4-FFF2-40B4-BE49-F238E27FC236}">
                <a16:creationId xmlns:a16="http://schemas.microsoft.com/office/drawing/2014/main" id="{8E9FD5FC-362E-4AA2-8446-4D4B861D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71" name="pixel-key-0">
            <a:extLst xmlns:a="http://schemas.openxmlformats.org/drawingml/2006/main">
              <a:ext uri="{FF2B5EF4-FFF2-40B4-BE49-F238E27FC236}">
                <a16:creationId xmlns:a16="http://schemas.microsoft.com/office/drawing/2014/main" id="{7894A29B-5ED3-47E1-96EA-A3E597E1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72" name="pixel-key-label-0">
            <a:extLst xmlns:a="http://schemas.openxmlformats.org/drawingml/2006/main">
              <a:ext uri="{FF2B5EF4-FFF2-40B4-BE49-F238E27FC236}">
                <a16:creationId xmlns:a16="http://schemas.microsoft.com/office/drawing/2014/main" id="{64E8E7E5-28B6-4196-9CF4-49497899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62200"/>
            <a:ext cx="419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00  black</a:t>
            </a:r>
          </a:p>
        </p:txBody>
      </p:sp>
      <p:sp>
        <p:nvSpPr>
          <p:cNvPr id="73" name="pixel-key-1">
            <a:extLst xmlns:a="http://schemas.openxmlformats.org/drawingml/2006/main">
              <a:ext uri="{FF2B5EF4-FFF2-40B4-BE49-F238E27FC236}">
                <a16:creationId xmlns:a16="http://schemas.microsoft.com/office/drawing/2014/main" id="{7FDE3799-B128-4A7C-A5C8-95A27894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990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F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74" name="pixel-key-label-1">
            <a:extLst xmlns:a="http://schemas.openxmlformats.org/drawingml/2006/main">
              <a:ext uri="{FF2B5EF4-FFF2-40B4-BE49-F238E27FC236}">
                <a16:creationId xmlns:a16="http://schemas.microsoft.com/office/drawing/2014/main" id="{6C8DF612-098D-4169-A205-56D1BC76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28950"/>
            <a:ext cx="419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01  red</a:t>
            </a:r>
          </a:p>
        </p:txBody>
      </p:sp>
      <p:sp>
        <p:nvSpPr>
          <p:cNvPr id="75" name="pixel-key-2">
            <a:extLst xmlns:a="http://schemas.openxmlformats.org/drawingml/2006/main">
              <a:ext uri="{FF2B5EF4-FFF2-40B4-BE49-F238E27FC236}">
                <a16:creationId xmlns:a16="http://schemas.microsoft.com/office/drawing/2014/main" id="{08B6B791-C9BC-41FD-A9C8-F9D70739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657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C96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76" name="pixel-key-label-2">
            <a:extLst xmlns:a="http://schemas.openxmlformats.org/drawingml/2006/main">
              <a:ext uri="{FF2B5EF4-FFF2-40B4-BE49-F238E27FC236}">
                <a16:creationId xmlns:a16="http://schemas.microsoft.com/office/drawing/2014/main" id="{C2C8C77D-9A74-4201-84EE-2A33458B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95700"/>
            <a:ext cx="419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10  green</a:t>
            </a:r>
          </a:p>
        </p:txBody>
      </p:sp>
      <p:sp>
        <p:nvSpPr>
          <p:cNvPr id="77" name="pixel-key-3">
            <a:extLst xmlns:a="http://schemas.openxmlformats.org/drawingml/2006/main">
              <a:ext uri="{FF2B5EF4-FFF2-40B4-BE49-F238E27FC236}">
                <a16:creationId xmlns:a16="http://schemas.microsoft.com/office/drawing/2014/main" id="{1CF14DE6-E98B-47E4-BEA8-81658130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324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BCC6D2"/>
            </a:solidFill>
          </a:ln>
        </p:spPr>
      </p:sp>
      <p:sp>
        <p:nvSpPr>
          <p:cNvPr id="78" name="pixel-key-label-3">
            <a:extLst xmlns:a="http://schemas.openxmlformats.org/drawingml/2006/main">
              <a:ext uri="{FF2B5EF4-FFF2-40B4-BE49-F238E27FC236}">
                <a16:creationId xmlns:a16="http://schemas.microsoft.com/office/drawing/2014/main" id="{56B22975-159B-427B-806A-470B1EC5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419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11  white</a:t>
            </a:r>
          </a:p>
        </p:txBody>
      </p:sp>
      <p:sp>
        <p:nvSpPr>
          <p:cNvPr id="79" name="pixel-size">
            <a:extLst xmlns:a="http://schemas.openxmlformats.org/drawingml/2006/main">
              <a:ext uri="{FF2B5EF4-FFF2-40B4-BE49-F238E27FC236}">
                <a16:creationId xmlns:a16="http://schemas.microsoft.com/office/drawing/2014/main" id="{74D9C62D-6127-40CA-AA6B-EF399C13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19700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 × 8 × 2 = 128 bits = 16 bytes</a:t>
            </a:r>
          </a:p>
        </p:txBody>
      </p:sp>
    </p:spTree>
    <p:extLst>
      <p:ext uri="{BB962C8B-B14F-4D97-AF65-F5344CB8AC3E}">
        <p14:creationId xmlns:p14="http://schemas.microsoft.com/office/powerpoint/2010/main" val="7463111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1AB9B7A-F8B9-4D5F-AFFA-FA0A80D9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E470C28-5976-4624-8C68-D0191AAC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BEB175E-5CA0-41BB-8847-6276F452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fc45f3cc24fd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58ABD91-AEBC-40E0-9FB6-719F69B6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AF8B10C2-80AA-4B7B-82F1-1BC1D67B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4F2F532C-D5BB-4920-9946-91D66B20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Describe what metadata is, and give two examples stored with a photo.  [3]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D26C85B6-7D3D-479D-985A-2B14C18C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An image is 320 × 240 pixels with a colour depth of 4 bits. Calculate the file size in kilobytes, showing your working.  [4]</a:t>
            </a:r>
          </a:p>
        </p:txBody>
      </p:sp>
    </p:spTree>
    <p:extLst>
      <p:ext uri="{BB962C8B-B14F-4D97-AF65-F5344CB8AC3E}">
        <p14:creationId xmlns:p14="http://schemas.microsoft.com/office/powerpoint/2010/main" val="13981984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4DC8B59-8F9C-49DD-91B0-067CF650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70BC2D5-FB2B-47EB-8AE8-02E7532D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EDEC1BE-F3D8-4FC9-931F-F85890F8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a500f873d463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D683122-F2B9-416C-AD6C-2B77C5C2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5729E13A-2BDE-4F8A-B8B7-00B67E90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066B9842-3F53-4106-BD9F-932F652C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Explain what happens to the quality and the file size when colour depth is increased.  [3]</a:t>
            </a:r>
          </a:p>
        </p:txBody>
      </p:sp>
    </p:spTree>
    <p:extLst>
      <p:ext uri="{BB962C8B-B14F-4D97-AF65-F5344CB8AC3E}">
        <p14:creationId xmlns:p14="http://schemas.microsoft.com/office/powerpoint/2010/main" val="7539688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DD9BD30-077C-4B72-B32E-64F1726D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B7B6C73-0751-4F8A-A7C8-6E8ED56C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F72EB86-C3D0-4AB8-960E-EBC7518A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987dece1f43e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CE57CCF-F746-4820-8011-47AB0D6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E1D9B241-D1F3-4C6B-856B-B81773D6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3D8AF776-C21C-467E-9F17-D630BF18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Metadata describes the image rather than its pixel colours; examples include its dimensions and date created (or camera model/location).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2BB34315-BE79-42D2-A359-92704699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320 × 240 × 4 = 307,200 bits; ÷ 8 = 38,400 bytes; ÷ 1,000 = 38.4 kB.</a:t>
            </a:r>
          </a:p>
        </p:txBody>
      </p:sp>
    </p:spTree>
    <p:extLst>
      <p:ext uri="{BB962C8B-B14F-4D97-AF65-F5344CB8AC3E}">
        <p14:creationId xmlns:p14="http://schemas.microsoft.com/office/powerpoint/2010/main" val="14227367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BC52487-0CFF-4B3C-A32D-810677F8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A0D3DDF-6F4A-4447-A384-26739A95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0E92EAE-AF74-439C-BC97-3E6A43A1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7f43638414cf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05D4B74-1F7B-4446-8AD7-7D0F2343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4BBBEEF8-EF68-4EC7-A432-6DC98879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53EE96E3-56F2-4B7F-B1B8-11B31B4B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Higher colour depth gives more possible colours and smoother colour detail. It uses more bits for each pixel, so uncompressed file size increases.</a:t>
            </a:r>
          </a:p>
        </p:txBody>
      </p:sp>
    </p:spTree>
    <p:extLst>
      <p:ext uri="{BB962C8B-B14F-4D97-AF65-F5344CB8AC3E}">
        <p14:creationId xmlns:p14="http://schemas.microsoft.com/office/powerpoint/2010/main" val="21015710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F80E9DC-E502-4D9F-A613-D7B7710B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9B32EDD-4CAD-4C21-93ED-0EAD025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13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4A37474-2DFE-4FC7-8605-F9C982EB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710cda23d453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26A39C8-24AE-4AE7-A150-DC6D2B0B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19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87369CF7-88F5-47BC-964C-E4274F55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05B08FD3-BA58-40E2-8497-AEB6DD8A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0E9C1AF3-7E4F-46A5-BEC7-3758FB4E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Pixels and bitmaps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ABD82E2F-395D-4AE6-8AC9-3BD11E58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63C76B9-A459-4DBC-8E4A-81D4255C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Colour depth and resolution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5021B67F-6DE1-47CF-8FF9-65B69721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919504B0-6212-4240-B188-AC1B6F30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Metadata and file size</a:t>
            </a:r>
          </a:p>
        </p:txBody>
      </p:sp>
    </p:spTree>
    <p:extLst>
      <p:ext uri="{BB962C8B-B14F-4D97-AF65-F5344CB8AC3E}">
        <p14:creationId xmlns:p14="http://schemas.microsoft.com/office/powerpoint/2010/main" val="171161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2026-09-25T13:18:21.2340000Z</dcterms:created>
  <dcterms:modified xsi:type="dcterms:W3CDTF">2026-09-25T13:18:21.2340000Z</dcterms:modified>
</coreProperties>
</file>