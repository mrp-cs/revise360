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Truth table detectives.
Open the experience at revise360.co.uk and hand out BL_L02_TruthTableDetectives_Worksheet.docx.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Setting out a truth table.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Electric circuits.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NOT AND, NOT OR.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Three inputs.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NOT A AND (B OR C).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Four inputs.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at the front. Draw the empty table first and make the class tell you how many rows before a single 1 goes in.
The expression is deliberately not one the pupils are about to complete. The stations use (A AND B) AND NOT C and NOT A AND (B OR C); the exam practice is NOT P OR (Q AND R). A OR (NOT B) is none of them, and it is small enough to build live without losing the room.
The intermediate NOT B column is the move to insist on. Pupils who try to do a bracket in their heads are the ones who lose rows on an eight-mark table, and this is the moment to say so.
Say this out loud: Count the rows before you draw anything, and give every bracket a column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AND.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2, Electric circuits, and work through its example again, aloud, with the class watching, then re-ask this question.
The course's own response to a wrong answer here: Current can only flow if both switches are closed.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(bl-l02-s2-c1),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2.4 Boolean logic  |  Lesson 2</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Truth table detectives</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A truth table shows the output of a circuit for every possible combination of inputs. Learn how to set one out, then solve one- and two-level circuits using intermediate columns.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 you complete a truth table?</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to complete truth tables from one- and two-level logic diagrams</a:t>
            </a:r>
            <a:endParaRPr lang="en-US" sz="1900" dirty="0"/>
          </a:p>
        </p:txBody>
      </p:sp>
      <p:sp>
        <p:nvSpPr>
          <p:cNvPr id="10" name="Text 8"/>
          <p:cNvSpPr txBox="1"/>
          <p:nvPr/>
        </p:nvSpPr>
        <p:spPr>
          <a:xfrm>
            <a:off x="548640" y="3218688"/>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1" name="Shape 9"/>
          <p:cNvSpPr/>
          <p:nvPr/>
        </p:nvSpPr>
        <p:spPr>
          <a:xfrm>
            <a:off x="548640" y="3602736"/>
            <a:ext cx="2066544" cy="402336"/>
          </a:xfrm>
          <a:prstGeom prst="roundRect">
            <a:avLst>
              <a:gd name="adj" fmla="val 50000"/>
            </a:avLst>
          </a:prstGeom>
          <a:solidFill>
            <a:srgbClr val="FFFFFF"/>
          </a:solidFill>
          <a:ln w="12700">
            <a:solidFill>
              <a:srgbClr val="2D63FF"/>
            </a:solidFill>
            <a:prstDash val="solid"/>
          </a:ln>
        </p:spPr>
      </p:sp>
      <p:sp>
        <p:nvSpPr>
          <p:cNvPr id="12" name="Text 10"/>
          <p:cNvSpPr txBox="1"/>
          <p:nvPr/>
        </p:nvSpPr>
        <p:spPr>
          <a:xfrm>
            <a:off x="548640" y="3602736"/>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Truth table</a:t>
            </a:r>
            <a:endParaRPr lang="en-US" sz="1200" dirty="0"/>
          </a:p>
        </p:txBody>
      </p:sp>
      <p:sp>
        <p:nvSpPr>
          <p:cNvPr id="13" name="Shape 11"/>
          <p:cNvSpPr/>
          <p:nvPr/>
        </p:nvSpPr>
        <p:spPr>
          <a:xfrm>
            <a:off x="2743200" y="3602736"/>
            <a:ext cx="1188720" cy="402336"/>
          </a:xfrm>
          <a:prstGeom prst="roundRect">
            <a:avLst>
              <a:gd name="adj" fmla="val 50000"/>
            </a:avLst>
          </a:prstGeom>
          <a:solidFill>
            <a:srgbClr val="FFFFFF"/>
          </a:solidFill>
          <a:ln w="12700">
            <a:solidFill>
              <a:srgbClr val="2D63FF"/>
            </a:solidFill>
            <a:prstDash val="solid"/>
          </a:ln>
        </p:spPr>
      </p:sp>
      <p:sp>
        <p:nvSpPr>
          <p:cNvPr id="14" name="Text 12"/>
          <p:cNvSpPr txBox="1"/>
          <p:nvPr/>
        </p:nvSpPr>
        <p:spPr>
          <a:xfrm>
            <a:off x="2743200" y="3602736"/>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Input</a:t>
            </a:r>
            <a:endParaRPr lang="en-US" sz="1200" dirty="0"/>
          </a:p>
        </p:txBody>
      </p:sp>
      <p:sp>
        <p:nvSpPr>
          <p:cNvPr id="15" name="Shape 13"/>
          <p:cNvSpPr/>
          <p:nvPr/>
        </p:nvSpPr>
        <p:spPr>
          <a:xfrm>
            <a:off x="4059936" y="3602736"/>
            <a:ext cx="1335024" cy="402336"/>
          </a:xfrm>
          <a:prstGeom prst="roundRect">
            <a:avLst>
              <a:gd name="adj" fmla="val 50000"/>
            </a:avLst>
          </a:prstGeom>
          <a:solidFill>
            <a:srgbClr val="FFFFFF"/>
          </a:solidFill>
          <a:ln w="12700">
            <a:solidFill>
              <a:srgbClr val="2D63FF"/>
            </a:solidFill>
            <a:prstDash val="solid"/>
          </a:ln>
        </p:spPr>
      </p:sp>
      <p:sp>
        <p:nvSpPr>
          <p:cNvPr id="16" name="Text 14"/>
          <p:cNvSpPr txBox="1"/>
          <p:nvPr/>
        </p:nvSpPr>
        <p:spPr>
          <a:xfrm>
            <a:off x="4059936" y="3602736"/>
            <a:ext cx="133502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Output</a:t>
            </a:r>
            <a:endParaRPr lang="en-US" sz="1200" dirty="0"/>
          </a:p>
        </p:txBody>
      </p:sp>
      <p:sp>
        <p:nvSpPr>
          <p:cNvPr id="17" name="Shape 15"/>
          <p:cNvSpPr/>
          <p:nvPr/>
        </p:nvSpPr>
        <p:spPr>
          <a:xfrm>
            <a:off x="5522976" y="3602736"/>
            <a:ext cx="2212848"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522976" y="3602736"/>
            <a:ext cx="221284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Intermediate</a:t>
            </a:r>
            <a:endParaRPr lang="en-US" sz="1200" dirty="0"/>
          </a:p>
        </p:txBody>
      </p:sp>
      <p:sp>
        <p:nvSpPr>
          <p:cNvPr id="19" name="Shape 17"/>
          <p:cNvSpPr/>
          <p:nvPr/>
        </p:nvSpPr>
        <p:spPr>
          <a:xfrm>
            <a:off x="7863840" y="3602736"/>
            <a:ext cx="2066544"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7863840" y="3602736"/>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Combination</a:t>
            </a:r>
            <a:endParaRPr lang="en-US" sz="1200" dirty="0"/>
          </a:p>
        </p:txBody>
      </p:sp>
      <p:sp>
        <p:nvSpPr>
          <p:cNvPr id="21" name="Shape 19"/>
          <p:cNvSpPr/>
          <p:nvPr/>
        </p:nvSpPr>
        <p:spPr>
          <a:xfrm>
            <a:off x="10058400" y="3602736"/>
            <a:ext cx="1481328"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10058400" y="3602736"/>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2ⁿ rows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microwave only runs when the door is shut and the start button is pressed. A car beeps if either front door is open. Which logic gate does each one behave like?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Truth table detectives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Setting out a truth table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List every combination of inputs. Each input doubles the rows: 2 inputs give 4 rows, 3 give 8, 4 give 16.</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Count up in binary: 00, 01, 10, 11.</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Then work out the output for each row.</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many rows would a truth table with 5 inputs need?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complete a truth table, you...</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Electric circuits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Two switches in a row (series): the bulb lights only if both are on. That's AND.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Two switches side by side (parallel): the bulb lights if either is on. That's OR.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Design a circuit with switches that behaves like an OR gate.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Switches in series... Switches in parallel...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NOT AND, NOT OR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NOT (A AND B): work out A AND B, then reverse every result.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NOT (A OR B): work out A OR B, then reverse every result.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intermediate column for the bracket makes this easier.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Complete both truth tables at this station.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find NOT (A AND B)...</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Three inputs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With three inputs there are 8 rows.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Use intermediate columns for each gate.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AND B) AND NOT C: work out A AND B, then NOT C, then AND them together.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rows of (A AND B) AND NOT C output 1?</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With three inputs...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NOT A AND (B OR C)</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Work out NOT A in one column and B OR C in another.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Then AND those two columns together.</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 output is 1 only when A is 0 and at least one of B and C is 1.</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every row where A = 1 gives an output of 0.</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For NOT A AND (B OR C)...</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Four inputs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Four inputs need 16 rows.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Group the inputs: (A OR B) and (C AND D) can be worked out separately.</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Then combine the two intermediate columns.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expression for the diagram in the experience.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With four inputs...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Watch me build one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 different expression from yours, so you get the method and not the answer</a:t>
            </a:r>
            <a:endParaRPr lang="en-US" sz="1500" dirty="0"/>
          </a:p>
        </p:txBody>
      </p:sp>
      <p:sp>
        <p:nvSpPr>
          <p:cNvPr id="7" name="Shape 5"/>
          <p:cNvSpPr/>
          <p:nvPr/>
        </p:nvSpPr>
        <p:spPr>
          <a:xfrm>
            <a:off x="502920" y="1719072"/>
            <a:ext cx="3566160" cy="2351853"/>
          </a:xfrm>
          <a:prstGeom prst="roundRect">
            <a:avLst>
              <a:gd name="adj" fmla="val 4666"/>
            </a:avLst>
          </a:prstGeom>
          <a:solidFill>
            <a:srgbClr val="FFFFFF"/>
          </a:solidFill>
          <a:ln w="15875">
            <a:solidFill>
              <a:srgbClr val="D9DEE7"/>
            </a:solidFill>
            <a:prstDash val="solid"/>
          </a:ln>
        </p:spPr>
      </p:sp>
      <p:sp>
        <p:nvSpPr>
          <p:cNvPr id="8" name="Text 6"/>
          <p:cNvSpPr txBox="1"/>
          <p:nvPr/>
        </p:nvSpPr>
        <p:spPr>
          <a:xfrm>
            <a:off x="777240" y="1883664"/>
            <a:ext cx="3017520" cy="292608"/>
          </a:xfrm>
          <a:prstGeom prst="rect">
            <a:avLst/>
          </a:prstGeom>
          <a:noFill/>
          <a:ln/>
        </p:spPr>
        <p:txBody>
          <a:bodyPr wrap="square" lIns="0" tIns="0" rIns="0" bIns="0" rtlCol="0" anchor="ctr"/>
          <a:lstStyle/>
          <a:p>
            <a:pPr indent="0" marL="0">
              <a:buNone/>
            </a:pPr>
            <a:r>
              <a:rPr lang="en-US" sz="1100" b="1" dirty="0">
                <a:solidFill>
                  <a:srgbClr val="667085"/>
                </a:solidFill>
                <a:latin typeface="IBM Plex Mono" pitchFamily="34" charset="0"/>
                <a:ea typeface="IBM Plex Mono" pitchFamily="34" charset="-122"/>
                <a:cs typeface="IBM Plex Mono" pitchFamily="34" charset="-120"/>
              </a:rPr>
              <a:t>THE EXPRESSION</a:t>
            </a:r>
            <a:endParaRPr lang="en-US" sz="1100" dirty="0"/>
          </a:p>
        </p:txBody>
      </p:sp>
      <p:sp>
        <p:nvSpPr>
          <p:cNvPr id="9" name="Text 7"/>
          <p:cNvSpPr txBox="1"/>
          <p:nvPr/>
        </p:nvSpPr>
        <p:spPr>
          <a:xfrm>
            <a:off x="777240" y="2231136"/>
            <a:ext cx="3017520" cy="1693485"/>
          </a:xfrm>
          <a:prstGeom prst="rect">
            <a:avLst/>
          </a:prstGeom>
          <a:noFill/>
          <a:ln/>
        </p:spPr>
        <p:txBody>
          <a:bodyPr wrap="square" lIns="0" tIns="0" rIns="0" bIns="0" rtlCol="0" anchor="t"/>
          <a:lstStyle/>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Complete a truth table for</a:t>
            </a:r>
            <a:endParaRPr lang="en-US" sz="1200" dirty="0"/>
          </a:p>
          <a:p>
            <a:pPr indent="0" marL="0">
              <a:lnSpc>
                <a:spcPct val="118000"/>
              </a:lnSpc>
              <a:buNone/>
            </a:pPr>
            <a:endParaRPr lang="en-US" sz="1200" dirty="0"/>
          </a:p>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Q = A OR (NOT B)</a:t>
            </a:r>
            <a:endParaRPr lang="en-US" sz="1200" dirty="0"/>
          </a:p>
        </p:txBody>
      </p:sp>
      <p:sp>
        <p:nvSpPr>
          <p:cNvPr id="10" name="Shape 8"/>
          <p:cNvSpPr/>
          <p:nvPr/>
        </p:nvSpPr>
        <p:spPr>
          <a:xfrm>
            <a:off x="4297680" y="1719072"/>
            <a:ext cx="3566160" cy="2351853"/>
          </a:xfrm>
          <a:prstGeom prst="roundRect">
            <a:avLst>
              <a:gd name="adj" fmla="val 4666"/>
            </a:avLst>
          </a:prstGeom>
          <a:solidFill>
            <a:srgbClr val="FFFFFF"/>
          </a:solidFill>
          <a:ln w="15875">
            <a:solidFill>
              <a:srgbClr val="D9DEE7"/>
            </a:solidFill>
            <a:prstDash val="solid"/>
          </a:ln>
        </p:spPr>
      </p:sp>
      <p:sp>
        <p:nvSpPr>
          <p:cNvPr id="11" name="Text 9"/>
          <p:cNvSpPr txBox="1"/>
          <p:nvPr/>
        </p:nvSpPr>
        <p:spPr>
          <a:xfrm>
            <a:off x="4572000" y="1883664"/>
            <a:ext cx="3017520" cy="292608"/>
          </a:xfrm>
          <a:prstGeom prst="rect">
            <a:avLst/>
          </a:prstGeom>
          <a:noFill/>
          <a:ln/>
        </p:spPr>
        <p:txBody>
          <a:bodyPr wrap="square" lIns="0" tIns="0" rIns="0" bIns="0" rtlCol="0" anchor="ctr"/>
          <a:lstStyle/>
          <a:p>
            <a:pPr indent="0" marL="0">
              <a:buNone/>
            </a:pPr>
            <a:r>
              <a:rPr lang="en-US" sz="1100" b="1" dirty="0">
                <a:solidFill>
                  <a:srgbClr val="667085"/>
                </a:solidFill>
                <a:latin typeface="IBM Plex Mono" pitchFamily="34" charset="0"/>
                <a:ea typeface="IBM Plex Mono" pitchFamily="34" charset="-122"/>
                <a:cs typeface="IBM Plex Mono" pitchFamily="34" charset="-120"/>
              </a:rPr>
              <a:t>WHAT I'M THINKING</a:t>
            </a:r>
            <a:endParaRPr lang="en-US" sz="1100" dirty="0"/>
          </a:p>
        </p:txBody>
      </p:sp>
      <p:sp>
        <p:nvSpPr>
          <p:cNvPr id="12" name="Text 10"/>
          <p:cNvSpPr txBox="1"/>
          <p:nvPr/>
        </p:nvSpPr>
        <p:spPr>
          <a:xfrm>
            <a:off x="4572000" y="2231136"/>
            <a:ext cx="3017520" cy="1693485"/>
          </a:xfrm>
          <a:prstGeom prst="rect">
            <a:avLst/>
          </a:prstGeom>
          <a:noFill/>
          <a:ln/>
        </p:spPr>
        <p:txBody>
          <a:bodyPr wrap="square" lIns="0" tIns="0" rIns="0" bIns="0" rtlCol="0" anchor="t"/>
          <a:lstStyle/>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Two inputs, so 2 x 2 = 4 rows. Always count the rows first.</a:t>
            </a:r>
            <a:endParaRPr lang="en-US" sz="1200" dirty="0"/>
          </a:p>
          <a:p>
            <a:pPr indent="0" marL="0">
              <a:lnSpc>
                <a:spcPct val="118000"/>
              </a:lnSpc>
              <a:buNone/>
            </a:pPr>
            <a:endParaRPr lang="en-US" sz="1200" dirty="0"/>
          </a:p>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The brackets go first, so NOT B is a column of its own before Q.</a:t>
            </a:r>
            <a:endParaRPr lang="en-US" sz="1200" dirty="0"/>
          </a:p>
          <a:p>
            <a:pPr indent="0" marL="0">
              <a:lnSpc>
                <a:spcPct val="118000"/>
              </a:lnSpc>
              <a:buNone/>
            </a:pPr>
            <a:endParaRPr lang="en-US" sz="1200" dirty="0"/>
          </a:p>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An extra column is free marks, not extra work.</a:t>
            </a:r>
            <a:endParaRPr lang="en-US" sz="1200" dirty="0"/>
          </a:p>
        </p:txBody>
      </p:sp>
      <p:sp>
        <p:nvSpPr>
          <p:cNvPr id="13" name="Shape 11"/>
          <p:cNvSpPr/>
          <p:nvPr/>
        </p:nvSpPr>
        <p:spPr>
          <a:xfrm>
            <a:off x="8092440" y="1719072"/>
            <a:ext cx="3566160" cy="2351853"/>
          </a:xfrm>
          <a:prstGeom prst="roundRect">
            <a:avLst>
              <a:gd name="adj" fmla="val 4666"/>
            </a:avLst>
          </a:prstGeom>
          <a:solidFill>
            <a:srgbClr val="FFFFFF"/>
          </a:solidFill>
          <a:ln w="15875">
            <a:solidFill>
              <a:srgbClr val="D9DEE7"/>
            </a:solidFill>
            <a:prstDash val="solid"/>
          </a:ln>
        </p:spPr>
      </p:sp>
      <p:sp>
        <p:nvSpPr>
          <p:cNvPr id="14" name="Text 12"/>
          <p:cNvSpPr txBox="1"/>
          <p:nvPr/>
        </p:nvSpPr>
        <p:spPr>
          <a:xfrm>
            <a:off x="8366760" y="1883664"/>
            <a:ext cx="3017520" cy="292608"/>
          </a:xfrm>
          <a:prstGeom prst="rect">
            <a:avLst/>
          </a:prstGeom>
          <a:noFill/>
          <a:ln/>
        </p:spPr>
        <p:txBody>
          <a:bodyPr wrap="square" lIns="0" tIns="0" rIns="0" bIns="0" rtlCol="0" anchor="ctr"/>
          <a:lstStyle/>
          <a:p>
            <a:pPr indent="0" marL="0">
              <a:buNone/>
            </a:pPr>
            <a:r>
              <a:rPr lang="en-US" sz="1100" b="1" dirty="0">
                <a:solidFill>
                  <a:srgbClr val="667085"/>
                </a:solidFill>
                <a:latin typeface="IBM Plex Mono" pitchFamily="34" charset="0"/>
                <a:ea typeface="IBM Plex Mono" pitchFamily="34" charset="-122"/>
                <a:cs typeface="IBM Plex Mono" pitchFamily="34" charset="-120"/>
              </a:rPr>
              <a:t>HOW I BUILD IT</a:t>
            </a:r>
            <a:endParaRPr lang="en-US" sz="1100" dirty="0"/>
          </a:p>
        </p:txBody>
      </p:sp>
      <p:sp>
        <p:nvSpPr>
          <p:cNvPr id="15" name="Text 13"/>
          <p:cNvSpPr txBox="1"/>
          <p:nvPr/>
        </p:nvSpPr>
        <p:spPr>
          <a:xfrm>
            <a:off x="8366760" y="2231136"/>
            <a:ext cx="3017520" cy="1693485"/>
          </a:xfrm>
          <a:prstGeom prst="rect">
            <a:avLst/>
          </a:prstGeom>
          <a:noFill/>
          <a:ln/>
        </p:spPr>
        <p:txBody>
          <a:bodyPr wrap="square" lIns="0" tIns="0" rIns="0" bIns="0" rtlCol="0" anchor="t"/>
          <a:lstStyle/>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List A and B in binary counting order: 00, 01, 10, 11. Never invent an order.</a:t>
            </a:r>
            <a:endParaRPr lang="en-US" sz="1200" dirty="0"/>
          </a:p>
          <a:p>
            <a:pPr indent="0" marL="0">
              <a:lnSpc>
                <a:spcPct val="118000"/>
              </a:lnSpc>
              <a:buNone/>
            </a:pPr>
            <a:endParaRPr lang="en-US" sz="1200" dirty="0"/>
          </a:p>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Fill NOT B by flipping B.</a:t>
            </a:r>
            <a:endParaRPr lang="en-US" sz="1200" dirty="0"/>
          </a:p>
          <a:p>
            <a:pPr indent="0" marL="0">
              <a:lnSpc>
                <a:spcPct val="118000"/>
              </a:lnSpc>
              <a:buNone/>
            </a:pPr>
            <a:endParaRPr lang="en-US" sz="1200" dirty="0"/>
          </a:p>
          <a:p>
            <a:pPr indent="0" marL="0">
              <a:lnSpc>
                <a:spcPct val="118000"/>
              </a:lnSpc>
              <a:buNone/>
            </a:pPr>
            <a:r>
              <a:rPr lang="en-US" sz="1200" dirty="0">
                <a:solidFill>
                  <a:srgbClr val="101828"/>
                </a:solidFill>
                <a:latin typeface="IBM Plex Sans" pitchFamily="34" charset="0"/>
                <a:ea typeface="IBM Plex Sans" pitchFamily="34" charset="-122"/>
                <a:cs typeface="IBM Plex Sans" pitchFamily="34" charset="-120"/>
              </a:rPr>
              <a:t>Then Q = A OR (NOT B): 1 if either side is 1.</a:t>
            </a:r>
            <a:endParaRPr lang="en-US" sz="1200" dirty="0"/>
          </a:p>
        </p:txBody>
      </p:sp>
      <p:sp>
        <p:nvSpPr>
          <p:cNvPr id="16" name="Shape 14"/>
          <p:cNvSpPr/>
          <p:nvPr/>
        </p:nvSpPr>
        <p:spPr>
          <a:xfrm>
            <a:off x="502920" y="4208085"/>
            <a:ext cx="11155680" cy="2128707"/>
          </a:xfrm>
          <a:prstGeom prst="roundRect">
            <a:avLst>
              <a:gd name="adj" fmla="val 5155"/>
            </a:avLst>
          </a:prstGeom>
          <a:solidFill>
            <a:srgbClr val="FFFFFF"/>
          </a:solidFill>
          <a:ln w="15875">
            <a:solidFill>
              <a:srgbClr val="08A6A6"/>
            </a:solidFill>
            <a:prstDash val="solid"/>
          </a:ln>
        </p:spPr>
      </p:sp>
      <p:sp>
        <p:nvSpPr>
          <p:cNvPr id="17" name="Text 15"/>
          <p:cNvSpPr txBox="1"/>
          <p:nvPr/>
        </p:nvSpPr>
        <p:spPr>
          <a:xfrm>
            <a:off x="868680" y="4372677"/>
            <a:ext cx="10424160" cy="292608"/>
          </a:xfrm>
          <a:prstGeom prst="rect">
            <a:avLst/>
          </a:prstGeom>
          <a:noFill/>
          <a:ln/>
        </p:spPr>
        <p:txBody>
          <a:bodyPr wrap="square" lIns="0" tIns="0" rIns="0" bIns="0" rtlCol="0" anchor="ctr"/>
          <a:lstStyle/>
          <a:p>
            <a:pPr indent="0" marL="0">
              <a:buNone/>
            </a:pPr>
            <a:r>
              <a:rPr lang="en-US" sz="1100" b="1" dirty="0">
                <a:solidFill>
                  <a:srgbClr val="08A6A6"/>
                </a:solidFill>
                <a:latin typeface="IBM Plex Mono" pitchFamily="34" charset="0"/>
                <a:ea typeface="IBM Plex Mono" pitchFamily="34" charset="-122"/>
                <a:cs typeface="IBM Plex Mono" pitchFamily="34" charset="-120"/>
              </a:rPr>
              <a:t>THE FINISHED TABLE</a:t>
            </a:r>
            <a:endParaRPr lang="en-US" sz="1100" dirty="0"/>
          </a:p>
        </p:txBody>
      </p:sp>
      <p:sp>
        <p:nvSpPr>
          <p:cNvPr id="18" name="Text 16"/>
          <p:cNvSpPr txBox="1"/>
          <p:nvPr/>
        </p:nvSpPr>
        <p:spPr>
          <a:xfrm>
            <a:off x="868680" y="4720149"/>
            <a:ext cx="10424160" cy="1506915"/>
          </a:xfrm>
          <a:prstGeom prst="rect">
            <a:avLst/>
          </a:prstGeom>
          <a:noFill/>
          <a:ln/>
        </p:spPr>
        <p:txBody>
          <a:bodyPr wrap="square" lIns="0" tIns="0" rIns="0" bIns="0" rtlCol="0" anchor="t"/>
          <a:lstStyle/>
          <a:p>
            <a:pPr indent="0" marL="0">
              <a:lnSpc>
                <a:spcPct val="120000"/>
              </a:lnSpc>
              <a:buNone/>
            </a:pPr>
            <a:r>
              <a:rPr lang="en-US" sz="1200" dirty="0">
                <a:solidFill>
                  <a:srgbClr val="101828"/>
                </a:solidFill>
                <a:latin typeface="IBM Plex Sans" pitchFamily="34" charset="0"/>
                <a:ea typeface="IBM Plex Sans" pitchFamily="34" charset="-122"/>
                <a:cs typeface="IBM Plex Sans" pitchFamily="34" charset="-120"/>
              </a:rPr>
              <a:t>A    B    NOT B    Q = A OR (NOT B)</a:t>
            </a:r>
            <a:endParaRPr lang="en-US" sz="1200" dirty="0"/>
          </a:p>
          <a:p>
            <a:pPr indent="0" marL="0">
              <a:lnSpc>
                <a:spcPct val="120000"/>
              </a:lnSpc>
              <a:buNone/>
            </a:pPr>
            <a:r>
              <a:rPr lang="en-US" sz="1200" dirty="0">
                <a:solidFill>
                  <a:srgbClr val="101828"/>
                </a:solidFill>
                <a:latin typeface="IBM Plex Sans" pitchFamily="34" charset="0"/>
                <a:ea typeface="IBM Plex Sans" pitchFamily="34" charset="-122"/>
                <a:cs typeface="IBM Plex Sans" pitchFamily="34" charset="-120"/>
              </a:rPr>
              <a:t>0    0      1              1</a:t>
            </a:r>
            <a:endParaRPr lang="en-US" sz="1200" dirty="0"/>
          </a:p>
          <a:p>
            <a:pPr indent="0" marL="0">
              <a:lnSpc>
                <a:spcPct val="120000"/>
              </a:lnSpc>
              <a:buNone/>
            </a:pPr>
            <a:r>
              <a:rPr lang="en-US" sz="1200" dirty="0">
                <a:solidFill>
                  <a:srgbClr val="101828"/>
                </a:solidFill>
                <a:latin typeface="IBM Plex Sans" pitchFamily="34" charset="0"/>
                <a:ea typeface="IBM Plex Sans" pitchFamily="34" charset="-122"/>
                <a:cs typeface="IBM Plex Sans" pitchFamily="34" charset="-120"/>
              </a:rPr>
              <a:t>0    1      0              0</a:t>
            </a:r>
            <a:endParaRPr lang="en-US" sz="1200" dirty="0"/>
          </a:p>
          <a:p>
            <a:pPr indent="0" marL="0">
              <a:lnSpc>
                <a:spcPct val="120000"/>
              </a:lnSpc>
              <a:buNone/>
            </a:pPr>
            <a:r>
              <a:rPr lang="en-US" sz="1200" dirty="0">
                <a:solidFill>
                  <a:srgbClr val="101828"/>
                </a:solidFill>
                <a:latin typeface="IBM Plex Sans" pitchFamily="34" charset="0"/>
                <a:ea typeface="IBM Plex Sans" pitchFamily="34" charset="-122"/>
                <a:cs typeface="IBM Plex Sans" pitchFamily="34" charset="-120"/>
              </a:rPr>
              <a:t>1    0      1              1</a:t>
            </a:r>
            <a:endParaRPr lang="en-US" sz="1200" dirty="0"/>
          </a:p>
          <a:p>
            <a:pPr indent="0" marL="0">
              <a:lnSpc>
                <a:spcPct val="120000"/>
              </a:lnSpc>
              <a:buNone/>
            </a:pPr>
            <a:r>
              <a:rPr lang="en-US" sz="1200" dirty="0">
                <a:solidFill>
                  <a:srgbClr val="101828"/>
                </a:solidFill>
                <a:latin typeface="IBM Plex Sans" pitchFamily="34" charset="0"/>
                <a:ea typeface="IBM Plex Sans" pitchFamily="34" charset="-122"/>
                <a:cs typeface="IBM Plex Sans" pitchFamily="34" charset="-120"/>
              </a:rPr>
              <a:t>1    1      0              1</a:t>
            </a:r>
            <a:endParaRPr lang="en-US" sz="1200" dirty="0"/>
          </a:p>
          <a:p>
            <a:pPr indent="0" marL="0">
              <a:lnSpc>
                <a:spcPct val="120000"/>
              </a:lnSpc>
              <a:buNone/>
            </a:pPr>
            <a:endParaRPr lang="en-US" sz="1200" dirty="0"/>
          </a:p>
          <a:p>
            <a:pPr indent="0" marL="0">
              <a:lnSpc>
                <a:spcPct val="120000"/>
              </a:lnSpc>
              <a:buNone/>
            </a:pPr>
            <a:r>
              <a:rPr lang="en-US" sz="1200" dirty="0">
                <a:solidFill>
                  <a:srgbClr val="101828"/>
                </a:solidFill>
                <a:latin typeface="IBM Plex Sans" pitchFamily="34" charset="0"/>
                <a:ea typeface="IBM Plex Sans" pitchFamily="34" charset="-122"/>
                <a:cs typeface="IBM Plex Sans" pitchFamily="34" charset="-120"/>
              </a:rPr>
              <a:t>Only one row gives 0, and it is the row where A is off and B is 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Two switches in series control a bulb. Which gate does this represent?</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NOT</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None</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AND</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OR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Detective's table</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Complete the full truth table, using the intermediate columns to help you.</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Binary counting</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input columns of a truth table are just binary numbers counting up: 000, 001, 010 and so on. That's why there are 2ⁿ rows.</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De Morgan's law</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NOT (A AND B) always gives the same result as NOT A OR NOT B. This rule, called De Morgan's law, lets engineers simplify circuits.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Light switches</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The two-way light switches at the top and bottom of many staircases work like an XOR gate: flipping either switch changes the light.</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Truth tables everywhere</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Engineers use truth tables to test that circuits do exactly what they should, before building them.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how many rows a truth table needs for four inputs.</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[1]</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Complete a truth table for Q = NOT P OR (Q AND R) on the back of this sheet.</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[8]</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Setting out a truth table</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One-level truth tables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Two-level truth tables with intermediate columns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Truth table detectives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2.4 Boolean logic  |  Lesson 2 — Truth table detectives</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