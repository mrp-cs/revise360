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74feb521c24556" /><Relationship Type="http://schemas.openxmlformats.org/officeDocument/2006/relationships/extended-properties" Target="/docProps/app.xml" Id="R021181e1a2404920" /><Relationship Type="http://schemas.openxmlformats.org/officeDocument/2006/relationships/officeDocument" Target="/ppt/presentation.xml" Id="R8a5576083fc14c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91e76b63004bf3"/>
  </p:sldMasterIdLst>
  <p:notesMasterIdLst>
    <p:notesMasterId xmlns:r="http://schemas.openxmlformats.org/officeDocument/2006/relationships" r:id="Rf6e728a5d3724dee"/>
  </p:notesMasterIdLst>
  <p:sldIdLst>
    <p:sldId xmlns:r="http://schemas.openxmlformats.org/officeDocument/2006/relationships" id="256" r:id="Rd084ed6da1fd496d"/>
    <p:sldId xmlns:r="http://schemas.openxmlformats.org/officeDocument/2006/relationships" id="257" r:id="R3fe5674e3aa64984"/>
    <p:sldId xmlns:r="http://schemas.openxmlformats.org/officeDocument/2006/relationships" id="258" r:id="R60ae8e5c2daf4d03"/>
    <p:sldId xmlns:r="http://schemas.openxmlformats.org/officeDocument/2006/relationships" id="259" r:id="R4e97d43c6bfd43fb"/>
    <p:sldId xmlns:r="http://schemas.openxmlformats.org/officeDocument/2006/relationships" id="260" r:id="Re7c956e89a3341e1"/>
    <p:sldId xmlns:r="http://schemas.openxmlformats.org/officeDocument/2006/relationships" id="261" r:id="Raf6fc22757fa4baa"/>
    <p:sldId xmlns:r="http://schemas.openxmlformats.org/officeDocument/2006/relationships" id="262" r:id="R1b93cc4464e04ffe"/>
    <p:sldId xmlns:r="http://schemas.openxmlformats.org/officeDocument/2006/relationships" id="263" r:id="Re02e1d5a2d0b43d0"/>
    <p:sldId xmlns:r="http://schemas.openxmlformats.org/officeDocument/2006/relationships" id="264" r:id="R93ff254de74440c9"/>
    <p:sldId xmlns:r="http://schemas.openxmlformats.org/officeDocument/2006/relationships" id="265" r:id="R0ed787341dbe40a1"/>
    <p:sldId xmlns:r="http://schemas.openxmlformats.org/officeDocument/2006/relationships" id="266" r:id="R21a1c12cfcab4f2e"/>
    <p:sldId xmlns:r="http://schemas.openxmlformats.org/officeDocument/2006/relationships" id="267" r:id="R666f526aa3a54e3e"/>
    <p:sldId xmlns:r="http://schemas.openxmlformats.org/officeDocument/2006/relationships" id="268" r:id="R131fb22181b84707"/>
    <p:sldId xmlns:r="http://schemas.openxmlformats.org/officeDocument/2006/relationships" id="269" r:id="R2f39680f08e246ee"/>
    <p:sldId xmlns:r="http://schemas.openxmlformats.org/officeDocument/2006/relationships" id="270" r:id="R54e897eb8a6a4342"/>
    <p:sldId xmlns:r="http://schemas.openxmlformats.org/officeDocument/2006/relationships" id="271" r:id="Rcdaf8ba35338408f"/>
    <p:sldId xmlns:r="http://schemas.openxmlformats.org/officeDocument/2006/relationships" id="272" r:id="R0e0b46af4d084103"/>
    <p:sldId xmlns:r="http://schemas.openxmlformats.org/officeDocument/2006/relationships" id="273" r:id="R884aba6e6dd741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ed1d0b1ab74cb6" /><Relationship Type="http://schemas.openxmlformats.org/officeDocument/2006/relationships/slideMaster" Target="/ppt/slideMasters/slideMaster1.xml" Id="R9191e76b63004bf3" /><Relationship Type="http://schemas.openxmlformats.org/officeDocument/2006/relationships/notesMaster" Target="/ppt/notesMasters/notesMaster1.xml" Id="Rf6e728a5d3724dee" /><Relationship Type="http://schemas.openxmlformats.org/officeDocument/2006/relationships/presProps" Target="/ppt/presProps.xml" Id="R0b3a699226e2494c" /><Relationship Type="http://schemas.openxmlformats.org/officeDocument/2006/relationships/tableStyles" Target="/ppt/tableStyles.xml" Id="R9b1707a9bbdc408e" /><Relationship Type="http://schemas.openxmlformats.org/officeDocument/2006/relationships/slide" Target="/ppt/slides/slide1.xml" Id="Rd084ed6da1fd496d" /><Relationship Type="http://schemas.openxmlformats.org/officeDocument/2006/relationships/slide" Target="/ppt/slides/slide2.xml" Id="R3fe5674e3aa64984" /><Relationship Type="http://schemas.openxmlformats.org/officeDocument/2006/relationships/slide" Target="/ppt/slides/slide3.xml" Id="R60ae8e5c2daf4d03" /><Relationship Type="http://schemas.openxmlformats.org/officeDocument/2006/relationships/slide" Target="/ppt/slides/slide4.xml" Id="R4e97d43c6bfd43fb" /><Relationship Type="http://schemas.openxmlformats.org/officeDocument/2006/relationships/slide" Target="/ppt/slides/slide5.xml" Id="Re7c956e89a3341e1" /><Relationship Type="http://schemas.openxmlformats.org/officeDocument/2006/relationships/slide" Target="/ppt/slides/slide6.xml" Id="Raf6fc22757fa4baa" /><Relationship Type="http://schemas.openxmlformats.org/officeDocument/2006/relationships/slide" Target="/ppt/slides/slide7.xml" Id="R1b93cc4464e04ffe" /><Relationship Type="http://schemas.openxmlformats.org/officeDocument/2006/relationships/slide" Target="/ppt/slides/slide8.xml" Id="Re02e1d5a2d0b43d0" /><Relationship Type="http://schemas.openxmlformats.org/officeDocument/2006/relationships/slide" Target="/ppt/slides/slide9.xml" Id="R93ff254de74440c9" /><Relationship Type="http://schemas.openxmlformats.org/officeDocument/2006/relationships/slide" Target="/ppt/slides/slide10.xml" Id="R0ed787341dbe40a1" /><Relationship Type="http://schemas.openxmlformats.org/officeDocument/2006/relationships/slide" Target="/ppt/slides/slide11.xml" Id="R21a1c12cfcab4f2e" /><Relationship Type="http://schemas.openxmlformats.org/officeDocument/2006/relationships/slide" Target="/ppt/slides/slide12.xml" Id="R666f526aa3a54e3e" /><Relationship Type="http://schemas.openxmlformats.org/officeDocument/2006/relationships/slide" Target="/ppt/slides/slide13.xml" Id="R131fb22181b84707" /><Relationship Type="http://schemas.openxmlformats.org/officeDocument/2006/relationships/slide" Target="/ppt/slides/slide14.xml" Id="R2f39680f08e246ee" /><Relationship Type="http://schemas.openxmlformats.org/officeDocument/2006/relationships/slide" Target="/ppt/slides/slide15.xml" Id="R54e897eb8a6a4342" /><Relationship Type="http://schemas.openxmlformats.org/officeDocument/2006/relationships/slide" Target="/ppt/slides/slide16.xml" Id="Rcdaf8ba35338408f" /><Relationship Type="http://schemas.openxmlformats.org/officeDocument/2006/relationships/slide" Target="/ppt/slides/slide17.xml" Id="R0e0b46af4d084103" /><Relationship Type="http://schemas.openxmlformats.org/officeDocument/2006/relationships/slide" Target="/ppt/slides/slide18.xml" Id="R884aba6e6dd741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433b1713f146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3b97e3db574cbb" /><Relationship Type="http://schemas.openxmlformats.org/officeDocument/2006/relationships/notesMaster" Target="/ppt/notesMasters/notesMaster1.xml" Id="R397f1788dffe44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1d19d28a7b4f96" /><Relationship Type="http://schemas.openxmlformats.org/officeDocument/2006/relationships/notesMaster" Target="/ppt/notesMasters/notesMaster1.xml" Id="R7e4dd8b06dcc44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9502d9eec4432f" /><Relationship Type="http://schemas.openxmlformats.org/officeDocument/2006/relationships/notesMaster" Target="/ppt/notesMasters/notesMaster1.xml" Id="R75bc180ccc9e43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4bb0ed62d94bfd" /><Relationship Type="http://schemas.openxmlformats.org/officeDocument/2006/relationships/notesMaster" Target="/ppt/notesMasters/notesMaster1.xml" Id="Ra1ebceb51e8548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95be799c9040d7" /><Relationship Type="http://schemas.openxmlformats.org/officeDocument/2006/relationships/notesMaster" Target="/ppt/notesMasters/notesMaster1.xml" Id="Rc4f35952885f4a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ac4185a6a8425f" /><Relationship Type="http://schemas.openxmlformats.org/officeDocument/2006/relationships/notesMaster" Target="/ppt/notesMasters/notesMaster1.xml" Id="R6a37a4eafc6b4e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9ee5c9a7784978" /><Relationship Type="http://schemas.openxmlformats.org/officeDocument/2006/relationships/notesMaster" Target="/ppt/notesMasters/notesMaster1.xml" Id="Re84a31c3a21e4e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49cc73bf414fee" /><Relationship Type="http://schemas.openxmlformats.org/officeDocument/2006/relationships/notesMaster" Target="/ppt/notesMasters/notesMaster1.xml" Id="R3167000f5b634a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a92b057561414b" /><Relationship Type="http://schemas.openxmlformats.org/officeDocument/2006/relationships/notesMaster" Target="/ppt/notesMasters/notesMaster1.xml" Id="R7d3c177dd3de4e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abb61b2d5d4fb3" /><Relationship Type="http://schemas.openxmlformats.org/officeDocument/2006/relationships/notesMaster" Target="/ppt/notesMasters/notesMaster1.xml" Id="R29d8c797fea94f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6bef2443774d15" /><Relationship Type="http://schemas.openxmlformats.org/officeDocument/2006/relationships/notesMaster" Target="/ppt/notesMasters/notesMaster1.xml" Id="Rf7ae9e50e15d49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837cc9f6e3418d" /><Relationship Type="http://schemas.openxmlformats.org/officeDocument/2006/relationships/notesMaster" Target="/ppt/notesMasters/notesMaster1.xml" Id="Rf5bd15c4ca3b4d1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ed4ea7db114a74" /><Relationship Type="http://schemas.openxmlformats.org/officeDocument/2006/relationships/notesMaster" Target="/ppt/notesMasters/notesMaster1.xml" Id="Re8aa2853446547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6574b5f50464de4" /><Relationship Type="http://schemas.openxmlformats.org/officeDocument/2006/relationships/notesMaster" Target="/ppt/notesMasters/notesMaster1.xml" Id="R0f9984a89e3a4a3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51b513e137c4f0b" /><Relationship Type="http://schemas.openxmlformats.org/officeDocument/2006/relationships/notesMaster" Target="/ppt/notesMasters/notesMaster1.xml" Id="Rffa25f49b1b240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b04693e15824b5a" /><Relationship Type="http://schemas.openxmlformats.org/officeDocument/2006/relationships/notesMaster" Target="/ppt/notesMasters/notesMaster1.xml" Id="R6016656c606949c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6a65ca876634f40" /><Relationship Type="http://schemas.openxmlformats.org/officeDocument/2006/relationships/notesMaster" Target="/ppt/notesMasters/notesMaster1.xml" Id="R093877c6bde9411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09fd639fbca4268" /><Relationship Type="http://schemas.openxmlformats.org/officeDocument/2006/relationships/notesMaster" Target="/ppt/notesMasters/notesMaster1.xml" Id="Rd2b64469fc8446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Revise360 Topic 2.1 assessment. Keep slide 3 displayed during the 45-minute closed-book assessment. Show feedback slides only after scripts are collected or the assessment has finished. Use the separate mark scheme for marking detail. OCR J277 specification 2.1.1–2.1.3.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Revise360 Topic 2.1 assessment. Keep slide 3 displayed during the 45-minute closed-book assessment. Show feedback slides only after scripts are collected or the assessment has finished. Use the separate mark scheme for marking detail. OCR J277 specification 2.1.1–2.1.3.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Revise360 Topic 2.1 assessment. Keep slide 3 displayed during the 45-minute closed-book assessment. Show feedback slides only after scripts are collected or the assessment has finished. Use the separate mark scheme for marking detail. OCR J277 specification 2.1.1–2.1.3.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Revise360 Topic 2.1 assessment. Keep slide 3 displayed during the 45-minute closed-book assessment. Show feedback slides only after scripts are collected or the assessment has finished. Use the separate mark scheme for marking detail. OCR J277 specification 2.1.1–2.1.3.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Revise360 Topic 2.1 assessment. Keep slide 3 displayed during the 45-minute closed-book assessment. Show feedback slides only after scripts are collected or the assessment has finished. Use the separate mark scheme for marking detail. OCR J277 specification 2.1.1–2.1.3.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Revise360 Topic 2.1 assessment. Keep slide 3 displayed during the 45-minute closed-book assessment. Show feedback slides only after scripts are collected or the assessment has finished. Use the separate mark scheme for marking detail. OCR J277 specification 2.1.1–2.1.3.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Revise360 Topic 2.1 assessment. Keep slide 3 displayed during the 45-minute closed-book assessment. Show feedback slides only after scripts are collected or the assessment has finished. Use the separate mark scheme for marking detail. OCR J277 specification 2.1.1–2.1.3.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Revise360 Topic 2.1 assessment. Keep slide 3 displayed during the 45-minute closed-book assessment. Show feedback slides only after scripts are collected or the assessment has finished. Use the separate mark scheme for marking detail. OCR J277 specification 2.1.1–2.1.3.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Revise360 Topic 2.1 assessment. Keep slide 3 displayed during the 45-minute closed-book assessment. Show feedback slides only after scripts are collected or the assessment has finished. Use the separate mark scheme for marking detail. OCR J277 specification 2.1.1–2.1.3.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Revise360 Topic 2.1 assessment. Keep slide 3 displayed during the 45-minute closed-book assessment. Show feedback slides only after scripts are collected or the assessment has finished. Use the separate mark scheme for marking detail. OCR J277 specification 2.1.1–2.1.3.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Revise360 Topic 2.1 assessment. Keep slide 3 displayed during the 45-minute closed-book assessment. Show feedback slides only after scripts are collected or the assessment has finished. Use the separate mark scheme for marking detail. OCR J277 specification 2.1.1–2.1.3.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Revise360 Topic 2.1 assessment. Keep slide 3 displayed during the 45-minute closed-book assessment. Show feedback slides only after scripts are collected or the assessment has finished. Use the separate mark scheme for marking detail. OCR J277 specification 2.1.1–2.1.3.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Revise360 Topic 2.1 assessment. Keep slide 3 displayed during the 45-minute closed-book assessment. Show feedback slides only after scripts are collected or the assessment has finished. Use the separate mark scheme for marking detail. OCR J277 specification 2.1.1–2.1.3.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Revise360 Topic 2.1 assessment. Keep slide 3 displayed during the 45-minute closed-book assessment. Show feedback slides only after scripts are collected or the assessment has finished. Use the separate mark scheme for marking detail. OCR J277 specification 2.1.1–2.1.3.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Revise360 Topic 2.1 assessment. Keep slide 3 displayed during the 45-minute closed-book assessment. Show feedback slides only after scripts are collected or the assessment has finished. Use the separate mark scheme for marking detail. OCR J277 specification 2.1.1–2.1.3.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Revise360 Topic 2.1 assessment. Keep slide 3 displayed during the 45-minute closed-book assessment. Show feedback slides only after scripts are collected or the assessment has finished. Use the separate mark scheme for marking detail. OCR J277 specification 2.1.1–2.1.3.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Revise360 Topic 2.1 assessment. Keep slide 3 displayed during the 45-minute closed-book assessment. Show feedback slides only after scripts are collected or the assessment has finished. Use the separate mark scheme for marking detail. OCR J277 specification 2.1.1–2.1.3.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Revise360 Topic 2.1 assessment. Keep slide 3 displayed during the 45-minute closed-book assessment. Show feedback slides only after scripts are collected or the assessment has finished. Use the separate mark scheme for marking detail. OCR J277 specification 2.1.1–2.1.3.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408508f0db43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10da116bd845e9" /><Relationship Type="http://schemas.openxmlformats.org/officeDocument/2006/relationships/slideLayout" Target="/ppt/slideLayouts/slideLayout1.xml" Id="R1f0d304a459241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0d304a459241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ed7383ce3447f" /><Relationship Type="http://schemas.openxmlformats.org/officeDocument/2006/relationships/image" Target="/ppt/media/image.png" Id="Rb3f80e11185c4d1a" /><Relationship Type="http://schemas.openxmlformats.org/officeDocument/2006/relationships/image" Target="/ppt/media/image.jpeg" Id="R9ea14732ecba4fae" /><Relationship Type="http://schemas.openxmlformats.org/officeDocument/2006/relationships/notesSlide" Target="/ppt/notesSlides/notesSlide1.xml" Id="Rbac21efcc6df41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e91f57d51441c" /><Relationship Type="http://schemas.openxmlformats.org/officeDocument/2006/relationships/image" Target="/ppt/media/image2.png" Id="R9078be84cdc54653" /><Relationship Type="http://schemas.openxmlformats.org/officeDocument/2006/relationships/notesSlide" Target="/ppt/notesSlides/notesSlide2.xml" Id="R68ca5a5a843649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93b053e0f4d7c" /><Relationship Type="http://schemas.openxmlformats.org/officeDocument/2006/relationships/image" Target="/ppt/media/image3.png" Id="R37e16b6a88c349f6" /><Relationship Type="http://schemas.openxmlformats.org/officeDocument/2006/relationships/notesSlide" Target="/ppt/notesSlides/notesSlide3.xml" Id="R7d8f97eabf384e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2a704ae374db0" /><Relationship Type="http://schemas.openxmlformats.org/officeDocument/2006/relationships/image" Target="/ppt/media/image4.png" Id="R8767cf7d4612403e" /><Relationship Type="http://schemas.openxmlformats.org/officeDocument/2006/relationships/notesSlide" Target="/ppt/notesSlides/notesSlide4.xml" Id="Rdb83466ee02748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f35be14684eda" /><Relationship Type="http://schemas.openxmlformats.org/officeDocument/2006/relationships/image" Target="/ppt/media/image5.png" Id="Rbc500b7c637544a0" /><Relationship Type="http://schemas.openxmlformats.org/officeDocument/2006/relationships/notesSlide" Target="/ppt/notesSlides/notesSlide5.xml" Id="R9e157ae8a9bd48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2b1a87e464959" /><Relationship Type="http://schemas.openxmlformats.org/officeDocument/2006/relationships/image" Target="/ppt/media/image6.png" Id="R8488ef644cc44cbf" /><Relationship Type="http://schemas.openxmlformats.org/officeDocument/2006/relationships/notesSlide" Target="/ppt/notesSlides/notesSlide6.xml" Id="R6a211d46757b4f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2da479efc4f04" /><Relationship Type="http://schemas.openxmlformats.org/officeDocument/2006/relationships/image" Target="/ppt/media/image7.png" Id="R501cadda49c84216" /><Relationship Type="http://schemas.openxmlformats.org/officeDocument/2006/relationships/notesSlide" Target="/ppt/notesSlides/notesSlide7.xml" Id="R31247c10748043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0a26d592c4b34" /><Relationship Type="http://schemas.openxmlformats.org/officeDocument/2006/relationships/image" Target="/ppt/media/image8.png" Id="R8a520281828e467a" /><Relationship Type="http://schemas.openxmlformats.org/officeDocument/2006/relationships/notesSlide" Target="/ppt/notesSlides/notesSlide8.xml" Id="R3c2541fe9e5b4b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9247de78c426f" /><Relationship Type="http://schemas.openxmlformats.org/officeDocument/2006/relationships/image" Target="/ppt/media/image9.png" Id="R84e83264bc854dca" /><Relationship Type="http://schemas.openxmlformats.org/officeDocument/2006/relationships/notesSlide" Target="/ppt/notesSlides/notesSlide9.xml" Id="R53e07f58577d4c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5b3caa53b470f" /><Relationship Type="http://schemas.openxmlformats.org/officeDocument/2006/relationships/image" Target="/ppt/media/image10.png" Id="R0c5ebc1bbab844d4" /><Relationship Type="http://schemas.openxmlformats.org/officeDocument/2006/relationships/notesSlide" Target="/ppt/notesSlides/notesSlide10.xml" Id="Ra8987971c56b42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35e84f2b9407a" /><Relationship Type="http://schemas.openxmlformats.org/officeDocument/2006/relationships/image" Target="/ppt/media/image11.png" Id="Ra16d1942965c4446" /><Relationship Type="http://schemas.openxmlformats.org/officeDocument/2006/relationships/notesSlide" Target="/ppt/notesSlides/notesSlide11.xml" Id="Rda9207db45aa48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c098d3aca49c0" /><Relationship Type="http://schemas.openxmlformats.org/officeDocument/2006/relationships/image" Target="/ppt/media/image12.png" Id="R53ee1ed24bd54ba0" /><Relationship Type="http://schemas.openxmlformats.org/officeDocument/2006/relationships/notesSlide" Target="/ppt/notesSlides/notesSlide12.xml" Id="R54ddc74418694be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36343220b407c" /><Relationship Type="http://schemas.openxmlformats.org/officeDocument/2006/relationships/image" Target="/ppt/media/image13.png" Id="R3ffa6647418c4c83" /><Relationship Type="http://schemas.openxmlformats.org/officeDocument/2006/relationships/notesSlide" Target="/ppt/notesSlides/notesSlide13.xml" Id="R2acfd62a1ae3407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4d193f1b94bdc" /><Relationship Type="http://schemas.openxmlformats.org/officeDocument/2006/relationships/image" Target="/ppt/media/image14.png" Id="R1cb62f4750344268" /><Relationship Type="http://schemas.openxmlformats.org/officeDocument/2006/relationships/notesSlide" Target="/ppt/notesSlides/notesSlide14.xml" Id="Rd86212d2216446f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a511d37d44c18" /><Relationship Type="http://schemas.openxmlformats.org/officeDocument/2006/relationships/image" Target="/ppt/media/image15.png" Id="R0ebcc9e0dbe744e8" /><Relationship Type="http://schemas.openxmlformats.org/officeDocument/2006/relationships/notesSlide" Target="/ppt/notesSlides/notesSlide15.xml" Id="R8e8162b60f684d1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1991b08c94faa" /><Relationship Type="http://schemas.openxmlformats.org/officeDocument/2006/relationships/image" Target="/ppt/media/image16.png" Id="Re576286d7c014374" /><Relationship Type="http://schemas.openxmlformats.org/officeDocument/2006/relationships/notesSlide" Target="/ppt/notesSlides/notesSlide16.xml" Id="Rb61c5fc7f16c4c3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b5e6131064c8f" /><Relationship Type="http://schemas.openxmlformats.org/officeDocument/2006/relationships/image" Target="/ppt/media/image17.png" Id="Rbc604d4adc0d4bb1" /><Relationship Type="http://schemas.openxmlformats.org/officeDocument/2006/relationships/notesSlide" Target="/ppt/notesSlides/notesSlide17.xml" Id="Ree6f6d436e9b46c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f0d4897544d84" /><Relationship Type="http://schemas.openxmlformats.org/officeDocument/2006/relationships/image" Target="/ppt/media/image18.png" Id="Rffb5ec0e8a0c4b21" /><Relationship Type="http://schemas.openxmlformats.org/officeDocument/2006/relationships/notesSlide" Target="/ppt/notesSlides/notesSlide18.xml" Id="R642fcdbad83b45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A49B242-0A93-4CAA-A976-B7B85414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C87B069-4AE3-41FB-8E32-622FAD07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2.1   /   LESSON 17   /   ASSESSMENT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3815F20-9933-4640-9E82-67A009EF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ALGORITHMS ASSESSMENT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80e11185c4d1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48E3C81-C842-45B0-92BB-277816F0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18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1D1867E6-9160-4B7B-B718-C2045EBD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2.1 review and reflection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DB6C6EAB-F00F-49E7-BB96-0088CAEA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PREPARE TO WORK INDEPENDENTLY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00081038-3E7F-400E-8756-EE3640E7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Close the experience and notes. Have the assessment worksheet ready.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14732ecba4fa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76950" y="1931789"/>
            <a:ext cx="5400675" cy="33754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518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29D0D74-D405-4298-8504-19625DD8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C94BCC8-515D-47EA-B6E2-2B7D4AC1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17   /   ASSESSMENT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B715B87-24C3-4EB0-A531-09F29276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What this assessment checks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8be84cdc5465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946EE4D-4656-4BC2-8F50-308BDCE2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4F21E87F-93E4-451F-AB4E-8822ED37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46CD32E7-7220-4C45-83BD-1A75D522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computational thinking and structure diagrams.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27D15F66-C79A-48FB-A458-5FCABD71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6D66A0FC-FF53-4CDB-B571-D4D170C6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051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Trace searching and sorting algorithms.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214AB879-F5E1-46A1-B3B7-732C3DA0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47E0FF81-472A-4959-B572-95A0EA47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Create, correct and trace algorithms.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43B6C4DF-53E7-4684-A2E0-0FBDE1EF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B7588F05-DB7C-4321-91CF-115D3867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2917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95093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89AE9BD-4456-44D0-A496-4A715994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D7E3F66-12BD-4737-B732-CF062507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17   /   ASSESSMENT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2E71EDE-630B-477B-8324-3C6B882C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Assessment: 40 marks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e16b6a88c349f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4CED2EF-8770-4B94-8FF7-8186209C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18</a:t>
            </a:r>
          </a:p>
        </p:txBody>
      </p:sp>
      <p:sp>
        <p:nvSpPr>
          <p:cNvPr id="6" name="worksheet-starter">
            <a:extLst xmlns:a="http://schemas.openxmlformats.org/drawingml/2006/main">
              <a:ext uri="{FF2B5EF4-FFF2-40B4-BE49-F238E27FC236}">
                <a16:creationId xmlns:a16="http://schemas.microsoft.com/office/drawing/2014/main" id="{4CABB616-5B19-458F-ADE4-F0436868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You have 45 minutes. Answer every question on the worksheet. Show the steps for searches and sorts. Read the marks and check your answers.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Keep this slide displayed until the assessment is finished.</a:t>
            </a:r>
          </a:p>
        </p:txBody>
      </p:sp>
    </p:spTree>
    <p:extLst>
      <p:ext uri="{BB962C8B-B14F-4D97-AF65-F5344CB8AC3E}">
        <p14:creationId xmlns:p14="http://schemas.microsoft.com/office/powerpoint/2010/main" val="2061250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CE6C1A7-1190-46F6-B558-07CF48F6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1A9E94E-2324-4A21-8E1F-53F06181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17   /   ASSESSMENT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2F7C639-9A4F-4B2E-A66B-E7FC7229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Feedback after the assessment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7cf7d4612403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810CE3C-06F6-401D-921D-2679EFD1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04B18CF0-64CE-463F-A9B8-6A6A21ED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D57E31F4-31D7-4905-A796-BE34CBF2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99250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your answers against the following slides. Award marks for the required points. Record your total out of 40 and choose one target for improvement.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F9E7E19B-3986-45FC-B0B8-7910C783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AA142279-1763-4095-BB35-E7C2790B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19256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8B0042C-2776-4B77-8450-5D698DB3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3158093-4E51-4193-8466-193E324E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17   /   ASSESSMENT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8721011-60E3-4A46-ACE7-07BEAB79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Question 1: computational thinking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500b7c637544a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FC27DE5-76DC-4F16-881C-303A1916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18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B76E08EA-1329-4F7D-B904-1FFEF4D2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a)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072ACAD3-9670-4434-9EBA-05DBFA23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What does abstraction mean?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A8F18C87-2E1F-4B72-8996-4CD90B50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b–c)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1C1C0B9C-20D9-4654-9F28-D51D1DA9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Which loan details matter, and how does decomposition help?</a:t>
            </a:r>
          </a:p>
        </p:txBody>
      </p:sp>
    </p:spTree>
    <p:extLst>
      <p:ext uri="{BB962C8B-B14F-4D97-AF65-F5344CB8AC3E}">
        <p14:creationId xmlns:p14="http://schemas.microsoft.com/office/powerpoint/2010/main" val="9420321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07CAA27-6A33-4D26-8EEC-DDD6F195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C8C088F-E4C7-463F-A500-13D69523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17   /   ASSESSMENT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AF3A2E8-08E7-4B52-8CB0-E9EDFA86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Question 1: answers [6]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8ef644cc44cb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1FD2F40-F2E4-4894-A4B9-2F16BF1E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18</a:t>
            </a:r>
          </a:p>
        </p:txBody>
      </p:sp>
      <p:sp>
        <p:nvSpPr>
          <p:cNvPr id="6" name="answer-term-0">
            <a:extLst xmlns:a="http://schemas.openxmlformats.org/drawingml/2006/main">
              <a:ext uri="{FF2B5EF4-FFF2-40B4-BE49-F238E27FC236}">
                <a16:creationId xmlns:a16="http://schemas.microsoft.com/office/drawing/2014/main" id="{C05575DA-F440-47EE-AADE-AE15CCD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Abstraction and relevant details [4]</a:t>
            </a:r>
          </a:p>
        </p:txBody>
      </p:sp>
      <p:sp>
        <p:nvSpPr>
          <p:cNvPr id="7" name="answer-definition-0">
            <a:extLst xmlns:a="http://schemas.openxmlformats.org/drawingml/2006/main">
              <a:ext uri="{FF2B5EF4-FFF2-40B4-BE49-F238E27FC236}">
                <a16:creationId xmlns:a16="http://schemas.microsoft.com/office/drawing/2014/main" id="{C6F926E0-3B0C-455B-B77A-C8974AE3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Keep relevant details and remove unnecessary detail for a purpose. Retain borrower ID or due date. Ignore a favourite film.</a:t>
            </a:r>
          </a:p>
        </p:txBody>
      </p:sp>
      <p:sp>
        <p:nvSpPr>
          <p:cNvPr id="8" name="answer-term-1">
            <a:extLst xmlns:a="http://schemas.openxmlformats.org/drawingml/2006/main">
              <a:ext uri="{FF2B5EF4-FFF2-40B4-BE49-F238E27FC236}">
                <a16:creationId xmlns:a16="http://schemas.microsoft.com/office/drawing/2014/main" id="{C9190DB0-181E-4A8A-9E5E-95B19960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Decomposition [2]</a:t>
            </a:r>
          </a:p>
        </p:txBody>
      </p:sp>
      <p:sp>
        <p:nvSpPr>
          <p:cNvPr id="9" name="answer-definition-1">
            <a:extLst xmlns:a="http://schemas.openxmlformats.org/drawingml/2006/main">
              <a:ext uri="{FF2B5EF4-FFF2-40B4-BE49-F238E27FC236}">
                <a16:creationId xmlns:a16="http://schemas.microsoft.com/office/drawing/2014/main" id="{B865E412-4386-4ED0-B8E9-05D05365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Split the system into smaller sub-problems. This makes each part easier to understand, develop or test.</a:t>
            </a:r>
          </a:p>
        </p:txBody>
      </p:sp>
    </p:spTree>
    <p:extLst>
      <p:ext uri="{BB962C8B-B14F-4D97-AF65-F5344CB8AC3E}">
        <p14:creationId xmlns:p14="http://schemas.microsoft.com/office/powerpoint/2010/main" val="5443408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BA66B78-BFDC-4298-A4DA-5CB5A770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DA0D920-036D-4124-8F12-38EB1186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2.1   /   LESSON 17   /   ASSESSMENT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5191E8A-E142-4BC2-8435-1D8EA13B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Question 2: structure diagram [4]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1cadda49c8421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0A45757-2C05-40D6-9E75-84F5AEC8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18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3B14933E-F008-4A1E-B920-32134F7F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WHOLE SYSTEM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7A71894B-6674-45BD-B430-F339D03A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Place Equipment-loan system at the top.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B90E3C20-8F8E-412D-B38A-D521747F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MAIN PARTS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B45B51EE-5945-44D5-9C7B-668BC232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Connect Members, Loans and Returns beneath it.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0B3F37C6-3223-43C3-B5C5-0734100D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REFINE LOANS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23A69AAC-E055-45B3-BEBA-D02CB812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Under Loans, add Check availability and Record loan.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97D05B46-012B-43E3-B865-D49BCF33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CHECK THE CONNECTIONS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93D16BC3-41C8-47E2-B0D7-08EC3C3C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Children are parts of their parent. A structure diagram does not show execution order.</a:t>
            </a:r>
          </a:p>
        </p:txBody>
      </p:sp>
    </p:spTree>
    <p:extLst>
      <p:ext uri="{BB962C8B-B14F-4D97-AF65-F5344CB8AC3E}">
        <p14:creationId xmlns:p14="http://schemas.microsoft.com/office/powerpoint/2010/main" val="87235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8C536E9-5669-4451-9AAB-579BAC1A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9AAF36-B8DE-4251-8DE6-E6BCCD54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17   /   ASSESSMENT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722D1D8-2EB7-4550-BC01-C8F4AA1B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Question 3: searching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520281828e467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8D3831D-CA2C-4D2B-8512-1C6B95BF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18</a:t>
            </a:r>
          </a:p>
        </p:txBody>
      </p:sp>
      <p:sp>
        <p:nvSpPr>
          <p:cNvPr id="6" name="extension-prompt">
            <a:extLst xmlns:a="http://schemas.openxmlformats.org/drawingml/2006/main">
              <a:ext uri="{FF2B5EF4-FFF2-40B4-BE49-F238E27FC236}">
                <a16:creationId xmlns:a16="http://schemas.microsoft.com/office/drawing/2014/main" id="{3D632867-A970-4622-9F75-EC7929A6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193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List: [2, 4, 6, 8, 10, 12, 14]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Target: 12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Compare the values checked by linear and binary search.</a:t>
            </a:r>
          </a:p>
        </p:txBody>
      </p:sp>
      <p:sp>
        <p:nvSpPr>
          <p:cNvPr id="7" name="extension-follow">
            <a:extLst xmlns:a="http://schemas.openxmlformats.org/drawingml/2006/main">
              <a:ext uri="{FF2B5EF4-FFF2-40B4-BE49-F238E27FC236}">
                <a16:creationId xmlns:a16="http://schemas.microsoft.com/office/drawing/2014/main" id="{0C21F904-CB27-4E5D-A9F7-D13B95D2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4820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Use zero-based indices and round binary-search midpoints down.</a:t>
            </a:r>
          </a:p>
        </p:txBody>
      </p:sp>
    </p:spTree>
    <p:extLst>
      <p:ext uri="{BB962C8B-B14F-4D97-AF65-F5344CB8AC3E}">
        <p14:creationId xmlns:p14="http://schemas.microsoft.com/office/powerpoint/2010/main" val="740997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B263055-5EA4-4302-98FD-2C08B0E0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A5B0DE7-189B-4E0D-AC5D-CF426592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17   /   ASSESSMENT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41086F9-DF63-4768-BF4E-D1F572BC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Question 3: answers [6]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83264bc854dc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14C2577-C6E7-49B9-B106-D65BE85A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18</a:t>
            </a:r>
          </a:p>
        </p:txBody>
      </p:sp>
      <p:sp>
        <p:nvSpPr>
          <p:cNvPr id="6" name="extension-two">
            <a:extLst xmlns:a="http://schemas.openxmlformats.org/drawingml/2006/main">
              <a:ext uri="{FF2B5EF4-FFF2-40B4-BE49-F238E27FC236}">
                <a16:creationId xmlns:a16="http://schemas.microsoft.com/office/drawing/2014/main" id="{29844E22-D648-40A0-BC22-276A81AE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76525"/>
            <a:ext cx="10620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Linear search checks 2, 4, 6, 8, 10, 12. Six target comparisons. [2]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Binary search first checks 8 at index 3. Keep indices 4–6. Then check 12 at index 5 and stop. [3]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Binary search requires sorted data. [1]</a:t>
            </a:r>
          </a:p>
        </p:txBody>
      </p:sp>
    </p:spTree>
    <p:extLst>
      <p:ext uri="{BB962C8B-B14F-4D97-AF65-F5344CB8AC3E}">
        <p14:creationId xmlns:p14="http://schemas.microsoft.com/office/powerpoint/2010/main" val="16106681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78803E9-413E-4B42-B661-1890FAB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F0305E1-8E4B-4FE7-9B7B-B01E262E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17   /   ASSESSMENT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71FFA7C-71E3-407E-A084-8AAA8734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Question 4a: bubble sort [4]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ebc1bbab844d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5BD4D03-162B-45A5-AA28-72FD38F4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18</a:t>
            </a:r>
          </a:p>
        </p:txBody>
      </p:sp>
      <p:sp>
        <p:nvSpPr>
          <p:cNvPr id="6" name="extension-check">
            <a:extLst xmlns:a="http://schemas.openxmlformats.org/drawingml/2006/main">
              <a:ext uri="{FF2B5EF4-FFF2-40B4-BE49-F238E27FC236}">
                <a16:creationId xmlns:a16="http://schemas.microsoft.com/office/drawing/2014/main" id="{06547FB7-89E1-430C-BA4E-A0059FB7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First full left-to-right pass on [6, 2, 5, 1].</a:t>
            </a:r>
          </a:p>
        </p:txBody>
      </p:sp>
      <p:sp>
        <p:nvSpPr>
          <p:cNvPr id="7" name="answer-application">
            <a:extLst xmlns:a="http://schemas.openxmlformats.org/drawingml/2006/main">
              <a:ext uri="{FF2B5EF4-FFF2-40B4-BE49-F238E27FC236}">
                <a16:creationId xmlns:a16="http://schemas.microsoft.com/office/drawing/2014/main" id="{7F1A9A78-A783-4735-9B4E-2787A5EE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Record each swap [3]</a:t>
            </a:r>
          </a:p>
        </p:txBody>
      </p:sp>
      <p:sp>
        <p:nvSpPr>
          <p:cNvPr id="8" name="answer-application-body">
            <a:extLst xmlns:a="http://schemas.openxmlformats.org/drawingml/2006/main">
              <a:ext uri="{FF2B5EF4-FFF2-40B4-BE49-F238E27FC236}">
                <a16:creationId xmlns:a16="http://schemas.microsoft.com/office/drawing/2014/main" id="{28087EFB-17A1-4A2B-B86E-2733BD05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477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[2, 6, 5, 1]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[2, 5, 6, 1]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[2, 5, 1, 6]</a:t>
            </a:r>
          </a:p>
        </p:txBody>
      </p:sp>
      <p:sp>
        <p:nvSpPr>
          <p:cNvPr id="9" name="answer-stretch">
            <a:extLst xmlns:a="http://schemas.openxmlformats.org/drawingml/2006/main">
              <a:ext uri="{FF2B5EF4-FFF2-40B4-BE49-F238E27FC236}">
                <a16:creationId xmlns:a16="http://schemas.microsoft.com/office/drawing/2014/main" id="{5A018C42-6685-447F-818E-7126648E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Final position [1]</a:t>
            </a:r>
          </a:p>
        </p:txBody>
      </p:sp>
      <p:sp>
        <p:nvSpPr>
          <p:cNvPr id="10" name="answer-stretch-body">
            <a:extLst xmlns:a="http://schemas.openxmlformats.org/drawingml/2006/main">
              <a:ext uri="{FF2B5EF4-FFF2-40B4-BE49-F238E27FC236}">
                <a16:creationId xmlns:a16="http://schemas.microsoft.com/office/drawing/2014/main" id="{0C0236B0-96D2-4CB9-BE2E-068D8FFE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6 is in its final position at the right-hand end. The other values are not yet fully sorted.</a:t>
            </a:r>
          </a:p>
        </p:txBody>
      </p:sp>
    </p:spTree>
    <p:extLst>
      <p:ext uri="{BB962C8B-B14F-4D97-AF65-F5344CB8AC3E}">
        <p14:creationId xmlns:p14="http://schemas.microsoft.com/office/powerpoint/2010/main" val="1077196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EF7E645-4366-476F-A5B1-90C7C70A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59341AF-F465-4757-AC09-3A0C4AF7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17   /   ASSESSMENT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EBF8C94-893F-4F9B-8993-606E888E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Questions 4b–c: merge and insertion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d1942965c444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93BEC9-DC57-4892-87B7-6699B7FB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51C9C7E2-F4F1-420D-88E1-62F2A7BC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Do not mix up the methods.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D616DF12-F12D-4F89-BE2A-F5A3C233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Merge [2, 8] and [3, 7] [2]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F6BEAF51-6593-4158-B949-6DCAF3DF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Compare 2 with 3 and take 2. Then compare 8 with 3 and take 3.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1C2437BA-61EC-4CC1-A291-672A28BC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Complete the merge [1]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2AD176F9-D05F-473B-8386-F181E623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final list is [2, 3, 7, 8].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D795BB1C-F6B4-4C53-AB97-8133E250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Insertion sort [5, 2, 4, 1] [3]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36B68946-29BE-4832-BBD8-102C229E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each key: [2,5,4,1], then [2,4,5,1], then [1,2,4,5].</a:t>
            </a:r>
          </a:p>
        </p:txBody>
      </p:sp>
    </p:spTree>
    <p:extLst>
      <p:ext uri="{BB962C8B-B14F-4D97-AF65-F5344CB8AC3E}">
        <p14:creationId xmlns:p14="http://schemas.microsoft.com/office/powerpoint/2010/main" val="8535944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51900B3-0610-4E01-90E0-77DC6FF3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0525AC8-4A6A-4190-909D-B5EB30CD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17   /   ASSESSMENT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AFF9494-BEC4-4AEA-BD48-105C969A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Question 5: flowchart [5]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e1ed24bd54ba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8FF5AE6-5314-4952-A1CD-C9E9FC07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478BE9EE-4B04-4078-A860-876FCD86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symbols, conditions, labels and connected paths.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0F0EBA09-E83B-415E-AD99-3550F935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Input and decision [2]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8D150509-4F43-452B-BA18-B4451906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Input age in a parallelogram. Test age &gt;= 12 in a diamond.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F40CAFDA-7B28-4DDD-97A6-7FEB15E5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Branches and outputs [2]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DF6939EB-FAE7-4750-B799-6DB46BA8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Label True and False. Output Allowed on True and Too young on False, using input/output symbols.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1F7890C8-2979-416E-AA29-BEE1AB3B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Complete paths [1]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07216969-988D-4AF8-B64A-611D4169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 start and end terminals, connected by sensible flow lines.</a:t>
            </a:r>
          </a:p>
        </p:txBody>
      </p:sp>
    </p:spTree>
    <p:extLst>
      <p:ext uri="{BB962C8B-B14F-4D97-AF65-F5344CB8AC3E}">
        <p14:creationId xmlns:p14="http://schemas.microsoft.com/office/powerpoint/2010/main" val="8069776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782CCF1-F8AC-4963-BE7C-39F589EC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A98E84-19B5-4128-9F22-3EF63F2A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17   /   ASSESSMENT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D092674-2E5F-4365-B13E-1BCD7239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Question 6: debugging [3]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fa6647418c4c8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371B726-81B4-4823-AF8C-B2AEE4C1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18</a:t>
            </a:r>
          </a:p>
        </p:txBody>
      </p:sp>
      <p:sp>
        <p:nvSpPr>
          <p:cNvPr id="6" name="star-key">
            <a:extLst xmlns:a="http://schemas.openxmlformats.org/drawingml/2006/main">
              <a:ext uri="{FF2B5EF4-FFF2-40B4-BE49-F238E27FC236}">
                <a16:creationId xmlns:a16="http://schemas.microsoft.com/office/drawing/2014/main" id="{4E2C5E58-B348-4B06-A627-247270C0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The intended result is the average of a and b.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D13603A8-78DC-40B6-A8F6-04D146FD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DA3F8A68-07AA-4136-A4C5-7B3C68E6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43125"/>
            <a:ext cx="99250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This is a logic error. [1]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Correct expression: average = (a + b) / 2. [1]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Parentheses ensure the values are added before division by 2. [1]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D63D0CFC-FB29-4A55-9634-1938AE0C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1AF0E8F5-58C1-4699-8D32-68538ACE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432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64A6377B-270D-4D04-B61F-A116A4C0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B2168BAC-D34D-4D09-BD22-C3074326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8137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DAD3008D-DBDD-4EB1-B9E0-42941BDA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072DFA35-D5B3-464A-85A9-266225B7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5" name="number-5">
            <a:extLst xmlns:a="http://schemas.openxmlformats.org/drawingml/2006/main">
              <a:ext uri="{FF2B5EF4-FFF2-40B4-BE49-F238E27FC236}">
                <a16:creationId xmlns:a16="http://schemas.microsoft.com/office/drawing/2014/main" id="{03F791EC-5D9B-433E-96F6-EF44C17A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6" name="item-5">
            <a:extLst xmlns:a="http://schemas.openxmlformats.org/drawingml/2006/main">
              <a:ext uri="{FF2B5EF4-FFF2-40B4-BE49-F238E27FC236}">
                <a16:creationId xmlns:a16="http://schemas.microsoft.com/office/drawing/2014/main" id="{11146F44-2CCE-4536-BF13-60F44AE2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5772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7" name="number-6">
            <a:extLst xmlns:a="http://schemas.openxmlformats.org/drawingml/2006/main">
              <a:ext uri="{FF2B5EF4-FFF2-40B4-BE49-F238E27FC236}">
                <a16:creationId xmlns:a16="http://schemas.microsoft.com/office/drawing/2014/main" id="{738F10DC-3C3F-4622-9638-0CD9ADB1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8" name="item-6">
            <a:extLst xmlns:a="http://schemas.openxmlformats.org/drawingml/2006/main">
              <a:ext uri="{FF2B5EF4-FFF2-40B4-BE49-F238E27FC236}">
                <a16:creationId xmlns:a16="http://schemas.microsoft.com/office/drawing/2014/main" id="{B4AC7286-B492-4B59-A29F-AA4F10A9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959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291782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0BB8106-766C-4D11-B62C-A315B1DC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E93FE83-8B7D-4ED0-A507-D6DF7BF8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17   /   ASSESSMENT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FAFAE26-D488-4C37-A08D-D8E5A9D0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Question 7: trace table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62f475034426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F7FA607-A51E-4EFD-8772-BFCA4D0A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18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4DD4F8FC-DBBD-4F52-8BC4-1F8B4C27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The loop adds i for i = 1 to 4, starting from total = 0.</a:t>
            </a:r>
          </a:p>
        </p:txBody>
      </p:sp>
      <p:sp>
        <p:nvSpPr>
          <p:cNvPr id="7" name="a">
            <a:extLst xmlns:a="http://schemas.openxmlformats.org/drawingml/2006/main">
              <a:ext uri="{FF2B5EF4-FFF2-40B4-BE49-F238E27FC236}">
                <a16:creationId xmlns:a16="http://schemas.microsoft.com/office/drawing/2014/main" id="{9C6FAEDB-072B-436C-AA9C-D5832563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a)</a:t>
            </a:r>
          </a:p>
        </p:txBody>
      </p:sp>
      <p:sp>
        <p:nvSpPr>
          <p:cNvPr id="8" name="question-a">
            <a:extLst xmlns:a="http://schemas.openxmlformats.org/drawingml/2006/main">
              <a:ext uri="{FF2B5EF4-FFF2-40B4-BE49-F238E27FC236}">
                <a16:creationId xmlns:a16="http://schemas.microsoft.com/office/drawing/2014/main" id="{6B2BF4EA-272A-415D-B46E-43EF0DF1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581275"/>
            <a:ext cx="994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Record the initial total and the total after every iteration.</a:t>
            </a:r>
          </a:p>
        </p:txBody>
      </p:sp>
      <p:sp>
        <p:nvSpPr>
          <p:cNvPr id="9" name="b">
            <a:extLst xmlns:a="http://schemas.openxmlformats.org/drawingml/2006/main">
              <a:ext uri="{FF2B5EF4-FFF2-40B4-BE49-F238E27FC236}">
                <a16:creationId xmlns:a16="http://schemas.microsoft.com/office/drawing/2014/main" id="{9509E02A-7E28-413B-8372-24604E28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43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b)</a:t>
            </a:r>
          </a:p>
        </p:txBody>
      </p:sp>
      <p:sp>
        <p:nvSpPr>
          <p:cNvPr id="10" name="question-b">
            <a:extLst xmlns:a="http://schemas.openxmlformats.org/drawingml/2006/main">
              <a:ext uri="{FF2B5EF4-FFF2-40B4-BE49-F238E27FC236}">
                <a16:creationId xmlns:a16="http://schemas.microsoft.com/office/drawing/2014/main" id="{EA1267F7-E672-4AB5-8CC0-CE07B620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143375"/>
            <a:ext cx="9944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Record the value output after the loop.</a:t>
            </a:r>
          </a:p>
        </p:txBody>
      </p:sp>
    </p:spTree>
    <p:extLst>
      <p:ext uri="{BB962C8B-B14F-4D97-AF65-F5344CB8AC3E}">
        <p14:creationId xmlns:p14="http://schemas.microsoft.com/office/powerpoint/2010/main" val="1679400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F1F2C14-4C50-48A4-9B67-A997A262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DB8B4A9-62FC-49C3-9E8B-2D918615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17   /   ASSESSMENT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C7269B5-94FA-4086-8755-DE73995D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Question 7: answer [6]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cc9e0dbe744e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9C331FB-3C6F-4EEC-BBEB-57203449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18</a:t>
            </a:r>
          </a:p>
        </p:txBody>
      </p:sp>
      <p:sp>
        <p:nvSpPr>
          <p:cNvPr id="6" name="from-memory">
            <a:extLst xmlns:a="http://schemas.openxmlformats.org/drawingml/2006/main">
              <a:ext uri="{FF2B5EF4-FFF2-40B4-BE49-F238E27FC236}">
                <a16:creationId xmlns:a16="http://schemas.microsoft.com/office/drawing/2014/main" id="{BDF8659F-4B53-45A1-96E8-35452E8F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715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Keep variable changes separate from output events.</a:t>
            </a:r>
          </a:p>
        </p:txBody>
      </p:sp>
      <p:sp>
        <p:nvSpPr>
          <p:cNvPr id="7" name="c">
            <a:extLst xmlns:a="http://schemas.openxmlformats.org/drawingml/2006/main">
              <a:ext uri="{FF2B5EF4-FFF2-40B4-BE49-F238E27FC236}">
                <a16:creationId xmlns:a16="http://schemas.microsoft.com/office/drawing/2014/main" id="{629CF0F4-E195-43D7-9CCA-D8090133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81300"/>
            <a:ext cx="609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8" name="question-c">
            <a:extLst xmlns:a="http://schemas.openxmlformats.org/drawingml/2006/main">
              <a:ext uri="{FF2B5EF4-FFF2-40B4-BE49-F238E27FC236}">
                <a16:creationId xmlns:a16="http://schemas.microsoft.com/office/drawing/2014/main" id="{2397C953-3257-449B-B101-570ACDF6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81300"/>
            <a:ext cx="9867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Initial total: 0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i = 1: total = 1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i = 2: total = 3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i = 3: total = 6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i = 4: total = 10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Output after the loop: 10</a:t>
            </a:r>
          </a:p>
        </p:txBody>
      </p:sp>
      <p:sp>
        <p:nvSpPr>
          <p:cNvPr id="9" name="marks">
            <a:extLst xmlns:a="http://schemas.openxmlformats.org/drawingml/2006/main">
              <a:ext uri="{FF2B5EF4-FFF2-40B4-BE49-F238E27FC236}">
                <a16:creationId xmlns:a16="http://schemas.microsoft.com/office/drawing/2014/main" id="{B5E43C45-0F63-4BF1-AFCD-45A804E5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387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One mark for each correct entry.</a:t>
            </a:r>
          </a:p>
        </p:txBody>
      </p:sp>
    </p:spTree>
    <p:extLst>
      <p:ext uri="{BB962C8B-B14F-4D97-AF65-F5344CB8AC3E}">
        <p14:creationId xmlns:p14="http://schemas.microsoft.com/office/powerpoint/2010/main" val="7475317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9886798-8F0F-4B54-BAEC-A0540120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6D98F3-B670-4101-B9A9-2184D5A6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17   /   ASSESSMENT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6C64587-B8D3-44DA-8AA8-1AB5AE6D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Find your next step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6286d7c01437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EFA3B3-6527-4E2D-9FE8-B1783E9B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910FB56C-D13F-443C-831C-7EB54AF5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Use your question scores to choose a useful revision lesson.</a:t>
            </a:r>
          </a:p>
        </p:txBody>
      </p:sp>
      <p:sp>
        <p:nvSpPr>
          <p:cNvPr id="7" name="scheme-a">
            <a:extLst xmlns:a="http://schemas.openxmlformats.org/drawingml/2006/main">
              <a:ext uri="{FF2B5EF4-FFF2-40B4-BE49-F238E27FC236}">
                <a16:creationId xmlns:a16="http://schemas.microsoft.com/office/drawing/2014/main" id="{41502BD5-C47A-4406-827D-A550F44A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Questions 1–2: revisit lessons 1–3.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Questions 3–4: revisit lessons 7–10.</a:t>
            </a:r>
          </a:p>
        </p:txBody>
      </p:sp>
      <p:sp>
        <p:nvSpPr>
          <p:cNvPr id="8" name="scheme-b">
            <a:extLst xmlns:a="http://schemas.openxmlformats.org/drawingml/2006/main">
              <a:ext uri="{FF2B5EF4-FFF2-40B4-BE49-F238E27FC236}">
                <a16:creationId xmlns:a16="http://schemas.microsoft.com/office/drawing/2014/main" id="{4030A590-8409-4747-8A49-22010C81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Question 5: revisit lesson 11.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Question 6: revisit lesson 15.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Question 7: revisit lesson 16.</a:t>
            </a:r>
          </a:p>
        </p:txBody>
      </p:sp>
    </p:spTree>
    <p:extLst>
      <p:ext uri="{BB962C8B-B14F-4D97-AF65-F5344CB8AC3E}">
        <p14:creationId xmlns:p14="http://schemas.microsoft.com/office/powerpoint/2010/main" val="14462437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0081A4B-6AC1-4816-AF79-691B19F4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60FA52-8505-4663-AF29-746E3C6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17   /   ASSESSMENT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723C30E-7C0B-4663-9CFD-AEBB0B68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Make a correction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04d4adc0d4bb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FCDE95E-15E9-4DFC-BCC0-8290133C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367C08AF-7243-4EE2-AFA0-1DBD0A7C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Complete the reflection section of the worksheet.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C971BC91-2C30-4670-9E94-EB7BAD54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38BA7518-F976-4AA8-9FBD-9CA4E93E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860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Choose one missed question and write a corrected answer.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4CE5C16C-95D9-4554-BC9D-0CB5CA0D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C4346348-B81F-437B-A07E-C9085E2A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909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what caused the error and how you will avoid it next time.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DBDD63D3-A34B-4614-BC00-7470B22F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AAD983A1-375A-4785-BE52-216AFD70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958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896523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368A0EC-80FD-4672-B2B2-DBDF6094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4A4DF14-4035-4380-8761-948455E2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17   /   ASSESSMENT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6131C61-4DE8-4ADA-AA38-AF5838A8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your understanding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b5ec0e8a0c4b2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D9F0318-AD5A-451A-9E2A-0B42908D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18</a:t>
            </a:r>
          </a:p>
        </p:txBody>
      </p:sp>
      <p:sp>
        <p:nvSpPr>
          <p:cNvPr id="6" name="confidence-instruction">
            <a:extLst xmlns:a="http://schemas.openxmlformats.org/drawingml/2006/main">
              <a:ext uri="{FF2B5EF4-FFF2-40B4-BE49-F238E27FC236}">
                <a16:creationId xmlns:a16="http://schemas.microsoft.com/office/drawing/2014/main" id="{21CCFCB5-9EEF-4D0C-ACC8-C2D3D4C2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Use the relevant experience in review mode after the assessment.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1445CA78-BAE2-4623-A518-59C7169A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B9CB63FA-CF41-41AC-AAF6-A489CFF3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the corrected idea in your own words.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BF24F2CF-D0BF-433B-A4BD-27BA2030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2EBB092A-60CB-4087-9DD4-5443676B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4327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Try a new example without looking at the answer.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43B035FB-801C-4E05-87F1-800820CE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02E48C22-31AC-4A31-87AE-D3A00B3F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Record whether you need more practice or feel confident.</a:t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CE4EAE46-F751-4F69-9E68-CFF078A9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F71661C6-7DB3-4EC1-B1E5-D88C7A61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0062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79929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2026-09-28T12:53:54.8900000Z</dcterms:created>
  <dcterms:modified xsi:type="dcterms:W3CDTF">2026-09-28T12:53:54.8900000Z</dcterms:modified>
</coreProperties>
</file>