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jpeg" ContentType="image/jpe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d892c72a821440b1" /><Relationship Type="http://schemas.openxmlformats.org/officeDocument/2006/relationships/extended-properties" Target="/docProps/app.xml" Id="Ra7fa9bcd07254384" /><Relationship Type="http://schemas.openxmlformats.org/officeDocument/2006/relationships/officeDocument" Target="/ppt/presentation.xml" Id="Re12bafb97a5249ae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206c32e736f8460e"/>
  </p:sldMasterIdLst>
  <p:notesMasterIdLst>
    <p:notesMasterId xmlns:r="http://schemas.openxmlformats.org/officeDocument/2006/relationships" r:id="Rdc3be7b181004371"/>
  </p:notesMasterIdLst>
  <p:sldIdLst>
    <p:sldId xmlns:r="http://schemas.openxmlformats.org/officeDocument/2006/relationships" id="256" r:id="Rf9dfdac0f86f4f7c"/>
    <p:sldId xmlns:r="http://schemas.openxmlformats.org/officeDocument/2006/relationships" id="257" r:id="R6d463a9f31fa4989"/>
    <p:sldId xmlns:r="http://schemas.openxmlformats.org/officeDocument/2006/relationships" id="258" r:id="R0442b1ca312e45e2"/>
    <p:sldId xmlns:r="http://schemas.openxmlformats.org/officeDocument/2006/relationships" id="259" r:id="R040b6a4372bc4fa1"/>
    <p:sldId xmlns:r="http://schemas.openxmlformats.org/officeDocument/2006/relationships" id="260" r:id="R7a479a28c77e4017"/>
    <p:sldId xmlns:r="http://schemas.openxmlformats.org/officeDocument/2006/relationships" id="261" r:id="Ra3f7bfdab9c04e12"/>
    <p:sldId xmlns:r="http://schemas.openxmlformats.org/officeDocument/2006/relationships" id="262" r:id="R714362f6bedc4fb9"/>
    <p:sldId xmlns:r="http://schemas.openxmlformats.org/officeDocument/2006/relationships" id="263" r:id="Ra0d799ee00da4ea8"/>
    <p:sldId xmlns:r="http://schemas.openxmlformats.org/officeDocument/2006/relationships" id="264" r:id="Raa512c6bebe84336"/>
    <p:sldId xmlns:r="http://schemas.openxmlformats.org/officeDocument/2006/relationships" id="265" r:id="R51c46e0bd6f94034"/>
    <p:sldId xmlns:r="http://schemas.openxmlformats.org/officeDocument/2006/relationships" id="266" r:id="R672af8cc6efa4474"/>
    <p:sldId xmlns:r="http://schemas.openxmlformats.org/officeDocument/2006/relationships" id="267" r:id="R9be446aecafd42af"/>
    <p:sldId xmlns:r="http://schemas.openxmlformats.org/officeDocument/2006/relationships" id="268" r:id="R106a024a2ecd49a4"/>
    <p:sldId xmlns:r="http://schemas.openxmlformats.org/officeDocument/2006/relationships" id="269" r:id="Rced9c23badb74810"/>
    <p:sldId xmlns:r="http://schemas.openxmlformats.org/officeDocument/2006/relationships" id="270" r:id="R32175ac9135a4fd6"/>
    <p:sldId xmlns:r="http://schemas.openxmlformats.org/officeDocument/2006/relationships" id="271" r:id="Raac208bc1f63421b"/>
    <p:sldId xmlns:r="http://schemas.openxmlformats.org/officeDocument/2006/relationships" id="272" r:id="Rb1e056230e40422b"/>
    <p:sldId xmlns:r="http://schemas.openxmlformats.org/officeDocument/2006/relationships" id="273" r:id="R19827e9213cc4fab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c94fd72be05e42f5" /><Relationship Type="http://schemas.openxmlformats.org/officeDocument/2006/relationships/slideMaster" Target="/ppt/slideMasters/slideMaster1.xml" Id="R206c32e736f8460e" /><Relationship Type="http://schemas.openxmlformats.org/officeDocument/2006/relationships/notesMaster" Target="/ppt/notesMasters/notesMaster1.xml" Id="Rdc3be7b181004371" /><Relationship Type="http://schemas.openxmlformats.org/officeDocument/2006/relationships/presProps" Target="/ppt/presProps.xml" Id="R8a8bee1efe274ef9" /><Relationship Type="http://schemas.openxmlformats.org/officeDocument/2006/relationships/tableStyles" Target="/ppt/tableStyles.xml" Id="Rf049efe6099f4a77" /><Relationship Type="http://schemas.openxmlformats.org/officeDocument/2006/relationships/slide" Target="/ppt/slides/slide1.xml" Id="Rf9dfdac0f86f4f7c" /><Relationship Type="http://schemas.openxmlformats.org/officeDocument/2006/relationships/slide" Target="/ppt/slides/slide2.xml" Id="R6d463a9f31fa4989" /><Relationship Type="http://schemas.openxmlformats.org/officeDocument/2006/relationships/slide" Target="/ppt/slides/slide3.xml" Id="R0442b1ca312e45e2" /><Relationship Type="http://schemas.openxmlformats.org/officeDocument/2006/relationships/slide" Target="/ppt/slides/slide4.xml" Id="R040b6a4372bc4fa1" /><Relationship Type="http://schemas.openxmlformats.org/officeDocument/2006/relationships/slide" Target="/ppt/slides/slide5.xml" Id="R7a479a28c77e4017" /><Relationship Type="http://schemas.openxmlformats.org/officeDocument/2006/relationships/slide" Target="/ppt/slides/slide6.xml" Id="Ra3f7bfdab9c04e12" /><Relationship Type="http://schemas.openxmlformats.org/officeDocument/2006/relationships/slide" Target="/ppt/slides/slide7.xml" Id="R714362f6bedc4fb9" /><Relationship Type="http://schemas.openxmlformats.org/officeDocument/2006/relationships/slide" Target="/ppt/slides/slide8.xml" Id="Ra0d799ee00da4ea8" /><Relationship Type="http://schemas.openxmlformats.org/officeDocument/2006/relationships/slide" Target="/ppt/slides/slide9.xml" Id="Raa512c6bebe84336" /><Relationship Type="http://schemas.openxmlformats.org/officeDocument/2006/relationships/slide" Target="/ppt/slides/slide10.xml" Id="R51c46e0bd6f94034" /><Relationship Type="http://schemas.openxmlformats.org/officeDocument/2006/relationships/slide" Target="/ppt/slides/slide11.xml" Id="R672af8cc6efa4474" /><Relationship Type="http://schemas.openxmlformats.org/officeDocument/2006/relationships/slide" Target="/ppt/slides/slide12.xml" Id="R9be446aecafd42af" /><Relationship Type="http://schemas.openxmlformats.org/officeDocument/2006/relationships/slide" Target="/ppt/slides/slide13.xml" Id="R106a024a2ecd49a4" /><Relationship Type="http://schemas.openxmlformats.org/officeDocument/2006/relationships/slide" Target="/ppt/slides/slide14.xml" Id="Rced9c23badb74810" /><Relationship Type="http://schemas.openxmlformats.org/officeDocument/2006/relationships/slide" Target="/ppt/slides/slide15.xml" Id="R32175ac9135a4fd6" /><Relationship Type="http://schemas.openxmlformats.org/officeDocument/2006/relationships/slide" Target="/ppt/slides/slide16.xml" Id="Raac208bc1f63421b" /><Relationship Type="http://schemas.openxmlformats.org/officeDocument/2006/relationships/slide" Target="/ppt/slides/slide17.xml" Id="Rb1e056230e40422b" /><Relationship Type="http://schemas.openxmlformats.org/officeDocument/2006/relationships/slide" Target="/ppt/slides/slide18.xml" Id="R19827e9213cc4fab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1aaa0e5568624ff1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6f5173720fb34b75" /><Relationship Type="http://schemas.openxmlformats.org/officeDocument/2006/relationships/notesMaster" Target="/ppt/notesMasters/notesMaster1.xml" Id="Rfef015955106497d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2c5d9d28e52945c3" /><Relationship Type="http://schemas.openxmlformats.org/officeDocument/2006/relationships/notesMaster" Target="/ppt/notesMasters/notesMaster1.xml" Id="R545cce45e55549ba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a3a0c862126a4c51" /><Relationship Type="http://schemas.openxmlformats.org/officeDocument/2006/relationships/notesMaster" Target="/ppt/notesMasters/notesMaster1.xml" Id="Rf9620be263244166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f6f648fba091460a" /><Relationship Type="http://schemas.openxmlformats.org/officeDocument/2006/relationships/notesMaster" Target="/ppt/notesMasters/notesMaster1.xml" Id="R5b8d6b68aa744afe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b7d400b2003541c9" /><Relationship Type="http://schemas.openxmlformats.org/officeDocument/2006/relationships/notesMaster" Target="/ppt/notesMasters/notesMaster1.xml" Id="R7421f3a781b84c34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d86e6a75ff984946" /><Relationship Type="http://schemas.openxmlformats.org/officeDocument/2006/relationships/notesMaster" Target="/ppt/notesMasters/notesMaster1.xml" Id="Re1148e0ab7044c05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0a9c35ac8d4f4e05" /><Relationship Type="http://schemas.openxmlformats.org/officeDocument/2006/relationships/notesMaster" Target="/ppt/notesMasters/notesMaster1.xml" Id="R6a377e378e0a4f4a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7d1007b505984a5b" /><Relationship Type="http://schemas.openxmlformats.org/officeDocument/2006/relationships/notesMaster" Target="/ppt/notesMasters/notesMaster1.xml" Id="Ra6e8b3336002471b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1d43cc1ab2f1457b" /><Relationship Type="http://schemas.openxmlformats.org/officeDocument/2006/relationships/notesMaster" Target="/ppt/notesMasters/notesMaster1.xml" Id="R0e0feaedf0d74ab6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95508391fdae47a0" /><Relationship Type="http://schemas.openxmlformats.org/officeDocument/2006/relationships/notesMaster" Target="/ppt/notesMasters/notesMaster1.xml" Id="R8ba39957db644aa7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8282350dbfe94e64" /><Relationship Type="http://schemas.openxmlformats.org/officeDocument/2006/relationships/notesMaster" Target="/ppt/notesMasters/notesMaster1.xml" Id="R53887467709d4c56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48258198696c4f0b" /><Relationship Type="http://schemas.openxmlformats.org/officeDocument/2006/relationships/notesMaster" Target="/ppt/notesMasters/notesMaster1.xml" Id="Rcbccb8e89cb24322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6c5027405eaf4bd9" /><Relationship Type="http://schemas.openxmlformats.org/officeDocument/2006/relationships/notesMaster" Target="/ppt/notesMasters/notesMaster1.xml" Id="R8002adeb41f940f7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f0085d8e7ce74fc0" /><Relationship Type="http://schemas.openxmlformats.org/officeDocument/2006/relationships/notesMaster" Target="/ppt/notesMasters/notesMaster1.xml" Id="R7d4c1c807b5c4602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bbbbd730e6234e05" /><Relationship Type="http://schemas.openxmlformats.org/officeDocument/2006/relationships/notesMaster" Target="/ppt/notesMasters/notesMaster1.xml" Id="R136faf4b7f174019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a2c7e8501fe94a94" /><Relationship Type="http://schemas.openxmlformats.org/officeDocument/2006/relationships/notesMaster" Target="/ppt/notesMasters/notesMaster1.xml" Id="R47db6c390f5c4509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48af1e5b6bf348ea" /><Relationship Type="http://schemas.openxmlformats.org/officeDocument/2006/relationships/notesMaster" Target="/ppt/notesMasters/notesMaster1.xml" Id="R5dabbd41fea14d2b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6b21f66200f84f8f" /><Relationship Type="http://schemas.openxmlformats.org/officeDocument/2006/relationships/notesMaster" Target="/ppt/notesMasters/notesMaster1.xml" Id="R892954bef7034124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Topic 2.1 lesson 10: Merge sort and insertion sort.</a:t>
            </a:r>
          </a:p>
          <a:p xmlns:a="http://schemas.openxmlformats.org/drawingml/2006/main">
            <a:r>
              <a:t>Source sequence: supplied 2.1 - Algorithms(3).pdf, lessons 1–16. Original Revise360 explanations and practice questions.</a:t>
            </a:r>
          </a:p>
          <a:p xmlns:a="http://schemas.openxmlformats.org/drawingml/2006/main">
            <a:r>
              <a:t>Curriculum: OCR J277 specification v3.1, sections 2.1.1–2.1.3, https://www.ocr.org.uk/Images/558027-specification-gcse-computer-science-j277.pdf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Topic 2.1 lesson 10: Merge sort and insertion sort.</a:t>
            </a:r>
          </a:p>
          <a:p xmlns:a="http://schemas.openxmlformats.org/drawingml/2006/main">
            <a:r>
              <a:t>Source sequence: supplied 2.1 - Algorithms(3).pdf, lessons 1–16. Original Revise360 explanations and practice questions.</a:t>
            </a:r>
          </a:p>
          <a:p xmlns:a="http://schemas.openxmlformats.org/drawingml/2006/main">
            <a:r>
              <a:t>Curriculum: OCR J277 specification v3.1, sections 2.1.1–2.1.3, https://www.ocr.org.uk/Images/558027-specification-gcse-computer-science-j277.pdf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Topic 2.1 lesson 10: Merge sort and insertion sort.</a:t>
            </a:r>
          </a:p>
          <a:p xmlns:a="http://schemas.openxmlformats.org/drawingml/2006/main">
            <a:r>
              <a:t>Source sequence: supplied 2.1 - Algorithms(3).pdf, lessons 1–16. Original Revise360 explanations and practice questions.</a:t>
            </a:r>
          </a:p>
          <a:p xmlns:a="http://schemas.openxmlformats.org/drawingml/2006/main">
            <a:r>
              <a:t>Curriculum: OCR J277 specification v3.1, sections 2.1.1–2.1.3, https://www.ocr.org.uk/Images/558027-specification-gcse-computer-science-j277.pdf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Topic 2.1 lesson 10: Merge sort and insertion sort.</a:t>
            </a:r>
          </a:p>
          <a:p xmlns:a="http://schemas.openxmlformats.org/drawingml/2006/main">
            <a:r>
              <a:t>Source sequence: supplied 2.1 - Algorithms(3).pdf, lessons 1–16. Original Revise360 explanations and practice questions.</a:t>
            </a:r>
          </a:p>
          <a:p xmlns:a="http://schemas.openxmlformats.org/drawingml/2006/main">
            <a:r>
              <a:t>Curriculum: OCR J277 specification v3.1, sections 2.1.1–2.1.3, https://www.ocr.org.uk/Images/558027-specification-gcse-computer-science-j277.pdf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Topic 2.1 lesson 10: Merge sort and insertion sort.</a:t>
            </a:r>
          </a:p>
          <a:p xmlns:a="http://schemas.openxmlformats.org/drawingml/2006/main">
            <a:r>
              <a:t>Source sequence: supplied 2.1 - Algorithms(3).pdf, lessons 1–16. Original Revise360 explanations and practice questions.</a:t>
            </a:r>
          </a:p>
          <a:p xmlns:a="http://schemas.openxmlformats.org/drawingml/2006/main">
            <a:r>
              <a:t>Curriculum: OCR J277 specification v3.1, sections 2.1.1–2.1.3, https://www.ocr.org.uk/Images/558027-specification-gcse-computer-science-j277.pdf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Topic 2.1 lesson 10: Merge sort and insertion sort.</a:t>
            </a:r>
          </a:p>
          <a:p xmlns:a="http://schemas.openxmlformats.org/drawingml/2006/main">
            <a:r>
              <a:t>Source sequence: supplied 2.1 - Algorithms(3).pdf, lessons 1–16. Original Revise360 explanations and practice questions.</a:t>
            </a:r>
          </a:p>
          <a:p xmlns:a="http://schemas.openxmlformats.org/drawingml/2006/main">
            <a:r>
              <a:t>Curriculum: OCR J277 specification v3.1, sections 2.1.1–2.1.3, https://www.ocr.org.uk/Images/558027-specification-gcse-computer-science-j277.pdf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Topic 2.1 lesson 10: Merge sort and insertion sort.</a:t>
            </a:r>
          </a:p>
          <a:p xmlns:a="http://schemas.openxmlformats.org/drawingml/2006/main">
            <a:r>
              <a:t>Source sequence: supplied 2.1 - Algorithms(3).pdf, lessons 1–16. Original Revise360 explanations and practice questions.</a:t>
            </a:r>
          </a:p>
          <a:p xmlns:a="http://schemas.openxmlformats.org/drawingml/2006/main">
            <a:r>
              <a:t>Curriculum: OCR J277 specification v3.1, sections 2.1.1–2.1.3, https://www.ocr.org.uk/Images/558027-specification-gcse-computer-science-j277.pdf</a:t>
            </a:r>
          </a:p>
          <a:p xmlns:a="http://schemas.openxmlformats.org/drawingml/2006/main">
            <a:r>
              <a:t>Allow approximately 25–30 minutes for the experience and worksheet. Pupils record facts in their own words.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Topic 2.1 lesson 10: Merge sort and insertion sort.</a:t>
            </a:r>
          </a:p>
          <a:p xmlns:a="http://schemas.openxmlformats.org/drawingml/2006/main">
            <a:r>
              <a:t>Source sequence: supplied 2.1 - Algorithms(3).pdf, lessons 1–16. Original Revise360 explanations and practice questions.</a:t>
            </a:r>
          </a:p>
          <a:p xmlns:a="http://schemas.openxmlformats.org/drawingml/2006/main">
            <a:r>
              <a:t>Curriculum: OCR J277 specification v3.1, sections 2.1.1–2.1.3, https://www.ocr.org.uk/Images/558027-specification-gcse-computer-science-j277.pdf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Topic 2.1 lesson 10: Merge sort and insertion sort.</a:t>
            </a:r>
          </a:p>
          <a:p xmlns:a="http://schemas.openxmlformats.org/drawingml/2006/main">
            <a:r>
              <a:t>Source sequence: supplied 2.1 - Algorithms(3).pdf, lessons 1–16. Original Revise360 explanations and practice questions.</a:t>
            </a:r>
          </a:p>
          <a:p xmlns:a="http://schemas.openxmlformats.org/drawingml/2006/main">
            <a:r>
              <a:t>Curriculum: OCR J277 specification v3.1, sections 2.1.1–2.1.3, https://www.ocr.org.uk/Images/558027-specification-gcse-computer-science-j277.pdf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Topic 2.1 lesson 10: Merge sort and insertion sort.</a:t>
            </a:r>
          </a:p>
          <a:p xmlns:a="http://schemas.openxmlformats.org/drawingml/2006/main">
            <a:r>
              <a:t>Source sequence: supplied 2.1 - Algorithms(3).pdf, lessons 1–16. Original Revise360 explanations and practice questions.</a:t>
            </a:r>
          </a:p>
          <a:p xmlns:a="http://schemas.openxmlformats.org/drawingml/2006/main">
            <a:r>
              <a:t>Curriculum: OCR J277 specification v3.1, sections 2.1.1–2.1.3, https://www.ocr.org.uk/Images/558027-specification-gcse-computer-science-j277.pdf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Topic 2.1 lesson 10: Merge sort and insertion sort.</a:t>
            </a:r>
          </a:p>
          <a:p xmlns:a="http://schemas.openxmlformats.org/drawingml/2006/main">
            <a:r>
              <a:t>Source sequence: supplied 2.1 - Algorithms(3).pdf, lessons 1–16. Original Revise360 explanations and practice questions.</a:t>
            </a:r>
          </a:p>
          <a:p xmlns:a="http://schemas.openxmlformats.org/drawingml/2006/main">
            <a:r>
              <a:t>Curriculum: OCR J277 specification v3.1, sections 2.1.1–2.1.3, https://www.ocr.org.uk/Images/558027-specification-gcse-computer-science-j277.pdf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Topic 2.1 lesson 10: Merge sort and insertion sort.</a:t>
            </a:r>
          </a:p>
          <a:p xmlns:a="http://schemas.openxmlformats.org/drawingml/2006/main">
            <a:r>
              <a:t>Source sequence: supplied 2.1 - Algorithms(3).pdf, lessons 1–16. Original Revise360 explanations and practice questions.</a:t>
            </a:r>
          </a:p>
          <a:p xmlns:a="http://schemas.openxmlformats.org/drawingml/2006/main">
            <a:r>
              <a:t>Curriculum: OCR J277 specification v3.1, sections 2.1.1–2.1.3, https://www.ocr.org.uk/Images/558027-specification-gcse-computer-science-j277.pdf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Topic 2.1 lesson 10: Merge sort and insertion sort.</a:t>
            </a:r>
          </a:p>
          <a:p xmlns:a="http://schemas.openxmlformats.org/drawingml/2006/main">
            <a:r>
              <a:t>Source sequence: supplied 2.1 - Algorithms(3).pdf, lessons 1–16. Original Revise360 explanations and practice questions.</a:t>
            </a:r>
          </a:p>
          <a:p xmlns:a="http://schemas.openxmlformats.org/drawingml/2006/main">
            <a:r>
              <a:t>Curriculum: OCR J277 specification v3.1, sections 2.1.1–2.1.3, https://www.ocr.org.uk/Images/558027-specification-gcse-computer-science-j277.pdf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Topic 2.1 lesson 10: Merge sort and insertion sort.</a:t>
            </a:r>
          </a:p>
          <a:p xmlns:a="http://schemas.openxmlformats.org/drawingml/2006/main">
            <a:r>
              <a:t>Source sequence: supplied 2.1 - Algorithms(3).pdf, lessons 1–16. Original Revise360 explanations and practice questions.</a:t>
            </a:r>
          </a:p>
          <a:p xmlns:a="http://schemas.openxmlformats.org/drawingml/2006/main">
            <a:r>
              <a:t>Curriculum: OCR J277 specification v3.1, sections 2.1.1–2.1.3, https://www.ocr.org.uk/Images/558027-specification-gcse-computer-science-j277.pdf</a:t>
            </a:r>
          </a:p>
          <a:p xmlns:a="http://schemas.openxmlformats.org/drawingml/2006/main">
            <a:r>
              <a:t>Close the experience before attempting the questions.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Topic 2.1 lesson 10: Merge sort and insertion sort.</a:t>
            </a:r>
          </a:p>
          <a:p xmlns:a="http://schemas.openxmlformats.org/drawingml/2006/main">
            <a:r>
              <a:t>Source sequence: supplied 2.1 - Algorithms(3).pdf, lessons 1–16. Original Revise360 explanations and practice questions.</a:t>
            </a:r>
          </a:p>
          <a:p xmlns:a="http://schemas.openxmlformats.org/drawingml/2006/main">
            <a:r>
              <a:t>Curriculum: OCR J277 specification v3.1, sections 2.1.1–2.1.3, https://www.ocr.org.uk/Images/558027-specification-gcse-computer-science-j277.pdf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Topic 2.1 lesson 10: Merge sort and insertion sort.</a:t>
            </a:r>
          </a:p>
          <a:p xmlns:a="http://schemas.openxmlformats.org/drawingml/2006/main">
            <a:r>
              <a:t>Source sequence: supplied 2.1 - Algorithms(3).pdf, lessons 1–16. Original Revise360 explanations and practice questions.</a:t>
            </a:r>
          </a:p>
          <a:p xmlns:a="http://schemas.openxmlformats.org/drawingml/2006/main">
            <a:r>
              <a:t>Curriculum: OCR J277 specification v3.1, sections 2.1.1–2.1.3, https://www.ocr.org.uk/Images/558027-specification-gcse-computer-science-j277.pdf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Topic 2.1 lesson 10: Merge sort and insertion sort.</a:t>
            </a:r>
          </a:p>
          <a:p xmlns:a="http://schemas.openxmlformats.org/drawingml/2006/main">
            <a:r>
              <a:t>Source sequence: supplied 2.1 - Algorithms(3).pdf, lessons 1–16. Original Revise360 explanations and practice questions.</a:t>
            </a:r>
          </a:p>
          <a:p xmlns:a="http://schemas.openxmlformats.org/drawingml/2006/main">
            <a:r>
              <a:t>Curriculum: OCR J277 specification v3.1, sections 2.1.1–2.1.3, https://www.ocr.org.uk/Images/558027-specification-gcse-computer-science-j277.pdf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Topic 2.1 lesson 10: Merge sort and insertion sort.</a:t>
            </a:r>
          </a:p>
          <a:p xmlns:a="http://schemas.openxmlformats.org/drawingml/2006/main">
            <a:r>
              <a:t>Source sequence: supplied 2.1 - Algorithms(3).pdf, lessons 1–16. Original Revise360 explanations and practice questions.</a:t>
            </a:r>
          </a:p>
          <a:p xmlns:a="http://schemas.openxmlformats.org/drawingml/2006/main">
            <a:r>
              <a:t>Curriculum: OCR J277 specification v3.1, sections 2.1.1–2.1.3, https://www.ocr.org.uk/Images/558027-specification-gcse-computer-science-j277.pdf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eaa48bd3e2e4490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5bf377f4cf434fbc" /><Relationship Type="http://schemas.openxmlformats.org/officeDocument/2006/relationships/slideLayout" Target="/ppt/slideLayouts/slideLayout1.xml" Id="R2094d59aa27a4be5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2094d59aa27a4be5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786db3ce1fe419a" /><Relationship Type="http://schemas.openxmlformats.org/officeDocument/2006/relationships/image" Target="/ppt/media/image.png" Id="Rb5392d8bf98d4e2c" /><Relationship Type="http://schemas.openxmlformats.org/officeDocument/2006/relationships/image" Target="/ppt/media/image.jpeg" Id="R5b60d68c5def4e7d" /><Relationship Type="http://schemas.openxmlformats.org/officeDocument/2006/relationships/notesSlide" Target="/ppt/notesSlides/notesSlide1.xml" Id="R5b8ef6e288e7450d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c91457e522a464d" /><Relationship Type="http://schemas.openxmlformats.org/officeDocument/2006/relationships/image" Target="/ppt/media/image2.png" Id="Raeabb20b989f4a16" /><Relationship Type="http://schemas.openxmlformats.org/officeDocument/2006/relationships/notesSlide" Target="/ppt/notesSlides/notesSlide2.xml" Id="R608798e7d7634955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74f713fa37e402b" /><Relationship Type="http://schemas.openxmlformats.org/officeDocument/2006/relationships/image" Target="/ppt/media/image3.png" Id="R20a431f25b2c450c" /><Relationship Type="http://schemas.openxmlformats.org/officeDocument/2006/relationships/notesSlide" Target="/ppt/notesSlides/notesSlide3.xml" Id="R98e7c008db4d4f18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3700977ffdc4711" /><Relationship Type="http://schemas.openxmlformats.org/officeDocument/2006/relationships/image" Target="/ppt/media/image4.png" Id="R9ff474beb8d14b4d" /><Relationship Type="http://schemas.openxmlformats.org/officeDocument/2006/relationships/notesSlide" Target="/ppt/notesSlides/notesSlide4.xml" Id="R35b606c99a78474a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bd281c3dbd44754" /><Relationship Type="http://schemas.openxmlformats.org/officeDocument/2006/relationships/image" Target="/ppt/media/image5.png" Id="R8c838084ead144df" /><Relationship Type="http://schemas.openxmlformats.org/officeDocument/2006/relationships/notesSlide" Target="/ppt/notesSlides/notesSlide5.xml" Id="R148ebbb8e8de47e7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103d01687e94605" /><Relationship Type="http://schemas.openxmlformats.org/officeDocument/2006/relationships/image" Target="/ppt/media/image6.png" Id="Rfdf70b854b824757" /><Relationship Type="http://schemas.openxmlformats.org/officeDocument/2006/relationships/notesSlide" Target="/ppt/notesSlides/notesSlide6.xml" Id="Rc5c24c0ecc624dfa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fa7b56ebcab4c1c" /><Relationship Type="http://schemas.openxmlformats.org/officeDocument/2006/relationships/image" Target="/ppt/media/image7.png" Id="R06ecd830780d4538" /><Relationship Type="http://schemas.openxmlformats.org/officeDocument/2006/relationships/notesSlide" Target="/ppt/notesSlides/notesSlide7.xml" Id="Ra7a638737e3345dc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734c1f096804563" /><Relationship Type="http://schemas.openxmlformats.org/officeDocument/2006/relationships/image" Target="/ppt/media/image8.png" Id="R0b42d7b69833493d" /><Relationship Type="http://schemas.openxmlformats.org/officeDocument/2006/relationships/notesSlide" Target="/ppt/notesSlides/notesSlide8.xml" Id="R56f8b409716145ea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1c79140ebcf48ba" /><Relationship Type="http://schemas.openxmlformats.org/officeDocument/2006/relationships/image" Target="/ppt/media/image9.png" Id="Rbd51afa460d248c0" /><Relationship Type="http://schemas.openxmlformats.org/officeDocument/2006/relationships/notesSlide" Target="/ppt/notesSlides/notesSlide9.xml" Id="R5dc71191373840b4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7c4584cbd0f4d02" /><Relationship Type="http://schemas.openxmlformats.org/officeDocument/2006/relationships/image" Target="/ppt/media/image10.png" Id="R5a00eb9760af4cb2" /><Relationship Type="http://schemas.openxmlformats.org/officeDocument/2006/relationships/notesSlide" Target="/ppt/notesSlides/notesSlide10.xml" Id="R0e969136b43d47e1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9ef794703b54d33" /><Relationship Type="http://schemas.openxmlformats.org/officeDocument/2006/relationships/image" Target="/ppt/media/image11.png" Id="Rea616d1f55a64cb5" /><Relationship Type="http://schemas.openxmlformats.org/officeDocument/2006/relationships/notesSlide" Target="/ppt/notesSlides/notesSlide11.xml" Id="R026e3e52d5f64b96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2e210218f2e4f39" /><Relationship Type="http://schemas.openxmlformats.org/officeDocument/2006/relationships/image" Target="/ppt/media/image12.png" Id="Rf7642d34ed3f4a94" /><Relationship Type="http://schemas.openxmlformats.org/officeDocument/2006/relationships/notesSlide" Target="/ppt/notesSlides/notesSlide12.xml" Id="R4dab225066654cdf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bd2a4cc5c6c4011" /><Relationship Type="http://schemas.openxmlformats.org/officeDocument/2006/relationships/image" Target="/ppt/media/image13.png" Id="R7fbc8175cf7c4ae2" /><Relationship Type="http://schemas.openxmlformats.org/officeDocument/2006/relationships/notesSlide" Target="/ppt/notesSlides/notesSlide13.xml" Id="R32040561651c4d42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852ea52aef24f27" /><Relationship Type="http://schemas.openxmlformats.org/officeDocument/2006/relationships/image" Target="/ppt/media/image14.png" Id="Re32bd2fa13f74d22" /><Relationship Type="http://schemas.openxmlformats.org/officeDocument/2006/relationships/notesSlide" Target="/ppt/notesSlides/notesSlide14.xml" Id="R1ff1fc188d984c76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c8fe082994b4d28" /><Relationship Type="http://schemas.openxmlformats.org/officeDocument/2006/relationships/image" Target="/ppt/media/image15.png" Id="R7bcf1c5dadb94171" /><Relationship Type="http://schemas.openxmlformats.org/officeDocument/2006/relationships/notesSlide" Target="/ppt/notesSlides/notesSlide15.xml" Id="R8f94fe0e73fa4242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c8667bd9dcd4c43" /><Relationship Type="http://schemas.openxmlformats.org/officeDocument/2006/relationships/image" Target="/ppt/media/image16.png" Id="Rf8ac9414152e4f33" /><Relationship Type="http://schemas.openxmlformats.org/officeDocument/2006/relationships/notesSlide" Target="/ppt/notesSlides/notesSlide16.xml" Id="Rdc204207020944ee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d530675fb194858" /><Relationship Type="http://schemas.openxmlformats.org/officeDocument/2006/relationships/image" Target="/ppt/media/image17.png" Id="Rc1414b357d644fba" /><Relationship Type="http://schemas.openxmlformats.org/officeDocument/2006/relationships/notesSlide" Target="/ppt/notesSlides/notesSlide17.xml" Id="Ra5e701b9e27d4255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230f65a7fb3407a" /><Relationship Type="http://schemas.openxmlformats.org/officeDocument/2006/relationships/image" Target="/ppt/media/image18.png" Id="R8a9413430ef54da5" /><Relationship Type="http://schemas.openxmlformats.org/officeDocument/2006/relationships/notesSlide" Target="/ppt/notesSlides/notesSlide18.xml" Id="R2bb0168ac142415d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12244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footer background">
            <a:extLst xmlns:a="http://schemas.openxmlformats.org/drawingml/2006/main">
              <a:ext uri="{FF2B5EF4-FFF2-40B4-BE49-F238E27FC236}">
                <a16:creationId xmlns:a16="http://schemas.microsoft.com/office/drawing/2014/main" id="{7A49B242-0A93-4CAA-A976-B7B8541459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124575"/>
            <a:ext cx="12192000" cy="7334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2" name="topic">
            <a:extLst xmlns:a="http://schemas.openxmlformats.org/drawingml/2006/main">
              <a:ext uri="{FF2B5EF4-FFF2-40B4-BE49-F238E27FC236}">
                <a16:creationId xmlns:a16="http://schemas.microsoft.com/office/drawing/2014/main" id="{7C87B069-4AE3-41FB-8E32-622FAD070C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23850"/>
            <a:ext cx="98107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77D8FF"/>
                </a:solidFill>
                <a:latin typeface="DejaVu Sans"/>
                <a:ea typeface="DejaVu Sans"/>
                <a:cs typeface="DejaVu Sans"/>
              </a:defRPr>
            </a:pPr>
            <a:r>
              <a:rPr sz="1125" b="1">
                <a:solidFill>
                  <a:srgbClr val="77D8FF"/>
                </a:solidFill>
                <a:latin typeface="DejaVu Sans"/>
                <a:ea typeface="DejaVu Sans"/>
                <a:cs typeface="DejaVu Sans"/>
              </a:rPr>
              <a:t>TOPIC 2.1   /   LESSON 10</a:t>
            </a:r>
          </a:p>
        </p:txBody>
      </p:sp>
      <p:sp>
        <p:nvSpPr>
          <p:cNvPr id="3" name="heading">
            <a:extLst xmlns:a="http://schemas.openxmlformats.org/drawingml/2006/main">
              <a:ext uri="{FF2B5EF4-FFF2-40B4-BE49-F238E27FC236}">
                <a16:creationId xmlns:a16="http://schemas.microsoft.com/office/drawing/2014/main" id="{53815F20-9933-4640-9E82-67A009EF07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762000"/>
            <a:ext cx="108585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3225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3225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MERGE AND INSERTION WORKS</a:t>
            </a:r>
          </a:p>
        </p:txBody>
      </p:sp>
      <p:pic>
        <p:nvPicPr>
          <p:cNvPr id="1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5392d8bf98d4e2c"/>
          <a:stretch xmlns:a="http://schemas.openxmlformats.org/drawingml/2006/main"/>
        </p:blipFill>
        <p:spPr>
          <a:xfrm xmlns:a="http://schemas.openxmlformats.org/drawingml/2006/main">
            <a:off x="666750" y="6241242"/>
            <a:ext cx="2038350" cy="395316"/>
          </a:xfrm>
          <a:prstGeom xmlns:a="http://schemas.openxmlformats.org/drawingml/2006/main" prst="rect">
            <a:avLst/>
          </a:prstGeom>
        </p:spPr>
      </p:pic>
      <p:sp>
        <p:nvSpPr>
          <p:cNvPr id="5" name="page">
            <a:extLst xmlns:a="http://schemas.openxmlformats.org/drawingml/2006/main">
              <a:ext uri="{FF2B5EF4-FFF2-40B4-BE49-F238E27FC236}">
                <a16:creationId xmlns:a16="http://schemas.microsoft.com/office/drawing/2014/main" id="{248E3C81-C842-45B0-92BB-277816F0B5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400800"/>
            <a:ext cx="857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050" b="0">
                <a:solidFill>
                  <a:srgbClr val="526174"/>
                </a:solidFill>
                <a:latin typeface="DejaVu Sans"/>
                <a:ea typeface="DejaVu Sans"/>
                <a:cs typeface="DejaVu Sans"/>
              </a:defRPr>
            </a:pPr>
            <a:r>
              <a:rPr sz="1050" b="0">
                <a:solidFill>
                  <a:srgbClr val="526174"/>
                </a:solidFill>
                <a:latin typeface="DejaVu Sans"/>
                <a:ea typeface="DejaVu Sans"/>
                <a:cs typeface="DejaVu Sans"/>
              </a:rPr>
              <a:t>1 / 18</a:t>
            </a:r>
          </a:p>
        </p:txBody>
      </p:sp>
      <p:sp>
        <p:nvSpPr>
          <p:cNvPr id="6" name="subject">
            <a:extLst xmlns:a="http://schemas.openxmlformats.org/drawingml/2006/main">
              <a:ext uri="{FF2B5EF4-FFF2-40B4-BE49-F238E27FC236}">
                <a16:creationId xmlns:a16="http://schemas.microsoft.com/office/drawing/2014/main" id="{1D1867E6-9160-4B7B-B718-C2045EBD66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62125"/>
            <a:ext cx="5143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325" b="0">
                <a:solidFill>
                  <a:srgbClr val="77D8FF"/>
                </a:solidFill>
                <a:latin typeface="DejaVu Sans"/>
                <a:ea typeface="DejaVu Sans"/>
                <a:cs typeface="DejaVu Sans"/>
              </a:defRPr>
            </a:pPr>
            <a:r>
              <a:rPr sz="2325" b="0">
                <a:solidFill>
                  <a:srgbClr val="77D8FF"/>
                </a:solidFill>
                <a:latin typeface="DejaVu Sans"/>
                <a:ea typeface="DejaVu Sans"/>
                <a:cs typeface="DejaVu Sans"/>
              </a:rPr>
              <a:t>Merge sort and insertion sort</a:t>
            </a:r>
          </a:p>
        </p:txBody>
      </p:sp>
      <p:sp>
        <p:nvSpPr>
          <p:cNvPr id="7" name="cover-key-label">
            <a:extLst xmlns:a="http://schemas.openxmlformats.org/drawingml/2006/main">
              <a:ext uri="{FF2B5EF4-FFF2-40B4-BE49-F238E27FC236}">
                <a16:creationId xmlns:a16="http://schemas.microsoft.com/office/drawing/2014/main" id="{DB6C6EAB-F00F-49E7-BB96-0088CAEA29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038475"/>
            <a:ext cx="4572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1">
                <a:solidFill>
                  <a:srgbClr val="77D8FF"/>
                </a:solidFill>
                <a:latin typeface="DejaVu Sans"/>
                <a:ea typeface="DejaVu Sans"/>
                <a:cs typeface="DejaVu Sans"/>
              </a:defRPr>
            </a:pPr>
            <a:r>
              <a:rPr sz="1425" b="1">
                <a:solidFill>
                  <a:srgbClr val="77D8FF"/>
                </a:solidFill>
                <a:latin typeface="DejaVu Sans"/>
                <a:ea typeface="DejaVu Sans"/>
                <a:cs typeface="DejaVu Sans"/>
              </a:rPr>
              <a:t>DO NOW: RESEARCH AND DISCUSS</a:t>
            </a:r>
          </a:p>
        </p:txBody>
      </p:sp>
      <p:sp>
        <p:nvSpPr>
          <p:cNvPr id="8" name="cover-key-question">
            <a:extLst xmlns:a="http://schemas.openxmlformats.org/drawingml/2006/main">
              <a:ext uri="{FF2B5EF4-FFF2-40B4-BE49-F238E27FC236}">
                <a16:creationId xmlns:a16="http://schemas.microsoft.com/office/drawing/2014/main" id="{00081038-3E7F-400E-8756-EE3640E7E6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29000"/>
            <a:ext cx="4762500" cy="1600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175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2175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How do you put a new playing card into a sorted hand?</a:t>
            </a:r>
          </a:p>
        </p:txBody>
      </p:sp>
      <p:pic>
        <p:nvPicPr>
          <p:cNvPr id="2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b60d68c5def4e7d"/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6076950" y="1931789"/>
            <a:ext cx="5400675" cy="3375422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31051870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footer background">
            <a:extLst xmlns:a="http://schemas.openxmlformats.org/drawingml/2006/main">
              <a:ext uri="{FF2B5EF4-FFF2-40B4-BE49-F238E27FC236}">
                <a16:creationId xmlns:a16="http://schemas.microsoft.com/office/drawing/2014/main" id="{729D0D74-D405-4298-8504-19625DD8F4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124575"/>
            <a:ext cx="12192000" cy="7334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2" name="topic">
            <a:extLst xmlns:a="http://schemas.openxmlformats.org/drawingml/2006/main">
              <a:ext uri="{FF2B5EF4-FFF2-40B4-BE49-F238E27FC236}">
                <a16:creationId xmlns:a16="http://schemas.microsoft.com/office/drawing/2014/main" id="{BC94BCC8-515D-47EA-B6E2-2B7D4AC1DC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23850"/>
            <a:ext cx="98107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2D63FF"/>
                </a:solidFill>
                <a:latin typeface="DejaVu Sans"/>
                <a:ea typeface="DejaVu Sans"/>
                <a:cs typeface="DejaVu Sans"/>
              </a:defRPr>
            </a:pPr>
            <a:r>
              <a:rPr sz="1125" b="1">
                <a:solidFill>
                  <a:srgbClr val="2D63FF"/>
                </a:solidFill>
                <a:latin typeface="DejaVu Sans"/>
                <a:ea typeface="DejaVu Sans"/>
                <a:cs typeface="DejaVu Sans"/>
              </a:rPr>
              <a:t>TOPIC 2.1   /   LESSON 10   /   WORKSHEET</a:t>
            </a:r>
          </a:p>
        </p:txBody>
      </p:sp>
      <p:sp>
        <p:nvSpPr>
          <p:cNvPr id="3" name="heading">
            <a:extLst xmlns:a="http://schemas.openxmlformats.org/drawingml/2006/main">
              <a:ext uri="{FF2B5EF4-FFF2-40B4-BE49-F238E27FC236}">
                <a16:creationId xmlns:a16="http://schemas.microsoft.com/office/drawing/2014/main" id="{EB715B87-24C3-4EB0-A531-09F29276D9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762000"/>
            <a:ext cx="108585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3225" b="1">
                <a:solidFill>
                  <a:srgbClr val="101828"/>
                </a:solidFill>
                <a:latin typeface="DejaVu Sans"/>
                <a:ea typeface="DejaVu Sans"/>
                <a:cs typeface="DejaVu Sans"/>
              </a:defRPr>
            </a:pPr>
            <a:r>
              <a:rPr sz="3225" b="1">
                <a:solidFill>
                  <a:srgbClr val="101828"/>
                </a:solidFill>
                <a:latin typeface="DejaVu Sans"/>
                <a:ea typeface="DejaVu Sans"/>
                <a:cs typeface="DejaVu Sans"/>
              </a:rPr>
              <a:t>By the end of this lesson</a:t>
            </a:r>
          </a:p>
        </p:txBody>
      </p:sp>
      <p:pic>
        <p:nvPicPr>
          <p:cNvPr id="1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eabb20b989f4a16"/>
          <a:stretch xmlns:a="http://schemas.openxmlformats.org/drawingml/2006/main"/>
        </p:blipFill>
        <p:spPr>
          <a:xfrm xmlns:a="http://schemas.openxmlformats.org/drawingml/2006/main">
            <a:off x="666750" y="6241242"/>
            <a:ext cx="2038350" cy="395316"/>
          </a:xfrm>
          <a:prstGeom xmlns:a="http://schemas.openxmlformats.org/drawingml/2006/main" prst="rect">
            <a:avLst/>
          </a:prstGeom>
        </p:spPr>
      </p:pic>
      <p:sp>
        <p:nvSpPr>
          <p:cNvPr id="5" name="page">
            <a:extLst xmlns:a="http://schemas.openxmlformats.org/drawingml/2006/main">
              <a:ext uri="{FF2B5EF4-FFF2-40B4-BE49-F238E27FC236}">
                <a16:creationId xmlns:a16="http://schemas.microsoft.com/office/drawing/2014/main" id="{B946EE4D-4656-4BC2-8F50-308BDCE2BA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400800"/>
            <a:ext cx="857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050" b="0">
                <a:solidFill>
                  <a:srgbClr val="526174"/>
                </a:solidFill>
                <a:latin typeface="DejaVu Sans"/>
                <a:ea typeface="DejaVu Sans"/>
                <a:cs typeface="DejaVu Sans"/>
              </a:defRPr>
            </a:pPr>
            <a:r>
              <a:rPr sz="1050" b="0">
                <a:solidFill>
                  <a:srgbClr val="526174"/>
                </a:solidFill>
                <a:latin typeface="DejaVu Sans"/>
                <a:ea typeface="DejaVu Sans"/>
                <a:cs typeface="DejaVu Sans"/>
              </a:rPr>
              <a:t>2 / 18</a:t>
            </a:r>
          </a:p>
        </p:txBody>
      </p:sp>
      <p:sp>
        <p:nvSpPr>
          <p:cNvPr id="6" name="number-1">
            <a:extLst xmlns:a="http://schemas.openxmlformats.org/drawingml/2006/main">
              <a:ext uri="{FF2B5EF4-FFF2-40B4-BE49-F238E27FC236}">
                <a16:creationId xmlns:a16="http://schemas.microsoft.com/office/drawing/2014/main" id="{4F21E87F-93E4-451F-AB4E-8822ED3793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943100"/>
            <a:ext cx="5905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1">
                <a:solidFill>
                  <a:srgbClr val="2D63FF"/>
                </a:solidFill>
                <a:latin typeface="DejaVu Sans"/>
                <a:ea typeface="DejaVu Sans"/>
                <a:cs typeface="DejaVu Sans"/>
              </a:defRPr>
            </a:pPr>
            <a:r>
              <a:rPr sz="2025" b="1">
                <a:solidFill>
                  <a:srgbClr val="2D63FF"/>
                </a:solidFill>
                <a:latin typeface="DejaVu Sans"/>
                <a:ea typeface="DejaVu Sans"/>
                <a:cs typeface="DejaVu Sans"/>
              </a:rPr>
              <a:t>1.</a:t>
            </a:r>
          </a:p>
        </p:txBody>
      </p:sp>
      <p:sp>
        <p:nvSpPr>
          <p:cNvPr id="7" name="item-1">
            <a:extLst xmlns:a="http://schemas.openxmlformats.org/drawingml/2006/main">
              <a:ext uri="{FF2B5EF4-FFF2-40B4-BE49-F238E27FC236}">
                <a16:creationId xmlns:a16="http://schemas.microsoft.com/office/drawing/2014/main" id="{46CD32E7-7220-4C45-83BD-1A75D52228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1943100"/>
            <a:ext cx="992505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0">
                <a:solidFill>
                  <a:srgbClr val="101828"/>
                </a:solidFill>
                <a:latin typeface="DejaVu Sans"/>
                <a:ea typeface="DejaVu Sans"/>
                <a:cs typeface="DejaVu Sans"/>
              </a:defRPr>
            </a:pPr>
            <a:r>
              <a:rPr sz="2025" b="0">
                <a:solidFill>
                  <a:srgbClr val="101828"/>
                </a:solidFill>
                <a:latin typeface="DejaVu Sans"/>
                <a:ea typeface="DejaVu Sans"/>
                <a:cs typeface="DejaVu Sans"/>
              </a:rPr>
              <a:t>Trace merge sort splits and merges.</a:t>
            </a:r>
          </a:p>
        </p:txBody>
      </p:sp>
      <p:sp>
        <p:nvSpPr>
          <p:cNvPr id="8" name="number-2">
            <a:extLst xmlns:a="http://schemas.openxmlformats.org/drawingml/2006/main">
              <a:ext uri="{FF2B5EF4-FFF2-40B4-BE49-F238E27FC236}">
                <a16:creationId xmlns:a16="http://schemas.microsoft.com/office/drawing/2014/main" id="{27D15F66-C79A-48FB-A458-5FCABD7105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905125"/>
            <a:ext cx="5905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1">
                <a:solidFill>
                  <a:srgbClr val="2D63FF"/>
                </a:solidFill>
                <a:latin typeface="DejaVu Sans"/>
                <a:ea typeface="DejaVu Sans"/>
                <a:cs typeface="DejaVu Sans"/>
              </a:defRPr>
            </a:pPr>
            <a:r>
              <a:rPr sz="2025" b="1">
                <a:solidFill>
                  <a:srgbClr val="2D63FF"/>
                </a:solidFill>
                <a:latin typeface="DejaVu Sans"/>
                <a:ea typeface="DejaVu Sans"/>
                <a:cs typeface="DejaVu Sans"/>
              </a:rPr>
              <a:t>2.</a:t>
            </a:r>
          </a:p>
        </p:txBody>
      </p:sp>
      <p:sp>
        <p:nvSpPr>
          <p:cNvPr id="9" name="item-2">
            <a:extLst xmlns:a="http://schemas.openxmlformats.org/drawingml/2006/main">
              <a:ext uri="{FF2B5EF4-FFF2-40B4-BE49-F238E27FC236}">
                <a16:creationId xmlns:a16="http://schemas.microsoft.com/office/drawing/2014/main" id="{6D66A0FC-FF53-4CDB-B571-D4D170C6C5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2905125"/>
            <a:ext cx="992505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0">
                <a:solidFill>
                  <a:srgbClr val="101828"/>
                </a:solidFill>
                <a:latin typeface="DejaVu Sans"/>
                <a:ea typeface="DejaVu Sans"/>
                <a:cs typeface="DejaVu Sans"/>
              </a:defRPr>
            </a:pPr>
            <a:r>
              <a:rPr sz="2025" b="0">
                <a:solidFill>
                  <a:srgbClr val="101828"/>
                </a:solidFill>
                <a:latin typeface="DejaVu Sans"/>
                <a:ea typeface="DejaVu Sans"/>
                <a:cs typeface="DejaVu Sans"/>
              </a:rPr>
              <a:t>Trace insertion sort.</a:t>
            </a:r>
          </a:p>
        </p:txBody>
      </p:sp>
      <p:sp>
        <p:nvSpPr>
          <p:cNvPr id="10" name="number-3">
            <a:extLst xmlns:a="http://schemas.openxmlformats.org/drawingml/2006/main">
              <a:ext uri="{FF2B5EF4-FFF2-40B4-BE49-F238E27FC236}">
                <a16:creationId xmlns:a16="http://schemas.microsoft.com/office/drawing/2014/main" id="{214AB879-F5E1-46A1-B3B7-732C3DA059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867150"/>
            <a:ext cx="5905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1">
                <a:solidFill>
                  <a:srgbClr val="2D63FF"/>
                </a:solidFill>
                <a:latin typeface="DejaVu Sans"/>
                <a:ea typeface="DejaVu Sans"/>
                <a:cs typeface="DejaVu Sans"/>
              </a:defRPr>
            </a:pPr>
            <a:r>
              <a:rPr sz="2025" b="1">
                <a:solidFill>
                  <a:srgbClr val="2D63FF"/>
                </a:solidFill>
                <a:latin typeface="DejaVu Sans"/>
                <a:ea typeface="DejaVu Sans"/>
                <a:cs typeface="DejaVu Sans"/>
              </a:rPr>
              <a:t>3.</a:t>
            </a:r>
          </a:p>
        </p:txBody>
      </p:sp>
      <p:sp>
        <p:nvSpPr>
          <p:cNvPr id="11" name="item-3">
            <a:extLst xmlns:a="http://schemas.openxmlformats.org/drawingml/2006/main">
              <a:ext uri="{FF2B5EF4-FFF2-40B4-BE49-F238E27FC236}">
                <a16:creationId xmlns:a16="http://schemas.microsoft.com/office/drawing/2014/main" id="{47E0FF81-472A-4959-B572-95A0EA47CE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3867150"/>
            <a:ext cx="992505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0">
                <a:solidFill>
                  <a:srgbClr val="101828"/>
                </a:solidFill>
                <a:latin typeface="DejaVu Sans"/>
                <a:ea typeface="DejaVu Sans"/>
                <a:cs typeface="DejaVu Sans"/>
              </a:defRPr>
            </a:pPr>
            <a:r>
              <a:rPr sz="2025" b="0">
                <a:solidFill>
                  <a:srgbClr val="101828"/>
                </a:solidFill>
                <a:latin typeface="DejaVu Sans"/>
                <a:ea typeface="DejaVu Sans"/>
                <a:cs typeface="DejaVu Sans"/>
              </a:rPr>
              <a:t>Compare the main sorting methods.</a:t>
            </a:r>
          </a:p>
        </p:txBody>
      </p:sp>
      <p:sp>
        <p:nvSpPr>
          <p:cNvPr id="12" name="number-4">
            <a:extLst xmlns:a="http://schemas.openxmlformats.org/drawingml/2006/main">
              <a:ext uri="{FF2B5EF4-FFF2-40B4-BE49-F238E27FC236}">
                <a16:creationId xmlns:a16="http://schemas.microsoft.com/office/drawing/2014/main" id="{43B6C4DF-53E7-4684-A2E0-0FBDE1EFF7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829175"/>
            <a:ext cx="5905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025" b="1">
                <a:solidFill>
                  <a:srgbClr val="2D63FF"/>
                </a:solidFill>
                <a:latin typeface="DejaVu Sans"/>
                <a:ea typeface="DejaVu Sans"/>
                <a:cs typeface="DejaVu Sans"/>
              </a:defRPr>
            </a:pPr>
            <a:r>
              <a:rPr sz="2025" b="1">
                <a:solidFill>
                  <a:srgbClr val="2D63FF"/>
                </a:solidFill>
                <a:latin typeface="DejaVu Sans"/>
                <a:ea typeface="DejaVu Sans"/>
                <a:cs typeface="DejaVu Sans"/>
              </a:rPr>
              <a:t/>
            </a:r>
          </a:p>
        </p:txBody>
      </p:sp>
      <p:sp>
        <p:nvSpPr>
          <p:cNvPr id="13" name="item-4">
            <a:extLst xmlns:a="http://schemas.openxmlformats.org/drawingml/2006/main">
              <a:ext uri="{FF2B5EF4-FFF2-40B4-BE49-F238E27FC236}">
                <a16:creationId xmlns:a16="http://schemas.microsoft.com/office/drawing/2014/main" id="{B7588F05-DB7C-4321-91CF-115D386798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4829175"/>
            <a:ext cx="992505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025" b="0">
                <a:solidFill>
                  <a:srgbClr val="101828"/>
                </a:solidFill>
                <a:latin typeface="DejaVu Sans"/>
                <a:ea typeface="DejaVu Sans"/>
                <a:cs typeface="DejaVu Sans"/>
              </a:defRPr>
            </a:pPr>
            <a:r>
              <a:rPr sz="2025" b="0">
                <a:solidFill>
                  <a:srgbClr val="101828"/>
                </a:solidFill>
                <a:latin typeface="DejaVu Sans"/>
                <a:ea typeface="DejaVu Sans"/>
                <a:cs typeface="DejaVu Sans"/>
              </a:rPr>
              <a:t/>
            </a:r>
          </a:p>
        </p:txBody>
      </p:sp>
    </p:spTree>
    <p:extLst>
      <p:ext uri="{BB962C8B-B14F-4D97-AF65-F5344CB8AC3E}">
        <p14:creationId xmlns:p14="http://schemas.microsoft.com/office/powerpoint/2010/main" val="1695093205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8E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footer background">
            <a:extLst xmlns:a="http://schemas.openxmlformats.org/drawingml/2006/main">
              <a:ext uri="{FF2B5EF4-FFF2-40B4-BE49-F238E27FC236}">
                <a16:creationId xmlns:a16="http://schemas.microsoft.com/office/drawing/2014/main" id="{389AE9BD-4456-44D0-A496-4A715994B3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124575"/>
            <a:ext cx="12192000" cy="7334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2" name="topic">
            <a:extLst xmlns:a="http://schemas.openxmlformats.org/drawingml/2006/main">
              <a:ext uri="{FF2B5EF4-FFF2-40B4-BE49-F238E27FC236}">
                <a16:creationId xmlns:a16="http://schemas.microsoft.com/office/drawing/2014/main" id="{3D7E3F66-12BD-4737-B732-CF06250738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23850"/>
            <a:ext cx="98107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2D63FF"/>
                </a:solidFill>
                <a:latin typeface="DejaVu Sans"/>
                <a:ea typeface="DejaVu Sans"/>
                <a:cs typeface="DejaVu Sans"/>
              </a:defRPr>
            </a:pPr>
            <a:r>
              <a:rPr sz="1125" b="1">
                <a:solidFill>
                  <a:srgbClr val="2D63FF"/>
                </a:solidFill>
                <a:latin typeface="DejaVu Sans"/>
                <a:ea typeface="DejaVu Sans"/>
                <a:cs typeface="DejaVu Sans"/>
              </a:rPr>
              <a:t>TOPIC 2.1   /   LESSON 10   /   WORKSHEET STARTER</a:t>
            </a:r>
          </a:p>
        </p:txBody>
      </p:sp>
      <p:sp>
        <p:nvSpPr>
          <p:cNvPr id="3" name="heading">
            <a:extLst xmlns:a="http://schemas.openxmlformats.org/drawingml/2006/main">
              <a:ext uri="{FF2B5EF4-FFF2-40B4-BE49-F238E27FC236}">
                <a16:creationId xmlns:a16="http://schemas.microsoft.com/office/drawing/2014/main" id="{62E71EDE-630B-477B-8324-3C6B882C3B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762000"/>
            <a:ext cx="108585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3225" b="1">
                <a:solidFill>
                  <a:srgbClr val="101828"/>
                </a:solidFill>
                <a:latin typeface="DejaVu Sans"/>
                <a:ea typeface="DejaVu Sans"/>
                <a:cs typeface="DejaVu Sans"/>
              </a:defRPr>
            </a:pPr>
            <a:r>
              <a:rPr sz="3225" b="1">
                <a:solidFill>
                  <a:srgbClr val="101828"/>
                </a:solidFill>
                <a:latin typeface="DejaVu Sans"/>
                <a:ea typeface="DejaVu Sans"/>
                <a:cs typeface="DejaVu Sans"/>
              </a:rPr>
              <a:t>Starter: before the experience</a:t>
            </a:r>
          </a:p>
        </p:txBody>
      </p:sp>
      <p:pic>
        <p:nvPicPr>
          <p:cNvPr id="1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0a431f25b2c450c"/>
          <a:stretch xmlns:a="http://schemas.openxmlformats.org/drawingml/2006/main"/>
        </p:blipFill>
        <p:spPr>
          <a:xfrm xmlns:a="http://schemas.openxmlformats.org/drawingml/2006/main">
            <a:off x="666750" y="6241242"/>
            <a:ext cx="2038350" cy="395316"/>
          </a:xfrm>
          <a:prstGeom xmlns:a="http://schemas.openxmlformats.org/drawingml/2006/main" prst="rect">
            <a:avLst/>
          </a:prstGeom>
        </p:spPr>
      </p:pic>
      <p:sp>
        <p:nvSpPr>
          <p:cNvPr id="5" name="page">
            <a:extLst xmlns:a="http://schemas.openxmlformats.org/drawingml/2006/main">
              <a:ext uri="{FF2B5EF4-FFF2-40B4-BE49-F238E27FC236}">
                <a16:creationId xmlns:a16="http://schemas.microsoft.com/office/drawing/2014/main" id="{D4CED2EF-8770-4B94-8FF7-8186209CBA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400800"/>
            <a:ext cx="857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050" b="0">
                <a:solidFill>
                  <a:srgbClr val="526174"/>
                </a:solidFill>
                <a:latin typeface="DejaVu Sans"/>
                <a:ea typeface="DejaVu Sans"/>
                <a:cs typeface="DejaVu Sans"/>
              </a:defRPr>
            </a:pPr>
            <a:r>
              <a:rPr sz="1050" b="0">
                <a:solidFill>
                  <a:srgbClr val="526174"/>
                </a:solidFill>
                <a:latin typeface="DejaVu Sans"/>
                <a:ea typeface="DejaVu Sans"/>
                <a:cs typeface="DejaVu Sans"/>
              </a:rPr>
              <a:t>3 / 18</a:t>
            </a:r>
          </a:p>
        </p:txBody>
      </p:sp>
      <p:sp>
        <p:nvSpPr>
          <p:cNvPr id="6" name="worksheet-starter">
            <a:extLst xmlns:a="http://schemas.openxmlformats.org/drawingml/2006/main">
              <a:ext uri="{FF2B5EF4-FFF2-40B4-BE49-F238E27FC236}">
                <a16:creationId xmlns:a16="http://schemas.microsoft.com/office/drawing/2014/main" id="{4CABB616-5B19-458F-ADE4-F043686843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095500"/>
            <a:ext cx="10572750" cy="3048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400" b="1">
                <a:solidFill>
                  <a:srgbClr val="101828"/>
                </a:solidFill>
                <a:latin typeface="DejaVu Sans"/>
                <a:ea typeface="DejaVu Sans"/>
                <a:cs typeface="DejaVu Sans"/>
              </a:defRPr>
            </a:pPr>
            <a:r>
              <a:rPr sz="2400" b="1">
                <a:solidFill>
                  <a:srgbClr val="101828"/>
                </a:solidFill>
                <a:latin typeface="DejaVu Sans"/>
                <a:ea typeface="DejaVu Sans"/>
                <a:cs typeface="DejaVu Sans"/>
              </a:rPr>
              <a:t>Merge sorted lists [2, 7] and [3, 5]. What is the sorted result?</a:t>
            </a:r>
          </a:p>
        </p:txBody>
      </p:sp>
    </p:spTree>
    <p:extLst>
      <p:ext uri="{BB962C8B-B14F-4D97-AF65-F5344CB8AC3E}">
        <p14:creationId xmlns:p14="http://schemas.microsoft.com/office/powerpoint/2010/main" val="2061250395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EAF3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footer background">
            <a:extLst xmlns:a="http://schemas.openxmlformats.org/drawingml/2006/main">
              <a:ext uri="{FF2B5EF4-FFF2-40B4-BE49-F238E27FC236}">
                <a16:creationId xmlns:a16="http://schemas.microsoft.com/office/drawing/2014/main" id="{0CE6C1A7-1190-46F6-B558-07CF48F647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124575"/>
            <a:ext cx="12192000" cy="7334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2" name="topic">
            <a:extLst xmlns:a="http://schemas.openxmlformats.org/drawingml/2006/main">
              <a:ext uri="{FF2B5EF4-FFF2-40B4-BE49-F238E27FC236}">
                <a16:creationId xmlns:a16="http://schemas.microsoft.com/office/drawing/2014/main" id="{61A9E94E-2324-4A21-8E1F-53F0618118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23850"/>
            <a:ext cx="98107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2D63FF"/>
                </a:solidFill>
                <a:latin typeface="DejaVu Sans"/>
                <a:ea typeface="DejaVu Sans"/>
                <a:cs typeface="DejaVu Sans"/>
              </a:defRPr>
            </a:pPr>
            <a:r>
              <a:rPr sz="1125" b="1">
                <a:solidFill>
                  <a:srgbClr val="2D63FF"/>
                </a:solidFill>
                <a:latin typeface="DejaVu Sans"/>
                <a:ea typeface="DejaVu Sans"/>
                <a:cs typeface="DejaVu Sans"/>
              </a:rPr>
              <a:t>TOPIC 2.1   /   LESSON 10   /   CHECK</a:t>
            </a:r>
          </a:p>
        </p:txBody>
      </p:sp>
      <p:sp>
        <p:nvSpPr>
          <p:cNvPr id="3" name="heading">
            <a:extLst xmlns:a="http://schemas.openxmlformats.org/drawingml/2006/main">
              <a:ext uri="{FF2B5EF4-FFF2-40B4-BE49-F238E27FC236}">
                <a16:creationId xmlns:a16="http://schemas.microsoft.com/office/drawing/2014/main" id="{42F7C639-9A4F-4B2E-A66B-E7FC7229A8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762000"/>
            <a:ext cx="108585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3225" b="1">
                <a:solidFill>
                  <a:srgbClr val="101828"/>
                </a:solidFill>
                <a:latin typeface="DejaVu Sans"/>
                <a:ea typeface="DejaVu Sans"/>
                <a:cs typeface="DejaVu Sans"/>
              </a:defRPr>
            </a:pPr>
            <a:r>
              <a:rPr sz="3225" b="1">
                <a:solidFill>
                  <a:srgbClr val="101828"/>
                </a:solidFill>
                <a:latin typeface="DejaVu Sans"/>
                <a:ea typeface="DejaVu Sans"/>
                <a:cs typeface="DejaVu Sans"/>
              </a:rPr>
              <a:t>Starter: sample answers</a:t>
            </a:r>
          </a:p>
        </p:txBody>
      </p:sp>
      <p:pic>
        <p:nvPicPr>
          <p:cNvPr id="1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ff474beb8d14b4d"/>
          <a:stretch xmlns:a="http://schemas.openxmlformats.org/drawingml/2006/main"/>
        </p:blipFill>
        <p:spPr>
          <a:xfrm xmlns:a="http://schemas.openxmlformats.org/drawingml/2006/main">
            <a:off x="666750" y="6241242"/>
            <a:ext cx="2038350" cy="395316"/>
          </a:xfrm>
          <a:prstGeom xmlns:a="http://schemas.openxmlformats.org/drawingml/2006/main" prst="rect">
            <a:avLst/>
          </a:prstGeom>
        </p:spPr>
      </p:pic>
      <p:sp>
        <p:nvSpPr>
          <p:cNvPr id="5" name="page">
            <a:extLst xmlns:a="http://schemas.openxmlformats.org/drawingml/2006/main">
              <a:ext uri="{FF2B5EF4-FFF2-40B4-BE49-F238E27FC236}">
                <a16:creationId xmlns:a16="http://schemas.microsoft.com/office/drawing/2014/main" id="{6810CE3C-06F6-401D-921D-2679EFD1E6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400800"/>
            <a:ext cx="857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050" b="0">
                <a:solidFill>
                  <a:srgbClr val="526174"/>
                </a:solidFill>
                <a:latin typeface="DejaVu Sans"/>
                <a:ea typeface="DejaVu Sans"/>
                <a:cs typeface="DejaVu Sans"/>
              </a:defRPr>
            </a:pPr>
            <a:r>
              <a:rPr sz="1050" b="0">
                <a:solidFill>
                  <a:srgbClr val="526174"/>
                </a:solidFill>
                <a:latin typeface="DejaVu Sans"/>
                <a:ea typeface="DejaVu Sans"/>
                <a:cs typeface="DejaVu Sans"/>
              </a:rPr>
              <a:t>4 / 18</a:t>
            </a:r>
          </a:p>
        </p:txBody>
      </p:sp>
      <p:sp>
        <p:nvSpPr>
          <p:cNvPr id="6" name="number-1">
            <a:extLst xmlns:a="http://schemas.openxmlformats.org/drawingml/2006/main">
              <a:ext uri="{FF2B5EF4-FFF2-40B4-BE49-F238E27FC236}">
                <a16:creationId xmlns:a16="http://schemas.microsoft.com/office/drawing/2014/main" id="{04B18CF0-64CE-463F-A9B8-6A6A21EDEF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286000"/>
            <a:ext cx="5905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250" b="1">
                <a:solidFill>
                  <a:srgbClr val="2D63FF"/>
                </a:solidFill>
                <a:latin typeface="DejaVu Sans"/>
                <a:ea typeface="DejaVu Sans"/>
                <a:cs typeface="DejaVu Sans"/>
              </a:defRPr>
            </a:pPr>
            <a:r>
              <a:rPr sz="2250" b="1">
                <a:solidFill>
                  <a:srgbClr val="2D63FF"/>
                </a:solidFill>
                <a:latin typeface="DejaVu Sans"/>
                <a:ea typeface="DejaVu Sans"/>
                <a:cs typeface="DejaVu Sans"/>
              </a:rPr>
              <a:t>1.</a:t>
            </a:r>
          </a:p>
        </p:txBody>
      </p:sp>
      <p:sp>
        <p:nvSpPr>
          <p:cNvPr id="7" name="item-1">
            <a:extLst xmlns:a="http://schemas.openxmlformats.org/drawingml/2006/main">
              <a:ext uri="{FF2B5EF4-FFF2-40B4-BE49-F238E27FC236}">
                <a16:creationId xmlns:a16="http://schemas.microsoft.com/office/drawing/2014/main" id="{D57E31F4-31D7-4905-A796-BE34CBF25E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2286000"/>
            <a:ext cx="9925050" cy="266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250" b="0">
                <a:solidFill>
                  <a:srgbClr val="101828"/>
                </a:solidFill>
                <a:latin typeface="DejaVu Sans"/>
                <a:ea typeface="DejaVu Sans"/>
                <a:cs typeface="DejaVu Sans"/>
              </a:defRPr>
            </a:pPr>
            <a:r>
              <a:rPr sz="2250" b="0">
                <a:solidFill>
                  <a:srgbClr val="101828"/>
                </a:solidFill>
                <a:latin typeface="DejaVu Sans"/>
                <a:ea typeface="DejaVu Sans"/>
                <a:cs typeface="DejaVu Sans"/>
              </a:rPr>
              <a:t>2, 3, 5, 7. Repeatedly take the smaller front value, then append the remainder.</a:t>
            </a:r>
          </a:p>
        </p:txBody>
      </p:sp>
      <p:sp>
        <p:nvSpPr>
          <p:cNvPr id="8" name="number-2">
            <a:extLst xmlns:a="http://schemas.openxmlformats.org/drawingml/2006/main">
              <a:ext uri="{FF2B5EF4-FFF2-40B4-BE49-F238E27FC236}">
                <a16:creationId xmlns:a16="http://schemas.microsoft.com/office/drawing/2014/main" id="{F9E7E19B-3986-45FC-B0B8-7910C783A9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867150"/>
            <a:ext cx="5905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250" b="1">
                <a:solidFill>
                  <a:srgbClr val="2D63FF"/>
                </a:solidFill>
                <a:latin typeface="DejaVu Sans"/>
                <a:ea typeface="DejaVu Sans"/>
                <a:cs typeface="DejaVu Sans"/>
              </a:defRPr>
            </a:pPr>
            <a:r>
              <a:rPr sz="2250" b="1">
                <a:solidFill>
                  <a:srgbClr val="2D63FF"/>
                </a:solidFill>
                <a:latin typeface="DejaVu Sans"/>
                <a:ea typeface="DejaVu Sans"/>
                <a:cs typeface="DejaVu Sans"/>
              </a:rPr>
              <a:t/>
            </a:r>
          </a:p>
        </p:txBody>
      </p:sp>
      <p:sp>
        <p:nvSpPr>
          <p:cNvPr id="9" name="item-2">
            <a:extLst xmlns:a="http://schemas.openxmlformats.org/drawingml/2006/main">
              <a:ext uri="{FF2B5EF4-FFF2-40B4-BE49-F238E27FC236}">
                <a16:creationId xmlns:a16="http://schemas.microsoft.com/office/drawing/2014/main" id="{AA142279-1763-4095-BB35-E7C2790BE7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3867150"/>
            <a:ext cx="9925050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250" b="0">
                <a:solidFill>
                  <a:srgbClr val="101828"/>
                </a:solidFill>
                <a:latin typeface="DejaVu Sans"/>
                <a:ea typeface="DejaVu Sans"/>
                <a:cs typeface="DejaVu Sans"/>
              </a:defRPr>
            </a:pPr>
            <a:r>
              <a:rPr sz="2250" b="0">
                <a:solidFill>
                  <a:srgbClr val="101828"/>
                </a:solidFill>
                <a:latin typeface="DejaVu Sans"/>
                <a:ea typeface="DejaVu Sans"/>
                <a:cs typeface="DejaVu Sans"/>
              </a:rPr>
              <a:t/>
            </a:r>
          </a:p>
        </p:txBody>
      </p:sp>
    </p:spTree>
    <p:extLst>
      <p:ext uri="{BB962C8B-B14F-4D97-AF65-F5344CB8AC3E}">
        <p14:creationId xmlns:p14="http://schemas.microsoft.com/office/powerpoint/2010/main" val="1019256133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8E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footer background">
            <a:extLst xmlns:a="http://schemas.openxmlformats.org/drawingml/2006/main">
              <a:ext uri="{FF2B5EF4-FFF2-40B4-BE49-F238E27FC236}">
                <a16:creationId xmlns:a16="http://schemas.microsoft.com/office/drawing/2014/main" id="{08B0042C-2776-4B77-8450-5D698DB3BE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124575"/>
            <a:ext cx="12192000" cy="7334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2" name="topic">
            <a:extLst xmlns:a="http://schemas.openxmlformats.org/drawingml/2006/main">
              <a:ext uri="{FF2B5EF4-FFF2-40B4-BE49-F238E27FC236}">
                <a16:creationId xmlns:a16="http://schemas.microsoft.com/office/drawing/2014/main" id="{53158093-4E51-4193-8466-193E324E1C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23850"/>
            <a:ext cx="98107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2D63FF"/>
                </a:solidFill>
                <a:latin typeface="DejaVu Sans"/>
                <a:ea typeface="DejaVu Sans"/>
                <a:cs typeface="DejaVu Sans"/>
              </a:defRPr>
            </a:pPr>
            <a:r>
              <a:rPr sz="1125" b="1">
                <a:solidFill>
                  <a:srgbClr val="2D63FF"/>
                </a:solidFill>
                <a:latin typeface="DejaVu Sans"/>
                <a:ea typeface="DejaVu Sans"/>
                <a:cs typeface="DejaVu Sans"/>
              </a:rPr>
              <a:t>TOPIC 2.1   /   LESSON 10   /   WORKSHEET KEY TERMS</a:t>
            </a:r>
          </a:p>
        </p:txBody>
      </p:sp>
      <p:sp>
        <p:nvSpPr>
          <p:cNvPr id="3" name="heading">
            <a:extLst xmlns:a="http://schemas.openxmlformats.org/drawingml/2006/main">
              <a:ext uri="{FF2B5EF4-FFF2-40B4-BE49-F238E27FC236}">
                <a16:creationId xmlns:a16="http://schemas.microsoft.com/office/drawing/2014/main" id="{18721011-60E3-4A46-ACE7-07BEAB793C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762000"/>
            <a:ext cx="108585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3225" b="1">
                <a:solidFill>
                  <a:srgbClr val="101828"/>
                </a:solidFill>
                <a:latin typeface="DejaVu Sans"/>
                <a:ea typeface="DejaVu Sans"/>
                <a:cs typeface="DejaVu Sans"/>
              </a:defRPr>
            </a:pPr>
            <a:r>
              <a:rPr sz="3225" b="1">
                <a:solidFill>
                  <a:srgbClr val="101828"/>
                </a:solidFill>
                <a:latin typeface="DejaVu Sans"/>
                <a:ea typeface="DejaVu Sans"/>
                <a:cs typeface="DejaVu Sans"/>
              </a:rPr>
              <a:t>Key terminology quiz</a:t>
            </a:r>
          </a:p>
        </p:txBody>
      </p:sp>
      <p:pic>
        <p:nvPicPr>
          <p:cNvPr id="1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c838084ead144df"/>
          <a:stretch xmlns:a="http://schemas.openxmlformats.org/drawingml/2006/main"/>
        </p:blipFill>
        <p:spPr>
          <a:xfrm xmlns:a="http://schemas.openxmlformats.org/drawingml/2006/main">
            <a:off x="666750" y="6241242"/>
            <a:ext cx="2038350" cy="395316"/>
          </a:xfrm>
          <a:prstGeom xmlns:a="http://schemas.openxmlformats.org/drawingml/2006/main" prst="rect">
            <a:avLst/>
          </a:prstGeom>
        </p:spPr>
      </p:pic>
      <p:sp>
        <p:nvSpPr>
          <p:cNvPr id="5" name="page">
            <a:extLst xmlns:a="http://schemas.openxmlformats.org/drawingml/2006/main">
              <a:ext uri="{FF2B5EF4-FFF2-40B4-BE49-F238E27FC236}">
                <a16:creationId xmlns:a16="http://schemas.microsoft.com/office/drawing/2014/main" id="{CFC27DE5-76DC-4F16-881C-303A191623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400800"/>
            <a:ext cx="857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050" b="0">
                <a:solidFill>
                  <a:srgbClr val="526174"/>
                </a:solidFill>
                <a:latin typeface="DejaVu Sans"/>
                <a:ea typeface="DejaVu Sans"/>
                <a:cs typeface="DejaVu Sans"/>
              </a:defRPr>
            </a:pPr>
            <a:r>
              <a:rPr sz="1050" b="0">
                <a:solidFill>
                  <a:srgbClr val="526174"/>
                </a:solidFill>
                <a:latin typeface="DejaVu Sans"/>
                <a:ea typeface="DejaVu Sans"/>
                <a:cs typeface="DejaVu Sans"/>
              </a:rPr>
              <a:t>5 / 18</a:t>
            </a:r>
          </a:p>
        </p:txBody>
      </p:sp>
      <p:sp>
        <p:nvSpPr>
          <p:cNvPr id="6" name="term-number-0">
            <a:extLst xmlns:a="http://schemas.openxmlformats.org/drawingml/2006/main">
              <a:ext uri="{FF2B5EF4-FFF2-40B4-BE49-F238E27FC236}">
                <a16:creationId xmlns:a16="http://schemas.microsoft.com/office/drawing/2014/main" id="{B76E08EA-1329-4F7D-B904-1FFEF4D21E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276475"/>
            <a:ext cx="5905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700" b="1">
                <a:solidFill>
                  <a:srgbClr val="2D63FF"/>
                </a:solidFill>
                <a:latin typeface="DejaVu Sans"/>
                <a:ea typeface="DejaVu Sans"/>
                <a:cs typeface="DejaVu Sans"/>
              </a:defRPr>
            </a:pPr>
            <a:r>
              <a:rPr sz="2700" b="1">
                <a:solidFill>
                  <a:srgbClr val="2D63FF"/>
                </a:solidFill>
                <a:latin typeface="DejaVu Sans"/>
                <a:ea typeface="DejaVu Sans"/>
                <a:cs typeface="DejaVu Sans"/>
              </a:rPr>
              <a:t>1.</a:t>
            </a:r>
          </a:p>
        </p:txBody>
      </p:sp>
      <p:sp>
        <p:nvSpPr>
          <p:cNvPr id="7" name="term-0">
            <a:extLst xmlns:a="http://schemas.openxmlformats.org/drawingml/2006/main">
              <a:ext uri="{FF2B5EF4-FFF2-40B4-BE49-F238E27FC236}">
                <a16:creationId xmlns:a16="http://schemas.microsoft.com/office/drawing/2014/main" id="{072ACAD3-9670-4434-9EBA-05DBFA231D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2276475"/>
            <a:ext cx="9667875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775" b="1">
                <a:solidFill>
                  <a:srgbClr val="101828"/>
                </a:solidFill>
                <a:latin typeface="DejaVu Sans"/>
                <a:ea typeface="DejaVu Sans"/>
                <a:cs typeface="DejaVu Sans"/>
              </a:defRPr>
            </a:pPr>
            <a:r>
              <a:rPr sz="2775" b="1">
                <a:solidFill>
                  <a:srgbClr val="101828"/>
                </a:solidFill>
                <a:latin typeface="DejaVu Sans"/>
                <a:ea typeface="DejaVu Sans"/>
                <a:cs typeface="DejaVu Sans"/>
              </a:rPr>
              <a:t>Merge</a:t>
            </a:r>
          </a:p>
        </p:txBody>
      </p:sp>
      <p:sp>
        <p:nvSpPr>
          <p:cNvPr id="8" name="term-number-1">
            <a:extLst xmlns:a="http://schemas.openxmlformats.org/drawingml/2006/main">
              <a:ext uri="{FF2B5EF4-FFF2-40B4-BE49-F238E27FC236}">
                <a16:creationId xmlns:a16="http://schemas.microsoft.com/office/drawing/2014/main" id="{A8F18C87-2E1F-4B72-8996-4CD90B504D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086225"/>
            <a:ext cx="5905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700" b="1">
                <a:solidFill>
                  <a:srgbClr val="2D63FF"/>
                </a:solidFill>
                <a:latin typeface="DejaVu Sans"/>
                <a:ea typeface="DejaVu Sans"/>
                <a:cs typeface="DejaVu Sans"/>
              </a:defRPr>
            </a:pPr>
            <a:r>
              <a:rPr sz="2700" b="1">
                <a:solidFill>
                  <a:srgbClr val="2D63FF"/>
                </a:solidFill>
                <a:latin typeface="DejaVu Sans"/>
                <a:ea typeface="DejaVu Sans"/>
                <a:cs typeface="DejaVu Sans"/>
              </a:rPr>
              <a:t>2.</a:t>
            </a:r>
          </a:p>
        </p:txBody>
      </p:sp>
      <p:sp>
        <p:nvSpPr>
          <p:cNvPr id="9" name="term-1">
            <a:extLst xmlns:a="http://schemas.openxmlformats.org/drawingml/2006/main">
              <a:ext uri="{FF2B5EF4-FFF2-40B4-BE49-F238E27FC236}">
                <a16:creationId xmlns:a16="http://schemas.microsoft.com/office/drawing/2014/main" id="{1C1C0B9C-20D9-4654-9F28-D51D1DA953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4086225"/>
            <a:ext cx="9667875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775" b="1">
                <a:solidFill>
                  <a:srgbClr val="101828"/>
                </a:solidFill>
                <a:latin typeface="DejaVu Sans"/>
                <a:ea typeface="DejaVu Sans"/>
                <a:cs typeface="DejaVu Sans"/>
              </a:defRPr>
            </a:pPr>
            <a:r>
              <a:rPr sz="2775" b="1">
                <a:solidFill>
                  <a:srgbClr val="101828"/>
                </a:solidFill>
                <a:latin typeface="DejaVu Sans"/>
                <a:ea typeface="DejaVu Sans"/>
                <a:cs typeface="DejaVu Sans"/>
              </a:rPr>
              <a:t>Sorted prefix</a:t>
            </a:r>
          </a:p>
        </p:txBody>
      </p:sp>
    </p:spTree>
    <p:extLst>
      <p:ext uri="{BB962C8B-B14F-4D97-AF65-F5344CB8AC3E}">
        <p14:creationId xmlns:p14="http://schemas.microsoft.com/office/powerpoint/2010/main" val="942032124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EAF3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footer background">
            <a:extLst xmlns:a="http://schemas.openxmlformats.org/drawingml/2006/main">
              <a:ext uri="{FF2B5EF4-FFF2-40B4-BE49-F238E27FC236}">
                <a16:creationId xmlns:a16="http://schemas.microsoft.com/office/drawing/2014/main" id="{207CAA27-6A33-4D26-8EEC-DDD6F19518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124575"/>
            <a:ext cx="12192000" cy="7334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2" name="topic">
            <a:extLst xmlns:a="http://schemas.openxmlformats.org/drawingml/2006/main">
              <a:ext uri="{FF2B5EF4-FFF2-40B4-BE49-F238E27FC236}">
                <a16:creationId xmlns:a16="http://schemas.microsoft.com/office/drawing/2014/main" id="{2C8C088F-E4C7-463F-A500-13D6952381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23850"/>
            <a:ext cx="98107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2D63FF"/>
                </a:solidFill>
                <a:latin typeface="DejaVu Sans"/>
                <a:ea typeface="DejaVu Sans"/>
                <a:cs typeface="DejaVu Sans"/>
              </a:defRPr>
            </a:pPr>
            <a:r>
              <a:rPr sz="1125" b="1">
                <a:solidFill>
                  <a:srgbClr val="2D63FF"/>
                </a:solidFill>
                <a:latin typeface="DejaVu Sans"/>
                <a:ea typeface="DejaVu Sans"/>
                <a:cs typeface="DejaVu Sans"/>
              </a:rPr>
              <a:t>TOPIC 2.1   /   LESSON 10   /   CHECK</a:t>
            </a:r>
          </a:p>
        </p:txBody>
      </p:sp>
      <p:sp>
        <p:nvSpPr>
          <p:cNvPr id="3" name="heading">
            <a:extLst xmlns:a="http://schemas.openxmlformats.org/drawingml/2006/main">
              <a:ext uri="{FF2B5EF4-FFF2-40B4-BE49-F238E27FC236}">
                <a16:creationId xmlns:a16="http://schemas.microsoft.com/office/drawing/2014/main" id="{1AF3A2E8-08E7-4B52-8CB0-E9EDFA86CC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762000"/>
            <a:ext cx="108585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3225" b="1">
                <a:solidFill>
                  <a:srgbClr val="101828"/>
                </a:solidFill>
                <a:latin typeface="DejaVu Sans"/>
                <a:ea typeface="DejaVu Sans"/>
                <a:cs typeface="DejaVu Sans"/>
              </a:defRPr>
            </a:pPr>
            <a:r>
              <a:rPr sz="3225" b="1">
                <a:solidFill>
                  <a:srgbClr val="101828"/>
                </a:solidFill>
                <a:latin typeface="DejaVu Sans"/>
                <a:ea typeface="DejaVu Sans"/>
                <a:cs typeface="DejaVu Sans"/>
              </a:rPr>
              <a:t>Key terminology: answers</a:t>
            </a:r>
          </a:p>
        </p:txBody>
      </p:sp>
      <p:pic>
        <p:nvPicPr>
          <p:cNvPr id="1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df70b854b824757"/>
          <a:stretch xmlns:a="http://schemas.openxmlformats.org/drawingml/2006/main"/>
        </p:blipFill>
        <p:spPr>
          <a:xfrm xmlns:a="http://schemas.openxmlformats.org/drawingml/2006/main">
            <a:off x="666750" y="6241242"/>
            <a:ext cx="2038350" cy="395316"/>
          </a:xfrm>
          <a:prstGeom xmlns:a="http://schemas.openxmlformats.org/drawingml/2006/main" prst="rect">
            <a:avLst/>
          </a:prstGeom>
        </p:spPr>
      </p:pic>
      <p:sp>
        <p:nvSpPr>
          <p:cNvPr id="5" name="page">
            <a:extLst xmlns:a="http://schemas.openxmlformats.org/drawingml/2006/main">
              <a:ext uri="{FF2B5EF4-FFF2-40B4-BE49-F238E27FC236}">
                <a16:creationId xmlns:a16="http://schemas.microsoft.com/office/drawing/2014/main" id="{71FD2F40-F2E4-4894-A4B9-2F16BF1E31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400800"/>
            <a:ext cx="857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050" b="0">
                <a:solidFill>
                  <a:srgbClr val="526174"/>
                </a:solidFill>
                <a:latin typeface="DejaVu Sans"/>
                <a:ea typeface="DejaVu Sans"/>
                <a:cs typeface="DejaVu Sans"/>
              </a:defRPr>
            </a:pPr>
            <a:r>
              <a:rPr sz="1050" b="0">
                <a:solidFill>
                  <a:srgbClr val="526174"/>
                </a:solidFill>
                <a:latin typeface="DejaVu Sans"/>
                <a:ea typeface="DejaVu Sans"/>
                <a:cs typeface="DejaVu Sans"/>
              </a:rPr>
              <a:t>6 / 18</a:t>
            </a:r>
          </a:p>
        </p:txBody>
      </p:sp>
      <p:sp>
        <p:nvSpPr>
          <p:cNvPr id="6" name="answer-term-0">
            <a:extLst xmlns:a="http://schemas.openxmlformats.org/drawingml/2006/main">
              <a:ext uri="{FF2B5EF4-FFF2-40B4-BE49-F238E27FC236}">
                <a16:creationId xmlns:a16="http://schemas.microsoft.com/office/drawing/2014/main" id="{C05575DA-F440-47EE-AADE-AE15CCD16C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047875"/>
            <a:ext cx="10477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550" b="1">
                <a:solidFill>
                  <a:srgbClr val="2D63FF"/>
                </a:solidFill>
                <a:latin typeface="DejaVu Sans"/>
                <a:ea typeface="DejaVu Sans"/>
                <a:cs typeface="DejaVu Sans"/>
              </a:defRPr>
            </a:pPr>
            <a:r>
              <a:rPr sz="2550" b="1">
                <a:solidFill>
                  <a:srgbClr val="2D63FF"/>
                </a:solidFill>
                <a:latin typeface="DejaVu Sans"/>
                <a:ea typeface="DejaVu Sans"/>
                <a:cs typeface="DejaVu Sans"/>
              </a:rPr>
              <a:t>Merge</a:t>
            </a:r>
          </a:p>
        </p:txBody>
      </p:sp>
      <p:sp>
        <p:nvSpPr>
          <p:cNvPr id="7" name="answer-definition-0">
            <a:extLst xmlns:a="http://schemas.openxmlformats.org/drawingml/2006/main">
              <a:ext uri="{FF2B5EF4-FFF2-40B4-BE49-F238E27FC236}">
                <a16:creationId xmlns:a16="http://schemas.microsoft.com/office/drawing/2014/main" id="{C6F926E0-3B0C-455B-B77A-C8974AE3E0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628900"/>
            <a:ext cx="10477500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0">
                <a:solidFill>
                  <a:srgbClr val="101828"/>
                </a:solidFill>
                <a:latin typeface="DejaVu Sans"/>
                <a:ea typeface="DejaVu Sans"/>
                <a:cs typeface="DejaVu Sans"/>
              </a:defRPr>
            </a:pPr>
            <a:r>
              <a:rPr sz="2025" b="0">
                <a:solidFill>
                  <a:srgbClr val="101828"/>
                </a:solidFill>
                <a:latin typeface="DejaVu Sans"/>
                <a:ea typeface="DejaVu Sans"/>
                <a:cs typeface="DejaVu Sans"/>
              </a:rPr>
              <a:t>Combine sorted lists into one sorted list.</a:t>
            </a:r>
          </a:p>
        </p:txBody>
      </p:sp>
      <p:sp>
        <p:nvSpPr>
          <p:cNvPr id="8" name="answer-term-1">
            <a:extLst xmlns:a="http://schemas.openxmlformats.org/drawingml/2006/main">
              <a:ext uri="{FF2B5EF4-FFF2-40B4-BE49-F238E27FC236}">
                <a16:creationId xmlns:a16="http://schemas.microsoft.com/office/drawing/2014/main" id="{C9190DB0-181E-4A8A-9E5E-95B19960F4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933825"/>
            <a:ext cx="10477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550" b="1">
                <a:solidFill>
                  <a:srgbClr val="2D63FF"/>
                </a:solidFill>
                <a:latin typeface="DejaVu Sans"/>
                <a:ea typeface="DejaVu Sans"/>
                <a:cs typeface="DejaVu Sans"/>
              </a:defRPr>
            </a:pPr>
            <a:r>
              <a:rPr sz="2550" b="1">
                <a:solidFill>
                  <a:srgbClr val="2D63FF"/>
                </a:solidFill>
                <a:latin typeface="DejaVu Sans"/>
                <a:ea typeface="DejaVu Sans"/>
                <a:cs typeface="DejaVu Sans"/>
              </a:rPr>
              <a:t>Sorted prefix</a:t>
            </a:r>
          </a:p>
        </p:txBody>
      </p:sp>
      <p:sp>
        <p:nvSpPr>
          <p:cNvPr id="9" name="answer-definition-1">
            <a:extLst xmlns:a="http://schemas.openxmlformats.org/drawingml/2006/main">
              <a:ext uri="{FF2B5EF4-FFF2-40B4-BE49-F238E27FC236}">
                <a16:creationId xmlns:a16="http://schemas.microsoft.com/office/drawing/2014/main" id="{B865E412-4386-4ED0-B8E9-05D05365D0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514850"/>
            <a:ext cx="10477500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0">
                <a:solidFill>
                  <a:srgbClr val="101828"/>
                </a:solidFill>
                <a:latin typeface="DejaVu Sans"/>
                <a:ea typeface="DejaVu Sans"/>
                <a:cs typeface="DejaVu Sans"/>
              </a:defRPr>
            </a:pPr>
            <a:r>
              <a:rPr sz="2025" b="0">
                <a:solidFill>
                  <a:srgbClr val="101828"/>
                </a:solidFill>
                <a:latin typeface="DejaVu Sans"/>
                <a:ea typeface="DejaVu Sans"/>
                <a:cs typeface="DejaVu Sans"/>
              </a:rPr>
              <a:t>The ordered section at the beginning of a list.</a:t>
            </a:r>
          </a:p>
        </p:txBody>
      </p:sp>
    </p:spTree>
    <p:extLst>
      <p:ext uri="{BB962C8B-B14F-4D97-AF65-F5344CB8AC3E}">
        <p14:creationId xmlns:p14="http://schemas.microsoft.com/office/powerpoint/2010/main" val="544340808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12244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footer background">
            <a:extLst xmlns:a="http://schemas.openxmlformats.org/drawingml/2006/main">
              <a:ext uri="{FF2B5EF4-FFF2-40B4-BE49-F238E27FC236}">
                <a16:creationId xmlns:a16="http://schemas.microsoft.com/office/drawing/2014/main" id="{4BA66B78-BFDC-4298-A4DA-5CB5A7709F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124575"/>
            <a:ext cx="12192000" cy="7334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2" name="topic">
            <a:extLst xmlns:a="http://schemas.openxmlformats.org/drawingml/2006/main">
              <a:ext uri="{FF2B5EF4-FFF2-40B4-BE49-F238E27FC236}">
                <a16:creationId xmlns:a16="http://schemas.microsoft.com/office/drawing/2014/main" id="{EDA0D920-036D-4124-8F12-38EB1186A1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23850"/>
            <a:ext cx="98107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77D8FF"/>
                </a:solidFill>
                <a:latin typeface="DejaVu Sans"/>
                <a:ea typeface="DejaVu Sans"/>
                <a:cs typeface="DejaVu Sans"/>
              </a:defRPr>
            </a:pPr>
            <a:r>
              <a:rPr sz="1125" b="1">
                <a:solidFill>
                  <a:srgbClr val="77D8FF"/>
                </a:solidFill>
                <a:latin typeface="DejaVu Sans"/>
                <a:ea typeface="DejaVu Sans"/>
                <a:cs typeface="DejaVu Sans"/>
              </a:rPr>
              <a:t>TOPIC 2.1   /   LESSON 10   /   EXPERIENCE</a:t>
            </a:r>
          </a:p>
        </p:txBody>
      </p:sp>
      <p:sp>
        <p:nvSpPr>
          <p:cNvPr id="3" name="heading">
            <a:extLst xmlns:a="http://schemas.openxmlformats.org/drawingml/2006/main">
              <a:ext uri="{FF2B5EF4-FFF2-40B4-BE49-F238E27FC236}">
                <a16:creationId xmlns:a16="http://schemas.microsoft.com/office/drawing/2014/main" id="{F5191E8A-E142-4BC2-8435-1D8EA13B17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762000"/>
            <a:ext cx="108585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3225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3225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Worksheet + experience</a:t>
            </a:r>
          </a:p>
        </p:txBody>
      </p:sp>
      <p:pic>
        <p:nvPicPr>
          <p:cNvPr id="1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6ecd830780d4538"/>
          <a:stretch xmlns:a="http://schemas.openxmlformats.org/drawingml/2006/main"/>
        </p:blipFill>
        <p:spPr>
          <a:xfrm xmlns:a="http://schemas.openxmlformats.org/drawingml/2006/main">
            <a:off x="666750" y="6241242"/>
            <a:ext cx="2038350" cy="395316"/>
          </a:xfrm>
          <a:prstGeom xmlns:a="http://schemas.openxmlformats.org/drawingml/2006/main" prst="rect">
            <a:avLst/>
          </a:prstGeom>
        </p:spPr>
      </p:pic>
      <p:sp>
        <p:nvSpPr>
          <p:cNvPr id="5" name="page">
            <a:extLst xmlns:a="http://schemas.openxmlformats.org/drawingml/2006/main">
              <a:ext uri="{FF2B5EF4-FFF2-40B4-BE49-F238E27FC236}">
                <a16:creationId xmlns:a16="http://schemas.microsoft.com/office/drawing/2014/main" id="{A0A45757-2C05-40D6-9E75-84F5AEC8FE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400800"/>
            <a:ext cx="857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050" b="0">
                <a:solidFill>
                  <a:srgbClr val="526174"/>
                </a:solidFill>
                <a:latin typeface="DejaVu Sans"/>
                <a:ea typeface="DejaVu Sans"/>
                <a:cs typeface="DejaVu Sans"/>
              </a:defRPr>
            </a:pPr>
            <a:r>
              <a:rPr sz="1050" b="0">
                <a:solidFill>
                  <a:srgbClr val="526174"/>
                </a:solidFill>
                <a:latin typeface="DejaVu Sans"/>
                <a:ea typeface="DejaVu Sans"/>
                <a:cs typeface="DejaVu Sans"/>
              </a:rPr>
              <a:t>7 / 18</a:t>
            </a:r>
          </a:p>
        </p:txBody>
      </p:sp>
      <p:sp>
        <p:nvSpPr>
          <p:cNvPr id="6" name="open-label">
            <a:extLst xmlns:a="http://schemas.openxmlformats.org/drawingml/2006/main">
              <a:ext uri="{FF2B5EF4-FFF2-40B4-BE49-F238E27FC236}">
                <a16:creationId xmlns:a16="http://schemas.microsoft.com/office/drawing/2014/main" id="{3B14933E-F008-4A1E-B920-32134F7F65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524000"/>
            <a:ext cx="8572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1">
                <a:solidFill>
                  <a:srgbClr val="77D8FF"/>
                </a:solidFill>
                <a:latin typeface="DejaVu Sans"/>
                <a:ea typeface="DejaVu Sans"/>
                <a:cs typeface="DejaVu Sans"/>
              </a:defRPr>
            </a:pPr>
            <a:r>
              <a:rPr sz="1425" b="1">
                <a:solidFill>
                  <a:srgbClr val="77D8FF"/>
                </a:solidFill>
                <a:latin typeface="DejaVu Sans"/>
                <a:ea typeface="DejaVu Sans"/>
                <a:cs typeface="DejaVu Sans"/>
              </a:rPr>
              <a:t>01   OPEN THE EXPERIENCE NOW</a:t>
            </a:r>
          </a:p>
        </p:txBody>
      </p:sp>
      <p:sp>
        <p:nvSpPr>
          <p:cNvPr id="7" name="open-body">
            <a:extLst xmlns:a="http://schemas.openxmlformats.org/drawingml/2006/main">
              <a:ext uri="{FF2B5EF4-FFF2-40B4-BE49-F238E27FC236}">
                <a16:creationId xmlns:a16="http://schemas.microsoft.com/office/drawing/2014/main" id="{7A71894B-6674-45BD-B430-F339D03A05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847850"/>
            <a:ext cx="105727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950" b="0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1950" b="0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Open Merge and insertion works in Topic 2.1. Keep the worksheet beside you.</a:t>
            </a:r>
          </a:p>
        </p:txBody>
      </p:sp>
      <p:sp>
        <p:nvSpPr>
          <p:cNvPr id="8" name="station-label">
            <a:extLst xmlns:a="http://schemas.openxmlformats.org/drawingml/2006/main">
              <a:ext uri="{FF2B5EF4-FFF2-40B4-BE49-F238E27FC236}">
                <a16:creationId xmlns:a16="http://schemas.microsoft.com/office/drawing/2014/main" id="{B90E3C20-8F8E-412D-B38A-D521747F0B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590800"/>
            <a:ext cx="8572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425" b="1">
                <a:solidFill>
                  <a:srgbClr val="77D8FF"/>
                </a:solidFill>
                <a:latin typeface="DejaVu Sans"/>
                <a:ea typeface="DejaVu Sans"/>
                <a:cs typeface="DejaVu Sans"/>
              </a:defRPr>
            </a:pPr>
            <a:r>
              <a:rPr sz="1425" b="1">
                <a:solidFill>
                  <a:srgbClr val="77D8FF"/>
                </a:solidFill>
                <a:latin typeface="DejaVu Sans"/>
                <a:ea typeface="DejaVu Sans"/>
                <a:cs typeface="DejaVu Sans"/>
              </a:rPr>
              <a:t>02   SIX STATIONS</a:t>
            </a:r>
          </a:p>
        </p:txBody>
      </p:sp>
      <p:sp>
        <p:nvSpPr>
          <p:cNvPr id="9" name="station-body">
            <a:extLst xmlns:a="http://schemas.openxmlformats.org/drawingml/2006/main">
              <a:ext uri="{FF2B5EF4-FFF2-40B4-BE49-F238E27FC236}">
                <a16:creationId xmlns:a16="http://schemas.microsoft.com/office/drawing/2014/main" id="{B45B51EE-5945-44D5-9C7B-668BC232AE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914650"/>
            <a:ext cx="10572750" cy="866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175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2175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At each station, write key facts IN YOUR OWN WORDS. Answer its worksheet challenge before tapping the badge.</a:t>
            </a:r>
          </a:p>
        </p:txBody>
      </p:sp>
      <p:sp>
        <p:nvSpPr>
          <p:cNvPr id="10" name="finish-label">
            <a:extLst xmlns:a="http://schemas.openxmlformats.org/drawingml/2006/main">
              <a:ext uri="{FF2B5EF4-FFF2-40B4-BE49-F238E27FC236}">
                <a16:creationId xmlns:a16="http://schemas.microsoft.com/office/drawing/2014/main" id="{0B3F37C6-3223-43C3-B5C5-0734100D79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714750"/>
            <a:ext cx="8572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425" b="1">
                <a:solidFill>
                  <a:srgbClr val="77D8FF"/>
                </a:solidFill>
                <a:latin typeface="DejaVu Sans"/>
                <a:ea typeface="DejaVu Sans"/>
                <a:cs typeface="DejaVu Sans"/>
              </a:defRPr>
            </a:pPr>
            <a:r>
              <a:rPr sz="1425" b="1">
                <a:solidFill>
                  <a:srgbClr val="77D8FF"/>
                </a:solidFill>
                <a:latin typeface="DejaVu Sans"/>
                <a:ea typeface="DejaVu Sans"/>
                <a:cs typeface="DejaVu Sans"/>
              </a:rPr>
              <a:t>03   FINAL CHALLENGE</a:t>
            </a:r>
          </a:p>
        </p:txBody>
      </p:sp>
      <p:sp>
        <p:nvSpPr>
          <p:cNvPr id="11" name="finish-body">
            <a:extLst xmlns:a="http://schemas.openxmlformats.org/drawingml/2006/main">
              <a:ext uri="{FF2B5EF4-FFF2-40B4-BE49-F238E27FC236}">
                <a16:creationId xmlns:a16="http://schemas.microsoft.com/office/drawing/2014/main" id="{23A69AAC-E055-45B3-BEBA-D02CB8128F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048125"/>
            <a:ext cx="1057275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0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1875" b="0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Attempt the worksheet final challenge before tapping the star. Record your score, then use review mode to correct mistakes.</a:t>
            </a:r>
          </a:p>
        </p:txBody>
      </p:sp>
      <p:sp>
        <p:nvSpPr>
          <p:cNvPr id="12" name="plenary-label">
            <a:extLst xmlns:a="http://schemas.openxmlformats.org/drawingml/2006/main">
              <a:ext uri="{FF2B5EF4-FFF2-40B4-BE49-F238E27FC236}">
                <a16:creationId xmlns:a16="http://schemas.microsoft.com/office/drawing/2014/main" id="{97D05B46-012B-43E3-B865-D49BCF331F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914900"/>
            <a:ext cx="8572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425" b="1">
                <a:solidFill>
                  <a:srgbClr val="77D8FF"/>
                </a:solidFill>
                <a:latin typeface="DejaVu Sans"/>
                <a:ea typeface="DejaVu Sans"/>
                <a:cs typeface="DejaVu Sans"/>
              </a:defRPr>
            </a:pPr>
            <a:r>
              <a:rPr sz="1425" b="1">
                <a:solidFill>
                  <a:srgbClr val="77D8FF"/>
                </a:solidFill>
                <a:latin typeface="DejaVu Sans"/>
                <a:ea typeface="DejaVu Sans"/>
                <a:cs typeface="DejaVu Sans"/>
              </a:rPr>
              <a:t>04   PLENARY</a:t>
            </a:r>
          </a:p>
        </p:txBody>
      </p:sp>
      <p:sp>
        <p:nvSpPr>
          <p:cNvPr id="13" name="plenary-body">
            <a:extLst xmlns:a="http://schemas.openxmlformats.org/drawingml/2006/main">
              <a:ext uri="{FF2B5EF4-FFF2-40B4-BE49-F238E27FC236}">
                <a16:creationId xmlns:a16="http://schemas.microsoft.com/office/drawing/2014/main" id="{93D16BC3-41C8-47E2-B0D7-08EC3C3CDA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238750"/>
            <a:ext cx="105727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800" b="0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1800" b="0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Finish the experience in this lesson. Near the end, close it for the plenary knowledge checks.</a:t>
            </a:r>
          </a:p>
        </p:txBody>
      </p:sp>
    </p:spTree>
    <p:extLst>
      <p:ext uri="{BB962C8B-B14F-4D97-AF65-F5344CB8AC3E}">
        <p14:creationId xmlns:p14="http://schemas.microsoft.com/office/powerpoint/2010/main" val="8723505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footer background">
            <a:extLst xmlns:a="http://schemas.openxmlformats.org/drawingml/2006/main">
              <a:ext uri="{FF2B5EF4-FFF2-40B4-BE49-F238E27FC236}">
                <a16:creationId xmlns:a16="http://schemas.microsoft.com/office/drawing/2014/main" id="{58C536E9-5669-4451-9AAB-579BAC1AD3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124575"/>
            <a:ext cx="12192000" cy="7334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2" name="topic">
            <a:extLst xmlns:a="http://schemas.openxmlformats.org/drawingml/2006/main">
              <a:ext uri="{FF2B5EF4-FFF2-40B4-BE49-F238E27FC236}">
                <a16:creationId xmlns:a16="http://schemas.microsoft.com/office/drawing/2014/main" id="{819AAF36-B8DE-4251-8DE6-E6BCCD541D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23850"/>
            <a:ext cx="98107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2D63FF"/>
                </a:solidFill>
                <a:latin typeface="DejaVu Sans"/>
                <a:ea typeface="DejaVu Sans"/>
                <a:cs typeface="DejaVu Sans"/>
              </a:defRPr>
            </a:pPr>
            <a:r>
              <a:rPr sz="1125" b="1">
                <a:solidFill>
                  <a:srgbClr val="2D63FF"/>
                </a:solidFill>
                <a:latin typeface="DejaVu Sans"/>
                <a:ea typeface="DejaVu Sans"/>
                <a:cs typeface="DejaVu Sans"/>
              </a:rPr>
              <a:t>TOPIC 2.1   /   LESSON 10   /   CONSOLIDATION</a:t>
            </a:r>
          </a:p>
        </p:txBody>
      </p:sp>
      <p:sp>
        <p:nvSpPr>
          <p:cNvPr id="3" name="heading">
            <a:extLst xmlns:a="http://schemas.openxmlformats.org/drawingml/2006/main">
              <a:ext uri="{FF2B5EF4-FFF2-40B4-BE49-F238E27FC236}">
                <a16:creationId xmlns:a16="http://schemas.microsoft.com/office/drawing/2014/main" id="{2722D1D8-2EB7-4550-BC01-C8F4AA1B44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762000"/>
            <a:ext cx="108585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3225" b="1">
                <a:solidFill>
                  <a:srgbClr val="101828"/>
                </a:solidFill>
                <a:latin typeface="DejaVu Sans"/>
                <a:ea typeface="DejaVu Sans"/>
                <a:cs typeface="DejaVu Sans"/>
              </a:defRPr>
            </a:pPr>
            <a:r>
              <a:rPr sz="3225" b="1">
                <a:solidFill>
                  <a:srgbClr val="101828"/>
                </a:solidFill>
                <a:latin typeface="DejaVu Sans"/>
                <a:ea typeface="DejaVu Sans"/>
                <a:cs typeface="DejaVu Sans"/>
              </a:rPr>
              <a:t>After the experience</a:t>
            </a:r>
          </a:p>
        </p:txBody>
      </p:sp>
      <p:pic>
        <p:nvPicPr>
          <p:cNvPr id="1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b42d7b69833493d"/>
          <a:stretch xmlns:a="http://schemas.openxmlformats.org/drawingml/2006/main"/>
        </p:blipFill>
        <p:spPr>
          <a:xfrm xmlns:a="http://schemas.openxmlformats.org/drawingml/2006/main">
            <a:off x="666750" y="6241242"/>
            <a:ext cx="2038350" cy="395316"/>
          </a:xfrm>
          <a:prstGeom xmlns:a="http://schemas.openxmlformats.org/drawingml/2006/main" prst="rect">
            <a:avLst/>
          </a:prstGeom>
        </p:spPr>
      </p:pic>
      <p:sp>
        <p:nvSpPr>
          <p:cNvPr id="5" name="page">
            <a:extLst xmlns:a="http://schemas.openxmlformats.org/drawingml/2006/main">
              <a:ext uri="{FF2B5EF4-FFF2-40B4-BE49-F238E27FC236}">
                <a16:creationId xmlns:a16="http://schemas.microsoft.com/office/drawing/2014/main" id="{48D3831D-CA2C-4D2B-8512-1C6B95BF2E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400800"/>
            <a:ext cx="857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050" b="0">
                <a:solidFill>
                  <a:srgbClr val="526174"/>
                </a:solidFill>
                <a:latin typeface="DejaVu Sans"/>
                <a:ea typeface="DejaVu Sans"/>
                <a:cs typeface="DejaVu Sans"/>
              </a:defRPr>
            </a:pPr>
            <a:r>
              <a:rPr sz="1050" b="0">
                <a:solidFill>
                  <a:srgbClr val="526174"/>
                </a:solidFill>
                <a:latin typeface="DejaVu Sans"/>
                <a:ea typeface="DejaVu Sans"/>
                <a:cs typeface="DejaVu Sans"/>
              </a:rPr>
              <a:t>8 / 18</a:t>
            </a:r>
          </a:p>
        </p:txBody>
      </p:sp>
      <p:sp>
        <p:nvSpPr>
          <p:cNvPr id="6" name="extension-prompt">
            <a:extLst xmlns:a="http://schemas.openxmlformats.org/drawingml/2006/main">
              <a:ext uri="{FF2B5EF4-FFF2-40B4-BE49-F238E27FC236}">
                <a16:creationId xmlns:a16="http://schemas.microsoft.com/office/drawing/2014/main" id="{3D632867-A970-4622-9F75-EC7929A63A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2419350"/>
            <a:ext cx="10572750" cy="1695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400" b="1">
                <a:solidFill>
                  <a:srgbClr val="101828"/>
                </a:solidFill>
                <a:latin typeface="DejaVu Sans"/>
                <a:ea typeface="DejaVu Sans"/>
                <a:cs typeface="DejaVu Sans"/>
              </a:defRPr>
            </a:pPr>
            <a:r>
              <a:rPr sz="2400" b="1">
                <a:solidFill>
                  <a:srgbClr val="101828"/>
                </a:solidFill>
                <a:latin typeface="DejaVu Sans"/>
                <a:ea typeface="DejaVu Sans"/>
                <a:cs typeface="DejaVu Sans"/>
              </a:rPr>
              <a:t>Return to the Do Now question. Use two things you learned in the room to improve your original answer.</a:t>
            </a:r>
          </a:p>
        </p:txBody>
      </p:sp>
      <p:sp>
        <p:nvSpPr>
          <p:cNvPr id="7" name="extension-follow">
            <a:extLst xmlns:a="http://schemas.openxmlformats.org/drawingml/2006/main">
              <a:ext uri="{FF2B5EF4-FFF2-40B4-BE49-F238E27FC236}">
                <a16:creationId xmlns:a16="http://schemas.microsoft.com/office/drawing/2014/main" id="{0C21F904-CB27-4E5D-A9F7-D13B95D2EF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4648200"/>
            <a:ext cx="1057275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950" b="0">
                <a:solidFill>
                  <a:srgbClr val="2D63FF"/>
                </a:solidFill>
                <a:latin typeface="DejaVu Sans"/>
                <a:ea typeface="DejaVu Sans"/>
                <a:cs typeface="DejaVu Sans"/>
              </a:defRPr>
            </a:pPr>
            <a:r>
              <a:rPr sz="1950" b="0">
                <a:solidFill>
                  <a:srgbClr val="2D63FF"/>
                </a:solidFill>
                <a:latin typeface="DejaVu Sans"/>
                <a:ea typeface="DejaVu Sans"/>
                <a:cs typeface="DejaVu Sans"/>
              </a:rPr>
              <a:t>Link your explanation to the problem and use a worked example where it helps.</a:t>
            </a:r>
          </a:p>
        </p:txBody>
      </p:sp>
    </p:spTree>
    <p:extLst>
      <p:ext uri="{BB962C8B-B14F-4D97-AF65-F5344CB8AC3E}">
        <p14:creationId xmlns:p14="http://schemas.microsoft.com/office/powerpoint/2010/main" val="740997913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footer background">
            <a:extLst xmlns:a="http://schemas.openxmlformats.org/drawingml/2006/main">
              <a:ext uri="{FF2B5EF4-FFF2-40B4-BE49-F238E27FC236}">
                <a16:creationId xmlns:a16="http://schemas.microsoft.com/office/drawing/2014/main" id="{9B263055-5EA4-4302-98FD-2C08B0E0EA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124575"/>
            <a:ext cx="12192000" cy="7334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2" name="topic">
            <a:extLst xmlns:a="http://schemas.openxmlformats.org/drawingml/2006/main">
              <a:ext uri="{FF2B5EF4-FFF2-40B4-BE49-F238E27FC236}">
                <a16:creationId xmlns:a16="http://schemas.microsoft.com/office/drawing/2014/main" id="{2A5B0DE7-189B-4E0D-AC5D-CF4265922C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23850"/>
            <a:ext cx="98107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2D63FF"/>
                </a:solidFill>
                <a:latin typeface="DejaVu Sans"/>
                <a:ea typeface="DejaVu Sans"/>
                <a:cs typeface="DejaVu Sans"/>
              </a:defRPr>
            </a:pPr>
            <a:r>
              <a:rPr sz="1125" b="1">
                <a:solidFill>
                  <a:srgbClr val="2D63FF"/>
                </a:solidFill>
                <a:latin typeface="DejaVu Sans"/>
                <a:ea typeface="DejaVu Sans"/>
                <a:cs typeface="DejaVu Sans"/>
              </a:rPr>
              <a:t>TOPIC 2.1   /   LESSON 10   /   CONSOLIDATION</a:t>
            </a:r>
          </a:p>
        </p:txBody>
      </p:sp>
      <p:sp>
        <p:nvSpPr>
          <p:cNvPr id="3" name="heading">
            <a:extLst xmlns:a="http://schemas.openxmlformats.org/drawingml/2006/main">
              <a:ext uri="{FF2B5EF4-FFF2-40B4-BE49-F238E27FC236}">
                <a16:creationId xmlns:a16="http://schemas.microsoft.com/office/drawing/2014/main" id="{641086F9-DF63-4768-BF4E-D1F572BCC2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762000"/>
            <a:ext cx="108585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3225" b="1">
                <a:solidFill>
                  <a:srgbClr val="101828"/>
                </a:solidFill>
                <a:latin typeface="DejaVu Sans"/>
                <a:ea typeface="DejaVu Sans"/>
                <a:cs typeface="DejaVu Sans"/>
              </a:defRPr>
            </a:pPr>
            <a:r>
              <a:rPr sz="3225" b="1">
                <a:solidFill>
                  <a:srgbClr val="101828"/>
                </a:solidFill>
                <a:latin typeface="DejaVu Sans"/>
                <a:ea typeface="DejaVu Sans"/>
                <a:cs typeface="DejaVu Sans"/>
              </a:rPr>
              <a:t>Check and improve</a:t>
            </a:r>
          </a:p>
        </p:txBody>
      </p:sp>
      <p:pic>
        <p:nvPicPr>
          <p:cNvPr id="1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d51afa460d248c0"/>
          <a:stretch xmlns:a="http://schemas.openxmlformats.org/drawingml/2006/main"/>
        </p:blipFill>
        <p:spPr>
          <a:xfrm xmlns:a="http://schemas.openxmlformats.org/drawingml/2006/main">
            <a:off x="666750" y="6241242"/>
            <a:ext cx="2038350" cy="395316"/>
          </a:xfrm>
          <a:prstGeom xmlns:a="http://schemas.openxmlformats.org/drawingml/2006/main" prst="rect">
            <a:avLst/>
          </a:prstGeom>
        </p:spPr>
      </p:pic>
      <p:sp>
        <p:nvSpPr>
          <p:cNvPr id="5" name="page">
            <a:extLst xmlns:a="http://schemas.openxmlformats.org/drawingml/2006/main">
              <a:ext uri="{FF2B5EF4-FFF2-40B4-BE49-F238E27FC236}">
                <a16:creationId xmlns:a16="http://schemas.microsoft.com/office/drawing/2014/main" id="{A14C2577-C6E7-49B9-B106-D65BE85AE0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400800"/>
            <a:ext cx="857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050" b="0">
                <a:solidFill>
                  <a:srgbClr val="526174"/>
                </a:solidFill>
                <a:latin typeface="DejaVu Sans"/>
                <a:ea typeface="DejaVu Sans"/>
                <a:cs typeface="DejaVu Sans"/>
              </a:defRPr>
            </a:pPr>
            <a:r>
              <a:rPr sz="1050" b="0">
                <a:solidFill>
                  <a:srgbClr val="526174"/>
                </a:solidFill>
                <a:latin typeface="DejaVu Sans"/>
                <a:ea typeface="DejaVu Sans"/>
                <a:cs typeface="DejaVu Sans"/>
              </a:rPr>
              <a:t>9 / 18</a:t>
            </a:r>
          </a:p>
        </p:txBody>
      </p:sp>
      <p:sp>
        <p:nvSpPr>
          <p:cNvPr id="6" name="extension-two">
            <a:extLst xmlns:a="http://schemas.openxmlformats.org/drawingml/2006/main">
              <a:ext uri="{FF2B5EF4-FFF2-40B4-BE49-F238E27FC236}">
                <a16:creationId xmlns:a16="http://schemas.microsoft.com/office/drawing/2014/main" id="{29844E22-D648-40A0-BC22-276A81AE00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676525"/>
            <a:ext cx="10620375" cy="1752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400" b="1">
                <a:solidFill>
                  <a:srgbClr val="101828"/>
                </a:solidFill>
                <a:latin typeface="DejaVu Sans"/>
                <a:ea typeface="DejaVu Sans"/>
                <a:cs typeface="DejaVu Sans"/>
              </a:defRPr>
            </a:pPr>
            <a:r>
              <a:rPr sz="2400" b="1">
                <a:solidFill>
                  <a:srgbClr val="101828"/>
                </a:solidFill>
                <a:latin typeface="DejaVu Sans"/>
                <a:ea typeface="DejaVu Sans"/>
                <a:cs typeface="DejaVu Sans"/>
              </a:rPr>
              <a:t>Use review mode to correct any mistakes. Write one correction and explain why the right answer fits. Then complete the plenary from memory.</a:t>
            </a:r>
          </a:p>
        </p:txBody>
      </p:sp>
    </p:spTree>
    <p:extLst>
      <p:ext uri="{BB962C8B-B14F-4D97-AF65-F5344CB8AC3E}">
        <p14:creationId xmlns:p14="http://schemas.microsoft.com/office/powerpoint/2010/main" val="1610668184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EAF3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footer background">
            <a:extLst xmlns:a="http://schemas.openxmlformats.org/drawingml/2006/main">
              <a:ext uri="{FF2B5EF4-FFF2-40B4-BE49-F238E27FC236}">
                <a16:creationId xmlns:a16="http://schemas.microsoft.com/office/drawing/2014/main" id="{078803E9-413E-4B42-B661-1890FAB9A3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124575"/>
            <a:ext cx="12192000" cy="7334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2" name="topic">
            <a:extLst xmlns:a="http://schemas.openxmlformats.org/drawingml/2006/main">
              <a:ext uri="{FF2B5EF4-FFF2-40B4-BE49-F238E27FC236}">
                <a16:creationId xmlns:a16="http://schemas.microsoft.com/office/drawing/2014/main" id="{FF0305E1-8E4B-4FE7-9B7B-B01E262E5B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23850"/>
            <a:ext cx="98107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2D63FF"/>
                </a:solidFill>
                <a:latin typeface="DejaVu Sans"/>
                <a:ea typeface="DejaVu Sans"/>
                <a:cs typeface="DejaVu Sans"/>
              </a:defRPr>
            </a:pPr>
            <a:r>
              <a:rPr sz="1125" b="1">
                <a:solidFill>
                  <a:srgbClr val="2D63FF"/>
                </a:solidFill>
                <a:latin typeface="DejaVu Sans"/>
                <a:ea typeface="DejaVu Sans"/>
                <a:cs typeface="DejaVu Sans"/>
              </a:rPr>
              <a:t>TOPIC 2.1   /   LESSON 10   /   CHECK</a:t>
            </a:r>
          </a:p>
        </p:txBody>
      </p:sp>
      <p:sp>
        <p:nvSpPr>
          <p:cNvPr id="3" name="heading">
            <a:extLst xmlns:a="http://schemas.openxmlformats.org/drawingml/2006/main">
              <a:ext uri="{FF2B5EF4-FFF2-40B4-BE49-F238E27FC236}">
                <a16:creationId xmlns:a16="http://schemas.microsoft.com/office/drawing/2014/main" id="{571FFA7C-71E3-407E-A084-8AAA873463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762000"/>
            <a:ext cx="108585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3225" b="1">
                <a:solidFill>
                  <a:srgbClr val="101828"/>
                </a:solidFill>
                <a:latin typeface="DejaVu Sans"/>
                <a:ea typeface="DejaVu Sans"/>
                <a:cs typeface="DejaVu Sans"/>
              </a:defRPr>
            </a:pPr>
            <a:r>
              <a:rPr sz="3225" b="1">
                <a:solidFill>
                  <a:srgbClr val="101828"/>
                </a:solidFill>
                <a:latin typeface="DejaVu Sans"/>
                <a:ea typeface="DejaVu Sans"/>
                <a:cs typeface="DejaVu Sans"/>
              </a:rPr>
              <a:t>A stronger explanation</a:t>
            </a:r>
          </a:p>
        </p:txBody>
      </p:sp>
      <p:pic>
        <p:nvPicPr>
          <p:cNvPr id="1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a00eb9760af4cb2"/>
          <a:stretch xmlns:a="http://schemas.openxmlformats.org/drawingml/2006/main"/>
        </p:blipFill>
        <p:spPr>
          <a:xfrm xmlns:a="http://schemas.openxmlformats.org/drawingml/2006/main">
            <a:off x="666750" y="6241242"/>
            <a:ext cx="2038350" cy="395316"/>
          </a:xfrm>
          <a:prstGeom xmlns:a="http://schemas.openxmlformats.org/drawingml/2006/main" prst="rect">
            <a:avLst/>
          </a:prstGeom>
        </p:spPr>
      </p:pic>
      <p:sp>
        <p:nvSpPr>
          <p:cNvPr id="5" name="page">
            <a:extLst xmlns:a="http://schemas.openxmlformats.org/drawingml/2006/main">
              <a:ext uri="{FF2B5EF4-FFF2-40B4-BE49-F238E27FC236}">
                <a16:creationId xmlns:a16="http://schemas.microsoft.com/office/drawing/2014/main" id="{C5BD4D03-162B-45A5-AA28-72FD38F49F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400800"/>
            <a:ext cx="857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050" b="0">
                <a:solidFill>
                  <a:srgbClr val="526174"/>
                </a:solidFill>
                <a:latin typeface="DejaVu Sans"/>
                <a:ea typeface="DejaVu Sans"/>
                <a:cs typeface="DejaVu Sans"/>
              </a:defRPr>
            </a:pPr>
            <a:r>
              <a:rPr sz="1050" b="0">
                <a:solidFill>
                  <a:srgbClr val="526174"/>
                </a:solidFill>
                <a:latin typeface="DejaVu Sans"/>
                <a:ea typeface="DejaVu Sans"/>
                <a:cs typeface="DejaVu Sans"/>
              </a:rPr>
              <a:t>10 / 18</a:t>
            </a:r>
          </a:p>
        </p:txBody>
      </p:sp>
      <p:sp>
        <p:nvSpPr>
          <p:cNvPr id="6" name="extension-check">
            <a:extLst xmlns:a="http://schemas.openxmlformats.org/drawingml/2006/main">
              <a:ext uri="{FF2B5EF4-FFF2-40B4-BE49-F238E27FC236}">
                <a16:creationId xmlns:a16="http://schemas.microsoft.com/office/drawing/2014/main" id="{06547FB7-89E1-430C-BA4E-A0059FB7D2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533525"/>
            <a:ext cx="10477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800" b="0">
                <a:solidFill>
                  <a:srgbClr val="526174"/>
                </a:solidFill>
                <a:latin typeface="DejaVu Sans"/>
                <a:ea typeface="DejaVu Sans"/>
                <a:cs typeface="DejaVu Sans"/>
              </a:defRPr>
            </a:pPr>
            <a:r>
              <a:rPr sz="1800" b="0">
                <a:solidFill>
                  <a:srgbClr val="526174"/>
                </a:solidFill>
                <a:latin typeface="DejaVu Sans"/>
                <a:ea typeface="DejaVu Sans"/>
                <a:cs typeface="DejaVu Sans"/>
              </a:rPr>
              <a:t>Compare your reasoning, then improve one sentence on your worksheet.</a:t>
            </a:r>
          </a:p>
        </p:txBody>
      </p:sp>
      <p:sp>
        <p:nvSpPr>
          <p:cNvPr id="7" name="answer-application">
            <a:extLst xmlns:a="http://schemas.openxmlformats.org/drawingml/2006/main">
              <a:ext uri="{FF2B5EF4-FFF2-40B4-BE49-F238E27FC236}">
                <a16:creationId xmlns:a16="http://schemas.microsoft.com/office/drawing/2014/main" id="{7F1A9A78-A783-4735-9B4E-2787A5EE5E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305050"/>
            <a:ext cx="10477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1">
                <a:solidFill>
                  <a:srgbClr val="2D63FF"/>
                </a:solidFill>
                <a:latin typeface="DejaVu Sans"/>
                <a:ea typeface="DejaVu Sans"/>
                <a:cs typeface="DejaVu Sans"/>
              </a:defRPr>
            </a:pPr>
            <a:r>
              <a:rPr sz="1875" b="1">
                <a:solidFill>
                  <a:srgbClr val="2D63FF"/>
                </a:solidFill>
                <a:latin typeface="DejaVu Sans"/>
                <a:ea typeface="DejaVu Sans"/>
                <a:cs typeface="DejaVu Sans"/>
              </a:rPr>
              <a:t>Compare the methods</a:t>
            </a:r>
          </a:p>
        </p:txBody>
      </p:sp>
      <p:sp>
        <p:nvSpPr>
          <p:cNvPr id="8" name="answer-application-body">
            <a:extLst xmlns:a="http://schemas.openxmlformats.org/drawingml/2006/main">
              <a:ext uri="{FF2B5EF4-FFF2-40B4-BE49-F238E27FC236}">
                <a16:creationId xmlns:a16="http://schemas.microsoft.com/office/drawing/2014/main" id="{28087EFB-17A1-4A2B-B86E-2733BD05E3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771775"/>
            <a:ext cx="10477500" cy="1276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950" b="0">
                <a:solidFill>
                  <a:srgbClr val="101828"/>
                </a:solidFill>
                <a:latin typeface="DejaVu Sans"/>
                <a:ea typeface="DejaVu Sans"/>
                <a:cs typeface="DejaVu Sans"/>
              </a:defRPr>
            </a:pPr>
            <a:r>
              <a:rPr sz="1950" b="0">
                <a:solidFill>
                  <a:srgbClr val="101828"/>
                </a:solidFill>
                <a:latin typeface="DejaVu Sans"/>
                <a:ea typeface="DejaVu Sans"/>
                <a:cs typeface="DejaVu Sans"/>
              </a:rPr>
              <a:t>Insertion sort, because many keys are already close to their correct positions.</a:t>
            </a:r>
          </a:p>
        </p:txBody>
      </p:sp>
      <p:sp>
        <p:nvSpPr>
          <p:cNvPr id="9" name="answer-stretch">
            <a:extLst xmlns:a="http://schemas.openxmlformats.org/drawingml/2006/main">
              <a:ext uri="{FF2B5EF4-FFF2-40B4-BE49-F238E27FC236}">
                <a16:creationId xmlns:a16="http://schemas.microsoft.com/office/drawing/2014/main" id="{5A018C42-6685-447F-818E-7126648E85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352925"/>
            <a:ext cx="10477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1">
                <a:solidFill>
                  <a:srgbClr val="2D63FF"/>
                </a:solidFill>
                <a:latin typeface="DejaVu Sans"/>
                <a:ea typeface="DejaVu Sans"/>
                <a:cs typeface="DejaVu Sans"/>
              </a:defRPr>
            </a:pPr>
            <a:r>
              <a:rPr sz="1875" b="1">
                <a:solidFill>
                  <a:srgbClr val="2D63FF"/>
                </a:solidFill>
                <a:latin typeface="DejaVu Sans"/>
                <a:ea typeface="DejaVu Sans"/>
                <a:cs typeface="DejaVu Sans"/>
              </a:rPr>
              <a:t>Review and explain</a:t>
            </a:r>
          </a:p>
        </p:txBody>
      </p:sp>
      <p:sp>
        <p:nvSpPr>
          <p:cNvPr id="10" name="answer-stretch-body">
            <a:extLst xmlns:a="http://schemas.openxmlformats.org/drawingml/2006/main">
              <a:ext uri="{FF2B5EF4-FFF2-40B4-BE49-F238E27FC236}">
                <a16:creationId xmlns:a16="http://schemas.microsoft.com/office/drawing/2014/main" id="{0C0236B0-96D2-4CB9-BE2E-068D8FFE21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810125"/>
            <a:ext cx="10477500" cy="1257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0">
                <a:solidFill>
                  <a:srgbClr val="101828"/>
                </a:solidFill>
                <a:latin typeface="DejaVu Sans"/>
                <a:ea typeface="DejaVu Sans"/>
                <a:cs typeface="DejaVu Sans"/>
              </a:defRPr>
            </a:pPr>
            <a:r>
              <a:rPr sz="1875" b="0">
                <a:solidFill>
                  <a:srgbClr val="101828"/>
                </a:solidFill>
                <a:latin typeface="DejaVu Sans"/>
                <a:ea typeface="DejaVu Sans"/>
                <a:cs typeface="DejaVu Sans"/>
              </a:rPr>
              <a:t>Your correction should name the correct idea and explain why it fits the question. Use the experience feedback to check it.</a:t>
            </a:r>
          </a:p>
        </p:txBody>
      </p:sp>
    </p:spTree>
    <p:extLst>
      <p:ext uri="{BB962C8B-B14F-4D97-AF65-F5344CB8AC3E}">
        <p14:creationId xmlns:p14="http://schemas.microsoft.com/office/powerpoint/2010/main" val="1077196823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EAF3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footer background">
            <a:extLst xmlns:a="http://schemas.openxmlformats.org/drawingml/2006/main">
              <a:ext uri="{FF2B5EF4-FFF2-40B4-BE49-F238E27FC236}">
                <a16:creationId xmlns:a16="http://schemas.microsoft.com/office/drawing/2014/main" id="{7EF7E645-4366-476F-A5B1-90C7C70ADD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124575"/>
            <a:ext cx="12192000" cy="7334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2" name="topic">
            <a:extLst xmlns:a="http://schemas.openxmlformats.org/drawingml/2006/main">
              <a:ext uri="{FF2B5EF4-FFF2-40B4-BE49-F238E27FC236}">
                <a16:creationId xmlns:a16="http://schemas.microsoft.com/office/drawing/2014/main" id="{159341AF-F465-4757-AC09-3A0C4AF7B5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23850"/>
            <a:ext cx="98107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2D63FF"/>
                </a:solidFill>
                <a:latin typeface="DejaVu Sans"/>
                <a:ea typeface="DejaVu Sans"/>
                <a:cs typeface="DejaVu Sans"/>
              </a:defRPr>
            </a:pPr>
            <a:r>
              <a:rPr sz="1125" b="1">
                <a:solidFill>
                  <a:srgbClr val="2D63FF"/>
                </a:solidFill>
                <a:latin typeface="DejaVu Sans"/>
                <a:ea typeface="DejaVu Sans"/>
                <a:cs typeface="DejaVu Sans"/>
              </a:rPr>
              <a:t>TOPIC 2.1   /   LESSON 10   /   ANSWERS</a:t>
            </a:r>
          </a:p>
        </p:txBody>
      </p:sp>
      <p:sp>
        <p:nvSpPr>
          <p:cNvPr id="3" name="heading">
            <a:extLst xmlns:a="http://schemas.openxmlformats.org/drawingml/2006/main">
              <a:ext uri="{FF2B5EF4-FFF2-40B4-BE49-F238E27FC236}">
                <a16:creationId xmlns:a16="http://schemas.microsoft.com/office/drawing/2014/main" id="{5EBF8C94-893F-4F9B-8993-606E888EB0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762000"/>
            <a:ext cx="108585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3225" b="1">
                <a:solidFill>
                  <a:srgbClr val="101828"/>
                </a:solidFill>
                <a:latin typeface="DejaVu Sans"/>
                <a:ea typeface="DejaVu Sans"/>
                <a:cs typeface="DejaVu Sans"/>
              </a:defRPr>
            </a:pPr>
            <a:r>
              <a:rPr sz="3225" b="1">
                <a:solidFill>
                  <a:srgbClr val="101828"/>
                </a:solidFill>
                <a:latin typeface="DejaVu Sans"/>
                <a:ea typeface="DejaVu Sans"/>
                <a:cs typeface="DejaVu Sans"/>
              </a:rPr>
              <a:t>After the experience: stations 1–3</a:t>
            </a:r>
          </a:p>
        </p:txBody>
      </p:sp>
      <p:pic>
        <p:nvPicPr>
          <p:cNvPr id="1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a616d1f55a64cb5"/>
          <a:stretch xmlns:a="http://schemas.openxmlformats.org/drawingml/2006/main"/>
        </p:blipFill>
        <p:spPr>
          <a:xfrm xmlns:a="http://schemas.openxmlformats.org/drawingml/2006/main">
            <a:off x="666750" y="6241242"/>
            <a:ext cx="2038350" cy="395316"/>
          </a:xfrm>
          <a:prstGeom xmlns:a="http://schemas.openxmlformats.org/drawingml/2006/main" prst="rect">
            <a:avLst/>
          </a:prstGeom>
        </p:spPr>
      </p:pic>
      <p:sp>
        <p:nvSpPr>
          <p:cNvPr id="5" name="page">
            <a:extLst xmlns:a="http://schemas.openxmlformats.org/drawingml/2006/main">
              <a:ext uri="{FF2B5EF4-FFF2-40B4-BE49-F238E27FC236}">
                <a16:creationId xmlns:a16="http://schemas.microsoft.com/office/drawing/2014/main" id="{9E93BEC9-DC57-4892-87B7-6699B7FBD7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400800"/>
            <a:ext cx="857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050" b="0">
                <a:solidFill>
                  <a:srgbClr val="526174"/>
                </a:solidFill>
                <a:latin typeface="DejaVu Sans"/>
                <a:ea typeface="DejaVu Sans"/>
                <a:cs typeface="DejaVu Sans"/>
              </a:defRPr>
            </a:pPr>
            <a:r>
              <a:rPr sz="1050" b="0">
                <a:solidFill>
                  <a:srgbClr val="526174"/>
                </a:solidFill>
                <a:latin typeface="DejaVu Sans"/>
                <a:ea typeface="DejaVu Sans"/>
                <a:cs typeface="DejaVu Sans"/>
              </a:rPr>
              <a:t>11 / 18</a:t>
            </a:r>
          </a:p>
        </p:txBody>
      </p:sp>
      <p:sp>
        <p:nvSpPr>
          <p:cNvPr id="6" name="check-stations">
            <a:extLst xmlns:a="http://schemas.openxmlformats.org/drawingml/2006/main">
              <a:ext uri="{FF2B5EF4-FFF2-40B4-BE49-F238E27FC236}">
                <a16:creationId xmlns:a16="http://schemas.microsoft.com/office/drawing/2014/main" id="{51C9C7E2-F4F1-420D-88E1-62F2A7BC64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543050"/>
            <a:ext cx="10477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800" b="0">
                <a:solidFill>
                  <a:srgbClr val="526174"/>
                </a:solidFill>
                <a:latin typeface="DejaVu Sans"/>
                <a:ea typeface="DejaVu Sans"/>
                <a:cs typeface="DejaVu Sans"/>
              </a:defRPr>
            </a:pPr>
            <a:r>
              <a:rPr sz="1800" b="0">
                <a:solidFill>
                  <a:srgbClr val="526174"/>
                </a:solidFill>
                <a:latin typeface="DejaVu Sans"/>
                <a:ea typeface="DejaVu Sans"/>
                <a:cs typeface="DejaVu Sans"/>
              </a:rPr>
              <a:t>Check your key facts and challenge responses.</a:t>
            </a:r>
          </a:p>
        </p:txBody>
      </p:sp>
      <p:sp>
        <p:nvSpPr>
          <p:cNvPr id="7" name="station-name-0">
            <a:extLst xmlns:a="http://schemas.openxmlformats.org/drawingml/2006/main">
              <a:ext uri="{FF2B5EF4-FFF2-40B4-BE49-F238E27FC236}">
                <a16:creationId xmlns:a16="http://schemas.microsoft.com/office/drawing/2014/main" id="{D616DF12-F12D-4F89-BE2A-F5A3C233BF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209800"/>
            <a:ext cx="10477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950" b="1">
                <a:solidFill>
                  <a:srgbClr val="2D63FF"/>
                </a:solidFill>
                <a:latin typeface="DejaVu Sans"/>
                <a:ea typeface="DejaVu Sans"/>
                <a:cs typeface="DejaVu Sans"/>
              </a:defRPr>
            </a:pPr>
            <a:r>
              <a:rPr sz="1950" b="1">
                <a:solidFill>
                  <a:srgbClr val="2D63FF"/>
                </a:solidFill>
                <a:latin typeface="DejaVu Sans"/>
                <a:ea typeface="DejaVu Sans"/>
                <a:cs typeface="DejaVu Sans"/>
              </a:rPr>
              <a:t>1  Divide the list</a:t>
            </a:r>
          </a:p>
        </p:txBody>
      </p:sp>
      <p:sp>
        <p:nvSpPr>
          <p:cNvPr id="8" name="station-answer-0">
            <a:extLst xmlns:a="http://schemas.openxmlformats.org/drawingml/2006/main">
              <a:ext uri="{FF2B5EF4-FFF2-40B4-BE49-F238E27FC236}">
                <a16:creationId xmlns:a16="http://schemas.microsoft.com/office/drawing/2014/main" id="{F6BEAF51-6593-4158-B949-6DCAF3DF8A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638425"/>
            <a:ext cx="10477500" cy="866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0">
                <a:solidFill>
                  <a:srgbClr val="101828"/>
                </a:solidFill>
                <a:latin typeface="DejaVu Sans"/>
                <a:ea typeface="DejaVu Sans"/>
                <a:cs typeface="DejaVu Sans"/>
              </a:defRPr>
            </a:pPr>
            <a:r>
              <a:rPr sz="1800" b="0">
                <a:solidFill>
                  <a:srgbClr val="101828"/>
                </a:solidFill>
                <a:latin typeface="DejaVu Sans"/>
                <a:ea typeface="DejaVu Sans"/>
                <a:cs typeface="DejaVu Sans"/>
              </a:rPr>
              <a:t>A single item cannot be out of order relative to another item in its list.</a:t>
            </a:r>
          </a:p>
        </p:txBody>
      </p:sp>
      <p:sp>
        <p:nvSpPr>
          <p:cNvPr id="9" name="station-name-1">
            <a:extLst xmlns:a="http://schemas.openxmlformats.org/drawingml/2006/main">
              <a:ext uri="{FF2B5EF4-FFF2-40B4-BE49-F238E27FC236}">
                <a16:creationId xmlns:a16="http://schemas.microsoft.com/office/drawing/2014/main" id="{1C2437BA-61EC-4CC1-A291-672A28BCBD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533775"/>
            <a:ext cx="10477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950" b="1">
                <a:solidFill>
                  <a:srgbClr val="2D63FF"/>
                </a:solidFill>
                <a:latin typeface="DejaVu Sans"/>
                <a:ea typeface="DejaVu Sans"/>
                <a:cs typeface="DejaVu Sans"/>
              </a:defRPr>
            </a:pPr>
            <a:r>
              <a:rPr sz="1950" b="1">
                <a:solidFill>
                  <a:srgbClr val="2D63FF"/>
                </a:solidFill>
                <a:latin typeface="DejaVu Sans"/>
                <a:ea typeface="DejaVu Sans"/>
                <a:cs typeface="DejaVu Sans"/>
              </a:rPr>
              <a:t>2  Merge sorted groups</a:t>
            </a:r>
          </a:p>
        </p:txBody>
      </p:sp>
      <p:sp>
        <p:nvSpPr>
          <p:cNvPr id="10" name="station-answer-1">
            <a:extLst xmlns:a="http://schemas.openxmlformats.org/drawingml/2006/main">
              <a:ext uri="{FF2B5EF4-FFF2-40B4-BE49-F238E27FC236}">
                <a16:creationId xmlns:a16="http://schemas.microsoft.com/office/drawing/2014/main" id="{2AD176F9-D05F-473B-8386-F181E623F6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962400"/>
            <a:ext cx="10477500" cy="866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0">
                <a:solidFill>
                  <a:srgbClr val="101828"/>
                </a:solidFill>
                <a:latin typeface="DejaVu Sans"/>
                <a:ea typeface="DejaVu Sans"/>
                <a:cs typeface="DejaVu Sans"/>
              </a:defRPr>
            </a:pPr>
            <a:r>
              <a:rPr sz="1800" b="0">
                <a:solidFill>
                  <a:srgbClr val="101828"/>
                </a:solidFill>
                <a:latin typeface="DejaVu Sans"/>
                <a:ea typeface="DejaVu Sans"/>
                <a:cs typeface="DejaVu Sans"/>
              </a:rPr>
              <a:t>3, because it is smaller than the other front value, 7.</a:t>
            </a:r>
          </a:p>
        </p:txBody>
      </p:sp>
      <p:sp>
        <p:nvSpPr>
          <p:cNvPr id="11" name="station-name-2">
            <a:extLst xmlns:a="http://schemas.openxmlformats.org/drawingml/2006/main">
              <a:ext uri="{FF2B5EF4-FFF2-40B4-BE49-F238E27FC236}">
                <a16:creationId xmlns:a16="http://schemas.microsoft.com/office/drawing/2014/main" id="{D795BB1C-F6B4-4C53-AB97-8133E25006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857750"/>
            <a:ext cx="10477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950" b="1">
                <a:solidFill>
                  <a:srgbClr val="2D63FF"/>
                </a:solidFill>
                <a:latin typeface="DejaVu Sans"/>
                <a:ea typeface="DejaVu Sans"/>
                <a:cs typeface="DejaVu Sans"/>
              </a:defRPr>
            </a:pPr>
            <a:r>
              <a:rPr sz="1950" b="1">
                <a:solidFill>
                  <a:srgbClr val="2D63FF"/>
                </a:solidFill>
                <a:latin typeface="DejaVu Sans"/>
                <a:ea typeface="DejaVu Sans"/>
                <a:cs typeface="DejaVu Sans"/>
              </a:rPr>
              <a:t>3  Read a merge segment</a:t>
            </a:r>
          </a:p>
        </p:txBody>
      </p:sp>
      <p:sp>
        <p:nvSpPr>
          <p:cNvPr id="12" name="station-answer-2">
            <a:extLst xmlns:a="http://schemas.openxmlformats.org/drawingml/2006/main">
              <a:ext uri="{FF2B5EF4-FFF2-40B4-BE49-F238E27FC236}">
                <a16:creationId xmlns:a16="http://schemas.microsoft.com/office/drawing/2014/main" id="{36B68946-29BE-4832-BBD8-102C229E46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286375"/>
            <a:ext cx="10477500" cy="866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0">
                <a:solidFill>
                  <a:srgbClr val="101828"/>
                </a:solidFill>
                <a:latin typeface="DejaVu Sans"/>
                <a:ea typeface="DejaVu Sans"/>
                <a:cs typeface="DejaVu Sans"/>
              </a:defRPr>
            </a:pPr>
            <a:r>
              <a:rPr sz="1800" b="0">
                <a:solidFill>
                  <a:srgbClr val="101828"/>
                </a:solidFill>
                <a:latin typeface="DejaVu Sans"/>
                <a:ea typeface="DejaVu Sans"/>
                <a:cs typeface="DejaVu Sans"/>
              </a:rPr>
              <a:t>The other front value has not been output yet and must remain available for comparison.</a:t>
            </a:r>
          </a:p>
        </p:txBody>
      </p:sp>
    </p:spTree>
    <p:extLst>
      <p:ext uri="{BB962C8B-B14F-4D97-AF65-F5344CB8AC3E}">
        <p14:creationId xmlns:p14="http://schemas.microsoft.com/office/powerpoint/2010/main" val="853594405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EAF3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footer background">
            <a:extLst xmlns:a="http://schemas.openxmlformats.org/drawingml/2006/main">
              <a:ext uri="{FF2B5EF4-FFF2-40B4-BE49-F238E27FC236}">
                <a16:creationId xmlns:a16="http://schemas.microsoft.com/office/drawing/2014/main" id="{E51900B3-0610-4E01-90E0-77DC6FF316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124575"/>
            <a:ext cx="12192000" cy="7334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2" name="topic">
            <a:extLst xmlns:a="http://schemas.openxmlformats.org/drawingml/2006/main">
              <a:ext uri="{FF2B5EF4-FFF2-40B4-BE49-F238E27FC236}">
                <a16:creationId xmlns:a16="http://schemas.microsoft.com/office/drawing/2014/main" id="{B0525AC8-4A6A-4190-909D-B5EB30CD83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23850"/>
            <a:ext cx="98107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2D63FF"/>
                </a:solidFill>
                <a:latin typeface="DejaVu Sans"/>
                <a:ea typeface="DejaVu Sans"/>
                <a:cs typeface="DejaVu Sans"/>
              </a:defRPr>
            </a:pPr>
            <a:r>
              <a:rPr sz="1125" b="1">
                <a:solidFill>
                  <a:srgbClr val="2D63FF"/>
                </a:solidFill>
                <a:latin typeface="DejaVu Sans"/>
                <a:ea typeface="DejaVu Sans"/>
                <a:cs typeface="DejaVu Sans"/>
              </a:rPr>
              <a:t>TOPIC 2.1   /   LESSON 10   /   ANSWERS</a:t>
            </a:r>
          </a:p>
        </p:txBody>
      </p:sp>
      <p:sp>
        <p:nvSpPr>
          <p:cNvPr id="3" name="heading">
            <a:extLst xmlns:a="http://schemas.openxmlformats.org/drawingml/2006/main">
              <a:ext uri="{FF2B5EF4-FFF2-40B4-BE49-F238E27FC236}">
                <a16:creationId xmlns:a16="http://schemas.microsoft.com/office/drawing/2014/main" id="{7AFF9494-BEC4-4AEA-BD48-105C969A58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762000"/>
            <a:ext cx="108585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3225" b="1">
                <a:solidFill>
                  <a:srgbClr val="101828"/>
                </a:solidFill>
                <a:latin typeface="DejaVu Sans"/>
                <a:ea typeface="DejaVu Sans"/>
                <a:cs typeface="DejaVu Sans"/>
              </a:defRPr>
            </a:pPr>
            <a:r>
              <a:rPr sz="3225" b="1">
                <a:solidFill>
                  <a:srgbClr val="101828"/>
                </a:solidFill>
                <a:latin typeface="DejaVu Sans"/>
                <a:ea typeface="DejaVu Sans"/>
                <a:cs typeface="DejaVu Sans"/>
              </a:rPr>
              <a:t>After the experience: stations 4–6</a:t>
            </a:r>
          </a:p>
        </p:txBody>
      </p:sp>
      <p:pic>
        <p:nvPicPr>
          <p:cNvPr id="1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7642d34ed3f4a94"/>
          <a:stretch xmlns:a="http://schemas.openxmlformats.org/drawingml/2006/main"/>
        </p:blipFill>
        <p:spPr>
          <a:xfrm xmlns:a="http://schemas.openxmlformats.org/drawingml/2006/main">
            <a:off x="666750" y="6241242"/>
            <a:ext cx="2038350" cy="395316"/>
          </a:xfrm>
          <a:prstGeom xmlns:a="http://schemas.openxmlformats.org/drawingml/2006/main" prst="rect">
            <a:avLst/>
          </a:prstGeom>
        </p:spPr>
      </p:pic>
      <p:sp>
        <p:nvSpPr>
          <p:cNvPr id="5" name="page">
            <a:extLst xmlns:a="http://schemas.openxmlformats.org/drawingml/2006/main">
              <a:ext uri="{FF2B5EF4-FFF2-40B4-BE49-F238E27FC236}">
                <a16:creationId xmlns:a16="http://schemas.microsoft.com/office/drawing/2014/main" id="{28FF5AE6-5314-4952-A1CD-C9E9FC07E5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400800"/>
            <a:ext cx="857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050" b="0">
                <a:solidFill>
                  <a:srgbClr val="526174"/>
                </a:solidFill>
                <a:latin typeface="DejaVu Sans"/>
                <a:ea typeface="DejaVu Sans"/>
                <a:cs typeface="DejaVu Sans"/>
              </a:defRPr>
            </a:pPr>
            <a:r>
              <a:rPr sz="1050" b="0">
                <a:solidFill>
                  <a:srgbClr val="526174"/>
                </a:solidFill>
                <a:latin typeface="DejaVu Sans"/>
                <a:ea typeface="DejaVu Sans"/>
                <a:cs typeface="DejaVu Sans"/>
              </a:rPr>
              <a:t>12 / 18</a:t>
            </a:r>
          </a:p>
        </p:txBody>
      </p:sp>
      <p:sp>
        <p:nvSpPr>
          <p:cNvPr id="6" name="check-stations">
            <a:extLst xmlns:a="http://schemas.openxmlformats.org/drawingml/2006/main">
              <a:ext uri="{FF2B5EF4-FFF2-40B4-BE49-F238E27FC236}">
                <a16:creationId xmlns:a16="http://schemas.microsoft.com/office/drawing/2014/main" id="{478BE9EE-4B04-4078-A860-876FCD869E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543050"/>
            <a:ext cx="10477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800" b="0">
                <a:solidFill>
                  <a:srgbClr val="526174"/>
                </a:solidFill>
                <a:latin typeface="DejaVu Sans"/>
                <a:ea typeface="DejaVu Sans"/>
                <a:cs typeface="DejaVu Sans"/>
              </a:defRPr>
            </a:pPr>
            <a:r>
              <a:rPr sz="1800" b="0">
                <a:solidFill>
                  <a:srgbClr val="526174"/>
                </a:solidFill>
                <a:latin typeface="DejaVu Sans"/>
                <a:ea typeface="DejaVu Sans"/>
                <a:cs typeface="DejaVu Sans"/>
              </a:rPr>
              <a:t>Check your key facts and challenge responses.</a:t>
            </a:r>
          </a:p>
        </p:txBody>
      </p:sp>
      <p:sp>
        <p:nvSpPr>
          <p:cNvPr id="7" name="station-name-3">
            <a:extLst xmlns:a="http://schemas.openxmlformats.org/drawingml/2006/main">
              <a:ext uri="{FF2B5EF4-FFF2-40B4-BE49-F238E27FC236}">
                <a16:creationId xmlns:a16="http://schemas.microsoft.com/office/drawing/2014/main" id="{0F0EBA09-E83B-415E-AD99-3550F935C4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209800"/>
            <a:ext cx="10477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950" b="1">
                <a:solidFill>
                  <a:srgbClr val="2D63FF"/>
                </a:solidFill>
                <a:latin typeface="DejaVu Sans"/>
                <a:ea typeface="DejaVu Sans"/>
                <a:cs typeface="DejaVu Sans"/>
              </a:defRPr>
            </a:pPr>
            <a:r>
              <a:rPr sz="1950" b="1">
                <a:solidFill>
                  <a:srgbClr val="2D63FF"/>
                </a:solidFill>
                <a:latin typeface="DejaVu Sans"/>
                <a:ea typeface="DejaVu Sans"/>
                <a:cs typeface="DejaVu Sans"/>
              </a:rPr>
              <a:t>4  Insert into a prefix</a:t>
            </a:r>
          </a:p>
        </p:txBody>
      </p:sp>
      <p:sp>
        <p:nvSpPr>
          <p:cNvPr id="8" name="station-answer-3">
            <a:extLst xmlns:a="http://schemas.openxmlformats.org/drawingml/2006/main">
              <a:ext uri="{FF2B5EF4-FFF2-40B4-BE49-F238E27FC236}">
                <a16:creationId xmlns:a16="http://schemas.microsoft.com/office/drawing/2014/main" id="{8D150509-4F43-452B-BA18-B445190636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638425"/>
            <a:ext cx="10477500" cy="866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0">
                <a:solidFill>
                  <a:srgbClr val="101828"/>
                </a:solidFill>
                <a:latin typeface="DejaVu Sans"/>
                <a:ea typeface="DejaVu Sans"/>
                <a:cs typeface="DejaVu Sans"/>
              </a:defRPr>
            </a:pPr>
            <a:r>
              <a:rPr sz="1800" b="0">
                <a:solidFill>
                  <a:srgbClr val="101828"/>
                </a:solidFill>
                <a:latin typeface="DejaVu Sans"/>
                <a:ea typeface="DejaVu Sans"/>
                <a:cs typeface="DejaVu Sans"/>
              </a:rPr>
              <a:t>2, 5, 6. The final value 1 has not yet been inserted.</a:t>
            </a:r>
          </a:p>
        </p:txBody>
      </p:sp>
      <p:sp>
        <p:nvSpPr>
          <p:cNvPr id="9" name="station-name-4">
            <a:extLst xmlns:a="http://schemas.openxmlformats.org/drawingml/2006/main">
              <a:ext uri="{FF2B5EF4-FFF2-40B4-BE49-F238E27FC236}">
                <a16:creationId xmlns:a16="http://schemas.microsoft.com/office/drawing/2014/main" id="{F40CAFDA-7B28-4DDD-97A6-7FEB15E5AC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533775"/>
            <a:ext cx="10477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950" b="1">
                <a:solidFill>
                  <a:srgbClr val="2D63FF"/>
                </a:solidFill>
                <a:latin typeface="DejaVu Sans"/>
                <a:ea typeface="DejaVu Sans"/>
                <a:cs typeface="DejaVu Sans"/>
              </a:defRPr>
            </a:pPr>
            <a:r>
              <a:rPr sz="1950" b="1">
                <a:solidFill>
                  <a:srgbClr val="2D63FF"/>
                </a:solidFill>
                <a:latin typeface="DejaVu Sans"/>
                <a:ea typeface="DejaVu Sans"/>
                <a:cs typeface="DejaVu Sans"/>
              </a:rPr>
              <a:t>5  Shift and insert</a:t>
            </a:r>
          </a:p>
        </p:txBody>
      </p:sp>
      <p:sp>
        <p:nvSpPr>
          <p:cNvPr id="10" name="station-answer-4">
            <a:extLst xmlns:a="http://schemas.openxmlformats.org/drawingml/2006/main">
              <a:ext uri="{FF2B5EF4-FFF2-40B4-BE49-F238E27FC236}">
                <a16:creationId xmlns:a16="http://schemas.microsoft.com/office/drawing/2014/main" id="{DF6939EB-FAE7-4750-B799-6DB46BA86A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962400"/>
            <a:ext cx="10477500" cy="866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0">
                <a:solidFill>
                  <a:srgbClr val="101828"/>
                </a:solidFill>
                <a:latin typeface="DejaVu Sans"/>
                <a:ea typeface="DejaVu Sans"/>
                <a:cs typeface="DejaVu Sans"/>
              </a:defRPr>
            </a:pPr>
            <a:r>
              <a:rPr sz="1800" b="0">
                <a:solidFill>
                  <a:srgbClr val="101828"/>
                </a:solidFill>
                <a:latin typeface="DejaVu Sans"/>
                <a:ea typeface="DejaVu Sans"/>
                <a:cs typeface="DejaVu Sans"/>
              </a:rPr>
              <a:t>Shifting could overwrite its original position. Saving it preserves the value for insertion.</a:t>
            </a:r>
          </a:p>
        </p:txBody>
      </p:sp>
      <p:sp>
        <p:nvSpPr>
          <p:cNvPr id="11" name="station-name-5">
            <a:extLst xmlns:a="http://schemas.openxmlformats.org/drawingml/2006/main">
              <a:ext uri="{FF2B5EF4-FFF2-40B4-BE49-F238E27FC236}">
                <a16:creationId xmlns:a16="http://schemas.microsoft.com/office/drawing/2014/main" id="{1F7890C8-2979-416E-AA29-BEE1AB3B05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857750"/>
            <a:ext cx="10477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950" b="1">
                <a:solidFill>
                  <a:srgbClr val="2D63FF"/>
                </a:solidFill>
                <a:latin typeface="DejaVu Sans"/>
                <a:ea typeface="DejaVu Sans"/>
                <a:cs typeface="DejaVu Sans"/>
              </a:defRPr>
            </a:pPr>
            <a:r>
              <a:rPr sz="1950" b="1">
                <a:solidFill>
                  <a:srgbClr val="2D63FF"/>
                </a:solidFill>
                <a:latin typeface="DejaVu Sans"/>
                <a:ea typeface="DejaVu Sans"/>
                <a:cs typeface="DejaVu Sans"/>
              </a:rPr>
              <a:t>6  Compare the methods</a:t>
            </a:r>
          </a:p>
        </p:txBody>
      </p:sp>
      <p:sp>
        <p:nvSpPr>
          <p:cNvPr id="12" name="station-answer-5">
            <a:extLst xmlns:a="http://schemas.openxmlformats.org/drawingml/2006/main">
              <a:ext uri="{FF2B5EF4-FFF2-40B4-BE49-F238E27FC236}">
                <a16:creationId xmlns:a16="http://schemas.microsoft.com/office/drawing/2014/main" id="{07216969-988D-4AF8-B64A-611D4169CA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286375"/>
            <a:ext cx="10477500" cy="866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0">
                <a:solidFill>
                  <a:srgbClr val="101828"/>
                </a:solidFill>
                <a:latin typeface="DejaVu Sans"/>
                <a:ea typeface="DejaVu Sans"/>
                <a:cs typeface="DejaVu Sans"/>
              </a:defRPr>
            </a:pPr>
            <a:r>
              <a:rPr sz="1800" b="0">
                <a:solidFill>
                  <a:srgbClr val="101828"/>
                </a:solidFill>
                <a:latin typeface="DejaVu Sans"/>
                <a:ea typeface="DejaVu Sans"/>
                <a:cs typeface="DejaVu Sans"/>
              </a:rPr>
              <a:t>Insertion sort, because many keys are already close to their correct positions.</a:t>
            </a:r>
          </a:p>
        </p:txBody>
      </p:sp>
    </p:spTree>
    <p:extLst>
      <p:ext uri="{BB962C8B-B14F-4D97-AF65-F5344CB8AC3E}">
        <p14:creationId xmlns:p14="http://schemas.microsoft.com/office/powerpoint/2010/main" val="806977669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EAF3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footer background">
            <a:extLst xmlns:a="http://schemas.openxmlformats.org/drawingml/2006/main">
              <a:ext uri="{FF2B5EF4-FFF2-40B4-BE49-F238E27FC236}">
                <a16:creationId xmlns:a16="http://schemas.microsoft.com/office/drawing/2014/main" id="{4782CCF1-F8AC-4963-BE7C-39F589ECB8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124575"/>
            <a:ext cx="12192000" cy="7334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2" name="topic">
            <a:extLst xmlns:a="http://schemas.openxmlformats.org/drawingml/2006/main">
              <a:ext uri="{FF2B5EF4-FFF2-40B4-BE49-F238E27FC236}">
                <a16:creationId xmlns:a16="http://schemas.microsoft.com/office/drawing/2014/main" id="{6DA98E84-19B5-4128-9F22-3EF63F2AE1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23850"/>
            <a:ext cx="98107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2D63FF"/>
                </a:solidFill>
                <a:latin typeface="DejaVu Sans"/>
                <a:ea typeface="DejaVu Sans"/>
                <a:cs typeface="DejaVu Sans"/>
              </a:defRPr>
            </a:pPr>
            <a:r>
              <a:rPr sz="1125" b="1">
                <a:solidFill>
                  <a:srgbClr val="2D63FF"/>
                </a:solidFill>
                <a:latin typeface="DejaVu Sans"/>
                <a:ea typeface="DejaVu Sans"/>
                <a:cs typeface="DejaVu Sans"/>
              </a:rPr>
              <a:t>TOPIC 2.1   /   LESSON 10   /   CHECK</a:t>
            </a:r>
          </a:p>
        </p:txBody>
      </p:sp>
      <p:sp>
        <p:nvSpPr>
          <p:cNvPr id="3" name="heading">
            <a:extLst xmlns:a="http://schemas.openxmlformats.org/drawingml/2006/main">
              <a:ext uri="{FF2B5EF4-FFF2-40B4-BE49-F238E27FC236}">
                <a16:creationId xmlns:a16="http://schemas.microsoft.com/office/drawing/2014/main" id="{3D092674-2E5F-4365-B13E-1BCD723935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762000"/>
            <a:ext cx="108585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3225" b="1">
                <a:solidFill>
                  <a:srgbClr val="101828"/>
                </a:solidFill>
                <a:latin typeface="DejaVu Sans"/>
                <a:ea typeface="DejaVu Sans"/>
                <a:cs typeface="DejaVu Sans"/>
              </a:defRPr>
            </a:pPr>
            <a:r>
              <a:rPr sz="3225" b="1">
                <a:solidFill>
                  <a:srgbClr val="101828"/>
                </a:solidFill>
                <a:latin typeface="DejaVu Sans"/>
                <a:ea typeface="DejaVu Sans"/>
                <a:cs typeface="DejaVu Sans"/>
              </a:rPr>
              <a:t>Final challenge: answers</a:t>
            </a:r>
          </a:p>
        </p:txBody>
      </p:sp>
      <p:pic>
        <p:nvPicPr>
          <p:cNvPr id="2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fbc8175cf7c4ae2"/>
          <a:stretch xmlns:a="http://schemas.openxmlformats.org/drawingml/2006/main"/>
        </p:blipFill>
        <p:spPr>
          <a:xfrm xmlns:a="http://schemas.openxmlformats.org/drawingml/2006/main">
            <a:off x="666750" y="6241242"/>
            <a:ext cx="2038350" cy="395316"/>
          </a:xfrm>
          <a:prstGeom xmlns:a="http://schemas.openxmlformats.org/drawingml/2006/main" prst="rect">
            <a:avLst/>
          </a:prstGeom>
        </p:spPr>
      </p:pic>
      <p:sp>
        <p:nvSpPr>
          <p:cNvPr id="5" name="page">
            <a:extLst xmlns:a="http://schemas.openxmlformats.org/drawingml/2006/main">
              <a:ext uri="{FF2B5EF4-FFF2-40B4-BE49-F238E27FC236}">
                <a16:creationId xmlns:a16="http://schemas.microsoft.com/office/drawing/2014/main" id="{C371B726-81B4-4823-AF8C-B2AEE4C1C2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400800"/>
            <a:ext cx="857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050" b="0">
                <a:solidFill>
                  <a:srgbClr val="526174"/>
                </a:solidFill>
                <a:latin typeface="DejaVu Sans"/>
                <a:ea typeface="DejaVu Sans"/>
                <a:cs typeface="DejaVu Sans"/>
              </a:defRPr>
            </a:pPr>
            <a:r>
              <a:rPr sz="1050" b="0">
                <a:solidFill>
                  <a:srgbClr val="526174"/>
                </a:solidFill>
                <a:latin typeface="DejaVu Sans"/>
                <a:ea typeface="DejaVu Sans"/>
                <a:cs typeface="DejaVu Sans"/>
              </a:rPr>
              <a:t>13 / 18</a:t>
            </a:r>
          </a:p>
        </p:txBody>
      </p:sp>
      <p:sp>
        <p:nvSpPr>
          <p:cNvPr id="6" name="star-key">
            <a:extLst xmlns:a="http://schemas.openxmlformats.org/drawingml/2006/main">
              <a:ext uri="{FF2B5EF4-FFF2-40B4-BE49-F238E27FC236}">
                <a16:creationId xmlns:a16="http://schemas.microsoft.com/office/drawing/2014/main" id="{4E2C5E58-B348-4B06-A627-247270C07C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524000"/>
            <a:ext cx="10477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0">
                <a:solidFill>
                  <a:srgbClr val="526174"/>
                </a:solidFill>
                <a:latin typeface="DejaVu Sans"/>
                <a:ea typeface="DejaVu Sans"/>
                <a:cs typeface="DejaVu Sans"/>
              </a:defRPr>
            </a:pPr>
            <a:r>
              <a:rPr sz="1800" b="0">
                <a:solidFill>
                  <a:srgbClr val="526174"/>
                </a:solidFill>
                <a:latin typeface="DejaVu Sans"/>
                <a:ea typeface="DejaVu Sans"/>
                <a:cs typeface="DejaVu Sans"/>
              </a:rPr>
              <a:t>Check your choices and the reasons you gave.</a:t>
            </a:r>
          </a:p>
        </p:txBody>
      </p:sp>
      <p:sp>
        <p:nvSpPr>
          <p:cNvPr id="7" name="number-1">
            <a:extLst xmlns:a="http://schemas.openxmlformats.org/drawingml/2006/main">
              <a:ext uri="{FF2B5EF4-FFF2-40B4-BE49-F238E27FC236}">
                <a16:creationId xmlns:a16="http://schemas.microsoft.com/office/drawing/2014/main" id="{D13603A8-78DC-40B6-A8F6-04D146FD52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105025"/>
            <a:ext cx="5905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1">
                <a:solidFill>
                  <a:srgbClr val="2D63FF"/>
                </a:solidFill>
                <a:latin typeface="DejaVu Sans"/>
                <a:ea typeface="DejaVu Sans"/>
                <a:cs typeface="DejaVu Sans"/>
              </a:defRPr>
            </a:pPr>
            <a:r>
              <a:rPr sz="1875" b="1">
                <a:solidFill>
                  <a:srgbClr val="2D63FF"/>
                </a:solidFill>
                <a:latin typeface="DejaVu Sans"/>
                <a:ea typeface="DejaVu Sans"/>
                <a:cs typeface="DejaVu Sans"/>
              </a:rPr>
              <a:t/>
            </a:r>
          </a:p>
        </p:txBody>
      </p:sp>
      <p:sp>
        <p:nvSpPr>
          <p:cNvPr id="8" name="item-1">
            <a:extLst xmlns:a="http://schemas.openxmlformats.org/drawingml/2006/main">
              <a:ext uri="{FF2B5EF4-FFF2-40B4-BE49-F238E27FC236}">
                <a16:creationId xmlns:a16="http://schemas.microsoft.com/office/drawing/2014/main" id="{DA3F8A68-07AA-4136-A4C5-7B3C68E606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2143125"/>
            <a:ext cx="9925050" cy="3714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0">
                <a:solidFill>
                  <a:srgbClr val="101828"/>
                </a:solidFill>
                <a:latin typeface="DejaVu Sans"/>
                <a:ea typeface="DejaVu Sans"/>
                <a:cs typeface="DejaVu Sans"/>
              </a:defRPr>
            </a:pPr>
            <a:r>
              <a:rPr sz="1875" b="0">
                <a:solidFill>
                  <a:srgbClr val="101828"/>
                </a:solidFill>
                <a:latin typeface="DejaVu Sans"/>
                <a:ea typeface="DejaVu Sans"/>
                <a:cs typeface="DejaVu Sans"/>
              </a:rPr>
              <a:t>1. Insertion sort on [4, 1, 3, 2]: after inserting the first two keys, the list is...</a:t>
            </a:r>
          </a:p>
          <a:p xmlns:a="http://schemas.openxmlformats.org/drawingml/2006/main">
            <a:pPr algn="l">
              <a:buNone/>
              <a:defRPr sz="1875" b="0">
                <a:solidFill>
                  <a:srgbClr val="101828"/>
                </a:solidFill>
                <a:latin typeface="DejaVu Sans"/>
                <a:ea typeface="DejaVu Sans"/>
                <a:cs typeface="DejaVu Sans"/>
              </a:defRPr>
            </a:pPr>
            <a:r>
              <a:rPr sz="1875" b="0">
                <a:solidFill>
                  <a:srgbClr val="101828"/>
                </a:solidFill>
                <a:latin typeface="DejaVu Sans"/>
                <a:ea typeface="DejaVu Sans"/>
                <a:cs typeface="DejaVu Sans"/>
              </a:rPr>
              <a:t>Answer: 1, 3, 4, 2</a:t>
            </a:r>
          </a:p>
          <a:p xmlns:a="http://schemas.openxmlformats.org/drawingml/2006/main">
            <a:pPr algn="l">
              <a:buNone/>
              <a:defRPr sz="1875" b="0">
                <a:solidFill>
                  <a:srgbClr val="101828"/>
                </a:solidFill>
                <a:latin typeface="DejaVu Sans"/>
                <a:ea typeface="DejaVu Sans"/>
                <a:cs typeface="DejaVu Sans"/>
              </a:defRPr>
            </a:pPr>
          </a:p>
          <a:p xmlns:a="http://schemas.openxmlformats.org/drawingml/2006/main">
            <a:pPr algn="l">
              <a:buNone/>
              <a:defRPr sz="1875" b="0">
                <a:solidFill>
                  <a:srgbClr val="101828"/>
                </a:solidFill>
                <a:latin typeface="DejaVu Sans"/>
                <a:ea typeface="DejaVu Sans"/>
                <a:cs typeface="DejaVu Sans"/>
              </a:defRPr>
            </a:pPr>
            <a:r>
              <a:rPr sz="1875" b="0">
                <a:solidFill>
                  <a:srgbClr val="101828"/>
                </a:solidFill>
                <a:latin typeface="DejaVu Sans"/>
                <a:ea typeface="DejaVu Sans"/>
                <a:cs typeface="DejaVu Sans"/>
              </a:rPr>
              <a:t>2. Which statement describes the usual school-level merge-sort implementation?</a:t>
            </a:r>
          </a:p>
          <a:p xmlns:a="http://schemas.openxmlformats.org/drawingml/2006/main">
            <a:pPr algn="l">
              <a:buNone/>
              <a:defRPr sz="1875" b="0">
                <a:solidFill>
                  <a:srgbClr val="101828"/>
                </a:solidFill>
                <a:latin typeface="DejaVu Sans"/>
                <a:ea typeface="DejaVu Sans"/>
                <a:cs typeface="DejaVu Sans"/>
              </a:defRPr>
            </a:pPr>
            <a:r>
              <a:rPr sz="1875" b="0">
                <a:solidFill>
                  <a:srgbClr val="101828"/>
                </a:solidFill>
                <a:latin typeface="DejaVu Sans"/>
                <a:ea typeface="DejaVu Sans"/>
                <a:cs typeface="DejaVu Sans"/>
              </a:rPr>
              <a:t>Answer: It uses additional temporary storage during merging</a:t>
            </a:r>
          </a:p>
        </p:txBody>
      </p:sp>
      <p:sp>
        <p:nvSpPr>
          <p:cNvPr id="9" name="number-2">
            <a:extLst xmlns:a="http://schemas.openxmlformats.org/drawingml/2006/main">
              <a:ext uri="{FF2B5EF4-FFF2-40B4-BE49-F238E27FC236}">
                <a16:creationId xmlns:a16="http://schemas.microsoft.com/office/drawing/2014/main" id="{D63D0CFC-FB29-4A55-9634-1938AE0CED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743200"/>
            <a:ext cx="5905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875" b="1">
                <a:solidFill>
                  <a:srgbClr val="2D63FF"/>
                </a:solidFill>
                <a:latin typeface="DejaVu Sans"/>
                <a:ea typeface="DejaVu Sans"/>
                <a:cs typeface="DejaVu Sans"/>
              </a:defRPr>
            </a:pPr>
            <a:r>
              <a:rPr sz="1875" b="1">
                <a:solidFill>
                  <a:srgbClr val="2D63FF"/>
                </a:solidFill>
                <a:latin typeface="DejaVu Sans"/>
                <a:ea typeface="DejaVu Sans"/>
                <a:cs typeface="DejaVu Sans"/>
              </a:rPr>
              <a:t/>
            </a:r>
          </a:p>
        </p:txBody>
      </p:sp>
      <p:sp>
        <p:nvSpPr>
          <p:cNvPr id="10" name="item-2">
            <a:extLst xmlns:a="http://schemas.openxmlformats.org/drawingml/2006/main">
              <a:ext uri="{FF2B5EF4-FFF2-40B4-BE49-F238E27FC236}">
                <a16:creationId xmlns:a16="http://schemas.microsoft.com/office/drawing/2014/main" id="{1AF0E8F5-58C1-4699-8D32-68538ACE64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2743200"/>
            <a:ext cx="99250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875" b="0">
                <a:solidFill>
                  <a:srgbClr val="101828"/>
                </a:solidFill>
                <a:latin typeface="DejaVu Sans"/>
                <a:ea typeface="DejaVu Sans"/>
                <a:cs typeface="DejaVu Sans"/>
              </a:defRPr>
            </a:pPr>
            <a:r>
              <a:rPr sz="1875" b="0">
                <a:solidFill>
                  <a:srgbClr val="101828"/>
                </a:solidFill>
                <a:latin typeface="DejaVu Sans"/>
                <a:ea typeface="DejaVu Sans"/>
                <a:cs typeface="DejaVu Sans"/>
              </a:rPr>
              <a:t/>
            </a:r>
          </a:p>
        </p:txBody>
      </p:sp>
      <p:sp>
        <p:nvSpPr>
          <p:cNvPr id="11" name="number-3">
            <a:extLst xmlns:a="http://schemas.openxmlformats.org/drawingml/2006/main">
              <a:ext uri="{FF2B5EF4-FFF2-40B4-BE49-F238E27FC236}">
                <a16:creationId xmlns:a16="http://schemas.microsoft.com/office/drawing/2014/main" id="{64A6377B-270D-4D04-B61F-A116A4C0FB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381375"/>
            <a:ext cx="5905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875" b="1">
                <a:solidFill>
                  <a:srgbClr val="2D63FF"/>
                </a:solidFill>
                <a:latin typeface="DejaVu Sans"/>
                <a:ea typeface="DejaVu Sans"/>
                <a:cs typeface="DejaVu Sans"/>
              </a:defRPr>
            </a:pPr>
            <a:r>
              <a:rPr sz="1875" b="1">
                <a:solidFill>
                  <a:srgbClr val="2D63FF"/>
                </a:solidFill>
                <a:latin typeface="DejaVu Sans"/>
                <a:ea typeface="DejaVu Sans"/>
                <a:cs typeface="DejaVu Sans"/>
              </a:rPr>
              <a:t/>
            </a:r>
          </a:p>
        </p:txBody>
      </p:sp>
      <p:sp>
        <p:nvSpPr>
          <p:cNvPr id="12" name="item-3">
            <a:extLst xmlns:a="http://schemas.openxmlformats.org/drawingml/2006/main">
              <a:ext uri="{FF2B5EF4-FFF2-40B4-BE49-F238E27FC236}">
                <a16:creationId xmlns:a16="http://schemas.microsoft.com/office/drawing/2014/main" id="{B2168BAC-D34D-4D09-BD22-C30743266E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3381375"/>
            <a:ext cx="99250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875" b="0">
                <a:solidFill>
                  <a:srgbClr val="101828"/>
                </a:solidFill>
                <a:latin typeface="DejaVu Sans"/>
                <a:ea typeface="DejaVu Sans"/>
                <a:cs typeface="DejaVu Sans"/>
              </a:defRPr>
            </a:pPr>
            <a:r>
              <a:rPr sz="1875" b="0">
                <a:solidFill>
                  <a:srgbClr val="101828"/>
                </a:solidFill>
                <a:latin typeface="DejaVu Sans"/>
                <a:ea typeface="DejaVu Sans"/>
                <a:cs typeface="DejaVu Sans"/>
              </a:rPr>
              <a:t/>
            </a:r>
          </a:p>
        </p:txBody>
      </p:sp>
      <p:sp>
        <p:nvSpPr>
          <p:cNvPr id="13" name="number-4">
            <a:extLst xmlns:a="http://schemas.openxmlformats.org/drawingml/2006/main">
              <a:ext uri="{FF2B5EF4-FFF2-40B4-BE49-F238E27FC236}">
                <a16:creationId xmlns:a16="http://schemas.microsoft.com/office/drawing/2014/main" id="{DAD3008D-DBDD-4EB1-B9E0-42941BDA4E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019550"/>
            <a:ext cx="5905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875" b="1">
                <a:solidFill>
                  <a:srgbClr val="2D63FF"/>
                </a:solidFill>
                <a:latin typeface="DejaVu Sans"/>
                <a:ea typeface="DejaVu Sans"/>
                <a:cs typeface="DejaVu Sans"/>
              </a:defRPr>
            </a:pPr>
            <a:r>
              <a:rPr sz="1875" b="1">
                <a:solidFill>
                  <a:srgbClr val="2D63FF"/>
                </a:solidFill>
                <a:latin typeface="DejaVu Sans"/>
                <a:ea typeface="DejaVu Sans"/>
                <a:cs typeface="DejaVu Sans"/>
              </a:rPr>
              <a:t/>
            </a:r>
          </a:p>
        </p:txBody>
      </p:sp>
      <p:sp>
        <p:nvSpPr>
          <p:cNvPr id="14" name="item-4">
            <a:extLst xmlns:a="http://schemas.openxmlformats.org/drawingml/2006/main">
              <a:ext uri="{FF2B5EF4-FFF2-40B4-BE49-F238E27FC236}">
                <a16:creationId xmlns:a16="http://schemas.microsoft.com/office/drawing/2014/main" id="{072DFA35-D5B3-464A-85A9-266225B79A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4019550"/>
            <a:ext cx="99250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875" b="0">
                <a:solidFill>
                  <a:srgbClr val="101828"/>
                </a:solidFill>
                <a:latin typeface="DejaVu Sans"/>
                <a:ea typeface="DejaVu Sans"/>
                <a:cs typeface="DejaVu Sans"/>
              </a:defRPr>
            </a:pPr>
            <a:r>
              <a:rPr sz="1875" b="0">
                <a:solidFill>
                  <a:srgbClr val="101828"/>
                </a:solidFill>
                <a:latin typeface="DejaVu Sans"/>
                <a:ea typeface="DejaVu Sans"/>
                <a:cs typeface="DejaVu Sans"/>
              </a:rPr>
              <a:t/>
            </a:r>
          </a:p>
        </p:txBody>
      </p:sp>
      <p:sp>
        <p:nvSpPr>
          <p:cNvPr id="15" name="number-5">
            <a:extLst xmlns:a="http://schemas.openxmlformats.org/drawingml/2006/main">
              <a:ext uri="{FF2B5EF4-FFF2-40B4-BE49-F238E27FC236}">
                <a16:creationId xmlns:a16="http://schemas.microsoft.com/office/drawing/2014/main" id="{03F791EC-5D9B-433E-96F6-EF44C17A01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657725"/>
            <a:ext cx="5905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875" b="1">
                <a:solidFill>
                  <a:srgbClr val="2D63FF"/>
                </a:solidFill>
                <a:latin typeface="DejaVu Sans"/>
                <a:ea typeface="DejaVu Sans"/>
                <a:cs typeface="DejaVu Sans"/>
              </a:defRPr>
            </a:pPr>
            <a:r>
              <a:rPr sz="1875" b="1">
                <a:solidFill>
                  <a:srgbClr val="2D63FF"/>
                </a:solidFill>
                <a:latin typeface="DejaVu Sans"/>
                <a:ea typeface="DejaVu Sans"/>
                <a:cs typeface="DejaVu Sans"/>
              </a:rPr>
              <a:t/>
            </a:r>
          </a:p>
        </p:txBody>
      </p:sp>
      <p:sp>
        <p:nvSpPr>
          <p:cNvPr id="16" name="item-5">
            <a:extLst xmlns:a="http://schemas.openxmlformats.org/drawingml/2006/main">
              <a:ext uri="{FF2B5EF4-FFF2-40B4-BE49-F238E27FC236}">
                <a16:creationId xmlns:a16="http://schemas.microsoft.com/office/drawing/2014/main" id="{11146F44-2CCE-4536-BF13-60F44AE22B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4657725"/>
            <a:ext cx="99250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875" b="0">
                <a:solidFill>
                  <a:srgbClr val="101828"/>
                </a:solidFill>
                <a:latin typeface="DejaVu Sans"/>
                <a:ea typeface="DejaVu Sans"/>
                <a:cs typeface="DejaVu Sans"/>
              </a:defRPr>
            </a:pPr>
            <a:r>
              <a:rPr sz="1875" b="0">
                <a:solidFill>
                  <a:srgbClr val="101828"/>
                </a:solidFill>
                <a:latin typeface="DejaVu Sans"/>
                <a:ea typeface="DejaVu Sans"/>
                <a:cs typeface="DejaVu Sans"/>
              </a:rPr>
              <a:t/>
            </a:r>
          </a:p>
        </p:txBody>
      </p:sp>
      <p:sp>
        <p:nvSpPr>
          <p:cNvPr id="17" name="number-6">
            <a:extLst xmlns:a="http://schemas.openxmlformats.org/drawingml/2006/main">
              <a:ext uri="{FF2B5EF4-FFF2-40B4-BE49-F238E27FC236}">
                <a16:creationId xmlns:a16="http://schemas.microsoft.com/office/drawing/2014/main" id="{738F10DC-3C3F-4622-9638-0CD9ADB18B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295900"/>
            <a:ext cx="5905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875" b="1">
                <a:solidFill>
                  <a:srgbClr val="2D63FF"/>
                </a:solidFill>
                <a:latin typeface="DejaVu Sans"/>
                <a:ea typeface="DejaVu Sans"/>
                <a:cs typeface="DejaVu Sans"/>
              </a:defRPr>
            </a:pPr>
            <a:r>
              <a:rPr sz="1875" b="1">
                <a:solidFill>
                  <a:srgbClr val="2D63FF"/>
                </a:solidFill>
                <a:latin typeface="DejaVu Sans"/>
                <a:ea typeface="DejaVu Sans"/>
                <a:cs typeface="DejaVu Sans"/>
              </a:rPr>
              <a:t/>
            </a:r>
          </a:p>
        </p:txBody>
      </p:sp>
      <p:sp>
        <p:nvSpPr>
          <p:cNvPr id="18" name="item-6">
            <a:extLst xmlns:a="http://schemas.openxmlformats.org/drawingml/2006/main">
              <a:ext uri="{FF2B5EF4-FFF2-40B4-BE49-F238E27FC236}">
                <a16:creationId xmlns:a16="http://schemas.microsoft.com/office/drawing/2014/main" id="{B4AC7286-B492-4B59-A29F-AA4F10A940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5295900"/>
            <a:ext cx="99250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875" b="0">
                <a:solidFill>
                  <a:srgbClr val="101828"/>
                </a:solidFill>
                <a:latin typeface="DejaVu Sans"/>
                <a:ea typeface="DejaVu Sans"/>
                <a:cs typeface="DejaVu Sans"/>
              </a:defRPr>
            </a:pPr>
            <a:r>
              <a:rPr sz="1875" b="0">
                <a:solidFill>
                  <a:srgbClr val="101828"/>
                </a:solidFill>
                <a:latin typeface="DejaVu Sans"/>
                <a:ea typeface="DejaVu Sans"/>
                <a:cs typeface="DejaVu Sans"/>
              </a:rPr>
              <a:t/>
            </a:r>
          </a:p>
        </p:txBody>
      </p:sp>
    </p:spTree>
    <p:extLst>
      <p:ext uri="{BB962C8B-B14F-4D97-AF65-F5344CB8AC3E}">
        <p14:creationId xmlns:p14="http://schemas.microsoft.com/office/powerpoint/2010/main" val="1229178262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footer background">
            <a:extLst xmlns:a="http://schemas.openxmlformats.org/drawingml/2006/main">
              <a:ext uri="{FF2B5EF4-FFF2-40B4-BE49-F238E27FC236}">
                <a16:creationId xmlns:a16="http://schemas.microsoft.com/office/drawing/2014/main" id="{40BB8106-766C-4D11-B62C-A315B1DC98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124575"/>
            <a:ext cx="12192000" cy="7334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2" name="topic">
            <a:extLst xmlns:a="http://schemas.openxmlformats.org/drawingml/2006/main">
              <a:ext uri="{FF2B5EF4-FFF2-40B4-BE49-F238E27FC236}">
                <a16:creationId xmlns:a16="http://schemas.microsoft.com/office/drawing/2014/main" id="{6E93FE83-8B7D-4ED0-A507-D6DF7BF843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23850"/>
            <a:ext cx="98107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2D63FF"/>
                </a:solidFill>
                <a:latin typeface="DejaVu Sans"/>
                <a:ea typeface="DejaVu Sans"/>
                <a:cs typeface="DejaVu Sans"/>
              </a:defRPr>
            </a:pPr>
            <a:r>
              <a:rPr sz="1125" b="1">
                <a:solidFill>
                  <a:srgbClr val="2D63FF"/>
                </a:solidFill>
                <a:latin typeface="DejaVu Sans"/>
                <a:ea typeface="DejaVu Sans"/>
                <a:cs typeface="DejaVu Sans"/>
              </a:rPr>
              <a:t>TOPIC 2.1   /   LESSON 10   /   PLENARY</a:t>
            </a:r>
          </a:p>
        </p:txBody>
      </p:sp>
      <p:sp>
        <p:nvSpPr>
          <p:cNvPr id="3" name="heading">
            <a:extLst xmlns:a="http://schemas.openxmlformats.org/drawingml/2006/main">
              <a:ext uri="{FF2B5EF4-FFF2-40B4-BE49-F238E27FC236}">
                <a16:creationId xmlns:a16="http://schemas.microsoft.com/office/drawing/2014/main" id="{2FAFAE26-D488-4C37-A08D-D8E5A9D057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762000"/>
            <a:ext cx="108585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3225" b="1">
                <a:solidFill>
                  <a:srgbClr val="101828"/>
                </a:solidFill>
                <a:latin typeface="DejaVu Sans"/>
                <a:ea typeface="DejaVu Sans"/>
                <a:cs typeface="DejaVu Sans"/>
              </a:defRPr>
            </a:pPr>
            <a:r>
              <a:rPr sz="3225" b="1">
                <a:solidFill>
                  <a:srgbClr val="101828"/>
                </a:solidFill>
                <a:latin typeface="DejaVu Sans"/>
                <a:ea typeface="DejaVu Sans"/>
                <a:cs typeface="DejaVu Sans"/>
              </a:rPr>
              <a:t>Plenary: questions (a–b)</a:t>
            </a:r>
          </a:p>
        </p:txBody>
      </p:sp>
      <p:pic>
        <p:nvPicPr>
          <p:cNvPr id="1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32bd2fa13f74d22"/>
          <a:stretch xmlns:a="http://schemas.openxmlformats.org/drawingml/2006/main"/>
        </p:blipFill>
        <p:spPr>
          <a:xfrm xmlns:a="http://schemas.openxmlformats.org/drawingml/2006/main">
            <a:off x="666750" y="6241242"/>
            <a:ext cx="2038350" cy="395316"/>
          </a:xfrm>
          <a:prstGeom xmlns:a="http://schemas.openxmlformats.org/drawingml/2006/main" prst="rect">
            <a:avLst/>
          </a:prstGeom>
        </p:spPr>
      </p:pic>
      <p:sp>
        <p:nvSpPr>
          <p:cNvPr id="5" name="page">
            <a:extLst xmlns:a="http://schemas.openxmlformats.org/drawingml/2006/main">
              <a:ext uri="{FF2B5EF4-FFF2-40B4-BE49-F238E27FC236}">
                <a16:creationId xmlns:a16="http://schemas.microsoft.com/office/drawing/2014/main" id="{3F7FA607-A51E-4EFD-8772-BFCA4D0AB3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400800"/>
            <a:ext cx="857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050" b="0">
                <a:solidFill>
                  <a:srgbClr val="526174"/>
                </a:solidFill>
                <a:latin typeface="DejaVu Sans"/>
                <a:ea typeface="DejaVu Sans"/>
                <a:cs typeface="DejaVu Sans"/>
              </a:defRPr>
            </a:pPr>
            <a:r>
              <a:rPr sz="1050" b="0">
                <a:solidFill>
                  <a:srgbClr val="526174"/>
                </a:solidFill>
                <a:latin typeface="DejaVu Sans"/>
                <a:ea typeface="DejaVu Sans"/>
                <a:cs typeface="DejaVu Sans"/>
              </a:rPr>
              <a:t>14 / 18</a:t>
            </a:r>
          </a:p>
        </p:txBody>
      </p:sp>
      <p:sp>
        <p:nvSpPr>
          <p:cNvPr id="6" name="plenary-instruction">
            <a:extLst xmlns:a="http://schemas.openxmlformats.org/drawingml/2006/main">
              <a:ext uri="{FF2B5EF4-FFF2-40B4-BE49-F238E27FC236}">
                <a16:creationId xmlns:a16="http://schemas.microsoft.com/office/drawing/2014/main" id="{4DD4F8FC-DBBD-4F52-8BC4-1F8B4C2795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562100"/>
            <a:ext cx="10715625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875" b="0">
                <a:solidFill>
                  <a:srgbClr val="526174"/>
                </a:solidFill>
                <a:latin typeface="DejaVu Sans"/>
                <a:ea typeface="DejaVu Sans"/>
                <a:cs typeface="DejaVu Sans"/>
              </a:defRPr>
            </a:pPr>
            <a:r>
              <a:rPr sz="1875" b="0">
                <a:solidFill>
                  <a:srgbClr val="526174"/>
                </a:solidFill>
                <a:latin typeface="DejaVu Sans"/>
                <a:ea typeface="DejaVu Sans"/>
                <a:cs typeface="DejaVu Sans"/>
              </a:rPr>
              <a:t>Take the headset off or close the page. Answer from memory on the worksheet.</a:t>
            </a:r>
          </a:p>
        </p:txBody>
      </p:sp>
      <p:sp>
        <p:nvSpPr>
          <p:cNvPr id="7" name="a">
            <a:extLst xmlns:a="http://schemas.openxmlformats.org/drawingml/2006/main">
              <a:ext uri="{FF2B5EF4-FFF2-40B4-BE49-F238E27FC236}">
                <a16:creationId xmlns:a16="http://schemas.microsoft.com/office/drawing/2014/main" id="{9C6FAEDB-072B-436C-AA9C-D5832563BE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" y="2581275"/>
            <a:ext cx="5905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250" b="1">
                <a:solidFill>
                  <a:srgbClr val="2D63FF"/>
                </a:solidFill>
                <a:latin typeface="DejaVu Sans"/>
                <a:ea typeface="DejaVu Sans"/>
                <a:cs typeface="DejaVu Sans"/>
              </a:defRPr>
            </a:pPr>
            <a:r>
              <a:rPr sz="2250" b="1">
                <a:solidFill>
                  <a:srgbClr val="2D63FF"/>
                </a:solidFill>
                <a:latin typeface="DejaVu Sans"/>
                <a:ea typeface="DejaVu Sans"/>
                <a:cs typeface="DejaVu Sans"/>
              </a:rPr>
              <a:t>a)</a:t>
            </a:r>
          </a:p>
        </p:txBody>
      </p:sp>
      <p:sp>
        <p:nvSpPr>
          <p:cNvPr id="8" name="question-a">
            <a:extLst xmlns:a="http://schemas.openxmlformats.org/drawingml/2006/main">
              <a:ext uri="{FF2B5EF4-FFF2-40B4-BE49-F238E27FC236}">
                <a16:creationId xmlns:a16="http://schemas.microsoft.com/office/drawing/2014/main" id="{6B2BF4EA-272A-415D-B46E-43EF0DF124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43025" y="2581275"/>
            <a:ext cx="9944100" cy="1162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175" b="0">
                <a:solidFill>
                  <a:srgbClr val="101828"/>
                </a:solidFill>
                <a:latin typeface="DejaVu Sans"/>
                <a:ea typeface="DejaVu Sans"/>
                <a:cs typeface="DejaVu Sans"/>
              </a:defRPr>
            </a:pPr>
            <a:r>
              <a:rPr sz="2175" b="0">
                <a:solidFill>
                  <a:srgbClr val="101828"/>
                </a:solidFill>
                <a:latin typeface="DejaVu Sans"/>
                <a:ea typeface="DejaVu Sans"/>
                <a:cs typeface="DejaVu Sans"/>
              </a:rPr>
              <a:t>Show the split and merge stages for [8, 3, 6, 1]. [4]</a:t>
            </a:r>
          </a:p>
        </p:txBody>
      </p:sp>
      <p:sp>
        <p:nvSpPr>
          <p:cNvPr id="9" name="b">
            <a:extLst xmlns:a="http://schemas.openxmlformats.org/drawingml/2006/main">
              <a:ext uri="{FF2B5EF4-FFF2-40B4-BE49-F238E27FC236}">
                <a16:creationId xmlns:a16="http://schemas.microsoft.com/office/drawing/2014/main" id="{9509E02A-7E28-413B-8372-24604E2878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" y="4143375"/>
            <a:ext cx="5905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250" b="1">
                <a:solidFill>
                  <a:srgbClr val="2D63FF"/>
                </a:solidFill>
                <a:latin typeface="DejaVu Sans"/>
                <a:ea typeface="DejaVu Sans"/>
                <a:cs typeface="DejaVu Sans"/>
              </a:defRPr>
            </a:pPr>
            <a:r>
              <a:rPr sz="2250" b="1">
                <a:solidFill>
                  <a:srgbClr val="2D63FF"/>
                </a:solidFill>
                <a:latin typeface="DejaVu Sans"/>
                <a:ea typeface="DejaVu Sans"/>
                <a:cs typeface="DejaVu Sans"/>
              </a:rPr>
              <a:t>b)</a:t>
            </a:r>
          </a:p>
        </p:txBody>
      </p:sp>
      <p:sp>
        <p:nvSpPr>
          <p:cNvPr id="10" name="question-b">
            <a:extLst xmlns:a="http://schemas.openxmlformats.org/drawingml/2006/main">
              <a:ext uri="{FF2B5EF4-FFF2-40B4-BE49-F238E27FC236}">
                <a16:creationId xmlns:a16="http://schemas.microsoft.com/office/drawing/2014/main" id="{EA1267F7-E672-4AB5-8CC0-CE07B62057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43025" y="4143375"/>
            <a:ext cx="9944100" cy="1352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175" b="0">
                <a:solidFill>
                  <a:srgbClr val="101828"/>
                </a:solidFill>
                <a:latin typeface="DejaVu Sans"/>
                <a:ea typeface="DejaVu Sans"/>
                <a:cs typeface="DejaVu Sans"/>
              </a:defRPr>
            </a:pPr>
            <a:r>
              <a:rPr sz="2175" b="0">
                <a:solidFill>
                  <a:srgbClr val="101828"/>
                </a:solidFill>
                <a:latin typeface="DejaVu Sans"/>
                <a:ea typeface="DejaVu Sans"/>
                <a:cs typeface="DejaVu Sans"/>
              </a:rPr>
              <a:t>Show the list after each insertion for [5, 2, 4, 1]. [3]</a:t>
            </a:r>
          </a:p>
        </p:txBody>
      </p:sp>
    </p:spTree>
    <p:extLst>
      <p:ext uri="{BB962C8B-B14F-4D97-AF65-F5344CB8AC3E}">
        <p14:creationId xmlns:p14="http://schemas.microsoft.com/office/powerpoint/2010/main" val="167940070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footer background">
            <a:extLst xmlns:a="http://schemas.openxmlformats.org/drawingml/2006/main">
              <a:ext uri="{FF2B5EF4-FFF2-40B4-BE49-F238E27FC236}">
                <a16:creationId xmlns:a16="http://schemas.microsoft.com/office/drawing/2014/main" id="{5F1F2C14-4C50-48A4-9B67-A997A2622B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124575"/>
            <a:ext cx="12192000" cy="7334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2" name="topic">
            <a:extLst xmlns:a="http://schemas.openxmlformats.org/drawingml/2006/main">
              <a:ext uri="{FF2B5EF4-FFF2-40B4-BE49-F238E27FC236}">
                <a16:creationId xmlns:a16="http://schemas.microsoft.com/office/drawing/2014/main" id="{DDB8B4A9-62FC-49C3-9E8B-2D91861551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23850"/>
            <a:ext cx="98107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2D63FF"/>
                </a:solidFill>
                <a:latin typeface="DejaVu Sans"/>
                <a:ea typeface="DejaVu Sans"/>
                <a:cs typeface="DejaVu Sans"/>
              </a:defRPr>
            </a:pPr>
            <a:r>
              <a:rPr sz="1125" b="1">
                <a:solidFill>
                  <a:srgbClr val="2D63FF"/>
                </a:solidFill>
                <a:latin typeface="DejaVu Sans"/>
                <a:ea typeface="DejaVu Sans"/>
                <a:cs typeface="DejaVu Sans"/>
              </a:rPr>
              <a:t>TOPIC 2.1   /   LESSON 10   /   PLENARY</a:t>
            </a:r>
          </a:p>
        </p:txBody>
      </p:sp>
      <p:sp>
        <p:nvSpPr>
          <p:cNvPr id="3" name="heading">
            <a:extLst xmlns:a="http://schemas.openxmlformats.org/drawingml/2006/main">
              <a:ext uri="{FF2B5EF4-FFF2-40B4-BE49-F238E27FC236}">
                <a16:creationId xmlns:a16="http://schemas.microsoft.com/office/drawing/2014/main" id="{8C7269B5-94FA-4086-8755-DE73995D99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762000"/>
            <a:ext cx="108585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3225" b="1">
                <a:solidFill>
                  <a:srgbClr val="101828"/>
                </a:solidFill>
                <a:latin typeface="DejaVu Sans"/>
                <a:ea typeface="DejaVu Sans"/>
                <a:cs typeface="DejaVu Sans"/>
              </a:defRPr>
            </a:pPr>
            <a:r>
              <a:rPr sz="3225" b="1">
                <a:solidFill>
                  <a:srgbClr val="101828"/>
                </a:solidFill>
                <a:latin typeface="DejaVu Sans"/>
                <a:ea typeface="DejaVu Sans"/>
                <a:cs typeface="DejaVu Sans"/>
              </a:rPr>
              <a:t>Plenary: question (c)</a:t>
            </a:r>
          </a:p>
        </p:txBody>
      </p:sp>
      <p:pic>
        <p:nvPicPr>
          <p:cNvPr id="1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bcf1c5dadb94171"/>
          <a:stretch xmlns:a="http://schemas.openxmlformats.org/drawingml/2006/main"/>
        </p:blipFill>
        <p:spPr>
          <a:xfrm xmlns:a="http://schemas.openxmlformats.org/drawingml/2006/main">
            <a:off x="666750" y="6241242"/>
            <a:ext cx="2038350" cy="395316"/>
          </a:xfrm>
          <a:prstGeom xmlns:a="http://schemas.openxmlformats.org/drawingml/2006/main" prst="rect">
            <a:avLst/>
          </a:prstGeom>
        </p:spPr>
      </p:pic>
      <p:sp>
        <p:nvSpPr>
          <p:cNvPr id="5" name="page">
            <a:extLst xmlns:a="http://schemas.openxmlformats.org/drawingml/2006/main">
              <a:ext uri="{FF2B5EF4-FFF2-40B4-BE49-F238E27FC236}">
                <a16:creationId xmlns:a16="http://schemas.microsoft.com/office/drawing/2014/main" id="{A9C331FB-3C6F-4EEC-BBEB-57203449B1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400800"/>
            <a:ext cx="857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050" b="0">
                <a:solidFill>
                  <a:srgbClr val="526174"/>
                </a:solidFill>
                <a:latin typeface="DejaVu Sans"/>
                <a:ea typeface="DejaVu Sans"/>
                <a:cs typeface="DejaVu Sans"/>
              </a:defRPr>
            </a:pPr>
            <a:r>
              <a:rPr sz="1050" b="0">
                <a:solidFill>
                  <a:srgbClr val="526174"/>
                </a:solidFill>
                <a:latin typeface="DejaVu Sans"/>
                <a:ea typeface="DejaVu Sans"/>
                <a:cs typeface="DejaVu Sans"/>
              </a:rPr>
              <a:t>15 / 18</a:t>
            </a:r>
          </a:p>
        </p:txBody>
      </p:sp>
      <p:sp>
        <p:nvSpPr>
          <p:cNvPr id="6" name="from-memory">
            <a:extLst xmlns:a="http://schemas.openxmlformats.org/drawingml/2006/main">
              <a:ext uri="{FF2B5EF4-FFF2-40B4-BE49-F238E27FC236}">
                <a16:creationId xmlns:a16="http://schemas.microsoft.com/office/drawing/2014/main" id="{BDF8659F-4B53-45A1-96E8-35452E8FD8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600200"/>
            <a:ext cx="10715625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875" b="0">
                <a:solidFill>
                  <a:srgbClr val="526174"/>
                </a:solidFill>
                <a:latin typeface="DejaVu Sans"/>
                <a:ea typeface="DejaVu Sans"/>
                <a:cs typeface="DejaVu Sans"/>
              </a:defRPr>
            </a:pPr>
            <a:r>
              <a:rPr sz="1875" b="0">
                <a:solidFill>
                  <a:srgbClr val="526174"/>
                </a:solidFill>
                <a:latin typeface="DejaVu Sans"/>
                <a:ea typeface="DejaVu Sans"/>
                <a:cs typeface="DejaVu Sans"/>
              </a:rPr>
              <a:t>Keep the experience closed. Explain your reasoning in full sentences.</a:t>
            </a:r>
          </a:p>
        </p:txBody>
      </p:sp>
      <p:sp>
        <p:nvSpPr>
          <p:cNvPr id="7" name="c">
            <a:extLst xmlns:a="http://schemas.openxmlformats.org/drawingml/2006/main">
              <a:ext uri="{FF2B5EF4-FFF2-40B4-BE49-F238E27FC236}">
                <a16:creationId xmlns:a16="http://schemas.microsoft.com/office/drawing/2014/main" id="{629CF0F4-E195-43D7-9CCA-D8090133CA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" y="2781300"/>
            <a:ext cx="609600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400" b="1">
                <a:solidFill>
                  <a:srgbClr val="2D63FF"/>
                </a:solidFill>
                <a:latin typeface="DejaVu Sans"/>
                <a:ea typeface="DejaVu Sans"/>
                <a:cs typeface="DejaVu Sans"/>
              </a:defRPr>
            </a:pPr>
            <a:r>
              <a:rPr sz="2400" b="1">
                <a:solidFill>
                  <a:srgbClr val="2D63FF"/>
                </a:solidFill>
                <a:latin typeface="DejaVu Sans"/>
                <a:ea typeface="DejaVu Sans"/>
                <a:cs typeface="DejaVu Sans"/>
              </a:rPr>
              <a:t>c)</a:t>
            </a:r>
          </a:p>
        </p:txBody>
      </p:sp>
      <p:sp>
        <p:nvSpPr>
          <p:cNvPr id="8" name="question-c">
            <a:extLst xmlns:a="http://schemas.openxmlformats.org/drawingml/2006/main">
              <a:ext uri="{FF2B5EF4-FFF2-40B4-BE49-F238E27FC236}">
                <a16:creationId xmlns:a16="http://schemas.microsoft.com/office/drawing/2014/main" id="{2397C953-3257-449B-B101-570ACDF66B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2781300"/>
            <a:ext cx="9867900" cy="180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475" b="0">
                <a:solidFill>
                  <a:srgbClr val="101828"/>
                </a:solidFill>
                <a:latin typeface="DejaVu Sans"/>
                <a:ea typeface="DejaVu Sans"/>
                <a:cs typeface="DejaVu Sans"/>
              </a:defRPr>
            </a:pPr>
            <a:r>
              <a:rPr sz="2475" b="0">
                <a:solidFill>
                  <a:srgbClr val="101828"/>
                </a:solidFill>
                <a:latin typeface="DejaVu Sans"/>
                <a:ea typeface="DejaVu Sans"/>
                <a:cs typeface="DejaVu Sans"/>
              </a:rPr>
              <a:t>Give one difference between merge and insertion sort. [2]</a:t>
            </a:r>
          </a:p>
        </p:txBody>
      </p:sp>
      <p:sp>
        <p:nvSpPr>
          <p:cNvPr id="9" name="marks">
            <a:extLst xmlns:a="http://schemas.openxmlformats.org/drawingml/2006/main">
              <a:ext uri="{FF2B5EF4-FFF2-40B4-BE49-F238E27FC236}">
                <a16:creationId xmlns:a16="http://schemas.microsoft.com/office/drawing/2014/main" id="{B5E43C45-0F63-4BF1-AFCD-45A804E551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" y="5438775"/>
            <a:ext cx="10477500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800" b="0">
                <a:solidFill>
                  <a:srgbClr val="526174"/>
                </a:solidFill>
                <a:latin typeface="DejaVu Sans"/>
                <a:ea typeface="DejaVu Sans"/>
                <a:cs typeface="DejaVu Sans"/>
              </a:defRPr>
            </a:pPr>
            <a:r>
              <a:rPr sz="1800" b="0">
                <a:solidFill>
                  <a:srgbClr val="526174"/>
                </a:solidFill>
                <a:latin typeface="DejaVu Sans"/>
                <a:ea typeface="DejaVu Sans"/>
                <a:cs typeface="DejaVu Sans"/>
              </a:rPr>
              <a:t>Use the marks in brackets to judge how much detail to include.</a:t>
            </a:r>
          </a:p>
        </p:txBody>
      </p:sp>
    </p:spTree>
    <p:extLst>
      <p:ext uri="{BB962C8B-B14F-4D97-AF65-F5344CB8AC3E}">
        <p14:creationId xmlns:p14="http://schemas.microsoft.com/office/powerpoint/2010/main" val="747531743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EAF3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footer background">
            <a:extLst xmlns:a="http://schemas.openxmlformats.org/drawingml/2006/main">
              <a:ext uri="{FF2B5EF4-FFF2-40B4-BE49-F238E27FC236}">
                <a16:creationId xmlns:a16="http://schemas.microsoft.com/office/drawing/2014/main" id="{69886798-8F0F-4B54-BAEC-A0540120CA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124575"/>
            <a:ext cx="12192000" cy="7334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2" name="topic">
            <a:extLst xmlns:a="http://schemas.openxmlformats.org/drawingml/2006/main">
              <a:ext uri="{FF2B5EF4-FFF2-40B4-BE49-F238E27FC236}">
                <a16:creationId xmlns:a16="http://schemas.microsoft.com/office/drawing/2014/main" id="{6D6D98F3-B670-4101-B9A9-2184D5A6ED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23850"/>
            <a:ext cx="98107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2D63FF"/>
                </a:solidFill>
                <a:latin typeface="DejaVu Sans"/>
                <a:ea typeface="DejaVu Sans"/>
                <a:cs typeface="DejaVu Sans"/>
              </a:defRPr>
            </a:pPr>
            <a:r>
              <a:rPr sz="1125" b="1">
                <a:solidFill>
                  <a:srgbClr val="2D63FF"/>
                </a:solidFill>
                <a:latin typeface="DejaVu Sans"/>
                <a:ea typeface="DejaVu Sans"/>
                <a:cs typeface="DejaVu Sans"/>
              </a:rPr>
              <a:t>TOPIC 2.1   /   LESSON 10   /   CHECK</a:t>
            </a:r>
          </a:p>
        </p:txBody>
      </p:sp>
      <p:sp>
        <p:nvSpPr>
          <p:cNvPr id="3" name="heading">
            <a:extLst xmlns:a="http://schemas.openxmlformats.org/drawingml/2006/main">
              <a:ext uri="{FF2B5EF4-FFF2-40B4-BE49-F238E27FC236}">
                <a16:creationId xmlns:a16="http://schemas.microsoft.com/office/drawing/2014/main" id="{16C64587-B8D3-44DA-8AA8-1AB5AE6D8C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762000"/>
            <a:ext cx="108585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3225" b="1">
                <a:solidFill>
                  <a:srgbClr val="101828"/>
                </a:solidFill>
                <a:latin typeface="DejaVu Sans"/>
                <a:ea typeface="DejaVu Sans"/>
                <a:cs typeface="DejaVu Sans"/>
              </a:defRPr>
            </a:pPr>
            <a:r>
              <a:rPr sz="3225" b="1">
                <a:solidFill>
                  <a:srgbClr val="101828"/>
                </a:solidFill>
                <a:latin typeface="DejaVu Sans"/>
                <a:ea typeface="DejaVu Sans"/>
                <a:cs typeface="DejaVu Sans"/>
              </a:rPr>
              <a:t>Plenary: answers (a–b)</a:t>
            </a:r>
          </a:p>
        </p:txBody>
      </p:sp>
      <p:pic>
        <p:nvPicPr>
          <p:cNvPr id="1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8ac9414152e4f33"/>
          <a:stretch xmlns:a="http://schemas.openxmlformats.org/drawingml/2006/main"/>
        </p:blipFill>
        <p:spPr>
          <a:xfrm xmlns:a="http://schemas.openxmlformats.org/drawingml/2006/main">
            <a:off x="666750" y="6241242"/>
            <a:ext cx="2038350" cy="395316"/>
          </a:xfrm>
          <a:prstGeom xmlns:a="http://schemas.openxmlformats.org/drawingml/2006/main" prst="rect">
            <a:avLst/>
          </a:prstGeom>
        </p:spPr>
      </p:pic>
      <p:sp>
        <p:nvSpPr>
          <p:cNvPr id="5" name="page">
            <a:extLst xmlns:a="http://schemas.openxmlformats.org/drawingml/2006/main">
              <a:ext uri="{FF2B5EF4-FFF2-40B4-BE49-F238E27FC236}">
                <a16:creationId xmlns:a16="http://schemas.microsoft.com/office/drawing/2014/main" id="{9EEFA3B3-6527-4E2D-9FE8-B1783E9B14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400800"/>
            <a:ext cx="857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050" b="0">
                <a:solidFill>
                  <a:srgbClr val="526174"/>
                </a:solidFill>
                <a:latin typeface="DejaVu Sans"/>
                <a:ea typeface="DejaVu Sans"/>
                <a:cs typeface="DejaVu Sans"/>
              </a:defRPr>
            </a:pPr>
            <a:r>
              <a:rPr sz="1050" b="0">
                <a:solidFill>
                  <a:srgbClr val="526174"/>
                </a:solidFill>
                <a:latin typeface="DejaVu Sans"/>
                <a:ea typeface="DejaVu Sans"/>
                <a:cs typeface="DejaVu Sans"/>
              </a:rPr>
              <a:t>16 / 18</a:t>
            </a:r>
          </a:p>
        </p:txBody>
      </p:sp>
      <p:sp>
        <p:nvSpPr>
          <p:cNvPr id="6" name="scheme-intro">
            <a:extLst xmlns:a="http://schemas.openxmlformats.org/drawingml/2006/main">
              <a:ext uri="{FF2B5EF4-FFF2-40B4-BE49-F238E27FC236}">
                <a16:creationId xmlns:a16="http://schemas.microsoft.com/office/drawing/2014/main" id="{910FB56C-D13F-443C-831C-7EB54AF5BC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543050"/>
            <a:ext cx="10715625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800" b="0">
                <a:solidFill>
                  <a:srgbClr val="526174"/>
                </a:solidFill>
                <a:latin typeface="DejaVu Sans"/>
                <a:ea typeface="DejaVu Sans"/>
                <a:cs typeface="DejaVu Sans"/>
              </a:defRPr>
            </a:pPr>
            <a:r>
              <a:rPr sz="1800" b="0">
                <a:solidFill>
                  <a:srgbClr val="526174"/>
                </a:solidFill>
                <a:latin typeface="DejaVu Sans"/>
                <a:ea typeface="DejaVu Sans"/>
                <a:cs typeface="DejaVu Sans"/>
              </a:rPr>
              <a:t>Indicative points. Credit accurate answers in students’ own words.</a:t>
            </a:r>
          </a:p>
        </p:txBody>
      </p:sp>
      <p:sp>
        <p:nvSpPr>
          <p:cNvPr id="7" name="scheme-a">
            <a:extLst xmlns:a="http://schemas.openxmlformats.org/drawingml/2006/main">
              <a:ext uri="{FF2B5EF4-FFF2-40B4-BE49-F238E27FC236}">
                <a16:creationId xmlns:a16="http://schemas.microsoft.com/office/drawing/2014/main" id="{41502BD5-C47A-4406-827D-A550F44AB5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333625"/>
            <a:ext cx="10572750" cy="1666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0">
                <a:solidFill>
                  <a:srgbClr val="101828"/>
                </a:solidFill>
                <a:latin typeface="DejaVu Sans"/>
                <a:ea typeface="DejaVu Sans"/>
                <a:cs typeface="DejaVu Sans"/>
              </a:defRPr>
            </a:pPr>
            <a:r>
              <a:rPr sz="2025" b="0">
                <a:solidFill>
                  <a:srgbClr val="101828"/>
                </a:solidFill>
                <a:latin typeface="DejaVu Sans"/>
                <a:ea typeface="DejaVu Sans"/>
                <a:cs typeface="DejaVu Sans"/>
              </a:rPr>
              <a:t>a  Split into [8,3] and [6,1] (1), split into singles (1), merge to [3,8] and [1,6] (1), merge to [1,3,6,8] (1).</a:t>
            </a:r>
          </a:p>
        </p:txBody>
      </p:sp>
      <p:sp>
        <p:nvSpPr>
          <p:cNvPr id="8" name="scheme-b">
            <a:extLst xmlns:a="http://schemas.openxmlformats.org/drawingml/2006/main">
              <a:ext uri="{FF2B5EF4-FFF2-40B4-BE49-F238E27FC236}">
                <a16:creationId xmlns:a16="http://schemas.microsoft.com/office/drawing/2014/main" id="{4030A590-8409-4747-8A49-22010C81BA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114800"/>
            <a:ext cx="10572750" cy="1762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950" b="0">
                <a:solidFill>
                  <a:srgbClr val="101828"/>
                </a:solidFill>
                <a:latin typeface="DejaVu Sans"/>
                <a:ea typeface="DejaVu Sans"/>
                <a:cs typeface="DejaVu Sans"/>
              </a:defRPr>
            </a:pPr>
            <a:r>
              <a:rPr sz="1950" b="0">
                <a:solidFill>
                  <a:srgbClr val="101828"/>
                </a:solidFill>
                <a:latin typeface="DejaVu Sans"/>
                <a:ea typeface="DejaVu Sans"/>
                <a:cs typeface="DejaVu Sans"/>
              </a:rPr>
              <a:t>b  [2,5,4,1] (1), [2,4,5,1] (1), [1,2,4,5] (1).</a:t>
            </a:r>
          </a:p>
        </p:txBody>
      </p:sp>
    </p:spTree>
    <p:extLst>
      <p:ext uri="{BB962C8B-B14F-4D97-AF65-F5344CB8AC3E}">
        <p14:creationId xmlns:p14="http://schemas.microsoft.com/office/powerpoint/2010/main" val="1446243750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EAF3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footer background">
            <a:extLst xmlns:a="http://schemas.openxmlformats.org/drawingml/2006/main">
              <a:ext uri="{FF2B5EF4-FFF2-40B4-BE49-F238E27FC236}">
                <a16:creationId xmlns:a16="http://schemas.microsoft.com/office/drawing/2014/main" id="{E0081A4B-6AC1-4816-AF79-691B19F4BB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124575"/>
            <a:ext cx="12192000" cy="7334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2" name="topic">
            <a:extLst xmlns:a="http://schemas.openxmlformats.org/drawingml/2006/main">
              <a:ext uri="{FF2B5EF4-FFF2-40B4-BE49-F238E27FC236}">
                <a16:creationId xmlns:a16="http://schemas.microsoft.com/office/drawing/2014/main" id="{8160FA52-8505-4663-AF29-746E3C6A1F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23850"/>
            <a:ext cx="98107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2D63FF"/>
                </a:solidFill>
                <a:latin typeface="DejaVu Sans"/>
                <a:ea typeface="DejaVu Sans"/>
                <a:cs typeface="DejaVu Sans"/>
              </a:defRPr>
            </a:pPr>
            <a:r>
              <a:rPr sz="1125" b="1">
                <a:solidFill>
                  <a:srgbClr val="2D63FF"/>
                </a:solidFill>
                <a:latin typeface="DejaVu Sans"/>
                <a:ea typeface="DejaVu Sans"/>
                <a:cs typeface="DejaVu Sans"/>
              </a:rPr>
              <a:t>TOPIC 2.1   /   LESSON 10   /   CHECK</a:t>
            </a:r>
          </a:p>
        </p:txBody>
      </p:sp>
      <p:sp>
        <p:nvSpPr>
          <p:cNvPr id="3" name="heading">
            <a:extLst xmlns:a="http://schemas.openxmlformats.org/drawingml/2006/main">
              <a:ext uri="{FF2B5EF4-FFF2-40B4-BE49-F238E27FC236}">
                <a16:creationId xmlns:a16="http://schemas.microsoft.com/office/drawing/2014/main" id="{E723C30E-7C0B-4663-9CFD-AEBB0B68C7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762000"/>
            <a:ext cx="108585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3225" b="1">
                <a:solidFill>
                  <a:srgbClr val="101828"/>
                </a:solidFill>
                <a:latin typeface="DejaVu Sans"/>
                <a:ea typeface="DejaVu Sans"/>
                <a:cs typeface="DejaVu Sans"/>
              </a:defRPr>
            </a:pPr>
            <a:r>
              <a:rPr sz="3225" b="1">
                <a:solidFill>
                  <a:srgbClr val="101828"/>
                </a:solidFill>
                <a:latin typeface="DejaVu Sans"/>
                <a:ea typeface="DejaVu Sans"/>
                <a:cs typeface="DejaVu Sans"/>
              </a:rPr>
              <a:t>Plenary: answer (c)</a:t>
            </a:r>
          </a:p>
        </p:txBody>
      </p:sp>
      <p:pic>
        <p:nvPicPr>
          <p:cNvPr id="1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1414b357d644fba"/>
          <a:stretch xmlns:a="http://schemas.openxmlformats.org/drawingml/2006/main"/>
        </p:blipFill>
        <p:spPr>
          <a:xfrm xmlns:a="http://schemas.openxmlformats.org/drawingml/2006/main">
            <a:off x="666750" y="6241242"/>
            <a:ext cx="2038350" cy="395316"/>
          </a:xfrm>
          <a:prstGeom xmlns:a="http://schemas.openxmlformats.org/drawingml/2006/main" prst="rect">
            <a:avLst/>
          </a:prstGeom>
        </p:spPr>
      </p:pic>
      <p:sp>
        <p:nvSpPr>
          <p:cNvPr id="5" name="page">
            <a:extLst xmlns:a="http://schemas.openxmlformats.org/drawingml/2006/main">
              <a:ext uri="{FF2B5EF4-FFF2-40B4-BE49-F238E27FC236}">
                <a16:creationId xmlns:a16="http://schemas.microsoft.com/office/drawing/2014/main" id="{BFCDE95E-15E9-4DFC-BCC0-8290133C07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400800"/>
            <a:ext cx="857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050" b="0">
                <a:solidFill>
                  <a:srgbClr val="526174"/>
                </a:solidFill>
                <a:latin typeface="DejaVu Sans"/>
                <a:ea typeface="DejaVu Sans"/>
                <a:cs typeface="DejaVu Sans"/>
              </a:defRPr>
            </a:pPr>
            <a:r>
              <a:rPr sz="1050" b="0">
                <a:solidFill>
                  <a:srgbClr val="526174"/>
                </a:solidFill>
                <a:latin typeface="DejaVu Sans"/>
                <a:ea typeface="DejaVu Sans"/>
                <a:cs typeface="DejaVu Sans"/>
              </a:rPr>
              <a:t>17 / 18</a:t>
            </a:r>
          </a:p>
        </p:txBody>
      </p:sp>
      <p:sp>
        <p:nvSpPr>
          <p:cNvPr id="6" name="scheme-intro">
            <a:extLst xmlns:a="http://schemas.openxmlformats.org/drawingml/2006/main">
              <a:ext uri="{FF2B5EF4-FFF2-40B4-BE49-F238E27FC236}">
                <a16:creationId xmlns:a16="http://schemas.microsoft.com/office/drawing/2014/main" id="{367C08AF-7243-4EE2-AFA0-1DBD0A7CEA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533525"/>
            <a:ext cx="1071562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800" b="0">
                <a:solidFill>
                  <a:srgbClr val="526174"/>
                </a:solidFill>
                <a:latin typeface="DejaVu Sans"/>
                <a:ea typeface="DejaVu Sans"/>
                <a:cs typeface="DejaVu Sans"/>
              </a:defRPr>
            </a:pPr>
            <a:r>
              <a:rPr sz="1800" b="0">
                <a:solidFill>
                  <a:srgbClr val="526174"/>
                </a:solidFill>
                <a:latin typeface="DejaVu Sans"/>
                <a:ea typeface="DejaVu Sans"/>
                <a:cs typeface="DejaVu Sans"/>
              </a:rPr>
              <a:t>Indicative points for the final question.</a:t>
            </a:r>
          </a:p>
        </p:txBody>
      </p:sp>
      <p:sp>
        <p:nvSpPr>
          <p:cNvPr id="7" name="number-1">
            <a:extLst xmlns:a="http://schemas.openxmlformats.org/drawingml/2006/main">
              <a:ext uri="{FF2B5EF4-FFF2-40B4-BE49-F238E27FC236}">
                <a16:creationId xmlns:a16="http://schemas.microsoft.com/office/drawing/2014/main" id="{C971BC91-2C30-4670-9E94-EB7BAD54B3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486025"/>
            <a:ext cx="5905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950" b="1">
                <a:solidFill>
                  <a:srgbClr val="2D63FF"/>
                </a:solidFill>
                <a:latin typeface="DejaVu Sans"/>
                <a:ea typeface="DejaVu Sans"/>
                <a:cs typeface="DejaVu Sans"/>
              </a:defRPr>
            </a:pPr>
          </a:p>
        </p:txBody>
      </p:sp>
      <p:sp>
        <p:nvSpPr>
          <p:cNvPr id="8" name="item-1">
            <a:extLst xmlns:a="http://schemas.openxmlformats.org/drawingml/2006/main">
              <a:ext uri="{FF2B5EF4-FFF2-40B4-BE49-F238E27FC236}">
                <a16:creationId xmlns:a16="http://schemas.microsoft.com/office/drawing/2014/main" id="{38BA7518-F976-4AA8-9FBD-9CA4E93E39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2486025"/>
            <a:ext cx="992505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950" b="0">
                <a:solidFill>
                  <a:srgbClr val="101828"/>
                </a:solidFill>
                <a:latin typeface="DejaVu Sans"/>
                <a:ea typeface="DejaVu Sans"/>
                <a:cs typeface="DejaVu Sans"/>
              </a:defRPr>
            </a:pPr>
            <a:r>
              <a:rPr sz="1950" b="0">
                <a:solidFill>
                  <a:srgbClr val="101828"/>
                </a:solidFill>
                <a:latin typeface="DejaVu Sans"/>
                <a:ea typeface="DejaVu Sans"/>
                <a:cs typeface="DejaVu Sans"/>
              </a:rPr>
              <a:t>Merge splits and combines sorted groups (1). Insertion places successive keys into a growing sorted prefix (1).</a:t>
            </a:r>
          </a:p>
        </p:txBody>
      </p:sp>
      <p:sp>
        <p:nvSpPr>
          <p:cNvPr id="9" name="number-2">
            <a:extLst xmlns:a="http://schemas.openxmlformats.org/drawingml/2006/main">
              <a:ext uri="{FF2B5EF4-FFF2-40B4-BE49-F238E27FC236}">
                <a16:creationId xmlns:a16="http://schemas.microsoft.com/office/drawing/2014/main" id="{4CE5C16C-95D9-4554-BC9D-0CB5CA0D09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590925"/>
            <a:ext cx="5905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950" b="1">
                <a:solidFill>
                  <a:srgbClr val="2D63FF"/>
                </a:solidFill>
                <a:latin typeface="DejaVu Sans"/>
                <a:ea typeface="DejaVu Sans"/>
                <a:cs typeface="DejaVu Sans"/>
              </a:defRPr>
            </a:pPr>
          </a:p>
        </p:txBody>
      </p:sp>
      <p:sp>
        <p:nvSpPr>
          <p:cNvPr id="10" name="item-2">
            <a:extLst xmlns:a="http://schemas.openxmlformats.org/drawingml/2006/main">
              <a:ext uri="{FF2B5EF4-FFF2-40B4-BE49-F238E27FC236}">
                <a16:creationId xmlns:a16="http://schemas.microsoft.com/office/drawing/2014/main" id="{C4346348-B81F-437B-A07E-C9085E2ACE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3590925"/>
            <a:ext cx="992505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950" b="0">
                <a:solidFill>
                  <a:srgbClr val="101828"/>
                </a:solidFill>
                <a:latin typeface="DejaVu Sans"/>
                <a:ea typeface="DejaVu Sans"/>
                <a:cs typeface="DejaVu Sans"/>
              </a:defRPr>
            </a:pPr>
          </a:p>
        </p:txBody>
      </p:sp>
      <p:sp>
        <p:nvSpPr>
          <p:cNvPr id="11" name="number-3">
            <a:extLst xmlns:a="http://schemas.openxmlformats.org/drawingml/2006/main">
              <a:ext uri="{FF2B5EF4-FFF2-40B4-BE49-F238E27FC236}">
                <a16:creationId xmlns:a16="http://schemas.microsoft.com/office/drawing/2014/main" id="{DBDD63D3-A34B-4614-BC00-7470B22F21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695825"/>
            <a:ext cx="5905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950" b="1">
                <a:solidFill>
                  <a:srgbClr val="2D63FF"/>
                </a:solidFill>
                <a:latin typeface="DejaVu Sans"/>
                <a:ea typeface="DejaVu Sans"/>
                <a:cs typeface="DejaVu Sans"/>
              </a:defRPr>
            </a:pPr>
            <a:r>
              <a:rPr sz="1950" b="1">
                <a:solidFill>
                  <a:srgbClr val="2D63FF"/>
                </a:solidFill>
                <a:latin typeface="DejaVu Sans"/>
                <a:ea typeface="DejaVu Sans"/>
                <a:cs typeface="DejaVu Sans"/>
              </a:rPr>
              <a:t/>
            </a:r>
          </a:p>
        </p:txBody>
      </p:sp>
      <p:sp>
        <p:nvSpPr>
          <p:cNvPr id="12" name="item-3">
            <a:extLst xmlns:a="http://schemas.openxmlformats.org/drawingml/2006/main">
              <a:ext uri="{FF2B5EF4-FFF2-40B4-BE49-F238E27FC236}">
                <a16:creationId xmlns:a16="http://schemas.microsoft.com/office/drawing/2014/main" id="{AAD983A1-375A-4785-BE52-216AFD70B1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4695825"/>
            <a:ext cx="992505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950" b="0">
                <a:solidFill>
                  <a:srgbClr val="101828"/>
                </a:solidFill>
                <a:latin typeface="DejaVu Sans"/>
                <a:ea typeface="DejaVu Sans"/>
                <a:cs typeface="DejaVu Sans"/>
              </a:defRPr>
            </a:pPr>
            <a:r>
              <a:rPr sz="1950" b="0">
                <a:solidFill>
                  <a:srgbClr val="101828"/>
                </a:solidFill>
                <a:latin typeface="DejaVu Sans"/>
                <a:ea typeface="DejaVu Sans"/>
                <a:cs typeface="DejaVu Sans"/>
              </a:rPr>
              <a:t/>
            </a:r>
          </a:p>
        </p:txBody>
      </p:sp>
    </p:spTree>
    <p:extLst>
      <p:ext uri="{BB962C8B-B14F-4D97-AF65-F5344CB8AC3E}">
        <p14:creationId xmlns:p14="http://schemas.microsoft.com/office/powerpoint/2010/main" val="589652315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footer background">
            <a:extLst xmlns:a="http://schemas.openxmlformats.org/drawingml/2006/main">
              <a:ext uri="{FF2B5EF4-FFF2-40B4-BE49-F238E27FC236}">
                <a16:creationId xmlns:a16="http://schemas.microsoft.com/office/drawing/2014/main" id="{A368A0EC-80FD-4672-B2B2-DBDF6094DD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124575"/>
            <a:ext cx="12192000" cy="7334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2" name="topic">
            <a:extLst xmlns:a="http://schemas.openxmlformats.org/drawingml/2006/main">
              <a:ext uri="{FF2B5EF4-FFF2-40B4-BE49-F238E27FC236}">
                <a16:creationId xmlns:a16="http://schemas.microsoft.com/office/drawing/2014/main" id="{94A4DF14-4035-4380-8761-948455E2AF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23850"/>
            <a:ext cx="98107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2D63FF"/>
                </a:solidFill>
                <a:latin typeface="DejaVu Sans"/>
                <a:ea typeface="DejaVu Sans"/>
                <a:cs typeface="DejaVu Sans"/>
              </a:defRPr>
            </a:pPr>
            <a:r>
              <a:rPr sz="1125" b="1">
                <a:solidFill>
                  <a:srgbClr val="2D63FF"/>
                </a:solidFill>
                <a:latin typeface="DejaVu Sans"/>
                <a:ea typeface="DejaVu Sans"/>
                <a:cs typeface="DejaVu Sans"/>
              </a:rPr>
              <a:t>TOPIC 2.1   /   LESSON 10   /   SELF-CHECK</a:t>
            </a:r>
          </a:p>
        </p:txBody>
      </p:sp>
      <p:sp>
        <p:nvSpPr>
          <p:cNvPr id="3" name="heading">
            <a:extLst xmlns:a="http://schemas.openxmlformats.org/drawingml/2006/main">
              <a:ext uri="{FF2B5EF4-FFF2-40B4-BE49-F238E27FC236}">
                <a16:creationId xmlns:a16="http://schemas.microsoft.com/office/drawing/2014/main" id="{86131C61-4DE8-4ADA-AA38-AF5838A84C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762000"/>
            <a:ext cx="108585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3225" b="1">
                <a:solidFill>
                  <a:srgbClr val="101828"/>
                </a:solidFill>
                <a:latin typeface="DejaVu Sans"/>
                <a:ea typeface="DejaVu Sans"/>
                <a:cs typeface="DejaVu Sans"/>
              </a:defRPr>
            </a:pPr>
            <a:r>
              <a:rPr sz="3225" b="1">
                <a:solidFill>
                  <a:srgbClr val="101828"/>
                </a:solidFill>
                <a:latin typeface="DejaVu Sans"/>
                <a:ea typeface="DejaVu Sans"/>
                <a:cs typeface="DejaVu Sans"/>
              </a:rPr>
              <a:t>How confident am I?</a:t>
            </a:r>
          </a:p>
        </p:txBody>
      </p:sp>
      <p:pic>
        <p:nvPicPr>
          <p:cNvPr id="2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a9413430ef54da5"/>
          <a:stretch xmlns:a="http://schemas.openxmlformats.org/drawingml/2006/main"/>
        </p:blipFill>
        <p:spPr>
          <a:xfrm xmlns:a="http://schemas.openxmlformats.org/drawingml/2006/main">
            <a:off x="666750" y="6241242"/>
            <a:ext cx="2038350" cy="395316"/>
          </a:xfrm>
          <a:prstGeom xmlns:a="http://schemas.openxmlformats.org/drawingml/2006/main" prst="rect">
            <a:avLst/>
          </a:prstGeom>
        </p:spPr>
      </p:pic>
      <p:sp>
        <p:nvSpPr>
          <p:cNvPr id="5" name="page">
            <a:extLst xmlns:a="http://schemas.openxmlformats.org/drawingml/2006/main">
              <a:ext uri="{FF2B5EF4-FFF2-40B4-BE49-F238E27FC236}">
                <a16:creationId xmlns:a16="http://schemas.microsoft.com/office/drawing/2014/main" id="{6D9F0318-AD5A-451A-9E2A-0B42908DA4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400800"/>
            <a:ext cx="857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050" b="0">
                <a:solidFill>
                  <a:srgbClr val="526174"/>
                </a:solidFill>
                <a:latin typeface="DejaVu Sans"/>
                <a:ea typeface="DejaVu Sans"/>
                <a:cs typeface="DejaVu Sans"/>
              </a:defRPr>
            </a:pPr>
            <a:r>
              <a:rPr sz="1050" b="0">
                <a:solidFill>
                  <a:srgbClr val="526174"/>
                </a:solidFill>
                <a:latin typeface="DejaVu Sans"/>
                <a:ea typeface="DejaVu Sans"/>
                <a:cs typeface="DejaVu Sans"/>
              </a:rPr>
              <a:t>18 / 18</a:t>
            </a:r>
          </a:p>
        </p:txBody>
      </p:sp>
      <p:sp>
        <p:nvSpPr>
          <p:cNvPr id="6" name="confidence-instruction">
            <a:extLst xmlns:a="http://schemas.openxmlformats.org/drawingml/2006/main">
              <a:ext uri="{FF2B5EF4-FFF2-40B4-BE49-F238E27FC236}">
                <a16:creationId xmlns:a16="http://schemas.microsoft.com/office/drawing/2014/main" id="{21CCFCB5-9EEF-4D0C-ACC8-C2D3D4C2A8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571625"/>
            <a:ext cx="10477500" cy="752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800" b="0">
                <a:solidFill>
                  <a:srgbClr val="526174"/>
                </a:solidFill>
                <a:latin typeface="DejaVu Sans"/>
                <a:ea typeface="DejaVu Sans"/>
                <a:cs typeface="DejaVu Sans"/>
              </a:defRPr>
            </a:pPr>
            <a:r>
              <a:rPr sz="1800" b="0">
                <a:solidFill>
                  <a:srgbClr val="526174"/>
                </a:solidFill>
                <a:latin typeface="DejaVu Sans"/>
                <a:ea typeface="DejaVu Sans"/>
                <a:cs typeface="DejaVu Sans"/>
              </a:rPr>
              <a:t>On the worksheet, select Not yet, Getting there or Confident for each objective.</a:t>
            </a:r>
          </a:p>
        </p:txBody>
      </p:sp>
      <p:sp>
        <p:nvSpPr>
          <p:cNvPr id="7" name="number-1">
            <a:extLst xmlns:a="http://schemas.openxmlformats.org/drawingml/2006/main">
              <a:ext uri="{FF2B5EF4-FFF2-40B4-BE49-F238E27FC236}">
                <a16:creationId xmlns:a16="http://schemas.microsoft.com/office/drawing/2014/main" id="{1445CA78-BAE2-4623-A518-59C7169A11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514600"/>
            <a:ext cx="5905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1">
                <a:solidFill>
                  <a:srgbClr val="2D63FF"/>
                </a:solidFill>
                <a:latin typeface="DejaVu Sans"/>
                <a:ea typeface="DejaVu Sans"/>
                <a:cs typeface="DejaVu Sans"/>
              </a:defRPr>
            </a:pPr>
            <a:r>
              <a:rPr sz="2025" b="1">
                <a:solidFill>
                  <a:srgbClr val="2D63FF"/>
                </a:solidFill>
                <a:latin typeface="DejaVu Sans"/>
                <a:ea typeface="DejaVu Sans"/>
                <a:cs typeface="DejaVu Sans"/>
              </a:rPr>
              <a:t>1.</a:t>
            </a:r>
          </a:p>
        </p:txBody>
      </p:sp>
      <p:sp>
        <p:nvSpPr>
          <p:cNvPr id="8" name="item-1">
            <a:extLst xmlns:a="http://schemas.openxmlformats.org/drawingml/2006/main">
              <a:ext uri="{FF2B5EF4-FFF2-40B4-BE49-F238E27FC236}">
                <a16:creationId xmlns:a16="http://schemas.microsoft.com/office/drawing/2014/main" id="{B9CB63FA-CF41-41AC-AAF6-A489CFF3BD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2514600"/>
            <a:ext cx="992505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0">
                <a:solidFill>
                  <a:srgbClr val="101828"/>
                </a:solidFill>
                <a:latin typeface="DejaVu Sans"/>
                <a:ea typeface="DejaVu Sans"/>
                <a:cs typeface="DejaVu Sans"/>
              </a:defRPr>
            </a:pPr>
            <a:r>
              <a:rPr sz="2025" b="0">
                <a:solidFill>
                  <a:srgbClr val="101828"/>
                </a:solidFill>
                <a:latin typeface="DejaVu Sans"/>
                <a:ea typeface="DejaVu Sans"/>
                <a:cs typeface="DejaVu Sans"/>
              </a:rPr>
              <a:t>Trace merge sort splits and merges.</a:t>
            </a:r>
          </a:p>
        </p:txBody>
      </p:sp>
      <p:sp>
        <p:nvSpPr>
          <p:cNvPr id="9" name="number-2">
            <a:extLst xmlns:a="http://schemas.openxmlformats.org/drawingml/2006/main">
              <a:ext uri="{FF2B5EF4-FFF2-40B4-BE49-F238E27FC236}">
                <a16:creationId xmlns:a16="http://schemas.microsoft.com/office/drawing/2014/main" id="{BF24F2CF-D0BF-433B-A4BD-27BA20302E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343275"/>
            <a:ext cx="5905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1">
                <a:solidFill>
                  <a:srgbClr val="2D63FF"/>
                </a:solidFill>
                <a:latin typeface="DejaVu Sans"/>
                <a:ea typeface="DejaVu Sans"/>
                <a:cs typeface="DejaVu Sans"/>
              </a:defRPr>
            </a:pPr>
            <a:r>
              <a:rPr sz="2025" b="1">
                <a:solidFill>
                  <a:srgbClr val="2D63FF"/>
                </a:solidFill>
                <a:latin typeface="DejaVu Sans"/>
                <a:ea typeface="DejaVu Sans"/>
                <a:cs typeface="DejaVu Sans"/>
              </a:rPr>
              <a:t>2.</a:t>
            </a:r>
          </a:p>
        </p:txBody>
      </p:sp>
      <p:sp>
        <p:nvSpPr>
          <p:cNvPr id="10" name="item-2">
            <a:extLst xmlns:a="http://schemas.openxmlformats.org/drawingml/2006/main">
              <a:ext uri="{FF2B5EF4-FFF2-40B4-BE49-F238E27FC236}">
                <a16:creationId xmlns:a16="http://schemas.microsoft.com/office/drawing/2014/main" id="{2EBB092A-60CB-4087-9DD4-5443676B62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3343275"/>
            <a:ext cx="992505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0">
                <a:solidFill>
                  <a:srgbClr val="101828"/>
                </a:solidFill>
                <a:latin typeface="DejaVu Sans"/>
                <a:ea typeface="DejaVu Sans"/>
                <a:cs typeface="DejaVu Sans"/>
              </a:defRPr>
            </a:pPr>
            <a:r>
              <a:rPr sz="2025" b="0">
                <a:solidFill>
                  <a:srgbClr val="101828"/>
                </a:solidFill>
                <a:latin typeface="DejaVu Sans"/>
                <a:ea typeface="DejaVu Sans"/>
                <a:cs typeface="DejaVu Sans"/>
              </a:rPr>
              <a:t>Trace insertion sort.</a:t>
            </a:r>
          </a:p>
        </p:txBody>
      </p:sp>
      <p:sp>
        <p:nvSpPr>
          <p:cNvPr id="11" name="number-3">
            <a:extLst xmlns:a="http://schemas.openxmlformats.org/drawingml/2006/main">
              <a:ext uri="{FF2B5EF4-FFF2-40B4-BE49-F238E27FC236}">
                <a16:creationId xmlns:a16="http://schemas.microsoft.com/office/drawing/2014/main" id="{43B035FB-801C-4E05-87F1-800820CE73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171950"/>
            <a:ext cx="5905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1">
                <a:solidFill>
                  <a:srgbClr val="2D63FF"/>
                </a:solidFill>
                <a:latin typeface="DejaVu Sans"/>
                <a:ea typeface="DejaVu Sans"/>
                <a:cs typeface="DejaVu Sans"/>
              </a:defRPr>
            </a:pPr>
            <a:r>
              <a:rPr sz="2025" b="1">
                <a:solidFill>
                  <a:srgbClr val="2D63FF"/>
                </a:solidFill>
                <a:latin typeface="DejaVu Sans"/>
                <a:ea typeface="DejaVu Sans"/>
                <a:cs typeface="DejaVu Sans"/>
              </a:rPr>
              <a:t>3.</a:t>
            </a:r>
          </a:p>
        </p:txBody>
      </p:sp>
      <p:sp>
        <p:nvSpPr>
          <p:cNvPr id="12" name="item-3">
            <a:extLst xmlns:a="http://schemas.openxmlformats.org/drawingml/2006/main">
              <a:ext uri="{FF2B5EF4-FFF2-40B4-BE49-F238E27FC236}">
                <a16:creationId xmlns:a16="http://schemas.microsoft.com/office/drawing/2014/main" id="{02E48C22-31AC-4A31-87AE-D3A00B3F19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4171950"/>
            <a:ext cx="992505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0">
                <a:solidFill>
                  <a:srgbClr val="101828"/>
                </a:solidFill>
                <a:latin typeface="DejaVu Sans"/>
                <a:ea typeface="DejaVu Sans"/>
                <a:cs typeface="DejaVu Sans"/>
              </a:defRPr>
            </a:pPr>
            <a:r>
              <a:rPr sz="2025" b="0">
                <a:solidFill>
                  <a:srgbClr val="101828"/>
                </a:solidFill>
                <a:latin typeface="DejaVu Sans"/>
                <a:ea typeface="DejaVu Sans"/>
                <a:cs typeface="DejaVu Sans"/>
              </a:rPr>
              <a:t>Compare the main sorting methods.</a:t>
            </a:r>
          </a:p>
        </p:txBody>
      </p:sp>
      <p:sp>
        <p:nvSpPr>
          <p:cNvPr id="13" name="number-4">
            <a:extLst xmlns:a="http://schemas.openxmlformats.org/drawingml/2006/main">
              <a:ext uri="{FF2B5EF4-FFF2-40B4-BE49-F238E27FC236}">
                <a16:creationId xmlns:a16="http://schemas.microsoft.com/office/drawing/2014/main" id="{CE4EAE46-F751-4F69-9E68-CFF078A99A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000625"/>
            <a:ext cx="5905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025" b="1">
                <a:solidFill>
                  <a:srgbClr val="2D63FF"/>
                </a:solidFill>
                <a:latin typeface="DejaVu Sans"/>
                <a:ea typeface="DejaVu Sans"/>
                <a:cs typeface="DejaVu Sans"/>
              </a:defRPr>
            </a:pPr>
            <a:r>
              <a:rPr sz="2025" b="1">
                <a:solidFill>
                  <a:srgbClr val="2D63FF"/>
                </a:solidFill>
                <a:latin typeface="DejaVu Sans"/>
                <a:ea typeface="DejaVu Sans"/>
                <a:cs typeface="DejaVu Sans"/>
              </a:rPr>
              <a:t/>
            </a:r>
          </a:p>
        </p:txBody>
      </p:sp>
      <p:sp>
        <p:nvSpPr>
          <p:cNvPr id="14" name="item-4">
            <a:extLst xmlns:a="http://schemas.openxmlformats.org/drawingml/2006/main">
              <a:ext uri="{FF2B5EF4-FFF2-40B4-BE49-F238E27FC236}">
                <a16:creationId xmlns:a16="http://schemas.microsoft.com/office/drawing/2014/main" id="{F71661C6-7DB3-4EC1-B1E5-D88C7A6128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5000625"/>
            <a:ext cx="992505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025" b="0">
                <a:solidFill>
                  <a:srgbClr val="101828"/>
                </a:solidFill>
                <a:latin typeface="DejaVu Sans"/>
                <a:ea typeface="DejaVu Sans"/>
                <a:cs typeface="DejaVu Sans"/>
              </a:defRPr>
            </a:pPr>
            <a:r>
              <a:rPr sz="2025" b="0">
                <a:solidFill>
                  <a:srgbClr val="101828"/>
                </a:solidFill>
                <a:latin typeface="DejaVu Sans"/>
                <a:ea typeface="DejaVu Sans"/>
                <a:cs typeface="DejaVu Sans"/>
              </a:rPr>
              <a:t/>
            </a:r>
          </a:p>
        </p:txBody>
      </p:sp>
    </p:spTree>
    <p:extLst>
      <p:ext uri="{BB962C8B-B14F-4D97-AF65-F5344CB8AC3E}">
        <p14:creationId xmlns:p14="http://schemas.microsoft.com/office/powerpoint/2010/main" val="479929554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2026-09-28T13:00:38.4810000Z</dcterms:created>
  <dcterms:modified xsi:type="dcterms:W3CDTF">2026-09-28T13:00:38.4810000Z</dcterms:modified>
</coreProperties>
</file>