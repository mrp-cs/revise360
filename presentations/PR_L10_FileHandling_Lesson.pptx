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10: File handling.
Open the experience at revise360.co.uk and hand out PR_L10_FileHandling_Worksheet.docx.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 the objectives, then go straight into the starter. Devices stay away for the first five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Silent start. Take two or three answers before moving on: this is where misconceptions surface.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 on writing before tapping. That single rule is the difference between revision and a quiz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1: Reading a whole file.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2: Reading line by line.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3: Writing to a file.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4: Adding to a file.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5: Records in a file.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6: Putting it together.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them commit to an answer on paper before they tap the star. Guessing first costs them the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these as a settler, or as something for early finishers to read in the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Timed and silent. Mark against the answer sheet, then ask students to record their weakest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copy their score-screen breakdown onto the worksheet, then rate themselves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828"/>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822960" y="1417320"/>
            <a:ext cx="10515600" cy="411480"/>
          </a:xfrm>
          <a:prstGeom prst="rect">
            <a:avLst/>
          </a:prstGeom>
          <a:noFill/>
          <a:ln/>
        </p:spPr>
        <p:txBody>
          <a:bodyPr wrap="square" lIns="0" tIns="0" rIns="0" bIns="0" rtlCol="0" anchor="ctr"/>
          <a:lstStyle/>
          <a:p>
            <a:pPr indent="0" marL="0">
              <a:buNone/>
            </a:pPr>
            <a:r>
              <a:rPr lang="en-US" sz="1500" dirty="0">
                <a:solidFill>
                  <a:srgbClr val="F4B942"/>
                </a:solidFill>
                <a:latin typeface="IBM Plex Mono" pitchFamily="34" charset="0"/>
                <a:ea typeface="IBM Plex Mono" pitchFamily="34" charset="-122"/>
                <a:cs typeface="IBM Plex Mono" pitchFamily="34" charset="-120"/>
              </a:rPr>
              <a:t>Python programming  |  Lesson 10</a:t>
            </a:r>
            <a:endParaRPr lang="en-US" sz="1500" dirty="0"/>
          </a:p>
        </p:txBody>
      </p:sp>
      <p:sp>
        <p:nvSpPr>
          <p:cNvPr id="4" name="Text 2"/>
          <p:cNvSpPr txBox="1"/>
          <p:nvPr/>
        </p:nvSpPr>
        <p:spPr>
          <a:xfrm>
            <a:off x="822960" y="1920240"/>
            <a:ext cx="10515600" cy="1280160"/>
          </a:xfrm>
          <a:prstGeom prst="rect">
            <a:avLst/>
          </a:prstGeom>
          <a:noFill/>
          <a:ln/>
        </p:spPr>
        <p:txBody>
          <a:bodyPr wrap="square" lIns="0" tIns="0" rIns="0" bIns="0" rtlCol="0" anchor="ctr"/>
          <a:lstStyle/>
          <a:p>
            <a:pPr indent="0" marL="0">
              <a:buNone/>
            </a:pPr>
            <a:r>
              <a:rPr lang="en-US" sz="6000" b="1" dirty="0">
                <a:solidFill>
                  <a:srgbClr val="FFFFFF"/>
                </a:solidFill>
                <a:latin typeface="IBM Plex Sans" pitchFamily="34" charset="0"/>
                <a:ea typeface="IBM Plex Sans" pitchFamily="34" charset="-122"/>
                <a:cs typeface="IBM Plex Sans" pitchFamily="34" charset="-120"/>
              </a:rPr>
              <a:t>File handling</a:t>
            </a:r>
            <a:endParaRPr lang="en-US" sz="6000" dirty="0"/>
          </a:p>
        </p:txBody>
      </p:sp>
      <p:sp>
        <p:nvSpPr>
          <p:cNvPr id="5" name="Text 3"/>
          <p:cNvSpPr txBox="1"/>
          <p:nvPr/>
        </p:nvSpPr>
        <p:spPr>
          <a:xfrm>
            <a:off x="822960" y="3291840"/>
            <a:ext cx="9509760" cy="1371600"/>
          </a:xfrm>
          <a:prstGeom prst="rect">
            <a:avLst/>
          </a:prstGeom>
          <a:noFill/>
          <a:ln/>
        </p:spPr>
        <p:txBody>
          <a:bodyPr wrap="square" lIns="0" tIns="0" rIns="0" bIns="0" rtlCol="0" anchor="ctr"/>
          <a:lstStyle/>
          <a:p>
            <a:pPr indent="0" marL="0">
              <a:lnSpc>
                <a:spcPct val="125000"/>
              </a:lnSpc>
              <a:buNone/>
            </a:pPr>
            <a:r>
              <a:rPr lang="en-US" sz="1800" dirty="0">
                <a:solidFill>
                  <a:srgbClr val="C7CDD9"/>
                </a:solidFill>
                <a:latin typeface="IBM Plex Sans" pitchFamily="34" charset="0"/>
                <a:ea typeface="IBM Plex Sans" pitchFamily="34" charset="-122"/>
                <a:cs typeface="IBM Plex Sans" pitchFamily="34" charset="-120"/>
              </a:rPr>
              <a:t>Everything a program holds in its variables disappears the moment it ends. A file keeps it. Work through the six stations and you will open a file, read it whole or a line at a time, write one from scratch, add to one and split its records into fields.</a:t>
            </a:r>
            <a:endParaRPr lang="en-US" sz="1800" dirty="0"/>
          </a:p>
        </p:txBody>
      </p:sp>
      <p:sp>
        <p:nvSpPr>
          <p:cNvPr id="6" name="Shape 4"/>
          <p:cNvSpPr/>
          <p:nvPr/>
        </p:nvSpPr>
        <p:spPr>
          <a:xfrm>
            <a:off x="822960" y="4846320"/>
            <a:ext cx="2926080" cy="0"/>
          </a:xfrm>
          <a:prstGeom prst="line">
            <a:avLst/>
          </a:prstGeom>
          <a:noFill/>
          <a:ln w="31750">
            <a:solidFill>
              <a:srgbClr val="2D63FF"/>
            </a:solidFill>
            <a:prstDash val="solid"/>
          </a:ln>
        </p:spPr>
      </p:sp>
      <p:sp>
        <p:nvSpPr>
          <p:cNvPr id="7" name="Text 5"/>
          <p:cNvSpPr txBox="1"/>
          <p:nvPr/>
        </p:nvSpPr>
        <p:spPr>
          <a:xfrm>
            <a:off x="822960" y="5029200"/>
            <a:ext cx="10515600" cy="365760"/>
          </a:xfrm>
          <a:prstGeom prst="rect">
            <a:avLst/>
          </a:prstGeom>
          <a:noFill/>
          <a:ln/>
        </p:spPr>
        <p:txBody>
          <a:bodyPr wrap="square" lIns="0" tIns="0" rIns="0" bIns="0" rtlCol="0" anchor="ctr"/>
          <a:lstStyle/>
          <a:p>
            <a:pPr indent="0" marL="0">
              <a:buNone/>
            </a:pPr>
            <a:r>
              <a:rPr lang="en-US" sz="1300" dirty="0">
                <a:solidFill>
                  <a:srgbClr val="667085"/>
                </a:solidFill>
                <a:latin typeface="IBM Plex Mono" pitchFamily="34" charset="0"/>
                <a:ea typeface="IBM Plex Mono" pitchFamily="34" charset="-122"/>
                <a:cs typeface="IBM Plex Mono" pitchFamily="34" charset="-120"/>
              </a:rPr>
              <a:t>Revise 360 Python course  |  Beyond the OCR J277 specification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10</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By the end of this lesson</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Why does the mode a file is opened in matter more than anything else on that line?</a:t>
            </a:r>
            <a:endParaRPr lang="en-US" sz="1500" dirty="0"/>
          </a:p>
        </p:txBody>
      </p:sp>
      <p:sp>
        <p:nvSpPr>
          <p:cNvPr id="7" name="Shape 5"/>
          <p:cNvSpPr/>
          <p:nvPr/>
        </p:nvSpPr>
        <p:spPr>
          <a:xfrm>
            <a:off x="548640" y="1965960"/>
            <a:ext cx="566928" cy="566928"/>
          </a:xfrm>
          <a:prstGeom prst="ellipse">
            <a:avLst/>
          </a:prstGeom>
          <a:solidFill>
            <a:srgbClr val="2D63FF"/>
          </a:solidFill>
          <a:ln/>
        </p:spPr>
      </p:sp>
      <p:sp>
        <p:nvSpPr>
          <p:cNvPr id="8" name="Text 6"/>
          <p:cNvSpPr txBox="1"/>
          <p:nvPr/>
        </p:nvSpPr>
        <p:spPr>
          <a:xfrm>
            <a:off x="548640" y="196596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9" name="Text 7"/>
          <p:cNvSpPr txBox="1"/>
          <p:nvPr/>
        </p:nvSpPr>
        <p:spPr>
          <a:xfrm>
            <a:off x="1325880" y="1965960"/>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Know how to open a text file, read what is in it and close it again</a:t>
            </a:r>
            <a:endParaRPr lang="en-US" sz="1900" dirty="0"/>
          </a:p>
        </p:txBody>
      </p:sp>
      <p:sp>
        <p:nvSpPr>
          <p:cNvPr id="10" name="Shape 8"/>
          <p:cNvSpPr/>
          <p:nvPr/>
        </p:nvSpPr>
        <p:spPr>
          <a:xfrm>
            <a:off x="548640" y="2898648"/>
            <a:ext cx="566928" cy="566928"/>
          </a:xfrm>
          <a:prstGeom prst="ellipse">
            <a:avLst/>
          </a:prstGeom>
          <a:solidFill>
            <a:srgbClr val="2D63FF"/>
          </a:solidFill>
          <a:ln/>
        </p:spPr>
      </p:sp>
      <p:sp>
        <p:nvSpPr>
          <p:cNvPr id="11" name="Text 9"/>
          <p:cNvSpPr txBox="1"/>
          <p:nvPr/>
        </p:nvSpPr>
        <p:spPr>
          <a:xfrm>
            <a:off x="548640" y="28986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12" name="Text 10"/>
          <p:cNvSpPr txBox="1"/>
          <p:nvPr/>
        </p:nvSpPr>
        <p:spPr>
          <a:xfrm>
            <a:off x="1325880" y="2898648"/>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Understand what write mode does to a file, and how append mode differs from it</a:t>
            </a:r>
            <a:endParaRPr lang="en-US" sz="1900" dirty="0"/>
          </a:p>
        </p:txBody>
      </p:sp>
      <p:sp>
        <p:nvSpPr>
          <p:cNvPr id="13" name="Shape 11"/>
          <p:cNvSpPr/>
          <p:nvPr/>
        </p:nvSpPr>
        <p:spPr>
          <a:xfrm>
            <a:off x="548640" y="3831336"/>
            <a:ext cx="566928" cy="566928"/>
          </a:xfrm>
          <a:prstGeom prst="ellipse">
            <a:avLst/>
          </a:prstGeom>
          <a:solidFill>
            <a:srgbClr val="2D63FF"/>
          </a:solidFill>
          <a:ln/>
        </p:spPr>
      </p:sp>
      <p:sp>
        <p:nvSpPr>
          <p:cNvPr id="14" name="Text 12"/>
          <p:cNvSpPr txBox="1"/>
          <p:nvPr/>
        </p:nvSpPr>
        <p:spPr>
          <a:xfrm>
            <a:off x="548640" y="383133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15" name="Text 13"/>
          <p:cNvSpPr txBox="1"/>
          <p:nvPr/>
        </p:nvSpPr>
        <p:spPr>
          <a:xfrm>
            <a:off x="1325880" y="3831336"/>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Know how to split one line of a file into its separate fields and use them</a:t>
            </a:r>
            <a:endParaRPr lang="en-US" sz="1900" dirty="0"/>
          </a:p>
        </p:txBody>
      </p:sp>
      <p:sp>
        <p:nvSpPr>
          <p:cNvPr id="16" name="Text 14"/>
          <p:cNvSpPr txBox="1"/>
          <p:nvPr/>
        </p:nvSpPr>
        <p:spPr>
          <a:xfrm>
            <a:off x="548640" y="5084064"/>
            <a:ext cx="2743200" cy="320040"/>
          </a:xfrm>
          <a:prstGeom prst="rect">
            <a:avLst/>
          </a:prstGeom>
          <a:noFill/>
          <a:ln/>
        </p:spPr>
        <p:txBody>
          <a:bodyPr wrap="square" lIns="0" tIns="0" rIns="0" bIns="0" rtlCol="0" anchor="ctr"/>
          <a:lstStyle/>
          <a:p>
            <a:pPr indent="0" marL="0">
              <a:buNone/>
            </a:pPr>
            <a:r>
              <a:rPr lang="en-US" sz="1200" dirty="0">
                <a:solidFill>
                  <a:srgbClr val="667085"/>
                </a:solidFill>
                <a:latin typeface="IBM Plex Mono" pitchFamily="34" charset="0"/>
                <a:ea typeface="IBM Plex Mono" pitchFamily="34" charset="-122"/>
                <a:cs typeface="IBM Plex Mono" pitchFamily="34" charset="-120"/>
              </a:rPr>
              <a:t>Key words</a:t>
            </a:r>
            <a:endParaRPr lang="en-US" sz="1200" dirty="0"/>
          </a:p>
        </p:txBody>
      </p:sp>
      <p:sp>
        <p:nvSpPr>
          <p:cNvPr id="17" name="Shape 15"/>
          <p:cNvSpPr/>
          <p:nvPr/>
        </p:nvSpPr>
        <p:spPr>
          <a:xfrm>
            <a:off x="548640" y="5468112"/>
            <a:ext cx="2359152" cy="402336"/>
          </a:xfrm>
          <a:prstGeom prst="roundRect">
            <a:avLst>
              <a:gd name="adj" fmla="val 50000"/>
            </a:avLst>
          </a:prstGeom>
          <a:solidFill>
            <a:srgbClr val="FFFFFF"/>
          </a:solidFill>
          <a:ln w="12700">
            <a:solidFill>
              <a:srgbClr val="2D63FF"/>
            </a:solidFill>
            <a:prstDash val="solid"/>
          </a:ln>
        </p:spPr>
      </p:sp>
      <p:sp>
        <p:nvSpPr>
          <p:cNvPr id="18" name="Text 16"/>
          <p:cNvSpPr txBox="1"/>
          <p:nvPr/>
        </p:nvSpPr>
        <p:spPr>
          <a:xfrm>
            <a:off x="548640" y="5468112"/>
            <a:ext cx="2359152"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File handling</a:t>
            </a:r>
            <a:endParaRPr lang="en-US" sz="1200" dirty="0"/>
          </a:p>
        </p:txBody>
      </p:sp>
      <p:sp>
        <p:nvSpPr>
          <p:cNvPr id="19" name="Shape 17"/>
          <p:cNvSpPr/>
          <p:nvPr/>
        </p:nvSpPr>
        <p:spPr>
          <a:xfrm>
            <a:off x="3035808" y="5468112"/>
            <a:ext cx="1335024" cy="402336"/>
          </a:xfrm>
          <a:prstGeom prst="roundRect">
            <a:avLst>
              <a:gd name="adj" fmla="val 50000"/>
            </a:avLst>
          </a:prstGeom>
          <a:solidFill>
            <a:srgbClr val="FFFFFF"/>
          </a:solidFill>
          <a:ln w="12700">
            <a:solidFill>
              <a:srgbClr val="2D63FF"/>
            </a:solidFill>
            <a:prstDash val="solid"/>
          </a:ln>
        </p:spPr>
      </p:sp>
      <p:sp>
        <p:nvSpPr>
          <p:cNvPr id="20" name="Text 18"/>
          <p:cNvSpPr txBox="1"/>
          <p:nvPr/>
        </p:nvSpPr>
        <p:spPr>
          <a:xfrm>
            <a:off x="3035808" y="5468112"/>
            <a:ext cx="1335024"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open()</a:t>
            </a:r>
            <a:endParaRPr lang="en-US" sz="1200" dirty="0"/>
          </a:p>
        </p:txBody>
      </p:sp>
      <p:sp>
        <p:nvSpPr>
          <p:cNvPr id="21" name="Shape 19"/>
          <p:cNvSpPr/>
          <p:nvPr/>
        </p:nvSpPr>
        <p:spPr>
          <a:xfrm>
            <a:off x="4498848" y="5468112"/>
            <a:ext cx="1335024" cy="402336"/>
          </a:xfrm>
          <a:prstGeom prst="roundRect">
            <a:avLst>
              <a:gd name="adj" fmla="val 50000"/>
            </a:avLst>
          </a:prstGeom>
          <a:solidFill>
            <a:srgbClr val="FFFFFF"/>
          </a:solidFill>
          <a:ln w="12700">
            <a:solidFill>
              <a:srgbClr val="2D63FF"/>
            </a:solidFill>
            <a:prstDash val="solid"/>
          </a:ln>
        </p:spPr>
      </p:sp>
      <p:sp>
        <p:nvSpPr>
          <p:cNvPr id="22" name="Text 20"/>
          <p:cNvSpPr txBox="1"/>
          <p:nvPr/>
        </p:nvSpPr>
        <p:spPr>
          <a:xfrm>
            <a:off x="4498848" y="5468112"/>
            <a:ext cx="1335024"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read()</a:t>
            </a:r>
            <a:endParaRPr lang="en-US" sz="1200" dirty="0"/>
          </a:p>
        </p:txBody>
      </p:sp>
      <p:sp>
        <p:nvSpPr>
          <p:cNvPr id="23" name="Shape 21"/>
          <p:cNvSpPr/>
          <p:nvPr/>
        </p:nvSpPr>
        <p:spPr>
          <a:xfrm>
            <a:off x="5961888" y="5468112"/>
            <a:ext cx="2066544" cy="402336"/>
          </a:xfrm>
          <a:prstGeom prst="roundRect">
            <a:avLst>
              <a:gd name="adj" fmla="val 50000"/>
            </a:avLst>
          </a:prstGeom>
          <a:solidFill>
            <a:srgbClr val="FFFFFF"/>
          </a:solidFill>
          <a:ln w="12700">
            <a:solidFill>
              <a:srgbClr val="2D63FF"/>
            </a:solidFill>
            <a:prstDash val="solid"/>
          </a:ln>
        </p:spPr>
      </p:sp>
      <p:sp>
        <p:nvSpPr>
          <p:cNvPr id="24" name="Text 22"/>
          <p:cNvSpPr txBox="1"/>
          <p:nvPr/>
        </p:nvSpPr>
        <p:spPr>
          <a:xfrm>
            <a:off x="5961888" y="5468112"/>
            <a:ext cx="2066544"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readlines()</a:t>
            </a:r>
            <a:endParaRPr lang="en-US" sz="1200" dirty="0"/>
          </a:p>
        </p:txBody>
      </p:sp>
      <p:sp>
        <p:nvSpPr>
          <p:cNvPr id="25" name="Shape 23"/>
          <p:cNvSpPr/>
          <p:nvPr/>
        </p:nvSpPr>
        <p:spPr>
          <a:xfrm>
            <a:off x="8156448" y="5468112"/>
            <a:ext cx="1920240" cy="402336"/>
          </a:xfrm>
          <a:prstGeom prst="roundRect">
            <a:avLst>
              <a:gd name="adj" fmla="val 50000"/>
            </a:avLst>
          </a:prstGeom>
          <a:solidFill>
            <a:srgbClr val="FFFFFF"/>
          </a:solidFill>
          <a:ln w="12700">
            <a:solidFill>
              <a:srgbClr val="2D63FF"/>
            </a:solidFill>
            <a:prstDash val="solid"/>
          </a:ln>
        </p:spPr>
      </p:sp>
      <p:sp>
        <p:nvSpPr>
          <p:cNvPr id="26" name="Text 24"/>
          <p:cNvSpPr txBox="1"/>
          <p:nvPr/>
        </p:nvSpPr>
        <p:spPr>
          <a:xfrm>
            <a:off x="8156448" y="5468112"/>
            <a:ext cx="1920240"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Write mode</a:t>
            </a:r>
            <a:endParaRPr lang="en-US" sz="1200" dirty="0"/>
          </a:p>
        </p:txBody>
      </p:sp>
      <p:sp>
        <p:nvSpPr>
          <p:cNvPr id="27" name="Shape 25"/>
          <p:cNvSpPr/>
          <p:nvPr/>
        </p:nvSpPr>
        <p:spPr>
          <a:xfrm>
            <a:off x="10204704" y="5468112"/>
            <a:ext cx="1335024" cy="402336"/>
          </a:xfrm>
          <a:prstGeom prst="roundRect">
            <a:avLst>
              <a:gd name="adj" fmla="val 50000"/>
            </a:avLst>
          </a:prstGeom>
          <a:solidFill>
            <a:srgbClr val="FFFFFF"/>
          </a:solidFill>
          <a:ln w="12700">
            <a:solidFill>
              <a:srgbClr val="2D63FF"/>
            </a:solidFill>
            <a:prstDash val="solid"/>
          </a:ln>
        </p:spPr>
      </p:sp>
      <p:sp>
        <p:nvSpPr>
          <p:cNvPr id="28" name="Text 26"/>
          <p:cNvSpPr txBox="1"/>
          <p:nvPr/>
        </p:nvSpPr>
        <p:spPr>
          <a:xfrm>
            <a:off x="10204704" y="5468112"/>
            <a:ext cx="1335024"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Record</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10</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57200"/>
            <a:ext cx="2103120" cy="457200"/>
          </a:xfrm>
          <a:prstGeom prst="roundRect">
            <a:avLst>
              <a:gd name="adj" fmla="val 20000"/>
            </a:avLst>
          </a:prstGeom>
          <a:solidFill>
            <a:srgbClr val="F4B942"/>
          </a:solidFill>
          <a:ln/>
        </p:spPr>
      </p:sp>
      <p:sp>
        <p:nvSpPr>
          <p:cNvPr id="6" name="Text 4"/>
          <p:cNvSpPr txBox="1"/>
          <p:nvPr/>
        </p:nvSpPr>
        <p:spPr>
          <a:xfrm>
            <a:off x="502920" y="457200"/>
            <a:ext cx="2103120" cy="457200"/>
          </a:xfrm>
          <a:prstGeom prst="rect">
            <a:avLst/>
          </a:prstGeom>
          <a:noFill/>
          <a:ln/>
        </p:spPr>
        <p:txBody>
          <a:bodyPr wrap="square" lIns="0" tIns="0" rIns="0" bIns="0" rtlCol="0" anchor="ctr"/>
          <a:lstStyle/>
          <a:p>
            <a:pPr algn="ctr" indent="0" marL="0">
              <a:buNone/>
            </a:pPr>
            <a:r>
              <a:rPr lang="en-US" sz="1300" b="1" dirty="0">
                <a:solidFill>
                  <a:srgbClr val="101828"/>
                </a:solidFill>
                <a:latin typeface="IBM Plex Mono" pitchFamily="34" charset="0"/>
                <a:ea typeface="IBM Plex Mono" pitchFamily="34" charset="-122"/>
                <a:cs typeface="IBM Plex Mono" pitchFamily="34" charset="-120"/>
              </a:rPr>
              <a:t>STARTER</a:t>
            </a:r>
            <a:endParaRPr lang="en-US" sz="1300" dirty="0"/>
          </a:p>
        </p:txBody>
      </p:sp>
      <p:sp>
        <p:nvSpPr>
          <p:cNvPr id="7" name="Text 5"/>
          <p:cNvSpPr txBox="1"/>
          <p:nvPr/>
        </p:nvSpPr>
        <p:spPr>
          <a:xfrm>
            <a:off x="2788920" y="457200"/>
            <a:ext cx="5486400" cy="457200"/>
          </a:xfrm>
          <a:prstGeom prst="rect">
            <a:avLst/>
          </a:prstGeom>
          <a:noFill/>
          <a:ln/>
        </p:spPr>
        <p:txBody>
          <a:bodyPr wrap="square" lIns="0" tIns="0" rIns="0" bIns="0" rtlCol="0" anchor="ctr"/>
          <a:lstStyle/>
          <a:p>
            <a:pPr indent="0" marL="0">
              <a:buNone/>
            </a:pPr>
            <a:r>
              <a:rPr lang="en-US" sz="1400" dirty="0">
                <a:solidFill>
                  <a:srgbClr val="667085"/>
                </a:solidFill>
                <a:latin typeface="IBM Plex Sans" pitchFamily="34" charset="0"/>
                <a:ea typeface="IBM Plex Sans" pitchFamily="34" charset="-122"/>
                <a:cs typeface="IBM Plex Sans" pitchFamily="34" charset="-120"/>
              </a:rPr>
              <a:t>Five minutes, on paper</a:t>
            </a:r>
            <a:endParaRPr lang="en-US" sz="1400" dirty="0"/>
          </a:p>
        </p:txBody>
      </p:sp>
      <p:sp>
        <p:nvSpPr>
          <p:cNvPr id="8" name="Shape 6"/>
          <p:cNvSpPr/>
          <p:nvPr/>
        </p:nvSpPr>
        <p:spPr>
          <a:xfrm>
            <a:off x="502920" y="1234440"/>
            <a:ext cx="11155680" cy="3200400"/>
          </a:xfrm>
          <a:prstGeom prst="roundRect">
            <a:avLst>
              <a:gd name="adj" fmla="val 3429"/>
            </a:avLst>
          </a:prstGeom>
          <a:solidFill>
            <a:srgbClr val="FFFFFF"/>
          </a:solidFill>
          <a:ln w="15875">
            <a:solidFill>
              <a:srgbClr val="2D63FF"/>
            </a:solidFill>
            <a:prstDash val="solid"/>
          </a:ln>
        </p:spPr>
      </p:sp>
      <p:sp>
        <p:nvSpPr>
          <p:cNvPr id="9" name="Text 7"/>
          <p:cNvSpPr txBox="1"/>
          <p:nvPr/>
        </p:nvSpPr>
        <p:spPr>
          <a:xfrm>
            <a:off x="1005840" y="1645920"/>
            <a:ext cx="10149840" cy="2377440"/>
          </a:xfrm>
          <a:prstGeom prst="rect">
            <a:avLst/>
          </a:prstGeom>
          <a:noFill/>
          <a:ln/>
        </p:spPr>
        <p:txBody>
          <a:bodyPr wrap="square" lIns="0" tIns="0" rIns="0" bIns="0" rtlCol="0" anchor="ctr"/>
          <a:lstStyle/>
          <a:p>
            <a:pPr indent="0" marL="0">
              <a:lnSpc>
                <a:spcPct val="130000"/>
              </a:lnSpc>
              <a:buNone/>
            </a:pPr>
            <a:r>
              <a:rPr lang="en-US" sz="2600" dirty="0">
                <a:solidFill>
                  <a:srgbClr val="101828"/>
                </a:solidFill>
                <a:latin typeface="IBM Plex Sans" pitchFamily="34" charset="0"/>
                <a:ea typeface="IBM Plex Sans" pitchFamily="34" charset="-122"/>
                <a:cs typeface="IBM Plex Sans" pitchFamily="34" charset="-120"/>
              </a:rPr>
              <a:t>A program opens scores.txt in write mode, and the file already holds 40 lines. Write down what the file holds the moment that line has run, and which mode should have been used to add to it instead.</a:t>
            </a:r>
            <a:endParaRPr lang="en-US" sz="2600" dirty="0"/>
          </a:p>
        </p:txBody>
      </p:sp>
      <p:sp>
        <p:nvSpPr>
          <p:cNvPr id="10" name="Text 8"/>
          <p:cNvSpPr txBox="1"/>
          <p:nvPr/>
        </p:nvSpPr>
        <p:spPr>
          <a:xfrm>
            <a:off x="502920" y="4709160"/>
            <a:ext cx="11155680" cy="45720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No devices yet. Write your answer on the worksheet before anyone talks.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10</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Into the experience</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Open File handling on revise360.co.uk</a:t>
            </a:r>
            <a:endParaRPr lang="en-US" sz="1500" dirty="0"/>
          </a:p>
        </p:txBody>
      </p:sp>
      <p:sp>
        <p:nvSpPr>
          <p:cNvPr id="7" name="Shape 5"/>
          <p:cNvSpPr/>
          <p:nvPr/>
        </p:nvSpPr>
        <p:spPr>
          <a:xfrm>
            <a:off x="548640" y="1874520"/>
            <a:ext cx="566928" cy="566928"/>
          </a:xfrm>
          <a:prstGeom prst="ellipse">
            <a:avLst/>
          </a:prstGeom>
          <a:solidFill>
            <a:srgbClr val="08A6A6"/>
          </a:solidFill>
          <a:ln/>
        </p:spPr>
      </p:sp>
      <p:sp>
        <p:nvSpPr>
          <p:cNvPr id="8" name="Text 6"/>
          <p:cNvSpPr txBox="1"/>
          <p:nvPr/>
        </p:nvSpPr>
        <p:spPr>
          <a:xfrm>
            <a:off x="548640" y="187452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9" name="Text 7"/>
          <p:cNvSpPr txBox="1"/>
          <p:nvPr/>
        </p:nvSpPr>
        <p:spPr>
          <a:xfrm>
            <a:off x="1325880" y="1856232"/>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Look around</a:t>
            </a:r>
            <a:endParaRPr lang="en-US" sz="1700" dirty="0"/>
          </a:p>
        </p:txBody>
      </p:sp>
      <p:sp>
        <p:nvSpPr>
          <p:cNvPr id="10" name="Text 8"/>
          <p:cNvSpPr txBox="1"/>
          <p:nvPr/>
        </p:nvSpPr>
        <p:spPr>
          <a:xfrm>
            <a:off x="1325880" y="2148840"/>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Six numbered stations are arranged around you. Turn right for 1 and 2, around for 3 and 4, left for 5 and 6.</a:t>
            </a:r>
            <a:endParaRPr lang="en-US" sz="1400" dirty="0"/>
          </a:p>
        </p:txBody>
      </p:sp>
      <p:sp>
        <p:nvSpPr>
          <p:cNvPr id="11" name="Shape 9"/>
          <p:cNvSpPr/>
          <p:nvPr/>
        </p:nvSpPr>
        <p:spPr>
          <a:xfrm>
            <a:off x="548640" y="2898648"/>
            <a:ext cx="566928" cy="566928"/>
          </a:xfrm>
          <a:prstGeom prst="ellipse">
            <a:avLst/>
          </a:prstGeom>
          <a:solidFill>
            <a:srgbClr val="08A6A6"/>
          </a:solidFill>
          <a:ln/>
        </p:spPr>
      </p:sp>
      <p:sp>
        <p:nvSpPr>
          <p:cNvPr id="12" name="Text 10"/>
          <p:cNvSpPr txBox="1"/>
          <p:nvPr/>
        </p:nvSpPr>
        <p:spPr>
          <a:xfrm>
            <a:off x="548640" y="28986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13" name="Text 11"/>
          <p:cNvSpPr txBox="1"/>
          <p:nvPr/>
        </p:nvSpPr>
        <p:spPr>
          <a:xfrm>
            <a:off x="1325880" y="2880360"/>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Plan before you type</a:t>
            </a:r>
            <a:endParaRPr lang="en-US" sz="1700" dirty="0"/>
          </a:p>
        </p:txBody>
      </p:sp>
      <p:sp>
        <p:nvSpPr>
          <p:cNvPr id="14" name="Text 12"/>
          <p:cNvSpPr txBox="1"/>
          <p:nvPr/>
        </p:nvSpPr>
        <p:spPr>
          <a:xfrm>
            <a:off x="1325880" y="3172968"/>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Read the task and its brief. Work out the inputs, what happens to them, and exactly what is printed.</a:t>
            </a:r>
            <a:endParaRPr lang="en-US" sz="1400" dirty="0"/>
          </a:p>
        </p:txBody>
      </p:sp>
      <p:sp>
        <p:nvSpPr>
          <p:cNvPr id="15" name="Shape 13"/>
          <p:cNvSpPr/>
          <p:nvPr/>
        </p:nvSpPr>
        <p:spPr>
          <a:xfrm>
            <a:off x="548640" y="3922776"/>
            <a:ext cx="566928" cy="566928"/>
          </a:xfrm>
          <a:prstGeom prst="ellipse">
            <a:avLst/>
          </a:prstGeom>
          <a:solidFill>
            <a:srgbClr val="08A6A6"/>
          </a:solidFill>
          <a:ln/>
        </p:spPr>
      </p:sp>
      <p:sp>
        <p:nvSpPr>
          <p:cNvPr id="16" name="Text 14"/>
          <p:cNvSpPr txBox="1"/>
          <p:nvPr/>
        </p:nvSpPr>
        <p:spPr>
          <a:xfrm>
            <a:off x="548640" y="392277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17" name="Text 15"/>
          <p:cNvSpPr txBox="1"/>
          <p:nvPr/>
        </p:nvSpPr>
        <p:spPr>
          <a:xfrm>
            <a:off x="1325880" y="3904488"/>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Write it and run it</a:t>
            </a:r>
            <a:endParaRPr lang="en-US" sz="1700" dirty="0"/>
          </a:p>
        </p:txBody>
      </p:sp>
      <p:sp>
        <p:nvSpPr>
          <p:cNvPr id="18" name="Text 16"/>
          <p:cNvSpPr txBox="1"/>
          <p:nvPr/>
        </p:nvSpPr>
        <p:spPr>
          <a:xfrm>
            <a:off x="1325880" y="4197096"/>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Type the program in the editor and press Run to see what it does. Then press Check to mark it against the tests.</a:t>
            </a:r>
            <a:endParaRPr lang="en-US" sz="1400" dirty="0"/>
          </a:p>
        </p:txBody>
      </p:sp>
      <p:sp>
        <p:nvSpPr>
          <p:cNvPr id="19" name="Shape 17"/>
          <p:cNvSpPr/>
          <p:nvPr/>
        </p:nvSpPr>
        <p:spPr>
          <a:xfrm>
            <a:off x="548640" y="4946904"/>
            <a:ext cx="566928" cy="566928"/>
          </a:xfrm>
          <a:prstGeom prst="ellipse">
            <a:avLst/>
          </a:prstGeom>
          <a:solidFill>
            <a:srgbClr val="F4B942"/>
          </a:solidFill>
          <a:ln/>
        </p:spPr>
      </p:sp>
      <p:sp>
        <p:nvSpPr>
          <p:cNvPr id="20" name="Text 18"/>
          <p:cNvSpPr txBox="1"/>
          <p:nvPr/>
        </p:nvSpPr>
        <p:spPr>
          <a:xfrm>
            <a:off x="548640" y="4946904"/>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4</a:t>
            </a:r>
            <a:endParaRPr lang="en-US" sz="2000" dirty="0"/>
          </a:p>
        </p:txBody>
      </p:sp>
      <p:sp>
        <p:nvSpPr>
          <p:cNvPr id="21" name="Text 19"/>
          <p:cNvSpPr txBox="1"/>
          <p:nvPr/>
        </p:nvSpPr>
        <p:spPr>
          <a:xfrm>
            <a:off x="1325880" y="4928616"/>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Read the failures</a:t>
            </a:r>
            <a:endParaRPr lang="en-US" sz="1700" dirty="0"/>
          </a:p>
        </p:txBody>
      </p:sp>
      <p:sp>
        <p:nvSpPr>
          <p:cNvPr id="22" name="Text 20"/>
          <p:cNvSpPr txBox="1"/>
          <p:nvPr/>
        </p:nvSpPr>
        <p:spPr>
          <a:xfrm>
            <a:off x="1325880" y="5221224"/>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A test that fails tells you what was expected and what came out. Fix and run it again - that is what programmers do.</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10</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1</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Reading a whole file</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open(name, "r") opens a file for reading and hands back a file object.</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.read() gives the whole file as one string, and .close() lets go of it when you are done.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Common mistake: opening a file that is not there, which stops the program with an error.</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Why should a program close a file as soon as it has finished with it?</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Leaving a file open can keep other programs out of it, and can lose anything not yet...</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10</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2</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Reading line by line</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.readline() reads one line, while .readlines() gives a list of every line.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Each line still carries its newline, so .strip() tidies that off before you use it.</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Common mistake: measuring a line before stripping it, which counts the newline as a character.</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Why is a stripped line one character shorter than the line that was read?</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A newline is one single invisible character, which is why a stripped line is one character...</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10</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3</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Writing to a file</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open(name, "w") opens a file for writing and empties whatever was in it.</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.write() adds no newline of its own, so put a newline on the end of each line yourself.</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Common mistake: using write mode on a file you meant to add to, which wipes it completely.</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What happens to the contents of a file the moment it is opened in w mode?</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Write mode makes the file when it is not there and empties it when it is, so the one thing it never does is...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10</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4</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4</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Adding to a file</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open(name, "a") is append mode: new text goes on the end and nothing already there is lost.</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Use it whenever the lines the file already holds have to survive the run.</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Common mistake: leaving the newline out, so the new text runs straight into the last line.</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Which mode keeps what a file already holds, and why would you not use the other one?</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Three modes cover everything you need: r reads, w starts the file again from empty and a...</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10</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5</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5</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Records in a file</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record is one line of the file, and its fields are the parts separated by a comma.</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.split(",") breaks a line into a list of its fields.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Common mistake: splitting before stripping, which leaves a newline stuck on the last field.</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How does a program find the one record whose first field matches what was typed in?</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A file of comma-separated records has a name of its own, and a spreadsheet opens one straight away: it is a...</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10</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6</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6</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Putting it together</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Read the whole file first, close it, then work on the lines you are holding.</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program can read one file and write a second one in the same run.</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Common mistake: looping over a file you have already closed, or reading and writing one file at once.</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Which of two files does a program open in which mode, when it reads one and writes the other?</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A stray blank line at the end of a file is very common, so a careful program checks each line before it...</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10</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38912"/>
            <a:ext cx="3108960" cy="502920"/>
          </a:xfrm>
          <a:prstGeom prst="roundRect">
            <a:avLst>
              <a:gd name="adj" fmla="val 18182"/>
            </a:avLst>
          </a:prstGeom>
          <a:solidFill>
            <a:srgbClr val="F4B942"/>
          </a:solidFill>
          <a:ln/>
        </p:spPr>
      </p:sp>
      <p:sp>
        <p:nvSpPr>
          <p:cNvPr id="6" name="Text 4"/>
          <p:cNvSpPr txBox="1"/>
          <p:nvPr/>
        </p:nvSpPr>
        <p:spPr>
          <a:xfrm>
            <a:off x="502920" y="438912"/>
            <a:ext cx="3108960" cy="502920"/>
          </a:xfrm>
          <a:prstGeom prst="rect">
            <a:avLst/>
          </a:prstGeom>
          <a:noFill/>
          <a:ln/>
        </p:spPr>
        <p:txBody>
          <a:bodyPr wrap="square" lIns="0" tIns="0" rIns="0" bIns="0" rtlCol="0" anchor="ctr"/>
          <a:lstStyle/>
          <a:p>
            <a:pPr algn="ctr" indent="0" marL="0">
              <a:buNone/>
            </a:pPr>
            <a:r>
              <a:rPr lang="en-US" sz="1300" b="1" dirty="0">
                <a:solidFill>
                  <a:srgbClr val="101828"/>
                </a:solidFill>
                <a:latin typeface="IBM Plex Mono" pitchFamily="34" charset="0"/>
                <a:ea typeface="IBM Plex Mono" pitchFamily="34" charset="-122"/>
                <a:cs typeface="IBM Plex Mono" pitchFamily="34" charset="-120"/>
              </a:rPr>
              <a:t>★  FINAL CHALLENGE</a:t>
            </a:r>
            <a:endParaRPr lang="en-US" sz="1300" dirty="0"/>
          </a:p>
        </p:txBody>
      </p:sp>
      <p:sp>
        <p:nvSpPr>
          <p:cNvPr id="7" name="Text 5"/>
          <p:cNvSpPr txBox="1"/>
          <p:nvPr/>
        </p:nvSpPr>
        <p:spPr>
          <a:xfrm>
            <a:off x="502920" y="1097280"/>
            <a:ext cx="11155680" cy="731520"/>
          </a:xfrm>
          <a:prstGeom prst="rect">
            <a:avLst/>
          </a:prstGeom>
          <a:noFill/>
          <a:ln/>
        </p:spPr>
        <p:txBody>
          <a:bodyPr wrap="square" lIns="0" tIns="0" rIns="0" bIns="0" rtlCol="0" anchor="ctr"/>
          <a:lstStyle/>
          <a:p>
            <a:pPr indent="0" marL="0">
              <a:buNone/>
            </a:pPr>
            <a:r>
              <a:rPr lang="en-US" sz="3400" b="1" dirty="0">
                <a:solidFill>
                  <a:srgbClr val="101828"/>
                </a:solidFill>
                <a:latin typeface="IBM Plex Sans" pitchFamily="34" charset="0"/>
                <a:ea typeface="IBM Plex Sans" pitchFamily="34" charset="-122"/>
                <a:cs typeface="IBM Plex Sans" pitchFamily="34" charset="-120"/>
              </a:rPr>
              <a:t>Which mode?</a:t>
            </a:r>
            <a:endParaRPr lang="en-US" sz="3400" dirty="0"/>
          </a:p>
        </p:txBody>
      </p:sp>
      <p:sp>
        <p:nvSpPr>
          <p:cNvPr id="8" name="Shape 6"/>
          <p:cNvSpPr/>
          <p:nvPr/>
        </p:nvSpPr>
        <p:spPr>
          <a:xfrm>
            <a:off x="502920" y="2011680"/>
            <a:ext cx="11155680" cy="2194560"/>
          </a:xfrm>
          <a:prstGeom prst="roundRect">
            <a:avLst>
              <a:gd name="adj" fmla="val 5000"/>
            </a:avLst>
          </a:prstGeom>
          <a:solidFill>
            <a:srgbClr val="FFFFFF"/>
          </a:solidFill>
          <a:ln w="15875">
            <a:solidFill>
              <a:srgbClr val="2D63FF"/>
            </a:solidFill>
            <a:prstDash val="solid"/>
          </a:ln>
        </p:spPr>
      </p:sp>
      <p:sp>
        <p:nvSpPr>
          <p:cNvPr id="9" name="Text 7"/>
          <p:cNvSpPr txBox="1"/>
          <p:nvPr/>
        </p:nvSpPr>
        <p:spPr>
          <a:xfrm>
            <a:off x="1005840" y="2331720"/>
            <a:ext cx="10149840" cy="1554480"/>
          </a:xfrm>
          <a:prstGeom prst="rect">
            <a:avLst/>
          </a:prstGeom>
          <a:noFill/>
          <a:ln/>
        </p:spPr>
        <p:txBody>
          <a:bodyPr wrap="square" lIns="0" tIns="0" rIns="0" bIns="0" rtlCol="0" anchor="ctr"/>
          <a:lstStyle/>
          <a:p>
            <a:pPr indent="0" marL="0">
              <a:lnSpc>
                <a:spcPct val="130000"/>
              </a:lnSpc>
              <a:buNone/>
            </a:pPr>
            <a:r>
              <a:rPr lang="en-US" sz="2200" dirty="0">
                <a:solidFill>
                  <a:srgbClr val="101828"/>
                </a:solidFill>
                <a:latin typeface="IBM Plex Sans" pitchFamily="34" charset="0"/>
                <a:ea typeface="IBM Plex Sans" pitchFamily="34" charset="-122"/>
                <a:cs typeface="IBM Plex Sans" pitchFamily="34" charset="-120"/>
              </a:rPr>
              <a:t>Eight jobs are listed on the floor below you. Tap the star and choose the file mode each one needs.</a:t>
            </a:r>
            <a:endParaRPr lang="en-US" sz="2200" dirty="0"/>
          </a:p>
        </p:txBody>
      </p:sp>
      <p:sp>
        <p:nvSpPr>
          <p:cNvPr id="10" name="Text 8"/>
          <p:cNvSpPr txBox="1"/>
          <p:nvPr/>
        </p:nvSpPr>
        <p:spPr>
          <a:xfrm>
            <a:off x="502920" y="4526280"/>
            <a:ext cx="11155680" cy="457200"/>
          </a:xfrm>
          <a:prstGeom prst="rect">
            <a:avLst/>
          </a:prstGeom>
          <a:noFill/>
          <a:ln/>
        </p:spPr>
        <p:txBody>
          <a:bodyPr wrap="square" lIns="0" tIns="0" rIns="0" bIns="0" rtlCol="0" anchor="ctr"/>
          <a:lstStyle/>
          <a:p>
            <a:pPr indent="0" marL="0">
              <a:buNone/>
            </a:pPr>
            <a:r>
              <a:rPr lang="en-US" sz="1600" dirty="0">
                <a:solidFill>
                  <a:srgbClr val="667085"/>
                </a:solidFill>
                <a:latin typeface="IBM Plex Sans" pitchFamily="34" charset="0"/>
                <a:ea typeface="IBM Plex Sans" pitchFamily="34" charset="-122"/>
                <a:cs typeface="IBM Plex Sans" pitchFamily="34" charset="-120"/>
              </a:rPr>
              <a:t>Predict on paper first, then look down and test it.</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10</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Worth knowing</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The information markers dotted around the room</a:t>
            </a:r>
            <a:endParaRPr lang="en-US" sz="1500" dirty="0"/>
          </a:p>
        </p:txBody>
      </p:sp>
      <p:sp>
        <p:nvSpPr>
          <p:cNvPr id="7" name="Shape 5"/>
          <p:cNvSpPr/>
          <p:nvPr/>
        </p:nvSpPr>
        <p:spPr>
          <a:xfrm>
            <a:off x="502920" y="1828800"/>
            <a:ext cx="5394960" cy="1737360"/>
          </a:xfrm>
          <a:prstGeom prst="roundRect">
            <a:avLst>
              <a:gd name="adj" fmla="val 6316"/>
            </a:avLst>
          </a:prstGeom>
          <a:solidFill>
            <a:srgbClr val="FFFFFF"/>
          </a:solidFill>
          <a:ln w="15875">
            <a:solidFill>
              <a:srgbClr val="2D63FF"/>
            </a:solidFill>
            <a:prstDash val="solid"/>
          </a:ln>
        </p:spPr>
      </p:sp>
      <p:sp>
        <p:nvSpPr>
          <p:cNvPr id="8" name="Text 6"/>
          <p:cNvSpPr txBox="1"/>
          <p:nvPr/>
        </p:nvSpPr>
        <p:spPr>
          <a:xfrm>
            <a:off x="822960" y="2011680"/>
            <a:ext cx="4754880" cy="36576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Where it looks</a:t>
            </a:r>
            <a:endParaRPr lang="en-US" sz="1600" dirty="0"/>
          </a:p>
        </p:txBody>
      </p:sp>
      <p:sp>
        <p:nvSpPr>
          <p:cNvPr id="9" name="Text 7"/>
          <p:cNvSpPr txBox="1"/>
          <p:nvPr/>
        </p:nvSpPr>
        <p:spPr>
          <a:xfrm>
            <a:off x="822960" y="239572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A program looks for a file in the folder it is running in, unless you give it a fuller path.</a:t>
            </a:r>
            <a:endParaRPr lang="en-US" sz="1300" dirty="0"/>
          </a:p>
        </p:txBody>
      </p:sp>
      <p:sp>
        <p:nvSpPr>
          <p:cNvPr id="10" name="Shape 8"/>
          <p:cNvSpPr/>
          <p:nvPr/>
        </p:nvSpPr>
        <p:spPr>
          <a:xfrm>
            <a:off x="6217920" y="1828800"/>
            <a:ext cx="5394960" cy="1737360"/>
          </a:xfrm>
          <a:prstGeom prst="roundRect">
            <a:avLst>
              <a:gd name="adj" fmla="val 6316"/>
            </a:avLst>
          </a:prstGeom>
          <a:solidFill>
            <a:srgbClr val="FFFFFF"/>
          </a:solidFill>
          <a:ln w="15875">
            <a:solidFill>
              <a:srgbClr val="08A6A6"/>
            </a:solidFill>
            <a:prstDash val="solid"/>
          </a:ln>
        </p:spPr>
      </p:sp>
      <p:sp>
        <p:nvSpPr>
          <p:cNvPr id="11" name="Text 9"/>
          <p:cNvSpPr txBox="1"/>
          <p:nvPr/>
        </p:nvSpPr>
        <p:spPr>
          <a:xfrm>
            <a:off x="6537960" y="2011680"/>
            <a:ext cx="4754880" cy="365760"/>
          </a:xfrm>
          <a:prstGeom prst="rect">
            <a:avLst/>
          </a:prstGeom>
          <a:noFill/>
          <a:ln/>
        </p:spPr>
        <p:txBody>
          <a:bodyPr wrap="square" lIns="0" tIns="0" rIns="0" bIns="0" rtlCol="0" anchor="ctr"/>
          <a:lstStyle/>
          <a:p>
            <a:pPr indent="0" marL="0">
              <a:buNone/>
            </a:pPr>
            <a:r>
              <a:rPr lang="en-US" sz="1600" b="1" dirty="0">
                <a:solidFill>
                  <a:srgbClr val="08A6A6"/>
                </a:solidFill>
                <a:latin typeface="IBM Plex Sans" pitchFamily="34" charset="0"/>
                <a:ea typeface="IBM Plex Sans" pitchFamily="34" charset="-122"/>
                <a:cs typeface="IBM Plex Sans" pitchFamily="34" charset="-120"/>
              </a:rPr>
              <a:t>One line at a time</a:t>
            </a:r>
            <a:endParaRPr lang="en-US" sz="1600" dirty="0"/>
          </a:p>
        </p:txBody>
      </p:sp>
      <p:sp>
        <p:nvSpPr>
          <p:cNvPr id="12" name="Text 10"/>
          <p:cNvSpPr txBox="1"/>
          <p:nvPr/>
        </p:nvSpPr>
        <p:spPr>
          <a:xfrm>
            <a:off x="6537960" y="239572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Looping straight over the file object reads it a line at a time, which matters when a file is too big to fit in memory.</a:t>
            </a:r>
            <a:endParaRPr lang="en-US" sz="1300" dirty="0"/>
          </a:p>
        </p:txBody>
      </p:sp>
      <p:sp>
        <p:nvSpPr>
          <p:cNvPr id="13" name="Shape 11"/>
          <p:cNvSpPr/>
          <p:nvPr/>
        </p:nvSpPr>
        <p:spPr>
          <a:xfrm>
            <a:off x="502920" y="3794760"/>
            <a:ext cx="5394960" cy="1737360"/>
          </a:xfrm>
          <a:prstGeom prst="roundRect">
            <a:avLst>
              <a:gd name="adj" fmla="val 6316"/>
            </a:avLst>
          </a:prstGeom>
          <a:solidFill>
            <a:srgbClr val="FFFFFF"/>
          </a:solidFill>
          <a:ln w="15875">
            <a:solidFill>
              <a:srgbClr val="2D63FF"/>
            </a:solidFill>
            <a:prstDash val="solid"/>
          </a:ln>
        </p:spPr>
      </p:sp>
      <p:sp>
        <p:nvSpPr>
          <p:cNvPr id="14" name="Text 12"/>
          <p:cNvSpPr txBox="1"/>
          <p:nvPr/>
        </p:nvSpPr>
        <p:spPr>
          <a:xfrm>
            <a:off x="822960" y="3977640"/>
            <a:ext cx="4754880" cy="36576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No undo</a:t>
            </a:r>
            <a:endParaRPr lang="en-US" sz="1600" dirty="0"/>
          </a:p>
        </p:txBody>
      </p:sp>
      <p:sp>
        <p:nvSpPr>
          <p:cNvPr id="15" name="Text 13"/>
          <p:cNvSpPr txBox="1"/>
          <p:nvPr/>
        </p:nvSpPr>
        <p:spPr>
          <a:xfrm>
            <a:off x="822960" y="436168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Write mode empties the file the instant it opens, before you have written anything at all.</a:t>
            </a:r>
            <a:endParaRPr lang="en-US" sz="1300" dirty="0"/>
          </a:p>
        </p:txBody>
      </p:sp>
      <p:sp>
        <p:nvSpPr>
          <p:cNvPr id="16" name="Shape 14"/>
          <p:cNvSpPr/>
          <p:nvPr/>
        </p:nvSpPr>
        <p:spPr>
          <a:xfrm>
            <a:off x="6217920" y="3794760"/>
            <a:ext cx="5394960" cy="1737360"/>
          </a:xfrm>
          <a:prstGeom prst="roundRect">
            <a:avLst>
              <a:gd name="adj" fmla="val 6316"/>
            </a:avLst>
          </a:prstGeom>
          <a:solidFill>
            <a:srgbClr val="FFFFFF"/>
          </a:solidFill>
          <a:ln w="15875">
            <a:solidFill>
              <a:srgbClr val="08A6A6"/>
            </a:solidFill>
            <a:prstDash val="solid"/>
          </a:ln>
        </p:spPr>
      </p:sp>
      <p:sp>
        <p:nvSpPr>
          <p:cNvPr id="17" name="Text 15"/>
          <p:cNvSpPr txBox="1"/>
          <p:nvPr/>
        </p:nvSpPr>
        <p:spPr>
          <a:xfrm>
            <a:off x="6537960" y="3977640"/>
            <a:ext cx="4754880" cy="365760"/>
          </a:xfrm>
          <a:prstGeom prst="rect">
            <a:avLst/>
          </a:prstGeom>
          <a:noFill/>
          <a:ln/>
        </p:spPr>
        <p:txBody>
          <a:bodyPr wrap="square" lIns="0" tIns="0" rIns="0" bIns="0" rtlCol="0" anchor="ctr"/>
          <a:lstStyle/>
          <a:p>
            <a:pPr indent="0" marL="0">
              <a:buNone/>
            </a:pPr>
            <a:r>
              <a:rPr lang="en-US" sz="1600" b="1" dirty="0">
                <a:solidFill>
                  <a:srgbClr val="08A6A6"/>
                </a:solidFill>
                <a:latin typeface="IBM Plex Sans" pitchFamily="34" charset="0"/>
                <a:ea typeface="IBM Plex Sans" pitchFamily="34" charset="-122"/>
                <a:cs typeface="IBM Plex Sans" pitchFamily="34" charset="-120"/>
              </a:rPr>
              <a:t>Why append exists</a:t>
            </a:r>
            <a:endParaRPr lang="en-US" sz="1600" dirty="0"/>
          </a:p>
        </p:txBody>
      </p:sp>
      <p:sp>
        <p:nvSpPr>
          <p:cNvPr id="18" name="Text 16"/>
          <p:cNvSpPr txBox="1"/>
          <p:nvPr/>
        </p:nvSpPr>
        <p:spPr>
          <a:xfrm>
            <a:off x="6537960" y="436168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Append mode adds to the end without touching a single line already in the file. That is what makes it the safe mode for a file that is added to over and over.</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10</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Exam practice</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Devices away. Answer from memory on the worksheet.</a:t>
            </a:r>
            <a:endParaRPr lang="en-US" sz="1500" dirty="0"/>
          </a:p>
        </p:txBody>
      </p:sp>
      <p:sp>
        <p:nvSpPr>
          <p:cNvPr id="7" name="Shape 5"/>
          <p:cNvSpPr/>
          <p:nvPr/>
        </p:nvSpPr>
        <p:spPr>
          <a:xfrm>
            <a:off x="502920" y="1828800"/>
            <a:ext cx="11155680" cy="1097280"/>
          </a:xfrm>
          <a:prstGeom prst="roundRect">
            <a:avLst>
              <a:gd name="adj" fmla="val 10000"/>
            </a:avLst>
          </a:prstGeom>
          <a:solidFill>
            <a:srgbClr val="FFFFFF"/>
          </a:solidFill>
          <a:ln w="15875">
            <a:solidFill>
              <a:srgbClr val="D9DEE7"/>
            </a:solidFill>
            <a:prstDash val="solid"/>
          </a:ln>
        </p:spPr>
      </p:sp>
      <p:sp>
        <p:nvSpPr>
          <p:cNvPr id="8" name="Text 6"/>
          <p:cNvSpPr txBox="1"/>
          <p:nvPr/>
        </p:nvSpPr>
        <p:spPr>
          <a:xfrm>
            <a:off x="914400" y="1938528"/>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Every line read from a file is measured with len(), and each answer comes out one character bigger than expected. Name the character being counted, and write the line that removes it.</a:t>
            </a:r>
            <a:endParaRPr lang="en-US" sz="1700" dirty="0"/>
          </a:p>
        </p:txBody>
      </p:sp>
      <p:sp>
        <p:nvSpPr>
          <p:cNvPr id="9" name="Shape 7"/>
          <p:cNvSpPr/>
          <p:nvPr/>
        </p:nvSpPr>
        <p:spPr>
          <a:xfrm>
            <a:off x="10515600" y="2130552"/>
            <a:ext cx="868680" cy="493776"/>
          </a:xfrm>
          <a:prstGeom prst="roundRect">
            <a:avLst>
              <a:gd name="adj" fmla="val 18519"/>
            </a:avLst>
          </a:prstGeom>
          <a:solidFill>
            <a:srgbClr val="EEF2FB"/>
          </a:solidFill>
          <a:ln/>
        </p:spPr>
      </p:sp>
      <p:sp>
        <p:nvSpPr>
          <p:cNvPr id="10" name="Text 8"/>
          <p:cNvSpPr txBox="1"/>
          <p:nvPr/>
        </p:nvSpPr>
        <p:spPr>
          <a:xfrm>
            <a:off x="10515600" y="2130552"/>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[2]</a:t>
            </a:r>
            <a:endParaRPr lang="en-US" sz="1500" dirty="0"/>
          </a:p>
        </p:txBody>
      </p:sp>
      <p:sp>
        <p:nvSpPr>
          <p:cNvPr id="11" name="Shape 9"/>
          <p:cNvSpPr/>
          <p:nvPr/>
        </p:nvSpPr>
        <p:spPr>
          <a:xfrm>
            <a:off x="502920" y="3127248"/>
            <a:ext cx="11155680" cy="1097280"/>
          </a:xfrm>
          <a:prstGeom prst="roundRect">
            <a:avLst>
              <a:gd name="adj" fmla="val 10000"/>
            </a:avLst>
          </a:prstGeom>
          <a:solidFill>
            <a:srgbClr val="FFFFFF"/>
          </a:solidFill>
          <a:ln w="15875">
            <a:solidFill>
              <a:srgbClr val="D9DEE7"/>
            </a:solidFill>
            <a:prstDash val="solid"/>
          </a:ln>
        </p:spPr>
      </p:sp>
      <p:sp>
        <p:nvSpPr>
          <p:cNvPr id="12" name="Text 10"/>
          <p:cNvSpPr txBox="1"/>
          <p:nvPr/>
        </p:nvSpPr>
        <p:spPr>
          <a:xfrm>
            <a:off x="914400" y="3236976"/>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Write a program that reads a word and adds it onto the end of log.txt on a line of its own, without losing the lines already in the file, then prints every line of the file.</a:t>
            </a:r>
            <a:endParaRPr lang="en-US" sz="1700" dirty="0"/>
          </a:p>
        </p:txBody>
      </p:sp>
      <p:sp>
        <p:nvSpPr>
          <p:cNvPr id="13" name="Shape 11"/>
          <p:cNvSpPr/>
          <p:nvPr/>
        </p:nvSpPr>
        <p:spPr>
          <a:xfrm>
            <a:off x="10515600" y="3429000"/>
            <a:ext cx="868680" cy="493776"/>
          </a:xfrm>
          <a:prstGeom prst="roundRect">
            <a:avLst>
              <a:gd name="adj" fmla="val 18519"/>
            </a:avLst>
          </a:prstGeom>
          <a:solidFill>
            <a:srgbClr val="EEF2FB"/>
          </a:solidFill>
          <a:ln/>
        </p:spPr>
      </p:sp>
      <p:sp>
        <p:nvSpPr>
          <p:cNvPr id="14" name="Text 12"/>
          <p:cNvSpPr txBox="1"/>
          <p:nvPr/>
        </p:nvSpPr>
        <p:spPr>
          <a:xfrm>
            <a:off x="10515600" y="3429000"/>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[4]</a:t>
            </a:r>
            <a:endParaRPr lang="en-US" sz="1500" dirty="0"/>
          </a:p>
        </p:txBody>
      </p:sp>
      <p:sp>
        <p:nvSpPr>
          <p:cNvPr id="15" name="Shape 13"/>
          <p:cNvSpPr/>
          <p:nvPr/>
        </p:nvSpPr>
        <p:spPr>
          <a:xfrm>
            <a:off x="502920" y="4425696"/>
            <a:ext cx="11155680" cy="1097280"/>
          </a:xfrm>
          <a:prstGeom prst="roundRect">
            <a:avLst>
              <a:gd name="adj" fmla="val 10000"/>
            </a:avLst>
          </a:prstGeom>
          <a:solidFill>
            <a:srgbClr val="FFFFFF"/>
          </a:solidFill>
          <a:ln w="15875">
            <a:solidFill>
              <a:srgbClr val="D9DEE7"/>
            </a:solidFill>
            <a:prstDash val="solid"/>
          </a:ln>
        </p:spPr>
      </p:sp>
      <p:sp>
        <p:nvSpPr>
          <p:cNvPr id="16" name="Text 14"/>
          <p:cNvSpPr txBox="1"/>
          <p:nvPr/>
        </p:nvSpPr>
        <p:spPr>
          <a:xfrm>
            <a:off x="914400" y="4535424"/>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Each line of data.txt holds a word and a whole number, separated by a comma. Write a program that prints the word from every line whose number is 16 or more.</a:t>
            </a:r>
            <a:endParaRPr lang="en-US" sz="1700" dirty="0"/>
          </a:p>
        </p:txBody>
      </p:sp>
      <p:sp>
        <p:nvSpPr>
          <p:cNvPr id="17" name="Shape 15"/>
          <p:cNvSpPr/>
          <p:nvPr/>
        </p:nvSpPr>
        <p:spPr>
          <a:xfrm>
            <a:off x="10515600" y="4727448"/>
            <a:ext cx="868680" cy="493776"/>
          </a:xfrm>
          <a:prstGeom prst="roundRect">
            <a:avLst>
              <a:gd name="adj" fmla="val 18519"/>
            </a:avLst>
          </a:prstGeom>
          <a:solidFill>
            <a:srgbClr val="EEF2FB"/>
          </a:solidFill>
          <a:ln/>
        </p:spPr>
      </p:sp>
      <p:sp>
        <p:nvSpPr>
          <p:cNvPr id="18" name="Text 16"/>
          <p:cNvSpPr txBox="1"/>
          <p:nvPr/>
        </p:nvSpPr>
        <p:spPr>
          <a:xfrm>
            <a:off x="10515600" y="4727448"/>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[5]</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10</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Before you go</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Rate yourself on each of these</a:t>
            </a:r>
            <a:endParaRPr lang="en-US" sz="1500" dirty="0"/>
          </a:p>
        </p:txBody>
      </p:sp>
      <p:sp>
        <p:nvSpPr>
          <p:cNvPr id="7" name="Shape 5"/>
          <p:cNvSpPr/>
          <p:nvPr/>
        </p:nvSpPr>
        <p:spPr>
          <a:xfrm>
            <a:off x="502920" y="1920240"/>
            <a:ext cx="7863840" cy="777240"/>
          </a:xfrm>
          <a:prstGeom prst="roundRect">
            <a:avLst>
              <a:gd name="adj" fmla="val 14118"/>
            </a:avLst>
          </a:prstGeom>
          <a:solidFill>
            <a:srgbClr val="FFFFFF"/>
          </a:solidFill>
          <a:ln w="15875">
            <a:solidFill>
              <a:srgbClr val="D9DEE7"/>
            </a:solidFill>
            <a:prstDash val="solid"/>
          </a:ln>
        </p:spPr>
      </p:sp>
      <p:sp>
        <p:nvSpPr>
          <p:cNvPr id="8" name="Text 6"/>
          <p:cNvSpPr txBox="1"/>
          <p:nvPr/>
        </p:nvSpPr>
        <p:spPr>
          <a:xfrm>
            <a:off x="914400" y="192024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Opening, reading and closing a file</a:t>
            </a:r>
            <a:endParaRPr lang="en-US" sz="1800" dirty="0"/>
          </a:p>
        </p:txBody>
      </p:sp>
      <p:sp>
        <p:nvSpPr>
          <p:cNvPr id="9" name="Shape 7"/>
          <p:cNvSpPr/>
          <p:nvPr/>
        </p:nvSpPr>
        <p:spPr>
          <a:xfrm>
            <a:off x="8595360" y="2066544"/>
            <a:ext cx="987552" cy="484632"/>
          </a:xfrm>
          <a:prstGeom prst="roundRect">
            <a:avLst>
              <a:gd name="adj" fmla="val 18868"/>
            </a:avLst>
          </a:prstGeom>
          <a:solidFill>
            <a:srgbClr val="FFFFFF"/>
          </a:solidFill>
          <a:ln w="15875">
            <a:solidFill>
              <a:srgbClr val="08A6A6"/>
            </a:solidFill>
            <a:prstDash val="solid"/>
          </a:ln>
        </p:spPr>
      </p:sp>
      <p:sp>
        <p:nvSpPr>
          <p:cNvPr id="10" name="Text 8"/>
          <p:cNvSpPr txBox="1"/>
          <p:nvPr/>
        </p:nvSpPr>
        <p:spPr>
          <a:xfrm>
            <a:off x="8595360" y="206654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11" name="Shape 9"/>
          <p:cNvSpPr/>
          <p:nvPr/>
        </p:nvSpPr>
        <p:spPr>
          <a:xfrm>
            <a:off x="9674352" y="2066544"/>
            <a:ext cx="987552" cy="484632"/>
          </a:xfrm>
          <a:prstGeom prst="roundRect">
            <a:avLst>
              <a:gd name="adj" fmla="val 18868"/>
            </a:avLst>
          </a:prstGeom>
          <a:solidFill>
            <a:srgbClr val="FFFFFF"/>
          </a:solidFill>
          <a:ln w="15875">
            <a:solidFill>
              <a:srgbClr val="F4B942"/>
            </a:solidFill>
            <a:prstDash val="solid"/>
          </a:ln>
        </p:spPr>
      </p:sp>
      <p:sp>
        <p:nvSpPr>
          <p:cNvPr id="12" name="Text 10"/>
          <p:cNvSpPr txBox="1"/>
          <p:nvPr/>
        </p:nvSpPr>
        <p:spPr>
          <a:xfrm>
            <a:off x="9674352" y="206654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13" name="Shape 11"/>
          <p:cNvSpPr/>
          <p:nvPr/>
        </p:nvSpPr>
        <p:spPr>
          <a:xfrm>
            <a:off x="10753344" y="2066544"/>
            <a:ext cx="987552" cy="484632"/>
          </a:xfrm>
          <a:prstGeom prst="roundRect">
            <a:avLst>
              <a:gd name="adj" fmla="val 18868"/>
            </a:avLst>
          </a:prstGeom>
          <a:solidFill>
            <a:srgbClr val="FFFFFF"/>
          </a:solidFill>
          <a:ln w="15875">
            <a:solidFill>
              <a:srgbClr val="E2574C"/>
            </a:solidFill>
            <a:prstDash val="solid"/>
          </a:ln>
        </p:spPr>
      </p:sp>
      <p:sp>
        <p:nvSpPr>
          <p:cNvPr id="14" name="Text 12"/>
          <p:cNvSpPr txBox="1"/>
          <p:nvPr/>
        </p:nvSpPr>
        <p:spPr>
          <a:xfrm>
            <a:off x="10753344" y="206654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15" name="Shape 13"/>
          <p:cNvSpPr/>
          <p:nvPr/>
        </p:nvSpPr>
        <p:spPr>
          <a:xfrm>
            <a:off x="502920" y="2880360"/>
            <a:ext cx="7863840" cy="777240"/>
          </a:xfrm>
          <a:prstGeom prst="roundRect">
            <a:avLst>
              <a:gd name="adj" fmla="val 14118"/>
            </a:avLst>
          </a:prstGeom>
          <a:solidFill>
            <a:srgbClr val="FFFFFF"/>
          </a:solidFill>
          <a:ln w="15875">
            <a:solidFill>
              <a:srgbClr val="D9DEE7"/>
            </a:solidFill>
            <a:prstDash val="solid"/>
          </a:ln>
        </p:spPr>
      </p:sp>
      <p:sp>
        <p:nvSpPr>
          <p:cNvPr id="16" name="Text 14"/>
          <p:cNvSpPr txBox="1"/>
          <p:nvPr/>
        </p:nvSpPr>
        <p:spPr>
          <a:xfrm>
            <a:off x="914400" y="288036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Choosing between write mode and append mode</a:t>
            </a:r>
            <a:endParaRPr lang="en-US" sz="1800" dirty="0"/>
          </a:p>
        </p:txBody>
      </p:sp>
      <p:sp>
        <p:nvSpPr>
          <p:cNvPr id="17" name="Shape 15"/>
          <p:cNvSpPr/>
          <p:nvPr/>
        </p:nvSpPr>
        <p:spPr>
          <a:xfrm>
            <a:off x="8595360" y="3026664"/>
            <a:ext cx="987552" cy="484632"/>
          </a:xfrm>
          <a:prstGeom prst="roundRect">
            <a:avLst>
              <a:gd name="adj" fmla="val 18868"/>
            </a:avLst>
          </a:prstGeom>
          <a:solidFill>
            <a:srgbClr val="FFFFFF"/>
          </a:solidFill>
          <a:ln w="15875">
            <a:solidFill>
              <a:srgbClr val="08A6A6"/>
            </a:solidFill>
            <a:prstDash val="solid"/>
          </a:ln>
        </p:spPr>
      </p:sp>
      <p:sp>
        <p:nvSpPr>
          <p:cNvPr id="18" name="Text 16"/>
          <p:cNvSpPr txBox="1"/>
          <p:nvPr/>
        </p:nvSpPr>
        <p:spPr>
          <a:xfrm>
            <a:off x="8595360" y="302666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19" name="Shape 17"/>
          <p:cNvSpPr/>
          <p:nvPr/>
        </p:nvSpPr>
        <p:spPr>
          <a:xfrm>
            <a:off x="9674352" y="3026664"/>
            <a:ext cx="987552" cy="484632"/>
          </a:xfrm>
          <a:prstGeom prst="roundRect">
            <a:avLst>
              <a:gd name="adj" fmla="val 18868"/>
            </a:avLst>
          </a:prstGeom>
          <a:solidFill>
            <a:srgbClr val="FFFFFF"/>
          </a:solidFill>
          <a:ln w="15875">
            <a:solidFill>
              <a:srgbClr val="F4B942"/>
            </a:solidFill>
            <a:prstDash val="solid"/>
          </a:ln>
        </p:spPr>
      </p:sp>
      <p:sp>
        <p:nvSpPr>
          <p:cNvPr id="20" name="Text 18"/>
          <p:cNvSpPr txBox="1"/>
          <p:nvPr/>
        </p:nvSpPr>
        <p:spPr>
          <a:xfrm>
            <a:off x="9674352" y="302666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21" name="Shape 19"/>
          <p:cNvSpPr/>
          <p:nvPr/>
        </p:nvSpPr>
        <p:spPr>
          <a:xfrm>
            <a:off x="10753344" y="3026664"/>
            <a:ext cx="987552" cy="484632"/>
          </a:xfrm>
          <a:prstGeom prst="roundRect">
            <a:avLst>
              <a:gd name="adj" fmla="val 18868"/>
            </a:avLst>
          </a:prstGeom>
          <a:solidFill>
            <a:srgbClr val="FFFFFF"/>
          </a:solidFill>
          <a:ln w="15875">
            <a:solidFill>
              <a:srgbClr val="E2574C"/>
            </a:solidFill>
            <a:prstDash val="solid"/>
          </a:ln>
        </p:spPr>
      </p:sp>
      <p:sp>
        <p:nvSpPr>
          <p:cNvPr id="22" name="Text 20"/>
          <p:cNvSpPr txBox="1"/>
          <p:nvPr/>
        </p:nvSpPr>
        <p:spPr>
          <a:xfrm>
            <a:off x="10753344" y="302666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23" name="Shape 21"/>
          <p:cNvSpPr/>
          <p:nvPr/>
        </p:nvSpPr>
        <p:spPr>
          <a:xfrm>
            <a:off x="502920" y="3840480"/>
            <a:ext cx="7863840" cy="777240"/>
          </a:xfrm>
          <a:prstGeom prst="roundRect">
            <a:avLst>
              <a:gd name="adj" fmla="val 14118"/>
            </a:avLst>
          </a:prstGeom>
          <a:solidFill>
            <a:srgbClr val="FFFFFF"/>
          </a:solidFill>
          <a:ln w="15875">
            <a:solidFill>
              <a:srgbClr val="D9DEE7"/>
            </a:solidFill>
            <a:prstDash val="solid"/>
          </a:ln>
        </p:spPr>
      </p:sp>
      <p:sp>
        <p:nvSpPr>
          <p:cNvPr id="24" name="Text 22"/>
          <p:cNvSpPr txBox="1"/>
          <p:nvPr/>
        </p:nvSpPr>
        <p:spPr>
          <a:xfrm>
            <a:off x="914400" y="384048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Splitting a record into its fields</a:t>
            </a:r>
            <a:endParaRPr lang="en-US" sz="1800" dirty="0"/>
          </a:p>
        </p:txBody>
      </p:sp>
      <p:sp>
        <p:nvSpPr>
          <p:cNvPr id="25" name="Shape 23"/>
          <p:cNvSpPr/>
          <p:nvPr/>
        </p:nvSpPr>
        <p:spPr>
          <a:xfrm>
            <a:off x="8595360" y="3986784"/>
            <a:ext cx="987552" cy="484632"/>
          </a:xfrm>
          <a:prstGeom prst="roundRect">
            <a:avLst>
              <a:gd name="adj" fmla="val 18868"/>
            </a:avLst>
          </a:prstGeom>
          <a:solidFill>
            <a:srgbClr val="FFFFFF"/>
          </a:solidFill>
          <a:ln w="15875">
            <a:solidFill>
              <a:srgbClr val="08A6A6"/>
            </a:solidFill>
            <a:prstDash val="solid"/>
          </a:ln>
        </p:spPr>
      </p:sp>
      <p:sp>
        <p:nvSpPr>
          <p:cNvPr id="26" name="Text 24"/>
          <p:cNvSpPr txBox="1"/>
          <p:nvPr/>
        </p:nvSpPr>
        <p:spPr>
          <a:xfrm>
            <a:off x="8595360" y="398678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27" name="Shape 25"/>
          <p:cNvSpPr/>
          <p:nvPr/>
        </p:nvSpPr>
        <p:spPr>
          <a:xfrm>
            <a:off x="9674352" y="3986784"/>
            <a:ext cx="987552" cy="484632"/>
          </a:xfrm>
          <a:prstGeom prst="roundRect">
            <a:avLst>
              <a:gd name="adj" fmla="val 18868"/>
            </a:avLst>
          </a:prstGeom>
          <a:solidFill>
            <a:srgbClr val="FFFFFF"/>
          </a:solidFill>
          <a:ln w="15875">
            <a:solidFill>
              <a:srgbClr val="F4B942"/>
            </a:solidFill>
            <a:prstDash val="solid"/>
          </a:ln>
        </p:spPr>
      </p:sp>
      <p:sp>
        <p:nvSpPr>
          <p:cNvPr id="28" name="Text 26"/>
          <p:cNvSpPr txBox="1"/>
          <p:nvPr/>
        </p:nvSpPr>
        <p:spPr>
          <a:xfrm>
            <a:off x="9674352" y="398678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29" name="Shape 27"/>
          <p:cNvSpPr/>
          <p:nvPr/>
        </p:nvSpPr>
        <p:spPr>
          <a:xfrm>
            <a:off x="10753344" y="3986784"/>
            <a:ext cx="987552" cy="484632"/>
          </a:xfrm>
          <a:prstGeom prst="roundRect">
            <a:avLst>
              <a:gd name="adj" fmla="val 18868"/>
            </a:avLst>
          </a:prstGeom>
          <a:solidFill>
            <a:srgbClr val="FFFFFF"/>
          </a:solidFill>
          <a:ln w="15875">
            <a:solidFill>
              <a:srgbClr val="E2574C"/>
            </a:solidFill>
            <a:prstDash val="solid"/>
          </a:ln>
        </p:spPr>
      </p:sp>
      <p:sp>
        <p:nvSpPr>
          <p:cNvPr id="30" name="Text 28"/>
          <p:cNvSpPr txBox="1"/>
          <p:nvPr/>
        </p:nvSpPr>
        <p:spPr>
          <a:xfrm>
            <a:off x="10753344" y="398678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31" name="Text 29"/>
          <p:cNvSpPr txBox="1"/>
          <p:nvPr/>
        </p:nvSpPr>
        <p:spPr>
          <a:xfrm>
            <a:off x="502920" y="5074920"/>
            <a:ext cx="11155680" cy="54864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Anything marked Focus here: reopen File handling and use review mode on the questions you got wrong.</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Revise 360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programming  |  Lesson 10 — File handling</dc:title>
  <dc:subject>OCR J277 GCSE Computer Science</dc:subject>
  <dc:creator>Revise 360 Ltd</dc:creator>
  <cp:lastModifiedBy>Revise 360 Ltd</cp:lastModifiedBy>
  <cp:revision>1</cp:revision>
  <dcterms:created xsi:type="dcterms:W3CDTF">2026-10-02T20:44:10Z</dcterms:created>
  <dcterms:modified xsi:type="dcterms:W3CDTF">2026-10-02T20:44:10Z</dcterms:modified>
</cp:coreProperties>
</file>