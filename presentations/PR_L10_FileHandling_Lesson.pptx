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 File handling.
Open the experience at revise360.co.uk and hand out PR_L10_FileHandling_Worksheet.docx.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Reading a whole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Reading line by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Writing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Adding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Records in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moss.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Adding to a file, and work through its example again, aloud, with the class watching, then re-ask this question.
The course's own response to a wrong answer here: The last open() used "w", which emptied the file, so ridge and hollow were gone before moss was written.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(pr-l10-s4-c2),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10</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File handling</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Everything a program holds in its variables disappears the moment it ends. A file keeps it. Work through the six stations and you will open a file, read it whole or a line at a time, write one from scratch, add to one and split its records into fields.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does the mode a file is opened in matter more than anything else on that line?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open a text file, read what is in it and close it again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what write mode does to a file, and how append mode differs from it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split one line of a file into its separate fields and use them</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handling</a:t>
            </a:r>
            <a:endParaRPr lang="en-US" sz="1200" dirty="0"/>
          </a:p>
        </p:txBody>
      </p:sp>
      <p:sp>
        <p:nvSpPr>
          <p:cNvPr id="19" name="Shape 17"/>
          <p:cNvSpPr/>
          <p:nvPr/>
        </p:nvSpPr>
        <p:spPr>
          <a:xfrm>
            <a:off x="3035808" y="5468112"/>
            <a:ext cx="133502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open()</a:t>
            </a:r>
            <a:endParaRPr lang="en-US" sz="1200" dirty="0"/>
          </a:p>
        </p:txBody>
      </p:sp>
      <p:sp>
        <p:nvSpPr>
          <p:cNvPr id="21" name="Shape 19"/>
          <p:cNvSpPr/>
          <p:nvPr/>
        </p:nvSpPr>
        <p:spPr>
          <a:xfrm>
            <a:off x="4498848" y="5468112"/>
            <a:ext cx="133502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a:t>
            </a:r>
            <a:endParaRPr lang="en-US" sz="1200" dirty="0"/>
          </a:p>
        </p:txBody>
      </p:sp>
      <p:sp>
        <p:nvSpPr>
          <p:cNvPr id="23" name="Shape 21"/>
          <p:cNvSpPr/>
          <p:nvPr/>
        </p:nvSpPr>
        <p:spPr>
          <a:xfrm>
            <a:off x="5961888"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96188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readlines()</a:t>
            </a:r>
            <a:endParaRPr lang="en-US" sz="1200" dirty="0"/>
          </a:p>
        </p:txBody>
      </p:sp>
      <p:sp>
        <p:nvSpPr>
          <p:cNvPr id="25" name="Shape 23"/>
          <p:cNvSpPr/>
          <p:nvPr/>
        </p:nvSpPr>
        <p:spPr>
          <a:xfrm>
            <a:off x="8156448" y="5468112"/>
            <a:ext cx="192024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Write mode</a:t>
            </a:r>
            <a:endParaRPr lang="en-US" sz="1200" dirty="0"/>
          </a:p>
        </p:txBody>
      </p:sp>
      <p:sp>
        <p:nvSpPr>
          <p:cNvPr id="27" name="Shape 25"/>
          <p:cNvSpPr/>
          <p:nvPr/>
        </p:nvSpPr>
        <p:spPr>
          <a:xfrm>
            <a:off x="10204704"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10204704"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opens scores.txt in write mode, and the file already holds 40 lines. Write down what the file holds the moment that line has run, and which mode should have been used to add to it instead.</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File handling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 whole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"r") opens a file for reading and hands back a file object.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gives the whole file as one string, and .close() lets go of it when you are done.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opening a file that is not there, which stops the program with an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close a file as soon as it has finished with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Leaving a file open can keep other programs out of it, and can lose anything not yet...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line by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.readline() reads one line, while .readlines() gives a list of every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line still carries its newline, so .strip() tidies that off before you use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measuring a line before stripping it, which counts the newline as a character.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stripped line one character shorter than the line that was read?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newline is one single invisible character, which is why a stripped line is one character...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"w") opens a file for writing and empties whatever was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adds no newline of its own, so put a newline on the end of each line yourself.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write mode on a file you meant to add to, which wipes it completely.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happens to the contents of a file the moment it is opened in w mode?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Write mode makes the file when it is not there and empties it when it is, so the one thing it never does is...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Adding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"a") is append mode: new text goes on the end and nothing already there is lost.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it whenever the lines the file already holds have to survive the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newline out, so the new text runs straight into the last line.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mode keeps what a file already holds, and why would you not use the other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Three modes cover everything you need: r reads, w starts the file again from empty and a...</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Records in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record is one line of the file, and its fields are the parts separated by a comma.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.split(",") breaks a line into a list of its fields.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splitting before stripping, which leaves a newline stuck on the last field.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program find the one record whose first field matches what was typed in?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of comma-separated records has a name of its own, and a spreadsheet opens one straight away: it is a...</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the whole file first, close it, then work on the lines you are holding.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can read one file and write a second one in the same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looping over a file you have already closed, or reading and writing one file at once.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of two files does a program open in which mode, when it reads one and writes the other?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stray blank line at the end of a file is very common, so a careful program checks each line before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will this program display?</a:t>
            </a:r>
            <a:endParaRPr lang="en-US" sz="2600" dirty="0"/>
          </a:p>
        </p:txBody>
      </p:sp>
      <p:sp>
        <p:nvSpPr>
          <p:cNvPr id="9" name="Shape 7"/>
          <p:cNvSpPr/>
          <p:nvPr/>
        </p:nvSpPr>
        <p:spPr>
          <a:xfrm>
            <a:off x="502920" y="2148840"/>
            <a:ext cx="5029200" cy="3749040"/>
          </a:xfrm>
          <a:prstGeom prst="roundRect">
            <a:avLst>
              <a:gd name="adj" fmla="val 2927"/>
            </a:avLst>
          </a:prstGeom>
          <a:solidFill>
            <a:srgbClr val="FFFFFF"/>
          </a:solidFill>
          <a:ln w="15875">
            <a:solidFill>
              <a:srgbClr val="D9DEE7"/>
            </a:solidFill>
            <a:prstDash val="solid"/>
          </a:ln>
        </p:spPr>
      </p:sp>
      <p:sp>
        <p:nvSpPr>
          <p:cNvPr id="10" name="Text 8"/>
          <p:cNvSpPr txBox="1"/>
          <p:nvPr/>
        </p:nvSpPr>
        <p:spPr>
          <a:xfrm>
            <a:off x="822960" y="2350008"/>
            <a:ext cx="4480560" cy="3346704"/>
          </a:xfrm>
          <a:prstGeom prst="rect">
            <a:avLst/>
          </a:prstGeom>
          <a:noFill/>
          <a:ln/>
        </p:spPr>
        <p:txBody>
          <a:bodyPr wrap="square" lIns="0" tIns="0" rIns="0" bIns="0" rtlCol="0" anchor="t"/>
          <a:lstStyle/>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 = open("notes.txt", "w")</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f.write("ridge\n")</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f.close()</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 = open("notes.txt", "a")</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f.write("hollow\n")</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f.close()</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 = open("notes.txt", "w")</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f.write("moss\n")</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f.close()</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 = open("notes.txt", "r")</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print(f.read())</a:t>
            </a:r>
            <a:endParaRPr lang="en-US" sz="1500" dirty="0"/>
          </a:p>
          <a:p>
            <a:pPr indent="0" marL="0">
              <a:lnSpc>
                <a:spcPct val="125000"/>
              </a:lnSpc>
              <a:buNone/>
            </a:pPr>
            <a:r>
              <a:rPr lang="en-US" sz="1500" dirty="0">
                <a:solidFill>
                  <a:srgbClr val="101828"/>
                </a:solidFill>
                <a:latin typeface="IBM Plex Mono" pitchFamily="34" charset="0"/>
                <a:ea typeface="IBM Plex Mono" pitchFamily="34" charset="-122"/>
                <a:cs typeface="IBM Plex Mono" pitchFamily="34" charset="-120"/>
              </a:rPr>
              <a:t>f.close()</a:t>
            </a:r>
            <a:endParaRPr lang="en-US" sz="1500" dirty="0"/>
          </a:p>
        </p:txBody>
      </p:sp>
      <p:sp>
        <p:nvSpPr>
          <p:cNvPr id="11" name="Shape 9"/>
          <p:cNvSpPr/>
          <p:nvPr/>
        </p:nvSpPr>
        <p:spPr>
          <a:xfrm>
            <a:off x="5806440" y="2148840"/>
            <a:ext cx="5852160" cy="731520"/>
          </a:xfrm>
          <a:prstGeom prst="roundRect">
            <a:avLst>
              <a:gd name="adj" fmla="val 15000"/>
            </a:avLst>
          </a:prstGeom>
          <a:solidFill>
            <a:srgbClr val="FFFFFF"/>
          </a:solidFill>
          <a:ln w="15875">
            <a:solidFill>
              <a:srgbClr val="D9DEE7"/>
            </a:solidFill>
            <a:prstDash val="solid"/>
          </a:ln>
        </p:spPr>
      </p:sp>
      <p:sp>
        <p:nvSpPr>
          <p:cNvPr id="12" name="Shape 10"/>
          <p:cNvSpPr/>
          <p:nvPr/>
        </p:nvSpPr>
        <p:spPr>
          <a:xfrm>
            <a:off x="6080760" y="2295144"/>
            <a:ext cx="438912" cy="438912"/>
          </a:xfrm>
          <a:prstGeom prst="roundRect">
            <a:avLst>
              <a:gd name="adj" fmla="val 20833"/>
            </a:avLst>
          </a:prstGeom>
          <a:solidFill>
            <a:srgbClr val="EEF2FB"/>
          </a:solidFill>
          <a:ln/>
        </p:spPr>
      </p:sp>
      <p:sp>
        <p:nvSpPr>
          <p:cNvPr id="13" name="Text 11"/>
          <p:cNvSpPr txBox="1"/>
          <p:nvPr/>
        </p:nvSpPr>
        <p:spPr>
          <a:xfrm>
            <a:off x="608076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4" name="Text 12"/>
          <p:cNvSpPr txBox="1"/>
          <p:nvPr/>
        </p:nvSpPr>
        <p:spPr>
          <a:xfrm>
            <a:off x="6720840" y="214884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ridge</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hollow</a:t>
            </a:r>
            <a:endParaRPr lang="en-US" sz="1700" dirty="0"/>
          </a:p>
        </p:txBody>
      </p:sp>
      <p:sp>
        <p:nvSpPr>
          <p:cNvPr id="15" name="Shape 13"/>
          <p:cNvSpPr/>
          <p:nvPr/>
        </p:nvSpPr>
        <p:spPr>
          <a:xfrm>
            <a:off x="5806440" y="3017520"/>
            <a:ext cx="5852160" cy="731520"/>
          </a:xfrm>
          <a:prstGeom prst="roundRect">
            <a:avLst>
              <a:gd name="adj" fmla="val 15000"/>
            </a:avLst>
          </a:prstGeom>
          <a:solidFill>
            <a:srgbClr val="FFFFFF"/>
          </a:solidFill>
          <a:ln w="15875">
            <a:solidFill>
              <a:srgbClr val="D9DEE7"/>
            </a:solidFill>
            <a:prstDash val="solid"/>
          </a:ln>
        </p:spPr>
      </p:sp>
      <p:sp>
        <p:nvSpPr>
          <p:cNvPr id="16" name="Shape 14"/>
          <p:cNvSpPr/>
          <p:nvPr/>
        </p:nvSpPr>
        <p:spPr>
          <a:xfrm>
            <a:off x="6080760" y="3163824"/>
            <a:ext cx="438912" cy="438912"/>
          </a:xfrm>
          <a:prstGeom prst="roundRect">
            <a:avLst>
              <a:gd name="adj" fmla="val 20833"/>
            </a:avLst>
          </a:prstGeom>
          <a:solidFill>
            <a:srgbClr val="EEF2FB"/>
          </a:solidFill>
          <a:ln/>
        </p:spPr>
      </p:sp>
      <p:sp>
        <p:nvSpPr>
          <p:cNvPr id="17" name="Text 15"/>
          <p:cNvSpPr txBox="1"/>
          <p:nvPr/>
        </p:nvSpPr>
        <p:spPr>
          <a:xfrm>
            <a:off x="608076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8" name="Text 16"/>
          <p:cNvSpPr txBox="1"/>
          <p:nvPr/>
        </p:nvSpPr>
        <p:spPr>
          <a:xfrm>
            <a:off x="6720840" y="301752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moss</a:t>
            </a:r>
            <a:endParaRPr lang="en-US" sz="1700" dirty="0"/>
          </a:p>
        </p:txBody>
      </p:sp>
      <p:sp>
        <p:nvSpPr>
          <p:cNvPr id="19" name="Shape 17"/>
          <p:cNvSpPr/>
          <p:nvPr/>
        </p:nvSpPr>
        <p:spPr>
          <a:xfrm>
            <a:off x="5806440" y="3886200"/>
            <a:ext cx="5852160" cy="731520"/>
          </a:xfrm>
          <a:prstGeom prst="roundRect">
            <a:avLst>
              <a:gd name="adj" fmla="val 15000"/>
            </a:avLst>
          </a:prstGeom>
          <a:solidFill>
            <a:srgbClr val="FFFFFF"/>
          </a:solidFill>
          <a:ln w="15875">
            <a:solidFill>
              <a:srgbClr val="D9DEE7"/>
            </a:solidFill>
            <a:prstDash val="solid"/>
          </a:ln>
        </p:spPr>
      </p:sp>
      <p:sp>
        <p:nvSpPr>
          <p:cNvPr id="20" name="Shape 18"/>
          <p:cNvSpPr/>
          <p:nvPr/>
        </p:nvSpPr>
        <p:spPr>
          <a:xfrm>
            <a:off x="6080760" y="4032504"/>
            <a:ext cx="438912" cy="438912"/>
          </a:xfrm>
          <a:prstGeom prst="roundRect">
            <a:avLst>
              <a:gd name="adj" fmla="val 20833"/>
            </a:avLst>
          </a:prstGeom>
          <a:solidFill>
            <a:srgbClr val="EEF2FB"/>
          </a:solidFill>
          <a:ln/>
        </p:spPr>
      </p:sp>
      <p:sp>
        <p:nvSpPr>
          <p:cNvPr id="21" name="Text 19"/>
          <p:cNvSpPr txBox="1"/>
          <p:nvPr/>
        </p:nvSpPr>
        <p:spPr>
          <a:xfrm>
            <a:off x="608076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2" name="Text 20"/>
          <p:cNvSpPr txBox="1"/>
          <p:nvPr/>
        </p:nvSpPr>
        <p:spPr>
          <a:xfrm>
            <a:off x="6720840" y="3886200"/>
            <a:ext cx="475488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ridge</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hollow</a:t>
            </a:r>
            <a:endParaRPr lang="en-US" sz="1700" dirty="0"/>
          </a:p>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moss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mode?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are listed on the floor below you. Tap the star and choose the file mode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it looks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program looks for a file in the folder it is running in, unless you give it a fuller path.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One line at a time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Looping straight over the file object reads it a line at a time, which matters when a file is too big to fit in memory.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 undo</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Write mode empties the file the instant it opens, before you have written anything at all.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Why append exists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Append mode adds to the end without touching a single line already in the file. That is what makes it the safe mode for a file that is added to over and over.</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Every line read from a file is measured with </a:t>
            </a:r>
            <a:pPr indent="0" marL="0">
              <a:lnSpc>
                <a:spcPct val="118000"/>
              </a:lnSpc>
              <a:buNone/>
            </a:pPr>
            <a:r>
              <a:rPr lang="en-US" sz="1700" dirty="0">
                <a:solidFill>
                  <a:srgbClr val="1D4ED8"/>
                </a:solidFill>
                <a:latin typeface="IBM Plex Mono" pitchFamily="34" charset="0"/>
                <a:ea typeface="IBM Plex Mono" pitchFamily="34" charset="-122"/>
                <a:cs typeface="IBM Plex Mono" pitchFamily="34" charset="-120"/>
              </a:rPr>
              <a:t>len</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3F3F46"/>
                </a:solidFill>
                <a:latin typeface="IBM Plex Mono" pitchFamily="34" charset="0"/>
                <a:ea typeface="IBM Plex Mono" pitchFamily="34" charset="-122"/>
                <a:cs typeface="IBM Plex Mono" pitchFamily="34" charset="-120"/>
              </a:rPr>
              <a: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and each answer comes out one character bigger than expected. Name the character being counted, and write the line that removes it.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a word and adds it onto the end of </a:t>
            </a:r>
            <a:pPr indent="0" marL="0">
              <a:lnSpc>
                <a:spcPct val="118000"/>
              </a:lnSpc>
              <a:buNone/>
            </a:pPr>
            <a:r>
              <a:rPr lang="en-US" sz="1700" dirty="0">
                <a:solidFill>
                  <a:srgbClr val="15803D"/>
                </a:solidFill>
                <a:latin typeface="IBM Plex Mono" pitchFamily="34" charset="0"/>
                <a:ea typeface="IBM Plex Mono" pitchFamily="34" charset="-122"/>
                <a:cs typeface="IBM Plex Mono" pitchFamily="34" charset="-120"/>
              </a:rPr>
              <a:t>"log.txt"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on a line of its own, without losing the lines already in the file, then prints every line of the file.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Each line of </a:t>
            </a:r>
            <a:pPr indent="0" marL="0">
              <a:lnSpc>
                <a:spcPct val="118000"/>
              </a:lnSpc>
              <a:buNone/>
            </a:pPr>
            <a:r>
              <a:rPr lang="en-US" sz="1700" dirty="0">
                <a:solidFill>
                  <a:srgbClr val="15803D"/>
                </a:solidFill>
                <a:latin typeface="IBM Plex Mono" pitchFamily="34" charset="0"/>
                <a:ea typeface="IBM Plex Mono" pitchFamily="34" charset="-122"/>
                <a:cs typeface="IBM Plex Mono" pitchFamily="34" charset="-120"/>
              </a:rPr>
              <a:t>"data.txt"</a:t>
            </a:r>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 holds a word and a whole number, separated by a comma. Write a program that prints the word from every line whose number is 16 or more.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Opening, reading and closing a file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between write mode and append mode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Splitting a record into its fields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File handling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10 — File handling</dc:title>
  <dc:subject>OCR J277 GCSE Computer Science</dc:subject>
  <dc:creator>Revise 360 Ltd</dc:creator>
  <cp:lastModifiedBy>Revise 360 Ltd</cp:lastModifiedBy>
  <cp:revision>1</cp:revision>
  <dcterms:created xsi:type="dcterms:W3CDTF">2026-10-03T17:08:51Z</dcterms:created>
  <dcterms:modified xsi:type="dcterms:W3CDTF">2026-10-03T17:08:51Z</dcterms:modified>
</cp:coreProperties>
</file>