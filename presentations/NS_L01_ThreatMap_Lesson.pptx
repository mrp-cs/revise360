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Threat map.
Open the experience at revise360.co.uk and hand out NS_L01_ThreatMap_Worksheet.docx.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What is a cyberattack?.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The six forms of attack.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What do attackers want?.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CryptoLocker.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Operation Tovar.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How much damage?.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Ransomware.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CryptoLocker, and work through its example again, aloud, with the class watching, then re-ask this question.
The course's own response to a wrong answer here: It encrypted files and demanded payment for the key.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(ns-l01-s4-c1),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1.4 Network security  |  Lesson 1</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Threat map</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 network is under attack, all the time. In the threat map room you'll meet the six forms of attack you need to know, find out what attackers want, and follow the CryptoLocker story from your starter.</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forms of attack threaten a network, and what do attackers want?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different forms of attack against computer systems</a:t>
            </a:r>
            <a:endParaRPr lang="en-US" sz="1900" dirty="0"/>
          </a:p>
        </p:txBody>
      </p:sp>
      <p:sp>
        <p:nvSpPr>
          <p:cNvPr id="10" name="Text 8"/>
          <p:cNvSpPr txBox="1"/>
          <p:nvPr/>
        </p:nvSpPr>
        <p:spPr>
          <a:xfrm>
            <a:off x="548640" y="3218688"/>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1" name="Shape 9"/>
          <p:cNvSpPr/>
          <p:nvPr/>
        </p:nvSpPr>
        <p:spPr>
          <a:xfrm>
            <a:off x="548640" y="3602736"/>
            <a:ext cx="1481328" cy="402336"/>
          </a:xfrm>
          <a:prstGeom prst="roundRect">
            <a:avLst>
              <a:gd name="adj" fmla="val 50000"/>
            </a:avLst>
          </a:prstGeom>
          <a:solidFill>
            <a:srgbClr val="FFFFFF"/>
          </a:solidFill>
          <a:ln w="12700">
            <a:solidFill>
              <a:srgbClr val="2D63FF"/>
            </a:solidFill>
            <a:prstDash val="solid"/>
          </a:ln>
        </p:spPr>
      </p:sp>
      <p:sp>
        <p:nvSpPr>
          <p:cNvPr id="12" name="Text 10"/>
          <p:cNvSpPr txBox="1"/>
          <p:nvPr/>
        </p:nvSpPr>
        <p:spPr>
          <a:xfrm>
            <a:off x="548640" y="3602736"/>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Malware</a:t>
            </a:r>
            <a:endParaRPr lang="en-US" sz="1200" dirty="0"/>
          </a:p>
        </p:txBody>
      </p:sp>
      <p:sp>
        <p:nvSpPr>
          <p:cNvPr id="13" name="Shape 11"/>
          <p:cNvSpPr/>
          <p:nvPr/>
        </p:nvSpPr>
        <p:spPr>
          <a:xfrm>
            <a:off x="2157984" y="3602736"/>
            <a:ext cx="1627632" cy="402336"/>
          </a:xfrm>
          <a:prstGeom prst="roundRect">
            <a:avLst>
              <a:gd name="adj" fmla="val 50000"/>
            </a:avLst>
          </a:prstGeom>
          <a:solidFill>
            <a:srgbClr val="FFFFFF"/>
          </a:solidFill>
          <a:ln w="12700">
            <a:solidFill>
              <a:srgbClr val="2D63FF"/>
            </a:solidFill>
            <a:prstDash val="solid"/>
          </a:ln>
        </p:spPr>
      </p:sp>
      <p:sp>
        <p:nvSpPr>
          <p:cNvPr id="14" name="Text 12"/>
          <p:cNvSpPr txBox="1"/>
          <p:nvPr/>
        </p:nvSpPr>
        <p:spPr>
          <a:xfrm>
            <a:off x="2157984" y="3602736"/>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Phishing</a:t>
            </a:r>
            <a:endParaRPr lang="en-US" sz="1200" dirty="0"/>
          </a:p>
        </p:txBody>
      </p:sp>
      <p:sp>
        <p:nvSpPr>
          <p:cNvPr id="15" name="Shape 13"/>
          <p:cNvSpPr/>
          <p:nvPr/>
        </p:nvSpPr>
        <p:spPr>
          <a:xfrm>
            <a:off x="3913632" y="3602736"/>
            <a:ext cx="2066544" cy="402336"/>
          </a:xfrm>
          <a:prstGeom prst="roundRect">
            <a:avLst>
              <a:gd name="adj" fmla="val 50000"/>
            </a:avLst>
          </a:prstGeom>
          <a:solidFill>
            <a:srgbClr val="FFFFFF"/>
          </a:solidFill>
          <a:ln w="12700">
            <a:solidFill>
              <a:srgbClr val="2D63FF"/>
            </a:solidFill>
            <a:prstDash val="solid"/>
          </a:ln>
        </p:spPr>
      </p:sp>
      <p:sp>
        <p:nvSpPr>
          <p:cNvPr id="16" name="Text 14"/>
          <p:cNvSpPr txBox="1"/>
          <p:nvPr/>
        </p:nvSpPr>
        <p:spPr>
          <a:xfrm>
            <a:off x="3913632" y="3602736"/>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Brute force</a:t>
            </a:r>
            <a:endParaRPr lang="en-US" sz="1200" dirty="0"/>
          </a:p>
        </p:txBody>
      </p:sp>
      <p:sp>
        <p:nvSpPr>
          <p:cNvPr id="17" name="Shape 15"/>
          <p:cNvSpPr/>
          <p:nvPr/>
        </p:nvSpPr>
        <p:spPr>
          <a:xfrm>
            <a:off x="6108192" y="3602736"/>
            <a:ext cx="2944368"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6108192" y="3602736"/>
            <a:ext cx="294436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Denial of service</a:t>
            </a:r>
            <a:endParaRPr lang="en-US" sz="1200" dirty="0"/>
          </a:p>
        </p:txBody>
      </p:sp>
      <p:sp>
        <p:nvSpPr>
          <p:cNvPr id="19" name="Shape 17"/>
          <p:cNvSpPr/>
          <p:nvPr/>
        </p:nvSpPr>
        <p:spPr>
          <a:xfrm>
            <a:off x="9180576" y="3602736"/>
            <a:ext cx="235915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9180576" y="3602736"/>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SQL injection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Choose a cyberattack that has been in the news. Write down who was attacked, what the attackers wanted, and what it cost the organisation.</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Threat map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is a cyberattack?</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attempt to damage or disrupt a system, or to gain unauthorised access to it or its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Attacks can come from outside the network or from inside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people who carry them out are often called hackers or attackers.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your own definition of a cyberattack.</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cyberattack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The six forms of attack</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Malware, social engineering (including phishing), brute-force attacks, denial of service, data interception and theft, and SQL injection.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Some attack the technology; others attack the people using it.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of the six forms of attack targets people rather than computers?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six forms of attack are...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do attackers want?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Money: ransoms, fraud and selling stolen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Data: personal details, passwords, company secrets.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Disruption: damaging a rival, making a political point, or simply showing off.</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Suggest two reasons someone might attack a school's network.</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Attackers are usually after...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CryptoLocker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CryptoLocker was ransomware that appeared in 2013 and encrypted victims' files.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Victims were told to pay a ransom in Bitcoin to get their files back.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spread through infected email attachments and a botnet.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Answer the starter questions about CryptoLocker.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CryptoLocker was...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Operation Tovar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2014, police forces and security companies from several countries worked together to take down the botnet behind CryptoLocker.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operation was called Operation Tovar.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FBI offered a reward of up to $3 million for information leading to the arrest of Evgeniy Bogachev, who has never been caught.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do cybercrime investigations need international cooperation?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Operation Tovar was...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How much damage?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CryptoLocker is estimated to have extorted around $3 million from victims before it was shut down.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cost of an attack isn't only the ransom: there's downtime, lost data, recovery and damage to reputation.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Organisations can also be fined if they fail to protect personal data.</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List four costs to a school if its network were attacked.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costs of an attack include...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What type of malware was CryptoLocker?</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Spyware</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firewall</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Ransomware</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worm with no payload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Name that attack</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incidents have been reported to the security team. Tap the star and sort each one into the form of attack it describes.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White hats and black hats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Attackers who break in illegally are called black hats. White hats do the same thing with permission, to help organisations find weaknesses before criminals do.</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Attacks per day</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Large organisations see thousands of attempted attacks every day. Most are automated programs scanning for weaknesses, not people.</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Hacktivism</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Some attacks are political: groups attack organisations they disagree with to make a point. This is called hacktivism.</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Paying doesn't help</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Police advise against paying ransoms: it funds more crime and the files often stay locked. Good backups are a far better defence.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Name two forms of attack that target people rather than software.</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why most criminal cyberattacks happen.</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small business is hit by ransomware. Describe three costs it will face beyond the ransom itself.</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The six forms of attack</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Why attackers attack</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The costs of a successful attack</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Threat map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1.4 Network security  |  Lesson 1 — Threat map</dc:title>
  <dc:subject>OCR J277 GCSE Computer Science</dc:subject>
  <dc:creator>Revise 360 Ltd</dc:creator>
  <cp:lastModifiedBy>Revise 360 Ltd</cp:lastModifiedBy>
  <cp:revision>1</cp:revision>
  <dcterms:created xsi:type="dcterms:W3CDTF">2026-10-03T17:08:49Z</dcterms:created>
  <dcterms:modified xsi:type="dcterms:W3CDTF">2026-10-03T17:08:49Z</dcterms:modified>
</cp:coreProperties>
</file>