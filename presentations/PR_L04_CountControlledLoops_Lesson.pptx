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Count-controlled loops.
Open the experience at revise360.co.uk and hand out PR_L04_CountControlledLoops_Worksheet.docx.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Repeating a line.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Using the counter.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Choosing the range.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Running totals.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Loops inside loops.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1
4
7.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Choosing the range, and work through its example again, aloud, with the class watching, then re-ask this question.
The course's own response to a wrong answer here: The step of 3 jumps from 1 to 4 to 7. The next jump would be 10, which is the stop, so the loop ends.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(pr-l04-s3-c6),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Count-controlled loops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When you know how many times something has to happen, a counting loop does it for you. Work through the six stations and you will learn to control a for loop and to use the number it counts with.</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 you decide what to put inside range() so that a loop counts exactly the values you want?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write a for loop that repeats a block a set number of times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range() decides which values the loop counter takes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build a running total inside a loop, and how to put one loop inside another</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77393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Iteration</a:t>
            </a:r>
            <a:endParaRPr lang="en-US" sz="1200" dirty="0"/>
          </a:p>
        </p:txBody>
      </p:sp>
      <p:sp>
        <p:nvSpPr>
          <p:cNvPr id="19" name="Shape 17"/>
          <p:cNvSpPr/>
          <p:nvPr/>
        </p:nvSpPr>
        <p:spPr>
          <a:xfrm>
            <a:off x="2450592" y="5468112"/>
            <a:ext cx="279806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450592" y="5468112"/>
            <a:ext cx="279806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Count-controlled</a:t>
            </a:r>
            <a:endParaRPr lang="en-US" sz="1200" dirty="0"/>
          </a:p>
        </p:txBody>
      </p:sp>
      <p:sp>
        <p:nvSpPr>
          <p:cNvPr id="21" name="Shape 19"/>
          <p:cNvSpPr/>
          <p:nvPr/>
        </p:nvSpPr>
        <p:spPr>
          <a:xfrm>
            <a:off x="5376672" y="5468112"/>
            <a:ext cx="10058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376672"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for</a:t>
            </a:r>
            <a:endParaRPr lang="en-US" sz="1200" dirty="0"/>
          </a:p>
        </p:txBody>
      </p:sp>
      <p:sp>
        <p:nvSpPr>
          <p:cNvPr id="23" name="Shape 21"/>
          <p:cNvSpPr/>
          <p:nvPr/>
        </p:nvSpPr>
        <p:spPr>
          <a:xfrm>
            <a:off x="6510528"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51052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range</a:t>
            </a:r>
            <a:endParaRPr lang="en-US" sz="1200" dirty="0"/>
          </a:p>
        </p:txBody>
      </p:sp>
      <p:sp>
        <p:nvSpPr>
          <p:cNvPr id="25" name="Shape 23"/>
          <p:cNvSpPr/>
          <p:nvPr/>
        </p:nvSpPr>
        <p:spPr>
          <a:xfrm>
            <a:off x="7827264" y="5468112"/>
            <a:ext cx="1481328"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827264"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Counter</a:t>
            </a:r>
            <a:endParaRPr lang="en-US" sz="1200" dirty="0"/>
          </a:p>
        </p:txBody>
      </p:sp>
      <p:sp>
        <p:nvSpPr>
          <p:cNvPr id="27" name="Shape 25"/>
          <p:cNvSpPr/>
          <p:nvPr/>
        </p:nvSpPr>
        <p:spPr>
          <a:xfrm>
            <a:off x="9436608" y="5468112"/>
            <a:ext cx="206654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9436608"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Nested loop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Write down every number printed by for i in range(2, 9, 3), then say how many lines of output there are altogether.</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Count-controlled loops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Repeating a line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i in range(4): runs the indented block below it four times.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Count-controlled iteration is used when the number of repeats is known in advance.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line to repeat outside the loop, so it only runs once.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would you repeat a line as many times as the user asks for?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Iteration is the proper name for repetition, and it is one of the three basic...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Using the counter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loop variable holds the count on each pass, so you can print it or calculate with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range(n) counts from 0, so the values are 0 up to n - 1.</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expecting range(5) to include 5, or to start at 1.</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has to change so that a loop counts from 1 up to and including 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Counting from 0 is normal in programming, and it is why the first item of a list is item...</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Choosing the range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range(start, stop) counts from start up to but not including stop.</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third value is the step, so range(10, 0, -2) counts back down in twos.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forgetting stop is never reached, which quietly loses the last value.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range counts through 4 to 9, with both of them included?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stop value of a range is the one value the loop never...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Running totals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running total is set to 0 before the loop and grows inside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total = total + value adds this pass's value to whatever is already there.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setting the total back to 0 inside the loop, which loses everything counted so far.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Where must a running total be set to zero, and why there?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counter and a running total work the same way: one adds 1 and the other adds...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Loops inside loops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nested loop runs the whole inner loop on every single pass of the outer 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Rows and columns are the usual job: the outer loop picks the row, the inner one the column.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indenting the inner loop's body wrongly, so all the rows run together.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many lines does a loop of 4 columns inside a loop of 3 rows print?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Nesting one loop inside another multiplies the work rather than...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Decide what each loop counts before you write it, and name the loop variable after that.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Build the total, the count and the average from the same single pass through the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printing inside the loop when the task asks for one line at the end.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figures can one pass through the data work out at the same time?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One pass that gathers several answers at once beats looping over the same data...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will this program display?</a:t>
            </a:r>
            <a:endParaRPr lang="en-US" sz="2600" dirty="0"/>
          </a:p>
        </p:txBody>
      </p:sp>
      <p:sp>
        <p:nvSpPr>
          <p:cNvPr id="9" name="Shape 7"/>
          <p:cNvSpPr/>
          <p:nvPr/>
        </p:nvSpPr>
        <p:spPr>
          <a:xfrm>
            <a:off x="502920" y="2148840"/>
            <a:ext cx="5029200" cy="1005840"/>
          </a:xfrm>
          <a:prstGeom prst="roundRect">
            <a:avLst>
              <a:gd name="adj" fmla="val 10909"/>
            </a:avLst>
          </a:prstGeom>
          <a:solidFill>
            <a:srgbClr val="FFFFFF"/>
          </a:solidFill>
          <a:ln w="15875">
            <a:solidFill>
              <a:srgbClr val="D9DEE7"/>
            </a:solidFill>
            <a:prstDash val="solid"/>
          </a:ln>
        </p:spPr>
      </p:sp>
      <p:sp>
        <p:nvSpPr>
          <p:cNvPr id="10" name="Text 8"/>
          <p:cNvSpPr txBox="1"/>
          <p:nvPr/>
        </p:nvSpPr>
        <p:spPr>
          <a:xfrm>
            <a:off x="822960" y="2350008"/>
            <a:ext cx="4480560" cy="603504"/>
          </a:xfrm>
          <a:prstGeom prst="rect">
            <a:avLst/>
          </a:prstGeom>
          <a:noFill/>
          <a:ln/>
        </p:spPr>
        <p:txBody>
          <a:bodyPr wrap="square" lIns="0" tIns="0" rIns="0" bIns="0" rtlCol="0" anchor="t"/>
          <a:lstStyle/>
          <a:p>
            <a:pPr indent="0" marL="0">
              <a:lnSpc>
                <a:spcPct val="125000"/>
              </a:lnSpc>
              <a:buNone/>
            </a:pPr>
            <a:r>
              <a:rPr lang="en-US" sz="1500" dirty="0">
                <a:solidFill>
                  <a:srgbClr val="101828"/>
                </a:solidFill>
                <a:latin typeface="IBM Plex Mono" pitchFamily="34" charset="0"/>
                <a:ea typeface="IBM Plex Mono" pitchFamily="34" charset="-122"/>
                <a:cs typeface="IBM Plex Mono" pitchFamily="34" charset="-120"/>
              </a:rPr>
              <a:t>for n in range(1, 10, 3):</a:t>
            </a:r>
            <a:endParaRPr lang="en-US" sz="1500" dirty="0"/>
          </a:p>
          <a:p>
            <a:pPr indent="0" marL="0">
              <a:lnSpc>
                <a:spcPct val="125000"/>
              </a:lnSpc>
              <a:buNone/>
            </a:pPr>
            <a:r>
              <a:rPr lang="en-US" sz="1500" dirty="0">
                <a:solidFill>
                  <a:srgbClr val="101828"/>
                </a:solidFill>
                <a:latin typeface="IBM Plex Mono" pitchFamily="34" charset="0"/>
                <a:ea typeface="IBM Plex Mono" pitchFamily="34" charset="-122"/>
                <a:cs typeface="IBM Plex Mono" pitchFamily="34" charset="-120"/>
              </a:rPr>
              <a:t>    print(n)</a:t>
            </a:r>
            <a:endParaRPr lang="en-US" sz="1500" dirty="0"/>
          </a:p>
        </p:txBody>
      </p:sp>
      <p:sp>
        <p:nvSpPr>
          <p:cNvPr id="11" name="Shape 9"/>
          <p:cNvSpPr/>
          <p:nvPr/>
        </p:nvSpPr>
        <p:spPr>
          <a:xfrm>
            <a:off x="5806440" y="2148840"/>
            <a:ext cx="5852160" cy="731520"/>
          </a:xfrm>
          <a:prstGeom prst="roundRect">
            <a:avLst>
              <a:gd name="adj" fmla="val 15000"/>
            </a:avLst>
          </a:prstGeom>
          <a:solidFill>
            <a:srgbClr val="FFFFFF"/>
          </a:solidFill>
          <a:ln w="15875">
            <a:solidFill>
              <a:srgbClr val="D9DEE7"/>
            </a:solidFill>
            <a:prstDash val="solid"/>
          </a:ln>
        </p:spPr>
      </p:sp>
      <p:sp>
        <p:nvSpPr>
          <p:cNvPr id="12" name="Shape 10"/>
          <p:cNvSpPr/>
          <p:nvPr/>
        </p:nvSpPr>
        <p:spPr>
          <a:xfrm>
            <a:off x="6080760" y="2295144"/>
            <a:ext cx="438912" cy="438912"/>
          </a:xfrm>
          <a:prstGeom prst="roundRect">
            <a:avLst>
              <a:gd name="adj" fmla="val 20833"/>
            </a:avLst>
          </a:prstGeom>
          <a:solidFill>
            <a:srgbClr val="EEF2FB"/>
          </a:solidFill>
          <a:ln/>
        </p:spPr>
      </p:sp>
      <p:sp>
        <p:nvSpPr>
          <p:cNvPr id="13" name="Text 11"/>
          <p:cNvSpPr txBox="1"/>
          <p:nvPr/>
        </p:nvSpPr>
        <p:spPr>
          <a:xfrm>
            <a:off x="608076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4" name="Text 12"/>
          <p:cNvSpPr txBox="1"/>
          <p:nvPr/>
        </p:nvSpPr>
        <p:spPr>
          <a:xfrm>
            <a:off x="6720840" y="2148840"/>
            <a:ext cx="475488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1</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2</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3</a:t>
            </a:r>
            <a:endParaRPr lang="en-US" sz="1700" dirty="0"/>
          </a:p>
        </p:txBody>
      </p:sp>
      <p:sp>
        <p:nvSpPr>
          <p:cNvPr id="15" name="Shape 13"/>
          <p:cNvSpPr/>
          <p:nvPr/>
        </p:nvSpPr>
        <p:spPr>
          <a:xfrm>
            <a:off x="5806440" y="3017520"/>
            <a:ext cx="5852160" cy="731520"/>
          </a:xfrm>
          <a:prstGeom prst="roundRect">
            <a:avLst>
              <a:gd name="adj" fmla="val 15000"/>
            </a:avLst>
          </a:prstGeom>
          <a:solidFill>
            <a:srgbClr val="FFFFFF"/>
          </a:solidFill>
          <a:ln w="15875">
            <a:solidFill>
              <a:srgbClr val="D9DEE7"/>
            </a:solidFill>
            <a:prstDash val="solid"/>
          </a:ln>
        </p:spPr>
      </p:sp>
      <p:sp>
        <p:nvSpPr>
          <p:cNvPr id="16" name="Shape 14"/>
          <p:cNvSpPr/>
          <p:nvPr/>
        </p:nvSpPr>
        <p:spPr>
          <a:xfrm>
            <a:off x="6080760" y="3163824"/>
            <a:ext cx="438912" cy="438912"/>
          </a:xfrm>
          <a:prstGeom prst="roundRect">
            <a:avLst>
              <a:gd name="adj" fmla="val 20833"/>
            </a:avLst>
          </a:prstGeom>
          <a:solidFill>
            <a:srgbClr val="EEF2FB"/>
          </a:solidFill>
          <a:ln/>
        </p:spPr>
      </p:sp>
      <p:sp>
        <p:nvSpPr>
          <p:cNvPr id="17" name="Text 15"/>
          <p:cNvSpPr txBox="1"/>
          <p:nvPr/>
        </p:nvSpPr>
        <p:spPr>
          <a:xfrm>
            <a:off x="608076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8" name="Text 16"/>
          <p:cNvSpPr txBox="1"/>
          <p:nvPr/>
        </p:nvSpPr>
        <p:spPr>
          <a:xfrm>
            <a:off x="6720840" y="3017520"/>
            <a:ext cx="475488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1</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4</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7</a:t>
            </a:r>
            <a:endParaRPr lang="en-US" sz="1700" dirty="0"/>
          </a:p>
        </p:txBody>
      </p:sp>
      <p:sp>
        <p:nvSpPr>
          <p:cNvPr id="19" name="Shape 17"/>
          <p:cNvSpPr/>
          <p:nvPr/>
        </p:nvSpPr>
        <p:spPr>
          <a:xfrm>
            <a:off x="5806440" y="3886200"/>
            <a:ext cx="5852160" cy="731520"/>
          </a:xfrm>
          <a:prstGeom prst="roundRect">
            <a:avLst>
              <a:gd name="adj" fmla="val 15000"/>
            </a:avLst>
          </a:prstGeom>
          <a:solidFill>
            <a:srgbClr val="FFFFFF"/>
          </a:solidFill>
          <a:ln w="15875">
            <a:solidFill>
              <a:srgbClr val="D9DEE7"/>
            </a:solidFill>
            <a:prstDash val="solid"/>
          </a:ln>
        </p:spPr>
      </p:sp>
      <p:sp>
        <p:nvSpPr>
          <p:cNvPr id="20" name="Shape 18"/>
          <p:cNvSpPr/>
          <p:nvPr/>
        </p:nvSpPr>
        <p:spPr>
          <a:xfrm>
            <a:off x="6080760" y="4032504"/>
            <a:ext cx="438912" cy="438912"/>
          </a:xfrm>
          <a:prstGeom prst="roundRect">
            <a:avLst>
              <a:gd name="adj" fmla="val 20833"/>
            </a:avLst>
          </a:prstGeom>
          <a:solidFill>
            <a:srgbClr val="EEF2FB"/>
          </a:solidFill>
          <a:ln/>
        </p:spPr>
      </p:sp>
      <p:sp>
        <p:nvSpPr>
          <p:cNvPr id="21" name="Text 19"/>
          <p:cNvSpPr txBox="1"/>
          <p:nvPr/>
        </p:nvSpPr>
        <p:spPr>
          <a:xfrm>
            <a:off x="608076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2" name="Text 20"/>
          <p:cNvSpPr txBox="1"/>
          <p:nvPr/>
        </p:nvSpPr>
        <p:spPr>
          <a:xfrm>
            <a:off x="6720840" y="3886200"/>
            <a:ext cx="475488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1</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4</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7</a:t>
            </a:r>
            <a:endParaRPr lang="en-US" sz="1700" dirty="0"/>
          </a:p>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10</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How many times?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loops are waiting on the floor below you. Tap the star and sort each one by how many times its block runs.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Three structures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Sequence, selection and iteration are the three building blocks of every program ever written.</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Why i</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loop variable is traditionally i, for index, with j and k for nested loops - but a name that says what it counts is clearer.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Counting down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negative step counts backwards, which is how a program works through a list from the end to the start.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One pass, many answers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single loop can build a total, a count and a highest value all at once, which saves going through the data twice.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should print the numbers 1 to 10 but prints 0 to 9 instead. Its loop begins </a:t>
            </a:r>
            <a:pPr indent="0" marL="0">
              <a:lnSpc>
                <a:spcPct val="118000"/>
              </a:lnSpc>
              <a:buNone/>
            </a:pPr>
            <a:r>
              <a:rPr lang="en-US" sz="1700" dirty="0">
                <a:solidFill>
                  <a:srgbClr val="6B21A8"/>
                </a:solidFill>
                <a:latin typeface="IBM Plex Mono" pitchFamily="34" charset="0"/>
                <a:ea typeface="IBM Plex Mono" pitchFamily="34" charset="-122"/>
                <a:cs typeface="IBM Plex Mono" pitchFamily="34" charset="-120"/>
              </a:rPr>
              <a:t>for</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i</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6B21A8"/>
                </a:solidFill>
                <a:latin typeface="IBM Plex Mono" pitchFamily="34" charset="0"/>
                <a:ea typeface="IBM Plex Mono" pitchFamily="34" charset="-122"/>
                <a:cs typeface="IBM Plex Mono" pitchFamily="34" charset="-120"/>
              </a:rPr>
              <a:t>in</a:t>
            </a:r>
            <a:pPr indent="0" marL="0">
              <a:lnSpc>
                <a:spcPct val="118000"/>
              </a:lnSpc>
              <a:buNone/>
            </a:pPr>
            <a:r>
              <a:rPr lang="en-US" sz="1700" dirty="0">
                <a:solidFill>
                  <a:srgbClr val="18181B"/>
                </a:solidFill>
                <a:latin typeface="IBM Plex Mono" pitchFamily="34" charset="0"/>
                <a:ea typeface="IBM Plex Mono" pitchFamily="34" charset="-122"/>
                <a:cs typeface="IBM Plex Mono" pitchFamily="34" charset="-120"/>
              </a:rPr>
              <a:t> </a:t>
            </a:r>
            <a:pPr indent="0" marL="0">
              <a:lnSpc>
                <a:spcPct val="118000"/>
              </a:lnSpc>
              <a:buNone/>
            </a:pPr>
            <a:r>
              <a:rPr lang="en-US" sz="1700" dirty="0">
                <a:solidFill>
                  <a:srgbClr val="1D4ED8"/>
                </a:solidFill>
                <a:latin typeface="IBM Plex Mono" pitchFamily="34" charset="0"/>
                <a:ea typeface="IBM Plex Mono" pitchFamily="34" charset="-122"/>
                <a:cs typeface="IBM Plex Mono" pitchFamily="34" charset="-120"/>
              </a:rPr>
              <a:t>range</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a:t>
            </a:r>
            <a:pPr indent="0" marL="0">
              <a:lnSpc>
                <a:spcPct val="118000"/>
              </a:lnSpc>
              <a:buNone/>
            </a:pPr>
            <a:r>
              <a:rPr lang="en-US" sz="1700" dirty="0">
                <a:solidFill>
                  <a:srgbClr val="9A3412"/>
                </a:solidFill>
                <a:latin typeface="IBM Plex Mono" pitchFamily="34" charset="0"/>
                <a:ea typeface="IBM Plex Mono" pitchFamily="34" charset="-122"/>
                <a:cs typeface="IBM Plex Mono" pitchFamily="34" charset="-120"/>
              </a:rPr>
              <a:t>10</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a:t>
            </a:r>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 State which values the original </a:t>
            </a:r>
            <a:pPr indent="0" marL="0">
              <a:lnSpc>
                <a:spcPct val="118000"/>
              </a:lnSpc>
              <a:buNone/>
            </a:pPr>
            <a:r>
              <a:rPr lang="en-US" sz="1700" dirty="0">
                <a:solidFill>
                  <a:srgbClr val="1D4ED8"/>
                </a:solidFill>
                <a:latin typeface="IBM Plex Mono" pitchFamily="34" charset="0"/>
                <a:ea typeface="IBM Plex Mono" pitchFamily="34" charset="-122"/>
                <a:cs typeface="IBM Plex Mono" pitchFamily="34" charset="-120"/>
              </a:rPr>
              <a:t>range</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a:t>
            </a:r>
            <a:pPr indent="0" marL="0">
              <a:lnSpc>
                <a:spcPct val="118000"/>
              </a:lnSpc>
              <a:buNone/>
            </a:pPr>
            <a:r>
              <a:rPr lang="en-US" sz="1700" dirty="0">
                <a:solidFill>
                  <a:srgbClr val="3F3F46"/>
                </a:solidFill>
                <a:latin typeface="IBM Plex Mono" pitchFamily="34" charset="0"/>
                <a:ea typeface="IBM Plex Mono" pitchFamily="34" charset="-122"/>
                <a:cs typeface="IBM Plex Mono" pitchFamily="34" charset="-120"/>
              </a:rPr>
              <a:t>)</a:t>
            </a:r>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 counted through, and rewrite the line so the loop prints 1 to 10.</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how many numbers there are, then reads that many whole numbers and prints their total and their average.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a whole number and prints that many lines, the first holding one * character, the second two, and so on.</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Writing a for loop with the right range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Keeping a running total inside a loop</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Using one loop inside another</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Count-controlled loops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4 — Count-controlled loops</dc:title>
  <dc:subject>OCR J277 GCSE Computer Science</dc:subject>
  <dc:creator>Revise 360 Ltd</dc:creator>
  <cp:lastModifiedBy>Revise 360 Ltd</cp:lastModifiedBy>
  <cp:revision>1</cp:revision>
  <dcterms:created xsi:type="dcterms:W3CDTF">2026-10-03T17:08:51Z</dcterms:created>
  <dcterms:modified xsi:type="dcterms:W3CDTF">2026-10-03T17:08:51Z</dcterms:modified>
</cp:coreProperties>
</file>