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Pseudocode press.
Open the experience at revise360.co.uk and hand out AL_L05_PseudocodePress_Worksheet.docx.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What pseudocode is.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Variables and assignment.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Selection.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Iteration.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Arrays and subprograms.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Reading the reference language.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 this at the front, line by line, saying the decisions rather than reading the code. Stop before the finished panel and ask the class where the counter should go; the wrong answer - inside the loop - is the one that costs marks in the exam, and it is worth hearing it said out loud before you correct it.
The scenario is deliberately not one the pupils are about to write. The station challenges are a greeting, a pass or fail, the numbers one to five and the third item of an array; the exam practice is ten numbers and the largest. Counting ages over a threshold is none of them.
If the class is secure, ask what changes if the club has an unknown number of members. The answer is a while loop with a sentinel, which is where this goes next.
Say this out loud: Say the three lines that are not obvious out loud: why the counter is set before the loop, why 0 to 7 is eight, and why the output is outside.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D: Five.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Iteration, and work through its example again, aloud, with the class watching, then re-ask this question.
The course's own response to a wrong answer here: Both ends are included in the reference language.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(al-l05-s4-c2),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5</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Pseudocode press</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Pseudocode is the halfway house between English and code: precise enough to follow exactly, free of the fuss of a real language. The exam uses its own version, so learn to read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is an algorithm written so that anyone can follow it exactly?</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what is meant by the term pseudocode</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how to write pseudocode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OCR reference language</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1920240"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Pseudocode</a:t>
            </a:r>
            <a:endParaRPr lang="en-US" sz="1200" dirty="0"/>
          </a:p>
        </p:txBody>
      </p:sp>
      <p:sp>
        <p:nvSpPr>
          <p:cNvPr id="19" name="Shape 17"/>
          <p:cNvSpPr/>
          <p:nvPr/>
        </p:nvSpPr>
        <p:spPr>
          <a:xfrm>
            <a:off x="2596896" y="5468112"/>
            <a:ext cx="3090672"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2596896" y="5468112"/>
            <a:ext cx="309067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Reference language</a:t>
            </a:r>
            <a:endParaRPr lang="en-US" sz="1200" dirty="0"/>
          </a:p>
        </p:txBody>
      </p:sp>
      <p:sp>
        <p:nvSpPr>
          <p:cNvPr id="21" name="Shape 19"/>
          <p:cNvSpPr/>
          <p:nvPr/>
        </p:nvSpPr>
        <p:spPr>
          <a:xfrm>
            <a:off x="5815584" y="5468112"/>
            <a:ext cx="1627632"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5815584" y="5468112"/>
            <a:ext cx="162763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Variable</a:t>
            </a:r>
            <a:endParaRPr lang="en-US" sz="1200" dirty="0"/>
          </a:p>
        </p:txBody>
      </p:sp>
      <p:sp>
        <p:nvSpPr>
          <p:cNvPr id="23" name="Shape 21"/>
          <p:cNvSpPr/>
          <p:nvPr/>
        </p:nvSpPr>
        <p:spPr>
          <a:xfrm>
            <a:off x="7571232" y="5468112"/>
            <a:ext cx="1773936"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7571232"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Selection</a:t>
            </a:r>
            <a:endParaRPr lang="en-US" sz="1200" dirty="0"/>
          </a:p>
        </p:txBody>
      </p:sp>
      <p:sp>
        <p:nvSpPr>
          <p:cNvPr id="25" name="Shape 23"/>
          <p:cNvSpPr/>
          <p:nvPr/>
        </p:nvSpPr>
        <p:spPr>
          <a:xfrm>
            <a:off x="9473184" y="5468112"/>
            <a:ext cx="1773936"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9473184" y="5468112"/>
            <a:ext cx="177393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Iteration</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Write instructions for making a cup of tea so precise that someone who has never seen a kettle could follow them.</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Pseudocode press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What pseudocode is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Pseudocode describes an algorithm in a structured, language-free way.</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cannot be run: it is written for a human reader, not a computer.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lets you plan the logic before choosing a language.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pseudocode is written even though it cannot be run.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Pseudocode is...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Variables and assignment</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variable is a named place to store a value that can change.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Assignment puts a value into a variable: total = 0.</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reference language, input is written name = input('...') and output is print(...).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three lines of pseudocode that input a name and greet the user.</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Variables and assignment work by...</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Selection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Selection chooses between paths using if, elseif and else.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condition uses comparison operators: ==, !=, &lt;, &gt;, &lt;=, &gt;=.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In the reference language a block ends with endif.</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pseudocode that reports whether a mark is a pass or a fail.</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Selection in pseudocode uses...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Iteration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Iteration repeats steps. A for loop repeats a known number of times.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while loop repeats as long as a condition is true, and may never run at all.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do-until loop always runs at least once, then checks.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a loop that prints the numbers one to five.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Iteration in pseudocode uses...</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Arrays and subprograms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An array holds several values under one name, numbered from zero.</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scores[0] is the first item, scores[1] the second.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subprogram is defined with function or procedure and called by name.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pseudocode that outputs the third item of an array called names.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Arrays and subprograms in pseudocode...</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the reference language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exam uses OCR's own reference language, close to Python but not identical.</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You are never asked to write in a specific language: any clear pseudocode is accepted.</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You do need to read the reference language accurately.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Read a short reference-language program and state its output.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The OCR reference language...</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Watch me write one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 different problem from yours, so you get the method and not the answer</a:t>
            </a:r>
            <a:endParaRPr lang="en-US" sz="1500" dirty="0"/>
          </a:p>
        </p:txBody>
      </p:sp>
      <p:sp>
        <p:nvSpPr>
          <p:cNvPr id="7" name="Shape 5"/>
          <p:cNvSpPr/>
          <p:nvPr/>
        </p:nvSpPr>
        <p:spPr>
          <a:xfrm>
            <a:off x="502920" y="1719072"/>
            <a:ext cx="3566160" cy="2016811"/>
          </a:xfrm>
          <a:prstGeom prst="roundRect">
            <a:avLst>
              <a:gd name="adj" fmla="val 5441"/>
            </a:avLst>
          </a:prstGeom>
          <a:solidFill>
            <a:srgbClr val="FFFFFF"/>
          </a:solidFill>
          <a:ln w="15875">
            <a:solidFill>
              <a:srgbClr val="D9DEE7"/>
            </a:solidFill>
            <a:prstDash val="solid"/>
          </a:ln>
        </p:spPr>
      </p:sp>
      <p:sp>
        <p:nvSpPr>
          <p:cNvPr id="8" name="Text 6"/>
          <p:cNvSpPr txBox="1"/>
          <p:nvPr/>
        </p:nvSpPr>
        <p:spPr>
          <a:xfrm>
            <a:off x="77724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THE PROBLEM</a:t>
            </a:r>
            <a:endParaRPr lang="en-US" sz="1100" dirty="0"/>
          </a:p>
        </p:txBody>
      </p:sp>
      <p:sp>
        <p:nvSpPr>
          <p:cNvPr id="9" name="Text 7"/>
          <p:cNvSpPr txBox="1"/>
          <p:nvPr/>
        </p:nvSpPr>
        <p:spPr>
          <a:xfrm>
            <a:off x="777240" y="2231136"/>
            <a:ext cx="3017520" cy="135844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A club records the age of eight members.</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Write an algorithm, using pseudocode, that outputs how many of them are 18 or over.  [6]</a:t>
            </a:r>
            <a:endParaRPr lang="en-US" sz="1100" dirty="0"/>
          </a:p>
        </p:txBody>
      </p:sp>
      <p:sp>
        <p:nvSpPr>
          <p:cNvPr id="10" name="Shape 8"/>
          <p:cNvSpPr/>
          <p:nvPr/>
        </p:nvSpPr>
        <p:spPr>
          <a:xfrm>
            <a:off x="4297680" y="1719072"/>
            <a:ext cx="3566160" cy="2016811"/>
          </a:xfrm>
          <a:prstGeom prst="roundRect">
            <a:avLst>
              <a:gd name="adj" fmla="val 5441"/>
            </a:avLst>
          </a:prstGeom>
          <a:solidFill>
            <a:srgbClr val="FFFFFF"/>
          </a:solidFill>
          <a:ln w="15875">
            <a:solidFill>
              <a:srgbClr val="D9DEE7"/>
            </a:solidFill>
            <a:prstDash val="solid"/>
          </a:ln>
        </p:spPr>
      </p:sp>
      <p:sp>
        <p:nvSpPr>
          <p:cNvPr id="11" name="Text 9"/>
          <p:cNvSpPr txBox="1"/>
          <p:nvPr/>
        </p:nvSpPr>
        <p:spPr>
          <a:xfrm>
            <a:off x="457200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WHAT I'M THINKING</a:t>
            </a:r>
            <a:endParaRPr lang="en-US" sz="1100" dirty="0"/>
          </a:p>
        </p:txBody>
      </p:sp>
      <p:sp>
        <p:nvSpPr>
          <p:cNvPr id="12" name="Text 10"/>
          <p:cNvSpPr txBox="1"/>
          <p:nvPr/>
        </p:nvSpPr>
        <p:spPr>
          <a:xfrm>
            <a:off x="4572000" y="2231136"/>
            <a:ext cx="3017520" cy="135844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Eight of something means a count-controlled loop.</a:t>
            </a:r>
            <a:endParaRPr lang="en-US" sz="1100" dirty="0"/>
          </a:p>
          <a:p>
            <a:pPr indent="0" marL="0">
              <a:lnSpc>
                <a:spcPct val="118000"/>
              </a:lnSpc>
              <a:buNone/>
            </a:pP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The counter has to survive the loop, so it is set before it and output after it.</a:t>
            </a:r>
            <a:endParaRPr lang="en-US" sz="1100" dirty="0"/>
          </a:p>
        </p:txBody>
      </p:sp>
      <p:sp>
        <p:nvSpPr>
          <p:cNvPr id="13" name="Shape 11"/>
          <p:cNvSpPr/>
          <p:nvPr/>
        </p:nvSpPr>
        <p:spPr>
          <a:xfrm>
            <a:off x="8092440" y="1719072"/>
            <a:ext cx="3566160" cy="2016811"/>
          </a:xfrm>
          <a:prstGeom prst="roundRect">
            <a:avLst>
              <a:gd name="adj" fmla="val 5441"/>
            </a:avLst>
          </a:prstGeom>
          <a:solidFill>
            <a:srgbClr val="FFFFFF"/>
          </a:solidFill>
          <a:ln w="15875">
            <a:solidFill>
              <a:srgbClr val="D9DEE7"/>
            </a:solidFill>
            <a:prstDash val="solid"/>
          </a:ln>
        </p:spPr>
      </p:sp>
      <p:sp>
        <p:nvSpPr>
          <p:cNvPr id="14" name="Text 12"/>
          <p:cNvSpPr txBox="1"/>
          <p:nvPr/>
        </p:nvSpPr>
        <p:spPr>
          <a:xfrm>
            <a:off x="8366760" y="1883664"/>
            <a:ext cx="3017520" cy="292608"/>
          </a:xfrm>
          <a:prstGeom prst="rect">
            <a:avLst/>
          </a:prstGeom>
          <a:noFill/>
          <a:ln/>
        </p:spPr>
        <p:txBody>
          <a:bodyPr wrap="square" lIns="0" tIns="0" rIns="0" bIns="0" rtlCol="0" anchor="ctr"/>
          <a:lstStyle/>
          <a:p>
            <a:pPr indent="0" marL="0">
              <a:buNone/>
            </a:pPr>
            <a:r>
              <a:rPr lang="en-US" sz="1100" b="1" dirty="0">
                <a:solidFill>
                  <a:srgbClr val="667085"/>
                </a:solidFill>
                <a:latin typeface="IBM Plex Mono" pitchFamily="34" charset="0"/>
                <a:ea typeface="IBM Plex Mono" pitchFamily="34" charset="-122"/>
                <a:cs typeface="IBM Plex Mono" pitchFamily="34" charset="-120"/>
              </a:rPr>
              <a:t>HOW I BUILD IT</a:t>
            </a:r>
            <a:endParaRPr lang="en-US" sz="1100" dirty="0"/>
          </a:p>
        </p:txBody>
      </p:sp>
      <p:sp>
        <p:nvSpPr>
          <p:cNvPr id="15" name="Text 13"/>
          <p:cNvSpPr txBox="1"/>
          <p:nvPr/>
        </p:nvSpPr>
        <p:spPr>
          <a:xfrm>
            <a:off x="8366760" y="2231136"/>
            <a:ext cx="3017520" cy="1358443"/>
          </a:xfrm>
          <a:prstGeom prst="rect">
            <a:avLst/>
          </a:prstGeom>
          <a:noFill/>
          <a:ln/>
        </p:spPr>
        <p:txBody>
          <a:bodyPr wrap="square" lIns="0" tIns="0" rIns="0" bIns="0" rtlCol="0" anchor="t"/>
          <a:lstStyle/>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Counter set to 0 BEFORE the loop.</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for i = 0 to 7 is eight passes, not nine.</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18 or over is &gt;=, not &gt;.</a:t>
            </a:r>
            <a:endParaRPr lang="en-US" sz="1100" dirty="0"/>
          </a:p>
          <a:p>
            <a:pPr indent="0" marL="0">
              <a:lnSpc>
                <a:spcPct val="118000"/>
              </a:lnSpc>
              <a:buNone/>
            </a:pPr>
            <a:r>
              <a:rPr lang="en-US" sz="1100" dirty="0">
                <a:solidFill>
                  <a:srgbClr val="101828"/>
                </a:solidFill>
                <a:latin typeface="IBM Plex Sans" pitchFamily="34" charset="0"/>
                <a:ea typeface="IBM Plex Sans" pitchFamily="34" charset="-122"/>
                <a:cs typeface="IBM Plex Sans" pitchFamily="34" charset="-120"/>
              </a:rPr>
              <a:t>Output AFTER the loop, not inside it.</a:t>
            </a:r>
            <a:endParaRPr lang="en-US" sz="1100" dirty="0"/>
          </a:p>
        </p:txBody>
      </p:sp>
      <p:sp>
        <p:nvSpPr>
          <p:cNvPr id="16" name="Shape 14"/>
          <p:cNvSpPr/>
          <p:nvPr/>
        </p:nvSpPr>
        <p:spPr>
          <a:xfrm>
            <a:off x="502920" y="3873043"/>
            <a:ext cx="11155680" cy="2463749"/>
          </a:xfrm>
          <a:prstGeom prst="roundRect">
            <a:avLst>
              <a:gd name="adj" fmla="val 4454"/>
            </a:avLst>
          </a:prstGeom>
          <a:solidFill>
            <a:srgbClr val="FFFFFF"/>
          </a:solidFill>
          <a:ln w="15875">
            <a:solidFill>
              <a:srgbClr val="08A6A6"/>
            </a:solidFill>
            <a:prstDash val="solid"/>
          </a:ln>
        </p:spPr>
      </p:sp>
      <p:sp>
        <p:nvSpPr>
          <p:cNvPr id="17" name="Text 15"/>
          <p:cNvSpPr txBox="1"/>
          <p:nvPr/>
        </p:nvSpPr>
        <p:spPr>
          <a:xfrm>
            <a:off x="868680" y="4037635"/>
            <a:ext cx="10424160" cy="292608"/>
          </a:xfrm>
          <a:prstGeom prst="rect">
            <a:avLst/>
          </a:prstGeom>
          <a:noFill/>
          <a:ln/>
        </p:spPr>
        <p:txBody>
          <a:bodyPr wrap="square" lIns="0" tIns="0" rIns="0" bIns="0" rtlCol="0" anchor="ctr"/>
          <a:lstStyle/>
          <a:p>
            <a:pPr indent="0" marL="0">
              <a:buNone/>
            </a:pPr>
            <a:r>
              <a:rPr lang="en-US" sz="1100" b="1" dirty="0">
                <a:solidFill>
                  <a:srgbClr val="08A6A6"/>
                </a:solidFill>
                <a:latin typeface="IBM Plex Mono" pitchFamily="34" charset="0"/>
                <a:ea typeface="IBM Plex Mono" pitchFamily="34" charset="-122"/>
                <a:cs typeface="IBM Plex Mono" pitchFamily="34" charset="-120"/>
              </a:rPr>
              <a:t>THE FINISHED PSEUDOCODE</a:t>
            </a:r>
            <a:endParaRPr lang="en-US" sz="1100" dirty="0"/>
          </a:p>
        </p:txBody>
      </p:sp>
      <p:sp>
        <p:nvSpPr>
          <p:cNvPr id="18" name="Text 16"/>
          <p:cNvSpPr txBox="1"/>
          <p:nvPr/>
        </p:nvSpPr>
        <p:spPr>
          <a:xfrm>
            <a:off x="868680" y="4385107"/>
            <a:ext cx="10424160" cy="1841957"/>
          </a:xfrm>
          <a:prstGeom prst="rect">
            <a:avLst/>
          </a:prstGeom>
          <a:noFill/>
          <a:ln/>
        </p:spPr>
        <p:txBody>
          <a:bodyPr wrap="square" lIns="0" tIns="0" rIns="0" bIns="0" rtlCol="0" anchor="t"/>
          <a:lstStyle/>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total = 0</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for i = 0 to 7</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    age = input("Age: ")</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    if age &gt;= 18 then</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        total = total + 1</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    endif</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next i</a:t>
            </a:r>
            <a:endParaRPr lang="en-US" sz="1300" dirty="0"/>
          </a:p>
          <a:p>
            <a:pPr indent="0" marL="0">
              <a:lnSpc>
                <a:spcPct val="120000"/>
              </a:lnSpc>
              <a:buNone/>
            </a:pPr>
            <a:r>
              <a:rPr lang="en-US" sz="1300" dirty="0">
                <a:solidFill>
                  <a:srgbClr val="101828"/>
                </a:solidFill>
                <a:latin typeface="IBM Plex Sans" pitchFamily="34" charset="0"/>
                <a:ea typeface="IBM Plex Sans" pitchFamily="34" charset="-122"/>
                <a:cs typeface="IBM Plex Sans" pitchFamily="34" charset="-120"/>
              </a:rPr>
              <a:t>print(total)</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How many times does 'for i = 1 to 5' run its body?</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Four</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Six</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It depends on i</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Five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Read the code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Three short programs in the reference language. Tap the star and work out what each one does.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standard</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There is no official pseudocode. Every exam board and textbook has its own, which is why OCR publishes a reference guide.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Close to Python</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reference language looks like Python on purpose, because so many schools teach Python, but the endif and next keywords are not Python.</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Zero indexing</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Arrays start at zero in most languages, a habit that comes from the arithmetic of memory addresses.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Off by one</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The commonest loop bug in the world is running one time too many or too few. Count the repeats by hand when checking.</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what is meant by pseudocode.</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Explain the difference between a for loop and a while loop.</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an algorithm, using pseudocode, that inputs ten numbers and outputs the largest.</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[6]</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5</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What pseudocode is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Selection and iteration</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Reading the OCR reference language</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Pseudocode press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5 — Pseudocode press</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