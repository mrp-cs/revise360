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844139dd69e4a1e" /><Relationship Type="http://schemas.openxmlformats.org/officeDocument/2006/relationships/extended-properties" Target="/docProps/app.xml" Id="R334d852c61ca41c5" /><Relationship Type="http://schemas.openxmlformats.org/officeDocument/2006/relationships/officeDocument" Target="/ppt/presentation.xml" Id="Rd5d510369344420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6416a3c0f134b2f"/>
  </p:sldMasterIdLst>
  <p:notesMasterIdLst>
    <p:notesMasterId xmlns:r="http://schemas.openxmlformats.org/officeDocument/2006/relationships" r:id="Rc9c1052b69934cda"/>
  </p:notesMasterIdLst>
  <p:sldIdLst>
    <p:sldId xmlns:r="http://schemas.openxmlformats.org/officeDocument/2006/relationships" id="256" r:id="R44a79eed4555439b"/>
    <p:sldId xmlns:r="http://schemas.openxmlformats.org/officeDocument/2006/relationships" id="257" r:id="R128100f7b1df42e8"/>
    <p:sldId xmlns:r="http://schemas.openxmlformats.org/officeDocument/2006/relationships" id="258" r:id="Rd74087f6962c46ab"/>
    <p:sldId xmlns:r="http://schemas.openxmlformats.org/officeDocument/2006/relationships" id="259" r:id="R73487516823a4803"/>
    <p:sldId xmlns:r="http://schemas.openxmlformats.org/officeDocument/2006/relationships" id="260" r:id="Rbae635b077ba4013"/>
    <p:sldId xmlns:r="http://schemas.openxmlformats.org/officeDocument/2006/relationships" id="261" r:id="R3c352b3d78b448c9"/>
    <p:sldId xmlns:r="http://schemas.openxmlformats.org/officeDocument/2006/relationships" id="262" r:id="Ra0fed65100bd474d"/>
    <p:sldId xmlns:r="http://schemas.openxmlformats.org/officeDocument/2006/relationships" id="263" r:id="R3a19e0c0e6904949"/>
    <p:sldId xmlns:r="http://schemas.openxmlformats.org/officeDocument/2006/relationships" id="264" r:id="Rdc902f1c461a4a20"/>
    <p:sldId xmlns:r="http://schemas.openxmlformats.org/officeDocument/2006/relationships" id="265" r:id="Re6df203c3de94362"/>
    <p:sldId xmlns:r="http://schemas.openxmlformats.org/officeDocument/2006/relationships" id="266" r:id="R7755b18ba51045bc"/>
    <p:sldId xmlns:r="http://schemas.openxmlformats.org/officeDocument/2006/relationships" id="267" r:id="R334ee131c7a8426d"/>
    <p:sldId xmlns:r="http://schemas.openxmlformats.org/officeDocument/2006/relationships" id="268" r:id="Rd72753b4e31f4f2e"/>
    <p:sldId xmlns:r="http://schemas.openxmlformats.org/officeDocument/2006/relationships" id="269" r:id="R28cd0820c9024e2c"/>
    <p:sldId xmlns:r="http://schemas.openxmlformats.org/officeDocument/2006/relationships" id="270" r:id="R80ace131d05b461d"/>
    <p:sldId xmlns:r="http://schemas.openxmlformats.org/officeDocument/2006/relationships" id="271" r:id="R146858b17a714450"/>
    <p:sldId xmlns:r="http://schemas.openxmlformats.org/officeDocument/2006/relationships" id="272" r:id="Rca121ddc973c4833"/>
    <p:sldId xmlns:r="http://schemas.openxmlformats.org/officeDocument/2006/relationships" id="273" r:id="R91bb92cfd50242a9"/>
    <p:sldId xmlns:r="http://schemas.openxmlformats.org/officeDocument/2006/relationships" id="274" r:id="R5acd1a2bf03f470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e4dcea779f140f2" /><Relationship Type="http://schemas.openxmlformats.org/officeDocument/2006/relationships/slideMaster" Target="/ppt/slideMasters/slideMaster1.xml" Id="R16416a3c0f134b2f" /><Relationship Type="http://schemas.openxmlformats.org/officeDocument/2006/relationships/notesMaster" Target="/ppt/notesMasters/notesMaster1.xml" Id="Rc9c1052b69934cda" /><Relationship Type="http://schemas.openxmlformats.org/officeDocument/2006/relationships/presProps" Target="/ppt/presProps.xml" Id="R06b1d9f8ce0a4f4f" /><Relationship Type="http://schemas.openxmlformats.org/officeDocument/2006/relationships/tableStyles" Target="/ppt/tableStyles.xml" Id="R8c955bd0a2c8478d" /><Relationship Type="http://schemas.openxmlformats.org/officeDocument/2006/relationships/slide" Target="/ppt/slides/slide1.xml" Id="R44a79eed4555439b" /><Relationship Type="http://schemas.openxmlformats.org/officeDocument/2006/relationships/slide" Target="/ppt/slides/slide2.xml" Id="R128100f7b1df42e8" /><Relationship Type="http://schemas.openxmlformats.org/officeDocument/2006/relationships/slide" Target="/ppt/slides/slide3.xml" Id="Rd74087f6962c46ab" /><Relationship Type="http://schemas.openxmlformats.org/officeDocument/2006/relationships/slide" Target="/ppt/slides/slide4.xml" Id="R73487516823a4803" /><Relationship Type="http://schemas.openxmlformats.org/officeDocument/2006/relationships/slide" Target="/ppt/slides/slide5.xml" Id="Rbae635b077ba4013" /><Relationship Type="http://schemas.openxmlformats.org/officeDocument/2006/relationships/slide" Target="/ppt/slides/slide6.xml" Id="R3c352b3d78b448c9" /><Relationship Type="http://schemas.openxmlformats.org/officeDocument/2006/relationships/slide" Target="/ppt/slides/slide7.xml" Id="Ra0fed65100bd474d" /><Relationship Type="http://schemas.openxmlformats.org/officeDocument/2006/relationships/slide" Target="/ppt/slides/slide8.xml" Id="R3a19e0c0e6904949" /><Relationship Type="http://schemas.openxmlformats.org/officeDocument/2006/relationships/slide" Target="/ppt/slides/slide9.xml" Id="Rdc902f1c461a4a20" /><Relationship Type="http://schemas.openxmlformats.org/officeDocument/2006/relationships/slide" Target="/ppt/slides/slide10.xml" Id="Re6df203c3de94362" /><Relationship Type="http://schemas.openxmlformats.org/officeDocument/2006/relationships/slide" Target="/ppt/slides/slide11.xml" Id="R7755b18ba51045bc" /><Relationship Type="http://schemas.openxmlformats.org/officeDocument/2006/relationships/slide" Target="/ppt/slides/slide12.xml" Id="R334ee131c7a8426d" /><Relationship Type="http://schemas.openxmlformats.org/officeDocument/2006/relationships/slide" Target="/ppt/slides/slide13.xml" Id="Rd72753b4e31f4f2e" /><Relationship Type="http://schemas.openxmlformats.org/officeDocument/2006/relationships/slide" Target="/ppt/slides/slide14.xml" Id="R28cd0820c9024e2c" /><Relationship Type="http://schemas.openxmlformats.org/officeDocument/2006/relationships/slide" Target="/ppt/slides/slide15.xml" Id="R80ace131d05b461d" /><Relationship Type="http://schemas.openxmlformats.org/officeDocument/2006/relationships/slide" Target="/ppt/slides/slide16.xml" Id="R146858b17a714450" /><Relationship Type="http://schemas.openxmlformats.org/officeDocument/2006/relationships/slide" Target="/ppt/slides/slide17.xml" Id="Rca121ddc973c4833" /><Relationship Type="http://schemas.openxmlformats.org/officeDocument/2006/relationships/slide" Target="/ppt/slides/slide18.xml" Id="R91bb92cfd50242a9" /><Relationship Type="http://schemas.openxmlformats.org/officeDocument/2006/relationships/slide" Target="/ppt/slides/slide19.xml" Id="R5acd1a2bf03f470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5bb8dc439094f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4044de7aedf494e" /><Relationship Type="http://schemas.openxmlformats.org/officeDocument/2006/relationships/notesMaster" Target="/ppt/notesMasters/notesMaster1.xml" Id="Rdcba4da6b1dd41e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c0bbddb02b84b04" /><Relationship Type="http://schemas.openxmlformats.org/officeDocument/2006/relationships/notesMaster" Target="/ppt/notesMasters/notesMaster1.xml" Id="Rbb5a730d644b412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f77e793764412a" /><Relationship Type="http://schemas.openxmlformats.org/officeDocument/2006/relationships/notesMaster" Target="/ppt/notesMasters/notesMaster1.xml" Id="R0c51e481cd1240d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ba50d5961a43ae" /><Relationship Type="http://schemas.openxmlformats.org/officeDocument/2006/relationships/notesMaster" Target="/ppt/notesMasters/notesMaster1.xml" Id="R4fd3fb83f096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fd759109e64a95" /><Relationship Type="http://schemas.openxmlformats.org/officeDocument/2006/relationships/notesMaster" Target="/ppt/notesMasters/notesMaster1.xml" Id="Rde124a62b61f4e0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77a3847645941b3" /><Relationship Type="http://schemas.openxmlformats.org/officeDocument/2006/relationships/notesMaster" Target="/ppt/notesMasters/notesMaster1.xml" Id="Rbe172c834a664b8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06be1c11eab4c97" /><Relationship Type="http://schemas.openxmlformats.org/officeDocument/2006/relationships/notesMaster" Target="/ppt/notesMasters/notesMaster1.xml" Id="R39dcca5753c8405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7f4a3245bf34717" /><Relationship Type="http://schemas.openxmlformats.org/officeDocument/2006/relationships/notesMaster" Target="/ppt/notesMasters/notesMaster1.xml" Id="R746a16c9d8aa45a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78da5fd87864261" /><Relationship Type="http://schemas.openxmlformats.org/officeDocument/2006/relationships/notesMaster" Target="/ppt/notesMasters/notesMaster1.xml" Id="R4ae94e71f89d42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ec983d7b5924735" /><Relationship Type="http://schemas.openxmlformats.org/officeDocument/2006/relationships/notesMaster" Target="/ppt/notesMasters/notesMaster1.xml" Id="R0745302fea6646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072379737e64586" /><Relationship Type="http://schemas.openxmlformats.org/officeDocument/2006/relationships/notesMaster" Target="/ppt/notesMasters/notesMaster1.xml" Id="Rd1c2b4eb68f94e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d9942e69fae42f7" /><Relationship Type="http://schemas.openxmlformats.org/officeDocument/2006/relationships/notesMaster" Target="/ppt/notesMasters/notesMaster1.xml" Id="R17e3591418ef4df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7593d1a0ea14303" /><Relationship Type="http://schemas.openxmlformats.org/officeDocument/2006/relationships/notesMaster" Target="/ppt/notesMasters/notesMaster1.xml" Id="R07d0456ecea8459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7be48af16214891" /><Relationship Type="http://schemas.openxmlformats.org/officeDocument/2006/relationships/notesMaster" Target="/ppt/notesMasters/notesMaster1.xml" Id="Raca7edec0d454ad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1027ebdd9a41e2" /><Relationship Type="http://schemas.openxmlformats.org/officeDocument/2006/relationships/notesMaster" Target="/ppt/notesMasters/notesMaster1.xml" Id="Rac254cbe1acf492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79762b1b6a54020" /><Relationship Type="http://schemas.openxmlformats.org/officeDocument/2006/relationships/notesMaster" Target="/ppt/notesMasters/notesMaster1.xml" Id="R2ad0719b758d449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0efdfeeaa0a4dc5" /><Relationship Type="http://schemas.openxmlformats.org/officeDocument/2006/relationships/notesMaster" Target="/ppt/notesMasters/notesMaster1.xml" Id="Rb01b497bb1d14bcc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e13f74438e44f46" /><Relationship Type="http://schemas.openxmlformats.org/officeDocument/2006/relationships/notesMaster" Target="/ppt/notesMasters/notesMaster1.xml" Id="Rd58027fdab994ae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5a971c2ae9f47a8" /><Relationship Type="http://schemas.openxmlformats.org/officeDocument/2006/relationships/notesMaster" Target="/ppt/notesMasters/notesMaster1.xml" Id="Rd3490fb927964c2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image shows the actual opening scene of the experience. Begin with the worksheet starter, or the brief opening question for lessons without one.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learning outcomes follow the lesson worksheet.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answer the worksheet starter before showing the sample answers.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Accept equivalent correct explanations. Reveal after the question so it can be marked as students go.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Students define the exact terms listed on their worksheet.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after the key terminology quiz. Accept accurate definitions in students’ own words.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Leave this combined worksheet and experience instruction slide on the board. The OPEN EXPERIENCE label is a clickable link. Students should complete the experience and reach the plenary near the end of the lesson. First on-screen answers count.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follows the post-experience task, key question or revision results on the worksheet.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this question to extend or improve an explanation before the plenary.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indicative answers. Credit other accurate examples or justified choices.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after completion. These concise points address the worksheet station challenges and help students improve their own wording.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matches, sort categories or ordered steps from the interactive experience task. Use them to check the corresponding worksheet work.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exit, exam-practice or test-ready questions from the worksheet. Allow independent writing before the answers.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Classroom answer points, not an official OCR mark scheme. Ask students to improve one answer.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These are the exact confidence objectives from the worksheet. Students identify one area to revisit.</a:t>
            </a:r>
          </a:p>
          <a:p xmlns:a="http://schemas.openxmlformats.org/drawingml/2006/main">
            <a:r>
              <a:t>Sources: Revise 360 experiences/nw-l05.json and worksheets/NW_L05_InsideTheInternet_Worksheet.docx. Answers are indicative classroom examples, not an official OCR mark scheme.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3e02a8475d48c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3316158666b4305" /><Relationship Type="http://schemas.openxmlformats.org/officeDocument/2006/relationships/slideLayout" Target="/ppt/slideLayouts/slideLayout1.xml" Id="R9b955665eed842c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b955665eed842c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06e9caab8a4c4c" /><Relationship Type="http://schemas.openxmlformats.org/officeDocument/2006/relationships/image" Target="/ppt/media/image.png" Id="Rf7373bbd156f421f" /><Relationship Type="http://schemas.openxmlformats.org/officeDocument/2006/relationships/image" Target="/ppt/media/image.jpeg" Id="Rb436f8cf28524f2b" /><Relationship Type="http://schemas.openxmlformats.org/officeDocument/2006/relationships/notesSlide" Target="/ppt/notesSlides/notesSlide1.xml" Id="Rb371f109efb94ff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d93ef4ec1f459d" /><Relationship Type="http://schemas.openxmlformats.org/officeDocument/2006/relationships/image" Target="/ppt/media/image2.png" Id="R258a60f9da694d30" /><Relationship Type="http://schemas.openxmlformats.org/officeDocument/2006/relationships/notesSlide" Target="/ppt/notesSlides/notesSlide2.xml" Id="R5468e8df21e9443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4e723ff1b74313" /><Relationship Type="http://schemas.openxmlformats.org/officeDocument/2006/relationships/image" Target="/ppt/media/image3.png" Id="R6b70d35873a64955" /><Relationship Type="http://schemas.openxmlformats.org/officeDocument/2006/relationships/notesSlide" Target="/ppt/notesSlides/notesSlide3.xml" Id="Rde73967a00b74b9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efce50e95346f4" /><Relationship Type="http://schemas.openxmlformats.org/officeDocument/2006/relationships/image" Target="/ppt/media/image4.png" Id="Re877e71a3a84423f" /><Relationship Type="http://schemas.openxmlformats.org/officeDocument/2006/relationships/notesSlide" Target="/ppt/notesSlides/notesSlide4.xml" Id="Rbf128f13f45642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19cdfec1c4e38" /><Relationship Type="http://schemas.openxmlformats.org/officeDocument/2006/relationships/image" Target="/ppt/media/image5.png" Id="Ref505662aa0d4100" /><Relationship Type="http://schemas.openxmlformats.org/officeDocument/2006/relationships/notesSlide" Target="/ppt/notesSlides/notesSlide5.xml" Id="R591c124604fb47b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ad482b32dd4fc7" /><Relationship Type="http://schemas.openxmlformats.org/officeDocument/2006/relationships/image" Target="/ppt/media/image6.png" Id="R27f958f229c64b35" /><Relationship Type="http://schemas.openxmlformats.org/officeDocument/2006/relationships/notesSlide" Target="/ppt/notesSlides/notesSlide6.xml" Id="Rbf099593091e48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3d8b2b1da4c12" /><Relationship Type="http://schemas.openxmlformats.org/officeDocument/2006/relationships/image" Target="/ppt/media/image7.png" Id="R95bc8cad412245a6" /><Relationship Type="http://schemas.openxmlformats.org/officeDocument/2006/relationships/hyperlink" Target="https://mrp-cs.github.io/Revise360/experience.html?id=nw-l05" TargetMode="External" Id="R085ead5a96c64e76" /><Relationship Type="http://schemas.openxmlformats.org/officeDocument/2006/relationships/notesSlide" Target="/ppt/notesSlides/notesSlide7.xml" Id="R6babd29e0b45472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e77182f82b4c14" /><Relationship Type="http://schemas.openxmlformats.org/officeDocument/2006/relationships/image" Target="/ppt/media/image8.png" Id="R92b1e9c0912b485a" /><Relationship Type="http://schemas.openxmlformats.org/officeDocument/2006/relationships/notesSlide" Target="/ppt/notesSlides/notesSlide8.xml" Id="R7b958472656b49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b0862801ce74c42" /><Relationship Type="http://schemas.openxmlformats.org/officeDocument/2006/relationships/image" Target="/ppt/media/image9.png" Id="R82c4d2f4532642d1" /><Relationship Type="http://schemas.openxmlformats.org/officeDocument/2006/relationships/notesSlide" Target="/ppt/notesSlides/notesSlide9.xml" Id="R443e69c0b5604d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6826a316684c4a" /><Relationship Type="http://schemas.openxmlformats.org/officeDocument/2006/relationships/image" Target="/ppt/media/image10.png" Id="Ra03d605b4bac4cf5" /><Relationship Type="http://schemas.openxmlformats.org/officeDocument/2006/relationships/notesSlide" Target="/ppt/notesSlides/notesSlide10.xml" Id="R8bdda25bea9d4f6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d3128eb32343a6" /><Relationship Type="http://schemas.openxmlformats.org/officeDocument/2006/relationships/image" Target="/ppt/media/image11.png" Id="Rc22485c4607c44a8" /><Relationship Type="http://schemas.openxmlformats.org/officeDocument/2006/relationships/notesSlide" Target="/ppt/notesSlides/notesSlide11.xml" Id="R4a5b230c989d45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57e494b224964" /><Relationship Type="http://schemas.openxmlformats.org/officeDocument/2006/relationships/image" Target="/ppt/media/image12.png" Id="Re41b98d554f74a86" /><Relationship Type="http://schemas.openxmlformats.org/officeDocument/2006/relationships/notesSlide" Target="/ppt/notesSlides/notesSlide12.xml" Id="R835665ba0b6a498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289ecd6294e52" /><Relationship Type="http://schemas.openxmlformats.org/officeDocument/2006/relationships/image" Target="/ppt/media/image13.png" Id="R89fbca038eb34443" /><Relationship Type="http://schemas.openxmlformats.org/officeDocument/2006/relationships/notesSlide" Target="/ppt/notesSlides/notesSlide13.xml" Id="R16b502c705f941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2f2335fdb54f2d" /><Relationship Type="http://schemas.openxmlformats.org/officeDocument/2006/relationships/image" Target="/ppt/media/image14.png" Id="Ra7b6fc415e43431b" /><Relationship Type="http://schemas.openxmlformats.org/officeDocument/2006/relationships/notesSlide" Target="/ppt/notesSlides/notesSlide14.xml" Id="Ra1cc650523e84ca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97adf492bd4e69" /><Relationship Type="http://schemas.openxmlformats.org/officeDocument/2006/relationships/image" Target="/ppt/media/image15.png" Id="R0f409d4d983c48ab" /><Relationship Type="http://schemas.openxmlformats.org/officeDocument/2006/relationships/notesSlide" Target="/ppt/notesSlides/notesSlide15.xml" Id="R1df09fe96cd048f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eeb3ffec7d454e" /><Relationship Type="http://schemas.openxmlformats.org/officeDocument/2006/relationships/image" Target="/ppt/media/image16.png" Id="R4926d0712cf94f60" /><Relationship Type="http://schemas.openxmlformats.org/officeDocument/2006/relationships/notesSlide" Target="/ppt/notesSlides/notesSlide16.xml" Id="Rfd1d4b3aa4384ce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4d205094b14056" /><Relationship Type="http://schemas.openxmlformats.org/officeDocument/2006/relationships/image" Target="/ppt/media/image17.png" Id="R64a499b7c5244202" /><Relationship Type="http://schemas.openxmlformats.org/officeDocument/2006/relationships/notesSlide" Target="/ppt/notesSlides/notesSlide17.xml" Id="R91a6def78d74409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40b4939ef0465b" /><Relationship Type="http://schemas.openxmlformats.org/officeDocument/2006/relationships/image" Target="/ppt/media/image18.png" Id="Rc57d981a5b664ecf" /><Relationship Type="http://schemas.openxmlformats.org/officeDocument/2006/relationships/notesSlide" Target="/ppt/notesSlides/notesSlide18.xml" Id="R46d80be2c7ef4b1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463d791cee4d1f" /><Relationship Type="http://schemas.openxmlformats.org/officeDocument/2006/relationships/image" Target="/ppt/media/image19.png" Id="Rec8c4fecf31b4908" /><Relationship Type="http://schemas.openxmlformats.org/officeDocument/2006/relationships/notesSlide" Target="/ppt/notesSlides/notesSlide19.xml" Id="R1461792d213e4b9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4E76AD5-8071-4683-8D11-9F08C7D4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F4AD82E-1BD2-4C80-89ED-E19F15C29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05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FCE0251-9B3B-4859-8383-070CAB024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INSIDE THE INTERNET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73bbd156f421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8C6BCBB-1CEA-4948-9B17-705D75157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 / 19</a:t>
            </a:r>
          </a:p>
        </p:txBody>
      </p:sp>
      <p:sp>
        <p:nvSpPr>
          <p:cNvPr id="6" name="subject">
            <a:extLst xmlns:a="http://schemas.openxmlformats.org/drawingml/2006/main">
              <a:ext uri="{FF2B5EF4-FFF2-40B4-BE49-F238E27FC236}">
                <a16:creationId xmlns:a16="http://schemas.microsoft.com/office/drawing/2014/main" id="{7A05636D-36EE-400B-80B0-4B2B3F350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0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The internet, DNS and cloud</a:t>
            </a:r>
          </a:p>
        </p:txBody>
      </p:sp>
      <p:sp>
        <p:nvSpPr>
          <p:cNvPr id="7" name="cover-key-label">
            <a:extLst xmlns:a="http://schemas.openxmlformats.org/drawingml/2006/main">
              <a:ext uri="{FF2B5EF4-FFF2-40B4-BE49-F238E27FC236}">
                <a16:creationId xmlns:a16="http://schemas.microsoft.com/office/drawing/2014/main" id="{345C8E2F-56F5-4F8B-A369-A612C840B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38475"/>
            <a:ext cx="457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KEY QUESTION</a:t>
            </a:r>
          </a:p>
        </p:txBody>
      </p:sp>
      <p:sp>
        <p:nvSpPr>
          <p:cNvPr id="8" name="cover-key-question">
            <a:extLst xmlns:a="http://schemas.openxmlformats.org/drawingml/2006/main">
              <a:ext uri="{FF2B5EF4-FFF2-40B4-BE49-F238E27FC236}">
                <a16:creationId xmlns:a16="http://schemas.microsoft.com/office/drawing/2014/main" id="{D7B8A76E-8295-4D91-97D3-50C54CD62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762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How does the internet work?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36f8cf28524f2b"/>
          <a:stretch xmlns:a="http://schemas.openxmlformats.org/drawingml/2006/main"/>
        </p:blipFill>
        <p:spPr>
          <a:xfrm xmlns:a="http://schemas.openxmlformats.org/drawingml/2006/main">
            <a:off x="6076950" y="1819275"/>
            <a:ext cx="5400675" cy="3600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13645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DFFE347-EAF0-440C-8458-11BBEB2D1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48861A4-6D6F-4910-AC55-59A3F28A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WORKSHEET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39E2DC7-401D-48F7-AA15-4DFA8E2B1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By the end of this lesson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8a60f9da694d3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44C0EBF-52CD-4A51-8D28-D78860DD9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2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B64AF912-E750-4487-887A-4088E4BBF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43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EBFE996F-98AD-436E-BD26-6B6B403F4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94310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what the internet actually is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A97176B6-169F-4C83-AFA4-1EE3B70F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051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FDF4677E-4DBA-481F-B5D1-3411E4FAC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0512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the terms Domain Name Service and domain name server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535EAE17-DA5D-44EB-A0B2-2E86FC971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671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9EDD918D-FB0B-449B-9988-2260D89E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67150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what is meant by hosting and the cloud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1E0B9108-BDDE-4F38-8D56-28BB49EB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291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582C5FCC-EAFD-4B45-9CD5-332B5E50D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29175"/>
            <a:ext cx="992505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understand what is meant by the terms web server and client</a:t>
            </a:r>
          </a:p>
        </p:txBody>
      </p:sp>
    </p:spTree>
    <p:extLst>
      <p:ext uri="{BB962C8B-B14F-4D97-AF65-F5344CB8AC3E}">
        <p14:creationId xmlns:p14="http://schemas.microsoft.com/office/powerpoint/2010/main" val="107855949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B3E20D25-4984-45FB-BD57-9BC855B7B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006C0261-0EA0-418C-89C0-D04645C1F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WORKSHEET STARTER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9BFBEAE-3A61-43FD-8176-7DB103392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before the experience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0d35873a6495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C49E35D-47A7-43D6-BFBF-412184E33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3 / 19</a:t>
            </a:r>
          </a:p>
        </p:txBody>
      </p:sp>
      <p:sp>
        <p:nvSpPr>
          <p:cNvPr id="6" name="starter">
            <a:extLst xmlns:a="http://schemas.openxmlformats.org/drawingml/2006/main">
              <a:ext uri="{FF2B5EF4-FFF2-40B4-BE49-F238E27FC236}">
                <a16:creationId xmlns:a16="http://schemas.microsoft.com/office/drawing/2014/main" id="{643CB414-B9AF-4344-92AD-81CC83D7D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105727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55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 save a file on a school computer and open it later at home. Describe what has to happen for that to work.</a:t>
            </a:r>
          </a:p>
        </p:txBody>
      </p:sp>
    </p:spTree>
    <p:extLst>
      <p:ext uri="{BB962C8B-B14F-4D97-AF65-F5344CB8AC3E}">
        <p14:creationId xmlns:p14="http://schemas.microsoft.com/office/powerpoint/2010/main" val="4744388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DA9AA26-C712-42E0-A912-3BDC4B79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30A03F7-07C3-4D92-A0DA-EB415780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8E6AF34-1CF7-4EF9-A493-29F972F67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Starter: sample answers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77e71a3a84423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F6DF7C27-1C4B-4FF0-AE14-343BB17C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4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5684B76F-8714-4274-8688-2E2E236B6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33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71C78FF4-525C-456C-AE4B-2CEA40AD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1336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file must be stored on a school server or cloud service that can be reached from home over the internet.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4522C2E6-6988-49AF-9DD4-FAF3A058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338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2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A79E09CD-7920-481F-881A-1E674494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33800"/>
            <a:ext cx="992505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2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home device connects, authenticates and downloads or opens the file. The school must allow secure remote access.</a:t>
            </a:r>
          </a:p>
        </p:txBody>
      </p:sp>
    </p:spTree>
    <p:extLst>
      <p:ext uri="{BB962C8B-B14F-4D97-AF65-F5344CB8AC3E}">
        <p14:creationId xmlns:p14="http://schemas.microsoft.com/office/powerpoint/2010/main" val="3827697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8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4226D98-5998-459F-A465-8158E53A0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8A8EC87-572E-446A-A53A-2F020AF7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WORKSHEET KEY TERMS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BBAC9B8-FDC9-4950-A587-3691B4BE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 quiz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505662aa0d410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74012C7-BB38-4158-8CBB-6C57226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5 / 19</a:t>
            </a:r>
          </a:p>
        </p:txBody>
      </p:sp>
      <p:sp>
        <p:nvSpPr>
          <p:cNvPr id="6" name="term-number-0">
            <a:extLst xmlns:a="http://schemas.openxmlformats.org/drawingml/2006/main">
              <a:ext uri="{FF2B5EF4-FFF2-40B4-BE49-F238E27FC236}">
                <a16:creationId xmlns:a16="http://schemas.microsoft.com/office/drawing/2014/main" id="{EDD4D299-F712-41AC-A468-7A23E395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2882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term-0">
            <a:extLst xmlns:a="http://schemas.openxmlformats.org/drawingml/2006/main">
              <a:ext uri="{FF2B5EF4-FFF2-40B4-BE49-F238E27FC236}">
                <a16:creationId xmlns:a16="http://schemas.microsoft.com/office/drawing/2014/main" id="{B432C58F-D0C8-4F27-B64A-132671A0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DNS (Domain Name Service)</a:t>
            </a:r>
          </a:p>
        </p:txBody>
      </p:sp>
      <p:sp>
        <p:nvSpPr>
          <p:cNvPr id="8" name="term-number-1">
            <a:extLst xmlns:a="http://schemas.openxmlformats.org/drawingml/2006/main">
              <a:ext uri="{FF2B5EF4-FFF2-40B4-BE49-F238E27FC236}">
                <a16:creationId xmlns:a16="http://schemas.microsoft.com/office/drawing/2014/main" id="{1836984D-DD09-4E25-828C-964D0000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57550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term-1">
            <a:extLst xmlns:a="http://schemas.openxmlformats.org/drawingml/2006/main">
              <a:ext uri="{FF2B5EF4-FFF2-40B4-BE49-F238E27FC236}">
                <a16:creationId xmlns:a16="http://schemas.microsoft.com/office/drawing/2014/main" id="{0990BE31-B8EC-4AA7-A946-CD94F751D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257550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Hosting</a:t>
            </a:r>
          </a:p>
        </p:txBody>
      </p:sp>
      <p:sp>
        <p:nvSpPr>
          <p:cNvPr id="10" name="term-number-2">
            <a:extLst xmlns:a="http://schemas.openxmlformats.org/drawingml/2006/main">
              <a:ext uri="{FF2B5EF4-FFF2-40B4-BE49-F238E27FC236}">
                <a16:creationId xmlns:a16="http://schemas.microsoft.com/office/drawing/2014/main" id="{13B99F8C-4EC7-4146-A760-7A546EE83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86275"/>
            <a:ext cx="5905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7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term-2">
            <a:extLst xmlns:a="http://schemas.openxmlformats.org/drawingml/2006/main">
              <a:ext uri="{FF2B5EF4-FFF2-40B4-BE49-F238E27FC236}">
                <a16:creationId xmlns:a16="http://schemas.microsoft.com/office/drawing/2014/main" id="{0DBA1BA8-F206-4765-B296-61FB2D7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486275"/>
            <a:ext cx="9667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77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cloud</a:t>
            </a:r>
          </a:p>
        </p:txBody>
      </p:sp>
    </p:spTree>
    <p:extLst>
      <p:ext uri="{BB962C8B-B14F-4D97-AF65-F5344CB8AC3E}">
        <p14:creationId xmlns:p14="http://schemas.microsoft.com/office/powerpoint/2010/main" val="21077624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195B0C59-A00B-4A3F-B520-EC1158C8B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1281F3AB-6A9B-4044-B6DD-F4DBCA4F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8A1879F-1CE4-4167-B163-179BCF89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Key terminology: answers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f958f229c64b3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09433943-5172-487F-850D-DC972E69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6 / 19</a:t>
            </a:r>
          </a:p>
        </p:txBody>
      </p:sp>
      <p:sp>
        <p:nvSpPr>
          <p:cNvPr id="6" name="term-label-0">
            <a:extLst xmlns:a="http://schemas.openxmlformats.org/drawingml/2006/main">
              <a:ext uri="{FF2B5EF4-FFF2-40B4-BE49-F238E27FC236}">
                <a16:creationId xmlns:a16="http://schemas.microsoft.com/office/drawing/2014/main" id="{A830FCAB-B2D7-4C10-9A8F-51563AD8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DNS (Domain Name Service)</a:t>
            </a:r>
          </a:p>
        </p:txBody>
      </p:sp>
      <p:sp>
        <p:nvSpPr>
          <p:cNvPr id="7" name="term-definition-0">
            <a:extLst xmlns:a="http://schemas.openxmlformats.org/drawingml/2006/main">
              <a:ext uri="{FF2B5EF4-FFF2-40B4-BE49-F238E27FC236}">
                <a16:creationId xmlns:a16="http://schemas.microsoft.com/office/drawing/2014/main" id="{19C1F7A3-0A0F-4659-9332-054C5619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DNS (Domain Name Service): finds the IP address associated with a domain name so the browser can contact the right server.</a:t>
            </a:r>
          </a:p>
        </p:txBody>
      </p:sp>
      <p:sp>
        <p:nvSpPr>
          <p:cNvPr id="8" name="term-label-1">
            <a:extLst xmlns:a="http://schemas.openxmlformats.org/drawingml/2006/main">
              <a:ext uri="{FF2B5EF4-FFF2-40B4-BE49-F238E27FC236}">
                <a16:creationId xmlns:a16="http://schemas.microsoft.com/office/drawing/2014/main" id="{B1683860-C49A-46AE-8D21-7F12C654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6230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Hosting</a:t>
            </a:r>
          </a:p>
        </p:txBody>
      </p:sp>
      <p:sp>
        <p:nvSpPr>
          <p:cNvPr id="9" name="term-definition-1">
            <a:extLst xmlns:a="http://schemas.openxmlformats.org/drawingml/2006/main">
              <a:ext uri="{FF2B5EF4-FFF2-40B4-BE49-F238E27FC236}">
                <a16:creationId xmlns:a16="http://schemas.microsoft.com/office/drawing/2014/main" id="{69E536BA-DF6E-44F2-9FF8-96A7A9DB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4807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Hosting: a provider stores a website or service on servers that other users can reach.</a:t>
            </a:r>
          </a:p>
        </p:txBody>
      </p:sp>
      <p:sp>
        <p:nvSpPr>
          <p:cNvPr id="10" name="term-label-2">
            <a:extLst xmlns:a="http://schemas.openxmlformats.org/drawingml/2006/main">
              <a:ext uri="{FF2B5EF4-FFF2-40B4-BE49-F238E27FC236}">
                <a16:creationId xmlns:a16="http://schemas.microsoft.com/office/drawing/2014/main" id="{CB0655D8-2DD4-4165-9350-73517289F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767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3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The cloud</a:t>
            </a:r>
          </a:p>
        </p:txBody>
      </p:sp>
      <p:sp>
        <p:nvSpPr>
          <p:cNvPr id="11" name="term-definition-2">
            <a:extLst xmlns:a="http://schemas.openxmlformats.org/drawingml/2006/main">
              <a:ext uri="{FF2B5EF4-FFF2-40B4-BE49-F238E27FC236}">
                <a16:creationId xmlns:a16="http://schemas.microsoft.com/office/drawing/2014/main" id="{6AE706FA-685A-4A1D-852F-4197692D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62525"/>
            <a:ext cx="10477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cloud: remote servers reached through the internet to store data or run software.</a:t>
            </a:r>
          </a:p>
        </p:txBody>
      </p:sp>
    </p:spTree>
    <p:extLst>
      <p:ext uri="{BB962C8B-B14F-4D97-AF65-F5344CB8AC3E}">
        <p14:creationId xmlns:p14="http://schemas.microsoft.com/office/powerpoint/2010/main" val="20547963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4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CF52CE40-D6AF-4838-8184-3E272750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4491AB29-1645-48C6-B5C0-A1383965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TOPIC 1.3   /   LESSON 05   /   EXPERIENCE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2E95713-9A8B-46A0-B701-C4DB6A9E4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Worksheet + experience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bc8cad412245a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40A7602-3FA7-44B2-A577-31ED7360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7 / 19</a:t>
            </a:r>
          </a:p>
        </p:txBody>
      </p:sp>
      <p:sp>
        <p:nvSpPr>
          <p:cNvPr id="6" name="open-label">
            <a:extLst xmlns:a="http://schemas.openxmlformats.org/drawingml/2006/main">
              <a:ext uri="{FF2B5EF4-FFF2-40B4-BE49-F238E27FC236}">
                <a16:creationId xmlns:a16="http://schemas.microsoft.com/office/drawing/2014/main" id="{CB3E6225-ACFF-496C-BD99-8300E145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240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01   </a:t>
            </a: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  <a:hlinkClick xmlns:r="http://schemas.openxmlformats.org/officeDocument/2006/relationships" r:id="R085ead5a96c64e76"/>
              </a:rPr>
              <a:t>OPEN EXPERIENCE ↗</a:t>
            </a:r>
          </a:p>
        </p:txBody>
      </p:sp>
      <p:sp>
        <p:nvSpPr>
          <p:cNvPr id="7" name="open-body">
            <a:extLst xmlns:a="http://schemas.openxmlformats.org/drawingml/2006/main">
              <a:ext uri="{FF2B5EF4-FFF2-40B4-BE49-F238E27FC236}">
                <a16:creationId xmlns:a16="http://schemas.microsoft.com/office/drawing/2014/main" id="{0335987D-C30D-4527-B831-B825B035E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10572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Open Inside the internet in Topic 1.3. Keep the worksheet beside you.</a:t>
            </a:r>
          </a:p>
        </p:txBody>
      </p:sp>
      <p:sp>
        <p:nvSpPr>
          <p:cNvPr id="8" name="station-label">
            <a:extLst xmlns:a="http://schemas.openxmlformats.org/drawingml/2006/main">
              <a:ext uri="{FF2B5EF4-FFF2-40B4-BE49-F238E27FC236}">
                <a16:creationId xmlns:a16="http://schemas.microsoft.com/office/drawing/2014/main" id="{37A449E0-6D71-4A09-A277-56525A6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908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02   SIX STATIONS</a:t>
            </a:r>
          </a:p>
        </p:txBody>
      </p:sp>
      <p:sp>
        <p:nvSpPr>
          <p:cNvPr id="9" name="station-body">
            <a:extLst xmlns:a="http://schemas.openxmlformats.org/drawingml/2006/main">
              <a:ext uri="{FF2B5EF4-FFF2-40B4-BE49-F238E27FC236}">
                <a16:creationId xmlns:a16="http://schemas.microsoft.com/office/drawing/2014/main" id="{5D58E755-0561-42EC-B08B-8B0EA8EA8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14650"/>
            <a:ext cx="105727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2175" b="1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Read each panel. Write the key fact IN YOUR OWN WORDS and answer the worksheet challenge before tapping its badge.</a:t>
            </a:r>
          </a:p>
        </p:txBody>
      </p:sp>
      <p:sp>
        <p:nvSpPr>
          <p:cNvPr id="10" name="finish-label">
            <a:extLst xmlns:a="http://schemas.openxmlformats.org/drawingml/2006/main">
              <a:ext uri="{FF2B5EF4-FFF2-40B4-BE49-F238E27FC236}">
                <a16:creationId xmlns:a16="http://schemas.microsoft.com/office/drawing/2014/main" id="{34CB7D4C-04B2-4600-A06B-91B68E9B6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1475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03   FINAL CHALLENGE</a:t>
            </a:r>
          </a:p>
        </p:txBody>
      </p:sp>
      <p:sp>
        <p:nvSpPr>
          <p:cNvPr id="11" name="finish-body">
            <a:extLst xmlns:a="http://schemas.openxmlformats.org/drawingml/2006/main">
              <a:ext uri="{FF2B5EF4-FFF2-40B4-BE49-F238E27FC236}">
                <a16:creationId xmlns:a16="http://schemas.microsoft.com/office/drawing/2014/main" id="{D52C5C70-AE24-464D-BC36-48C5AF3D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Complete the ★ task before tapping the star. Copy your score (out of 27), then complete the worksheet task or review.</a:t>
            </a:r>
          </a:p>
        </p:txBody>
      </p:sp>
      <p:sp>
        <p:nvSpPr>
          <p:cNvPr id="12" name="plenary-label">
            <a:extLst xmlns:a="http://schemas.openxmlformats.org/drawingml/2006/main">
              <a:ext uri="{FF2B5EF4-FFF2-40B4-BE49-F238E27FC236}">
                <a16:creationId xmlns:a16="http://schemas.microsoft.com/office/drawing/2014/main" id="{E7FB1699-47B0-48B6-8D92-5D656B5EC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14900"/>
            <a:ext cx="857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defRPr>
            </a:pPr>
            <a:r>
              <a:rPr sz="1425" b="1">
                <a:solidFill>
                  <a:srgbClr val="77D8FF"/>
                </a:solidFill>
                <a:latin typeface="DejaVu Sans"/>
                <a:ea typeface="DejaVu Sans"/>
                <a:cs typeface="DejaVu Sans"/>
              </a:rPr>
              <a:t>04   PLENARY</a:t>
            </a:r>
          </a:p>
        </p:txBody>
      </p:sp>
      <p:sp>
        <p:nvSpPr>
          <p:cNvPr id="13" name="plenary-body">
            <a:extLst xmlns:a="http://schemas.openxmlformats.org/drawingml/2006/main">
              <a:ext uri="{FF2B5EF4-FFF2-40B4-BE49-F238E27FC236}">
                <a16:creationId xmlns:a16="http://schemas.microsoft.com/office/drawing/2014/main" id="{C05F448D-DBA6-4BE5-B336-3F5CFD3B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38750"/>
            <a:ext cx="1057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FFFFFF"/>
                </a:solidFill>
                <a:latin typeface="DejaVu Sans"/>
                <a:ea typeface="DejaVu Sans"/>
                <a:cs typeface="DejaVu Sans"/>
              </a:rPr>
              <a:t>Finish the experience in this lesson. Near the end, close it for the plenary knowledge checks.</a:t>
            </a:r>
          </a:p>
        </p:txBody>
      </p:sp>
    </p:spTree>
    <p:extLst>
      <p:ext uri="{BB962C8B-B14F-4D97-AF65-F5344CB8AC3E}">
        <p14:creationId xmlns:p14="http://schemas.microsoft.com/office/powerpoint/2010/main" val="4585151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C847DDB-AA54-4D63-88BE-763BFD61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9BC8334-EEBC-4F32-A3BE-7503972E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EE41AC60-2329-4D47-8FC8-D29B45A23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Apply your learning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1e9c0912b485a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124B660D-4FCD-4136-ADB8-08B7E2FBD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8 / 19</a:t>
            </a:r>
          </a:p>
        </p:txBody>
      </p:sp>
      <p:sp>
        <p:nvSpPr>
          <p:cNvPr id="6" name="application-prompt">
            <a:extLst xmlns:a="http://schemas.openxmlformats.org/drawingml/2006/main">
              <a:ext uri="{FF2B5EF4-FFF2-40B4-BE49-F238E27FC236}">
                <a16:creationId xmlns:a16="http://schemas.microsoft.com/office/drawing/2014/main" id="{6CB3A592-174D-479F-A58A-84C193CD2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95525"/>
            <a:ext cx="10572750" cy="2266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Answer the key question: how does the internet help a browser find and load a web page?</a:t>
            </a:r>
          </a:p>
        </p:txBody>
      </p:sp>
      <p:sp>
        <p:nvSpPr>
          <p:cNvPr id="7" name="application-note">
            <a:extLst xmlns:a="http://schemas.openxmlformats.org/drawingml/2006/main">
              <a:ext uri="{FF2B5EF4-FFF2-40B4-BE49-F238E27FC236}">
                <a16:creationId xmlns:a16="http://schemas.microsoft.com/office/drawing/2014/main" id="{82895361-03BA-40D4-A470-E2F76DA7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953000"/>
            <a:ext cx="105727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Use the task and table on your worksheet.</a:t>
            </a:r>
          </a:p>
        </p:txBody>
      </p:sp>
    </p:spTree>
    <p:extLst>
      <p:ext uri="{BB962C8B-B14F-4D97-AF65-F5344CB8AC3E}">
        <p14:creationId xmlns:p14="http://schemas.microsoft.com/office/powerpoint/2010/main" val="1478011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4AD7A33D-782F-4511-B902-A2E2E2AD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8DED55E3-74E2-411E-B5E8-4D087AEA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EXTENSION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BE42A9F8-EA86-4672-ACA4-85B940D7C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Check and improve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4d2f4532642d1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C2802BE2-E00B-47C7-A761-4CBD2F53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9 / 19</a:t>
            </a:r>
          </a:p>
        </p:txBody>
      </p:sp>
      <p:sp>
        <p:nvSpPr>
          <p:cNvPr id="6" name="review-prompt">
            <a:extLst xmlns:a="http://schemas.openxmlformats.org/drawingml/2006/main">
              <a:ext uri="{FF2B5EF4-FFF2-40B4-BE49-F238E27FC236}">
                <a16:creationId xmlns:a16="http://schemas.microsoft.com/office/drawing/2014/main" id="{2F772312-2BFE-4624-A2E3-7FBAAC9B7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14600"/>
            <a:ext cx="1057275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school moves files to the cloud. Which benefit and which risk would matter most during an internet outage?</a:t>
            </a:r>
          </a:p>
        </p:txBody>
      </p:sp>
    </p:spTree>
    <p:extLst>
      <p:ext uri="{BB962C8B-B14F-4D97-AF65-F5344CB8AC3E}">
        <p14:creationId xmlns:p14="http://schemas.microsoft.com/office/powerpoint/2010/main" val="98867592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92CE7F04-F9A2-4790-ABB1-C5FFA87A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149CD63-B000-4217-9C63-3C0D1BB9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1842F4B-0C3C-4C68-B63E-8462F6CDE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Application: sample answers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3d605b4bac4cf5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B9A5CC44-20CE-483E-81AC-14A6A03FF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10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ADA5AA4C-5843-4D67-960E-923FAE83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D21133FC-2130-42FF-A16E-DAB41F4FA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4785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internet links networks across the world through routers.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6FD3863A-7012-49DC-B106-23D1718A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479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447EBC12-B57C-4E53-8F5C-DB377FA4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4797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DNS turns the domain name into an IP address. The browser uses it to reach the web server.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144DB3CE-9394-4FB4-B30D-0A63B3538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DDF787CB-257A-4FB5-9647-D154C96B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48100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web server sends the page back to the browser. A hosting company may run that server.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71AB76BE-E4D0-4F2C-B636-A8E38819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482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46C46383-4B82-46A8-B494-9EDEC916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9250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Cloud files can be opened from home and centrally backed up, but an outage may stop staff and students accessing them.</a:t>
            </a:r>
          </a:p>
        </p:txBody>
      </p:sp>
    </p:spTree>
    <p:extLst>
      <p:ext uri="{BB962C8B-B14F-4D97-AF65-F5344CB8AC3E}">
        <p14:creationId xmlns:p14="http://schemas.microsoft.com/office/powerpoint/2010/main" val="119998129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78EF60F2-E8CF-462D-9FDA-2650142C8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141BCC2-D19F-4658-A3A9-0957E186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A3BEF0DF-2997-4BE3-A4B8-9DAAEC55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1–3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485c4607c44a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C38FDF7-FD42-47A0-8975-12658B820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11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F285CF8E-470B-4C1E-897C-FBCD8ED4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0">
            <a:extLst xmlns:a="http://schemas.openxmlformats.org/drawingml/2006/main">
              <a:ext uri="{FF2B5EF4-FFF2-40B4-BE49-F238E27FC236}">
                <a16:creationId xmlns:a16="http://schemas.microsoft.com/office/drawing/2014/main" id="{0C90E7AC-5A9B-4B15-9614-D21227DF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  What is the internet?</a:t>
            </a:r>
          </a:p>
        </p:txBody>
      </p:sp>
      <p:sp>
        <p:nvSpPr>
          <p:cNvPr id="8" name="station-answer-0">
            <a:extLst xmlns:a="http://schemas.openxmlformats.org/drawingml/2006/main">
              <a:ext uri="{FF2B5EF4-FFF2-40B4-BE49-F238E27FC236}">
                <a16:creationId xmlns:a16="http://schemas.microsoft.com/office/drawing/2014/main" id="{A938BFED-A070-4819-87EC-1DA27EF0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internet is a worldwide network of interconnected networks, using common protocols to exchange data.</a:t>
            </a:r>
          </a:p>
        </p:txBody>
      </p:sp>
      <p:sp>
        <p:nvSpPr>
          <p:cNvPr id="9" name="station-name-1">
            <a:extLst xmlns:a="http://schemas.openxmlformats.org/drawingml/2006/main">
              <a:ext uri="{FF2B5EF4-FFF2-40B4-BE49-F238E27FC236}">
                <a16:creationId xmlns:a16="http://schemas.microsoft.com/office/drawing/2014/main" id="{A9B6F6EB-867B-4A8B-9CB0-A1D36A7D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  Domain Name Service (DNS)</a:t>
            </a:r>
          </a:p>
        </p:txBody>
      </p:sp>
      <p:sp>
        <p:nvSpPr>
          <p:cNvPr id="10" name="station-answer-1">
            <a:extLst xmlns:a="http://schemas.openxmlformats.org/drawingml/2006/main">
              <a:ext uri="{FF2B5EF4-FFF2-40B4-BE49-F238E27FC236}">
                <a16:creationId xmlns:a16="http://schemas.microsoft.com/office/drawing/2014/main" id="{1C220034-48E3-4DC7-AFB5-053DE0E7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DNS saves us memorising numeric IP addresses. It looks up the address for a readable domain name.</a:t>
            </a:r>
          </a:p>
        </p:txBody>
      </p:sp>
      <p:sp>
        <p:nvSpPr>
          <p:cNvPr id="11" name="station-name-2">
            <a:extLst xmlns:a="http://schemas.openxmlformats.org/drawingml/2006/main">
              <a:ext uri="{FF2B5EF4-FFF2-40B4-BE49-F238E27FC236}">
                <a16:creationId xmlns:a16="http://schemas.microsoft.com/office/drawing/2014/main" id="{F72760AB-B24D-4672-A246-E9F3582E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  Hosting</a:t>
            </a:r>
          </a:p>
        </p:txBody>
      </p:sp>
      <p:sp>
        <p:nvSpPr>
          <p:cNvPr id="12" name="station-answer-2">
            <a:extLst xmlns:a="http://schemas.openxmlformats.org/drawingml/2006/main">
              <a:ext uri="{FF2B5EF4-FFF2-40B4-BE49-F238E27FC236}">
                <a16:creationId xmlns:a16="http://schemas.microsoft.com/office/drawing/2014/main" id="{D5C5758D-1C9D-40CC-B516-8EF6678D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hosting company supplies and maintains the web server, connectivity and availability for the business.</a:t>
            </a:r>
          </a:p>
        </p:txBody>
      </p:sp>
    </p:spTree>
    <p:extLst>
      <p:ext uri="{BB962C8B-B14F-4D97-AF65-F5344CB8AC3E}">
        <p14:creationId xmlns:p14="http://schemas.microsoft.com/office/powerpoint/2010/main" val="45061652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62333F58-661D-45D8-B43A-890C28808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5CEFDB12-695F-4770-B003-A11E21D42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ANSWERS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52299A9B-CCA0-4553-B9FD-A8A2AC7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After the experience: stations 4–6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1b98d554f74a86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7304B5C-6CDD-4C85-A576-EB89B79C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12 / 19</a:t>
            </a:r>
          </a:p>
        </p:txBody>
      </p:sp>
      <p:sp>
        <p:nvSpPr>
          <p:cNvPr id="6" name="station-intro">
            <a:extLst xmlns:a="http://schemas.openxmlformats.org/drawingml/2006/main">
              <a:ext uri="{FF2B5EF4-FFF2-40B4-BE49-F238E27FC236}">
                <a16:creationId xmlns:a16="http://schemas.microsoft.com/office/drawing/2014/main" id="{B2513F1E-CBD0-446E-98FD-7D4418859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43050"/>
            <a:ext cx="1047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Check your key facts and challenge responses.</a:t>
            </a:r>
          </a:p>
        </p:txBody>
      </p:sp>
      <p:sp>
        <p:nvSpPr>
          <p:cNvPr id="7" name="station-name-3">
            <a:extLst xmlns:a="http://schemas.openxmlformats.org/drawingml/2006/main">
              <a:ext uri="{FF2B5EF4-FFF2-40B4-BE49-F238E27FC236}">
                <a16:creationId xmlns:a16="http://schemas.microsoft.com/office/drawing/2014/main" id="{2A2C0394-6EBF-4CDA-AAA4-8CF435707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7170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  The cloud</a:t>
            </a:r>
          </a:p>
        </p:txBody>
      </p:sp>
      <p:sp>
        <p:nvSpPr>
          <p:cNvPr id="8" name="station-answer-3">
            <a:extLst xmlns:a="http://schemas.openxmlformats.org/drawingml/2006/main">
              <a:ext uri="{FF2B5EF4-FFF2-40B4-BE49-F238E27FC236}">
                <a16:creationId xmlns:a16="http://schemas.microsoft.com/office/drawing/2014/main" id="{96568AB4-4C88-4AC0-A1C6-EEB4E606B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7175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Cloud files and apps can be reached from different devices, though they depend on an internet connection and provider.</a:t>
            </a:r>
          </a:p>
        </p:txBody>
      </p:sp>
      <p:sp>
        <p:nvSpPr>
          <p:cNvPr id="9" name="station-name-4">
            <a:extLst xmlns:a="http://schemas.openxmlformats.org/drawingml/2006/main">
              <a:ext uri="{FF2B5EF4-FFF2-40B4-BE49-F238E27FC236}">
                <a16:creationId xmlns:a16="http://schemas.microsoft.com/office/drawing/2014/main" id="{B59DEB84-D818-484D-9CED-6809E47E7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  Web servers and clients</a:t>
            </a:r>
          </a:p>
        </p:txBody>
      </p:sp>
      <p:sp>
        <p:nvSpPr>
          <p:cNvPr id="10" name="station-answer-4">
            <a:extLst xmlns:a="http://schemas.openxmlformats.org/drawingml/2006/main">
              <a:ext uri="{FF2B5EF4-FFF2-40B4-BE49-F238E27FC236}">
                <a16:creationId xmlns:a16="http://schemas.microsoft.com/office/drawing/2014/main" id="{FD40A679-E2F0-467B-B6B1-7F4E0B732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phone is the client: it requests a page. The web server stores or generates it and sends the response.</a:t>
            </a:r>
          </a:p>
        </p:txBody>
      </p:sp>
      <p:sp>
        <p:nvSpPr>
          <p:cNvPr id="11" name="station-name-5">
            <a:extLst xmlns:a="http://schemas.openxmlformats.org/drawingml/2006/main">
              <a:ext uri="{FF2B5EF4-FFF2-40B4-BE49-F238E27FC236}">
                <a16:creationId xmlns:a16="http://schemas.microsoft.com/office/drawing/2014/main" id="{A7B5CA8E-EF4B-439B-A5DA-E5FD5D60A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43450"/>
            <a:ext cx="104775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95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  File servers</a:t>
            </a:r>
          </a:p>
        </p:txBody>
      </p:sp>
      <p:sp>
        <p:nvSpPr>
          <p:cNvPr id="12" name="station-answer-5">
            <a:extLst xmlns:a="http://schemas.openxmlformats.org/drawingml/2006/main">
              <a:ext uri="{FF2B5EF4-FFF2-40B4-BE49-F238E27FC236}">
                <a16:creationId xmlns:a16="http://schemas.microsoft.com/office/drawing/2014/main" id="{C60B2363-B30B-453C-A9C7-1CC7479F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1047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7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desktop client requests a file from the file server. Central storage can make sharing and backup easier.</a:t>
            </a:r>
          </a:p>
        </p:txBody>
      </p:sp>
    </p:spTree>
    <p:extLst>
      <p:ext uri="{BB962C8B-B14F-4D97-AF65-F5344CB8AC3E}">
        <p14:creationId xmlns:p14="http://schemas.microsoft.com/office/powerpoint/2010/main" val="205525588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0A845C54-D108-440B-B30E-9982A484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5BC2BB3-42FB-4629-B095-F0758877E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63EA161B-7731-4A2C-ACF8-2F06106C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1–4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fbca038eb34443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3900D1FD-5C36-402F-B2CD-93F929FA4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13 / 19</a:t>
            </a:r>
          </a:p>
        </p:txBody>
      </p:sp>
      <p:sp>
        <p:nvSpPr>
          <p:cNvPr id="6" name="number-1">
            <a:extLst xmlns:a="http://schemas.openxmlformats.org/drawingml/2006/main">
              <a:ext uri="{FF2B5EF4-FFF2-40B4-BE49-F238E27FC236}">
                <a16:creationId xmlns:a16="http://schemas.microsoft.com/office/drawing/2014/main" id="{E4A8FBA3-A192-4253-9962-092F71B0A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7" name="item-1">
            <a:extLst xmlns:a="http://schemas.openxmlformats.org/drawingml/2006/main">
              <a:ext uri="{FF2B5EF4-FFF2-40B4-BE49-F238E27FC236}">
                <a16:creationId xmlns:a16="http://schemas.microsoft.com/office/drawing/2014/main" id="{254FF9E6-7B20-449F-A3B7-FB75792B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Copies are kept automatically, so files survive a failed laptop → Advantage</a:t>
            </a:r>
          </a:p>
        </p:txBody>
      </p:sp>
      <p:sp>
        <p:nvSpPr>
          <p:cNvPr id="8" name="number-2">
            <a:extLst xmlns:a="http://schemas.openxmlformats.org/drawingml/2006/main">
              <a:ext uri="{FF2B5EF4-FFF2-40B4-BE49-F238E27FC236}">
                <a16:creationId xmlns:a16="http://schemas.microsoft.com/office/drawing/2014/main" id="{87828ECB-DC25-4A82-BC14-AEC37DC9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9" name="item-2">
            <a:extLst xmlns:a="http://schemas.openxmlformats.org/drawingml/2006/main">
              <a:ext uri="{FF2B5EF4-FFF2-40B4-BE49-F238E27FC236}">
                <a16:creationId xmlns:a16="http://schemas.microsoft.com/office/drawing/2014/main" id="{9658A55C-C36F-4985-A975-4C51340C6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Your files sit on someone else's servers → Disadvantage</a:t>
            </a:r>
          </a:p>
        </p:txBody>
      </p:sp>
      <p:sp>
        <p:nvSpPr>
          <p:cNvPr id="10" name="number-3">
            <a:extLst xmlns:a="http://schemas.openxmlformats.org/drawingml/2006/main">
              <a:ext uri="{FF2B5EF4-FFF2-40B4-BE49-F238E27FC236}">
                <a16:creationId xmlns:a16="http://schemas.microsoft.com/office/drawing/2014/main" id="{C30ED259-1759-455D-BFBB-5C33FE6D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1" name="item-3">
            <a:extLst xmlns:a="http://schemas.openxmlformats.org/drawingml/2006/main">
              <a:ext uri="{FF2B5EF4-FFF2-40B4-BE49-F238E27FC236}">
                <a16:creationId xmlns:a16="http://schemas.microsoft.com/office/drawing/2014/main" id="{8818426B-B8E3-4189-ADFA-C67C378BB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 slow connection makes large files painful → Disadvantage</a:t>
            </a:r>
          </a:p>
        </p:txBody>
      </p:sp>
      <p:sp>
        <p:nvSpPr>
          <p:cNvPr id="12" name="number-4">
            <a:extLst xmlns:a="http://schemas.openxmlformats.org/drawingml/2006/main">
              <a:ext uri="{FF2B5EF4-FFF2-40B4-BE49-F238E27FC236}">
                <a16:creationId xmlns:a16="http://schemas.microsoft.com/office/drawing/2014/main" id="{80DCEE41-F7C1-4416-A4A3-762C85DB5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4.</a:t>
            </a:r>
          </a:p>
        </p:txBody>
      </p:sp>
      <p:sp>
        <p:nvSpPr>
          <p:cNvPr id="13" name="item-4">
            <a:extLst xmlns:a="http://schemas.openxmlformats.org/drawingml/2006/main">
              <a:ext uri="{FF2B5EF4-FFF2-40B4-BE49-F238E27FC236}">
                <a16:creationId xmlns:a16="http://schemas.microsoft.com/office/drawing/2014/main" id="{E83E1138-89A7-48A7-A70E-CA6AC706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More space can be added the day you need it → Advantage</a:t>
            </a:r>
          </a:p>
        </p:txBody>
      </p:sp>
    </p:spTree>
    <p:extLst>
      <p:ext uri="{BB962C8B-B14F-4D97-AF65-F5344CB8AC3E}">
        <p14:creationId xmlns:p14="http://schemas.microsoft.com/office/powerpoint/2010/main" val="106006777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2266C606-95DB-499E-ADBE-62889FCFD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203516FA-4BAB-44D7-8C84-7B9F7B3B9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13AC8B67-C436-434F-B393-849DA3CFB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Final challenge · answers 5–8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6fc415e43431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A8F76921-8AFF-4275-A9D4-7638ACC5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14 / 19</a:t>
            </a:r>
          </a:p>
        </p:txBody>
      </p:sp>
      <p:sp>
        <p:nvSpPr>
          <p:cNvPr id="6" name="number-5">
            <a:extLst xmlns:a="http://schemas.openxmlformats.org/drawingml/2006/main">
              <a:ext uri="{FF2B5EF4-FFF2-40B4-BE49-F238E27FC236}">
                <a16:creationId xmlns:a16="http://schemas.microsoft.com/office/drawing/2014/main" id="{CE6C04D4-6DB5-4F7E-9305-C5F639D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1927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5.</a:t>
            </a:r>
          </a:p>
        </p:txBody>
      </p:sp>
      <p:sp>
        <p:nvSpPr>
          <p:cNvPr id="7" name="item-5">
            <a:extLst xmlns:a="http://schemas.openxmlformats.org/drawingml/2006/main">
              <a:ext uri="{FF2B5EF4-FFF2-40B4-BE49-F238E27FC236}">
                <a16:creationId xmlns:a16="http://schemas.microsoft.com/office/drawing/2014/main" id="{F5A0F0FA-9DBA-4385-AE39-0E44FFB7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81927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There's a bill every month for as long as you use it → Disadvantage</a:t>
            </a:r>
          </a:p>
        </p:txBody>
      </p:sp>
      <p:sp>
        <p:nvSpPr>
          <p:cNvPr id="8" name="number-6">
            <a:extLst xmlns:a="http://schemas.openxmlformats.org/drawingml/2006/main">
              <a:ext uri="{FF2B5EF4-FFF2-40B4-BE49-F238E27FC236}">
                <a16:creationId xmlns:a16="http://schemas.microsoft.com/office/drawing/2014/main" id="{A78A0F03-45E2-41DB-9E56-6DC8A5FBB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6.</a:t>
            </a:r>
          </a:p>
        </p:txBody>
      </p:sp>
      <p:sp>
        <p:nvSpPr>
          <p:cNvPr id="9" name="item-6">
            <a:extLst xmlns:a="http://schemas.openxmlformats.org/drawingml/2006/main">
              <a:ext uri="{FF2B5EF4-FFF2-40B4-BE49-F238E27FC236}">
                <a16:creationId xmlns:a16="http://schemas.microsoft.com/office/drawing/2014/main" id="{7960853A-653A-45A8-B4E8-EC92E14A9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78130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 servers to buy, power or replace → Advantage</a:t>
            </a:r>
          </a:p>
        </p:txBody>
      </p:sp>
      <p:sp>
        <p:nvSpPr>
          <p:cNvPr id="10" name="number-7">
            <a:extLst xmlns:a="http://schemas.openxmlformats.org/drawingml/2006/main">
              <a:ext uri="{FF2B5EF4-FFF2-40B4-BE49-F238E27FC236}">
                <a16:creationId xmlns:a16="http://schemas.microsoft.com/office/drawing/2014/main" id="{91C3078D-ABCD-407E-B60D-0D0C6545A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43325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7.</a:t>
            </a:r>
          </a:p>
        </p:txBody>
      </p:sp>
      <p:sp>
        <p:nvSpPr>
          <p:cNvPr id="11" name="item-7">
            <a:extLst xmlns:a="http://schemas.openxmlformats.org/drawingml/2006/main">
              <a:ext uri="{FF2B5EF4-FFF2-40B4-BE49-F238E27FC236}">
                <a16:creationId xmlns:a16="http://schemas.microsoft.com/office/drawing/2014/main" id="{B9C41FDF-C869-4D86-8550-6B36CA4B1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743325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Nothing works if the internet goes down → Disadvantage</a:t>
            </a:r>
          </a:p>
        </p:txBody>
      </p:sp>
      <p:sp>
        <p:nvSpPr>
          <p:cNvPr id="12" name="number-8">
            <a:extLst xmlns:a="http://schemas.openxmlformats.org/drawingml/2006/main">
              <a:ext uri="{FF2B5EF4-FFF2-40B4-BE49-F238E27FC236}">
                <a16:creationId xmlns:a16="http://schemas.microsoft.com/office/drawing/2014/main" id="{EC99DAC0-5C67-4BCA-B826-3CFD987D1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053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800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8.</a:t>
            </a:r>
          </a:p>
        </p:txBody>
      </p:sp>
      <p:sp>
        <p:nvSpPr>
          <p:cNvPr id="13" name="item-8">
            <a:extLst xmlns:a="http://schemas.openxmlformats.org/drawingml/2006/main">
              <a:ext uri="{FF2B5EF4-FFF2-40B4-BE49-F238E27FC236}">
                <a16:creationId xmlns:a16="http://schemas.microsoft.com/office/drawing/2014/main" id="{CE6BA563-AFC2-4E55-9F7C-5615C49FF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705350"/>
            <a:ext cx="99250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The same files open on any device, anywhere → Advantage</a:t>
            </a:r>
          </a:p>
        </p:txBody>
      </p:sp>
    </p:spTree>
    <p:extLst>
      <p:ext uri="{BB962C8B-B14F-4D97-AF65-F5344CB8AC3E}">
        <p14:creationId xmlns:p14="http://schemas.microsoft.com/office/powerpoint/2010/main" val="4029044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00B7EE4-7BA7-4BCC-B2B0-A6815D1AC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A5716A7C-093B-4E35-9D37-9615E0F16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4E8EE4F-449E-4591-A973-DB4443E72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409d4d983c48ab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D4AC39DC-7574-4DF7-839B-8924C7F6A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15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43FD590E-DDDD-4644-89B1-5050A986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-0">
            <a:extLst xmlns:a="http://schemas.openxmlformats.org/drawingml/2006/main">
              <a:ext uri="{FF2B5EF4-FFF2-40B4-BE49-F238E27FC236}">
                <a16:creationId xmlns:a16="http://schemas.microsoft.com/office/drawing/2014/main" id="{B8D48BF0-C75A-4B6D-A558-8E209EE98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336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 Describe what the internet is.  [2]</a:t>
            </a:r>
          </a:p>
        </p:txBody>
      </p:sp>
      <p:sp>
        <p:nvSpPr>
          <p:cNvPr id="8" name="question-1">
            <a:extLst xmlns:a="http://schemas.openxmlformats.org/drawingml/2006/main">
              <a:ext uri="{FF2B5EF4-FFF2-40B4-BE49-F238E27FC236}">
                <a16:creationId xmlns:a16="http://schemas.microsoft.com/office/drawing/2014/main" id="{78509B34-A5CF-491C-95F8-9E3B0F72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10050"/>
            <a:ext cx="1047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1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 Explain the steps DNS goes through when a browser looks up a web address.  [4]</a:t>
            </a:r>
          </a:p>
        </p:txBody>
      </p:sp>
    </p:spTree>
    <p:extLst>
      <p:ext uri="{BB962C8B-B14F-4D97-AF65-F5344CB8AC3E}">
        <p14:creationId xmlns:p14="http://schemas.microsoft.com/office/powerpoint/2010/main" val="2394330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F3C6AB35-1869-409C-AF1A-D5F53C9D6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FE698FDA-F810-4873-8B7E-5AFD43533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PLENARY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DAADB424-0126-4599-8B54-93A1B8CC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question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26d0712cf94f60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6F3F8324-6F7C-43D6-B328-F189213B1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16 / 19</a:t>
            </a:r>
          </a:p>
        </p:txBody>
      </p:sp>
      <p:sp>
        <p:nvSpPr>
          <p:cNvPr id="6" name="plenary-instruction">
            <a:extLst xmlns:a="http://schemas.openxmlformats.org/drawingml/2006/main">
              <a:ext uri="{FF2B5EF4-FFF2-40B4-BE49-F238E27FC236}">
                <a16:creationId xmlns:a16="http://schemas.microsoft.com/office/drawing/2014/main" id="{0200533C-CEE7-4A49-8732-07D4BC517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071562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Close the experience. Answer from memory on the worksheet.</a:t>
            </a:r>
          </a:p>
        </p:txBody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7E3CCE89-0DC6-4EC2-A641-1984A1C2B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104775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4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 A school is considering moving its files to the cloud. Discuss the benefits and the risks.  [8]</a:t>
            </a:r>
          </a:p>
        </p:txBody>
      </p:sp>
    </p:spTree>
    <p:extLst>
      <p:ext uri="{BB962C8B-B14F-4D97-AF65-F5344CB8AC3E}">
        <p14:creationId xmlns:p14="http://schemas.microsoft.com/office/powerpoint/2010/main" val="197356491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DAE32274-AE29-4D90-9F38-16F57E55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E7928076-E7C4-4ACC-A928-008D1D81D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999F2762-46DE-4950-9E1D-445D0BB28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answers 1–2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a499b7c5244202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845C1486-B38C-4A7D-9D9D-FCF89EDC8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17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7F114648-7B9D-4D6F-AB2F-21254ACEE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-0">
            <a:extLst xmlns:a="http://schemas.openxmlformats.org/drawingml/2006/main">
              <a:ext uri="{FF2B5EF4-FFF2-40B4-BE49-F238E27FC236}">
                <a16:creationId xmlns:a16="http://schemas.microsoft.com/office/drawing/2014/main" id="{E3B78D12-7E68-47E0-B2E6-3370539E0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66950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a) The internet is a worldwide WAN made of connected networks. Routers move data between them using common protocols.</a:t>
            </a:r>
          </a:p>
        </p:txBody>
      </p:sp>
      <p:sp>
        <p:nvSpPr>
          <p:cNvPr id="8" name="answer-1">
            <a:extLst xmlns:a="http://schemas.openxmlformats.org/drawingml/2006/main">
              <a:ext uri="{FF2B5EF4-FFF2-40B4-BE49-F238E27FC236}">
                <a16:creationId xmlns:a16="http://schemas.microsoft.com/office/drawing/2014/main" id="{0C976DB2-B1C0-45A1-9240-8314B67C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1057275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950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b) The browser asks DNS for the domain's IP address. A DNS server looks it up, sometimes by asking other DNS servers, and returns the IP address. The browser then contacts the web server at that address.</a:t>
            </a:r>
          </a:p>
        </p:txBody>
      </p:sp>
    </p:spTree>
    <p:extLst>
      <p:ext uri="{BB962C8B-B14F-4D97-AF65-F5344CB8AC3E}">
        <p14:creationId xmlns:p14="http://schemas.microsoft.com/office/powerpoint/2010/main" val="49223726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EAF3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290F84C-9577-4B43-852B-F91FDFA76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C9D820B0-4795-40B1-847D-3253533D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FE2249E3-E9FF-4941-A642-411F254F0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Plenary: answer 3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7d981a5b664ecf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29963C13-EE75-44C6-B902-DCA25CF4E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18 / 19</a:t>
            </a:r>
          </a:p>
        </p:txBody>
      </p:sp>
      <p:sp>
        <p:nvSpPr>
          <p:cNvPr id="6" name="scheme-intro">
            <a:extLst xmlns:a="http://schemas.openxmlformats.org/drawingml/2006/main">
              <a:ext uri="{FF2B5EF4-FFF2-40B4-BE49-F238E27FC236}">
                <a16:creationId xmlns:a16="http://schemas.microsoft.com/office/drawing/2014/main" id="{3E6219CB-E904-46E9-879F-5686F8B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33525"/>
            <a:ext cx="10715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Indicative points. Credit accurate answers in students’ own words.</a:t>
            </a:r>
          </a:p>
        </p:txBody>
      </p:sp>
      <p:sp>
        <p:nvSpPr>
          <p:cNvPr id="7" name="answer">
            <a:extLst xmlns:a="http://schemas.openxmlformats.org/drawingml/2006/main">
              <a:ext uri="{FF2B5EF4-FFF2-40B4-BE49-F238E27FC236}">
                <a16:creationId xmlns:a16="http://schemas.microsoft.com/office/drawing/2014/main" id="{8FDB65AA-A828-4AD2-BC8E-6CF70E8D9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14625"/>
            <a:ext cx="10572750" cy="236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c) Cloud storage offers access from different locations, easier sharing, scalable capacity and provider-managed backups. Risks include dependence on a working connection, recurring cost, and privacy or security concerns because another organisation holds the data. The school should weigh these against its reliability and safeguarding needs.</a:t>
            </a:r>
          </a:p>
        </p:txBody>
      </p:sp>
    </p:spTree>
    <p:extLst>
      <p:ext uri="{BB962C8B-B14F-4D97-AF65-F5344CB8AC3E}">
        <p14:creationId xmlns:p14="http://schemas.microsoft.com/office/powerpoint/2010/main" val="166113179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footer background">
            <a:extLst xmlns:a="http://schemas.openxmlformats.org/drawingml/2006/main">
              <a:ext uri="{FF2B5EF4-FFF2-40B4-BE49-F238E27FC236}">
                <a16:creationId xmlns:a16="http://schemas.microsoft.com/office/drawing/2014/main" id="{EA0DCC69-181D-4F97-827C-09D7CC059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124575"/>
            <a:ext cx="1219200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topic">
            <a:extLst xmlns:a="http://schemas.openxmlformats.org/drawingml/2006/main">
              <a:ext uri="{FF2B5EF4-FFF2-40B4-BE49-F238E27FC236}">
                <a16:creationId xmlns:a16="http://schemas.microsoft.com/office/drawing/2014/main" id="{BDC6767C-68D3-47A4-BE29-C65C1333C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"/>
            <a:ext cx="9810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11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TOPIC 1.3   /   LESSON 05   /   SELF-CHECK</a:t>
            </a:r>
          </a:p>
        </p:txBody>
      </p:sp>
      <p:sp>
        <p:nvSpPr>
          <p:cNvPr id="3" name="heading">
            <a:extLst xmlns:a="http://schemas.openxmlformats.org/drawingml/2006/main">
              <a:ext uri="{FF2B5EF4-FFF2-40B4-BE49-F238E27FC236}">
                <a16:creationId xmlns:a16="http://schemas.microsoft.com/office/drawing/2014/main" id="{3F7E708B-5BA7-4226-A683-3B1F17AD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62000"/>
            <a:ext cx="10858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3225" b="1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confident am I?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8c4fecf31b4908"/>
          <a:stretch xmlns:a="http://schemas.openxmlformats.org/drawingml/2006/main"/>
        </p:blipFill>
        <p:spPr>
          <a:xfrm xmlns:a="http://schemas.openxmlformats.org/drawingml/2006/main">
            <a:off x="666750" y="6241242"/>
            <a:ext cx="2038350" cy="395316"/>
          </a:xfrm>
          <a:prstGeom xmlns:a="http://schemas.openxmlformats.org/drawingml/2006/main" prst="rect">
            <a:avLst/>
          </a:prstGeom>
        </p:spPr>
      </p:pic>
      <p:sp>
        <p:nvSpPr>
          <p:cNvPr id="5" name="page">
            <a:extLst xmlns:a="http://schemas.openxmlformats.org/drawingml/2006/main">
              <a:ext uri="{FF2B5EF4-FFF2-40B4-BE49-F238E27FC236}">
                <a16:creationId xmlns:a16="http://schemas.microsoft.com/office/drawing/2014/main" id="{7226A603-87CD-45EC-A123-D21194BB7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400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19 / 19</a:t>
            </a:r>
          </a:p>
        </p:txBody>
      </p:sp>
      <p:sp>
        <p:nvSpPr>
          <p:cNvPr id="6" name="confidence-intro">
            <a:extLst xmlns:a="http://schemas.openxmlformats.org/drawingml/2006/main">
              <a:ext uri="{FF2B5EF4-FFF2-40B4-BE49-F238E27FC236}">
                <a16:creationId xmlns:a16="http://schemas.microsoft.com/office/drawing/2014/main" id="{F11C07A8-49F9-480B-B09C-231D9D2C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47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526174"/>
                </a:solidFill>
                <a:latin typeface="DejaVu Sans"/>
                <a:ea typeface="DejaVu Sans"/>
                <a:cs typeface="DejaVu Sans"/>
              </a:rPr>
              <a:t>Select Not yet, Getting there or Confident for each objective on the worksheet.</a:t>
            </a:r>
          </a:p>
        </p:txBody>
      </p:sp>
      <p:sp>
        <p:nvSpPr>
          <p:cNvPr id="7" name="number-1">
            <a:extLst xmlns:a="http://schemas.openxmlformats.org/drawingml/2006/main">
              <a:ext uri="{FF2B5EF4-FFF2-40B4-BE49-F238E27FC236}">
                <a16:creationId xmlns:a16="http://schemas.microsoft.com/office/drawing/2014/main" id="{5E2EC68F-894E-4351-840A-752C7390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5146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1.</a:t>
            </a:r>
          </a:p>
        </p:txBody>
      </p:sp>
      <p:sp>
        <p:nvSpPr>
          <p:cNvPr id="8" name="item-1">
            <a:extLst xmlns:a="http://schemas.openxmlformats.org/drawingml/2006/main">
              <a:ext uri="{FF2B5EF4-FFF2-40B4-BE49-F238E27FC236}">
                <a16:creationId xmlns:a16="http://schemas.microsoft.com/office/drawing/2014/main" id="{EA757B44-43FD-42AB-A1F6-1508CA5E9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5146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What the internet is</a:t>
            </a:r>
          </a:p>
        </p:txBody>
      </p:sp>
      <p:sp>
        <p:nvSpPr>
          <p:cNvPr id="9" name="number-2">
            <a:extLst xmlns:a="http://schemas.openxmlformats.org/drawingml/2006/main">
              <a:ext uri="{FF2B5EF4-FFF2-40B4-BE49-F238E27FC236}">
                <a16:creationId xmlns:a16="http://schemas.microsoft.com/office/drawing/2014/main" id="{D0C7FE97-CE0E-4E2F-BC33-F3DD41798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433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2.</a:t>
            </a:r>
          </a:p>
        </p:txBody>
      </p:sp>
      <p:sp>
        <p:nvSpPr>
          <p:cNvPr id="10" name="item-2">
            <a:extLst xmlns:a="http://schemas.openxmlformats.org/drawingml/2006/main">
              <a:ext uri="{FF2B5EF4-FFF2-40B4-BE49-F238E27FC236}">
                <a16:creationId xmlns:a16="http://schemas.microsoft.com/office/drawing/2014/main" id="{44060FDA-C41E-4449-8939-ED879C658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433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How DNS works</a:t>
            </a:r>
          </a:p>
        </p:txBody>
      </p:sp>
      <p:sp>
        <p:nvSpPr>
          <p:cNvPr id="11" name="number-3">
            <a:extLst xmlns:a="http://schemas.openxmlformats.org/drawingml/2006/main">
              <a:ext uri="{FF2B5EF4-FFF2-40B4-BE49-F238E27FC236}">
                <a16:creationId xmlns:a16="http://schemas.microsoft.com/office/drawing/2014/main" id="{303CC0E5-4866-4B9D-AB3C-68112C3A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57200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2D63FF"/>
                </a:solidFill>
                <a:latin typeface="DejaVu Sans"/>
                <a:ea typeface="DejaVu Sans"/>
                <a:cs typeface="DejaVu Sans"/>
              </a:rPr>
              <a:t>3.</a:t>
            </a:r>
          </a:p>
        </p:txBody>
      </p:sp>
      <p:sp>
        <p:nvSpPr>
          <p:cNvPr id="12" name="item-3">
            <a:extLst xmlns:a="http://schemas.openxmlformats.org/drawingml/2006/main">
              <a:ext uri="{FF2B5EF4-FFF2-40B4-BE49-F238E27FC236}">
                <a16:creationId xmlns:a16="http://schemas.microsoft.com/office/drawing/2014/main" id="{1E89B187-261C-49FE-AADF-095754EA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72000"/>
            <a:ext cx="99250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101828"/>
                </a:solidFill>
                <a:latin typeface="DejaVu Sans"/>
                <a:ea typeface="DejaVu Sans"/>
                <a:cs typeface="DejaVu Sans"/>
              </a:rPr>
              <a:t>Hosting, the cloud, web servers and clients</a:t>
            </a:r>
          </a:p>
        </p:txBody>
      </p:sp>
    </p:spTree>
    <p:extLst>
      <p:ext uri="{BB962C8B-B14F-4D97-AF65-F5344CB8AC3E}">
        <p14:creationId xmlns:p14="http://schemas.microsoft.com/office/powerpoint/2010/main" val="8534639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2026-09-25T14:15:30.7920000Z</dcterms:created>
  <dcterms:modified xsi:type="dcterms:W3CDTF">2026-09-25T14:15:30.7920000Z</dcterms:modified>
</coreProperties>
</file>