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Lesson 1: Security desk.
Open the experience at revise360.co.uk and hand out RP_L01_SecurityDesk_Worksheet.docx.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Share the objectives, then go straight into the starter. Devices stay away for the first five minutes.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Silent start. Take two or three answers before moving on: this is where misconceptions surface.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Insist on writing before tapping. That single rule is the difference between revision and a quiz game.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Station 1: Defensive design. Students read this wall in the experience, write the key fact and the challenge answer, then answer the questions at the badge.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Station 2: Type check. Students read this wall in the experience, write the key fact and the challenge answer, then answer the questions at the badge.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Station 3: Range check. Students read this wall in the experience, write the key fact and the challenge answer, then answer the questions at the badge.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Station 4: Presence check. Students read this wall in the experience, write the key fact and the challenge answer, then answer the questions at the badge.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Station 5: Format and length checks. Students read this wall in the experience, write the key fact and the challenge answer, then answer the questions at the badge.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Station 6: Whitelists and blacklists. Students read this wall in the experience, write the key fact and the challenge answer, then answer the questions at the badge.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Make them commit to an answer on paper before they tap the star. Guessing first costs them the learning.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Use these as a settler, or as something for early finishers to read in the experience.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Timed and silent. Mark against the answer sheet, then ask students to record their weakest area.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Students copy their score-screen breakdown onto the worksheet, then rate themselves here.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0182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2D63F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822960" y="1417320"/>
            <a:ext cx="10515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4B94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2.3 Producing robust programs  |  Lesson 1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822960" y="1920240"/>
            <a:ext cx="10515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rgbClr val="FFFF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Security desk</a:t>
            </a:r>
            <a:endParaRPr lang="en-US" sz="6000" dirty="0"/>
          </a:p>
        </p:txBody>
      </p:sp>
      <p:sp>
        <p:nvSpPr>
          <p:cNvPr id="5" name="Text 3"/>
          <p:cNvSpPr txBox="1"/>
          <p:nvPr/>
        </p:nvSpPr>
        <p:spPr>
          <a:xfrm>
            <a:off x="822960" y="3291840"/>
            <a:ext cx="95097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800" dirty="0">
                <a:solidFill>
                  <a:srgbClr val="C7CDD9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Nothing gets into the program without passing the security desk. Learn the validation checks programmers use to make sure input data is sensible before it's processed.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822960" y="4846320"/>
            <a:ext cx="2926080" cy="0"/>
          </a:xfrm>
          <a:prstGeom prst="line">
            <a:avLst/>
          </a:prstGeom>
          <a:noFill/>
          <a:ln w="31750">
            <a:solidFill>
              <a:srgbClr val="2D63F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22960" y="502920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OCR J277 Paper 2  |  Computational thinking, algorithms and programming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7F7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2D63F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6236208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2.3 Producing robust programs  |  Lesson 1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326880" y="6236208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Revise 360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411480"/>
            <a:ext cx="11155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By the end of this lesson</a:t>
            </a:r>
            <a:endParaRPr lang="en-US" sz="3200" dirty="0"/>
          </a:p>
        </p:txBody>
      </p:sp>
      <p:sp>
        <p:nvSpPr>
          <p:cNvPr id="6" name="Text 4"/>
          <p:cNvSpPr txBox="1"/>
          <p:nvPr/>
        </p:nvSpPr>
        <p:spPr>
          <a:xfrm>
            <a:off x="502920" y="1170432"/>
            <a:ext cx="11155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6670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How can a programmer make sure a program copes with anything a user types?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548640" y="1965960"/>
            <a:ext cx="566928" cy="566928"/>
          </a:xfrm>
          <a:prstGeom prst="ellipse">
            <a:avLst/>
          </a:prstGeom>
          <a:solidFill>
            <a:srgbClr val="2D63FF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48640" y="196596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</a:t>
            </a:r>
            <a:endParaRPr lang="en-US" sz="2000" dirty="0"/>
          </a:p>
        </p:txBody>
      </p:sp>
      <p:sp>
        <p:nvSpPr>
          <p:cNvPr id="9" name="Text 7"/>
          <p:cNvSpPr txBox="1"/>
          <p:nvPr/>
        </p:nvSpPr>
        <p:spPr>
          <a:xfrm>
            <a:off x="1325880" y="1965960"/>
            <a:ext cx="10332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Know what is meant by defensive design when writing programs</a:t>
            </a:r>
            <a:endParaRPr lang="en-US" sz="1900" dirty="0"/>
          </a:p>
        </p:txBody>
      </p:sp>
      <p:sp>
        <p:nvSpPr>
          <p:cNvPr id="10" name="Shape 8"/>
          <p:cNvSpPr/>
          <p:nvPr/>
        </p:nvSpPr>
        <p:spPr>
          <a:xfrm>
            <a:off x="548640" y="2898648"/>
            <a:ext cx="566928" cy="566928"/>
          </a:xfrm>
          <a:prstGeom prst="ellipse">
            <a:avLst/>
          </a:prstGeom>
          <a:solidFill>
            <a:srgbClr val="2D63FF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548640" y="28986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2</a:t>
            </a:r>
            <a:endParaRPr lang="en-US" sz="2000" dirty="0"/>
          </a:p>
        </p:txBody>
      </p:sp>
      <p:sp>
        <p:nvSpPr>
          <p:cNvPr id="12" name="Text 10"/>
          <p:cNvSpPr txBox="1"/>
          <p:nvPr/>
        </p:nvSpPr>
        <p:spPr>
          <a:xfrm>
            <a:off x="1325880" y="2898648"/>
            <a:ext cx="10332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Understand why input validation is necessary</a:t>
            </a:r>
            <a:endParaRPr lang="en-US" sz="1900" dirty="0"/>
          </a:p>
        </p:txBody>
      </p:sp>
      <p:sp>
        <p:nvSpPr>
          <p:cNvPr id="13" name="Shape 11"/>
          <p:cNvSpPr/>
          <p:nvPr/>
        </p:nvSpPr>
        <p:spPr>
          <a:xfrm>
            <a:off x="548640" y="3831336"/>
            <a:ext cx="566928" cy="566928"/>
          </a:xfrm>
          <a:prstGeom prst="ellipse">
            <a:avLst/>
          </a:prstGeom>
          <a:solidFill>
            <a:srgbClr val="2D63FF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548640" y="3831336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3</a:t>
            </a:r>
            <a:endParaRPr lang="en-US" sz="2000" dirty="0"/>
          </a:p>
        </p:txBody>
      </p:sp>
      <p:sp>
        <p:nvSpPr>
          <p:cNvPr id="15" name="Text 13"/>
          <p:cNvSpPr txBox="1"/>
          <p:nvPr/>
        </p:nvSpPr>
        <p:spPr>
          <a:xfrm>
            <a:off x="1325880" y="3831336"/>
            <a:ext cx="10332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Know a range of validation techniques used to write robust programs</a:t>
            </a:r>
            <a:endParaRPr lang="en-US" sz="1900" dirty="0"/>
          </a:p>
        </p:txBody>
      </p:sp>
      <p:sp>
        <p:nvSpPr>
          <p:cNvPr id="16" name="Text 14"/>
          <p:cNvSpPr txBox="1"/>
          <p:nvPr/>
        </p:nvSpPr>
        <p:spPr>
          <a:xfrm>
            <a:off x="548640" y="5084064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Key words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548640" y="5468112"/>
            <a:ext cx="2798064" cy="40233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2D63FF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548640" y="5468112"/>
            <a:ext cx="27980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2D63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Defensive design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3474720" y="5468112"/>
            <a:ext cx="1920240" cy="40233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2D63FF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3474720" y="5468112"/>
            <a:ext cx="19202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2D63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Validation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5522976" y="5468112"/>
            <a:ext cx="1920240" cy="40233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2D63FF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5522976" y="5468112"/>
            <a:ext cx="19202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2D63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Type check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7571232" y="5468112"/>
            <a:ext cx="2066544" cy="40233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2D63FF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7571232" y="5468112"/>
            <a:ext cx="206654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2D63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Range check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7F7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2D63F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6236208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2.3 Producing robust programs  |  Lesson 1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326880" y="6236208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Revise 360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502920" y="457200"/>
            <a:ext cx="2103120" cy="457200"/>
          </a:xfrm>
          <a:prstGeom prst="roundRect">
            <a:avLst>
              <a:gd name="adj" fmla="val 20000"/>
            </a:avLst>
          </a:prstGeom>
          <a:solidFill>
            <a:srgbClr val="F4B942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502920" y="457200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0182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STARTER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2788920" y="457200"/>
            <a:ext cx="5486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670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Five minutes, on paper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02920" y="1234440"/>
            <a:ext cx="11155680" cy="3200400"/>
          </a:xfrm>
          <a:prstGeom prst="roundRect">
            <a:avLst>
              <a:gd name="adj" fmla="val 3429"/>
            </a:avLst>
          </a:prstGeom>
          <a:solidFill>
            <a:srgbClr val="FFFFFF"/>
          </a:solidFill>
          <a:ln w="15875">
            <a:solidFill>
              <a:srgbClr val="2D63FF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1005840" y="1645920"/>
            <a:ext cx="1014984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26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 club membership form asks for a name, a date of birth and a mobile number. For each field, write down one check the program should make before it accepts the data.</a:t>
            </a:r>
            <a:endParaRPr lang="en-US" sz="2600" dirty="0"/>
          </a:p>
        </p:txBody>
      </p:sp>
      <p:sp>
        <p:nvSpPr>
          <p:cNvPr id="10" name="Text 8"/>
          <p:cNvSpPr txBox="1"/>
          <p:nvPr/>
        </p:nvSpPr>
        <p:spPr>
          <a:xfrm>
            <a:off x="502920" y="4709160"/>
            <a:ext cx="11155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6670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No devices yet. Write your answer on the worksheet before anyone talks.</a:t>
            </a:r>
            <a:endParaRPr lang="en-US" sz="15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7F7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2D63F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6236208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2.3 Producing robust programs  |  Lesson 1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326880" y="6236208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Revise 360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411480"/>
            <a:ext cx="11155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Into the experience</a:t>
            </a:r>
            <a:endParaRPr lang="en-US" sz="3200" dirty="0"/>
          </a:p>
        </p:txBody>
      </p:sp>
      <p:sp>
        <p:nvSpPr>
          <p:cNvPr id="6" name="Text 4"/>
          <p:cNvSpPr txBox="1"/>
          <p:nvPr/>
        </p:nvSpPr>
        <p:spPr>
          <a:xfrm>
            <a:off x="502920" y="1170432"/>
            <a:ext cx="11155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6670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Open Security desk on revise360.co.uk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548640" y="1874520"/>
            <a:ext cx="566928" cy="566928"/>
          </a:xfrm>
          <a:prstGeom prst="ellipse">
            <a:avLst/>
          </a:prstGeom>
          <a:solidFill>
            <a:srgbClr val="08A6A6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48640" y="187452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</a:t>
            </a:r>
            <a:endParaRPr lang="en-US" sz="2000" dirty="0"/>
          </a:p>
        </p:txBody>
      </p:sp>
      <p:sp>
        <p:nvSpPr>
          <p:cNvPr id="9" name="Text 7"/>
          <p:cNvSpPr txBox="1"/>
          <p:nvPr/>
        </p:nvSpPr>
        <p:spPr>
          <a:xfrm>
            <a:off x="1325880" y="1856232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Look around</a:t>
            </a:r>
            <a:endParaRPr lang="en-US" sz="1700" dirty="0"/>
          </a:p>
        </p:txBody>
      </p:sp>
      <p:sp>
        <p:nvSpPr>
          <p:cNvPr id="10" name="Text 8"/>
          <p:cNvSpPr txBox="1"/>
          <p:nvPr/>
        </p:nvSpPr>
        <p:spPr>
          <a:xfrm>
            <a:off x="1325880" y="2148840"/>
            <a:ext cx="10241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6670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Six numbered stations are arranged around you. Turn right for 1 and 2, around for 3 and 4, left for 5 and 6.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548640" y="2898648"/>
            <a:ext cx="566928" cy="566928"/>
          </a:xfrm>
          <a:prstGeom prst="ellipse">
            <a:avLst/>
          </a:prstGeom>
          <a:solidFill>
            <a:srgbClr val="08A6A6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548640" y="28986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2</a:t>
            </a:r>
            <a:endParaRPr lang="en-US" sz="2000" dirty="0"/>
          </a:p>
        </p:txBody>
      </p:sp>
      <p:sp>
        <p:nvSpPr>
          <p:cNvPr id="13" name="Text 11"/>
          <p:cNvSpPr txBox="1"/>
          <p:nvPr/>
        </p:nvSpPr>
        <p:spPr>
          <a:xfrm>
            <a:off x="1325880" y="2880360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Read, then write</a:t>
            </a:r>
            <a:endParaRPr lang="en-US" sz="1700" dirty="0"/>
          </a:p>
        </p:txBody>
      </p:sp>
      <p:sp>
        <p:nvSpPr>
          <p:cNvPr id="14" name="Text 12"/>
          <p:cNvSpPr txBox="1"/>
          <p:nvPr/>
        </p:nvSpPr>
        <p:spPr>
          <a:xfrm>
            <a:off x="1325880" y="3172968"/>
            <a:ext cx="10241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6670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Read the wall, write the key fact and your answer to the challenge on the worksheet.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548640" y="3922776"/>
            <a:ext cx="566928" cy="566928"/>
          </a:xfrm>
          <a:prstGeom prst="ellipse">
            <a:avLst/>
          </a:prstGeom>
          <a:solidFill>
            <a:srgbClr val="08A6A6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548640" y="3922776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3</a:t>
            </a:r>
            <a:endParaRPr lang="en-US" sz="2000" dirty="0"/>
          </a:p>
        </p:txBody>
      </p:sp>
      <p:sp>
        <p:nvSpPr>
          <p:cNvPr id="17" name="Text 15"/>
          <p:cNvSpPr txBox="1"/>
          <p:nvPr/>
        </p:nvSpPr>
        <p:spPr>
          <a:xfrm>
            <a:off x="1325880" y="3904488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Then tap the badge</a:t>
            </a:r>
            <a:endParaRPr lang="en-US" sz="1700" dirty="0"/>
          </a:p>
        </p:txBody>
      </p:sp>
      <p:sp>
        <p:nvSpPr>
          <p:cNvPr id="18" name="Text 16"/>
          <p:cNvSpPr txBox="1"/>
          <p:nvPr/>
        </p:nvSpPr>
        <p:spPr>
          <a:xfrm>
            <a:off x="1325880" y="4197096"/>
            <a:ext cx="10241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6670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Only answer the questions once you have written. Your first answer is the one that counts.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548640" y="4946904"/>
            <a:ext cx="566928" cy="566928"/>
          </a:xfrm>
          <a:prstGeom prst="ellipse">
            <a:avLst/>
          </a:prstGeom>
          <a:solidFill>
            <a:srgbClr val="F4B942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548640" y="4946904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4</a:t>
            </a:r>
            <a:endParaRPr lang="en-US" sz="2000" dirty="0"/>
          </a:p>
        </p:txBody>
      </p:sp>
      <p:sp>
        <p:nvSpPr>
          <p:cNvPr id="21" name="Text 19"/>
          <p:cNvSpPr txBox="1"/>
          <p:nvPr/>
        </p:nvSpPr>
        <p:spPr>
          <a:xfrm>
            <a:off x="1325880" y="4928616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Look down at the end</a:t>
            </a:r>
            <a:endParaRPr lang="en-US" sz="1700" dirty="0"/>
          </a:p>
        </p:txBody>
      </p:sp>
      <p:sp>
        <p:nvSpPr>
          <p:cNvPr id="22" name="Text 20"/>
          <p:cNvSpPr txBox="1"/>
          <p:nvPr/>
        </p:nvSpPr>
        <p:spPr>
          <a:xfrm>
            <a:off x="1325880" y="5221224"/>
            <a:ext cx="10241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6670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The starred final challenge is on the floor. Predict on paper first.</a:t>
            </a:r>
            <a:endParaRPr lang="en-US" sz="14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7F7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2D63F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6236208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2.3 Producing robust programs  |  Lesson 1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326880" y="6236208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Revise 360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8321040" y="6236208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D9DEE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Station 1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502920" y="438912"/>
            <a:ext cx="566928" cy="566928"/>
          </a:xfrm>
          <a:prstGeom prst="ellipse">
            <a:avLst/>
          </a:prstGeom>
          <a:solidFill>
            <a:srgbClr val="2D63FF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502920" y="438912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</a:t>
            </a:r>
            <a:endParaRPr lang="en-US" sz="2000" dirty="0"/>
          </a:p>
        </p:txBody>
      </p:sp>
      <p:sp>
        <p:nvSpPr>
          <p:cNvPr id="8" name="Text 6"/>
          <p:cNvSpPr txBox="1"/>
          <p:nvPr/>
        </p:nvSpPr>
        <p:spPr>
          <a:xfrm>
            <a:off x="1234440" y="411480"/>
            <a:ext cx="104241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Defensive design</a:t>
            </a:r>
            <a:endParaRPr lang="en-US" sz="3000" dirty="0"/>
          </a:p>
        </p:txBody>
      </p:sp>
      <p:sp>
        <p:nvSpPr>
          <p:cNvPr id="9" name="Shape 7"/>
          <p:cNvSpPr/>
          <p:nvPr/>
        </p:nvSpPr>
        <p:spPr>
          <a:xfrm>
            <a:off x="502920" y="1280160"/>
            <a:ext cx="7040880" cy="3246120"/>
          </a:xfrm>
          <a:prstGeom prst="roundRect">
            <a:avLst>
              <a:gd name="adj" fmla="val 3380"/>
            </a:avLst>
          </a:prstGeom>
          <a:solidFill>
            <a:srgbClr val="FFFFFF"/>
          </a:solidFill>
          <a:ln w="15875">
            <a:solidFill>
              <a:srgbClr val="D9DEE7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914400" y="1600200"/>
            <a:ext cx="630936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Designing a program so it can't be broken by mistakes or deliberate misuse.</a:t>
            </a:r>
            <a:endParaRPr lang="en-US" sz="1700" dirty="0"/>
          </a:p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Includes input validation, authentication, anticipating misuse and maintainable code.</a:t>
            </a:r>
            <a:endParaRPr lang="en-US" sz="1700" dirty="0"/>
          </a:p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Assume users will do something unexpected.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7818120" y="1280160"/>
            <a:ext cx="3840480" cy="3246120"/>
          </a:xfrm>
          <a:prstGeom prst="roundRect">
            <a:avLst>
              <a:gd name="adj" fmla="val 3380"/>
            </a:avLst>
          </a:prstGeom>
          <a:solidFill>
            <a:srgbClr val="FFFFFF"/>
          </a:solidFill>
          <a:ln w="15875">
            <a:solidFill>
              <a:srgbClr val="F4B942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183880" y="150876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CHALLENGE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8183880" y="1874520"/>
            <a:ext cx="315468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6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List three things that could go wrong if a program trusted every input.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502920" y="4754880"/>
            <a:ext cx="11155680" cy="777240"/>
          </a:xfrm>
          <a:prstGeom prst="roundRect">
            <a:avLst>
              <a:gd name="adj" fmla="val 11765"/>
            </a:avLst>
          </a:prstGeom>
          <a:solidFill>
            <a:srgbClr val="EEF2FB"/>
          </a:solidFill>
          <a:ln w="12700">
            <a:solidFill>
              <a:srgbClr val="2D63FF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914400" y="4754880"/>
            <a:ext cx="10332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D63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On your worksheet:  </a:t>
            </a:r>
            <a:pPr indent="0" marL="0">
              <a:buNone/>
            </a:pPr>
            <a:r>
              <a:rPr lang="en-US" sz="16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Defensive design means...</a:t>
            </a:r>
            <a:endParaRPr lang="en-US" sz="16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7F7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2D63F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6236208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2.3 Producing robust programs  |  Lesson 1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326880" y="6236208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Revise 360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8321040" y="6236208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D9DEE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Station 2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502920" y="438912"/>
            <a:ext cx="566928" cy="566928"/>
          </a:xfrm>
          <a:prstGeom prst="ellipse">
            <a:avLst/>
          </a:prstGeom>
          <a:solidFill>
            <a:srgbClr val="2D63FF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502920" y="438912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2</a:t>
            </a:r>
            <a:endParaRPr lang="en-US" sz="2000" dirty="0"/>
          </a:p>
        </p:txBody>
      </p:sp>
      <p:sp>
        <p:nvSpPr>
          <p:cNvPr id="8" name="Text 6"/>
          <p:cNvSpPr txBox="1"/>
          <p:nvPr/>
        </p:nvSpPr>
        <p:spPr>
          <a:xfrm>
            <a:off x="1234440" y="411480"/>
            <a:ext cx="104241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Type check</a:t>
            </a:r>
            <a:endParaRPr lang="en-US" sz="3000" dirty="0"/>
          </a:p>
        </p:txBody>
      </p:sp>
      <p:sp>
        <p:nvSpPr>
          <p:cNvPr id="9" name="Shape 7"/>
          <p:cNvSpPr/>
          <p:nvPr/>
        </p:nvSpPr>
        <p:spPr>
          <a:xfrm>
            <a:off x="502920" y="1280160"/>
            <a:ext cx="7040880" cy="3246120"/>
          </a:xfrm>
          <a:prstGeom prst="roundRect">
            <a:avLst>
              <a:gd name="adj" fmla="val 3380"/>
            </a:avLst>
          </a:prstGeom>
          <a:solidFill>
            <a:srgbClr val="FFFFFF"/>
          </a:solidFill>
          <a:ln w="15875">
            <a:solidFill>
              <a:srgbClr val="D9DEE7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914400" y="1600200"/>
            <a:ext cx="630936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Checks the data is the correct data type, such as a whole number rather than text.</a:t>
            </a:r>
            <a:endParaRPr lang="en-US" sz="1700" dirty="0"/>
          </a:p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Stops a program crashing when it tries to do maths with text.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7818120" y="1280160"/>
            <a:ext cx="3840480" cy="3246120"/>
          </a:xfrm>
          <a:prstGeom prst="roundRect">
            <a:avLst>
              <a:gd name="adj" fmla="val 3380"/>
            </a:avLst>
          </a:prstGeom>
          <a:solidFill>
            <a:srgbClr val="FFFFFF"/>
          </a:solidFill>
          <a:ln w="15875">
            <a:solidFill>
              <a:srgbClr val="F4B942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183880" y="150876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CHALLENGE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8183880" y="1874520"/>
            <a:ext cx="315468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6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Which inputs on a sign-up form need a type check?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502920" y="4754880"/>
            <a:ext cx="11155680" cy="777240"/>
          </a:xfrm>
          <a:prstGeom prst="roundRect">
            <a:avLst>
              <a:gd name="adj" fmla="val 11765"/>
            </a:avLst>
          </a:prstGeom>
          <a:solidFill>
            <a:srgbClr val="EEF2FB"/>
          </a:solidFill>
          <a:ln w="12700">
            <a:solidFill>
              <a:srgbClr val="2D63FF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914400" y="4754880"/>
            <a:ext cx="10332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D63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On your worksheet:  </a:t>
            </a:r>
            <a:pPr indent="0" marL="0">
              <a:buNone/>
            </a:pPr>
            <a:r>
              <a:rPr lang="en-US" sz="16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 type check makes sure...</a:t>
            </a:r>
            <a:endParaRPr lang="en-US" sz="16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7F7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2D63F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6236208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2.3 Producing robust programs  |  Lesson 1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326880" y="6236208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Revise 360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8321040" y="6236208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D9DEE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Station 3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502920" y="438912"/>
            <a:ext cx="566928" cy="566928"/>
          </a:xfrm>
          <a:prstGeom prst="ellipse">
            <a:avLst/>
          </a:prstGeom>
          <a:solidFill>
            <a:srgbClr val="2D63FF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502920" y="438912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3</a:t>
            </a:r>
            <a:endParaRPr lang="en-US" sz="2000" dirty="0"/>
          </a:p>
        </p:txBody>
      </p:sp>
      <p:sp>
        <p:nvSpPr>
          <p:cNvPr id="8" name="Text 6"/>
          <p:cNvSpPr txBox="1"/>
          <p:nvPr/>
        </p:nvSpPr>
        <p:spPr>
          <a:xfrm>
            <a:off x="1234440" y="411480"/>
            <a:ext cx="104241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Range check</a:t>
            </a:r>
            <a:endParaRPr lang="en-US" sz="3000" dirty="0"/>
          </a:p>
        </p:txBody>
      </p:sp>
      <p:sp>
        <p:nvSpPr>
          <p:cNvPr id="9" name="Shape 7"/>
          <p:cNvSpPr/>
          <p:nvPr/>
        </p:nvSpPr>
        <p:spPr>
          <a:xfrm>
            <a:off x="502920" y="1280160"/>
            <a:ext cx="7040880" cy="3246120"/>
          </a:xfrm>
          <a:prstGeom prst="roundRect">
            <a:avLst>
              <a:gd name="adj" fmla="val 3380"/>
            </a:avLst>
          </a:prstGeom>
          <a:solidFill>
            <a:srgbClr val="FFFFFF"/>
          </a:solidFill>
          <a:ln w="15875">
            <a:solidFill>
              <a:srgbClr val="D9DEE7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914400" y="1600200"/>
            <a:ext cx="630936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Checks data falls within acceptable limits, such as 1 to 3.</a:t>
            </a:r>
            <a:endParaRPr lang="en-US" sz="1700" dirty="0"/>
          </a:p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Anything outside the range is rejected.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7818120" y="1280160"/>
            <a:ext cx="3840480" cy="3246120"/>
          </a:xfrm>
          <a:prstGeom prst="roundRect">
            <a:avLst>
              <a:gd name="adj" fmla="val 3380"/>
            </a:avLst>
          </a:prstGeom>
          <a:solidFill>
            <a:srgbClr val="FFFFFF"/>
          </a:solidFill>
          <a:ln w="15875">
            <a:solidFill>
              <a:srgbClr val="F4B942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183880" y="150876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CHALLENGE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8183880" y="1874520"/>
            <a:ext cx="315468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6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Suggest a sensible range check for a month and for a percentage score.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502920" y="4754880"/>
            <a:ext cx="11155680" cy="777240"/>
          </a:xfrm>
          <a:prstGeom prst="roundRect">
            <a:avLst>
              <a:gd name="adj" fmla="val 11765"/>
            </a:avLst>
          </a:prstGeom>
          <a:solidFill>
            <a:srgbClr val="EEF2FB"/>
          </a:solidFill>
          <a:ln w="12700">
            <a:solidFill>
              <a:srgbClr val="2D63FF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914400" y="4754880"/>
            <a:ext cx="10332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D63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On your worksheet:  </a:t>
            </a:r>
            <a:pPr indent="0" marL="0">
              <a:buNone/>
            </a:pPr>
            <a:r>
              <a:rPr lang="en-US" sz="16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 range check makes sure...</a:t>
            </a:r>
            <a:endParaRPr lang="en-US" sz="16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7F7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2D63F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6236208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2.3 Producing robust programs  |  Lesson 1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326880" y="6236208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Revise 360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8321040" y="6236208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D9DEE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Station 4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502920" y="438912"/>
            <a:ext cx="566928" cy="566928"/>
          </a:xfrm>
          <a:prstGeom prst="ellipse">
            <a:avLst/>
          </a:prstGeom>
          <a:solidFill>
            <a:srgbClr val="2D63FF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502920" y="438912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4</a:t>
            </a:r>
            <a:endParaRPr lang="en-US" sz="2000" dirty="0"/>
          </a:p>
        </p:txBody>
      </p:sp>
      <p:sp>
        <p:nvSpPr>
          <p:cNvPr id="8" name="Text 6"/>
          <p:cNvSpPr txBox="1"/>
          <p:nvPr/>
        </p:nvSpPr>
        <p:spPr>
          <a:xfrm>
            <a:off x="1234440" y="411480"/>
            <a:ext cx="104241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Presence check</a:t>
            </a:r>
            <a:endParaRPr lang="en-US" sz="3000" dirty="0"/>
          </a:p>
        </p:txBody>
      </p:sp>
      <p:sp>
        <p:nvSpPr>
          <p:cNvPr id="9" name="Shape 7"/>
          <p:cNvSpPr/>
          <p:nvPr/>
        </p:nvSpPr>
        <p:spPr>
          <a:xfrm>
            <a:off x="502920" y="1280160"/>
            <a:ext cx="7040880" cy="3246120"/>
          </a:xfrm>
          <a:prstGeom prst="roundRect">
            <a:avLst>
              <a:gd name="adj" fmla="val 3380"/>
            </a:avLst>
          </a:prstGeom>
          <a:solidFill>
            <a:srgbClr val="FFFFFF"/>
          </a:solidFill>
          <a:ln w="15875">
            <a:solidFill>
              <a:srgbClr val="D9DEE7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914400" y="1600200"/>
            <a:ext cx="630936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Checks that some data has been entered.</a:t>
            </a:r>
            <a:endParaRPr lang="en-US" sz="1700" dirty="0"/>
          </a:p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Stops required fields, like a username, being left blank.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7818120" y="1280160"/>
            <a:ext cx="3840480" cy="3246120"/>
          </a:xfrm>
          <a:prstGeom prst="roundRect">
            <a:avLst>
              <a:gd name="adj" fmla="val 3380"/>
            </a:avLst>
          </a:prstGeom>
          <a:solidFill>
            <a:srgbClr val="FFFFFF"/>
          </a:solidFill>
          <a:ln w="15875">
            <a:solidFill>
              <a:srgbClr val="F4B942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183880" y="150876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CHALLENGE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8183880" y="1874520"/>
            <a:ext cx="315468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6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Which fields on a sign-up form must have a presence check?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502920" y="4754880"/>
            <a:ext cx="11155680" cy="777240"/>
          </a:xfrm>
          <a:prstGeom prst="roundRect">
            <a:avLst>
              <a:gd name="adj" fmla="val 11765"/>
            </a:avLst>
          </a:prstGeom>
          <a:solidFill>
            <a:srgbClr val="EEF2FB"/>
          </a:solidFill>
          <a:ln w="12700">
            <a:solidFill>
              <a:srgbClr val="2D63FF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914400" y="4754880"/>
            <a:ext cx="10332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D63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On your worksheet:  </a:t>
            </a:r>
            <a:pPr indent="0" marL="0">
              <a:buNone/>
            </a:pPr>
            <a:r>
              <a:rPr lang="en-US" sz="16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 presence check makes sure...</a:t>
            </a:r>
            <a:endParaRPr lang="en-US" sz="16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7F7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2D63F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6236208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2.3 Producing robust programs  |  Lesson 1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326880" y="6236208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Revise 360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8321040" y="6236208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D9DEE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Station 5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502920" y="438912"/>
            <a:ext cx="566928" cy="566928"/>
          </a:xfrm>
          <a:prstGeom prst="ellipse">
            <a:avLst/>
          </a:prstGeom>
          <a:solidFill>
            <a:srgbClr val="2D63FF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502920" y="438912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5</a:t>
            </a:r>
            <a:endParaRPr lang="en-US" sz="2000" dirty="0"/>
          </a:p>
        </p:txBody>
      </p:sp>
      <p:sp>
        <p:nvSpPr>
          <p:cNvPr id="8" name="Text 6"/>
          <p:cNvSpPr txBox="1"/>
          <p:nvPr/>
        </p:nvSpPr>
        <p:spPr>
          <a:xfrm>
            <a:off x="1234440" y="411480"/>
            <a:ext cx="104241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Format and length checks</a:t>
            </a:r>
            <a:endParaRPr lang="en-US" sz="3000" dirty="0"/>
          </a:p>
        </p:txBody>
      </p:sp>
      <p:sp>
        <p:nvSpPr>
          <p:cNvPr id="9" name="Shape 7"/>
          <p:cNvSpPr/>
          <p:nvPr/>
        </p:nvSpPr>
        <p:spPr>
          <a:xfrm>
            <a:off x="502920" y="1280160"/>
            <a:ext cx="7040880" cy="3246120"/>
          </a:xfrm>
          <a:prstGeom prst="roundRect">
            <a:avLst>
              <a:gd name="adj" fmla="val 3380"/>
            </a:avLst>
          </a:prstGeom>
          <a:solidFill>
            <a:srgbClr val="FFFFFF"/>
          </a:solidFill>
          <a:ln w="15875">
            <a:solidFill>
              <a:srgbClr val="D9DEE7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914400" y="1600200"/>
            <a:ext cx="630936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 format check makes sure data matches a pattern, such as DD/MM/YYYY or a postcode.</a:t>
            </a:r>
            <a:endParaRPr lang="en-US" sz="1700" dirty="0"/>
          </a:p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 length check makes sure data has the right number of characters, such as 11 digits for a mobile number.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7818120" y="1280160"/>
            <a:ext cx="3840480" cy="3246120"/>
          </a:xfrm>
          <a:prstGeom prst="roundRect">
            <a:avLst>
              <a:gd name="adj" fmla="val 3380"/>
            </a:avLst>
          </a:prstGeom>
          <a:solidFill>
            <a:srgbClr val="FFFFFF"/>
          </a:solidFill>
          <a:ln w="15875">
            <a:solidFill>
              <a:srgbClr val="F4B942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183880" y="150876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CHALLENGE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8183880" y="1874520"/>
            <a:ext cx="315468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6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Describe a format check and a length check for a UK postcode.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502920" y="4754880"/>
            <a:ext cx="11155680" cy="777240"/>
          </a:xfrm>
          <a:prstGeom prst="roundRect">
            <a:avLst>
              <a:gd name="adj" fmla="val 11765"/>
            </a:avLst>
          </a:prstGeom>
          <a:solidFill>
            <a:srgbClr val="EEF2FB"/>
          </a:solidFill>
          <a:ln w="12700">
            <a:solidFill>
              <a:srgbClr val="2D63FF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914400" y="4754880"/>
            <a:ext cx="10332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D63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On your worksheet:  </a:t>
            </a:r>
            <a:pPr indent="0" marL="0">
              <a:buNone/>
            </a:pPr>
            <a:r>
              <a:rPr lang="en-US" sz="16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 format check... A length check...</a:t>
            </a:r>
            <a:endParaRPr lang="en-US" sz="16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7F7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2D63F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6236208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2.3 Producing robust programs  |  Lesson 1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326880" y="6236208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Revise 360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8321040" y="6236208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D9DEE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Station 6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502920" y="438912"/>
            <a:ext cx="566928" cy="566928"/>
          </a:xfrm>
          <a:prstGeom prst="ellipse">
            <a:avLst/>
          </a:prstGeom>
          <a:solidFill>
            <a:srgbClr val="2D63FF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502920" y="438912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6</a:t>
            </a:r>
            <a:endParaRPr lang="en-US" sz="2000" dirty="0"/>
          </a:p>
        </p:txBody>
      </p:sp>
      <p:sp>
        <p:nvSpPr>
          <p:cNvPr id="8" name="Text 6"/>
          <p:cNvSpPr txBox="1"/>
          <p:nvPr/>
        </p:nvSpPr>
        <p:spPr>
          <a:xfrm>
            <a:off x="1234440" y="411480"/>
            <a:ext cx="104241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Whitelists and blacklists</a:t>
            </a:r>
            <a:endParaRPr lang="en-US" sz="3000" dirty="0"/>
          </a:p>
        </p:txBody>
      </p:sp>
      <p:sp>
        <p:nvSpPr>
          <p:cNvPr id="9" name="Shape 7"/>
          <p:cNvSpPr/>
          <p:nvPr/>
        </p:nvSpPr>
        <p:spPr>
          <a:xfrm>
            <a:off x="502920" y="1280160"/>
            <a:ext cx="7040880" cy="3246120"/>
          </a:xfrm>
          <a:prstGeom prst="roundRect">
            <a:avLst>
              <a:gd name="adj" fmla="val 3380"/>
            </a:avLst>
          </a:prstGeom>
          <a:solidFill>
            <a:srgbClr val="FFFFFF"/>
          </a:solidFill>
          <a:ln w="15875">
            <a:solidFill>
              <a:srgbClr val="D9DEE7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914400" y="1600200"/>
            <a:ext cx="630936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 whitelist stores the only inputs a program should accept, e.g. A, B and C.</a:t>
            </a:r>
            <a:endParaRPr lang="en-US" sz="1700" dirty="0"/>
          </a:p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 blacklist stores inputs a program should reject, e.g. illegal characters in file names.</a:t>
            </a:r>
            <a:endParaRPr lang="en-US" sz="1700" dirty="0"/>
          </a:p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 string can be cast to a number after it has been checked.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7818120" y="1280160"/>
            <a:ext cx="3840480" cy="3246120"/>
          </a:xfrm>
          <a:prstGeom prst="roundRect">
            <a:avLst>
              <a:gd name="adj" fmla="val 3380"/>
            </a:avLst>
          </a:prstGeom>
          <a:solidFill>
            <a:srgbClr val="FFFFFF"/>
          </a:solidFill>
          <a:ln w="15875">
            <a:solidFill>
              <a:srgbClr val="F4B942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183880" y="150876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CHALLENGE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8183880" y="1874520"/>
            <a:ext cx="315468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6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Would you use a whitelist or a blacklist for a menu with options A, B and C? Why?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502920" y="4754880"/>
            <a:ext cx="11155680" cy="777240"/>
          </a:xfrm>
          <a:prstGeom prst="roundRect">
            <a:avLst>
              <a:gd name="adj" fmla="val 11765"/>
            </a:avLst>
          </a:prstGeom>
          <a:solidFill>
            <a:srgbClr val="EEF2FB"/>
          </a:solidFill>
          <a:ln w="12700">
            <a:solidFill>
              <a:srgbClr val="2D63FF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914400" y="4754880"/>
            <a:ext cx="10332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D63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On your worksheet:  </a:t>
            </a:r>
            <a:pPr indent="0" marL="0">
              <a:buNone/>
            </a:pPr>
            <a:r>
              <a:rPr lang="en-US" sz="16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 whitelist... A blacklist...</a:t>
            </a:r>
            <a:endParaRPr lang="en-US" sz="16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7F7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2D63F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6236208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2.3 Producing robust programs  |  Lesson 1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326880" y="6236208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Revise 360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502920" y="438912"/>
            <a:ext cx="3108960" cy="502920"/>
          </a:xfrm>
          <a:prstGeom prst="roundRect">
            <a:avLst>
              <a:gd name="adj" fmla="val 18182"/>
            </a:avLst>
          </a:prstGeom>
          <a:solidFill>
            <a:srgbClr val="F4B942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502920" y="438912"/>
            <a:ext cx="3108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0182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★  FINAL CHALLENGE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502920" y="1097280"/>
            <a:ext cx="11155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Date checks</a:t>
            </a:r>
            <a:endParaRPr lang="en-US" sz="3400" dirty="0"/>
          </a:p>
        </p:txBody>
      </p:sp>
      <p:sp>
        <p:nvSpPr>
          <p:cNvPr id="8" name="Shape 6"/>
          <p:cNvSpPr/>
          <p:nvPr/>
        </p:nvSpPr>
        <p:spPr>
          <a:xfrm>
            <a:off x="502920" y="2011680"/>
            <a:ext cx="11155680" cy="21945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5875">
            <a:solidFill>
              <a:srgbClr val="2D63FF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1005840" y="2331720"/>
            <a:ext cx="1014984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22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 club membership form checks a date of birth in the format DD/MM/YYYY. Tap the star and sort each rule into the type of check it is.</a:t>
            </a:r>
            <a:endParaRPr lang="en-US" sz="2200" dirty="0"/>
          </a:p>
        </p:txBody>
      </p:sp>
      <p:sp>
        <p:nvSpPr>
          <p:cNvPr id="10" name="Text 8"/>
          <p:cNvSpPr txBox="1"/>
          <p:nvPr/>
        </p:nvSpPr>
        <p:spPr>
          <a:xfrm>
            <a:off x="502920" y="4526280"/>
            <a:ext cx="11155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6670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Predict on paper first, then look down and test it.</a:t>
            </a:r>
            <a:endParaRPr lang="en-US" sz="16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7F7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2D63F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6236208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2.3 Producing robust programs  |  Lesson 1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326880" y="6236208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Revise 360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411480"/>
            <a:ext cx="11155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Worth knowing</a:t>
            </a:r>
            <a:endParaRPr lang="en-US" sz="3200" dirty="0"/>
          </a:p>
        </p:txBody>
      </p:sp>
      <p:sp>
        <p:nvSpPr>
          <p:cNvPr id="6" name="Text 4"/>
          <p:cNvSpPr txBox="1"/>
          <p:nvPr/>
        </p:nvSpPr>
        <p:spPr>
          <a:xfrm>
            <a:off x="502920" y="1170432"/>
            <a:ext cx="11155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6670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The information markers dotted around the room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502920" y="1828800"/>
            <a:ext cx="5394960" cy="1737360"/>
          </a:xfrm>
          <a:prstGeom prst="roundRect">
            <a:avLst>
              <a:gd name="adj" fmla="val 6316"/>
            </a:avLst>
          </a:prstGeom>
          <a:solidFill>
            <a:srgbClr val="FFFFFF"/>
          </a:solidFill>
          <a:ln w="15875">
            <a:solidFill>
              <a:srgbClr val="2D63F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822960" y="2011680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D63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Valid isn't correct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822960" y="2395728"/>
            <a:ext cx="47548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6670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Validation checks data is sensible, not true. A birthday of 01/01/2000 passes every check even if it's wrong. Asking twice, called verification, helps catch that.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6217920" y="1828800"/>
            <a:ext cx="5394960" cy="1737360"/>
          </a:xfrm>
          <a:prstGeom prst="roundRect">
            <a:avLst>
              <a:gd name="adj" fmla="val 6316"/>
            </a:avLst>
          </a:prstGeom>
          <a:solidFill>
            <a:srgbClr val="FFFFFF"/>
          </a:solidFill>
          <a:ln w="15875">
            <a:solidFill>
              <a:srgbClr val="08A6A6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537960" y="2011680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8A6A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Leap years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6537960" y="2395728"/>
            <a:ext cx="47548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6670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 year is a leap year if it divides by 4, except century years, which must divide by 400. So 2000 was a leap year, but 1900 wasn't.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502920" y="3794760"/>
            <a:ext cx="5394960" cy="1737360"/>
          </a:xfrm>
          <a:prstGeom prst="roundRect">
            <a:avLst>
              <a:gd name="adj" fmla="val 6316"/>
            </a:avLst>
          </a:prstGeom>
          <a:solidFill>
            <a:srgbClr val="FFFFFF"/>
          </a:solidFill>
          <a:ln w="15875">
            <a:solidFill>
              <a:srgbClr val="2D63FF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822960" y="3977640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D63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Double checking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822960" y="4361688"/>
            <a:ext cx="47548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6670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Websites usually validate in your browser for speed, then again on the server, because a clever user can skip the browser's checks.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6217920" y="3794760"/>
            <a:ext cx="5394960" cy="1737360"/>
          </a:xfrm>
          <a:prstGeom prst="roundRect">
            <a:avLst>
              <a:gd name="adj" fmla="val 6316"/>
            </a:avLst>
          </a:prstGeom>
          <a:solidFill>
            <a:srgbClr val="FFFFFF"/>
          </a:solidFill>
          <a:ln w="15875">
            <a:solidFill>
              <a:srgbClr val="08A6A6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6537960" y="3977640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8A6A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Postcodes</a:t>
            </a:r>
            <a:endParaRPr lang="en-US" sz="1600" dirty="0"/>
          </a:p>
        </p:txBody>
      </p:sp>
      <p:sp>
        <p:nvSpPr>
          <p:cNvPr id="18" name="Text 16"/>
          <p:cNvSpPr txBox="1"/>
          <p:nvPr/>
        </p:nvSpPr>
        <p:spPr>
          <a:xfrm>
            <a:off x="6537960" y="4361688"/>
            <a:ext cx="47548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6670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UK postcodes follow patterns like LLN NLL or LLNN NLL, where L is a letter and N a number. A format check can test for this.</a:t>
            </a:r>
            <a:endParaRPr lang="en-US" sz="13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7F7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2D63F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6236208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2.3 Producing robust programs  |  Lesson 1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326880" y="6236208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Revise 360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411480"/>
            <a:ext cx="11155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Exam practice</a:t>
            </a:r>
            <a:endParaRPr lang="en-US" sz="3200" dirty="0"/>
          </a:p>
        </p:txBody>
      </p:sp>
      <p:sp>
        <p:nvSpPr>
          <p:cNvPr id="6" name="Text 4"/>
          <p:cNvSpPr txBox="1"/>
          <p:nvPr/>
        </p:nvSpPr>
        <p:spPr>
          <a:xfrm>
            <a:off x="502920" y="1170432"/>
            <a:ext cx="11155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6670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Devices away. Answer from memory on the worksheet.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502920" y="1828800"/>
            <a:ext cx="11155680" cy="10972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5875">
            <a:solidFill>
              <a:srgbClr val="D9DEE7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14400" y="1938528"/>
            <a:ext cx="9418320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8000"/>
              </a:lnSpc>
              <a:buNone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Describe what input validation is and why programmers use it.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10515600" y="2130552"/>
            <a:ext cx="868680" cy="493776"/>
          </a:xfrm>
          <a:prstGeom prst="roundRect">
            <a:avLst>
              <a:gd name="adj" fmla="val 18519"/>
            </a:avLst>
          </a:prstGeom>
          <a:solidFill>
            <a:srgbClr val="EEF2FB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10515600" y="2130552"/>
            <a:ext cx="86868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2D63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[2]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502920" y="3127248"/>
            <a:ext cx="11155680" cy="10972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5875">
            <a:solidFill>
              <a:srgbClr val="D9DEE7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914400" y="3236976"/>
            <a:ext cx="9418320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8000"/>
              </a:lnSpc>
              <a:buNone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 form asks for a UK mobile number. Describe two validation checks it should make, and say what each one catches.</a:t>
            </a:r>
            <a:endParaRPr lang="en-US" sz="1700" dirty="0"/>
          </a:p>
        </p:txBody>
      </p:sp>
      <p:sp>
        <p:nvSpPr>
          <p:cNvPr id="13" name="Shape 11"/>
          <p:cNvSpPr/>
          <p:nvPr/>
        </p:nvSpPr>
        <p:spPr>
          <a:xfrm>
            <a:off x="10515600" y="3429000"/>
            <a:ext cx="868680" cy="493776"/>
          </a:xfrm>
          <a:prstGeom prst="roundRect">
            <a:avLst>
              <a:gd name="adj" fmla="val 18519"/>
            </a:avLst>
          </a:prstGeom>
          <a:solidFill>
            <a:srgbClr val="EEF2FB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10515600" y="3429000"/>
            <a:ext cx="86868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2D63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[4]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502920" y="4425696"/>
            <a:ext cx="11155680" cy="10972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5875">
            <a:solidFill>
              <a:srgbClr val="D9DEE7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914400" y="4535424"/>
            <a:ext cx="9418320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8000"/>
              </a:lnSpc>
              <a:buNone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Explain the difference between a range check and a type check, using an example of each.</a:t>
            </a:r>
            <a:endParaRPr lang="en-US" sz="1700" dirty="0"/>
          </a:p>
        </p:txBody>
      </p:sp>
      <p:sp>
        <p:nvSpPr>
          <p:cNvPr id="17" name="Shape 15"/>
          <p:cNvSpPr/>
          <p:nvPr/>
        </p:nvSpPr>
        <p:spPr>
          <a:xfrm>
            <a:off x="10515600" y="4727448"/>
            <a:ext cx="868680" cy="493776"/>
          </a:xfrm>
          <a:prstGeom prst="roundRect">
            <a:avLst>
              <a:gd name="adj" fmla="val 18519"/>
            </a:avLst>
          </a:prstGeom>
          <a:solidFill>
            <a:srgbClr val="EEF2FB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10515600" y="4727448"/>
            <a:ext cx="86868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2D63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[4]</a:t>
            </a:r>
            <a:endParaRPr lang="en-US" sz="15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7F7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2D63F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6236208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2.3 Producing robust programs  |  Lesson 1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326880" y="6236208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Revise 360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411480"/>
            <a:ext cx="11155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Before you go</a:t>
            </a:r>
            <a:endParaRPr lang="en-US" sz="3200" dirty="0"/>
          </a:p>
        </p:txBody>
      </p:sp>
      <p:sp>
        <p:nvSpPr>
          <p:cNvPr id="6" name="Text 4"/>
          <p:cNvSpPr txBox="1"/>
          <p:nvPr/>
        </p:nvSpPr>
        <p:spPr>
          <a:xfrm>
            <a:off x="502920" y="1170432"/>
            <a:ext cx="11155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6670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Rate yourself on each of these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502920" y="1920240"/>
            <a:ext cx="7863840" cy="777240"/>
          </a:xfrm>
          <a:prstGeom prst="roundRect">
            <a:avLst>
              <a:gd name="adj" fmla="val 14118"/>
            </a:avLst>
          </a:prstGeom>
          <a:solidFill>
            <a:srgbClr val="FFFFFF"/>
          </a:solidFill>
          <a:ln w="15875">
            <a:solidFill>
              <a:srgbClr val="D9DEE7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14400" y="1920240"/>
            <a:ext cx="7132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What defensive design means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8595360" y="2066544"/>
            <a:ext cx="987552" cy="484632"/>
          </a:xfrm>
          <a:prstGeom prst="roundRect">
            <a:avLst>
              <a:gd name="adj" fmla="val 18868"/>
            </a:avLst>
          </a:prstGeom>
          <a:solidFill>
            <a:srgbClr val="FFFFFF"/>
          </a:solidFill>
          <a:ln w="15875">
            <a:solidFill>
              <a:srgbClr val="08A6A6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8595360" y="2066544"/>
            <a:ext cx="987552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8A6A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Secure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9674352" y="2066544"/>
            <a:ext cx="987552" cy="484632"/>
          </a:xfrm>
          <a:prstGeom prst="roundRect">
            <a:avLst>
              <a:gd name="adj" fmla="val 18868"/>
            </a:avLst>
          </a:prstGeom>
          <a:solidFill>
            <a:srgbClr val="FFFFFF"/>
          </a:solidFill>
          <a:ln w="15875">
            <a:solidFill>
              <a:srgbClr val="F4B942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9674352" y="2066544"/>
            <a:ext cx="987552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4B942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Revise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10753344" y="2066544"/>
            <a:ext cx="987552" cy="484632"/>
          </a:xfrm>
          <a:prstGeom prst="roundRect">
            <a:avLst>
              <a:gd name="adj" fmla="val 18868"/>
            </a:avLst>
          </a:prstGeom>
          <a:solidFill>
            <a:srgbClr val="FFFFFF"/>
          </a:solidFill>
          <a:ln w="15875">
            <a:solidFill>
              <a:srgbClr val="E2574C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10753344" y="2066544"/>
            <a:ext cx="987552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E2574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Focus here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02920" y="2880360"/>
            <a:ext cx="7863840" cy="777240"/>
          </a:xfrm>
          <a:prstGeom prst="roundRect">
            <a:avLst>
              <a:gd name="adj" fmla="val 14118"/>
            </a:avLst>
          </a:prstGeom>
          <a:solidFill>
            <a:srgbClr val="FFFFFF"/>
          </a:solidFill>
          <a:ln w="15875">
            <a:solidFill>
              <a:srgbClr val="D9DEE7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914400" y="2880360"/>
            <a:ext cx="7132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Why input validation is necessary</a:t>
            </a:r>
            <a:endParaRPr lang="en-US" sz="1800" dirty="0"/>
          </a:p>
        </p:txBody>
      </p:sp>
      <p:sp>
        <p:nvSpPr>
          <p:cNvPr id="17" name="Shape 15"/>
          <p:cNvSpPr/>
          <p:nvPr/>
        </p:nvSpPr>
        <p:spPr>
          <a:xfrm>
            <a:off x="8595360" y="3026664"/>
            <a:ext cx="987552" cy="484632"/>
          </a:xfrm>
          <a:prstGeom prst="roundRect">
            <a:avLst>
              <a:gd name="adj" fmla="val 18868"/>
            </a:avLst>
          </a:prstGeom>
          <a:solidFill>
            <a:srgbClr val="FFFFFF"/>
          </a:solidFill>
          <a:ln w="15875">
            <a:solidFill>
              <a:srgbClr val="08A6A6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8595360" y="3026664"/>
            <a:ext cx="987552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8A6A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Secure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9674352" y="3026664"/>
            <a:ext cx="987552" cy="484632"/>
          </a:xfrm>
          <a:prstGeom prst="roundRect">
            <a:avLst>
              <a:gd name="adj" fmla="val 18868"/>
            </a:avLst>
          </a:prstGeom>
          <a:solidFill>
            <a:srgbClr val="FFFFFF"/>
          </a:solidFill>
          <a:ln w="15875">
            <a:solidFill>
              <a:srgbClr val="F4B942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9674352" y="3026664"/>
            <a:ext cx="987552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4B942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Revise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10753344" y="3026664"/>
            <a:ext cx="987552" cy="484632"/>
          </a:xfrm>
          <a:prstGeom prst="roundRect">
            <a:avLst>
              <a:gd name="adj" fmla="val 18868"/>
            </a:avLst>
          </a:prstGeom>
          <a:solidFill>
            <a:srgbClr val="FFFFFF"/>
          </a:solidFill>
          <a:ln w="15875">
            <a:solidFill>
              <a:srgbClr val="E2574C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10753344" y="3026664"/>
            <a:ext cx="987552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E2574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Focus here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502920" y="3840480"/>
            <a:ext cx="7863840" cy="777240"/>
          </a:xfrm>
          <a:prstGeom prst="roundRect">
            <a:avLst>
              <a:gd name="adj" fmla="val 14118"/>
            </a:avLst>
          </a:prstGeom>
          <a:solidFill>
            <a:srgbClr val="FFFFFF"/>
          </a:solidFill>
          <a:ln w="15875">
            <a:solidFill>
              <a:srgbClr val="D9DEE7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914400" y="3840480"/>
            <a:ext cx="7132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The five types of validation check</a:t>
            </a:r>
            <a:endParaRPr lang="en-US" sz="1800" dirty="0"/>
          </a:p>
        </p:txBody>
      </p:sp>
      <p:sp>
        <p:nvSpPr>
          <p:cNvPr id="25" name="Shape 23"/>
          <p:cNvSpPr/>
          <p:nvPr/>
        </p:nvSpPr>
        <p:spPr>
          <a:xfrm>
            <a:off x="8595360" y="3986784"/>
            <a:ext cx="987552" cy="484632"/>
          </a:xfrm>
          <a:prstGeom prst="roundRect">
            <a:avLst>
              <a:gd name="adj" fmla="val 18868"/>
            </a:avLst>
          </a:prstGeom>
          <a:solidFill>
            <a:srgbClr val="FFFFFF"/>
          </a:solidFill>
          <a:ln w="15875">
            <a:solidFill>
              <a:srgbClr val="08A6A6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8595360" y="3986784"/>
            <a:ext cx="987552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8A6A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Secure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9674352" y="3986784"/>
            <a:ext cx="987552" cy="484632"/>
          </a:xfrm>
          <a:prstGeom prst="roundRect">
            <a:avLst>
              <a:gd name="adj" fmla="val 18868"/>
            </a:avLst>
          </a:prstGeom>
          <a:solidFill>
            <a:srgbClr val="FFFFFF"/>
          </a:solidFill>
          <a:ln w="15875">
            <a:solidFill>
              <a:srgbClr val="F4B942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9674352" y="3986784"/>
            <a:ext cx="987552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4B942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Revise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10753344" y="3986784"/>
            <a:ext cx="987552" cy="484632"/>
          </a:xfrm>
          <a:prstGeom prst="roundRect">
            <a:avLst>
              <a:gd name="adj" fmla="val 18868"/>
            </a:avLst>
          </a:prstGeom>
          <a:solidFill>
            <a:srgbClr val="FFFFFF"/>
          </a:solidFill>
          <a:ln w="15875">
            <a:solidFill>
              <a:srgbClr val="E2574C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10753344" y="3986784"/>
            <a:ext cx="987552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E2574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Focus here</a:t>
            </a:r>
            <a:endParaRPr lang="en-US" sz="1000" dirty="0"/>
          </a:p>
        </p:txBody>
      </p:sp>
      <p:sp>
        <p:nvSpPr>
          <p:cNvPr id="31" name="Text 29"/>
          <p:cNvSpPr txBox="1"/>
          <p:nvPr/>
        </p:nvSpPr>
        <p:spPr>
          <a:xfrm>
            <a:off x="502920" y="5074920"/>
            <a:ext cx="11155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6670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Anything marked Focus here: reopen Security desk and use review mode on the questions you got wrong.</a:t>
            </a:r>
            <a:endParaRPr lang="en-US" sz="15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Revise 360 Ltd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2.3 Producing robust programs  |  Lesson 1 — Security desk</dc:title>
  <dc:subject>OCR J277 GCSE Computer Science</dc:subject>
  <dc:creator>Revise 360 Ltd</dc:creator>
  <cp:lastModifiedBy>Revise 360 Ltd</cp:lastModifiedBy>
  <cp:revision>1</cp:revision>
  <dcterms:created xsi:type="dcterms:W3CDTF">2026-10-01T02:34:51Z</dcterms:created>
  <dcterms:modified xsi:type="dcterms:W3CDTF">2026-10-01T02:34:51Z</dcterms:modified>
</cp:coreProperties>
</file>