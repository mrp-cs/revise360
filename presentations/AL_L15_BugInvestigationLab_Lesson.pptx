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6653761450e4b20" /><Relationship Type="http://schemas.openxmlformats.org/officeDocument/2006/relationships/extended-properties" Target="/docProps/app.xml" Id="R219e20fbc5be4c03" /><Relationship Type="http://schemas.openxmlformats.org/officeDocument/2006/relationships/officeDocument" Target="/ppt/presentation.xml" Id="Rc27cb6a1b759464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f5725e05b404cd3"/>
  </p:sldMasterIdLst>
  <p:notesMasterIdLst>
    <p:notesMasterId xmlns:r="http://schemas.openxmlformats.org/officeDocument/2006/relationships" r:id="R71a61f377f4540d8"/>
  </p:notesMasterIdLst>
  <p:sldIdLst>
    <p:sldId xmlns:r="http://schemas.openxmlformats.org/officeDocument/2006/relationships" id="256" r:id="R2bea1d25e5f8425e"/>
    <p:sldId xmlns:r="http://schemas.openxmlformats.org/officeDocument/2006/relationships" id="257" r:id="R8a8a7e15b1ba42ec"/>
    <p:sldId xmlns:r="http://schemas.openxmlformats.org/officeDocument/2006/relationships" id="258" r:id="R1e9e6c21dcf64062"/>
    <p:sldId xmlns:r="http://schemas.openxmlformats.org/officeDocument/2006/relationships" id="259" r:id="R8f8c710855fd4af7"/>
    <p:sldId xmlns:r="http://schemas.openxmlformats.org/officeDocument/2006/relationships" id="260" r:id="Rcc8bfdd64d554acd"/>
    <p:sldId xmlns:r="http://schemas.openxmlformats.org/officeDocument/2006/relationships" id="261" r:id="R06d78ef790ff48e8"/>
    <p:sldId xmlns:r="http://schemas.openxmlformats.org/officeDocument/2006/relationships" id="262" r:id="Re582fa5b7b5a4896"/>
    <p:sldId xmlns:r="http://schemas.openxmlformats.org/officeDocument/2006/relationships" id="263" r:id="R550b019d85204cab"/>
    <p:sldId xmlns:r="http://schemas.openxmlformats.org/officeDocument/2006/relationships" id="264" r:id="R6ac441e13b664f75"/>
    <p:sldId xmlns:r="http://schemas.openxmlformats.org/officeDocument/2006/relationships" id="265" r:id="R206de5bd657046cc"/>
    <p:sldId xmlns:r="http://schemas.openxmlformats.org/officeDocument/2006/relationships" id="266" r:id="R76dae365fd2d482c"/>
    <p:sldId xmlns:r="http://schemas.openxmlformats.org/officeDocument/2006/relationships" id="267" r:id="R90f591b24f574215"/>
    <p:sldId xmlns:r="http://schemas.openxmlformats.org/officeDocument/2006/relationships" id="268" r:id="R2ab1a99b19344450"/>
    <p:sldId xmlns:r="http://schemas.openxmlformats.org/officeDocument/2006/relationships" id="269" r:id="R7a4e2c25eada48c1"/>
    <p:sldId xmlns:r="http://schemas.openxmlformats.org/officeDocument/2006/relationships" id="270" r:id="R96acca1b3e5c4c2c"/>
    <p:sldId xmlns:r="http://schemas.openxmlformats.org/officeDocument/2006/relationships" id="271" r:id="R9da1051b3de744f2"/>
    <p:sldId xmlns:r="http://schemas.openxmlformats.org/officeDocument/2006/relationships" id="272" r:id="R6c8e06f3a51440c6"/>
    <p:sldId xmlns:r="http://schemas.openxmlformats.org/officeDocument/2006/relationships" id="273" r:id="Rac8b5fc0506943b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dfef254bf90430b" /><Relationship Type="http://schemas.openxmlformats.org/officeDocument/2006/relationships/slideMaster" Target="/ppt/slideMasters/slideMaster1.xml" Id="R3f5725e05b404cd3" /><Relationship Type="http://schemas.openxmlformats.org/officeDocument/2006/relationships/notesMaster" Target="/ppt/notesMasters/notesMaster1.xml" Id="R71a61f377f4540d8" /><Relationship Type="http://schemas.openxmlformats.org/officeDocument/2006/relationships/presProps" Target="/ppt/presProps.xml" Id="Rdc65629366814a7d" /><Relationship Type="http://schemas.openxmlformats.org/officeDocument/2006/relationships/tableStyles" Target="/ppt/tableStyles.xml" Id="Rd0174e8d7ef5445e" /><Relationship Type="http://schemas.openxmlformats.org/officeDocument/2006/relationships/slide" Target="/ppt/slides/slide1.xml" Id="R2bea1d25e5f8425e" /><Relationship Type="http://schemas.openxmlformats.org/officeDocument/2006/relationships/slide" Target="/ppt/slides/slide2.xml" Id="R8a8a7e15b1ba42ec" /><Relationship Type="http://schemas.openxmlformats.org/officeDocument/2006/relationships/slide" Target="/ppt/slides/slide3.xml" Id="R1e9e6c21dcf64062" /><Relationship Type="http://schemas.openxmlformats.org/officeDocument/2006/relationships/slide" Target="/ppt/slides/slide4.xml" Id="R8f8c710855fd4af7" /><Relationship Type="http://schemas.openxmlformats.org/officeDocument/2006/relationships/slide" Target="/ppt/slides/slide5.xml" Id="Rcc8bfdd64d554acd" /><Relationship Type="http://schemas.openxmlformats.org/officeDocument/2006/relationships/slide" Target="/ppt/slides/slide6.xml" Id="R06d78ef790ff48e8" /><Relationship Type="http://schemas.openxmlformats.org/officeDocument/2006/relationships/slide" Target="/ppt/slides/slide7.xml" Id="Re582fa5b7b5a4896" /><Relationship Type="http://schemas.openxmlformats.org/officeDocument/2006/relationships/slide" Target="/ppt/slides/slide8.xml" Id="R550b019d85204cab" /><Relationship Type="http://schemas.openxmlformats.org/officeDocument/2006/relationships/slide" Target="/ppt/slides/slide9.xml" Id="R6ac441e13b664f75" /><Relationship Type="http://schemas.openxmlformats.org/officeDocument/2006/relationships/slide" Target="/ppt/slides/slide10.xml" Id="R206de5bd657046cc" /><Relationship Type="http://schemas.openxmlformats.org/officeDocument/2006/relationships/slide" Target="/ppt/slides/slide11.xml" Id="R76dae365fd2d482c" /><Relationship Type="http://schemas.openxmlformats.org/officeDocument/2006/relationships/slide" Target="/ppt/slides/slide12.xml" Id="R90f591b24f574215" /><Relationship Type="http://schemas.openxmlformats.org/officeDocument/2006/relationships/slide" Target="/ppt/slides/slide13.xml" Id="R2ab1a99b19344450" /><Relationship Type="http://schemas.openxmlformats.org/officeDocument/2006/relationships/slide" Target="/ppt/slides/slide14.xml" Id="R7a4e2c25eada48c1" /><Relationship Type="http://schemas.openxmlformats.org/officeDocument/2006/relationships/slide" Target="/ppt/slides/slide15.xml" Id="R96acca1b3e5c4c2c" /><Relationship Type="http://schemas.openxmlformats.org/officeDocument/2006/relationships/slide" Target="/ppt/slides/slide16.xml" Id="R9da1051b3de744f2" /><Relationship Type="http://schemas.openxmlformats.org/officeDocument/2006/relationships/slide" Target="/ppt/slides/slide17.xml" Id="R6c8e06f3a51440c6" /><Relationship Type="http://schemas.openxmlformats.org/officeDocument/2006/relationships/slide" Target="/ppt/slides/slide18.xml" Id="Rac8b5fc0506943b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001a48cf8ed400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41a1b98124a4af4" /><Relationship Type="http://schemas.openxmlformats.org/officeDocument/2006/relationships/notesMaster" Target="/ppt/notesMasters/notesMaster1.xml" Id="R42e0af245bde45d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6683d51517a4c1b" /><Relationship Type="http://schemas.openxmlformats.org/officeDocument/2006/relationships/notesMaster" Target="/ppt/notesMasters/notesMaster1.xml" Id="R714459c7d6334a7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2e092dcc302417a" /><Relationship Type="http://schemas.openxmlformats.org/officeDocument/2006/relationships/notesMaster" Target="/ppt/notesMasters/notesMaster1.xml" Id="R1e2ab874eaa546a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be04f110c904db2" /><Relationship Type="http://schemas.openxmlformats.org/officeDocument/2006/relationships/notesMaster" Target="/ppt/notesMasters/notesMaster1.xml" Id="Rb014d6954f2d47c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984b0348f68453f" /><Relationship Type="http://schemas.openxmlformats.org/officeDocument/2006/relationships/notesMaster" Target="/ppt/notesMasters/notesMaster1.xml" Id="Rce516040fab44c0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36c447956dc4109" /><Relationship Type="http://schemas.openxmlformats.org/officeDocument/2006/relationships/notesMaster" Target="/ppt/notesMasters/notesMaster1.xml" Id="R4a0b1593ea254e9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53bf94f1a9c4a1e" /><Relationship Type="http://schemas.openxmlformats.org/officeDocument/2006/relationships/notesMaster" Target="/ppt/notesMasters/notesMaster1.xml" Id="R33fd026059e1402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8c6cb8eee8f41ac" /><Relationship Type="http://schemas.openxmlformats.org/officeDocument/2006/relationships/notesMaster" Target="/ppt/notesMasters/notesMaster1.xml" Id="Rd20d292fb9d1417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7daad9c6c894e12" /><Relationship Type="http://schemas.openxmlformats.org/officeDocument/2006/relationships/notesMaster" Target="/ppt/notesMasters/notesMaster1.xml" Id="Ra3105e8ac81d491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02f062287d74b82" /><Relationship Type="http://schemas.openxmlformats.org/officeDocument/2006/relationships/notesMaster" Target="/ppt/notesMasters/notesMaster1.xml" Id="R174da2fdc6ac4c5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8131ce9143d4a69" /><Relationship Type="http://schemas.openxmlformats.org/officeDocument/2006/relationships/notesMaster" Target="/ppt/notesMasters/notesMaster1.xml" Id="R1b041e13c43e47d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e0396ba95074209" /><Relationship Type="http://schemas.openxmlformats.org/officeDocument/2006/relationships/notesMaster" Target="/ppt/notesMasters/notesMaster1.xml" Id="R7941ebc92b774da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646a982222041a8" /><Relationship Type="http://schemas.openxmlformats.org/officeDocument/2006/relationships/notesMaster" Target="/ppt/notesMasters/notesMaster1.xml" Id="R4d31fefcb41e411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3f407cf3471472e" /><Relationship Type="http://schemas.openxmlformats.org/officeDocument/2006/relationships/notesMaster" Target="/ppt/notesMasters/notesMaster1.xml" Id="R02ee968f84184c2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693dce532bf47dd" /><Relationship Type="http://schemas.openxmlformats.org/officeDocument/2006/relationships/notesMaster" Target="/ppt/notesMasters/notesMaster1.xml" Id="Rda074cbdbca6497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2d2976131044cfd" /><Relationship Type="http://schemas.openxmlformats.org/officeDocument/2006/relationships/notesMaster" Target="/ppt/notesMasters/notesMaster1.xml" Id="R88e2cce2eb4f4b0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d781d7aabe948a9" /><Relationship Type="http://schemas.openxmlformats.org/officeDocument/2006/relationships/notesMaster" Target="/ppt/notesMasters/notesMaster1.xml" Id="R76167a4f8e7742a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c8709c5108e4579" /><Relationship Type="http://schemas.openxmlformats.org/officeDocument/2006/relationships/notesMaster" Target="/ppt/notesMasters/notesMaster1.xml" Id="R260b848d58c2486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15: Identifying common errors and fixes.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15: Identifying common errors and fixes.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15: Identifying common errors and fixes.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15: Identifying common errors and fixes.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15: Identifying common errors and fixes.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15: Identifying common errors and fixes.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15: Identifying common errors and fixes.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>Allow approximately 25–30 minutes for the experience and worksheet. Pupils record facts in their own words.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15: Identifying common errors and fixes.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15: Identifying common errors and fixes.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15: Identifying common errors and fixes.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15: Identifying common errors and fixes.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15: Identifying common errors and fixes.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15: Identifying common errors and fixes.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15: Identifying common errors and fixes.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>Close the experience before attempting the questions.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15: Identifying common errors and fixes.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15: Identifying common errors and fixes.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15: Identifying common errors and fixes.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15: Identifying common errors and fixes.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be2dd028d64af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fb57c8b83e1499e" /><Relationship Type="http://schemas.openxmlformats.org/officeDocument/2006/relationships/slideLayout" Target="/ppt/slideLayouts/slideLayout1.xml" Id="R765e78f44a0e4d2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65e78f44a0e4d2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d39bfd07b1415b" /><Relationship Type="http://schemas.openxmlformats.org/officeDocument/2006/relationships/image" Target="/ppt/media/image.png" Id="R01eaa92de9184c1d" /><Relationship Type="http://schemas.openxmlformats.org/officeDocument/2006/relationships/image" Target="/ppt/media/image.jpeg" Id="Rc1c115734f2641b7" /><Relationship Type="http://schemas.openxmlformats.org/officeDocument/2006/relationships/notesSlide" Target="/ppt/notesSlides/notesSlide1.xml" Id="R749363f04d50476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db0fbcc8d046aa" /><Relationship Type="http://schemas.openxmlformats.org/officeDocument/2006/relationships/image" Target="/ppt/media/image2.png" Id="R4a55e4883ee8460f" /><Relationship Type="http://schemas.openxmlformats.org/officeDocument/2006/relationships/notesSlide" Target="/ppt/notesSlides/notesSlide2.xml" Id="R275a4035dfa5473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02aa74803e4555" /><Relationship Type="http://schemas.openxmlformats.org/officeDocument/2006/relationships/image" Target="/ppt/media/image3.png" Id="R59eb80df5517472d" /><Relationship Type="http://schemas.openxmlformats.org/officeDocument/2006/relationships/notesSlide" Target="/ppt/notesSlides/notesSlide3.xml" Id="R7bbf4901dc47436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5ba86651f74742" /><Relationship Type="http://schemas.openxmlformats.org/officeDocument/2006/relationships/image" Target="/ppt/media/image4.png" Id="Rd280e623b737481e" /><Relationship Type="http://schemas.openxmlformats.org/officeDocument/2006/relationships/notesSlide" Target="/ppt/notesSlides/notesSlide4.xml" Id="R9a6eaafe8a66477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14628a773249c6" /><Relationship Type="http://schemas.openxmlformats.org/officeDocument/2006/relationships/image" Target="/ppt/media/image5.png" Id="R47886c43f9884c93" /><Relationship Type="http://schemas.openxmlformats.org/officeDocument/2006/relationships/notesSlide" Target="/ppt/notesSlides/notesSlide5.xml" Id="R75592dcdb9e846d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633ea8d5a04dc8" /><Relationship Type="http://schemas.openxmlformats.org/officeDocument/2006/relationships/image" Target="/ppt/media/image6.png" Id="Rd0662abb5dd64cb7" /><Relationship Type="http://schemas.openxmlformats.org/officeDocument/2006/relationships/notesSlide" Target="/ppt/notesSlides/notesSlide6.xml" Id="R7b978da11c38475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0e3ae2a74d4a1a" /><Relationship Type="http://schemas.openxmlformats.org/officeDocument/2006/relationships/image" Target="/ppt/media/image7.png" Id="R1b0cdce71ecb47e7" /><Relationship Type="http://schemas.openxmlformats.org/officeDocument/2006/relationships/notesSlide" Target="/ppt/notesSlides/notesSlide7.xml" Id="R2653c7277214499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1131cfaaa04242" /><Relationship Type="http://schemas.openxmlformats.org/officeDocument/2006/relationships/image" Target="/ppt/media/image8.png" Id="Ra4096402d2dc492e" /><Relationship Type="http://schemas.openxmlformats.org/officeDocument/2006/relationships/notesSlide" Target="/ppt/notesSlides/notesSlide8.xml" Id="R9273916e3f26413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7e24b95fb047f3" /><Relationship Type="http://schemas.openxmlformats.org/officeDocument/2006/relationships/image" Target="/ppt/media/image9.png" Id="R3178dd0c744c4bbc" /><Relationship Type="http://schemas.openxmlformats.org/officeDocument/2006/relationships/notesSlide" Target="/ppt/notesSlides/notesSlide9.xml" Id="R97e5c2ef5109450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fca5c8a7214ca5" /><Relationship Type="http://schemas.openxmlformats.org/officeDocument/2006/relationships/image" Target="/ppt/media/image10.png" Id="R3d95099da6b74abd" /><Relationship Type="http://schemas.openxmlformats.org/officeDocument/2006/relationships/notesSlide" Target="/ppt/notesSlides/notesSlide10.xml" Id="R13baabbd00e5419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323286e1824a6b" /><Relationship Type="http://schemas.openxmlformats.org/officeDocument/2006/relationships/image" Target="/ppt/media/image11.png" Id="R2fd685912026466b" /><Relationship Type="http://schemas.openxmlformats.org/officeDocument/2006/relationships/notesSlide" Target="/ppt/notesSlides/notesSlide11.xml" Id="R1c111122adc542d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f470eb8f3d470e" /><Relationship Type="http://schemas.openxmlformats.org/officeDocument/2006/relationships/image" Target="/ppt/media/image12.png" Id="Re026e9417abf4c90" /><Relationship Type="http://schemas.openxmlformats.org/officeDocument/2006/relationships/notesSlide" Target="/ppt/notesSlides/notesSlide12.xml" Id="R21d9e93da4c44d5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fd608951f04b60" /><Relationship Type="http://schemas.openxmlformats.org/officeDocument/2006/relationships/image" Target="/ppt/media/image13.png" Id="Rfa6811d644794521" /><Relationship Type="http://schemas.openxmlformats.org/officeDocument/2006/relationships/notesSlide" Target="/ppt/notesSlides/notesSlide13.xml" Id="Raf3a9aadb5ce429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2f629d239b49ce" /><Relationship Type="http://schemas.openxmlformats.org/officeDocument/2006/relationships/image" Target="/ppt/media/image14.png" Id="R658aee8e0e914162" /><Relationship Type="http://schemas.openxmlformats.org/officeDocument/2006/relationships/notesSlide" Target="/ppt/notesSlides/notesSlide14.xml" Id="R08d8b0144885437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9ccfee2f054b1f" /><Relationship Type="http://schemas.openxmlformats.org/officeDocument/2006/relationships/image" Target="/ppt/media/image15.png" Id="R9f86454e1175409f" /><Relationship Type="http://schemas.openxmlformats.org/officeDocument/2006/relationships/notesSlide" Target="/ppt/notesSlides/notesSlide15.xml" Id="R0a614a57cec946b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be1096afc44dc2" /><Relationship Type="http://schemas.openxmlformats.org/officeDocument/2006/relationships/image" Target="/ppt/media/image16.png" Id="R377cfb333925434d" /><Relationship Type="http://schemas.openxmlformats.org/officeDocument/2006/relationships/notesSlide" Target="/ppt/notesSlides/notesSlide16.xml" Id="R7bffae2c97a747f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7869cda94c4e9f" /><Relationship Type="http://schemas.openxmlformats.org/officeDocument/2006/relationships/image" Target="/ppt/media/image17.png" Id="Rb35f6aaf95b34f66" /><Relationship Type="http://schemas.openxmlformats.org/officeDocument/2006/relationships/notesSlide" Target="/ppt/notesSlides/notesSlide17.xml" Id="Rdbd616cea68941b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f88542761a44da" /><Relationship Type="http://schemas.openxmlformats.org/officeDocument/2006/relationships/image" Target="/ppt/media/image18.png" Id="R4ce943bcb9544ffd" /><Relationship Type="http://schemas.openxmlformats.org/officeDocument/2006/relationships/notesSlide" Target="/ppt/notesSlides/notesSlide18.xml" Id="R351def200efd4b1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244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7A49B242-0A93-4CAA-A976-B7B854145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7C87B069-4AE3-41FB-8E32-622FAD070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TOPIC 2.1   /   LESSON 15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53815F20-9933-4640-9E82-67A009EF0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BUG INVESTIGATION LAB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eaa92de9184c1d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248E3C81-C842-45B0-92BB-277816F0B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 / 18</a:t>
            </a:r>
          </a:p>
        </p:txBody>
      </p:sp>
      <p:sp>
        <p:nvSpPr>
          <p:cNvPr id="6" name="subject">
            <a:extLst xmlns:a="http://schemas.openxmlformats.org/drawingml/2006/main">
              <a:ext uri="{FF2B5EF4-FFF2-40B4-BE49-F238E27FC236}">
                <a16:creationId xmlns:a16="http://schemas.microsoft.com/office/drawing/2014/main" id="{1D1867E6-9160-4B7B-B718-C2045EBD6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514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0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Identifying common errors and fixes</a:t>
            </a:r>
          </a:p>
        </p:txBody>
      </p:sp>
      <p:sp>
        <p:nvSpPr>
          <p:cNvPr id="7" name="cover-key-label">
            <a:extLst xmlns:a="http://schemas.openxmlformats.org/drawingml/2006/main">
              <a:ext uri="{FF2B5EF4-FFF2-40B4-BE49-F238E27FC236}">
                <a16:creationId xmlns:a16="http://schemas.microsoft.com/office/drawing/2014/main" id="{DB6C6EAB-F00F-49E7-BB96-0088CAEA2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38475"/>
            <a:ext cx="457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DO NOW: RESEARCH AND DISCUSS</a:t>
            </a:r>
          </a:p>
        </p:txBody>
      </p:sp>
      <p:sp>
        <p:nvSpPr>
          <p:cNvPr id="8" name="cover-key-question">
            <a:extLst xmlns:a="http://schemas.openxmlformats.org/drawingml/2006/main">
              <a:ext uri="{FF2B5EF4-FFF2-40B4-BE49-F238E27FC236}">
                <a16:creationId xmlns:a16="http://schemas.microsoft.com/office/drawing/2014/main" id="{00081038-3E7F-400E-8756-EE3640E7E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4762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Why does a program running without an error message not prove it is correct?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c115734f2641b7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076950" y="1931789"/>
            <a:ext cx="5400675" cy="337542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0518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729D0D74-D405-4298-8504-19625DD8F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BC94BCC8-515D-47EA-B6E2-2B7D4AC1D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15   /   WORKSHEET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EB715B87-24C3-4EB0-A531-09F29276D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By the end of this lesson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55e4883ee8460f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B946EE4D-4656-4BC2-8F50-308BDCE2B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2 / 18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4F21E87F-93E4-451F-AB4E-8822ED379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item-1">
            <a:extLst xmlns:a="http://schemas.openxmlformats.org/drawingml/2006/main">
              <a:ext uri="{FF2B5EF4-FFF2-40B4-BE49-F238E27FC236}">
                <a16:creationId xmlns:a16="http://schemas.microsoft.com/office/drawing/2014/main" id="{46CD32E7-7220-4C45-83BD-1A75D5222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943100"/>
            <a:ext cx="9925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Distinguish syntax and logic errors.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27D15F66-C79A-48FB-A458-5FCABD710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051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item-2">
            <a:extLst xmlns:a="http://schemas.openxmlformats.org/drawingml/2006/main">
              <a:ext uri="{FF2B5EF4-FFF2-40B4-BE49-F238E27FC236}">
                <a16:creationId xmlns:a16="http://schemas.microsoft.com/office/drawing/2014/main" id="{6D66A0FC-FF53-4CDB-B571-D4D170C6C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905125"/>
            <a:ext cx="9925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Locate and correct faulty code.</a:t>
            </a:r>
          </a:p>
        </p:txBody>
      </p:sp>
      <p:sp>
        <p:nvSpPr>
          <p:cNvPr id="10" name="number-3">
            <a:extLst xmlns:a="http://schemas.openxmlformats.org/drawingml/2006/main">
              <a:ext uri="{FF2B5EF4-FFF2-40B4-BE49-F238E27FC236}">
                <a16:creationId xmlns:a16="http://schemas.microsoft.com/office/drawing/2014/main" id="{214AB879-F5E1-46A1-B3B7-732C3DA05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671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3.</a:t>
            </a:r>
          </a:p>
        </p:txBody>
      </p:sp>
      <p:sp>
        <p:nvSpPr>
          <p:cNvPr id="11" name="item-3">
            <a:extLst xmlns:a="http://schemas.openxmlformats.org/drawingml/2006/main">
              <a:ext uri="{FF2B5EF4-FFF2-40B4-BE49-F238E27FC236}">
                <a16:creationId xmlns:a16="http://schemas.microsoft.com/office/drawing/2014/main" id="{47E0FF81-472A-4959-B572-95A0EA47C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67150"/>
            <a:ext cx="9925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Use test evidence to verify a fix.</a:t>
            </a:r>
          </a:p>
        </p:txBody>
      </p:sp>
      <p:sp>
        <p:nvSpPr>
          <p:cNvPr id="12" name="number-4">
            <a:extLst xmlns:a="http://schemas.openxmlformats.org/drawingml/2006/main">
              <a:ext uri="{FF2B5EF4-FFF2-40B4-BE49-F238E27FC236}">
                <a16:creationId xmlns:a16="http://schemas.microsoft.com/office/drawing/2014/main" id="{43B6C4DF-53E7-4684-A2E0-0FBDE1EFF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291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3" name="item-4">
            <a:extLst xmlns:a="http://schemas.openxmlformats.org/drawingml/2006/main">
              <a:ext uri="{FF2B5EF4-FFF2-40B4-BE49-F238E27FC236}">
                <a16:creationId xmlns:a16="http://schemas.microsoft.com/office/drawing/2014/main" id="{B7588F05-DB7C-4321-91CF-115D38679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29175"/>
            <a:ext cx="9925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6950932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8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389AE9BD-4456-44D0-A496-4A715994B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3D7E3F66-12BD-4737-B732-CF0625073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15   /   WORKSHEET STARTER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62E71EDE-630B-477B-8324-3C6B882C3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Starter: before the experience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eb80df5517472d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D4CED2EF-8770-4B94-8FF7-8186209CB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3 / 18</a:t>
            </a:r>
          </a:p>
        </p:txBody>
      </p:sp>
      <p:sp>
        <p:nvSpPr>
          <p:cNvPr id="6" name="worksheet-starter">
            <a:extLst xmlns:a="http://schemas.openxmlformats.org/drawingml/2006/main">
              <a:ext uri="{FF2B5EF4-FFF2-40B4-BE49-F238E27FC236}">
                <a16:creationId xmlns:a16="http://schemas.microsoft.com/office/drawing/2014/main" id="{4CABB616-5B19-458F-ADE4-F04368684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105727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Python print("Ready" is missing a closing bracket. Is the problem a syntax rule or a wrong calculation?</a:t>
            </a:r>
          </a:p>
        </p:txBody>
      </p:sp>
    </p:spTree>
    <p:extLst>
      <p:ext uri="{BB962C8B-B14F-4D97-AF65-F5344CB8AC3E}">
        <p14:creationId xmlns:p14="http://schemas.microsoft.com/office/powerpoint/2010/main" val="20612503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0CE6C1A7-1190-46F6-B558-07CF48F64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61A9E94E-2324-4A21-8E1F-53F061811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15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42F7C639-9A4F-4B2E-A66B-E7FC7229A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Starter: sample answers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80e623b737481e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6810CE3C-06F6-401D-921D-2679EFD1E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4 / 18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04B18CF0-64CE-463F-A9B8-6A6A21EDE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860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item-1">
            <a:extLst xmlns:a="http://schemas.openxmlformats.org/drawingml/2006/main">
              <a:ext uri="{FF2B5EF4-FFF2-40B4-BE49-F238E27FC236}">
                <a16:creationId xmlns:a16="http://schemas.microsoft.com/office/drawing/2014/main" id="{D57E31F4-31D7-4905-A796-BE34CBF25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286000"/>
            <a:ext cx="99250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It breaks Python syntax because the opening parenthesis is not closed.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F9E7E19B-3986-45FC-B0B8-7910C783A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671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9" name="item-2">
            <a:extLst xmlns:a="http://schemas.openxmlformats.org/drawingml/2006/main">
              <a:ext uri="{FF2B5EF4-FFF2-40B4-BE49-F238E27FC236}">
                <a16:creationId xmlns:a16="http://schemas.microsoft.com/office/drawing/2014/main" id="{AA142279-1763-4095-BB35-E7C2790BE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67150"/>
            <a:ext cx="99250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0192561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8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08B0042C-2776-4B77-8450-5D698DB3B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53158093-4E51-4193-8466-193E324E1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15   /   WORKSHEET KEY TERMS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18721011-60E3-4A46-ACE7-07BEAB793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Key terminology quiz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886c43f9884c93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CFC27DE5-76DC-4F16-881C-303A19162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5 / 18</a:t>
            </a:r>
          </a:p>
        </p:txBody>
      </p:sp>
      <p:sp>
        <p:nvSpPr>
          <p:cNvPr id="6" name="term-number-0">
            <a:extLst xmlns:a="http://schemas.openxmlformats.org/drawingml/2006/main">
              <a:ext uri="{FF2B5EF4-FFF2-40B4-BE49-F238E27FC236}">
                <a16:creationId xmlns:a16="http://schemas.microsoft.com/office/drawing/2014/main" id="{B76E08EA-1329-4F7D-B904-1FFEF4D21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76475"/>
            <a:ext cx="590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term-0">
            <a:extLst xmlns:a="http://schemas.openxmlformats.org/drawingml/2006/main">
              <a:ext uri="{FF2B5EF4-FFF2-40B4-BE49-F238E27FC236}">
                <a16:creationId xmlns:a16="http://schemas.microsoft.com/office/drawing/2014/main" id="{072ACAD3-9670-4434-9EBA-05DBFA231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276475"/>
            <a:ext cx="9667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Syntax error</a:t>
            </a:r>
          </a:p>
        </p:txBody>
      </p:sp>
      <p:sp>
        <p:nvSpPr>
          <p:cNvPr id="8" name="term-number-1">
            <a:extLst xmlns:a="http://schemas.openxmlformats.org/drawingml/2006/main">
              <a:ext uri="{FF2B5EF4-FFF2-40B4-BE49-F238E27FC236}">
                <a16:creationId xmlns:a16="http://schemas.microsoft.com/office/drawing/2014/main" id="{A8F18C87-2E1F-4B72-8996-4CD90B504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86225"/>
            <a:ext cx="590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term-1">
            <a:extLst xmlns:a="http://schemas.openxmlformats.org/drawingml/2006/main">
              <a:ext uri="{FF2B5EF4-FFF2-40B4-BE49-F238E27FC236}">
                <a16:creationId xmlns:a16="http://schemas.microsoft.com/office/drawing/2014/main" id="{1C1C0B9C-20D9-4654-9F28-D51D1DA95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086225"/>
            <a:ext cx="9667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Logic error</a:t>
            </a:r>
          </a:p>
        </p:txBody>
      </p:sp>
    </p:spTree>
    <p:extLst>
      <p:ext uri="{BB962C8B-B14F-4D97-AF65-F5344CB8AC3E}">
        <p14:creationId xmlns:p14="http://schemas.microsoft.com/office/powerpoint/2010/main" val="94203212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207CAA27-6A33-4D26-8EEC-DDD6F1951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2C8C088F-E4C7-463F-A500-13D695238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15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1AF3A2E8-08E7-4B52-8CB0-E9EDFA86C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Key terminology: answers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662abb5dd64cb7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71FD2F40-F2E4-4894-A4B9-2F16BF1E3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6 / 18</a:t>
            </a:r>
          </a:p>
        </p:txBody>
      </p:sp>
      <p:sp>
        <p:nvSpPr>
          <p:cNvPr id="6" name="answer-term-0">
            <a:extLst xmlns:a="http://schemas.openxmlformats.org/drawingml/2006/main">
              <a:ext uri="{FF2B5EF4-FFF2-40B4-BE49-F238E27FC236}">
                <a16:creationId xmlns:a16="http://schemas.microsoft.com/office/drawing/2014/main" id="{C05575DA-F440-47EE-AADE-AE15CCD16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478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Syntax error</a:t>
            </a:r>
          </a:p>
        </p:txBody>
      </p:sp>
      <p:sp>
        <p:nvSpPr>
          <p:cNvPr id="7" name="answer-definition-0">
            <a:extLst xmlns:a="http://schemas.openxmlformats.org/drawingml/2006/main">
              <a:ext uri="{FF2B5EF4-FFF2-40B4-BE49-F238E27FC236}">
                <a16:creationId xmlns:a16="http://schemas.microsoft.com/office/drawing/2014/main" id="{C6F926E0-3B0C-455B-B77A-C8974AE3E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28900"/>
            <a:ext cx="1047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Code that breaks the grammatical rules of the language.</a:t>
            </a:r>
          </a:p>
        </p:txBody>
      </p:sp>
      <p:sp>
        <p:nvSpPr>
          <p:cNvPr id="8" name="answer-term-1">
            <a:extLst xmlns:a="http://schemas.openxmlformats.org/drawingml/2006/main">
              <a:ext uri="{FF2B5EF4-FFF2-40B4-BE49-F238E27FC236}">
                <a16:creationId xmlns:a16="http://schemas.microsoft.com/office/drawing/2014/main" id="{C9190DB0-181E-4A8A-9E5E-95B19960F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3382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Logic error</a:t>
            </a:r>
          </a:p>
        </p:txBody>
      </p:sp>
      <p:sp>
        <p:nvSpPr>
          <p:cNvPr id="9" name="answer-definition-1">
            <a:extLst xmlns:a="http://schemas.openxmlformats.org/drawingml/2006/main">
              <a:ext uri="{FF2B5EF4-FFF2-40B4-BE49-F238E27FC236}">
                <a16:creationId xmlns:a16="http://schemas.microsoft.com/office/drawing/2014/main" id="{B865E412-4386-4ED0-B8E9-05D05365D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14850"/>
            <a:ext cx="1047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Validly structured code whose behaviour does not meet the intended requirement.</a:t>
            </a:r>
          </a:p>
        </p:txBody>
      </p:sp>
    </p:spTree>
    <p:extLst>
      <p:ext uri="{BB962C8B-B14F-4D97-AF65-F5344CB8AC3E}">
        <p14:creationId xmlns:p14="http://schemas.microsoft.com/office/powerpoint/2010/main" val="54434080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2244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4BA66B78-BFDC-4298-A4DA-5CB5A7709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EDA0D920-036D-4124-8F12-38EB1186A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TOPIC 2.1   /   LESSON 15   /   EXPERIENCE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F5191E8A-E142-4BC2-8435-1D8EA13B1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Worksheet + experience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0cdce71ecb47e7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0A45757-2C05-40D6-9E75-84F5AEC8F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7 / 18</a:t>
            </a:r>
          </a:p>
        </p:txBody>
      </p:sp>
      <p:sp>
        <p:nvSpPr>
          <p:cNvPr id="6" name="open-label">
            <a:extLst xmlns:a="http://schemas.openxmlformats.org/drawingml/2006/main">
              <a:ext uri="{FF2B5EF4-FFF2-40B4-BE49-F238E27FC236}">
                <a16:creationId xmlns:a16="http://schemas.microsoft.com/office/drawing/2014/main" id="{3B14933E-F008-4A1E-B920-32134F7F6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01   OPEN THE EXPERIENCE NOW</a:t>
            </a:r>
          </a:p>
        </p:txBody>
      </p:sp>
      <p:sp>
        <p:nvSpPr>
          <p:cNvPr id="7" name="open-body">
            <a:extLst xmlns:a="http://schemas.openxmlformats.org/drawingml/2006/main">
              <a:ext uri="{FF2B5EF4-FFF2-40B4-BE49-F238E27FC236}">
                <a16:creationId xmlns:a16="http://schemas.microsoft.com/office/drawing/2014/main" id="{7A71894B-6674-45BD-B430-F339D03A0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Open Bug investigation lab in Topic 2.1. Keep the worksheet beside you.</a:t>
            </a:r>
          </a:p>
        </p:txBody>
      </p:sp>
      <p:sp>
        <p:nvSpPr>
          <p:cNvPr id="8" name="station-label">
            <a:extLst xmlns:a="http://schemas.openxmlformats.org/drawingml/2006/main">
              <a:ext uri="{FF2B5EF4-FFF2-40B4-BE49-F238E27FC236}">
                <a16:creationId xmlns:a16="http://schemas.microsoft.com/office/drawing/2014/main" id="{B90E3C20-8F8E-412D-B38A-D521747F0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908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02   SIX STATIONS</a:t>
            </a:r>
          </a:p>
        </p:txBody>
      </p:sp>
      <p:sp>
        <p:nvSpPr>
          <p:cNvPr id="9" name="station-body">
            <a:extLst xmlns:a="http://schemas.openxmlformats.org/drawingml/2006/main">
              <a:ext uri="{FF2B5EF4-FFF2-40B4-BE49-F238E27FC236}">
                <a16:creationId xmlns:a16="http://schemas.microsoft.com/office/drawing/2014/main" id="{B45B51EE-5945-44D5-9C7B-668BC232A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105727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At each station, write key facts IN YOUR OWN WORDS. Answer its worksheet challenge before tapping the badge.</a:t>
            </a:r>
          </a:p>
        </p:txBody>
      </p:sp>
      <p:sp>
        <p:nvSpPr>
          <p:cNvPr id="10" name="finish-label">
            <a:extLst xmlns:a="http://schemas.openxmlformats.org/drawingml/2006/main">
              <a:ext uri="{FF2B5EF4-FFF2-40B4-BE49-F238E27FC236}">
                <a16:creationId xmlns:a16="http://schemas.microsoft.com/office/drawing/2014/main" id="{0B3F37C6-3223-43C3-B5C5-0734100D7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03   FINAL CHALLENGE</a:t>
            </a:r>
          </a:p>
        </p:txBody>
      </p:sp>
      <p:sp>
        <p:nvSpPr>
          <p:cNvPr id="11" name="finish-body">
            <a:extLst xmlns:a="http://schemas.openxmlformats.org/drawingml/2006/main">
              <a:ext uri="{FF2B5EF4-FFF2-40B4-BE49-F238E27FC236}">
                <a16:creationId xmlns:a16="http://schemas.microsoft.com/office/drawing/2014/main" id="{23A69AAC-E055-45B3-BEBA-D02CB8128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48125"/>
            <a:ext cx="10572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Attempt the worksheet final challenge before tapping the star. Record your score, then use review mode to correct mistakes.</a:t>
            </a:r>
          </a:p>
        </p:txBody>
      </p:sp>
      <p:sp>
        <p:nvSpPr>
          <p:cNvPr id="12" name="plenary-label">
            <a:extLst xmlns:a="http://schemas.openxmlformats.org/drawingml/2006/main">
              <a:ext uri="{FF2B5EF4-FFF2-40B4-BE49-F238E27FC236}">
                <a16:creationId xmlns:a16="http://schemas.microsoft.com/office/drawing/2014/main" id="{97D05B46-012B-43E3-B865-D49BCF331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149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04   PLENARY</a:t>
            </a:r>
          </a:p>
        </p:txBody>
      </p:sp>
      <p:sp>
        <p:nvSpPr>
          <p:cNvPr id="13" name="plenary-body">
            <a:extLst xmlns:a="http://schemas.openxmlformats.org/drawingml/2006/main">
              <a:ext uri="{FF2B5EF4-FFF2-40B4-BE49-F238E27FC236}">
                <a16:creationId xmlns:a16="http://schemas.microsoft.com/office/drawing/2014/main" id="{93D16BC3-41C8-47E2-B0D7-08EC3C3CD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Finish the experience in this lesson. Near the end, close it for the plenary knowledge checks.</a:t>
            </a:r>
          </a:p>
        </p:txBody>
      </p:sp>
    </p:spTree>
    <p:extLst>
      <p:ext uri="{BB962C8B-B14F-4D97-AF65-F5344CB8AC3E}">
        <p14:creationId xmlns:p14="http://schemas.microsoft.com/office/powerpoint/2010/main" val="872350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58C536E9-5669-4451-9AAB-579BAC1AD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819AAF36-B8DE-4251-8DE6-E6BCCD541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15   /   CONSOLIDATION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2722D1D8-2EB7-4550-BC01-C8F4AA1B4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After the experience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096402d2dc492e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48D3831D-CA2C-4D2B-8512-1C6B95BF2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8 / 18</a:t>
            </a:r>
          </a:p>
        </p:txBody>
      </p:sp>
      <p:sp>
        <p:nvSpPr>
          <p:cNvPr id="6" name="extension-prompt">
            <a:extLst xmlns:a="http://schemas.openxmlformats.org/drawingml/2006/main">
              <a:ext uri="{FF2B5EF4-FFF2-40B4-BE49-F238E27FC236}">
                <a16:creationId xmlns:a16="http://schemas.microsoft.com/office/drawing/2014/main" id="{3D632867-A970-4622-9F75-EC7929A63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19350"/>
            <a:ext cx="105727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Return to the Do Now question. Use two things you learned in the room to improve your original answer.</a:t>
            </a:r>
          </a:p>
        </p:txBody>
      </p:sp>
      <p:sp>
        <p:nvSpPr>
          <p:cNvPr id="7" name="extension-follow">
            <a:extLst xmlns:a="http://schemas.openxmlformats.org/drawingml/2006/main">
              <a:ext uri="{FF2B5EF4-FFF2-40B4-BE49-F238E27FC236}">
                <a16:creationId xmlns:a16="http://schemas.microsoft.com/office/drawing/2014/main" id="{0C21F904-CB27-4E5D-A9F7-D13B95D2E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48200"/>
            <a:ext cx="1057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Link your explanation to the problem and use a worked example where it helps.</a:t>
            </a:r>
          </a:p>
        </p:txBody>
      </p:sp>
    </p:spTree>
    <p:extLst>
      <p:ext uri="{BB962C8B-B14F-4D97-AF65-F5344CB8AC3E}">
        <p14:creationId xmlns:p14="http://schemas.microsoft.com/office/powerpoint/2010/main" val="74099791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9B263055-5EA4-4302-98FD-2C08B0E0E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2A5B0DE7-189B-4E0D-AC5D-CF4265922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15   /   CONSOLIDATION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641086F9-DF63-4768-BF4E-D1F572BCC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Check and improve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78dd0c744c4bbc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14C2577-C6E7-49B9-B106-D65BE85AE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9 / 18</a:t>
            </a:r>
          </a:p>
        </p:txBody>
      </p:sp>
      <p:sp>
        <p:nvSpPr>
          <p:cNvPr id="6" name="extension-two">
            <a:extLst xmlns:a="http://schemas.openxmlformats.org/drawingml/2006/main">
              <a:ext uri="{FF2B5EF4-FFF2-40B4-BE49-F238E27FC236}">
                <a16:creationId xmlns:a16="http://schemas.microsoft.com/office/drawing/2014/main" id="{29844E22-D648-40A0-BC22-276A81AE0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76525"/>
            <a:ext cx="10620375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In Python, test the faulty and corrected average with 6 and 10, then 4 and 4. Expected corrected outputs are 8 and 4.</a:t>
            </a:r>
          </a:p>
        </p:txBody>
      </p:sp>
    </p:spTree>
    <p:extLst>
      <p:ext uri="{BB962C8B-B14F-4D97-AF65-F5344CB8AC3E}">
        <p14:creationId xmlns:p14="http://schemas.microsoft.com/office/powerpoint/2010/main" val="161066818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078803E9-413E-4B42-B661-1890FAB9A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FF0305E1-8E4B-4FE7-9B7B-B01E262E5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15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571FFA7C-71E3-407E-A084-8AAA87346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stronger explanation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95099da6b74abd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C5BD4D03-162B-45A5-AA28-72FD38F49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10 / 18</a:t>
            </a:r>
          </a:p>
        </p:txBody>
      </p:sp>
      <p:sp>
        <p:nvSpPr>
          <p:cNvPr id="6" name="extension-check">
            <a:extLst xmlns:a="http://schemas.openxmlformats.org/drawingml/2006/main">
              <a:ext uri="{FF2B5EF4-FFF2-40B4-BE49-F238E27FC236}">
                <a16:creationId xmlns:a16="http://schemas.microsoft.com/office/drawing/2014/main" id="{06547FB7-89E1-430C-BA4E-A0059FB7D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33525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Compare your reasoning, then improve one sentence on your worksheet.</a:t>
            </a:r>
          </a:p>
        </p:txBody>
      </p:sp>
      <p:sp>
        <p:nvSpPr>
          <p:cNvPr id="7" name="answer-application">
            <a:extLst xmlns:a="http://schemas.openxmlformats.org/drawingml/2006/main">
              <a:ext uri="{FF2B5EF4-FFF2-40B4-BE49-F238E27FC236}">
                <a16:creationId xmlns:a16="http://schemas.microsoft.com/office/drawing/2014/main" id="{7F1A9A78-A783-4735-9B4E-2787A5EE5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050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Verify with evidence</a:t>
            </a:r>
          </a:p>
        </p:txBody>
      </p:sp>
      <p:sp>
        <p:nvSpPr>
          <p:cNvPr id="8" name="answer-application-body">
            <a:extLst xmlns:a="http://schemas.openxmlformats.org/drawingml/2006/main">
              <a:ext uri="{FF2B5EF4-FFF2-40B4-BE49-F238E27FC236}">
                <a16:creationId xmlns:a16="http://schemas.microsoft.com/office/drawing/2014/main" id="{28087EFB-17A1-4A2B-B86E-2733BD05E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71775"/>
            <a:ext cx="104775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It verifies that the correction has not started accepting values below the threshold.</a:t>
            </a:r>
          </a:p>
        </p:txBody>
      </p:sp>
      <p:sp>
        <p:nvSpPr>
          <p:cNvPr id="9" name="answer-stretch">
            <a:extLst xmlns:a="http://schemas.openxmlformats.org/drawingml/2006/main">
              <a:ext uri="{FF2B5EF4-FFF2-40B4-BE49-F238E27FC236}">
                <a16:creationId xmlns:a16="http://schemas.microsoft.com/office/drawing/2014/main" id="{5A018C42-6685-447F-818E-7126648E8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5292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Review and explain</a:t>
            </a:r>
          </a:p>
        </p:txBody>
      </p:sp>
      <p:sp>
        <p:nvSpPr>
          <p:cNvPr id="10" name="answer-stretch-body">
            <a:extLst xmlns:a="http://schemas.openxmlformats.org/drawingml/2006/main">
              <a:ext uri="{FF2B5EF4-FFF2-40B4-BE49-F238E27FC236}">
                <a16:creationId xmlns:a16="http://schemas.microsoft.com/office/drawing/2014/main" id="{0C0236B0-96D2-4CB9-BE2E-068D8FFE2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0125"/>
            <a:ext cx="10477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Your correction should name the correct idea and explain why it fits the question. Use the experience feedback to check it.</a:t>
            </a:r>
          </a:p>
        </p:txBody>
      </p:sp>
    </p:spTree>
    <p:extLst>
      <p:ext uri="{BB962C8B-B14F-4D97-AF65-F5344CB8AC3E}">
        <p14:creationId xmlns:p14="http://schemas.microsoft.com/office/powerpoint/2010/main" val="107719682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7EF7E645-4366-476F-A5B1-90C7C70AD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159341AF-F465-4757-AC09-3A0C4AF7B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15   /   ANSWERS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5EBF8C94-893F-4F9B-8993-606E888EB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After the experience: stations 1–3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d685912026466b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E93BEC9-DC57-4892-87B7-6699B7FBD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11 / 18</a:t>
            </a:r>
          </a:p>
        </p:txBody>
      </p:sp>
      <p:sp>
        <p:nvSpPr>
          <p:cNvPr id="6" name="check-stations">
            <a:extLst xmlns:a="http://schemas.openxmlformats.org/drawingml/2006/main">
              <a:ext uri="{FF2B5EF4-FFF2-40B4-BE49-F238E27FC236}">
                <a16:creationId xmlns:a16="http://schemas.microsoft.com/office/drawing/2014/main" id="{51C9C7E2-F4F1-420D-88E1-62F2A7BC6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Check your key facts and challenge responses.</a:t>
            </a:r>
          </a:p>
        </p:txBody>
      </p:sp>
      <p:sp>
        <p:nvSpPr>
          <p:cNvPr id="7" name="station-name-0">
            <a:extLst xmlns:a="http://schemas.openxmlformats.org/drawingml/2006/main">
              <a:ext uri="{FF2B5EF4-FFF2-40B4-BE49-F238E27FC236}">
                <a16:creationId xmlns:a16="http://schemas.microsoft.com/office/drawing/2014/main" id="{D616DF12-F12D-4F89-BE2A-F5A3C233B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098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  Syntax rules</a:t>
            </a:r>
          </a:p>
        </p:txBody>
      </p:sp>
      <p:sp>
        <p:nvSpPr>
          <p:cNvPr id="8" name="station-answer-0">
            <a:extLst xmlns:a="http://schemas.openxmlformats.org/drawingml/2006/main">
              <a:ext uri="{FF2B5EF4-FFF2-40B4-BE49-F238E27FC236}">
                <a16:creationId xmlns:a16="http://schemas.microsoft.com/office/drawing/2014/main" id="{F6BEAF51-6593-4158-B949-6DCAF3DF8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38425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Add the closing parenthesis after the closing quote.</a:t>
            </a:r>
          </a:p>
        </p:txBody>
      </p:sp>
      <p:sp>
        <p:nvSpPr>
          <p:cNvPr id="9" name="station-name-1">
            <a:extLst xmlns:a="http://schemas.openxmlformats.org/drawingml/2006/main">
              <a:ext uri="{FF2B5EF4-FFF2-40B4-BE49-F238E27FC236}">
                <a16:creationId xmlns:a16="http://schemas.microsoft.com/office/drawing/2014/main" id="{1C2437BA-61EC-4CC1-A291-672A28BC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3377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  Logic can be wrong</a:t>
            </a:r>
          </a:p>
        </p:txBody>
      </p:sp>
      <p:sp>
        <p:nvSpPr>
          <p:cNvPr id="10" name="station-answer-1">
            <a:extLst xmlns:a="http://schemas.openxmlformats.org/drawingml/2006/main">
              <a:ext uri="{FF2B5EF4-FFF2-40B4-BE49-F238E27FC236}">
                <a16:creationId xmlns:a16="http://schemas.microsoft.com/office/drawing/2014/main" id="{2AD176F9-D05F-473B-8386-F181E623F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6240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11, because division happens before addition. The correct average is 8.</a:t>
            </a:r>
          </a:p>
        </p:txBody>
      </p:sp>
      <p:sp>
        <p:nvSpPr>
          <p:cNvPr id="11" name="station-name-2">
            <a:extLst xmlns:a="http://schemas.openxmlformats.org/drawingml/2006/main">
              <a:ext uri="{FF2B5EF4-FFF2-40B4-BE49-F238E27FC236}">
                <a16:creationId xmlns:a16="http://schemas.microsoft.com/office/drawing/2014/main" id="{D795BB1C-F6B4-4C53-AB97-8133E2500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  Off-by-one errors</a:t>
            </a:r>
          </a:p>
        </p:txBody>
      </p:sp>
      <p:sp>
        <p:nvSpPr>
          <p:cNvPr id="12" name="station-answer-2">
            <a:extLst xmlns:a="http://schemas.openxmlformats.org/drawingml/2006/main">
              <a:ext uri="{FF2B5EF4-FFF2-40B4-BE49-F238E27FC236}">
                <a16:creationId xmlns:a16="http://schemas.microsoft.com/office/drawing/2014/main" id="{36B68946-29BE-4832-BBD8-102C229E4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86375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four-item zero-indexed list ends at index 3.</a:t>
            </a:r>
          </a:p>
        </p:txBody>
      </p:sp>
    </p:spTree>
    <p:extLst>
      <p:ext uri="{BB962C8B-B14F-4D97-AF65-F5344CB8AC3E}">
        <p14:creationId xmlns:p14="http://schemas.microsoft.com/office/powerpoint/2010/main" val="85359440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E51900B3-0610-4E01-90E0-77DC6FF31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B0525AC8-4A6A-4190-909D-B5EB30CD8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15   /   ANSWERS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7AFF9494-BEC4-4AEA-BD48-105C969A5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After the experience: stations 4–6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26e9417abf4c90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28FF5AE6-5314-4952-A1CD-C9E9FC07E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12 / 18</a:t>
            </a:r>
          </a:p>
        </p:txBody>
      </p:sp>
      <p:sp>
        <p:nvSpPr>
          <p:cNvPr id="6" name="check-stations">
            <a:extLst xmlns:a="http://schemas.openxmlformats.org/drawingml/2006/main">
              <a:ext uri="{FF2B5EF4-FFF2-40B4-BE49-F238E27FC236}">
                <a16:creationId xmlns:a16="http://schemas.microsoft.com/office/drawing/2014/main" id="{478BE9EE-4B04-4078-A860-876FCD869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Check your key facts and challenge responses.</a:t>
            </a:r>
          </a:p>
        </p:txBody>
      </p:sp>
      <p:sp>
        <p:nvSpPr>
          <p:cNvPr id="7" name="station-name-3">
            <a:extLst xmlns:a="http://schemas.openxmlformats.org/drawingml/2006/main">
              <a:ext uri="{FF2B5EF4-FFF2-40B4-BE49-F238E27FC236}">
                <a16:creationId xmlns:a16="http://schemas.microsoft.com/office/drawing/2014/main" id="{0F0EBA09-E83B-415E-AD99-3550F935C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098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4  Faulty initialisation</a:t>
            </a:r>
          </a:p>
        </p:txBody>
      </p:sp>
      <p:sp>
        <p:nvSpPr>
          <p:cNvPr id="8" name="station-answer-3">
            <a:extLst xmlns:a="http://schemas.openxmlformats.org/drawingml/2006/main">
              <a:ext uri="{FF2B5EF4-FFF2-40B4-BE49-F238E27FC236}">
                <a16:creationId xmlns:a16="http://schemas.microsoft.com/office/drawing/2014/main" id="{8D150509-4F43-452B-BA18-B44519063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38425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Before the loop, so earlier additions remain in the total.</a:t>
            </a:r>
          </a:p>
        </p:txBody>
      </p:sp>
      <p:sp>
        <p:nvSpPr>
          <p:cNvPr id="9" name="station-name-4">
            <a:extLst xmlns:a="http://schemas.openxmlformats.org/drawingml/2006/main">
              <a:ext uri="{FF2B5EF4-FFF2-40B4-BE49-F238E27FC236}">
                <a16:creationId xmlns:a16="http://schemas.microsoft.com/office/drawing/2014/main" id="{F40CAFDA-7B28-4DDD-97A6-7FEB15E5A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3377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5  Trace the faulty line</a:t>
            </a:r>
          </a:p>
        </p:txBody>
      </p:sp>
      <p:sp>
        <p:nvSpPr>
          <p:cNvPr id="10" name="station-answer-4">
            <a:extLst xmlns:a="http://schemas.openxmlformats.org/drawingml/2006/main">
              <a:ext uri="{FF2B5EF4-FFF2-40B4-BE49-F238E27FC236}">
                <a16:creationId xmlns:a16="http://schemas.microsoft.com/office/drawing/2014/main" id="{DF6939EB-FAE7-4750-B799-6DB46BA86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6240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Use if age &gt;= 12 then. Equality must be included.</a:t>
            </a:r>
          </a:p>
        </p:txBody>
      </p:sp>
      <p:sp>
        <p:nvSpPr>
          <p:cNvPr id="11" name="station-name-5">
            <a:extLst xmlns:a="http://schemas.openxmlformats.org/drawingml/2006/main">
              <a:ext uri="{FF2B5EF4-FFF2-40B4-BE49-F238E27FC236}">
                <a16:creationId xmlns:a16="http://schemas.microsoft.com/office/drawing/2014/main" id="{1F7890C8-2979-416E-AA29-BEE1AB3B0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6  Verify with evidence</a:t>
            </a:r>
          </a:p>
        </p:txBody>
      </p:sp>
      <p:sp>
        <p:nvSpPr>
          <p:cNvPr id="12" name="station-answer-5">
            <a:extLst xmlns:a="http://schemas.openxmlformats.org/drawingml/2006/main">
              <a:ext uri="{FF2B5EF4-FFF2-40B4-BE49-F238E27FC236}">
                <a16:creationId xmlns:a16="http://schemas.microsoft.com/office/drawing/2014/main" id="{07216969-988D-4AF8-B64A-611D4169C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86375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It verifies that the correction has not started accepting values below the threshold.</a:t>
            </a:r>
          </a:p>
        </p:txBody>
      </p:sp>
    </p:spTree>
    <p:extLst>
      <p:ext uri="{BB962C8B-B14F-4D97-AF65-F5344CB8AC3E}">
        <p14:creationId xmlns:p14="http://schemas.microsoft.com/office/powerpoint/2010/main" val="80697766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4782CCF1-F8AC-4963-BE7C-39F589ECB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6DA98E84-19B5-4128-9F22-3EF63F2AE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15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3D092674-2E5F-4365-B13E-1BCD72393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Final challenge: answers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6811d644794521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C371B726-81B4-4823-AF8C-B2AEE4C1C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13 / 18</a:t>
            </a:r>
          </a:p>
        </p:txBody>
      </p:sp>
      <p:sp>
        <p:nvSpPr>
          <p:cNvPr id="6" name="star-key">
            <a:extLst xmlns:a="http://schemas.openxmlformats.org/drawingml/2006/main">
              <a:ext uri="{FF2B5EF4-FFF2-40B4-BE49-F238E27FC236}">
                <a16:creationId xmlns:a16="http://schemas.microsoft.com/office/drawing/2014/main" id="{4E2C5E58-B348-4B06-A627-247270C07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Check your choices and the reasons you gave.</a:t>
            </a:r>
          </a:p>
        </p:txBody>
      </p:sp>
      <p:sp>
        <p:nvSpPr>
          <p:cNvPr id="7" name="number-1">
            <a:extLst xmlns:a="http://schemas.openxmlformats.org/drawingml/2006/main">
              <a:ext uri="{FF2B5EF4-FFF2-40B4-BE49-F238E27FC236}">
                <a16:creationId xmlns:a16="http://schemas.microsoft.com/office/drawing/2014/main" id="{D13603A8-78DC-40B6-A8F6-04D146FD5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050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8" name="item-1">
            <a:extLst xmlns:a="http://schemas.openxmlformats.org/drawingml/2006/main">
              <a:ext uri="{FF2B5EF4-FFF2-40B4-BE49-F238E27FC236}">
                <a16:creationId xmlns:a16="http://schemas.microsoft.com/office/drawing/2014/main" id="{DA3F8A68-07AA-4136-A4C5-7B3C68E60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143125"/>
            <a:ext cx="99250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1. Classify the errors.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Answer: Python if x &gt; 0 with no colon: Syntax; Average calculated as a + b / 2: Logic; Missing closing quote: Syntax; Discount applied below the wrong threshold: Logic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Syntax breaks language rules. Logic breaks the intended solution.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</a:p>
          <a:p xmlns:a="http://schemas.openxmlformats.org/drawingml/2006/main">
            <a:pPr algn="l"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2. The corrected average works for 6 and 10. What should you conclude?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Answer: That test passes, but other suitable tests are still useful</a:t>
            </a:r>
          </a:p>
        </p:txBody>
      </p:sp>
      <p:sp>
        <p:nvSpPr>
          <p:cNvPr id="9" name="number-2">
            <a:extLst xmlns:a="http://schemas.openxmlformats.org/drawingml/2006/main">
              <a:ext uri="{FF2B5EF4-FFF2-40B4-BE49-F238E27FC236}">
                <a16:creationId xmlns:a16="http://schemas.microsoft.com/office/drawing/2014/main" id="{D63D0CFC-FB29-4A55-9634-1938AE0CE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432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0" name="item-2">
            <a:extLst xmlns:a="http://schemas.openxmlformats.org/drawingml/2006/main">
              <a:ext uri="{FF2B5EF4-FFF2-40B4-BE49-F238E27FC236}">
                <a16:creationId xmlns:a16="http://schemas.microsoft.com/office/drawing/2014/main" id="{1AF0E8F5-58C1-4699-8D32-68538ACE6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43200"/>
            <a:ext cx="9925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1" name="number-3">
            <a:extLst xmlns:a="http://schemas.openxmlformats.org/drawingml/2006/main">
              <a:ext uri="{FF2B5EF4-FFF2-40B4-BE49-F238E27FC236}">
                <a16:creationId xmlns:a16="http://schemas.microsoft.com/office/drawing/2014/main" id="{64A6377B-270D-4D04-B61F-A116A4C0F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813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2" name="item-3">
            <a:extLst xmlns:a="http://schemas.openxmlformats.org/drawingml/2006/main">
              <a:ext uri="{FF2B5EF4-FFF2-40B4-BE49-F238E27FC236}">
                <a16:creationId xmlns:a16="http://schemas.microsoft.com/office/drawing/2014/main" id="{B2168BAC-D34D-4D09-BD22-C30743266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381375"/>
            <a:ext cx="9925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3" name="number-4">
            <a:extLst xmlns:a="http://schemas.openxmlformats.org/drawingml/2006/main">
              <a:ext uri="{FF2B5EF4-FFF2-40B4-BE49-F238E27FC236}">
                <a16:creationId xmlns:a16="http://schemas.microsoft.com/office/drawing/2014/main" id="{DAD3008D-DBDD-4EB1-B9E0-42941BDA4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195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4" name="item-4">
            <a:extLst xmlns:a="http://schemas.openxmlformats.org/drawingml/2006/main">
              <a:ext uri="{FF2B5EF4-FFF2-40B4-BE49-F238E27FC236}">
                <a16:creationId xmlns:a16="http://schemas.microsoft.com/office/drawing/2014/main" id="{072DFA35-D5B3-464A-85A9-266225B79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019550"/>
            <a:ext cx="9925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5" name="number-5">
            <a:extLst xmlns:a="http://schemas.openxmlformats.org/drawingml/2006/main">
              <a:ext uri="{FF2B5EF4-FFF2-40B4-BE49-F238E27FC236}">
                <a16:creationId xmlns:a16="http://schemas.microsoft.com/office/drawing/2014/main" id="{03F791EC-5D9B-433E-96F6-EF44C17A0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577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6" name="item-5">
            <a:extLst xmlns:a="http://schemas.openxmlformats.org/drawingml/2006/main">
              <a:ext uri="{FF2B5EF4-FFF2-40B4-BE49-F238E27FC236}">
                <a16:creationId xmlns:a16="http://schemas.microsoft.com/office/drawing/2014/main" id="{11146F44-2CCE-4536-BF13-60F44AE22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57725"/>
            <a:ext cx="9925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7" name="number-6">
            <a:extLst xmlns:a="http://schemas.openxmlformats.org/drawingml/2006/main">
              <a:ext uri="{FF2B5EF4-FFF2-40B4-BE49-F238E27FC236}">
                <a16:creationId xmlns:a16="http://schemas.microsoft.com/office/drawing/2014/main" id="{738F10DC-3C3F-4622-9638-0CD9ADB18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959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8" name="item-6">
            <a:extLst xmlns:a="http://schemas.openxmlformats.org/drawingml/2006/main">
              <a:ext uri="{FF2B5EF4-FFF2-40B4-BE49-F238E27FC236}">
                <a16:creationId xmlns:a16="http://schemas.microsoft.com/office/drawing/2014/main" id="{B4AC7286-B492-4B59-A29F-AA4F10A94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295900"/>
            <a:ext cx="9925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22917826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40BB8106-766C-4D11-B62C-A315B1DC9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6E93FE83-8B7D-4ED0-A507-D6DF7BF84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15   /   PLENARY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2FAFAE26-D488-4C37-A08D-D8E5A9D05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questions (a–b)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8aee8e0e914162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3F7FA607-A51E-4EFD-8772-BFCA4D0AB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14 / 18</a:t>
            </a:r>
          </a:p>
        </p:txBody>
      </p:sp>
      <p:sp>
        <p:nvSpPr>
          <p:cNvPr id="6" name="plenary-instruction">
            <a:extLst xmlns:a="http://schemas.openxmlformats.org/drawingml/2006/main">
              <a:ext uri="{FF2B5EF4-FFF2-40B4-BE49-F238E27FC236}">
                <a16:creationId xmlns:a16="http://schemas.microsoft.com/office/drawing/2014/main" id="{4DD4F8FC-DBBD-4F52-8BC4-1F8B4C279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10715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Take the headset off or close the page. Answer from memory on the worksheet.</a:t>
            </a:r>
          </a:p>
        </p:txBody>
      </p:sp>
      <p:sp>
        <p:nvSpPr>
          <p:cNvPr id="7" name="a">
            <a:extLst xmlns:a="http://schemas.openxmlformats.org/drawingml/2006/main">
              <a:ext uri="{FF2B5EF4-FFF2-40B4-BE49-F238E27FC236}">
                <a16:creationId xmlns:a16="http://schemas.microsoft.com/office/drawing/2014/main" id="{9C6FAEDB-072B-436C-AA9C-D5832563B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5812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a)</a:t>
            </a:r>
          </a:p>
        </p:txBody>
      </p:sp>
      <p:sp>
        <p:nvSpPr>
          <p:cNvPr id="8" name="question-a">
            <a:extLst xmlns:a="http://schemas.openxmlformats.org/drawingml/2006/main">
              <a:ext uri="{FF2B5EF4-FFF2-40B4-BE49-F238E27FC236}">
                <a16:creationId xmlns:a16="http://schemas.microsoft.com/office/drawing/2014/main" id="{6B2BF4EA-272A-415D-B46E-43EF0DF12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2581275"/>
            <a:ext cx="99441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State the difference between syntax and logic errors. [2]</a:t>
            </a:r>
          </a:p>
        </p:txBody>
      </p:sp>
      <p:sp>
        <p:nvSpPr>
          <p:cNvPr id="9" name="b">
            <a:extLst xmlns:a="http://schemas.openxmlformats.org/drawingml/2006/main">
              <a:ext uri="{FF2B5EF4-FFF2-40B4-BE49-F238E27FC236}">
                <a16:creationId xmlns:a16="http://schemas.microsoft.com/office/drawing/2014/main" id="{9509E02A-7E28-413B-8372-24604E287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1433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b)</a:t>
            </a:r>
          </a:p>
        </p:txBody>
      </p:sp>
      <p:sp>
        <p:nvSpPr>
          <p:cNvPr id="10" name="question-b">
            <a:extLst xmlns:a="http://schemas.openxmlformats.org/drawingml/2006/main">
              <a:ext uri="{FF2B5EF4-FFF2-40B4-BE49-F238E27FC236}">
                <a16:creationId xmlns:a16="http://schemas.microsoft.com/office/drawing/2014/main" id="{EA1267F7-E672-4AB5-8CC0-CE07B6205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4143375"/>
            <a:ext cx="99441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Correct average = a + b / 2 and explain why the change is needed. [3]</a:t>
            </a:r>
          </a:p>
        </p:txBody>
      </p:sp>
    </p:spTree>
    <p:extLst>
      <p:ext uri="{BB962C8B-B14F-4D97-AF65-F5344CB8AC3E}">
        <p14:creationId xmlns:p14="http://schemas.microsoft.com/office/powerpoint/2010/main" val="16794007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5F1F2C14-4C50-48A4-9B67-A997A2622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DDB8B4A9-62FC-49C3-9E8B-2D9186155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15   /   PLENARY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8C7269B5-94FA-4086-8755-DE73995D9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question (c)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86454e1175409f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9C331FB-3C6F-4EEC-BBEB-57203449B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15 / 18</a:t>
            </a:r>
          </a:p>
        </p:txBody>
      </p:sp>
      <p:sp>
        <p:nvSpPr>
          <p:cNvPr id="6" name="from-memory">
            <a:extLst xmlns:a="http://schemas.openxmlformats.org/drawingml/2006/main">
              <a:ext uri="{FF2B5EF4-FFF2-40B4-BE49-F238E27FC236}">
                <a16:creationId xmlns:a16="http://schemas.microsoft.com/office/drawing/2014/main" id="{BDF8659F-4B53-45A1-96E8-35452E8FD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0200"/>
            <a:ext cx="107156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Keep the experience closed. Explain your reasoning in full sentences.</a:t>
            </a:r>
          </a:p>
        </p:txBody>
      </p:sp>
      <p:sp>
        <p:nvSpPr>
          <p:cNvPr id="7" name="c">
            <a:extLst xmlns:a="http://schemas.openxmlformats.org/drawingml/2006/main">
              <a:ext uri="{FF2B5EF4-FFF2-40B4-BE49-F238E27FC236}">
                <a16:creationId xmlns:a16="http://schemas.microsoft.com/office/drawing/2014/main" id="{629CF0F4-E195-43D7-9CCA-D8090133C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781300"/>
            <a:ext cx="6096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c)</a:t>
            </a:r>
          </a:p>
        </p:txBody>
      </p:sp>
      <p:sp>
        <p:nvSpPr>
          <p:cNvPr id="8" name="question-c">
            <a:extLst xmlns:a="http://schemas.openxmlformats.org/drawingml/2006/main">
              <a:ext uri="{FF2B5EF4-FFF2-40B4-BE49-F238E27FC236}">
                <a16:creationId xmlns:a16="http://schemas.microsoft.com/office/drawing/2014/main" id="{2397C953-3257-449B-B101-570ACDF66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781300"/>
            <a:ext cx="98679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four-item Python list is accessed with range(5). Explain and correct the issue. [2]</a:t>
            </a:r>
          </a:p>
        </p:txBody>
      </p:sp>
      <p:sp>
        <p:nvSpPr>
          <p:cNvPr id="9" name="marks">
            <a:extLst xmlns:a="http://schemas.openxmlformats.org/drawingml/2006/main">
              <a:ext uri="{FF2B5EF4-FFF2-40B4-BE49-F238E27FC236}">
                <a16:creationId xmlns:a16="http://schemas.microsoft.com/office/drawing/2014/main" id="{B5E43C45-0F63-4BF1-AFCD-45A804E55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438775"/>
            <a:ext cx="10477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Use the marks in brackets to judge how much detail to include.</a:t>
            </a:r>
          </a:p>
        </p:txBody>
      </p:sp>
    </p:spTree>
    <p:extLst>
      <p:ext uri="{BB962C8B-B14F-4D97-AF65-F5344CB8AC3E}">
        <p14:creationId xmlns:p14="http://schemas.microsoft.com/office/powerpoint/2010/main" val="74753174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69886798-8F0F-4B54-BAEC-A0540120C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6D6D98F3-B670-4101-B9A9-2184D5A6E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15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16C64587-B8D3-44DA-8AA8-1AB5AE6D8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answers (a–b)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7cfb333925434d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EEFA3B3-6527-4E2D-9FE8-B1783E9B1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16 / 18</a:t>
            </a:r>
          </a:p>
        </p:txBody>
      </p:sp>
      <p:sp>
        <p:nvSpPr>
          <p:cNvPr id="6" name="scheme-intro">
            <a:extLst xmlns:a="http://schemas.openxmlformats.org/drawingml/2006/main">
              <a:ext uri="{FF2B5EF4-FFF2-40B4-BE49-F238E27FC236}">
                <a16:creationId xmlns:a16="http://schemas.microsoft.com/office/drawing/2014/main" id="{910FB56C-D13F-443C-831C-7EB54AF5B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10715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Indicative points. Credit accurate answers in students’ own words.</a:t>
            </a:r>
          </a:p>
        </p:txBody>
      </p:sp>
      <p:sp>
        <p:nvSpPr>
          <p:cNvPr id="7" name="scheme-a">
            <a:extLst xmlns:a="http://schemas.openxmlformats.org/drawingml/2006/main">
              <a:ext uri="{FF2B5EF4-FFF2-40B4-BE49-F238E27FC236}">
                <a16:creationId xmlns:a16="http://schemas.microsoft.com/office/drawing/2014/main" id="{41502BD5-C47A-4406-827D-A550F44AB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33625"/>
            <a:ext cx="105727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 Syntax breaks language grammar (1). Logic gives unintended behaviour even when the code is syntactically valid (1).</a:t>
            </a:r>
          </a:p>
        </p:txBody>
      </p:sp>
      <p:sp>
        <p:nvSpPr>
          <p:cNvPr id="8" name="scheme-b">
            <a:extLst xmlns:a="http://schemas.openxmlformats.org/drawingml/2006/main">
              <a:ext uri="{FF2B5EF4-FFF2-40B4-BE49-F238E27FC236}">
                <a16:creationId xmlns:a16="http://schemas.microsoft.com/office/drawing/2014/main" id="{4030A590-8409-4747-8A49-22010C81B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14800"/>
            <a:ext cx="10572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  Use (a + b) / 2 (1). Division otherwise happens first (1). Parentheses add the values before halving (1).</a:t>
            </a:r>
          </a:p>
        </p:txBody>
      </p:sp>
    </p:spTree>
    <p:extLst>
      <p:ext uri="{BB962C8B-B14F-4D97-AF65-F5344CB8AC3E}">
        <p14:creationId xmlns:p14="http://schemas.microsoft.com/office/powerpoint/2010/main" val="144624375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E0081A4B-6AC1-4816-AF79-691B19F4B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8160FA52-8505-4663-AF29-746E3C6A1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15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E723C30E-7C0B-4663-9CFD-AEBB0B68C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answer (c)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5f6aaf95b34f66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BFCDE95E-15E9-4DFC-BCC0-8290133C0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17 / 18</a:t>
            </a:r>
          </a:p>
        </p:txBody>
      </p:sp>
      <p:sp>
        <p:nvSpPr>
          <p:cNvPr id="6" name="scheme-intro">
            <a:extLst xmlns:a="http://schemas.openxmlformats.org/drawingml/2006/main">
              <a:ext uri="{FF2B5EF4-FFF2-40B4-BE49-F238E27FC236}">
                <a16:creationId xmlns:a16="http://schemas.microsoft.com/office/drawing/2014/main" id="{367C08AF-7243-4EE2-AFA0-1DBD0A7CE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33525"/>
            <a:ext cx="10715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Indicative points for the final question.</a:t>
            </a:r>
          </a:p>
        </p:txBody>
      </p:sp>
      <p:sp>
        <p:nvSpPr>
          <p:cNvPr id="7" name="number-1">
            <a:extLst xmlns:a="http://schemas.openxmlformats.org/drawingml/2006/main">
              <a:ext uri="{FF2B5EF4-FFF2-40B4-BE49-F238E27FC236}">
                <a16:creationId xmlns:a16="http://schemas.microsoft.com/office/drawing/2014/main" id="{C971BC91-2C30-4670-9E94-EB7BAD54B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860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</a:p>
        </p:txBody>
      </p:sp>
      <p:sp>
        <p:nvSpPr>
          <p:cNvPr id="8" name="item-1">
            <a:extLst xmlns:a="http://schemas.openxmlformats.org/drawingml/2006/main">
              <a:ext uri="{FF2B5EF4-FFF2-40B4-BE49-F238E27FC236}">
                <a16:creationId xmlns:a16="http://schemas.microsoft.com/office/drawing/2014/main" id="{38BA7518-F976-4AA8-9FBD-9CA4E93E3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86025"/>
            <a:ext cx="9925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It includes invalid index 4 (1). Use range(4) to visit indices 0 to 3 (1).</a:t>
            </a:r>
          </a:p>
        </p:txBody>
      </p:sp>
      <p:sp>
        <p:nvSpPr>
          <p:cNvPr id="9" name="number-2">
            <a:extLst xmlns:a="http://schemas.openxmlformats.org/drawingml/2006/main">
              <a:ext uri="{FF2B5EF4-FFF2-40B4-BE49-F238E27FC236}">
                <a16:creationId xmlns:a16="http://schemas.microsoft.com/office/drawing/2014/main" id="{4CE5C16C-95D9-4554-BC9D-0CB5CA0D0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909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</a:p>
        </p:txBody>
      </p:sp>
      <p:sp>
        <p:nvSpPr>
          <p:cNvPr id="10" name="item-2">
            <a:extLst xmlns:a="http://schemas.openxmlformats.org/drawingml/2006/main">
              <a:ext uri="{FF2B5EF4-FFF2-40B4-BE49-F238E27FC236}">
                <a16:creationId xmlns:a16="http://schemas.microsoft.com/office/drawing/2014/main" id="{C4346348-B81F-437B-A07E-C9085E2AC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590925"/>
            <a:ext cx="9925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</a:p>
        </p:txBody>
      </p:sp>
      <p:sp>
        <p:nvSpPr>
          <p:cNvPr id="11" name="number-3">
            <a:extLst xmlns:a="http://schemas.openxmlformats.org/drawingml/2006/main">
              <a:ext uri="{FF2B5EF4-FFF2-40B4-BE49-F238E27FC236}">
                <a16:creationId xmlns:a16="http://schemas.microsoft.com/office/drawing/2014/main" id="{DBDD63D3-A34B-4614-BC00-7470B22F2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958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2" name="item-3">
            <a:extLst xmlns:a="http://schemas.openxmlformats.org/drawingml/2006/main">
              <a:ext uri="{FF2B5EF4-FFF2-40B4-BE49-F238E27FC236}">
                <a16:creationId xmlns:a16="http://schemas.microsoft.com/office/drawing/2014/main" id="{AAD983A1-375A-4785-BE52-216AFD70B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95825"/>
            <a:ext cx="9925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58965231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A368A0EC-80FD-4672-B2B2-DBDF6094D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94A4DF14-4035-4380-8761-948455E2A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15   /   SELF-CHECK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86131C61-4DE8-4ADA-AA38-AF5838A84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How confident am I?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e943bcb9544ffd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6D9F0318-AD5A-451A-9E2A-0B42908DA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18 / 18</a:t>
            </a:r>
          </a:p>
        </p:txBody>
      </p:sp>
      <p:sp>
        <p:nvSpPr>
          <p:cNvPr id="6" name="confidence-instruction">
            <a:extLst xmlns:a="http://schemas.openxmlformats.org/drawingml/2006/main">
              <a:ext uri="{FF2B5EF4-FFF2-40B4-BE49-F238E27FC236}">
                <a16:creationId xmlns:a16="http://schemas.microsoft.com/office/drawing/2014/main" id="{21CCFCB5-9EEF-4D0C-ACC8-C2D3D4C2A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71625"/>
            <a:ext cx="104775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On the worksheet, select Not yet, Getting there or Confident for each objective.</a:t>
            </a:r>
          </a:p>
        </p:txBody>
      </p:sp>
      <p:sp>
        <p:nvSpPr>
          <p:cNvPr id="7" name="number-1">
            <a:extLst xmlns:a="http://schemas.openxmlformats.org/drawingml/2006/main">
              <a:ext uri="{FF2B5EF4-FFF2-40B4-BE49-F238E27FC236}">
                <a16:creationId xmlns:a16="http://schemas.microsoft.com/office/drawing/2014/main" id="{1445CA78-BAE2-4623-A518-59C7169A1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8" name="item-1">
            <a:extLst xmlns:a="http://schemas.openxmlformats.org/drawingml/2006/main">
              <a:ext uri="{FF2B5EF4-FFF2-40B4-BE49-F238E27FC236}">
                <a16:creationId xmlns:a16="http://schemas.microsoft.com/office/drawing/2014/main" id="{B9CB63FA-CF41-41AC-AAF6-A489CFF3B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514600"/>
            <a:ext cx="99250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Distinguish syntax and logic errors.</a:t>
            </a:r>
          </a:p>
        </p:txBody>
      </p:sp>
      <p:sp>
        <p:nvSpPr>
          <p:cNvPr id="9" name="number-2">
            <a:extLst xmlns:a="http://schemas.openxmlformats.org/drawingml/2006/main">
              <a:ext uri="{FF2B5EF4-FFF2-40B4-BE49-F238E27FC236}">
                <a16:creationId xmlns:a16="http://schemas.microsoft.com/office/drawing/2014/main" id="{BF24F2CF-D0BF-433B-A4BD-27BA20302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432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10" name="item-2">
            <a:extLst xmlns:a="http://schemas.openxmlformats.org/drawingml/2006/main">
              <a:ext uri="{FF2B5EF4-FFF2-40B4-BE49-F238E27FC236}">
                <a16:creationId xmlns:a16="http://schemas.microsoft.com/office/drawing/2014/main" id="{2EBB092A-60CB-4087-9DD4-5443676B6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343275"/>
            <a:ext cx="99250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Locate and correct faulty code.</a:t>
            </a:r>
          </a:p>
        </p:txBody>
      </p:sp>
      <p:sp>
        <p:nvSpPr>
          <p:cNvPr id="11" name="number-3">
            <a:extLst xmlns:a="http://schemas.openxmlformats.org/drawingml/2006/main">
              <a:ext uri="{FF2B5EF4-FFF2-40B4-BE49-F238E27FC236}">
                <a16:creationId xmlns:a16="http://schemas.microsoft.com/office/drawing/2014/main" id="{43B035FB-801C-4E05-87F1-800820CE7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719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3.</a:t>
            </a:r>
          </a:p>
        </p:txBody>
      </p:sp>
      <p:sp>
        <p:nvSpPr>
          <p:cNvPr id="12" name="item-3">
            <a:extLst xmlns:a="http://schemas.openxmlformats.org/drawingml/2006/main">
              <a:ext uri="{FF2B5EF4-FFF2-40B4-BE49-F238E27FC236}">
                <a16:creationId xmlns:a16="http://schemas.microsoft.com/office/drawing/2014/main" id="{02E48C22-31AC-4A31-87AE-D3A00B3F1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71950"/>
            <a:ext cx="99250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Use test evidence to verify a fix.</a:t>
            </a:r>
          </a:p>
        </p:txBody>
      </p:sp>
      <p:sp>
        <p:nvSpPr>
          <p:cNvPr id="13" name="number-4">
            <a:extLst xmlns:a="http://schemas.openxmlformats.org/drawingml/2006/main">
              <a:ext uri="{FF2B5EF4-FFF2-40B4-BE49-F238E27FC236}">
                <a16:creationId xmlns:a16="http://schemas.microsoft.com/office/drawing/2014/main" id="{CE4EAE46-F751-4F69-9E68-CFF078A99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006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4" name="item-4">
            <a:extLst xmlns:a="http://schemas.openxmlformats.org/drawingml/2006/main">
              <a:ext uri="{FF2B5EF4-FFF2-40B4-BE49-F238E27FC236}">
                <a16:creationId xmlns:a16="http://schemas.microsoft.com/office/drawing/2014/main" id="{F71661C6-7DB3-4EC1-B1E5-D88C7A612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00625"/>
            <a:ext cx="99250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4799295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2026-09-28T13:00:55.0260000Z</dcterms:created>
  <dcterms:modified xsi:type="dcterms:W3CDTF">2026-09-28T13:00:55.0260000Z</dcterms:modified>
</coreProperties>
</file>