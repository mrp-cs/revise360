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5: Planet works.
Open the experience at revise360.co.uk and hand out EL_L05_Planetworks_Worksheet.docx.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Share the objectives, then go straight into the starter. Devices stay away for the first five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Silent start. Take two or three answers before moving on: this is where misconceptions surface.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Insist on writing before tapping. That single rule is the difference between revision and a quiz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1: Three stages.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2: Making it.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3: Using it.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4: Throwing it away.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5: Doing better.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6: Answering environmental questions.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answer is C: Toxic metals such as lead and mercury leak into soil and water.
Do not say it yet. Every pupil commits first - fingers, whiteboards or a show of hands on each letter in turn - and you count the split before anyone can change their mind.
IF MOST OF THE CLASS IS RIGHT: say why it is right in one sentence and go straight on to the independent work.
IF A SIGNIFICANT GROUP IS ON ONE WRONG LETTER: that option is the misconception to teach against before anyone goes on. Go back to station 4, Throwing it away, and work through its example again, aloud, with the class watching, then re-ask this question.
The course's own response to a wrong answer here: The harm outlasts the device by decades.
A limitation, stated rather than papered over: one response covers every wrong option; it does not say what to revisit for each one. The course does not record what each separate wrong option means, and this slide does not invent it. Decide your own reteach for each option before the lesson; the options above are the start of it.
This is a real activity from the experience (el-l05-s4-c1), so the wording here is the wording a pupil will see.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them commit to an answer on paper before they tap the star. Guessing first costs them the learning.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these as a settler, or as something for early finishers to read in the experience.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Timed and silent. Mark against the answer sheet, then ask students to record their weakest area.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copy their score-screen breakdown onto the worksheet, then rate themselves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1828"/>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822960" y="1417320"/>
            <a:ext cx="10515600" cy="411480"/>
          </a:xfrm>
          <a:prstGeom prst="rect">
            <a:avLst/>
          </a:prstGeom>
          <a:noFill/>
          <a:ln/>
        </p:spPr>
        <p:txBody>
          <a:bodyPr wrap="square" lIns="0" tIns="0" rIns="0" bIns="0" rtlCol="0" anchor="ctr"/>
          <a:lstStyle/>
          <a:p>
            <a:pPr indent="0" marL="0">
              <a:buNone/>
            </a:pPr>
            <a:r>
              <a:rPr lang="en-US" sz="1500" dirty="0">
                <a:solidFill>
                  <a:srgbClr val="F4B942"/>
                </a:solidFill>
                <a:latin typeface="IBM Plex Mono" pitchFamily="34" charset="0"/>
                <a:ea typeface="IBM Plex Mono" pitchFamily="34" charset="-122"/>
                <a:cs typeface="IBM Plex Mono" pitchFamily="34" charset="-120"/>
              </a:rPr>
              <a:t>1.6 Ethical, legal, cultural and environmental impacts  |  Lesson 5</a:t>
            </a:r>
            <a:endParaRPr lang="en-US" sz="1500" dirty="0"/>
          </a:p>
        </p:txBody>
      </p:sp>
      <p:sp>
        <p:nvSpPr>
          <p:cNvPr id="4" name="Text 2"/>
          <p:cNvSpPr txBox="1"/>
          <p:nvPr/>
        </p:nvSpPr>
        <p:spPr>
          <a:xfrm>
            <a:off x="822960" y="1920240"/>
            <a:ext cx="10515600" cy="1280160"/>
          </a:xfrm>
          <a:prstGeom prst="rect">
            <a:avLst/>
          </a:prstGeom>
          <a:noFill/>
          <a:ln/>
        </p:spPr>
        <p:txBody>
          <a:bodyPr wrap="square" lIns="0" tIns="0" rIns="0" bIns="0" rtlCol="0" anchor="ctr"/>
          <a:lstStyle/>
          <a:p>
            <a:pPr indent="0" marL="0">
              <a:buNone/>
            </a:pPr>
            <a:r>
              <a:rPr lang="en-US" sz="6000" b="1" dirty="0">
                <a:solidFill>
                  <a:srgbClr val="FFFFFF"/>
                </a:solidFill>
                <a:latin typeface="IBM Plex Sans" pitchFamily="34" charset="0"/>
                <a:ea typeface="IBM Plex Sans" pitchFamily="34" charset="-122"/>
                <a:cs typeface="IBM Plex Sans" pitchFamily="34" charset="-120"/>
              </a:rPr>
              <a:t>Planet works</a:t>
            </a:r>
            <a:endParaRPr lang="en-US" sz="6000" dirty="0"/>
          </a:p>
        </p:txBody>
      </p:sp>
      <p:sp>
        <p:nvSpPr>
          <p:cNvPr id="5" name="Text 3"/>
          <p:cNvSpPr txBox="1"/>
          <p:nvPr/>
        </p:nvSpPr>
        <p:spPr>
          <a:xfrm>
            <a:off x="822960" y="3291840"/>
            <a:ext cx="9509760" cy="1371600"/>
          </a:xfrm>
          <a:prstGeom prst="rect">
            <a:avLst/>
          </a:prstGeom>
          <a:noFill/>
          <a:ln/>
        </p:spPr>
        <p:txBody>
          <a:bodyPr wrap="square" lIns="0" tIns="0" rIns="0" bIns="0" rtlCol="0" anchor="ctr"/>
          <a:lstStyle/>
          <a:p>
            <a:pPr indent="0" marL="0">
              <a:lnSpc>
                <a:spcPct val="125000"/>
              </a:lnSpc>
              <a:buNone/>
            </a:pPr>
            <a:r>
              <a:rPr lang="en-US" sz="1800" dirty="0">
                <a:solidFill>
                  <a:srgbClr val="C7CDD9"/>
                </a:solidFill>
                <a:latin typeface="IBM Plex Sans" pitchFamily="34" charset="0"/>
                <a:ea typeface="IBM Plex Sans" pitchFamily="34" charset="-122"/>
                <a:cs typeface="IBM Plex Sans" pitchFamily="34" charset="-120"/>
              </a:rPr>
              <a:t>The environmental cost of a device across its whole life: making it, running it and throwing it away.</a:t>
            </a:r>
            <a:endParaRPr lang="en-US" sz="1800" dirty="0"/>
          </a:p>
        </p:txBody>
      </p:sp>
      <p:sp>
        <p:nvSpPr>
          <p:cNvPr id="6" name="Shape 4"/>
          <p:cNvSpPr/>
          <p:nvPr/>
        </p:nvSpPr>
        <p:spPr>
          <a:xfrm>
            <a:off x="822960" y="4846320"/>
            <a:ext cx="2926080" cy="0"/>
          </a:xfrm>
          <a:prstGeom prst="line">
            <a:avLst/>
          </a:prstGeom>
          <a:noFill/>
          <a:ln w="31750">
            <a:solidFill>
              <a:srgbClr val="2D63FF"/>
            </a:solidFill>
            <a:prstDash val="solid"/>
          </a:ln>
        </p:spPr>
      </p:sp>
      <p:sp>
        <p:nvSpPr>
          <p:cNvPr id="7" name="Text 5"/>
          <p:cNvSpPr txBox="1"/>
          <p:nvPr/>
        </p:nvSpPr>
        <p:spPr>
          <a:xfrm>
            <a:off x="822960" y="5029200"/>
            <a:ext cx="10515600" cy="365760"/>
          </a:xfrm>
          <a:prstGeom prst="rect">
            <a:avLst/>
          </a:prstGeom>
          <a:noFill/>
          <a:ln/>
        </p:spPr>
        <p:txBody>
          <a:bodyPr wrap="square" lIns="0" tIns="0" rIns="0" bIns="0" rtlCol="0" anchor="ctr"/>
          <a:lstStyle/>
          <a:p>
            <a:pPr indent="0" marL="0">
              <a:buNone/>
            </a:pPr>
            <a:r>
              <a:rPr lang="en-US" sz="1300" dirty="0">
                <a:solidFill>
                  <a:srgbClr val="667085"/>
                </a:solidFill>
                <a:latin typeface="IBM Plex Mono" pitchFamily="34" charset="0"/>
                <a:ea typeface="IBM Plex Mono" pitchFamily="34" charset="-122"/>
                <a:cs typeface="IBM Plex Mono" pitchFamily="34" charset="-120"/>
              </a:rPr>
              <a:t>OCR J277 Paper 1  |  Computer systems</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1.6 Ethical, legal, cultural and environmental impacts  |  Lesson 5</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By the end of this lesson</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What is the environmental impact of computing, across a device's whole life?</a:t>
            </a:r>
            <a:endParaRPr lang="en-US" sz="1500" dirty="0"/>
          </a:p>
        </p:txBody>
      </p:sp>
      <p:sp>
        <p:nvSpPr>
          <p:cNvPr id="7" name="Shape 5"/>
          <p:cNvSpPr/>
          <p:nvPr/>
        </p:nvSpPr>
        <p:spPr>
          <a:xfrm>
            <a:off x="548640" y="1965960"/>
            <a:ext cx="566928" cy="566928"/>
          </a:xfrm>
          <a:prstGeom prst="ellipse">
            <a:avLst/>
          </a:prstGeom>
          <a:solidFill>
            <a:srgbClr val="2D63FF"/>
          </a:solidFill>
          <a:ln/>
        </p:spPr>
      </p:sp>
      <p:sp>
        <p:nvSpPr>
          <p:cNvPr id="8" name="Text 6"/>
          <p:cNvSpPr txBox="1"/>
          <p:nvPr/>
        </p:nvSpPr>
        <p:spPr>
          <a:xfrm>
            <a:off x="548640" y="196596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9" name="Text 7"/>
          <p:cNvSpPr txBox="1"/>
          <p:nvPr/>
        </p:nvSpPr>
        <p:spPr>
          <a:xfrm>
            <a:off x="1325880" y="1965960"/>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Understand the environmental impact of manufacturing computers</a:t>
            </a:r>
            <a:endParaRPr lang="en-US" sz="1900" dirty="0"/>
          </a:p>
        </p:txBody>
      </p:sp>
      <p:sp>
        <p:nvSpPr>
          <p:cNvPr id="10" name="Shape 8"/>
          <p:cNvSpPr/>
          <p:nvPr/>
        </p:nvSpPr>
        <p:spPr>
          <a:xfrm>
            <a:off x="548640" y="2898648"/>
            <a:ext cx="566928" cy="566928"/>
          </a:xfrm>
          <a:prstGeom prst="ellipse">
            <a:avLst/>
          </a:prstGeom>
          <a:solidFill>
            <a:srgbClr val="2D63FF"/>
          </a:solidFill>
          <a:ln/>
        </p:spPr>
      </p:sp>
      <p:sp>
        <p:nvSpPr>
          <p:cNvPr id="11" name="Text 9"/>
          <p:cNvSpPr txBox="1"/>
          <p:nvPr/>
        </p:nvSpPr>
        <p:spPr>
          <a:xfrm>
            <a:off x="548640" y="28986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12" name="Text 10"/>
          <p:cNvSpPr txBox="1"/>
          <p:nvPr/>
        </p:nvSpPr>
        <p:spPr>
          <a:xfrm>
            <a:off x="1325880" y="2898648"/>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Understand the environmental impact of using computers</a:t>
            </a:r>
            <a:endParaRPr lang="en-US" sz="1900" dirty="0"/>
          </a:p>
        </p:txBody>
      </p:sp>
      <p:sp>
        <p:nvSpPr>
          <p:cNvPr id="13" name="Shape 11"/>
          <p:cNvSpPr/>
          <p:nvPr/>
        </p:nvSpPr>
        <p:spPr>
          <a:xfrm>
            <a:off x="548640" y="3831336"/>
            <a:ext cx="566928" cy="566928"/>
          </a:xfrm>
          <a:prstGeom prst="ellipse">
            <a:avLst/>
          </a:prstGeom>
          <a:solidFill>
            <a:srgbClr val="2D63FF"/>
          </a:solidFill>
          <a:ln/>
        </p:spPr>
      </p:sp>
      <p:sp>
        <p:nvSpPr>
          <p:cNvPr id="14" name="Text 12"/>
          <p:cNvSpPr txBox="1"/>
          <p:nvPr/>
        </p:nvSpPr>
        <p:spPr>
          <a:xfrm>
            <a:off x="548640" y="3831336"/>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15" name="Text 13"/>
          <p:cNvSpPr txBox="1"/>
          <p:nvPr/>
        </p:nvSpPr>
        <p:spPr>
          <a:xfrm>
            <a:off x="1325880" y="3831336"/>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Understand the environmental impact of disposing of computers</a:t>
            </a:r>
            <a:endParaRPr lang="en-US" sz="1900" dirty="0"/>
          </a:p>
        </p:txBody>
      </p:sp>
      <p:sp>
        <p:nvSpPr>
          <p:cNvPr id="16" name="Text 14"/>
          <p:cNvSpPr txBox="1"/>
          <p:nvPr/>
        </p:nvSpPr>
        <p:spPr>
          <a:xfrm>
            <a:off x="548640" y="5084064"/>
            <a:ext cx="2743200" cy="320040"/>
          </a:xfrm>
          <a:prstGeom prst="rect">
            <a:avLst/>
          </a:prstGeom>
          <a:noFill/>
          <a:ln/>
        </p:spPr>
        <p:txBody>
          <a:bodyPr wrap="square" lIns="0" tIns="0" rIns="0" bIns="0" rtlCol="0" anchor="ctr"/>
          <a:lstStyle/>
          <a:p>
            <a:pPr indent="0" marL="0">
              <a:buNone/>
            </a:pPr>
            <a:r>
              <a:rPr lang="en-US" sz="1200" dirty="0">
                <a:solidFill>
                  <a:srgbClr val="667085"/>
                </a:solidFill>
                <a:latin typeface="IBM Plex Mono" pitchFamily="34" charset="0"/>
                <a:ea typeface="IBM Plex Mono" pitchFamily="34" charset="-122"/>
                <a:cs typeface="IBM Plex Mono" pitchFamily="34" charset="-120"/>
              </a:rPr>
              <a:t>Key words</a:t>
            </a:r>
            <a:endParaRPr lang="en-US" sz="1200" dirty="0"/>
          </a:p>
        </p:txBody>
      </p:sp>
      <p:sp>
        <p:nvSpPr>
          <p:cNvPr id="17" name="Shape 15"/>
          <p:cNvSpPr/>
          <p:nvPr/>
        </p:nvSpPr>
        <p:spPr>
          <a:xfrm>
            <a:off x="548640" y="5468112"/>
            <a:ext cx="1481328" cy="402336"/>
          </a:xfrm>
          <a:prstGeom prst="roundRect">
            <a:avLst>
              <a:gd name="adj" fmla="val 50000"/>
            </a:avLst>
          </a:prstGeom>
          <a:solidFill>
            <a:srgbClr val="FFFFFF"/>
          </a:solidFill>
          <a:ln w="12700">
            <a:solidFill>
              <a:srgbClr val="2D63FF"/>
            </a:solidFill>
            <a:prstDash val="solid"/>
          </a:ln>
        </p:spPr>
      </p:sp>
      <p:sp>
        <p:nvSpPr>
          <p:cNvPr id="18" name="Text 16"/>
          <p:cNvSpPr txBox="1"/>
          <p:nvPr/>
        </p:nvSpPr>
        <p:spPr>
          <a:xfrm>
            <a:off x="548640" y="5468112"/>
            <a:ext cx="1481328"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E-waste</a:t>
            </a:r>
            <a:endParaRPr lang="en-US" sz="1200" dirty="0"/>
          </a:p>
        </p:txBody>
      </p:sp>
      <p:sp>
        <p:nvSpPr>
          <p:cNvPr id="19" name="Shape 17"/>
          <p:cNvSpPr/>
          <p:nvPr/>
        </p:nvSpPr>
        <p:spPr>
          <a:xfrm>
            <a:off x="2157984" y="5468112"/>
            <a:ext cx="2798064" cy="402336"/>
          </a:xfrm>
          <a:prstGeom prst="roundRect">
            <a:avLst>
              <a:gd name="adj" fmla="val 50000"/>
            </a:avLst>
          </a:prstGeom>
          <a:solidFill>
            <a:srgbClr val="FFFFFF"/>
          </a:solidFill>
          <a:ln w="12700">
            <a:solidFill>
              <a:srgbClr val="2D63FF"/>
            </a:solidFill>
            <a:prstDash val="solid"/>
          </a:ln>
        </p:spPr>
      </p:sp>
      <p:sp>
        <p:nvSpPr>
          <p:cNvPr id="20" name="Text 18"/>
          <p:cNvSpPr txBox="1"/>
          <p:nvPr/>
        </p:nvSpPr>
        <p:spPr>
          <a:xfrm>
            <a:off x="2157984" y="5468112"/>
            <a:ext cx="2798064"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Carbon footprint</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1.6 Ethical, legal, cultural and environmental impacts  |  Lesson 5</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Shape 3"/>
          <p:cNvSpPr/>
          <p:nvPr/>
        </p:nvSpPr>
        <p:spPr>
          <a:xfrm>
            <a:off x="502920" y="457200"/>
            <a:ext cx="2103120" cy="457200"/>
          </a:xfrm>
          <a:prstGeom prst="roundRect">
            <a:avLst>
              <a:gd name="adj" fmla="val 20000"/>
            </a:avLst>
          </a:prstGeom>
          <a:solidFill>
            <a:srgbClr val="F4B942"/>
          </a:solidFill>
          <a:ln/>
        </p:spPr>
      </p:sp>
      <p:sp>
        <p:nvSpPr>
          <p:cNvPr id="6" name="Text 4"/>
          <p:cNvSpPr txBox="1"/>
          <p:nvPr/>
        </p:nvSpPr>
        <p:spPr>
          <a:xfrm>
            <a:off x="502920" y="457200"/>
            <a:ext cx="2103120" cy="457200"/>
          </a:xfrm>
          <a:prstGeom prst="rect">
            <a:avLst/>
          </a:prstGeom>
          <a:noFill/>
          <a:ln/>
        </p:spPr>
        <p:txBody>
          <a:bodyPr wrap="square" lIns="0" tIns="0" rIns="0" bIns="0" rtlCol="0" anchor="ctr"/>
          <a:lstStyle/>
          <a:p>
            <a:pPr algn="ctr" indent="0" marL="0">
              <a:buNone/>
            </a:pPr>
            <a:r>
              <a:rPr lang="en-US" sz="1300" b="1" dirty="0">
                <a:solidFill>
                  <a:srgbClr val="101828"/>
                </a:solidFill>
                <a:latin typeface="IBM Plex Mono" pitchFamily="34" charset="0"/>
                <a:ea typeface="IBM Plex Mono" pitchFamily="34" charset="-122"/>
                <a:cs typeface="IBM Plex Mono" pitchFamily="34" charset="-120"/>
              </a:rPr>
              <a:t>STARTER</a:t>
            </a:r>
            <a:endParaRPr lang="en-US" sz="1300" dirty="0"/>
          </a:p>
        </p:txBody>
      </p:sp>
      <p:sp>
        <p:nvSpPr>
          <p:cNvPr id="7" name="Text 5"/>
          <p:cNvSpPr txBox="1"/>
          <p:nvPr/>
        </p:nvSpPr>
        <p:spPr>
          <a:xfrm>
            <a:off x="2788920" y="457200"/>
            <a:ext cx="5486400" cy="457200"/>
          </a:xfrm>
          <a:prstGeom prst="rect">
            <a:avLst/>
          </a:prstGeom>
          <a:noFill/>
          <a:ln/>
        </p:spPr>
        <p:txBody>
          <a:bodyPr wrap="square" lIns="0" tIns="0" rIns="0" bIns="0" rtlCol="0" anchor="ctr"/>
          <a:lstStyle/>
          <a:p>
            <a:pPr indent="0" marL="0">
              <a:buNone/>
            </a:pPr>
            <a:r>
              <a:rPr lang="en-US" sz="1400" dirty="0">
                <a:solidFill>
                  <a:srgbClr val="667085"/>
                </a:solidFill>
                <a:latin typeface="IBM Plex Sans" pitchFamily="34" charset="0"/>
                <a:ea typeface="IBM Plex Sans" pitchFamily="34" charset="-122"/>
                <a:cs typeface="IBM Plex Sans" pitchFamily="34" charset="-120"/>
              </a:rPr>
              <a:t>Five minutes, on paper</a:t>
            </a:r>
            <a:endParaRPr lang="en-US" sz="1400" dirty="0"/>
          </a:p>
        </p:txBody>
      </p:sp>
      <p:sp>
        <p:nvSpPr>
          <p:cNvPr id="8" name="Shape 6"/>
          <p:cNvSpPr/>
          <p:nvPr/>
        </p:nvSpPr>
        <p:spPr>
          <a:xfrm>
            <a:off x="502920" y="1234440"/>
            <a:ext cx="11155680" cy="3200400"/>
          </a:xfrm>
          <a:prstGeom prst="roundRect">
            <a:avLst>
              <a:gd name="adj" fmla="val 3429"/>
            </a:avLst>
          </a:prstGeom>
          <a:solidFill>
            <a:srgbClr val="FFFFFF"/>
          </a:solidFill>
          <a:ln w="15875">
            <a:solidFill>
              <a:srgbClr val="2D63FF"/>
            </a:solidFill>
            <a:prstDash val="solid"/>
          </a:ln>
        </p:spPr>
      </p:sp>
      <p:sp>
        <p:nvSpPr>
          <p:cNvPr id="9" name="Text 7"/>
          <p:cNvSpPr txBox="1"/>
          <p:nvPr/>
        </p:nvSpPr>
        <p:spPr>
          <a:xfrm>
            <a:off x="1005840" y="1645920"/>
            <a:ext cx="10149840" cy="2377440"/>
          </a:xfrm>
          <a:prstGeom prst="rect">
            <a:avLst/>
          </a:prstGeom>
          <a:noFill/>
          <a:ln/>
        </p:spPr>
        <p:txBody>
          <a:bodyPr wrap="square" lIns="0" tIns="0" rIns="0" bIns="0" rtlCol="0" anchor="ctr"/>
          <a:lstStyle/>
          <a:p>
            <a:pPr indent="0" marL="0">
              <a:lnSpc>
                <a:spcPct val="130000"/>
              </a:lnSpc>
              <a:buNone/>
            </a:pPr>
            <a:r>
              <a:rPr lang="en-US" sz="2600" dirty="0">
                <a:solidFill>
                  <a:srgbClr val="101828"/>
                </a:solidFill>
                <a:latin typeface="IBM Plex Sans" pitchFamily="34" charset="0"/>
                <a:ea typeface="IBM Plex Sans" pitchFamily="34" charset="-122"/>
                <a:cs typeface="IBM Plex Sans" pitchFamily="34" charset="-120"/>
              </a:rPr>
              <a:t>Think of the last device your household replaced. Where did the old one go, and what was it made from?</a:t>
            </a:r>
            <a:endParaRPr lang="en-US" sz="2600" dirty="0"/>
          </a:p>
        </p:txBody>
      </p:sp>
      <p:sp>
        <p:nvSpPr>
          <p:cNvPr id="10" name="Text 8"/>
          <p:cNvSpPr txBox="1"/>
          <p:nvPr/>
        </p:nvSpPr>
        <p:spPr>
          <a:xfrm>
            <a:off x="502920" y="4709160"/>
            <a:ext cx="11155680" cy="45720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No devices yet. Write your answer on the worksheet before anyone talks.</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1.6 Ethical, legal, cultural and environmental impacts  |  Lesson 5</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Into the experience</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Open Planet works on revise360.co.uk</a:t>
            </a:r>
            <a:endParaRPr lang="en-US" sz="1500" dirty="0"/>
          </a:p>
        </p:txBody>
      </p:sp>
      <p:sp>
        <p:nvSpPr>
          <p:cNvPr id="7" name="Shape 5"/>
          <p:cNvSpPr/>
          <p:nvPr/>
        </p:nvSpPr>
        <p:spPr>
          <a:xfrm>
            <a:off x="548640" y="1874520"/>
            <a:ext cx="566928" cy="566928"/>
          </a:xfrm>
          <a:prstGeom prst="ellipse">
            <a:avLst/>
          </a:prstGeom>
          <a:solidFill>
            <a:srgbClr val="08A6A6"/>
          </a:solidFill>
          <a:ln/>
        </p:spPr>
      </p:sp>
      <p:sp>
        <p:nvSpPr>
          <p:cNvPr id="8" name="Text 6"/>
          <p:cNvSpPr txBox="1"/>
          <p:nvPr/>
        </p:nvSpPr>
        <p:spPr>
          <a:xfrm>
            <a:off x="548640" y="187452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9" name="Text 7"/>
          <p:cNvSpPr txBox="1"/>
          <p:nvPr/>
        </p:nvSpPr>
        <p:spPr>
          <a:xfrm>
            <a:off x="1325880" y="1856232"/>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Look around</a:t>
            </a:r>
            <a:endParaRPr lang="en-US" sz="1700" dirty="0"/>
          </a:p>
        </p:txBody>
      </p:sp>
      <p:sp>
        <p:nvSpPr>
          <p:cNvPr id="10" name="Text 8"/>
          <p:cNvSpPr txBox="1"/>
          <p:nvPr/>
        </p:nvSpPr>
        <p:spPr>
          <a:xfrm>
            <a:off x="1325880" y="2148840"/>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Six numbered stations are arranged around you. Turn right for 1 and 2, around for 3 and 4, left for 5 and 6.</a:t>
            </a:r>
            <a:endParaRPr lang="en-US" sz="1400" dirty="0"/>
          </a:p>
        </p:txBody>
      </p:sp>
      <p:sp>
        <p:nvSpPr>
          <p:cNvPr id="11" name="Shape 9"/>
          <p:cNvSpPr/>
          <p:nvPr/>
        </p:nvSpPr>
        <p:spPr>
          <a:xfrm>
            <a:off x="548640" y="2898648"/>
            <a:ext cx="566928" cy="566928"/>
          </a:xfrm>
          <a:prstGeom prst="ellipse">
            <a:avLst/>
          </a:prstGeom>
          <a:solidFill>
            <a:srgbClr val="08A6A6"/>
          </a:solidFill>
          <a:ln/>
        </p:spPr>
      </p:sp>
      <p:sp>
        <p:nvSpPr>
          <p:cNvPr id="12" name="Text 10"/>
          <p:cNvSpPr txBox="1"/>
          <p:nvPr/>
        </p:nvSpPr>
        <p:spPr>
          <a:xfrm>
            <a:off x="548640" y="28986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13" name="Text 11"/>
          <p:cNvSpPr txBox="1"/>
          <p:nvPr/>
        </p:nvSpPr>
        <p:spPr>
          <a:xfrm>
            <a:off x="1325880" y="2880360"/>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Read, then write</a:t>
            </a:r>
            <a:endParaRPr lang="en-US" sz="1700" dirty="0"/>
          </a:p>
        </p:txBody>
      </p:sp>
      <p:sp>
        <p:nvSpPr>
          <p:cNvPr id="14" name="Text 12"/>
          <p:cNvSpPr txBox="1"/>
          <p:nvPr/>
        </p:nvSpPr>
        <p:spPr>
          <a:xfrm>
            <a:off x="1325880" y="3172968"/>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Read the wall, write the key fact and your answer to the challenge on the worksheet.</a:t>
            </a:r>
            <a:endParaRPr lang="en-US" sz="1400" dirty="0"/>
          </a:p>
        </p:txBody>
      </p:sp>
      <p:sp>
        <p:nvSpPr>
          <p:cNvPr id="15" name="Shape 13"/>
          <p:cNvSpPr/>
          <p:nvPr/>
        </p:nvSpPr>
        <p:spPr>
          <a:xfrm>
            <a:off x="548640" y="3922776"/>
            <a:ext cx="566928" cy="566928"/>
          </a:xfrm>
          <a:prstGeom prst="ellipse">
            <a:avLst/>
          </a:prstGeom>
          <a:solidFill>
            <a:srgbClr val="08A6A6"/>
          </a:solidFill>
          <a:ln/>
        </p:spPr>
      </p:sp>
      <p:sp>
        <p:nvSpPr>
          <p:cNvPr id="16" name="Text 14"/>
          <p:cNvSpPr txBox="1"/>
          <p:nvPr/>
        </p:nvSpPr>
        <p:spPr>
          <a:xfrm>
            <a:off x="548640" y="3922776"/>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17" name="Text 15"/>
          <p:cNvSpPr txBox="1"/>
          <p:nvPr/>
        </p:nvSpPr>
        <p:spPr>
          <a:xfrm>
            <a:off x="1325880" y="3904488"/>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Then tap the badge</a:t>
            </a:r>
            <a:endParaRPr lang="en-US" sz="1700" dirty="0"/>
          </a:p>
        </p:txBody>
      </p:sp>
      <p:sp>
        <p:nvSpPr>
          <p:cNvPr id="18" name="Text 16"/>
          <p:cNvSpPr txBox="1"/>
          <p:nvPr/>
        </p:nvSpPr>
        <p:spPr>
          <a:xfrm>
            <a:off x="1325880" y="4197096"/>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Only answer the questions once you have written. Your first answer is the one that counts.</a:t>
            </a:r>
            <a:endParaRPr lang="en-US" sz="1400" dirty="0"/>
          </a:p>
        </p:txBody>
      </p:sp>
      <p:sp>
        <p:nvSpPr>
          <p:cNvPr id="19" name="Shape 17"/>
          <p:cNvSpPr/>
          <p:nvPr/>
        </p:nvSpPr>
        <p:spPr>
          <a:xfrm>
            <a:off x="548640" y="4946904"/>
            <a:ext cx="566928" cy="566928"/>
          </a:xfrm>
          <a:prstGeom prst="ellipse">
            <a:avLst/>
          </a:prstGeom>
          <a:solidFill>
            <a:srgbClr val="F4B942"/>
          </a:solidFill>
          <a:ln/>
        </p:spPr>
      </p:sp>
      <p:sp>
        <p:nvSpPr>
          <p:cNvPr id="20" name="Text 18"/>
          <p:cNvSpPr txBox="1"/>
          <p:nvPr/>
        </p:nvSpPr>
        <p:spPr>
          <a:xfrm>
            <a:off x="548640" y="4946904"/>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4</a:t>
            </a:r>
            <a:endParaRPr lang="en-US" sz="2000" dirty="0"/>
          </a:p>
        </p:txBody>
      </p:sp>
      <p:sp>
        <p:nvSpPr>
          <p:cNvPr id="21" name="Text 19"/>
          <p:cNvSpPr txBox="1"/>
          <p:nvPr/>
        </p:nvSpPr>
        <p:spPr>
          <a:xfrm>
            <a:off x="1325880" y="4928616"/>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Look down at the end</a:t>
            </a:r>
            <a:endParaRPr lang="en-US" sz="1700" dirty="0"/>
          </a:p>
        </p:txBody>
      </p:sp>
      <p:sp>
        <p:nvSpPr>
          <p:cNvPr id="22" name="Text 20"/>
          <p:cNvSpPr txBox="1"/>
          <p:nvPr/>
        </p:nvSpPr>
        <p:spPr>
          <a:xfrm>
            <a:off x="1325880" y="5221224"/>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The starred final challenge is on the floor. Predict on paper first.</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1.6 Ethical, legal, cultural and environmental impacts  |  Lesson 5</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1</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Three stages</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Every device has an environmental cost at three stages: manufacture, use and disposal.</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For a phone, manufacture is usually the largest share by far.</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Judging a device on its running cost alone misses most of its impact.</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Name the three stages and give one impact at each.</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The three stages of impact are...</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1.6 Ethical, legal, cultural and environmental impacts  |  Lesson 5</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2</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Making it</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Devices need metals that are mined, including rare earth elements, gold, copper and lithium.</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Mining and refining use energy and water, and can pollute land and rivers.</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Some materials come from areas with poor working conditions or conflict.</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Explain why the materials in a phone raise ethical as well as environmental issues.</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Manufacturing costs the environment because...</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1.6 Ethical, legal, cultural and environmental impacts  |  Lesson 5</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3</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Using it</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Devices use electricity, and so do the networks and data centres behind them.</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Streaming, cloud storage and AI all move the energy cost from your device to a building somewhere else.</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Where the electricity comes from decides how much carbon that energy represents.</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Explain why watching a video 'uses no energy on your phone' is misleading.</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Using a device costs the environment because...</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1.6 Ethical, legal, cultural and environmental impacts  |  Lesson 5</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4</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4</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Throwing it away</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Electronic waste is the fastest growing waste stream in the world.</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Devices contain toxic materials: lead, mercury, cadmium. In landfill these leak into soil and water.</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Much e-waste is shipped abroad and stripped by hand, often in unsafe conditions.</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Explain why e-waste is an ethical issue as well as an environmental one.</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Disposal is a problem because...</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1.6 Ethical, legal, cultural and environmental impacts  |  Lesson 5</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5</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5</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Doing better</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Repair, reuse and upgrade extend a device's life, which is the biggest single saving.</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Proper recycling recovers metals so they need not be mined again.</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Designing for repair, and laws requiring spare parts, change what is possible.</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Suggest three things a school could do to cut the environmental impact of its computers.</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The impact can be reduced by...</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1.6 Ethical, legal, cultural and environmental impacts  |  Lesson 5</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6</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6</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Answering environmental questions</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Say which stage you mean: manufacture, use or disposal.</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Give the mechanism, not just the label: what is used, emitted or leaked, and why that matters.</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Where there is a trade-off, name it: recycling costs money, longer life means older technology.</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Plan a six-mark answer on a school replacing all its computers every three years.</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To answer an environmental question, I should...</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1.6 Ethical, legal, cultural and environmental impacts  |  Lesson 5</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Shape 3"/>
          <p:cNvSpPr/>
          <p:nvPr/>
        </p:nvSpPr>
        <p:spPr>
          <a:xfrm>
            <a:off x="502920" y="457200"/>
            <a:ext cx="1051560" cy="420624"/>
          </a:xfrm>
          <a:prstGeom prst="roundRect">
            <a:avLst>
              <a:gd name="adj" fmla="val 21739"/>
            </a:avLst>
          </a:prstGeom>
          <a:solidFill>
            <a:srgbClr val="F4B942"/>
          </a:solidFill>
          <a:ln/>
        </p:spPr>
      </p:sp>
      <p:sp>
        <p:nvSpPr>
          <p:cNvPr id="6" name="Text 4"/>
          <p:cNvSpPr txBox="1"/>
          <p:nvPr/>
        </p:nvSpPr>
        <p:spPr>
          <a:xfrm>
            <a:off x="502920" y="457200"/>
            <a:ext cx="1051560" cy="420624"/>
          </a:xfrm>
          <a:prstGeom prst="rect">
            <a:avLst/>
          </a:prstGeom>
          <a:noFill/>
          <a:ln/>
        </p:spPr>
        <p:txBody>
          <a:bodyPr wrap="square" lIns="0" tIns="0" rIns="0" bIns="0" rtlCol="0" anchor="ctr"/>
          <a:lstStyle/>
          <a:p>
            <a:pPr algn="ctr" indent="0" marL="0">
              <a:buNone/>
            </a:pPr>
            <a:r>
              <a:rPr lang="en-US" sz="1200" b="1" dirty="0">
                <a:solidFill>
                  <a:srgbClr val="101828"/>
                </a:solidFill>
                <a:latin typeface="IBM Plex Mono" pitchFamily="34" charset="0"/>
                <a:ea typeface="IBM Plex Mono" pitchFamily="34" charset="-122"/>
                <a:cs typeface="IBM Plex Mono" pitchFamily="34" charset="-120"/>
              </a:rPr>
              <a:t>CHECK</a:t>
            </a:r>
            <a:endParaRPr lang="en-US" sz="1200" dirty="0"/>
          </a:p>
        </p:txBody>
      </p:sp>
      <p:sp>
        <p:nvSpPr>
          <p:cNvPr id="7" name="Text 5"/>
          <p:cNvSpPr txBox="1"/>
          <p:nvPr/>
        </p:nvSpPr>
        <p:spPr>
          <a:xfrm>
            <a:off x="1737360" y="457200"/>
            <a:ext cx="9875520" cy="420624"/>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Hands down. Everyone commits.</a:t>
            </a:r>
            <a:endParaRPr lang="en-US" sz="1500" dirty="0"/>
          </a:p>
        </p:txBody>
      </p:sp>
      <p:sp>
        <p:nvSpPr>
          <p:cNvPr id="8" name="Text 6"/>
          <p:cNvSpPr txBox="1"/>
          <p:nvPr/>
        </p:nvSpPr>
        <p:spPr>
          <a:xfrm>
            <a:off x="502920" y="1097280"/>
            <a:ext cx="11155680" cy="914400"/>
          </a:xfrm>
          <a:prstGeom prst="rect">
            <a:avLst/>
          </a:prstGeom>
          <a:noFill/>
          <a:ln/>
        </p:spPr>
        <p:txBody>
          <a:bodyPr wrap="square" lIns="0" tIns="0" rIns="0" bIns="0" rtlCol="0" anchor="ctr"/>
          <a:lstStyle/>
          <a:p>
            <a:pPr indent="0" marL="0">
              <a:lnSpc>
                <a:spcPct val="115000"/>
              </a:lnSpc>
              <a:buNone/>
            </a:pPr>
            <a:r>
              <a:rPr lang="en-US" sz="2600" b="1" dirty="0">
                <a:solidFill>
                  <a:srgbClr val="101828"/>
                </a:solidFill>
                <a:latin typeface="IBM Plex Sans" pitchFamily="34" charset="0"/>
                <a:ea typeface="IBM Plex Sans" pitchFamily="34" charset="-122"/>
                <a:cs typeface="IBM Plex Sans" pitchFamily="34" charset="-120"/>
              </a:rPr>
              <a:t>Why is e-waste dangerous in landfill?</a:t>
            </a:r>
            <a:endParaRPr lang="en-US" sz="2600" dirty="0"/>
          </a:p>
        </p:txBody>
      </p:sp>
      <p:sp>
        <p:nvSpPr>
          <p:cNvPr id="9" name="Shape 7"/>
          <p:cNvSpPr/>
          <p:nvPr/>
        </p:nvSpPr>
        <p:spPr>
          <a:xfrm>
            <a:off x="502920" y="2148840"/>
            <a:ext cx="11155680" cy="731520"/>
          </a:xfrm>
          <a:prstGeom prst="roundRect">
            <a:avLst>
              <a:gd name="adj" fmla="val 15000"/>
            </a:avLst>
          </a:prstGeom>
          <a:solidFill>
            <a:srgbClr val="FFFFFF"/>
          </a:solidFill>
          <a:ln w="15875">
            <a:solidFill>
              <a:srgbClr val="D9DEE7"/>
            </a:solidFill>
            <a:prstDash val="solid"/>
          </a:ln>
        </p:spPr>
      </p:sp>
      <p:sp>
        <p:nvSpPr>
          <p:cNvPr id="10" name="Shape 8"/>
          <p:cNvSpPr/>
          <p:nvPr/>
        </p:nvSpPr>
        <p:spPr>
          <a:xfrm>
            <a:off x="777240" y="2295144"/>
            <a:ext cx="438912" cy="438912"/>
          </a:xfrm>
          <a:prstGeom prst="roundRect">
            <a:avLst>
              <a:gd name="adj" fmla="val 20833"/>
            </a:avLst>
          </a:prstGeom>
          <a:solidFill>
            <a:srgbClr val="EEF2FB"/>
          </a:solidFill>
          <a:ln/>
        </p:spPr>
      </p:sp>
      <p:sp>
        <p:nvSpPr>
          <p:cNvPr id="11" name="Text 9"/>
          <p:cNvSpPr txBox="1"/>
          <p:nvPr/>
        </p:nvSpPr>
        <p:spPr>
          <a:xfrm>
            <a:off x="777240" y="2295144"/>
            <a:ext cx="438912" cy="438912"/>
          </a:xfrm>
          <a:prstGeom prst="rect">
            <a:avLst/>
          </a:prstGeom>
          <a:noFill/>
          <a:ln/>
        </p:spPr>
        <p:txBody>
          <a:bodyPr wrap="square" lIns="0" tIns="0" rIns="0" bIns="0" rtlCol="0" anchor="ctr"/>
          <a:lstStyle/>
          <a:p>
            <a:pPr algn="ctr" indent="0" marL="0">
              <a:buNone/>
            </a:pPr>
            <a:r>
              <a:rPr lang="en-US" sz="1300" b="1" dirty="0">
                <a:solidFill>
                  <a:srgbClr val="2D63FF"/>
                </a:solidFill>
                <a:latin typeface="IBM Plex Mono" pitchFamily="34" charset="0"/>
                <a:ea typeface="IBM Plex Mono" pitchFamily="34" charset="-122"/>
                <a:cs typeface="IBM Plex Mono" pitchFamily="34" charset="-120"/>
              </a:rPr>
              <a:t>A</a:t>
            </a:r>
            <a:endParaRPr lang="en-US" sz="1300" dirty="0"/>
          </a:p>
        </p:txBody>
      </p:sp>
      <p:sp>
        <p:nvSpPr>
          <p:cNvPr id="12" name="Text 10"/>
          <p:cNvSpPr txBox="1"/>
          <p:nvPr/>
        </p:nvSpPr>
        <p:spPr>
          <a:xfrm>
            <a:off x="1417320" y="2148840"/>
            <a:ext cx="10058400" cy="731520"/>
          </a:xfrm>
          <a:prstGeom prst="rect">
            <a:avLst/>
          </a:prstGeom>
          <a:noFill/>
          <a:ln/>
        </p:spPr>
        <p:txBody>
          <a:bodyPr wrap="square" lIns="0" tIns="0" rIns="0" bIns="0" rtlCol="0" anchor="ctr"/>
          <a:lstStyle/>
          <a:p>
            <a:pPr indent="0" marL="0">
              <a:lnSpc>
                <a:spcPct val="115000"/>
              </a:lnSpc>
              <a:buNone/>
            </a:pPr>
            <a:r>
              <a:rPr lang="en-US" sz="1700" dirty="0">
                <a:solidFill>
                  <a:srgbClr val="101828"/>
                </a:solidFill>
                <a:latin typeface="IBM Plex Sans" pitchFamily="34" charset="0"/>
                <a:ea typeface="IBM Plex Sans" pitchFamily="34" charset="-122"/>
                <a:cs typeface="IBM Plex Sans" pitchFamily="34" charset="-120"/>
              </a:rPr>
              <a:t>It attracts wildlife</a:t>
            </a:r>
            <a:endParaRPr lang="en-US" sz="1700" dirty="0"/>
          </a:p>
        </p:txBody>
      </p:sp>
      <p:sp>
        <p:nvSpPr>
          <p:cNvPr id="13" name="Shape 11"/>
          <p:cNvSpPr/>
          <p:nvPr/>
        </p:nvSpPr>
        <p:spPr>
          <a:xfrm>
            <a:off x="502920" y="3017520"/>
            <a:ext cx="11155680" cy="731520"/>
          </a:xfrm>
          <a:prstGeom prst="roundRect">
            <a:avLst>
              <a:gd name="adj" fmla="val 15000"/>
            </a:avLst>
          </a:prstGeom>
          <a:solidFill>
            <a:srgbClr val="FFFFFF"/>
          </a:solidFill>
          <a:ln w="15875">
            <a:solidFill>
              <a:srgbClr val="D9DEE7"/>
            </a:solidFill>
            <a:prstDash val="solid"/>
          </a:ln>
        </p:spPr>
      </p:sp>
      <p:sp>
        <p:nvSpPr>
          <p:cNvPr id="14" name="Shape 12"/>
          <p:cNvSpPr/>
          <p:nvPr/>
        </p:nvSpPr>
        <p:spPr>
          <a:xfrm>
            <a:off x="777240" y="3163824"/>
            <a:ext cx="438912" cy="438912"/>
          </a:xfrm>
          <a:prstGeom prst="roundRect">
            <a:avLst>
              <a:gd name="adj" fmla="val 20833"/>
            </a:avLst>
          </a:prstGeom>
          <a:solidFill>
            <a:srgbClr val="EEF2FB"/>
          </a:solidFill>
          <a:ln/>
        </p:spPr>
      </p:sp>
      <p:sp>
        <p:nvSpPr>
          <p:cNvPr id="15" name="Text 13"/>
          <p:cNvSpPr txBox="1"/>
          <p:nvPr/>
        </p:nvSpPr>
        <p:spPr>
          <a:xfrm>
            <a:off x="777240" y="3163824"/>
            <a:ext cx="438912" cy="438912"/>
          </a:xfrm>
          <a:prstGeom prst="rect">
            <a:avLst/>
          </a:prstGeom>
          <a:noFill/>
          <a:ln/>
        </p:spPr>
        <p:txBody>
          <a:bodyPr wrap="square" lIns="0" tIns="0" rIns="0" bIns="0" rtlCol="0" anchor="ctr"/>
          <a:lstStyle/>
          <a:p>
            <a:pPr algn="ctr" indent="0" marL="0">
              <a:buNone/>
            </a:pPr>
            <a:r>
              <a:rPr lang="en-US" sz="1300" b="1" dirty="0">
                <a:solidFill>
                  <a:srgbClr val="2D63FF"/>
                </a:solidFill>
                <a:latin typeface="IBM Plex Mono" pitchFamily="34" charset="0"/>
                <a:ea typeface="IBM Plex Mono" pitchFamily="34" charset="-122"/>
                <a:cs typeface="IBM Plex Mono" pitchFamily="34" charset="-120"/>
              </a:rPr>
              <a:t>B</a:t>
            </a:r>
            <a:endParaRPr lang="en-US" sz="1300" dirty="0"/>
          </a:p>
        </p:txBody>
      </p:sp>
      <p:sp>
        <p:nvSpPr>
          <p:cNvPr id="16" name="Text 14"/>
          <p:cNvSpPr txBox="1"/>
          <p:nvPr/>
        </p:nvSpPr>
        <p:spPr>
          <a:xfrm>
            <a:off x="1417320" y="3017520"/>
            <a:ext cx="10058400" cy="731520"/>
          </a:xfrm>
          <a:prstGeom prst="rect">
            <a:avLst/>
          </a:prstGeom>
          <a:noFill/>
          <a:ln/>
        </p:spPr>
        <p:txBody>
          <a:bodyPr wrap="square" lIns="0" tIns="0" rIns="0" bIns="0" rtlCol="0" anchor="ctr"/>
          <a:lstStyle/>
          <a:p>
            <a:pPr indent="0" marL="0">
              <a:lnSpc>
                <a:spcPct val="115000"/>
              </a:lnSpc>
              <a:buNone/>
            </a:pPr>
            <a:r>
              <a:rPr lang="en-US" sz="1700" dirty="0">
                <a:solidFill>
                  <a:srgbClr val="101828"/>
                </a:solidFill>
                <a:latin typeface="IBM Plex Sans" pitchFamily="34" charset="0"/>
                <a:ea typeface="IBM Plex Sans" pitchFamily="34" charset="-122"/>
                <a:cs typeface="IBM Plex Sans" pitchFamily="34" charset="-120"/>
              </a:rPr>
              <a:t>It is flammable</a:t>
            </a:r>
            <a:endParaRPr lang="en-US" sz="1700" dirty="0"/>
          </a:p>
        </p:txBody>
      </p:sp>
      <p:sp>
        <p:nvSpPr>
          <p:cNvPr id="17" name="Shape 15"/>
          <p:cNvSpPr/>
          <p:nvPr/>
        </p:nvSpPr>
        <p:spPr>
          <a:xfrm>
            <a:off x="502920" y="3886200"/>
            <a:ext cx="11155680" cy="731520"/>
          </a:xfrm>
          <a:prstGeom prst="roundRect">
            <a:avLst>
              <a:gd name="adj" fmla="val 15000"/>
            </a:avLst>
          </a:prstGeom>
          <a:solidFill>
            <a:srgbClr val="FFFFFF"/>
          </a:solidFill>
          <a:ln w="15875">
            <a:solidFill>
              <a:srgbClr val="D9DEE7"/>
            </a:solidFill>
            <a:prstDash val="solid"/>
          </a:ln>
        </p:spPr>
      </p:sp>
      <p:sp>
        <p:nvSpPr>
          <p:cNvPr id="18" name="Shape 16"/>
          <p:cNvSpPr/>
          <p:nvPr/>
        </p:nvSpPr>
        <p:spPr>
          <a:xfrm>
            <a:off x="777240" y="4032504"/>
            <a:ext cx="438912" cy="438912"/>
          </a:xfrm>
          <a:prstGeom prst="roundRect">
            <a:avLst>
              <a:gd name="adj" fmla="val 20833"/>
            </a:avLst>
          </a:prstGeom>
          <a:solidFill>
            <a:srgbClr val="EEF2FB"/>
          </a:solidFill>
          <a:ln/>
        </p:spPr>
      </p:sp>
      <p:sp>
        <p:nvSpPr>
          <p:cNvPr id="19" name="Text 17"/>
          <p:cNvSpPr txBox="1"/>
          <p:nvPr/>
        </p:nvSpPr>
        <p:spPr>
          <a:xfrm>
            <a:off x="777240" y="4032504"/>
            <a:ext cx="438912" cy="438912"/>
          </a:xfrm>
          <a:prstGeom prst="rect">
            <a:avLst/>
          </a:prstGeom>
          <a:noFill/>
          <a:ln/>
        </p:spPr>
        <p:txBody>
          <a:bodyPr wrap="square" lIns="0" tIns="0" rIns="0" bIns="0" rtlCol="0" anchor="ctr"/>
          <a:lstStyle/>
          <a:p>
            <a:pPr algn="ctr" indent="0" marL="0">
              <a:buNone/>
            </a:pPr>
            <a:r>
              <a:rPr lang="en-US" sz="1300" b="1" dirty="0">
                <a:solidFill>
                  <a:srgbClr val="2D63FF"/>
                </a:solidFill>
                <a:latin typeface="IBM Plex Mono" pitchFamily="34" charset="0"/>
                <a:ea typeface="IBM Plex Mono" pitchFamily="34" charset="-122"/>
                <a:cs typeface="IBM Plex Mono" pitchFamily="34" charset="-120"/>
              </a:rPr>
              <a:t>C</a:t>
            </a:r>
            <a:endParaRPr lang="en-US" sz="1300" dirty="0"/>
          </a:p>
        </p:txBody>
      </p:sp>
      <p:sp>
        <p:nvSpPr>
          <p:cNvPr id="20" name="Text 18"/>
          <p:cNvSpPr txBox="1"/>
          <p:nvPr/>
        </p:nvSpPr>
        <p:spPr>
          <a:xfrm>
            <a:off x="1417320" y="3886200"/>
            <a:ext cx="10058400" cy="731520"/>
          </a:xfrm>
          <a:prstGeom prst="rect">
            <a:avLst/>
          </a:prstGeom>
          <a:noFill/>
          <a:ln/>
        </p:spPr>
        <p:txBody>
          <a:bodyPr wrap="square" lIns="0" tIns="0" rIns="0" bIns="0" rtlCol="0" anchor="ctr"/>
          <a:lstStyle/>
          <a:p>
            <a:pPr indent="0" marL="0">
              <a:lnSpc>
                <a:spcPct val="115000"/>
              </a:lnSpc>
              <a:buNone/>
            </a:pPr>
            <a:r>
              <a:rPr lang="en-US" sz="1700" dirty="0">
                <a:solidFill>
                  <a:srgbClr val="101828"/>
                </a:solidFill>
                <a:latin typeface="IBM Plex Sans" pitchFamily="34" charset="0"/>
                <a:ea typeface="IBM Plex Sans" pitchFamily="34" charset="-122"/>
                <a:cs typeface="IBM Plex Sans" pitchFamily="34" charset="-120"/>
              </a:rPr>
              <a:t>Toxic metals such as lead and mercury leak into soil and water</a:t>
            </a:r>
            <a:endParaRPr lang="en-US" sz="1700" dirty="0"/>
          </a:p>
        </p:txBody>
      </p:sp>
      <p:sp>
        <p:nvSpPr>
          <p:cNvPr id="21" name="Shape 19"/>
          <p:cNvSpPr/>
          <p:nvPr/>
        </p:nvSpPr>
        <p:spPr>
          <a:xfrm>
            <a:off x="502920" y="4754880"/>
            <a:ext cx="11155680" cy="731520"/>
          </a:xfrm>
          <a:prstGeom prst="roundRect">
            <a:avLst>
              <a:gd name="adj" fmla="val 15000"/>
            </a:avLst>
          </a:prstGeom>
          <a:solidFill>
            <a:srgbClr val="FFFFFF"/>
          </a:solidFill>
          <a:ln w="15875">
            <a:solidFill>
              <a:srgbClr val="D9DEE7"/>
            </a:solidFill>
            <a:prstDash val="solid"/>
          </a:ln>
        </p:spPr>
      </p:sp>
      <p:sp>
        <p:nvSpPr>
          <p:cNvPr id="22" name="Shape 20"/>
          <p:cNvSpPr/>
          <p:nvPr/>
        </p:nvSpPr>
        <p:spPr>
          <a:xfrm>
            <a:off x="777240" y="4901184"/>
            <a:ext cx="438912" cy="438912"/>
          </a:xfrm>
          <a:prstGeom prst="roundRect">
            <a:avLst>
              <a:gd name="adj" fmla="val 20833"/>
            </a:avLst>
          </a:prstGeom>
          <a:solidFill>
            <a:srgbClr val="EEF2FB"/>
          </a:solidFill>
          <a:ln/>
        </p:spPr>
      </p:sp>
      <p:sp>
        <p:nvSpPr>
          <p:cNvPr id="23" name="Text 21"/>
          <p:cNvSpPr txBox="1"/>
          <p:nvPr/>
        </p:nvSpPr>
        <p:spPr>
          <a:xfrm>
            <a:off x="777240" y="4901184"/>
            <a:ext cx="438912" cy="438912"/>
          </a:xfrm>
          <a:prstGeom prst="rect">
            <a:avLst/>
          </a:prstGeom>
          <a:noFill/>
          <a:ln/>
        </p:spPr>
        <p:txBody>
          <a:bodyPr wrap="square" lIns="0" tIns="0" rIns="0" bIns="0" rtlCol="0" anchor="ctr"/>
          <a:lstStyle/>
          <a:p>
            <a:pPr algn="ctr" indent="0" marL="0">
              <a:buNone/>
            </a:pPr>
            <a:r>
              <a:rPr lang="en-US" sz="1300" b="1" dirty="0">
                <a:solidFill>
                  <a:srgbClr val="2D63FF"/>
                </a:solidFill>
                <a:latin typeface="IBM Plex Mono" pitchFamily="34" charset="0"/>
                <a:ea typeface="IBM Plex Mono" pitchFamily="34" charset="-122"/>
                <a:cs typeface="IBM Plex Mono" pitchFamily="34" charset="-120"/>
              </a:rPr>
              <a:t>D</a:t>
            </a:r>
            <a:endParaRPr lang="en-US" sz="1300" dirty="0"/>
          </a:p>
        </p:txBody>
      </p:sp>
      <p:sp>
        <p:nvSpPr>
          <p:cNvPr id="24" name="Text 22"/>
          <p:cNvSpPr txBox="1"/>
          <p:nvPr/>
        </p:nvSpPr>
        <p:spPr>
          <a:xfrm>
            <a:off x="1417320" y="4754880"/>
            <a:ext cx="10058400" cy="731520"/>
          </a:xfrm>
          <a:prstGeom prst="rect">
            <a:avLst/>
          </a:prstGeom>
          <a:noFill/>
          <a:ln/>
        </p:spPr>
        <p:txBody>
          <a:bodyPr wrap="square" lIns="0" tIns="0" rIns="0" bIns="0" rtlCol="0" anchor="ctr"/>
          <a:lstStyle/>
          <a:p>
            <a:pPr indent="0" marL="0">
              <a:lnSpc>
                <a:spcPct val="115000"/>
              </a:lnSpc>
              <a:buNone/>
            </a:pPr>
            <a:r>
              <a:rPr lang="en-US" sz="1700" dirty="0">
                <a:solidFill>
                  <a:srgbClr val="101828"/>
                </a:solidFill>
                <a:latin typeface="IBM Plex Sans" pitchFamily="34" charset="0"/>
                <a:ea typeface="IBM Plex Sans" pitchFamily="34" charset="-122"/>
                <a:cs typeface="IBM Plex Sans" pitchFamily="34" charset="-120"/>
              </a:rPr>
              <a:t>It takes up space</a:t>
            </a:r>
            <a:endParaRPr lang="en-US" sz="1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1.6 Ethical, legal, cultural and environmental impacts  |  Lesson 5</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Shape 3"/>
          <p:cNvSpPr/>
          <p:nvPr/>
        </p:nvSpPr>
        <p:spPr>
          <a:xfrm>
            <a:off x="502920" y="438912"/>
            <a:ext cx="3108960" cy="502920"/>
          </a:xfrm>
          <a:prstGeom prst="roundRect">
            <a:avLst>
              <a:gd name="adj" fmla="val 18182"/>
            </a:avLst>
          </a:prstGeom>
          <a:solidFill>
            <a:srgbClr val="F4B942"/>
          </a:solidFill>
          <a:ln/>
        </p:spPr>
      </p:sp>
      <p:sp>
        <p:nvSpPr>
          <p:cNvPr id="6" name="Text 4"/>
          <p:cNvSpPr txBox="1"/>
          <p:nvPr/>
        </p:nvSpPr>
        <p:spPr>
          <a:xfrm>
            <a:off x="502920" y="438912"/>
            <a:ext cx="3108960" cy="502920"/>
          </a:xfrm>
          <a:prstGeom prst="rect">
            <a:avLst/>
          </a:prstGeom>
          <a:noFill/>
          <a:ln/>
        </p:spPr>
        <p:txBody>
          <a:bodyPr wrap="square" lIns="0" tIns="0" rIns="0" bIns="0" rtlCol="0" anchor="ctr"/>
          <a:lstStyle/>
          <a:p>
            <a:pPr algn="ctr" indent="0" marL="0">
              <a:buNone/>
            </a:pPr>
            <a:r>
              <a:rPr lang="en-US" sz="1300" b="1" dirty="0">
                <a:solidFill>
                  <a:srgbClr val="101828"/>
                </a:solidFill>
                <a:latin typeface="IBM Plex Mono" pitchFamily="34" charset="0"/>
                <a:ea typeface="IBM Plex Mono" pitchFamily="34" charset="-122"/>
                <a:cs typeface="IBM Plex Mono" pitchFamily="34" charset="-120"/>
              </a:rPr>
              <a:t>★  FINAL CHALLENGE</a:t>
            </a:r>
            <a:endParaRPr lang="en-US" sz="1300" dirty="0"/>
          </a:p>
        </p:txBody>
      </p:sp>
      <p:sp>
        <p:nvSpPr>
          <p:cNvPr id="7" name="Text 5"/>
          <p:cNvSpPr txBox="1"/>
          <p:nvPr/>
        </p:nvSpPr>
        <p:spPr>
          <a:xfrm>
            <a:off x="502920" y="1097280"/>
            <a:ext cx="11155680" cy="731520"/>
          </a:xfrm>
          <a:prstGeom prst="rect">
            <a:avLst/>
          </a:prstGeom>
          <a:noFill/>
          <a:ln/>
        </p:spPr>
        <p:txBody>
          <a:bodyPr wrap="square" lIns="0" tIns="0" rIns="0" bIns="0" rtlCol="0" anchor="ctr"/>
          <a:lstStyle/>
          <a:p>
            <a:pPr indent="0" marL="0">
              <a:buNone/>
            </a:pPr>
            <a:r>
              <a:rPr lang="en-US" sz="3400" b="1" dirty="0">
                <a:solidFill>
                  <a:srgbClr val="101828"/>
                </a:solidFill>
                <a:latin typeface="IBM Plex Sans" pitchFamily="34" charset="0"/>
                <a:ea typeface="IBM Plex Sans" pitchFamily="34" charset="-122"/>
                <a:cs typeface="IBM Plex Sans" pitchFamily="34" charset="-120"/>
              </a:rPr>
              <a:t>The whole life</a:t>
            </a:r>
            <a:endParaRPr lang="en-US" sz="3400" dirty="0"/>
          </a:p>
        </p:txBody>
      </p:sp>
      <p:sp>
        <p:nvSpPr>
          <p:cNvPr id="8" name="Shape 6"/>
          <p:cNvSpPr/>
          <p:nvPr/>
        </p:nvSpPr>
        <p:spPr>
          <a:xfrm>
            <a:off x="502920" y="2011680"/>
            <a:ext cx="11155680" cy="2194560"/>
          </a:xfrm>
          <a:prstGeom prst="roundRect">
            <a:avLst>
              <a:gd name="adj" fmla="val 5000"/>
            </a:avLst>
          </a:prstGeom>
          <a:solidFill>
            <a:srgbClr val="FFFFFF"/>
          </a:solidFill>
          <a:ln w="15875">
            <a:solidFill>
              <a:srgbClr val="2D63FF"/>
            </a:solidFill>
            <a:prstDash val="solid"/>
          </a:ln>
        </p:spPr>
      </p:sp>
      <p:sp>
        <p:nvSpPr>
          <p:cNvPr id="9" name="Text 7"/>
          <p:cNvSpPr txBox="1"/>
          <p:nvPr/>
        </p:nvSpPr>
        <p:spPr>
          <a:xfrm>
            <a:off x="1005840" y="2331720"/>
            <a:ext cx="10149840" cy="1554480"/>
          </a:xfrm>
          <a:prstGeom prst="rect">
            <a:avLst/>
          </a:prstGeom>
          <a:noFill/>
          <a:ln/>
        </p:spPr>
        <p:txBody>
          <a:bodyPr wrap="square" lIns="0" tIns="0" rIns="0" bIns="0" rtlCol="0" anchor="ctr"/>
          <a:lstStyle/>
          <a:p>
            <a:pPr indent="0" marL="0">
              <a:lnSpc>
                <a:spcPct val="130000"/>
              </a:lnSpc>
              <a:buNone/>
            </a:pPr>
            <a:r>
              <a:rPr lang="en-US" sz="2200" dirty="0">
                <a:solidFill>
                  <a:srgbClr val="101828"/>
                </a:solidFill>
                <a:latin typeface="IBM Plex Sans" pitchFamily="34" charset="0"/>
                <a:ea typeface="IBM Plex Sans" pitchFamily="34" charset="-122"/>
                <a:cs typeface="IBM Plex Sans" pitchFamily="34" charset="-120"/>
              </a:rPr>
              <a:t>Nine impacts from a device's life. Tap the star and sort each into the stage it belongs to.</a:t>
            </a:r>
            <a:endParaRPr lang="en-US" sz="2200" dirty="0"/>
          </a:p>
        </p:txBody>
      </p:sp>
      <p:sp>
        <p:nvSpPr>
          <p:cNvPr id="10" name="Text 8"/>
          <p:cNvSpPr txBox="1"/>
          <p:nvPr/>
        </p:nvSpPr>
        <p:spPr>
          <a:xfrm>
            <a:off x="502920" y="4526280"/>
            <a:ext cx="11155680" cy="457200"/>
          </a:xfrm>
          <a:prstGeom prst="rect">
            <a:avLst/>
          </a:prstGeom>
          <a:noFill/>
          <a:ln/>
        </p:spPr>
        <p:txBody>
          <a:bodyPr wrap="square" lIns="0" tIns="0" rIns="0" bIns="0" rtlCol="0" anchor="ctr"/>
          <a:lstStyle/>
          <a:p>
            <a:pPr indent="0" marL="0">
              <a:buNone/>
            </a:pPr>
            <a:r>
              <a:rPr lang="en-US" sz="1600" dirty="0">
                <a:solidFill>
                  <a:srgbClr val="667085"/>
                </a:solidFill>
                <a:latin typeface="IBM Plex Sans" pitchFamily="34" charset="0"/>
                <a:ea typeface="IBM Plex Sans" pitchFamily="34" charset="-122"/>
                <a:cs typeface="IBM Plex Sans" pitchFamily="34" charset="-120"/>
              </a:rPr>
              <a:t>Predict on paper first, then look down and test it.</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1.6 Ethical, legal, cultural and environmental impacts  |  Lesson 5</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Worth knowing</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The information markers dotted around the room</a:t>
            </a:r>
            <a:endParaRPr lang="en-US" sz="1500" dirty="0"/>
          </a:p>
        </p:txBody>
      </p:sp>
      <p:sp>
        <p:nvSpPr>
          <p:cNvPr id="7" name="Shape 5"/>
          <p:cNvSpPr/>
          <p:nvPr/>
        </p:nvSpPr>
        <p:spPr>
          <a:xfrm>
            <a:off x="502920" y="1828800"/>
            <a:ext cx="5394960" cy="1737360"/>
          </a:xfrm>
          <a:prstGeom prst="roundRect">
            <a:avLst>
              <a:gd name="adj" fmla="val 6316"/>
            </a:avLst>
          </a:prstGeom>
          <a:solidFill>
            <a:srgbClr val="FFFFFF"/>
          </a:solidFill>
          <a:ln w="15875">
            <a:solidFill>
              <a:srgbClr val="2D63FF"/>
            </a:solidFill>
            <a:prstDash val="solid"/>
          </a:ln>
        </p:spPr>
      </p:sp>
      <p:sp>
        <p:nvSpPr>
          <p:cNvPr id="8" name="Text 6"/>
          <p:cNvSpPr txBox="1"/>
          <p:nvPr/>
        </p:nvSpPr>
        <p:spPr>
          <a:xfrm>
            <a:off x="822960" y="2011680"/>
            <a:ext cx="4754880" cy="36576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Most of it is made, not used</a:t>
            </a:r>
            <a:endParaRPr lang="en-US" sz="1600" dirty="0"/>
          </a:p>
        </p:txBody>
      </p:sp>
      <p:sp>
        <p:nvSpPr>
          <p:cNvPr id="9" name="Text 7"/>
          <p:cNvSpPr txBox="1"/>
          <p:nvPr/>
        </p:nvSpPr>
        <p:spPr>
          <a:xfrm>
            <a:off x="822960" y="239572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For a typical smartphone, manufacturing accounts for roughly three quarters of its lifetime carbon.</a:t>
            </a:r>
            <a:endParaRPr lang="en-US" sz="1300" dirty="0"/>
          </a:p>
        </p:txBody>
      </p:sp>
      <p:sp>
        <p:nvSpPr>
          <p:cNvPr id="10" name="Shape 8"/>
          <p:cNvSpPr/>
          <p:nvPr/>
        </p:nvSpPr>
        <p:spPr>
          <a:xfrm>
            <a:off x="6217920" y="1828800"/>
            <a:ext cx="5394960" cy="1737360"/>
          </a:xfrm>
          <a:prstGeom prst="roundRect">
            <a:avLst>
              <a:gd name="adj" fmla="val 6316"/>
            </a:avLst>
          </a:prstGeom>
          <a:solidFill>
            <a:srgbClr val="FFFFFF"/>
          </a:solidFill>
          <a:ln w="15875">
            <a:solidFill>
              <a:srgbClr val="08A6A6"/>
            </a:solidFill>
            <a:prstDash val="solid"/>
          </a:ln>
        </p:spPr>
      </p:sp>
      <p:sp>
        <p:nvSpPr>
          <p:cNvPr id="11" name="Text 9"/>
          <p:cNvSpPr txBox="1"/>
          <p:nvPr/>
        </p:nvSpPr>
        <p:spPr>
          <a:xfrm>
            <a:off x="6537960" y="2011680"/>
            <a:ext cx="4754880" cy="365760"/>
          </a:xfrm>
          <a:prstGeom prst="rect">
            <a:avLst/>
          </a:prstGeom>
          <a:noFill/>
          <a:ln/>
        </p:spPr>
        <p:txBody>
          <a:bodyPr wrap="square" lIns="0" tIns="0" rIns="0" bIns="0" rtlCol="0" anchor="ctr"/>
          <a:lstStyle/>
          <a:p>
            <a:pPr indent="0" marL="0">
              <a:buNone/>
            </a:pPr>
            <a:r>
              <a:rPr lang="en-US" sz="1600" b="1" dirty="0">
                <a:solidFill>
                  <a:srgbClr val="08A6A6"/>
                </a:solidFill>
                <a:latin typeface="IBM Plex Sans" pitchFamily="34" charset="0"/>
                <a:ea typeface="IBM Plex Sans" pitchFamily="34" charset="-122"/>
                <a:cs typeface="IBM Plex Sans" pitchFamily="34" charset="-120"/>
              </a:rPr>
              <a:t>Gold in the bin</a:t>
            </a:r>
            <a:endParaRPr lang="en-US" sz="1600" dirty="0"/>
          </a:p>
        </p:txBody>
      </p:sp>
      <p:sp>
        <p:nvSpPr>
          <p:cNvPr id="12" name="Text 10"/>
          <p:cNvSpPr txBox="1"/>
          <p:nvPr/>
        </p:nvSpPr>
        <p:spPr>
          <a:xfrm>
            <a:off x="6537960" y="239572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A tonne of discarded phones contains far more gold than a tonne of ore from a mine, which is why recycling them properly is worth doing.</a:t>
            </a:r>
            <a:endParaRPr lang="en-US" sz="1300" dirty="0"/>
          </a:p>
        </p:txBody>
      </p:sp>
      <p:sp>
        <p:nvSpPr>
          <p:cNvPr id="13" name="Shape 11"/>
          <p:cNvSpPr/>
          <p:nvPr/>
        </p:nvSpPr>
        <p:spPr>
          <a:xfrm>
            <a:off x="502920" y="3794760"/>
            <a:ext cx="5394960" cy="1737360"/>
          </a:xfrm>
          <a:prstGeom prst="roundRect">
            <a:avLst>
              <a:gd name="adj" fmla="val 6316"/>
            </a:avLst>
          </a:prstGeom>
          <a:solidFill>
            <a:srgbClr val="FFFFFF"/>
          </a:solidFill>
          <a:ln w="15875">
            <a:solidFill>
              <a:srgbClr val="2D63FF"/>
            </a:solidFill>
            <a:prstDash val="solid"/>
          </a:ln>
        </p:spPr>
      </p:sp>
      <p:sp>
        <p:nvSpPr>
          <p:cNvPr id="14" name="Text 12"/>
          <p:cNvSpPr txBox="1"/>
          <p:nvPr/>
        </p:nvSpPr>
        <p:spPr>
          <a:xfrm>
            <a:off x="822960" y="3977640"/>
            <a:ext cx="4754880" cy="36576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Right to repair</a:t>
            </a:r>
            <a:endParaRPr lang="en-US" sz="1600" dirty="0"/>
          </a:p>
        </p:txBody>
      </p:sp>
      <p:sp>
        <p:nvSpPr>
          <p:cNvPr id="15" name="Text 13"/>
          <p:cNvSpPr txBox="1"/>
          <p:nvPr/>
        </p:nvSpPr>
        <p:spPr>
          <a:xfrm>
            <a:off x="822960" y="436168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Rules now require manufacturers of some products to supply spare parts for several years, driven exactly by the argument in this lesson.</a:t>
            </a:r>
            <a:endParaRPr lang="en-US" sz="1300" dirty="0"/>
          </a:p>
        </p:txBody>
      </p:sp>
      <p:sp>
        <p:nvSpPr>
          <p:cNvPr id="16" name="Shape 14"/>
          <p:cNvSpPr/>
          <p:nvPr/>
        </p:nvSpPr>
        <p:spPr>
          <a:xfrm>
            <a:off x="6217920" y="3794760"/>
            <a:ext cx="5394960" cy="1737360"/>
          </a:xfrm>
          <a:prstGeom prst="roundRect">
            <a:avLst>
              <a:gd name="adj" fmla="val 6316"/>
            </a:avLst>
          </a:prstGeom>
          <a:solidFill>
            <a:srgbClr val="FFFFFF"/>
          </a:solidFill>
          <a:ln w="15875">
            <a:solidFill>
              <a:srgbClr val="08A6A6"/>
            </a:solidFill>
            <a:prstDash val="solid"/>
          </a:ln>
        </p:spPr>
      </p:sp>
      <p:sp>
        <p:nvSpPr>
          <p:cNvPr id="17" name="Text 15"/>
          <p:cNvSpPr txBox="1"/>
          <p:nvPr/>
        </p:nvSpPr>
        <p:spPr>
          <a:xfrm>
            <a:off x="6537960" y="3977640"/>
            <a:ext cx="4754880" cy="365760"/>
          </a:xfrm>
          <a:prstGeom prst="rect">
            <a:avLst/>
          </a:prstGeom>
          <a:noFill/>
          <a:ln/>
        </p:spPr>
        <p:txBody>
          <a:bodyPr wrap="square" lIns="0" tIns="0" rIns="0" bIns="0" rtlCol="0" anchor="ctr"/>
          <a:lstStyle/>
          <a:p>
            <a:pPr indent="0" marL="0">
              <a:buNone/>
            </a:pPr>
            <a:r>
              <a:rPr lang="en-US" sz="1600" b="1" dirty="0">
                <a:solidFill>
                  <a:srgbClr val="08A6A6"/>
                </a:solidFill>
                <a:latin typeface="IBM Plex Sans" pitchFamily="34" charset="0"/>
                <a:ea typeface="IBM Plex Sans" pitchFamily="34" charset="-122"/>
                <a:cs typeface="IBM Plex Sans" pitchFamily="34" charset="-120"/>
              </a:rPr>
              <a:t>Data centre thirst</a:t>
            </a:r>
            <a:endParaRPr lang="en-US" sz="1600" dirty="0"/>
          </a:p>
        </p:txBody>
      </p:sp>
      <p:sp>
        <p:nvSpPr>
          <p:cNvPr id="18" name="Text 16"/>
          <p:cNvSpPr txBox="1"/>
          <p:nvPr/>
        </p:nvSpPr>
        <p:spPr>
          <a:xfrm>
            <a:off x="6537960" y="436168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Large data centres use water as well as electricity for cooling, which has become contentious in dry regions.</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1.6 Ethical, legal, cultural and environmental impacts  |  Lesson 5</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Exam practice</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Devices away. Answer from memory on the worksheet.</a:t>
            </a:r>
            <a:endParaRPr lang="en-US" sz="1500" dirty="0"/>
          </a:p>
        </p:txBody>
      </p:sp>
      <p:sp>
        <p:nvSpPr>
          <p:cNvPr id="7" name="Shape 5"/>
          <p:cNvSpPr/>
          <p:nvPr/>
        </p:nvSpPr>
        <p:spPr>
          <a:xfrm>
            <a:off x="502920" y="1828800"/>
            <a:ext cx="11155680" cy="1097280"/>
          </a:xfrm>
          <a:prstGeom prst="roundRect">
            <a:avLst>
              <a:gd name="adj" fmla="val 10000"/>
            </a:avLst>
          </a:prstGeom>
          <a:solidFill>
            <a:srgbClr val="FFFFFF"/>
          </a:solidFill>
          <a:ln w="15875">
            <a:solidFill>
              <a:srgbClr val="D9DEE7"/>
            </a:solidFill>
            <a:prstDash val="solid"/>
          </a:ln>
        </p:spPr>
      </p:sp>
      <p:sp>
        <p:nvSpPr>
          <p:cNvPr id="8" name="Text 6"/>
          <p:cNvSpPr txBox="1"/>
          <p:nvPr/>
        </p:nvSpPr>
        <p:spPr>
          <a:xfrm>
            <a:off x="914400" y="1938528"/>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State two environmental impacts of manufacturing a computer.</a:t>
            </a:r>
            <a:endParaRPr lang="en-US" sz="1700" dirty="0"/>
          </a:p>
        </p:txBody>
      </p:sp>
      <p:sp>
        <p:nvSpPr>
          <p:cNvPr id="9" name="Shape 7"/>
          <p:cNvSpPr/>
          <p:nvPr/>
        </p:nvSpPr>
        <p:spPr>
          <a:xfrm>
            <a:off x="10515600" y="2130552"/>
            <a:ext cx="868680" cy="493776"/>
          </a:xfrm>
          <a:prstGeom prst="roundRect">
            <a:avLst>
              <a:gd name="adj" fmla="val 18519"/>
            </a:avLst>
          </a:prstGeom>
          <a:solidFill>
            <a:srgbClr val="EEF2FB"/>
          </a:solidFill>
          <a:ln/>
        </p:spPr>
      </p:sp>
      <p:sp>
        <p:nvSpPr>
          <p:cNvPr id="10" name="Text 8"/>
          <p:cNvSpPr txBox="1"/>
          <p:nvPr/>
        </p:nvSpPr>
        <p:spPr>
          <a:xfrm>
            <a:off x="10515600" y="2130552"/>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[2]</a:t>
            </a:r>
            <a:endParaRPr lang="en-US" sz="1500" dirty="0"/>
          </a:p>
        </p:txBody>
      </p:sp>
      <p:sp>
        <p:nvSpPr>
          <p:cNvPr id="11" name="Shape 9"/>
          <p:cNvSpPr/>
          <p:nvPr/>
        </p:nvSpPr>
        <p:spPr>
          <a:xfrm>
            <a:off x="502920" y="3127248"/>
            <a:ext cx="11155680" cy="1097280"/>
          </a:xfrm>
          <a:prstGeom prst="roundRect">
            <a:avLst>
              <a:gd name="adj" fmla="val 10000"/>
            </a:avLst>
          </a:prstGeom>
          <a:solidFill>
            <a:srgbClr val="FFFFFF"/>
          </a:solidFill>
          <a:ln w="15875">
            <a:solidFill>
              <a:srgbClr val="D9DEE7"/>
            </a:solidFill>
            <a:prstDash val="solid"/>
          </a:ln>
        </p:spPr>
      </p:sp>
      <p:sp>
        <p:nvSpPr>
          <p:cNvPr id="12" name="Text 10"/>
          <p:cNvSpPr txBox="1"/>
          <p:nvPr/>
        </p:nvSpPr>
        <p:spPr>
          <a:xfrm>
            <a:off x="914400" y="3236976"/>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Explain why electronic waste is a problem when sent to landfill.</a:t>
            </a:r>
            <a:endParaRPr lang="en-US" sz="1700" dirty="0"/>
          </a:p>
        </p:txBody>
      </p:sp>
      <p:sp>
        <p:nvSpPr>
          <p:cNvPr id="13" name="Shape 11"/>
          <p:cNvSpPr/>
          <p:nvPr/>
        </p:nvSpPr>
        <p:spPr>
          <a:xfrm>
            <a:off x="10515600" y="3429000"/>
            <a:ext cx="868680" cy="493776"/>
          </a:xfrm>
          <a:prstGeom prst="roundRect">
            <a:avLst>
              <a:gd name="adj" fmla="val 18519"/>
            </a:avLst>
          </a:prstGeom>
          <a:solidFill>
            <a:srgbClr val="EEF2FB"/>
          </a:solidFill>
          <a:ln/>
        </p:spPr>
      </p:sp>
      <p:sp>
        <p:nvSpPr>
          <p:cNvPr id="14" name="Text 12"/>
          <p:cNvSpPr txBox="1"/>
          <p:nvPr/>
        </p:nvSpPr>
        <p:spPr>
          <a:xfrm>
            <a:off x="10515600" y="3429000"/>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[3]</a:t>
            </a:r>
            <a:endParaRPr lang="en-US" sz="1500" dirty="0"/>
          </a:p>
        </p:txBody>
      </p:sp>
      <p:sp>
        <p:nvSpPr>
          <p:cNvPr id="15" name="Shape 13"/>
          <p:cNvSpPr/>
          <p:nvPr/>
        </p:nvSpPr>
        <p:spPr>
          <a:xfrm>
            <a:off x="502920" y="4425696"/>
            <a:ext cx="11155680" cy="1097280"/>
          </a:xfrm>
          <a:prstGeom prst="roundRect">
            <a:avLst>
              <a:gd name="adj" fmla="val 10000"/>
            </a:avLst>
          </a:prstGeom>
          <a:solidFill>
            <a:srgbClr val="FFFFFF"/>
          </a:solidFill>
          <a:ln w="15875">
            <a:solidFill>
              <a:srgbClr val="D9DEE7"/>
            </a:solidFill>
            <a:prstDash val="solid"/>
          </a:ln>
        </p:spPr>
      </p:sp>
      <p:sp>
        <p:nvSpPr>
          <p:cNvPr id="16" name="Text 14"/>
          <p:cNvSpPr txBox="1"/>
          <p:nvPr/>
        </p:nvSpPr>
        <p:spPr>
          <a:xfrm>
            <a:off x="914400" y="4535424"/>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A school replaces all of its computers every three years. Discuss the environmental impact of this policy.</a:t>
            </a:r>
            <a:endParaRPr lang="en-US" sz="1700" dirty="0"/>
          </a:p>
        </p:txBody>
      </p:sp>
      <p:sp>
        <p:nvSpPr>
          <p:cNvPr id="17" name="Shape 15"/>
          <p:cNvSpPr/>
          <p:nvPr/>
        </p:nvSpPr>
        <p:spPr>
          <a:xfrm>
            <a:off x="10515600" y="4727448"/>
            <a:ext cx="868680" cy="493776"/>
          </a:xfrm>
          <a:prstGeom prst="roundRect">
            <a:avLst>
              <a:gd name="adj" fmla="val 18519"/>
            </a:avLst>
          </a:prstGeom>
          <a:solidFill>
            <a:srgbClr val="EEF2FB"/>
          </a:solidFill>
          <a:ln/>
        </p:spPr>
      </p:sp>
      <p:sp>
        <p:nvSpPr>
          <p:cNvPr id="18" name="Text 16"/>
          <p:cNvSpPr txBox="1"/>
          <p:nvPr/>
        </p:nvSpPr>
        <p:spPr>
          <a:xfrm>
            <a:off x="10515600" y="4727448"/>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[8]</a:t>
            </a:r>
            <a:endParaRPr lang="en-US" sz="15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1.6 Ethical, legal, cultural and environmental impacts  |  Lesson 5</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Before you go</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Rate yourself on each of these</a:t>
            </a:r>
            <a:endParaRPr lang="en-US" sz="1500" dirty="0"/>
          </a:p>
        </p:txBody>
      </p:sp>
      <p:sp>
        <p:nvSpPr>
          <p:cNvPr id="7" name="Shape 5"/>
          <p:cNvSpPr/>
          <p:nvPr/>
        </p:nvSpPr>
        <p:spPr>
          <a:xfrm>
            <a:off x="502920" y="1920240"/>
            <a:ext cx="7863840" cy="777240"/>
          </a:xfrm>
          <a:prstGeom prst="roundRect">
            <a:avLst>
              <a:gd name="adj" fmla="val 14118"/>
            </a:avLst>
          </a:prstGeom>
          <a:solidFill>
            <a:srgbClr val="FFFFFF"/>
          </a:solidFill>
          <a:ln w="15875">
            <a:solidFill>
              <a:srgbClr val="D9DEE7"/>
            </a:solidFill>
            <a:prstDash val="solid"/>
          </a:ln>
        </p:spPr>
      </p:sp>
      <p:sp>
        <p:nvSpPr>
          <p:cNvPr id="8" name="Text 6"/>
          <p:cNvSpPr txBox="1"/>
          <p:nvPr/>
        </p:nvSpPr>
        <p:spPr>
          <a:xfrm>
            <a:off x="914400" y="192024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Manufacturing impacts</a:t>
            </a:r>
            <a:endParaRPr lang="en-US" sz="1800" dirty="0"/>
          </a:p>
        </p:txBody>
      </p:sp>
      <p:sp>
        <p:nvSpPr>
          <p:cNvPr id="9" name="Shape 7"/>
          <p:cNvSpPr/>
          <p:nvPr/>
        </p:nvSpPr>
        <p:spPr>
          <a:xfrm>
            <a:off x="8595360" y="2066544"/>
            <a:ext cx="987552" cy="484632"/>
          </a:xfrm>
          <a:prstGeom prst="roundRect">
            <a:avLst>
              <a:gd name="adj" fmla="val 18868"/>
            </a:avLst>
          </a:prstGeom>
          <a:solidFill>
            <a:srgbClr val="FFFFFF"/>
          </a:solidFill>
          <a:ln w="15875">
            <a:solidFill>
              <a:srgbClr val="08A6A6"/>
            </a:solidFill>
            <a:prstDash val="solid"/>
          </a:ln>
        </p:spPr>
      </p:sp>
      <p:sp>
        <p:nvSpPr>
          <p:cNvPr id="10" name="Text 8"/>
          <p:cNvSpPr txBox="1"/>
          <p:nvPr/>
        </p:nvSpPr>
        <p:spPr>
          <a:xfrm>
            <a:off x="8595360" y="206654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11" name="Shape 9"/>
          <p:cNvSpPr/>
          <p:nvPr/>
        </p:nvSpPr>
        <p:spPr>
          <a:xfrm>
            <a:off x="9674352" y="2066544"/>
            <a:ext cx="987552" cy="484632"/>
          </a:xfrm>
          <a:prstGeom prst="roundRect">
            <a:avLst>
              <a:gd name="adj" fmla="val 18868"/>
            </a:avLst>
          </a:prstGeom>
          <a:solidFill>
            <a:srgbClr val="FFFFFF"/>
          </a:solidFill>
          <a:ln w="15875">
            <a:solidFill>
              <a:srgbClr val="F4B942"/>
            </a:solidFill>
            <a:prstDash val="solid"/>
          </a:ln>
        </p:spPr>
      </p:sp>
      <p:sp>
        <p:nvSpPr>
          <p:cNvPr id="12" name="Text 10"/>
          <p:cNvSpPr txBox="1"/>
          <p:nvPr/>
        </p:nvSpPr>
        <p:spPr>
          <a:xfrm>
            <a:off x="9674352" y="206654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13" name="Shape 11"/>
          <p:cNvSpPr/>
          <p:nvPr/>
        </p:nvSpPr>
        <p:spPr>
          <a:xfrm>
            <a:off x="10753344" y="2066544"/>
            <a:ext cx="987552" cy="484632"/>
          </a:xfrm>
          <a:prstGeom prst="roundRect">
            <a:avLst>
              <a:gd name="adj" fmla="val 18868"/>
            </a:avLst>
          </a:prstGeom>
          <a:solidFill>
            <a:srgbClr val="FFFFFF"/>
          </a:solidFill>
          <a:ln w="15875">
            <a:solidFill>
              <a:srgbClr val="E2574C"/>
            </a:solidFill>
            <a:prstDash val="solid"/>
          </a:ln>
        </p:spPr>
      </p:sp>
      <p:sp>
        <p:nvSpPr>
          <p:cNvPr id="14" name="Text 12"/>
          <p:cNvSpPr txBox="1"/>
          <p:nvPr/>
        </p:nvSpPr>
        <p:spPr>
          <a:xfrm>
            <a:off x="10753344" y="206654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15" name="Shape 13"/>
          <p:cNvSpPr/>
          <p:nvPr/>
        </p:nvSpPr>
        <p:spPr>
          <a:xfrm>
            <a:off x="502920" y="2880360"/>
            <a:ext cx="7863840" cy="777240"/>
          </a:xfrm>
          <a:prstGeom prst="roundRect">
            <a:avLst>
              <a:gd name="adj" fmla="val 14118"/>
            </a:avLst>
          </a:prstGeom>
          <a:solidFill>
            <a:srgbClr val="FFFFFF"/>
          </a:solidFill>
          <a:ln w="15875">
            <a:solidFill>
              <a:srgbClr val="D9DEE7"/>
            </a:solidFill>
            <a:prstDash val="solid"/>
          </a:ln>
        </p:spPr>
      </p:sp>
      <p:sp>
        <p:nvSpPr>
          <p:cNvPr id="16" name="Text 14"/>
          <p:cNvSpPr txBox="1"/>
          <p:nvPr/>
        </p:nvSpPr>
        <p:spPr>
          <a:xfrm>
            <a:off x="914400" y="288036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Impacts of use, including data centres</a:t>
            </a:r>
            <a:endParaRPr lang="en-US" sz="1800" dirty="0"/>
          </a:p>
        </p:txBody>
      </p:sp>
      <p:sp>
        <p:nvSpPr>
          <p:cNvPr id="17" name="Shape 15"/>
          <p:cNvSpPr/>
          <p:nvPr/>
        </p:nvSpPr>
        <p:spPr>
          <a:xfrm>
            <a:off x="8595360" y="3026664"/>
            <a:ext cx="987552" cy="484632"/>
          </a:xfrm>
          <a:prstGeom prst="roundRect">
            <a:avLst>
              <a:gd name="adj" fmla="val 18868"/>
            </a:avLst>
          </a:prstGeom>
          <a:solidFill>
            <a:srgbClr val="FFFFFF"/>
          </a:solidFill>
          <a:ln w="15875">
            <a:solidFill>
              <a:srgbClr val="08A6A6"/>
            </a:solidFill>
            <a:prstDash val="solid"/>
          </a:ln>
        </p:spPr>
      </p:sp>
      <p:sp>
        <p:nvSpPr>
          <p:cNvPr id="18" name="Text 16"/>
          <p:cNvSpPr txBox="1"/>
          <p:nvPr/>
        </p:nvSpPr>
        <p:spPr>
          <a:xfrm>
            <a:off x="8595360" y="302666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19" name="Shape 17"/>
          <p:cNvSpPr/>
          <p:nvPr/>
        </p:nvSpPr>
        <p:spPr>
          <a:xfrm>
            <a:off x="9674352" y="3026664"/>
            <a:ext cx="987552" cy="484632"/>
          </a:xfrm>
          <a:prstGeom prst="roundRect">
            <a:avLst>
              <a:gd name="adj" fmla="val 18868"/>
            </a:avLst>
          </a:prstGeom>
          <a:solidFill>
            <a:srgbClr val="FFFFFF"/>
          </a:solidFill>
          <a:ln w="15875">
            <a:solidFill>
              <a:srgbClr val="F4B942"/>
            </a:solidFill>
            <a:prstDash val="solid"/>
          </a:ln>
        </p:spPr>
      </p:sp>
      <p:sp>
        <p:nvSpPr>
          <p:cNvPr id="20" name="Text 18"/>
          <p:cNvSpPr txBox="1"/>
          <p:nvPr/>
        </p:nvSpPr>
        <p:spPr>
          <a:xfrm>
            <a:off x="9674352" y="302666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21" name="Shape 19"/>
          <p:cNvSpPr/>
          <p:nvPr/>
        </p:nvSpPr>
        <p:spPr>
          <a:xfrm>
            <a:off x="10753344" y="3026664"/>
            <a:ext cx="987552" cy="484632"/>
          </a:xfrm>
          <a:prstGeom prst="roundRect">
            <a:avLst>
              <a:gd name="adj" fmla="val 18868"/>
            </a:avLst>
          </a:prstGeom>
          <a:solidFill>
            <a:srgbClr val="FFFFFF"/>
          </a:solidFill>
          <a:ln w="15875">
            <a:solidFill>
              <a:srgbClr val="E2574C"/>
            </a:solidFill>
            <a:prstDash val="solid"/>
          </a:ln>
        </p:spPr>
      </p:sp>
      <p:sp>
        <p:nvSpPr>
          <p:cNvPr id="22" name="Text 20"/>
          <p:cNvSpPr txBox="1"/>
          <p:nvPr/>
        </p:nvSpPr>
        <p:spPr>
          <a:xfrm>
            <a:off x="10753344" y="302666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23" name="Shape 21"/>
          <p:cNvSpPr/>
          <p:nvPr/>
        </p:nvSpPr>
        <p:spPr>
          <a:xfrm>
            <a:off x="502920" y="3840480"/>
            <a:ext cx="7863840" cy="777240"/>
          </a:xfrm>
          <a:prstGeom prst="roundRect">
            <a:avLst>
              <a:gd name="adj" fmla="val 14118"/>
            </a:avLst>
          </a:prstGeom>
          <a:solidFill>
            <a:srgbClr val="FFFFFF"/>
          </a:solidFill>
          <a:ln w="15875">
            <a:solidFill>
              <a:srgbClr val="D9DEE7"/>
            </a:solidFill>
            <a:prstDash val="solid"/>
          </a:ln>
        </p:spPr>
      </p:sp>
      <p:sp>
        <p:nvSpPr>
          <p:cNvPr id="24" name="Text 22"/>
          <p:cNvSpPr txBox="1"/>
          <p:nvPr/>
        </p:nvSpPr>
        <p:spPr>
          <a:xfrm>
            <a:off x="914400" y="384048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Disposal, e-waste and recycling</a:t>
            </a:r>
            <a:endParaRPr lang="en-US" sz="1800" dirty="0"/>
          </a:p>
        </p:txBody>
      </p:sp>
      <p:sp>
        <p:nvSpPr>
          <p:cNvPr id="25" name="Shape 23"/>
          <p:cNvSpPr/>
          <p:nvPr/>
        </p:nvSpPr>
        <p:spPr>
          <a:xfrm>
            <a:off x="8595360" y="3986784"/>
            <a:ext cx="987552" cy="484632"/>
          </a:xfrm>
          <a:prstGeom prst="roundRect">
            <a:avLst>
              <a:gd name="adj" fmla="val 18868"/>
            </a:avLst>
          </a:prstGeom>
          <a:solidFill>
            <a:srgbClr val="FFFFFF"/>
          </a:solidFill>
          <a:ln w="15875">
            <a:solidFill>
              <a:srgbClr val="08A6A6"/>
            </a:solidFill>
            <a:prstDash val="solid"/>
          </a:ln>
        </p:spPr>
      </p:sp>
      <p:sp>
        <p:nvSpPr>
          <p:cNvPr id="26" name="Text 24"/>
          <p:cNvSpPr txBox="1"/>
          <p:nvPr/>
        </p:nvSpPr>
        <p:spPr>
          <a:xfrm>
            <a:off x="8595360" y="398678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27" name="Shape 25"/>
          <p:cNvSpPr/>
          <p:nvPr/>
        </p:nvSpPr>
        <p:spPr>
          <a:xfrm>
            <a:off x="9674352" y="3986784"/>
            <a:ext cx="987552" cy="484632"/>
          </a:xfrm>
          <a:prstGeom prst="roundRect">
            <a:avLst>
              <a:gd name="adj" fmla="val 18868"/>
            </a:avLst>
          </a:prstGeom>
          <a:solidFill>
            <a:srgbClr val="FFFFFF"/>
          </a:solidFill>
          <a:ln w="15875">
            <a:solidFill>
              <a:srgbClr val="F4B942"/>
            </a:solidFill>
            <a:prstDash val="solid"/>
          </a:ln>
        </p:spPr>
      </p:sp>
      <p:sp>
        <p:nvSpPr>
          <p:cNvPr id="28" name="Text 26"/>
          <p:cNvSpPr txBox="1"/>
          <p:nvPr/>
        </p:nvSpPr>
        <p:spPr>
          <a:xfrm>
            <a:off x="9674352" y="398678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29" name="Shape 27"/>
          <p:cNvSpPr/>
          <p:nvPr/>
        </p:nvSpPr>
        <p:spPr>
          <a:xfrm>
            <a:off x="10753344" y="3986784"/>
            <a:ext cx="987552" cy="484632"/>
          </a:xfrm>
          <a:prstGeom prst="roundRect">
            <a:avLst>
              <a:gd name="adj" fmla="val 18868"/>
            </a:avLst>
          </a:prstGeom>
          <a:solidFill>
            <a:srgbClr val="FFFFFF"/>
          </a:solidFill>
          <a:ln w="15875">
            <a:solidFill>
              <a:srgbClr val="E2574C"/>
            </a:solidFill>
            <a:prstDash val="solid"/>
          </a:ln>
        </p:spPr>
      </p:sp>
      <p:sp>
        <p:nvSpPr>
          <p:cNvPr id="30" name="Text 28"/>
          <p:cNvSpPr txBox="1"/>
          <p:nvPr/>
        </p:nvSpPr>
        <p:spPr>
          <a:xfrm>
            <a:off x="10753344" y="398678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31" name="Text 29"/>
          <p:cNvSpPr txBox="1"/>
          <p:nvPr/>
        </p:nvSpPr>
        <p:spPr>
          <a:xfrm>
            <a:off x="502920" y="5074920"/>
            <a:ext cx="11155680" cy="54864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Anything marked Focus here: reopen Planet works and use review mode on the questions you got wrong.</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Revise 360 Ltd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1.6 Ethical, legal, cultural and environmental impacts  |  Lesson 5 — Planet works</dc:title>
  <dc:subject>OCR J277 GCSE Computer Science</dc:subject>
  <dc:creator>Revise 360 Ltd</dc:creator>
  <cp:lastModifiedBy>Revise 360 Ltd</cp:lastModifiedBy>
  <cp:revision>1</cp:revision>
  <dcterms:created xsi:type="dcterms:W3CDTF">2026-10-03T17:08:50Z</dcterms:created>
  <dcterms:modified xsi:type="dcterms:W3CDTF">2026-10-03T17:08:50Z</dcterms:modified>
</cp:coreProperties>
</file>