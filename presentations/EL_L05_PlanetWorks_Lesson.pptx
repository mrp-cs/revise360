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Planet works.
Open the experience at revise360.co.uk and hand out EL_L05_Planetworks_Worksheet.docx.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Three stages.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Making it.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Using it.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Throwing it away.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Doing better.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environmental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Toxic metals such as lead and mercury leak into soil and water.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Throwing it away, and work through its example again, aloud, with the class watching, then re-ask this question.
The course's own response to a wrong answer here: The harm outlasts the device by decades.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(el-l05-s4-c1),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1.6 Ethical, legal, cultural and environmental impacts  |  Lesson 5</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Planet works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The environmental cost of a device across its whole life: making it, running it and throwing it away.</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is the environmental impact of computing, across a device's whole life?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environmental impact of manufacturing computers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environmental impact of using computers</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environmental impact of disposing of computers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481328"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E-waste</a:t>
            </a:r>
            <a:endParaRPr lang="en-US" sz="1200" dirty="0"/>
          </a:p>
        </p:txBody>
      </p:sp>
      <p:sp>
        <p:nvSpPr>
          <p:cNvPr id="19" name="Shape 17"/>
          <p:cNvSpPr/>
          <p:nvPr/>
        </p:nvSpPr>
        <p:spPr>
          <a:xfrm>
            <a:off x="2157984" y="5468112"/>
            <a:ext cx="279806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157984" y="5468112"/>
            <a:ext cx="279806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Carbon footprint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Think of the last device your household replaced. Where did the old one go, and what was it made from?</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Planet works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Three stages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device has an environmental cost at three stages: manufacture, use and disposal.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 phone, manufacture is usually the largest share by far.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Judging a device on its running cost alone misses most of its impact.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Name the three stages and give one impact at each.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three stages of impact are...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Making it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Devices need metals that are mined, including rare earth elements, gold, copper and lithium.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Mining and refining use energy and water, and can pollute land and rivers.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Some materials come from areas with poor working conditions or conflict.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the materials in a phone raise ethical as well as environmental issues.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Manufacturing costs the environment because...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Using it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Devices use electricity, and so do the networks and data centres behind them.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Streaming, cloud storage and AI all move the energy cost from your device to a building somewhere else.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the electricity comes from decides how much carbon that energy represents.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watching a video 'uses no energy on your phone' is misleading.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Using a device costs the environment because...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Throwing it away</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Electronic waste is the fastest growing waste stream in the world.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Devices contain toxic materials: lead, mercury, cadmium. In landfill these leak into soil and water.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Much e-waste is shipped abroad and stripped by hand, often in unsafe conditions.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e-waste is an ethical issue as well as an environmental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Disposal is a problem because...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Doing better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Repair, reuse and upgrade extend a device's life, which is the biggest single saving.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Proper recycling recovers metals so they need not be mined again.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Designing for repair, and laws requiring spare parts, change what is possible.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Suggest three things a school could do to cut the environmental impact of its computers.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impact can be reduced by...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environmental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 which stage you mean: manufacture, use or disposal.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Give the mechanism, not just the label: what is used, emitted or leaked, and why that matters.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there is a trade-off, name it: recycling costs money, longer life means older technology.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 six-mark answer on a school replacing all its computers every three years.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an environmental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100584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is e-waste dangerous in landfill?</a:t>
            </a:r>
            <a:endParaRPr lang="en-US" sz="2600" dirty="0"/>
          </a:p>
        </p:txBody>
      </p:sp>
      <p:sp>
        <p:nvSpPr>
          <p:cNvPr id="9" name="Shape 7"/>
          <p:cNvSpPr/>
          <p:nvPr/>
        </p:nvSpPr>
        <p:spPr>
          <a:xfrm>
            <a:off x="502920" y="233172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478024"/>
            <a:ext cx="438912" cy="438912"/>
          </a:xfrm>
          <a:prstGeom prst="roundRect">
            <a:avLst>
              <a:gd name="adj" fmla="val 20833"/>
            </a:avLst>
          </a:prstGeom>
          <a:solidFill>
            <a:srgbClr val="EEF2FB"/>
          </a:solidFill>
          <a:ln/>
        </p:spPr>
      </p:sp>
      <p:sp>
        <p:nvSpPr>
          <p:cNvPr id="11" name="Text 9"/>
          <p:cNvSpPr txBox="1"/>
          <p:nvPr/>
        </p:nvSpPr>
        <p:spPr>
          <a:xfrm>
            <a:off x="777240" y="24780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3317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attracts wildlife</a:t>
            </a:r>
            <a:endParaRPr lang="en-US" sz="1700" dirty="0"/>
          </a:p>
        </p:txBody>
      </p:sp>
      <p:sp>
        <p:nvSpPr>
          <p:cNvPr id="13" name="Shape 11"/>
          <p:cNvSpPr/>
          <p:nvPr/>
        </p:nvSpPr>
        <p:spPr>
          <a:xfrm>
            <a:off x="502920" y="320040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346704"/>
            <a:ext cx="438912" cy="438912"/>
          </a:xfrm>
          <a:prstGeom prst="roundRect">
            <a:avLst>
              <a:gd name="adj" fmla="val 20833"/>
            </a:avLst>
          </a:prstGeom>
          <a:solidFill>
            <a:srgbClr val="EEF2FB"/>
          </a:solidFill>
          <a:ln/>
        </p:spPr>
      </p:sp>
      <p:sp>
        <p:nvSpPr>
          <p:cNvPr id="15" name="Text 13"/>
          <p:cNvSpPr txBox="1"/>
          <p:nvPr/>
        </p:nvSpPr>
        <p:spPr>
          <a:xfrm>
            <a:off x="777240" y="33467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2004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is flammable</a:t>
            </a:r>
            <a:endParaRPr lang="en-US" sz="1700" dirty="0"/>
          </a:p>
        </p:txBody>
      </p:sp>
      <p:sp>
        <p:nvSpPr>
          <p:cNvPr id="17" name="Shape 15"/>
          <p:cNvSpPr/>
          <p:nvPr/>
        </p:nvSpPr>
        <p:spPr>
          <a:xfrm>
            <a:off x="502920" y="406908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215384"/>
            <a:ext cx="438912" cy="438912"/>
          </a:xfrm>
          <a:prstGeom prst="roundRect">
            <a:avLst>
              <a:gd name="adj" fmla="val 20833"/>
            </a:avLst>
          </a:prstGeom>
          <a:solidFill>
            <a:srgbClr val="EEF2FB"/>
          </a:solidFill>
          <a:ln/>
        </p:spPr>
      </p:sp>
      <p:sp>
        <p:nvSpPr>
          <p:cNvPr id="19" name="Text 17"/>
          <p:cNvSpPr txBox="1"/>
          <p:nvPr/>
        </p:nvSpPr>
        <p:spPr>
          <a:xfrm>
            <a:off x="777240" y="42153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40690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Toxic metals such as lead and mercury leak into soil and water</a:t>
            </a:r>
            <a:endParaRPr lang="en-US" sz="1700" dirty="0"/>
          </a:p>
        </p:txBody>
      </p:sp>
      <p:sp>
        <p:nvSpPr>
          <p:cNvPr id="21" name="Shape 19"/>
          <p:cNvSpPr/>
          <p:nvPr/>
        </p:nvSpPr>
        <p:spPr>
          <a:xfrm>
            <a:off x="502920" y="493776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5084064"/>
            <a:ext cx="438912" cy="438912"/>
          </a:xfrm>
          <a:prstGeom prst="roundRect">
            <a:avLst>
              <a:gd name="adj" fmla="val 20833"/>
            </a:avLst>
          </a:prstGeom>
          <a:solidFill>
            <a:srgbClr val="EEF2FB"/>
          </a:solidFill>
          <a:ln/>
        </p:spPr>
      </p:sp>
      <p:sp>
        <p:nvSpPr>
          <p:cNvPr id="23" name="Text 21"/>
          <p:cNvSpPr txBox="1"/>
          <p:nvPr/>
        </p:nvSpPr>
        <p:spPr>
          <a:xfrm>
            <a:off x="777240" y="508406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93776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takes up space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The whole life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Nine impacts from a device's life. Tap the star and sort each into the stage it belongs to.</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Most of it is made, not used</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For a typical smartphone, manufacturing accounts for roughly three quarters of its lifetime carbon.</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Gold in the bin</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tonne of discarded phones contains far more gold than a tonne of ore from a mine, which is why recycling them properly is worth doing.</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Right to repair</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Rules now require manufacturers of some products to supply spare parts for several years, driven exactly by the argument in this lesson.</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Data centre thirst</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Large data centres use water as well as electricity for cooling, which has become contentious in dry regions.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two environmental impacts of manufacturing a computer.</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electronic waste is a problem when sent to landfill.</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school replaces all of its computers every three years. Discuss the environmental impact of this policy.</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[8]</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Manufacturing impacts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Impacts of use, including data centres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Disposal, e-waste and recycling</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Planet works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1.6 Ethical, legal, cultural and environmental impacts  |  Lesson 5 — Planet works</dc:title>
  <dc:subject>OCR J277 GCSE Computer Science</dc:subject>
  <dc:creator>Revise 360 Ltd</dc:creator>
  <cp:lastModifiedBy>Revise 360 Ltd</cp:lastModifiedBy>
  <cp:revision>1</cp:revision>
  <dcterms:created xsi:type="dcterms:W3CDTF">2026-10-03T16:28:09Z</dcterms:created>
  <dcterms:modified xsi:type="dcterms:W3CDTF">2026-10-03T16:28:09Z</dcterms:modified>
</cp:coreProperties>
</file>