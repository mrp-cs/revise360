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a96e5438084b4d" /><Relationship Type="http://schemas.openxmlformats.org/officeDocument/2006/relationships/extended-properties" Target="/docProps/app.xml" Id="R399439adae25468d" /><Relationship Type="http://schemas.openxmlformats.org/officeDocument/2006/relationships/officeDocument" Target="/ppt/presentation.xml" Id="Rf2965f5a4d224f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876103d79d4848"/>
  </p:sldMasterIdLst>
  <p:notesMasterIdLst>
    <p:notesMasterId xmlns:r="http://schemas.openxmlformats.org/officeDocument/2006/relationships" r:id="R554fd05cc787463a"/>
  </p:notesMasterIdLst>
  <p:sldIdLst>
    <p:sldId xmlns:r="http://schemas.openxmlformats.org/officeDocument/2006/relationships" id="256" r:id="R68c840e0ed9d4109"/>
    <p:sldId xmlns:r="http://schemas.openxmlformats.org/officeDocument/2006/relationships" id="257" r:id="Rcbe6fa85ccbe4e88"/>
    <p:sldId xmlns:r="http://schemas.openxmlformats.org/officeDocument/2006/relationships" id="258" r:id="Rf5680c97a60144e8"/>
    <p:sldId xmlns:r="http://schemas.openxmlformats.org/officeDocument/2006/relationships" id="259" r:id="R3233ff2709d54e21"/>
    <p:sldId xmlns:r="http://schemas.openxmlformats.org/officeDocument/2006/relationships" id="260" r:id="R684711d333334c17"/>
    <p:sldId xmlns:r="http://schemas.openxmlformats.org/officeDocument/2006/relationships" id="261" r:id="R9d745eafd0dd4adf"/>
    <p:sldId xmlns:r="http://schemas.openxmlformats.org/officeDocument/2006/relationships" id="262" r:id="Rc67bf9a2c21346e7"/>
    <p:sldId xmlns:r="http://schemas.openxmlformats.org/officeDocument/2006/relationships" id="263" r:id="R6fda02926ada4834"/>
    <p:sldId xmlns:r="http://schemas.openxmlformats.org/officeDocument/2006/relationships" id="264" r:id="Rd74267d7c33e46c2"/>
    <p:sldId xmlns:r="http://schemas.openxmlformats.org/officeDocument/2006/relationships" id="265" r:id="R0755a98e448f4dbc"/>
    <p:sldId xmlns:r="http://schemas.openxmlformats.org/officeDocument/2006/relationships" id="266" r:id="R35fbe7bef6e34956"/>
    <p:sldId xmlns:r="http://schemas.openxmlformats.org/officeDocument/2006/relationships" id="267" r:id="R7fffd709f951434e"/>
    <p:sldId xmlns:r="http://schemas.openxmlformats.org/officeDocument/2006/relationships" id="268" r:id="Rf25e77263a7f47f5"/>
    <p:sldId xmlns:r="http://schemas.openxmlformats.org/officeDocument/2006/relationships" id="269" r:id="Rf42890dfcbb34df5"/>
    <p:sldId xmlns:r="http://schemas.openxmlformats.org/officeDocument/2006/relationships" id="270" r:id="R879d3d742ee34c91"/>
    <p:sldId xmlns:r="http://schemas.openxmlformats.org/officeDocument/2006/relationships" id="271" r:id="Rc1644656d60743ce"/>
    <p:sldId xmlns:r="http://schemas.openxmlformats.org/officeDocument/2006/relationships" id="272" r:id="R9afa01996a054a48"/>
    <p:sldId xmlns:r="http://schemas.openxmlformats.org/officeDocument/2006/relationships" id="273" r:id="Rd61aabcef6f24742"/>
    <p:sldId xmlns:r="http://schemas.openxmlformats.org/officeDocument/2006/relationships" id="274" r:id="R3f5557f8e46a4544"/>
    <p:sldId xmlns:r="http://schemas.openxmlformats.org/officeDocument/2006/relationships" id="275" r:id="R7970803c84cf4b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1f9ec696f442b2" /><Relationship Type="http://schemas.openxmlformats.org/officeDocument/2006/relationships/slideMaster" Target="/ppt/slideMasters/slideMaster1.xml" Id="R72876103d79d4848" /><Relationship Type="http://schemas.openxmlformats.org/officeDocument/2006/relationships/notesMaster" Target="/ppt/notesMasters/notesMaster1.xml" Id="R554fd05cc787463a" /><Relationship Type="http://schemas.openxmlformats.org/officeDocument/2006/relationships/presProps" Target="/ppt/presProps.xml" Id="R5adc08851f8b447a" /><Relationship Type="http://schemas.openxmlformats.org/officeDocument/2006/relationships/tableStyles" Target="/ppt/tableStyles.xml" Id="R8c71e44bbc8d4793" /><Relationship Type="http://schemas.openxmlformats.org/officeDocument/2006/relationships/slide" Target="/ppt/slides/slide1.xml" Id="R68c840e0ed9d4109" /><Relationship Type="http://schemas.openxmlformats.org/officeDocument/2006/relationships/slide" Target="/ppt/slides/slide2.xml" Id="Rcbe6fa85ccbe4e88" /><Relationship Type="http://schemas.openxmlformats.org/officeDocument/2006/relationships/slide" Target="/ppt/slides/slide3.xml" Id="Rf5680c97a60144e8" /><Relationship Type="http://schemas.openxmlformats.org/officeDocument/2006/relationships/slide" Target="/ppt/slides/slide4.xml" Id="R3233ff2709d54e21" /><Relationship Type="http://schemas.openxmlformats.org/officeDocument/2006/relationships/slide" Target="/ppt/slides/slide5.xml" Id="R684711d333334c17" /><Relationship Type="http://schemas.openxmlformats.org/officeDocument/2006/relationships/slide" Target="/ppt/slides/slide6.xml" Id="R9d745eafd0dd4adf" /><Relationship Type="http://schemas.openxmlformats.org/officeDocument/2006/relationships/slide" Target="/ppt/slides/slide7.xml" Id="Rc67bf9a2c21346e7" /><Relationship Type="http://schemas.openxmlformats.org/officeDocument/2006/relationships/slide" Target="/ppt/slides/slide8.xml" Id="R6fda02926ada4834" /><Relationship Type="http://schemas.openxmlformats.org/officeDocument/2006/relationships/slide" Target="/ppt/slides/slide9.xml" Id="Rd74267d7c33e46c2" /><Relationship Type="http://schemas.openxmlformats.org/officeDocument/2006/relationships/slide" Target="/ppt/slides/slide10.xml" Id="R0755a98e448f4dbc" /><Relationship Type="http://schemas.openxmlformats.org/officeDocument/2006/relationships/slide" Target="/ppt/slides/slide11.xml" Id="R35fbe7bef6e34956" /><Relationship Type="http://schemas.openxmlformats.org/officeDocument/2006/relationships/slide" Target="/ppt/slides/slide12.xml" Id="R7fffd709f951434e" /><Relationship Type="http://schemas.openxmlformats.org/officeDocument/2006/relationships/slide" Target="/ppt/slides/slide13.xml" Id="Rf25e77263a7f47f5" /><Relationship Type="http://schemas.openxmlformats.org/officeDocument/2006/relationships/slide" Target="/ppt/slides/slide14.xml" Id="Rf42890dfcbb34df5" /><Relationship Type="http://schemas.openxmlformats.org/officeDocument/2006/relationships/slide" Target="/ppt/slides/slide15.xml" Id="R879d3d742ee34c91" /><Relationship Type="http://schemas.openxmlformats.org/officeDocument/2006/relationships/slide" Target="/ppt/slides/slide16.xml" Id="Rc1644656d60743ce" /><Relationship Type="http://schemas.openxmlformats.org/officeDocument/2006/relationships/slide" Target="/ppt/slides/slide17.xml" Id="R9afa01996a054a48" /><Relationship Type="http://schemas.openxmlformats.org/officeDocument/2006/relationships/slide" Target="/ppt/slides/slide18.xml" Id="Rd61aabcef6f24742" /><Relationship Type="http://schemas.openxmlformats.org/officeDocument/2006/relationships/slide" Target="/ppt/slides/slide19.xml" Id="R3f5557f8e46a4544" /><Relationship Type="http://schemas.openxmlformats.org/officeDocument/2006/relationships/slide" Target="/ppt/slides/slide20.xml" Id="R7970803c84cf4b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0d1046d72d43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b87f610bc04357" /><Relationship Type="http://schemas.openxmlformats.org/officeDocument/2006/relationships/notesMaster" Target="/ppt/notesMasters/notesMaster1.xml" Id="R09ea0f70b1a44d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6816680fda47aa" /><Relationship Type="http://schemas.openxmlformats.org/officeDocument/2006/relationships/notesMaster" Target="/ppt/notesMasters/notesMaster1.xml" Id="R3cb62fed034343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a30b5ccc074400" /><Relationship Type="http://schemas.openxmlformats.org/officeDocument/2006/relationships/notesMaster" Target="/ppt/notesMasters/notesMaster1.xml" Id="R762dbfffe67745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d9957068eb48f6" /><Relationship Type="http://schemas.openxmlformats.org/officeDocument/2006/relationships/notesMaster" Target="/ppt/notesMasters/notesMaster1.xml" Id="R3542619d8f924d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1ccf26d97b4cb8" /><Relationship Type="http://schemas.openxmlformats.org/officeDocument/2006/relationships/notesMaster" Target="/ppt/notesMasters/notesMaster1.xml" Id="Ree056e3df8cc44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c5cc268f724717" /><Relationship Type="http://schemas.openxmlformats.org/officeDocument/2006/relationships/notesMaster" Target="/ppt/notesMasters/notesMaster1.xml" Id="R4bae366891aa46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17a763807546cc" /><Relationship Type="http://schemas.openxmlformats.org/officeDocument/2006/relationships/notesMaster" Target="/ppt/notesMasters/notesMaster1.xml" Id="Ree2de444199f4b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eded850f6440b9" /><Relationship Type="http://schemas.openxmlformats.org/officeDocument/2006/relationships/notesMaster" Target="/ppt/notesMasters/notesMaster1.xml" Id="Rd4d2f1614dbe4f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291ac83bdf4b92" /><Relationship Type="http://schemas.openxmlformats.org/officeDocument/2006/relationships/notesMaster" Target="/ppt/notesMasters/notesMaster1.xml" Id="R8cdf92f9665645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7df9a8bbab44d6" /><Relationship Type="http://schemas.openxmlformats.org/officeDocument/2006/relationships/notesMaster" Target="/ppt/notesMasters/notesMaster1.xml" Id="Ra2d81e4c394143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7ed2a998ab4641" /><Relationship Type="http://schemas.openxmlformats.org/officeDocument/2006/relationships/notesMaster" Target="/ppt/notesMasters/notesMaster1.xml" Id="R5a742be0a55e4af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10e3b54db9464c" /><Relationship Type="http://schemas.openxmlformats.org/officeDocument/2006/relationships/notesMaster" Target="/ppt/notesMasters/notesMaster1.xml" Id="R05ef8b7556264d0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45425392aa84bb1" /><Relationship Type="http://schemas.openxmlformats.org/officeDocument/2006/relationships/notesMaster" Target="/ppt/notesMasters/notesMaster1.xml" Id="Rc4f6f04637e540f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dffe321bcf643bf" /><Relationship Type="http://schemas.openxmlformats.org/officeDocument/2006/relationships/notesMaster" Target="/ppt/notesMasters/notesMaster1.xml" Id="R022038c5210d4e7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9ab83f7ba384973" /><Relationship Type="http://schemas.openxmlformats.org/officeDocument/2006/relationships/notesMaster" Target="/ppt/notesMasters/notesMaster1.xml" Id="Rf4c6f4b913fb4a0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0ec72287f0749d1" /><Relationship Type="http://schemas.openxmlformats.org/officeDocument/2006/relationships/notesMaster" Target="/ppt/notesMasters/notesMaster1.xml" Id="R9463c7fee027444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a430c0936464e1e" /><Relationship Type="http://schemas.openxmlformats.org/officeDocument/2006/relationships/notesMaster" Target="/ppt/notesMasters/notesMaster1.xml" Id="R4e91f0be48f645b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d5522b754064470" /><Relationship Type="http://schemas.openxmlformats.org/officeDocument/2006/relationships/notesMaster" Target="/ppt/notesMasters/notesMaster1.xml" Id="R826a13d7faac4f5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5774207f56c4686" /><Relationship Type="http://schemas.openxmlformats.org/officeDocument/2006/relationships/notesMaster" Target="/ppt/notesMasters/notesMaster1.xml" Id="R55d7d71c0e1f4ba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35e28467d1440bc" /><Relationship Type="http://schemas.openxmlformats.org/officeDocument/2006/relationships/notesMaster" Target="/ppt/notesMasters/notesMaster1.xml" Id="Rf207a770d0674f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image shows the actual opening scene of the experience. Begin with the worksheet starter, or the brief opening question for lessons without one.</a:t>
            </a:r>
          </a:p>
          <a:p xmlns:a="http://schemas.openxmlformats.org/drawingml/2006/main">
            <a:r>
              <a:t>Sources: Revise 360 experiences/nw-l09.json and worksheets/NW_L09_ConnectionCafe_Worksheet.docx.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learning outcomes follow the lesson worksheet.</a:t>
            </a:r>
          </a:p>
          <a:p xmlns:a="http://schemas.openxmlformats.org/drawingml/2006/main">
            <a:r>
              <a:t>Sources: Revise 360 experiences/nw-l09.json and worksheets/NW_L09_ConnectionCafe_Worksheet.docx.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answer the worksheet starter before showing the sample answers.</a:t>
            </a:r>
          </a:p>
          <a:p xmlns:a="http://schemas.openxmlformats.org/drawingml/2006/main">
            <a:r>
              <a:t>Sources: Revise 360 experiences/nw-l09.json and worksheets/NW_L09_ConnectionCafe_Worksheet.docx.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 equivalent correct explanations. Reveal after the question so it can be marked as students go.</a:t>
            </a:r>
          </a:p>
          <a:p xmlns:a="http://schemas.openxmlformats.org/drawingml/2006/main">
            <a:r>
              <a:t>Sources: Revise 360 experiences/nw-l09.json and worksheets/NW_L09_ConnectionCafe_Worksheet.docx.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define the exact terms listed on their worksheet.</a:t>
            </a:r>
          </a:p>
          <a:p xmlns:a="http://schemas.openxmlformats.org/drawingml/2006/main">
            <a:r>
              <a:t>Sources: Revise 360 experiences/nw-l09.json and worksheets/NW_L09_ConnectionCafe_Worksheet.docx.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after the key terminology quiz. Accept accurate definitions in students’ own words.</a:t>
            </a:r>
          </a:p>
          <a:p xmlns:a="http://schemas.openxmlformats.org/drawingml/2006/main">
            <a:r>
              <a:t>Sources: Revise 360 experiences/nw-l09.json and worksheets/NW_L09_ConnectionCafe_Worksheet.docx.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Leave this combined worksheet and experience instruction slide on the board. The OPEN EXPERIENCE label is a clickable link. Students should complete the experience and reach the plenary near the end of the lesson. First on-screen answers count.</a:t>
            </a:r>
          </a:p>
          <a:p xmlns:a="http://schemas.openxmlformats.org/drawingml/2006/main">
            <a:r>
              <a:t>Sources: Revise 360 experiences/nw-l09.json and worksheets/NW_L09_ConnectionCafe_Worksheet.docx.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follows the post-experience task, key question or revision results on the worksheet.</a:t>
            </a:r>
          </a:p>
          <a:p xmlns:a="http://schemas.openxmlformats.org/drawingml/2006/main">
            <a:r>
              <a:t>Sources: Revise 360 experiences/nw-l09.json and worksheets/NW_L09_ConnectionCafe_Worksheet.docx.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question to extend or improve an explanation before the plenary.</a:t>
            </a:r>
          </a:p>
          <a:p xmlns:a="http://schemas.openxmlformats.org/drawingml/2006/main">
            <a:r>
              <a:t>Sources: Revise 360 experiences/nw-l09.json and worksheets/NW_L09_ConnectionCafe_Worksheet.docx.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indicative answers. Credit other accurate examples or justified choices.</a:t>
            </a:r>
          </a:p>
          <a:p xmlns:a="http://schemas.openxmlformats.org/drawingml/2006/main">
            <a:r>
              <a:t>Sources: Revise 360 experiences/nw-l09.json and worksheets/NW_L09_ConnectionCafe_Worksheet.docx.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after completion. These concise points address the worksheet station challenges and help students improve their own wording.</a:t>
            </a:r>
          </a:p>
          <a:p xmlns:a="http://schemas.openxmlformats.org/drawingml/2006/main">
            <a:r>
              <a:t>Sources: Revise 360 experiences/nw-l09.json and worksheets/NW_L09_ConnectionCafe_Worksheet.docx.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after completion. These concise points address the worksheet station challenges and help students improve their own wording.</a:t>
            </a:r>
          </a:p>
          <a:p xmlns:a="http://schemas.openxmlformats.org/drawingml/2006/main">
            <a:r>
              <a:t>Sources: Revise 360 experiences/nw-l09.json and worksheets/NW_L09_ConnectionCafe_Worksheet.docx.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matches, sort categories or ordered steps from the interactive experience task. Use them to check the corresponding worksheet work.</a:t>
            </a:r>
          </a:p>
          <a:p xmlns:a="http://schemas.openxmlformats.org/drawingml/2006/main">
            <a:r>
              <a:t>Sources: Revise 360 experiences/nw-l09.json and worksheets/NW_L09_ConnectionCafe_Worksheet.docx.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matches, sort categories or ordered steps from the interactive experience task. Use them to check the corresponding worksheet work.</a:t>
            </a:r>
          </a:p>
          <a:p xmlns:a="http://schemas.openxmlformats.org/drawingml/2006/main">
            <a:r>
              <a:t>Sources: Revise 360 experiences/nw-l09.json and worksheets/NW_L09_ConnectionCafe_Worksheet.docx.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matches, sort categories or ordered steps from the interactive experience task. Use them to check the corresponding worksheet work.</a:t>
            </a:r>
          </a:p>
          <a:p xmlns:a="http://schemas.openxmlformats.org/drawingml/2006/main">
            <a:r>
              <a:t>Sources: Revise 360 experiences/nw-l09.json and worksheets/NW_L09_ConnectionCafe_Worksheet.docx.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exit, exam-practice or test-ready questions from the worksheet. Allow independent writing before the answers.</a:t>
            </a:r>
          </a:p>
          <a:p xmlns:a="http://schemas.openxmlformats.org/drawingml/2006/main">
            <a:r>
              <a:t>Sources: Revise 360 experiences/nw-l09.json and worksheets/NW_L09_ConnectionCafe_Worksheet.docx.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exit, exam-practice or test-ready questions from the worksheet. Allow independent writing before the answers.</a:t>
            </a:r>
          </a:p>
          <a:p xmlns:a="http://schemas.openxmlformats.org/drawingml/2006/main">
            <a:r>
              <a:t>Sources: Revise 360 experiences/nw-l09.json and worksheets/NW_L09_ConnectionCafe_Worksheet.docx.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improve one answer.</a:t>
            </a:r>
          </a:p>
          <a:p xmlns:a="http://schemas.openxmlformats.org/drawingml/2006/main">
            <a:r>
              <a:t>Sources: Revise 360 experiences/nw-l09.json and worksheets/NW_L09_ConnectionCafe_Worksheet.docx.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improve one answer.</a:t>
            </a:r>
          </a:p>
          <a:p xmlns:a="http://schemas.openxmlformats.org/drawingml/2006/main">
            <a:r>
              <a:t>Sources: Revise 360 experiences/nw-l09.json and worksheets/NW_L09_ConnectionCafe_Worksheet.docx.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confidence objectives from the worksheet. Students identify one area to revisit.</a:t>
            </a:r>
          </a:p>
          <a:p xmlns:a="http://schemas.openxmlformats.org/drawingml/2006/main">
            <a:r>
              <a:t>Sources: Revise 360 experiences/nw-l09.json and worksheets/NW_L09_ConnectionCafe_Worksheet.docx.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8c74160f0046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7a65c69a824ec0" /><Relationship Type="http://schemas.openxmlformats.org/officeDocument/2006/relationships/slideLayout" Target="/ppt/slideLayouts/slideLayout1.xml" Id="R567260268b5442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7260268b5442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ac4d49f5b4466" /><Relationship Type="http://schemas.openxmlformats.org/officeDocument/2006/relationships/image" Target="/ppt/media/image.png" Id="Rf61cf38757bf4fa5" /><Relationship Type="http://schemas.openxmlformats.org/officeDocument/2006/relationships/image" Target="/ppt/media/image.jpeg" Id="R69ba13b2460f4882" /><Relationship Type="http://schemas.openxmlformats.org/officeDocument/2006/relationships/notesSlide" Target="/ppt/notesSlides/notesSlide1.xml" Id="Rb7e8d069f93447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838016d7d4ed0" /><Relationship Type="http://schemas.openxmlformats.org/officeDocument/2006/relationships/image" Target="/ppt/media/image2.png" Id="R3e684c8bad874790" /><Relationship Type="http://schemas.openxmlformats.org/officeDocument/2006/relationships/notesSlide" Target="/ppt/notesSlides/notesSlide2.xml" Id="Rf04a074500424e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db1de0d1b4ec3" /><Relationship Type="http://schemas.openxmlformats.org/officeDocument/2006/relationships/image" Target="/ppt/media/image3.png" Id="Rda6079553d964cc1" /><Relationship Type="http://schemas.openxmlformats.org/officeDocument/2006/relationships/notesSlide" Target="/ppt/notesSlides/notesSlide3.xml" Id="Rac675379875b4a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ae0fa888f46e5" /><Relationship Type="http://schemas.openxmlformats.org/officeDocument/2006/relationships/image" Target="/ppt/media/image4.png" Id="Rece7c12906a04b4e" /><Relationship Type="http://schemas.openxmlformats.org/officeDocument/2006/relationships/notesSlide" Target="/ppt/notesSlides/notesSlide4.xml" Id="R47192b88749d40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457d10bdb4661" /><Relationship Type="http://schemas.openxmlformats.org/officeDocument/2006/relationships/image" Target="/ppt/media/image5.png" Id="Rf4636b5f2b264c2e" /><Relationship Type="http://schemas.openxmlformats.org/officeDocument/2006/relationships/notesSlide" Target="/ppt/notesSlides/notesSlide5.xml" Id="R1a3a3e2da7834c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1622550cd45ea" /><Relationship Type="http://schemas.openxmlformats.org/officeDocument/2006/relationships/image" Target="/ppt/media/image6.png" Id="R22099139195a4180" /><Relationship Type="http://schemas.openxmlformats.org/officeDocument/2006/relationships/notesSlide" Target="/ppt/notesSlides/notesSlide6.xml" Id="R2371fe0400554d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5fc63016f4cda" /><Relationship Type="http://schemas.openxmlformats.org/officeDocument/2006/relationships/image" Target="/ppt/media/image7.png" Id="R65a8d5b2a55d47c8" /><Relationship Type="http://schemas.openxmlformats.org/officeDocument/2006/relationships/hyperlink" Target="https://mrp-cs.github.io/Revise360/experience.html?id=nw-l09" TargetMode="External" Id="R2cbfcbf51620445a" /><Relationship Type="http://schemas.openxmlformats.org/officeDocument/2006/relationships/notesSlide" Target="/ppt/notesSlides/notesSlide7.xml" Id="R627c6505b0a249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20be3fe61a4fc0" /><Relationship Type="http://schemas.openxmlformats.org/officeDocument/2006/relationships/image" Target="/ppt/media/image8.png" Id="R98c86b83399b49cc" /><Relationship Type="http://schemas.openxmlformats.org/officeDocument/2006/relationships/notesSlide" Target="/ppt/notesSlides/notesSlide8.xml" Id="Rf7298dc7ddd646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21361e299421e" /><Relationship Type="http://schemas.openxmlformats.org/officeDocument/2006/relationships/image" Target="/ppt/media/image9.png" Id="R6abfcfb27789420d" /><Relationship Type="http://schemas.openxmlformats.org/officeDocument/2006/relationships/notesSlide" Target="/ppt/notesSlides/notesSlide9.xml" Id="Rf4a69f62449f4e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a1cf57d65443a" /><Relationship Type="http://schemas.openxmlformats.org/officeDocument/2006/relationships/image" Target="/ppt/media/image10.png" Id="Ref5e02ce86e14873" /><Relationship Type="http://schemas.openxmlformats.org/officeDocument/2006/relationships/notesSlide" Target="/ppt/notesSlides/notesSlide10.xml" Id="R8001cb21a36d4f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b14ea6a6242fe" /><Relationship Type="http://schemas.openxmlformats.org/officeDocument/2006/relationships/image" Target="/ppt/media/image11.png" Id="R66001eab66be43cf" /><Relationship Type="http://schemas.openxmlformats.org/officeDocument/2006/relationships/notesSlide" Target="/ppt/notesSlides/notesSlide11.xml" Id="Rce50a80e9c8043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c859a883144c1" /><Relationship Type="http://schemas.openxmlformats.org/officeDocument/2006/relationships/image" Target="/ppt/media/image12.png" Id="R65a4910bbdb34a82" /><Relationship Type="http://schemas.openxmlformats.org/officeDocument/2006/relationships/notesSlide" Target="/ppt/notesSlides/notesSlide12.xml" Id="Rb79d30dee3f8478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cd28135354eae" /><Relationship Type="http://schemas.openxmlformats.org/officeDocument/2006/relationships/image" Target="/ppt/media/image13.png" Id="R26af6f0aac014d37" /><Relationship Type="http://schemas.openxmlformats.org/officeDocument/2006/relationships/notesSlide" Target="/ppt/notesSlides/notesSlide13.xml" Id="R7d86440078504e4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3438b840f4cde" /><Relationship Type="http://schemas.openxmlformats.org/officeDocument/2006/relationships/image" Target="/ppt/media/image14.png" Id="Rf0483d71071b4a30" /><Relationship Type="http://schemas.openxmlformats.org/officeDocument/2006/relationships/notesSlide" Target="/ppt/notesSlides/notesSlide14.xml" Id="R7d64031540d04ce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e7da638774895" /><Relationship Type="http://schemas.openxmlformats.org/officeDocument/2006/relationships/image" Target="/ppt/media/image15.png" Id="R884f3bc979b6401f" /><Relationship Type="http://schemas.openxmlformats.org/officeDocument/2006/relationships/notesSlide" Target="/ppt/notesSlides/notesSlide15.xml" Id="Ra77a1bd3beb24f8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f4f5a43644278" /><Relationship Type="http://schemas.openxmlformats.org/officeDocument/2006/relationships/image" Target="/ppt/media/image16.png" Id="R81bed0d742ad49bb" /><Relationship Type="http://schemas.openxmlformats.org/officeDocument/2006/relationships/notesSlide" Target="/ppt/notesSlides/notesSlide16.xml" Id="Ra33c5c170575426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33be5cd3a47e2" /><Relationship Type="http://schemas.openxmlformats.org/officeDocument/2006/relationships/image" Target="/ppt/media/image17.png" Id="R954cb1e4860246d6" /><Relationship Type="http://schemas.openxmlformats.org/officeDocument/2006/relationships/notesSlide" Target="/ppt/notesSlides/notesSlide17.xml" Id="R2d2d43bf4eb6469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0f77cd52c41c8" /><Relationship Type="http://schemas.openxmlformats.org/officeDocument/2006/relationships/image" Target="/ppt/media/image18.png" Id="Rbae7279ebe454ddd" /><Relationship Type="http://schemas.openxmlformats.org/officeDocument/2006/relationships/notesSlide" Target="/ppt/notesSlides/notesSlide18.xml" Id="R9081d68ffbd34d4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81f02b4ff409b" /><Relationship Type="http://schemas.openxmlformats.org/officeDocument/2006/relationships/image" Target="/ppt/media/image19.png" Id="Ra8f61505df774b1b" /><Relationship Type="http://schemas.openxmlformats.org/officeDocument/2006/relationships/notesSlide" Target="/ppt/notesSlides/notesSlide19.xml" Id="R1612b963883e41d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40e1344e94b9b" /><Relationship Type="http://schemas.openxmlformats.org/officeDocument/2006/relationships/image" Target="/ppt/media/image20.png" Id="R0f0387357b484e02" /><Relationship Type="http://schemas.openxmlformats.org/officeDocument/2006/relationships/notesSlide" Target="/ppt/notesSlides/notesSlide20.xml" Id="Rea7ce35dc49c49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586DB72-FCD5-4DBC-8434-501475F8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A5F64AA-3850-4FBE-A76A-B867C12D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1.3   /   LESSON 09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D93AFDBF-A4B9-4F79-89D0-9666368E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CONNECTION CAFÉ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1cf38757bf4fa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0B44F62-23DF-4377-A6E7-A9BE62C1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20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5A1C0757-A0AA-4A01-934F-225C613B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Wired and wireless connections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0DC29063-306D-43B3-9FD8-0EB491DD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KEY QUESTION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043AD963-F90E-48F3-BFCB-860E5523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Which is better: a wired or wireless network?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ba13b2460f4882"/>
          <a:stretch xmlns:a="http://schemas.openxmlformats.org/drawingml/2006/main"/>
        </p:blipFill>
        <p:spPr>
          <a:xfrm xmlns:a="http://schemas.openxmlformats.org/drawingml/2006/main">
            <a:off x="6076950" y="1819275"/>
            <a:ext cx="5400675" cy="3600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1298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D73957AB-91C5-4C2A-876D-B28E0EF8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60F408F-30A1-4F0D-A430-6D23339B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09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CA2968D1-444C-47E8-8CB8-266EDB81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84c8bad87479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BDD36E2-067A-4FAC-B0FB-126F59F3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20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737538C3-389B-430A-B646-F930B2DD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CF1AA921-5EB9-4EB9-BE7A-BDFA5A81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understand that Ethernet is a wired method of connection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9CCD6442-6A00-4B8D-AE86-CAEAB5D2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9AC956C0-720A-4035-BDD2-33664867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05125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understand that Wi-Fi and Bluetooth are wireless methods of connection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571BEB7D-790B-4A94-8224-197E25B0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8E72873F-0413-44E6-9F26-28C56145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understand the benefits and drawbacks of wired versus wireless connections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05BA56D9-D41A-4F1A-92D2-A5207769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8A85AABA-2B69-48C2-8167-BB7F3D58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29175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be able to recommend a connection type for a specified scenario</a:t>
            </a:r>
          </a:p>
        </p:txBody>
      </p:sp>
    </p:spTree>
    <p:extLst>
      <p:ext uri="{BB962C8B-B14F-4D97-AF65-F5344CB8AC3E}">
        <p14:creationId xmlns:p14="http://schemas.microsoft.com/office/powerpoint/2010/main" val="10127912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494103C-7753-45C3-8D60-1D8F914E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721DBF6-E4DB-4C5A-BE2A-42867538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09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9E753BC6-CA7D-4415-9B21-FDCF3830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6079553d964cc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42F318C-AC7B-4D51-A88A-0AB3AB92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20</a:t>
            </a:r>
          </a:p>
        </p:txBody>
      </p:sp>
      <p:sp>
        <p:nvSpPr>
          <p:cNvPr id="6" name="starter">
            <a:extLst xmlns:a="http://schemas.openxmlformats.org/drawingml/2006/main">
              <a:ext uri="{FF2B5EF4-FFF2-40B4-BE49-F238E27FC236}">
                <a16:creationId xmlns:a16="http://schemas.microsoft.com/office/drawing/2014/main" id="{4CE550C8-2675-4454-B7F3-1EE911F4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Count the devices around you that connect without a cable. For each one, say why a cable would be worse.</a:t>
            </a:r>
          </a:p>
        </p:txBody>
      </p:sp>
    </p:spTree>
    <p:extLst>
      <p:ext uri="{BB962C8B-B14F-4D97-AF65-F5344CB8AC3E}">
        <p14:creationId xmlns:p14="http://schemas.microsoft.com/office/powerpoint/2010/main" val="4663034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8119358-B33B-4B4A-8351-681F3B5A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72D1AA4-B864-40D7-A9C1-DE79B43F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09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F9A65B6-47C0-46E6-B73D-4424FB28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7c12906a04b4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F7286B7-666D-4A1E-AB4E-1C8CDEB4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20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04056D62-F684-42F7-9885-3E265D6A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9D67BDEC-484B-4C69-9396-ADF9B438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phone or laptop can use Wi-Fi while moving around. Earbuds or a mouse often use Bluetooth to avoid a cable.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74E5C6F3-F1B6-46D8-959F-B1F036D9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F5BAD177-FB7F-4885-9A88-E21D2E3E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338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cable might restrict movement or be impractical for a small wearable device.</a:t>
            </a:r>
          </a:p>
        </p:txBody>
      </p:sp>
    </p:spTree>
    <p:extLst>
      <p:ext uri="{BB962C8B-B14F-4D97-AF65-F5344CB8AC3E}">
        <p14:creationId xmlns:p14="http://schemas.microsoft.com/office/powerpoint/2010/main" val="3825560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D789E6F-37A2-4665-A7A4-C43B343F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4B78B893-7D29-485D-B56B-6EC44C4F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09   /   WORKSHEET KEY TERMS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D0E716D-3F3D-45AC-B29D-6DD18AA7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 quiz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36b5f2b264c2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7901010-015A-4B14-9C24-92B92E55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20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0385CD28-0B9A-4FC3-B00F-B3442DC6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88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F4745946-357E-4F3E-AA81-6ABFD33E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288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Ethernet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1E9B1CA6-70E2-466A-8595-E15C4AB2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B3B96DC4-8FD1-4A74-98FF-38336496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57550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Wi-Fi</a:t>
            </a:r>
          </a:p>
        </p:txBody>
      </p:sp>
      <p:sp>
        <p:nvSpPr>
          <p:cNvPr id="10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A9DBF6C4-9143-4188-82A6-84D5D99F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term-2">
            <a:extLst xmlns:a="http://schemas.openxmlformats.org/drawingml/2006/main">
              <a:ext uri="{FF2B5EF4-FFF2-40B4-BE49-F238E27FC236}">
                <a16:creationId xmlns:a16="http://schemas.microsoft.com/office/drawing/2014/main" id="{7120A116-B9E1-4E5C-A7EE-C325EEE8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862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Bluetooth</a:t>
            </a:r>
          </a:p>
        </p:txBody>
      </p:sp>
    </p:spTree>
    <p:extLst>
      <p:ext uri="{BB962C8B-B14F-4D97-AF65-F5344CB8AC3E}">
        <p14:creationId xmlns:p14="http://schemas.microsoft.com/office/powerpoint/2010/main" val="9008185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70957ED-42CA-4954-8692-8BF870C5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065C19C-5904-462B-A331-E9CDE7AE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09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AE5FFE7-FA9A-4962-A623-8AA410BF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terminology: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099139195a418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BAD851C-F0C2-4EDF-9A23-BFE78E23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20</a:t>
            </a:r>
          </a:p>
        </p:txBody>
      </p:sp>
      <p:sp>
        <p:nvSpPr>
          <p:cNvPr id="6" name="term-label-0">
            <a:extLst xmlns:a="http://schemas.openxmlformats.org/drawingml/2006/main">
              <a:ext uri="{FF2B5EF4-FFF2-40B4-BE49-F238E27FC236}">
                <a16:creationId xmlns:a16="http://schemas.microsoft.com/office/drawing/2014/main" id="{F813F79F-5537-4B34-A1AB-B71CA049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Ethernet</a:t>
            </a:r>
          </a:p>
        </p:txBody>
      </p:sp>
      <p:sp>
        <p:nvSpPr>
          <p:cNvPr id="7" name="term-definition-0">
            <a:extLst xmlns:a="http://schemas.openxmlformats.org/drawingml/2006/main">
              <a:ext uri="{FF2B5EF4-FFF2-40B4-BE49-F238E27FC236}">
                <a16:creationId xmlns:a16="http://schemas.microsoft.com/office/drawing/2014/main" id="{6F7072D4-13DE-4610-AE26-1D427955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Ethernet: a wired networking standard commonly used to connect devices on a LAN.</a:t>
            </a:r>
          </a:p>
        </p:txBody>
      </p:sp>
      <p:sp>
        <p:nvSpPr>
          <p:cNvPr id="8" name="term-label-1">
            <a:extLst xmlns:a="http://schemas.openxmlformats.org/drawingml/2006/main">
              <a:ext uri="{FF2B5EF4-FFF2-40B4-BE49-F238E27FC236}">
                <a16:creationId xmlns:a16="http://schemas.microsoft.com/office/drawing/2014/main" id="{6037A4D6-EA40-4565-B5EF-CFF7BED2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Wi-Fi</a:t>
            </a:r>
          </a:p>
        </p:txBody>
      </p:sp>
      <p:sp>
        <p:nvSpPr>
          <p:cNvPr id="9" name="term-definition-1">
            <a:extLst xmlns:a="http://schemas.openxmlformats.org/drawingml/2006/main">
              <a:ext uri="{FF2B5EF4-FFF2-40B4-BE49-F238E27FC236}">
                <a16:creationId xmlns:a16="http://schemas.microsoft.com/office/drawing/2014/main" id="{7841012A-B900-48EE-9173-31E58352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Wi-Fi: a wireless LAN connection using radio signals through an access point.</a:t>
            </a:r>
          </a:p>
        </p:txBody>
      </p:sp>
      <p:sp>
        <p:nvSpPr>
          <p:cNvPr id="10" name="term-label-2">
            <a:extLst xmlns:a="http://schemas.openxmlformats.org/drawingml/2006/main">
              <a:ext uri="{FF2B5EF4-FFF2-40B4-BE49-F238E27FC236}">
                <a16:creationId xmlns:a16="http://schemas.microsoft.com/office/drawing/2014/main" id="{3FCA1766-721E-43CF-AF41-0B4BFA68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Bluetooth</a:t>
            </a:r>
          </a:p>
        </p:txBody>
      </p:sp>
      <p:sp>
        <p:nvSpPr>
          <p:cNvPr id="11" name="term-definition-2">
            <a:extLst xmlns:a="http://schemas.openxmlformats.org/drawingml/2006/main">
              <a:ext uri="{FF2B5EF4-FFF2-40B4-BE49-F238E27FC236}">
                <a16:creationId xmlns:a16="http://schemas.microsoft.com/office/drawing/2014/main" id="{AF032955-14E9-42E3-83DF-ABEA2204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6252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Bluetooth: a short-range, low-power wireless connection between nearby devices.</a:t>
            </a:r>
          </a:p>
        </p:txBody>
      </p:sp>
    </p:spTree>
    <p:extLst>
      <p:ext uri="{BB962C8B-B14F-4D97-AF65-F5344CB8AC3E}">
        <p14:creationId xmlns:p14="http://schemas.microsoft.com/office/powerpoint/2010/main" val="17300440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D7628E5C-6B07-45BC-9038-FE1F2295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B254C8F-0E32-4BAE-BB33-16910C08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1.3   /   LESSON 09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32DEEF6-3B7C-4491-AAFA-21263C63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8d5b2a55d47c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55049E4-5C04-4684-A1C1-5CA7A632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20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7F9EF8BD-57FB-4F79-BFB7-BDF15FE6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</a:t>
            </a: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2cbfcbf51620445a"/>
              </a:rPr>
              <a:t>OPEN EXPERIENCE ↗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5554E6F9-0C0F-4D50-8DCE-B2FB69FB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Connection café in Topic 1.3.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0006D71B-22CB-46FE-8111-54E055B5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599E46CB-4057-4045-8A4B-F81ED186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Read each panel. Write the key fact IN YOUR OWN WORDS and answer the worksheet challenge before tapping its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2127D253-46EB-42AC-8CB6-944CCE5E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B2A9C131-4F8A-46F7-956B-21757E8A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Complete the ★ task before tapping the star. Copy your score (out of 28), then complete the worksheet task or review.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E4C08706-10FF-45CF-B5D5-4B5CFA0D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392346A2-4DC4-4472-8EFB-D5E70359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19761644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0FF742E-A3F1-4257-8A1D-CA5DE8D9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91818E-F852-4A15-8A14-CAD3AE78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09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29CCCFE-C255-4CB6-82FE-AEF16CED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Apply your learning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c86b83399b49c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929DD24-F93C-4929-B422-5539DA05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20</a:t>
            </a:r>
          </a:p>
        </p:txBody>
      </p:sp>
      <p:sp>
        <p:nvSpPr>
          <p:cNvPr id="6" name="application-prompt">
            <a:extLst xmlns:a="http://schemas.openxmlformats.org/drawingml/2006/main">
              <a:ext uri="{FF2B5EF4-FFF2-40B4-BE49-F238E27FC236}">
                <a16:creationId xmlns:a16="http://schemas.microsoft.com/office/drawing/2014/main" id="{94664BD1-39BA-4487-A08B-AB1B28D3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95525"/>
            <a:ext cx="105727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Answer the key question: when would a wired or wireless connection be the better choice?</a:t>
            </a:r>
          </a:p>
        </p:txBody>
      </p:sp>
      <p:sp>
        <p:nvSpPr>
          <p:cNvPr id="7" name="application-note">
            <a:extLst xmlns:a="http://schemas.openxmlformats.org/drawingml/2006/main">
              <a:ext uri="{FF2B5EF4-FFF2-40B4-BE49-F238E27FC236}">
                <a16:creationId xmlns:a16="http://schemas.microsoft.com/office/drawing/2014/main" id="{1422B94F-8067-410E-8C5E-6927EB9A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Use the task and table on your worksheet.</a:t>
            </a:r>
          </a:p>
        </p:txBody>
      </p:sp>
    </p:spTree>
    <p:extLst>
      <p:ext uri="{BB962C8B-B14F-4D97-AF65-F5344CB8AC3E}">
        <p14:creationId xmlns:p14="http://schemas.microsoft.com/office/powerpoint/2010/main" val="8257593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0716417-3374-4788-A269-93CDF06E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126977E-B5AA-4E2E-89CB-1E30385F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09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C4A9AB28-FC0B-48A4-A17C-3902277E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bfcfb27789420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09C5EA3-BFC4-4853-954F-E8092FAA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20</a:t>
            </a:r>
          </a:p>
        </p:txBody>
      </p:sp>
      <p:sp>
        <p:nvSpPr>
          <p:cNvPr id="6" name="review-prompt">
            <a:extLst xmlns:a="http://schemas.openxmlformats.org/drawingml/2006/main">
              <a:ext uri="{FF2B5EF4-FFF2-40B4-BE49-F238E27FC236}">
                <a16:creationId xmlns:a16="http://schemas.microsoft.com/office/drawing/2014/main" id="{97F5B977-7DF1-4D2C-B443-0286EACD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5727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Would you use Wi-Fi or Bluetooth to connect 30 laptops to the school internet for one day? Explain.</a:t>
            </a:r>
          </a:p>
        </p:txBody>
      </p:sp>
    </p:spTree>
    <p:extLst>
      <p:ext uri="{BB962C8B-B14F-4D97-AF65-F5344CB8AC3E}">
        <p14:creationId xmlns:p14="http://schemas.microsoft.com/office/powerpoint/2010/main" val="8000619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BC29020C-ABAA-43BF-8BC1-53131BF2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1DD86A8-8B73-4D56-894C-74D2CC3C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09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35163D4-A78E-4947-B381-AE23722E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Application: sample answers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e02ce86e1487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64BC7DC-9ECC-4922-9515-E57FF731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20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1A543067-90C8-43BC-892F-373EF627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1AB131B9-7801-4381-ADF8-FECDF16E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47850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Ethernet suits servers or fixed gaming devices where reliability and low latency matter.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66665946-2143-4CBD-A098-71365E9C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79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74E91345-AD20-43A8-8165-4369873B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47975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Wi-Fi suits mobile devices and many customers sharing internet access.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65B50FAB-9DD7-4D1C-8B3C-8B17BBBC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7E489973-DCDD-47A9-8F0C-8ECE53BA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Bluetooth suits low-power devices a short distance apart, such as earbuds and a phone.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961A327A-6992-4507-8A33-788EE060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482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440B439A-A5E8-4FBC-9508-B0B875DE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Wi-Fi connects the laptops to access points and the wider network. Bluetooth is designed for short-range device links, not this classroom internet access.</a:t>
            </a:r>
          </a:p>
        </p:txBody>
      </p:sp>
    </p:spTree>
    <p:extLst>
      <p:ext uri="{BB962C8B-B14F-4D97-AF65-F5344CB8AC3E}">
        <p14:creationId xmlns:p14="http://schemas.microsoft.com/office/powerpoint/2010/main" val="17854120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FF5FDBC1-A64F-4037-A7E9-AAC3E93D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B579AD3-56E3-4F76-BCF3-BC183EF7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09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7AE8032-F9D8-424D-819F-5A4B447E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01eab66be43c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54F1E35-67BD-498D-A45F-76F67423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20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61AA19C2-77B5-4005-BCE7-2CDF59CE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F94298B8-89F4-4627-ADFA-65E1FD26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Ethernet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90E31C83-2BAA-4B27-BFA8-3845DE2D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Gamers often choose Ethernet for a stable, fast link with less interference and lower latency.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623054EC-4141-4DB8-80EC-FB955FFB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Wi-Fi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AB5A545B-9AB0-4604-998D-E8AF4164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laptop needs a wireless network interface, an access point within range and the network credentials.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3C617208-523C-4EE0-A99F-15F91CFC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Bluetooth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A17FF45E-ED03-4B0A-A8D5-C701C779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Bluetooth uses little power and suits short-range links between earbuds and a phone.</a:t>
            </a:r>
          </a:p>
        </p:txBody>
      </p:sp>
    </p:spTree>
    <p:extLst>
      <p:ext uri="{BB962C8B-B14F-4D97-AF65-F5344CB8AC3E}">
        <p14:creationId xmlns:p14="http://schemas.microsoft.com/office/powerpoint/2010/main" val="755631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E3EB641-CFCB-4F84-8590-EBECDEB3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93E526E-0443-4020-A0FC-F74A16CB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09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8E2A791-F847-4E11-9121-3EBA59F6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4910bbdb34a8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E8FA3BE-FBBA-4FAD-A243-4FF3ECE9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20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E9240A94-F411-4B97-B829-8177366B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8E13FC8E-E0A2-43EC-B223-D5A61C07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Wi-Fi vs Bluetooth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9AD1B9B3-F445-48D2-8877-58F85AB5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Use Wi-Fi, or preferably a wired link, to move a 2 GB file to a server. Bluetooth's lower speed makes it less suitable.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425109D1-D899-4DCA-B13F-B3C7AB00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Wired vs wireless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AE3DE98F-A349-4B8E-958C-87774908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Wired usually offers stable speed and security. Wireless gives mobility and simpler access, but can suffer interference.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B85AC1AC-2CA1-4564-AB9B-47565D0A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Recommend a connection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646D3FFE-5F5F-4B70-B827-DC3CFF50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Offer customers Wi-Fi via access points: they can connect their own phones and laptops without cables. Secure the network appropriately.</a:t>
            </a:r>
          </a:p>
        </p:txBody>
      </p:sp>
    </p:spTree>
    <p:extLst>
      <p:ext uri="{BB962C8B-B14F-4D97-AF65-F5344CB8AC3E}">
        <p14:creationId xmlns:p14="http://schemas.microsoft.com/office/powerpoint/2010/main" val="5212083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400E6AC-B6F2-4D4E-9E36-33839C69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C84A904D-EFAA-4C63-BC0A-0D98CB4B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09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3E67B6B-75E8-4487-AFCA-FACFFED9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 · answers 1–4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f6f0aac014d3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8FE3436-B035-4E78-828A-CF183840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20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4ACA78A3-E077-45F3-A8D8-5CD12031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A74833CE-BEFB-4621-B72D-809ABB22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Thick walls and other signals can interrupt it → Wireless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5DA3A2C8-90E8-4F6C-A547-21EFE37E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D50DFFDC-3195-4BCE-8679-75C2D534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Needs cable runs, sockets and switches everywhere → Wired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E9815ADB-62A8-465B-93C3-38D1DFF0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5932EFF5-660D-4C6C-9977-97DE9FAF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4332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Speeds drop the further you are from the access point → Wireless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155D58C6-5DF7-4564-A2C6-352E1E2C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DEBA15A0-EE27-4B24-83FE-595FE2A3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cable gives the same speed every time → Wired</a:t>
            </a:r>
          </a:p>
        </p:txBody>
      </p:sp>
    </p:spTree>
    <p:extLst>
      <p:ext uri="{BB962C8B-B14F-4D97-AF65-F5344CB8AC3E}">
        <p14:creationId xmlns:p14="http://schemas.microsoft.com/office/powerpoint/2010/main" val="17856407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59D5EC8-3FF8-41B4-8C0C-E31998CA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8DB8E3B-4420-4B3D-9A45-234D23E1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09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D92F618C-4F94-4787-881A-027827BD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 · answers 5–8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483d71071b4a3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DE3C13C-ACC4-4917-8FEA-1C85828C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20</a:t>
            </a:r>
          </a:p>
        </p:txBody>
      </p:sp>
      <p:sp>
        <p:nvSpPr>
          <p:cNvPr id="6" name="number-5">
            <a:extLst xmlns:a="http://schemas.openxmlformats.org/drawingml/2006/main">
              <a:ext uri="{FF2B5EF4-FFF2-40B4-BE49-F238E27FC236}">
                <a16:creationId xmlns:a16="http://schemas.microsoft.com/office/drawing/2014/main" id="{275903DF-058B-42C8-A483-7E32F935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5.</a:t>
            </a:r>
          </a:p>
        </p:txBody>
      </p:sp>
      <p:sp>
        <p:nvSpPr>
          <p:cNvPr id="7" name="item-5">
            <a:extLst xmlns:a="http://schemas.openxmlformats.org/drawingml/2006/main">
              <a:ext uri="{FF2B5EF4-FFF2-40B4-BE49-F238E27FC236}">
                <a16:creationId xmlns:a16="http://schemas.microsoft.com/office/drawing/2014/main" id="{0AF4E9F8-FC75-4BE0-85F8-6EA0EE27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 attacker has to get inside the building to tap it → Wired</a:t>
            </a:r>
          </a:p>
        </p:txBody>
      </p:sp>
      <p:sp>
        <p:nvSpPr>
          <p:cNvPr id="8" name="number-6">
            <a:extLst xmlns:a="http://schemas.openxmlformats.org/drawingml/2006/main">
              <a:ext uri="{FF2B5EF4-FFF2-40B4-BE49-F238E27FC236}">
                <a16:creationId xmlns:a16="http://schemas.microsoft.com/office/drawing/2014/main" id="{6A4A7F55-AD4A-4238-B8AA-F7D49F14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6.</a:t>
            </a:r>
          </a:p>
        </p:txBody>
      </p:sp>
      <p:sp>
        <p:nvSpPr>
          <p:cNvPr id="9" name="item-6">
            <a:extLst xmlns:a="http://schemas.openxmlformats.org/drawingml/2006/main">
              <a:ext uri="{FF2B5EF4-FFF2-40B4-BE49-F238E27FC236}">
                <a16:creationId xmlns:a16="http://schemas.microsoft.com/office/drawing/2014/main" id="{8E1B149E-1CD9-45FE-AD03-A23A0246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Signals spread outside the building where anyone can capture them → Wireless</a:t>
            </a:r>
          </a:p>
        </p:txBody>
      </p:sp>
      <p:sp>
        <p:nvSpPr>
          <p:cNvPr id="10" name="number-7">
            <a:extLst xmlns:a="http://schemas.openxmlformats.org/drawingml/2006/main">
              <a:ext uri="{FF2B5EF4-FFF2-40B4-BE49-F238E27FC236}">
                <a16:creationId xmlns:a16="http://schemas.microsoft.com/office/drawing/2014/main" id="{3FFFA154-86A7-4BF9-920B-87CFC19C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7.</a:t>
            </a:r>
          </a:p>
        </p:txBody>
      </p:sp>
      <p:sp>
        <p:nvSpPr>
          <p:cNvPr id="11" name="item-7">
            <a:extLst xmlns:a="http://schemas.openxmlformats.org/drawingml/2006/main">
              <a:ext uri="{FF2B5EF4-FFF2-40B4-BE49-F238E27FC236}">
                <a16:creationId xmlns:a16="http://schemas.microsoft.com/office/drawing/2014/main" id="{99D521A5-B483-4698-9BD2-4D4ED549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4332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Best choice for machines that never move → Wired</a:t>
            </a:r>
          </a:p>
        </p:txBody>
      </p:sp>
      <p:sp>
        <p:nvSpPr>
          <p:cNvPr id="12" name="number-8">
            <a:extLst xmlns:a="http://schemas.openxmlformats.org/drawingml/2006/main">
              <a:ext uri="{FF2B5EF4-FFF2-40B4-BE49-F238E27FC236}">
                <a16:creationId xmlns:a16="http://schemas.microsoft.com/office/drawing/2014/main" id="{AE156DC5-B008-4D31-B01A-6F3E5E5F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8.</a:t>
            </a:r>
          </a:p>
        </p:txBody>
      </p:sp>
      <p:sp>
        <p:nvSpPr>
          <p:cNvPr id="13" name="item-8">
            <a:extLst xmlns:a="http://schemas.openxmlformats.org/drawingml/2006/main">
              <a:ext uri="{FF2B5EF4-FFF2-40B4-BE49-F238E27FC236}">
                <a16:creationId xmlns:a16="http://schemas.microsoft.com/office/drawing/2014/main" id="{81BE9F2C-3879-4104-840F-25506B8A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Lets a class of laptops move room to room → Wireless</a:t>
            </a:r>
          </a:p>
        </p:txBody>
      </p:sp>
    </p:spTree>
    <p:extLst>
      <p:ext uri="{BB962C8B-B14F-4D97-AF65-F5344CB8AC3E}">
        <p14:creationId xmlns:p14="http://schemas.microsoft.com/office/powerpoint/2010/main" val="14323845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7AD62F3-67EA-4684-8A5D-A99E4701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4D47D3E2-8BA3-4583-9764-72803DCF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09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DB3B3F7-AC2A-4B72-9FF5-961725B2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 · answers 9–11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f3bc979b6401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8E3BB50-0643-4677-9465-EDAC4E80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20</a:t>
            </a:r>
          </a:p>
        </p:txBody>
      </p:sp>
      <p:sp>
        <p:nvSpPr>
          <p:cNvPr id="6" name="number-9">
            <a:extLst xmlns:a="http://schemas.openxmlformats.org/drawingml/2006/main">
              <a:ext uri="{FF2B5EF4-FFF2-40B4-BE49-F238E27FC236}">
                <a16:creationId xmlns:a16="http://schemas.microsoft.com/office/drawing/2014/main" id="{C54A5D9B-29D8-491E-BEB7-4F371A9A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9.</a:t>
            </a:r>
          </a:p>
        </p:txBody>
      </p:sp>
      <p:sp>
        <p:nvSpPr>
          <p:cNvPr id="7" name="item-9">
            <a:extLst xmlns:a="http://schemas.openxmlformats.org/drawingml/2006/main">
              <a:ext uri="{FF2B5EF4-FFF2-40B4-BE49-F238E27FC236}">
                <a16:creationId xmlns:a16="http://schemas.microsoft.com/office/drawing/2014/main" id="{6B0AF112-FF0C-4210-9E1D-2C6CC5A9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Can be set up in an old building without drilling holes → Wireless</a:t>
            </a:r>
          </a:p>
        </p:txBody>
      </p:sp>
      <p:sp>
        <p:nvSpPr>
          <p:cNvPr id="8" name="number-10">
            <a:extLst xmlns:a="http://schemas.openxmlformats.org/drawingml/2006/main">
              <a:ext uri="{FF2B5EF4-FFF2-40B4-BE49-F238E27FC236}">
                <a16:creationId xmlns:a16="http://schemas.microsoft.com/office/drawing/2014/main" id="{D7532F4F-CFA5-4953-AD96-FB75D784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84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10.</a:t>
            </a:r>
          </a:p>
        </p:txBody>
      </p:sp>
      <p:sp>
        <p:nvSpPr>
          <p:cNvPr id="9" name="item-10">
            <a:extLst xmlns:a="http://schemas.openxmlformats.org/drawingml/2006/main">
              <a:ext uri="{FF2B5EF4-FFF2-40B4-BE49-F238E27FC236}">
                <a16:creationId xmlns:a16="http://schemas.microsoft.com/office/drawing/2014/main" id="{A0979901-1B3C-4A68-A88B-5C522182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99250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Handles very large file transfers most quickly → Wired</a:t>
            </a:r>
          </a:p>
        </p:txBody>
      </p:sp>
      <p:sp>
        <p:nvSpPr>
          <p:cNvPr id="10" name="number-11">
            <a:extLst xmlns:a="http://schemas.openxmlformats.org/drawingml/2006/main">
              <a:ext uri="{FF2B5EF4-FFF2-40B4-BE49-F238E27FC236}">
                <a16:creationId xmlns:a16="http://schemas.microsoft.com/office/drawing/2014/main" id="{60DE405F-F66D-4052-A5B5-74F0D94F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11.</a:t>
            </a:r>
          </a:p>
        </p:txBody>
      </p:sp>
      <p:sp>
        <p:nvSpPr>
          <p:cNvPr id="11" name="item-11">
            <a:extLst xmlns:a="http://schemas.openxmlformats.org/drawingml/2006/main">
              <a:ext uri="{FF2B5EF4-FFF2-40B4-BE49-F238E27FC236}">
                <a16:creationId xmlns:a16="http://schemas.microsoft.com/office/drawing/2014/main" id="{59E0BF5A-12A1-4CD5-8C7F-D787E976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57675"/>
            <a:ext cx="99250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Performance drops as more devices join the same access point → Wireless</a:t>
            </a:r>
          </a:p>
        </p:txBody>
      </p:sp>
    </p:spTree>
    <p:extLst>
      <p:ext uri="{BB962C8B-B14F-4D97-AF65-F5344CB8AC3E}">
        <p14:creationId xmlns:p14="http://schemas.microsoft.com/office/powerpoint/2010/main" val="89587278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178158A-4EA5-43C0-BDA5-022B9CCE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584083B-0429-4AEB-9ABE-0AAA4C9A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09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5657411-65B7-4E75-B1A7-C364569A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bed0d742ad49b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F176DB2-7662-4E23-874B-4140EC0F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20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BD7CFFE2-8179-4379-9538-E90AA9BE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-0">
            <a:extLst xmlns:a="http://schemas.openxmlformats.org/drawingml/2006/main">
              <a:ext uri="{FF2B5EF4-FFF2-40B4-BE49-F238E27FC236}">
                <a16:creationId xmlns:a16="http://schemas.microsoft.com/office/drawing/2014/main" id="{B27FB4F7-3AAD-440B-B853-FFF6C3E3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 Describe two differences between Wi-Fi and Bluetooth.  [4]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D8333544-3230-446F-8A23-074BA596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 Explain one benefit and one drawback of using cables rather than Wi-Fi.  [4]</a:t>
            </a:r>
          </a:p>
        </p:txBody>
      </p:sp>
    </p:spTree>
    <p:extLst>
      <p:ext uri="{BB962C8B-B14F-4D97-AF65-F5344CB8AC3E}">
        <p14:creationId xmlns:p14="http://schemas.microsoft.com/office/powerpoint/2010/main" val="163631309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B54315C-4CB9-429B-B0E6-59BBFF71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D7595CA-3908-447F-AEC1-FAE2B258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09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03EB0D81-60CD-4A82-8624-41AB0B2F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 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4cb1e4860246d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416171B-7342-4EE9-BB02-3B9A5A72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20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2BAA9BFF-1A17-46EC-A81F-739B8ECF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">
            <a:extLst xmlns:a="http://schemas.openxmlformats.org/drawingml/2006/main">
              <a:ext uri="{FF2B5EF4-FFF2-40B4-BE49-F238E27FC236}">
                <a16:creationId xmlns:a16="http://schemas.microsoft.com/office/drawing/2014/main" id="{95746515-7180-4676-9B65-DABEE9D3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047750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 A café wants to offer internet access to customers. Recommend a connection type and justify your choice.  [4]</a:t>
            </a:r>
          </a:p>
        </p:txBody>
      </p:sp>
    </p:spTree>
    <p:extLst>
      <p:ext uri="{BB962C8B-B14F-4D97-AF65-F5344CB8AC3E}">
        <p14:creationId xmlns:p14="http://schemas.microsoft.com/office/powerpoint/2010/main" val="14445125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ACCC14A-2BD8-4007-9D93-3E16FFEE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68EB981-3F11-4A7F-BD27-A4E520C4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09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A0722DF-A432-4514-9C2F-642A6E3C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e7279ebe454dd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47E0E72-5496-4AC1-BBCB-90AD1F39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20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EEA0CB41-1801-499A-9460-7F303F6E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11C6E325-67F9-44FE-AE92-F9477B56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Wi-Fi normally covers a larger area and connects devices to a LAN or internet. Bluetooth is shorter range, uses less power and usually links nearby devices directly.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9A2E3870-563F-461A-91FA-CC7C7BA4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A cable can be faster and more stable, with less radio interference. It restricts movement and requires a physical port and cable.</a:t>
            </a:r>
          </a:p>
        </p:txBody>
      </p:sp>
    </p:spTree>
    <p:extLst>
      <p:ext uri="{BB962C8B-B14F-4D97-AF65-F5344CB8AC3E}">
        <p14:creationId xmlns:p14="http://schemas.microsoft.com/office/powerpoint/2010/main" val="8017332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B1AD060-FE6F-4EE1-87EB-8ECD60FB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88AC109-1A95-4F0E-930A-2696D178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09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BB2A686-9A50-47C2-8F1D-9D73DFE7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 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f61505df774b1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74AAB0B-5640-4683-9DD9-6C33C29B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19 / 20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69FD0DC9-73BC-42C1-A491-606C1D99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">
            <a:extLst xmlns:a="http://schemas.openxmlformats.org/drawingml/2006/main">
              <a:ext uri="{FF2B5EF4-FFF2-40B4-BE49-F238E27FC236}">
                <a16:creationId xmlns:a16="http://schemas.microsoft.com/office/drawing/2014/main" id="{3FBA4245-97E3-4AB9-A462-C50EEAFF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0572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Offer Wi-Fi because customers bring mobile devices and need internet without plugging in. Access points can cover the seating area; configure security and adequate capacity for many users.</a:t>
            </a:r>
          </a:p>
        </p:txBody>
      </p:sp>
    </p:spTree>
    <p:extLst>
      <p:ext uri="{BB962C8B-B14F-4D97-AF65-F5344CB8AC3E}">
        <p14:creationId xmlns:p14="http://schemas.microsoft.com/office/powerpoint/2010/main" val="207996895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C92C25E-0850-4998-83C4-313D2B02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B327F35-6372-465B-9E2D-E6494F79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09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17F7652-6FDC-4214-BB83-8479E8DE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0387357b484e0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69E7E84-068D-45B3-903E-14D4B4DA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20 / 20</a:t>
            </a:r>
          </a:p>
        </p:txBody>
      </p:sp>
      <p:sp>
        <p:nvSpPr>
          <p:cNvPr id="6" name="confidence-intro">
            <a:extLst xmlns:a="http://schemas.openxmlformats.org/drawingml/2006/main">
              <a:ext uri="{FF2B5EF4-FFF2-40B4-BE49-F238E27FC236}">
                <a16:creationId xmlns:a16="http://schemas.microsoft.com/office/drawing/2014/main" id="{E4D9A6ED-9331-4CFA-9124-3B5BED58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Select Not yet, Getting there or Confident for each objective on the worksheet.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48C1D2D6-9006-4C96-9B25-BC2FD898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DBAB7F91-EA3D-4FFF-8F86-8669C5B1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Ethernet as a wired connection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E39392AF-9C1C-4501-BD77-34EF8342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E6058B87-72DE-40D7-8D0B-4A3E8341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Wi-Fi and Bluetooth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BC306520-CE57-4C3B-9731-06144B36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2FA041B2-5D40-4391-86EC-29978DC3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720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Recommending a connection for a scenario</a:t>
            </a:r>
          </a:p>
        </p:txBody>
      </p:sp>
    </p:spTree>
    <p:extLst>
      <p:ext uri="{BB962C8B-B14F-4D97-AF65-F5344CB8AC3E}">
        <p14:creationId xmlns:p14="http://schemas.microsoft.com/office/powerpoint/2010/main" val="6254456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2026-09-25T14:15:40.0870000Z</dcterms:created>
  <dcterms:modified xsi:type="dcterms:W3CDTF">2026-09-25T14:15:40.0870000Z</dcterms:modified>
</coreProperties>
</file>