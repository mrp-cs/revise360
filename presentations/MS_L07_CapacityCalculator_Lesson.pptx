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671765cb4f4e67" /><Relationship Type="http://schemas.openxmlformats.org/officeDocument/2006/relationships/extended-properties" Target="/docProps/app.xml" Id="R6f145292c2714510" /><Relationship Type="http://schemas.openxmlformats.org/officeDocument/2006/relationships/officeDocument" Target="/ppt/presentation.xml" Id="Rd54d6a902cb24d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bb9a71a1264f34"/>
  </p:sldMasterIdLst>
  <p:notesMasterIdLst>
    <p:notesMasterId xmlns:r="http://schemas.openxmlformats.org/officeDocument/2006/relationships" r:id="R9a2a53b2377c4af5"/>
  </p:notesMasterIdLst>
  <p:sldIdLst>
    <p:sldId xmlns:r="http://schemas.openxmlformats.org/officeDocument/2006/relationships" id="256" r:id="R92158ffeef2d4795"/>
    <p:sldId xmlns:r="http://schemas.openxmlformats.org/officeDocument/2006/relationships" id="257" r:id="Ra1437bb21cf94534"/>
    <p:sldId xmlns:r="http://schemas.openxmlformats.org/officeDocument/2006/relationships" id="258" r:id="R5f3ccc2ebfb349d9"/>
    <p:sldId xmlns:r="http://schemas.openxmlformats.org/officeDocument/2006/relationships" id="259" r:id="R4d3e594fc9ff4eae"/>
    <p:sldId xmlns:r="http://schemas.openxmlformats.org/officeDocument/2006/relationships" id="260" r:id="Rf71efdb7d95b44c7"/>
    <p:sldId xmlns:r="http://schemas.openxmlformats.org/officeDocument/2006/relationships" id="261" r:id="R3e57ff3a7044414a"/>
    <p:sldId xmlns:r="http://schemas.openxmlformats.org/officeDocument/2006/relationships" id="262" r:id="R64fa7183a7fa46d1"/>
    <p:sldId xmlns:r="http://schemas.openxmlformats.org/officeDocument/2006/relationships" id="263" r:id="R3df8a25efdbe4805"/>
    <p:sldId xmlns:r="http://schemas.openxmlformats.org/officeDocument/2006/relationships" id="264" r:id="Reebc4929fc334217"/>
    <p:sldId xmlns:r="http://schemas.openxmlformats.org/officeDocument/2006/relationships" id="265" r:id="R281a724e024049d4"/>
    <p:sldId xmlns:r="http://schemas.openxmlformats.org/officeDocument/2006/relationships" id="266" r:id="R25c847196adc45cd"/>
    <p:sldId xmlns:r="http://schemas.openxmlformats.org/officeDocument/2006/relationships" id="267" r:id="R7e6f1f7ee0ed4f33"/>
    <p:sldId xmlns:r="http://schemas.openxmlformats.org/officeDocument/2006/relationships" id="268" r:id="R499cecd9017d4173"/>
    <p:sldId xmlns:r="http://schemas.openxmlformats.org/officeDocument/2006/relationships" id="269" r:id="Rddb7507afcbf4827"/>
    <p:sldId xmlns:r="http://schemas.openxmlformats.org/officeDocument/2006/relationships" id="270" r:id="Rbf6d63f43e2e4728"/>
    <p:sldId xmlns:r="http://schemas.openxmlformats.org/officeDocument/2006/relationships" id="271" r:id="R3405bc477cb442c5"/>
    <p:sldId xmlns:r="http://schemas.openxmlformats.org/officeDocument/2006/relationships" id="272" r:id="Rd434a0c9e51648d7"/>
    <p:sldId xmlns:r="http://schemas.openxmlformats.org/officeDocument/2006/relationships" id="273" r:id="Ref62f8e4505446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d0b327231445a8" /><Relationship Type="http://schemas.openxmlformats.org/officeDocument/2006/relationships/slideMaster" Target="/ppt/slideMasters/slideMaster1.xml" Id="R4cbb9a71a1264f34" /><Relationship Type="http://schemas.openxmlformats.org/officeDocument/2006/relationships/notesMaster" Target="/ppt/notesMasters/notesMaster1.xml" Id="R9a2a53b2377c4af5" /><Relationship Type="http://schemas.openxmlformats.org/officeDocument/2006/relationships/presProps" Target="/ppt/presProps.xml" Id="R1db8e95561d646df" /><Relationship Type="http://schemas.openxmlformats.org/officeDocument/2006/relationships/tableStyles" Target="/ppt/tableStyles.xml" Id="Rdaf2b38bdcc149c0" /><Relationship Type="http://schemas.openxmlformats.org/officeDocument/2006/relationships/slide" Target="/ppt/slides/slide1.xml" Id="R92158ffeef2d4795" /><Relationship Type="http://schemas.openxmlformats.org/officeDocument/2006/relationships/slide" Target="/ppt/slides/slide2.xml" Id="Ra1437bb21cf94534" /><Relationship Type="http://schemas.openxmlformats.org/officeDocument/2006/relationships/slide" Target="/ppt/slides/slide3.xml" Id="R5f3ccc2ebfb349d9" /><Relationship Type="http://schemas.openxmlformats.org/officeDocument/2006/relationships/slide" Target="/ppt/slides/slide4.xml" Id="R4d3e594fc9ff4eae" /><Relationship Type="http://schemas.openxmlformats.org/officeDocument/2006/relationships/slide" Target="/ppt/slides/slide5.xml" Id="Rf71efdb7d95b44c7" /><Relationship Type="http://schemas.openxmlformats.org/officeDocument/2006/relationships/slide" Target="/ppt/slides/slide6.xml" Id="R3e57ff3a7044414a" /><Relationship Type="http://schemas.openxmlformats.org/officeDocument/2006/relationships/slide" Target="/ppt/slides/slide7.xml" Id="R64fa7183a7fa46d1" /><Relationship Type="http://schemas.openxmlformats.org/officeDocument/2006/relationships/slide" Target="/ppt/slides/slide8.xml" Id="R3df8a25efdbe4805" /><Relationship Type="http://schemas.openxmlformats.org/officeDocument/2006/relationships/slide" Target="/ppt/slides/slide9.xml" Id="Reebc4929fc334217" /><Relationship Type="http://schemas.openxmlformats.org/officeDocument/2006/relationships/slide" Target="/ppt/slides/slide10.xml" Id="R281a724e024049d4" /><Relationship Type="http://schemas.openxmlformats.org/officeDocument/2006/relationships/slide" Target="/ppt/slides/slide11.xml" Id="R25c847196adc45cd" /><Relationship Type="http://schemas.openxmlformats.org/officeDocument/2006/relationships/slide" Target="/ppt/slides/slide12.xml" Id="R7e6f1f7ee0ed4f33" /><Relationship Type="http://schemas.openxmlformats.org/officeDocument/2006/relationships/slide" Target="/ppt/slides/slide13.xml" Id="R499cecd9017d4173" /><Relationship Type="http://schemas.openxmlformats.org/officeDocument/2006/relationships/slide" Target="/ppt/slides/slide14.xml" Id="Rddb7507afcbf4827" /><Relationship Type="http://schemas.openxmlformats.org/officeDocument/2006/relationships/slide" Target="/ppt/slides/slide15.xml" Id="Rbf6d63f43e2e4728" /><Relationship Type="http://schemas.openxmlformats.org/officeDocument/2006/relationships/slide" Target="/ppt/slides/slide16.xml" Id="R3405bc477cb442c5" /><Relationship Type="http://schemas.openxmlformats.org/officeDocument/2006/relationships/slide" Target="/ppt/slides/slide17.xml" Id="Rd434a0c9e51648d7" /><Relationship Type="http://schemas.openxmlformats.org/officeDocument/2006/relationships/slide" Target="/ppt/slides/slide18.xml" Id="Ref62f8e4505446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c6c9ed992b48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1885c4c2944d7b" /><Relationship Type="http://schemas.openxmlformats.org/officeDocument/2006/relationships/notesMaster" Target="/ppt/notesMasters/notesMaster1.xml" Id="R0efb49e75eb444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8d2923066747a8" /><Relationship Type="http://schemas.openxmlformats.org/officeDocument/2006/relationships/notesMaster" Target="/ppt/notesMasters/notesMaster1.xml" Id="Re37e0abe5b7f48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2cbf92650745c5" /><Relationship Type="http://schemas.openxmlformats.org/officeDocument/2006/relationships/notesMaster" Target="/ppt/notesMasters/notesMaster1.xml" Id="R87a2ef2653b04e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fb0425ebe84893" /><Relationship Type="http://schemas.openxmlformats.org/officeDocument/2006/relationships/notesMaster" Target="/ppt/notesMasters/notesMaster1.xml" Id="Rebb754c6a6754b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667fb2dc6c4206" /><Relationship Type="http://schemas.openxmlformats.org/officeDocument/2006/relationships/notesMaster" Target="/ppt/notesMasters/notesMaster1.xml" Id="Rf0c9b61b986942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1a5ce7df7b4cac" /><Relationship Type="http://schemas.openxmlformats.org/officeDocument/2006/relationships/notesMaster" Target="/ppt/notesMasters/notesMaster1.xml" Id="R6659f76b1e2e47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c3f3010f664316" /><Relationship Type="http://schemas.openxmlformats.org/officeDocument/2006/relationships/notesMaster" Target="/ppt/notesMasters/notesMaster1.xml" Id="R1ba2f3a75c794a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87a5f1de294e12" /><Relationship Type="http://schemas.openxmlformats.org/officeDocument/2006/relationships/notesMaster" Target="/ppt/notesMasters/notesMaster1.xml" Id="Rab92ffcd060747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98c06603aa43cf" /><Relationship Type="http://schemas.openxmlformats.org/officeDocument/2006/relationships/notesMaster" Target="/ppt/notesMasters/notesMaster1.xml" Id="Rbbe02992e28f40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391baa14bf4213" /><Relationship Type="http://schemas.openxmlformats.org/officeDocument/2006/relationships/notesMaster" Target="/ppt/notesMasters/notesMaster1.xml" Id="Re0c9f83b49f840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db19bc5937486a" /><Relationship Type="http://schemas.openxmlformats.org/officeDocument/2006/relationships/notesMaster" Target="/ppt/notesMasters/notesMaster1.xml" Id="R2c65ca9a301e48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7489a8562f5448e" /><Relationship Type="http://schemas.openxmlformats.org/officeDocument/2006/relationships/notesMaster" Target="/ppt/notesMasters/notesMaster1.xml" Id="R13fa17141a86451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57edfa2ca6a4777" /><Relationship Type="http://schemas.openxmlformats.org/officeDocument/2006/relationships/notesMaster" Target="/ppt/notesMasters/notesMaster1.xml" Id="Re4b97ab5d97d4e2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17cb77e6a63457b" /><Relationship Type="http://schemas.openxmlformats.org/officeDocument/2006/relationships/notesMaster" Target="/ppt/notesMasters/notesMaster1.xml" Id="Re924fd7172d64c5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6f75fa488d5431c" /><Relationship Type="http://schemas.openxmlformats.org/officeDocument/2006/relationships/notesMaster" Target="/ppt/notesMasters/notesMaster1.xml" Id="Rfc4f8d7af9664c6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3e30d7243e74e31" /><Relationship Type="http://schemas.openxmlformats.org/officeDocument/2006/relationships/notesMaster" Target="/ppt/notesMasters/notesMaster1.xml" Id="Ra446e62918e4439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bbc5745438742e9" /><Relationship Type="http://schemas.openxmlformats.org/officeDocument/2006/relationships/notesMaster" Target="/ppt/notesMasters/notesMaster1.xml" Id="R8977e0de38474d6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36decdae2ef45f6" /><Relationship Type="http://schemas.openxmlformats.org/officeDocument/2006/relationships/notesMaster" Target="/ppt/notesMasters/notesMaster1.xml" Id="R3b420aad501148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is a straight-on perspective preview of the actual experience. Start with the worksheet starter.</a:t>
            </a:r>
          </a:p>
          <a:p xmlns:a="http://schemas.openxmlformats.org/drawingml/2006/main">
            <a:r>
              <a:t>Sources: Revise 360 experiences/ms-l07.json and worksheets/MS_L07_CapacityCalculator_Worksheet.docx.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outcomes follow the wording of the lesson worksheet.</a:t>
            </a:r>
          </a:p>
          <a:p xmlns:a="http://schemas.openxmlformats.org/drawingml/2006/main">
            <a:r>
              <a:t>Sources: Revise 360 experiences/ms-l07.json and worksheets/MS_L07_CapacityCalculator_Worksheet.docx.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 students to answer the exact worksheet starter before showing the sample answers.</a:t>
            </a:r>
          </a:p>
          <a:p xmlns:a="http://schemas.openxmlformats.org/drawingml/2006/main">
            <a:r>
              <a:t>Sources: Revise 360 experiences/ms-l07.json and worksheets/MS_L07_CapacityCalculator_Worksheet.docx.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equivalent correct responses. These examples respond to the worksheet starter.</a:t>
            </a:r>
          </a:p>
          <a:p xmlns:a="http://schemas.openxmlformats.org/drawingml/2006/main">
            <a:r>
              <a:t>Sources: Revise 360 experiences/ms-l07.json and worksheets/MS_L07_CapacityCalculator_Worksheet.docx.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define the two terms printed on the worksheet before marking them.</a:t>
            </a:r>
          </a:p>
          <a:p xmlns:a="http://schemas.openxmlformats.org/drawingml/2006/main">
            <a:r>
              <a:t>Sources: Revise 360 experiences/ms-l07.json and worksheets/MS_L07_CapacityCalculator_Worksheet.docx.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after students attempt the definitions; accept accurate wording in their own words.</a:t>
            </a:r>
          </a:p>
          <a:p xmlns:a="http://schemas.openxmlformats.org/drawingml/2006/main">
            <a:r>
              <a:t>Sources: Revise 360 experiences/ms-l07.json and worksheets/MS_L07_CapacityCalculator_Worksheet.docx.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board slide visible during the experience. The OPEN EXPERIENCE label is a clickable link. Everyone should complete the experience and reach the plenary near the end of the lesson. First on-screen responses count.</a:t>
            </a:r>
          </a:p>
          <a:p xmlns:a="http://schemas.openxmlformats.org/drawingml/2006/main">
            <a:r>
              <a:t>Sources: Revise 360 experiences/ms-l07.json and worksheets/MS_L07_CapacityCalculator_Worksheet.docx.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follows the task after the score on the worksheet. For revision, students use their results and outstanding work list.</a:t>
            </a:r>
          </a:p>
          <a:p xmlns:a="http://schemas.openxmlformats.org/drawingml/2006/main">
            <a:r>
              <a:t>Sources: Revise 360 experiences/ms-l07.json and worksheets/MS_L07_CapacityCalculator_Worksheet.docx.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question to deepen or correct the worksheet response before the plenary.</a:t>
            </a:r>
          </a:p>
          <a:p xmlns:a="http://schemas.openxmlformats.org/drawingml/2006/main">
            <a:r>
              <a:t>Sources: Revise 360 experiences/ms-l07.json and worksheets/MS_L07_CapacityCalculator_Worksheet.docx.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sample answers or a sample revision action. Ratings and open choices may vary with a justified device and context.</a:t>
            </a:r>
          </a:p>
          <a:p xmlns:a="http://schemas.openxmlformats.org/drawingml/2006/main">
            <a:r>
              <a:t>Sources: Revise 360 experiences/ms-l07.json and worksheets/MS_L07_CapacityCalculator_Worksheet.docx.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after students have completed the experience. These concise points answer the station challenges and help students improve their own wording.</a:t>
            </a:r>
          </a:p>
          <a:p xmlns:a="http://schemas.openxmlformats.org/drawingml/2006/main">
            <a:r>
              <a:t>Sources: Revise 360 experiences/ms-l07.json and worksheets/MS_L07_CapacityCalculator_Worksheet.docx.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after students have completed the experience. These concise points answer the station challenges and help students improve their own wording.</a:t>
            </a:r>
          </a:p>
          <a:p xmlns:a="http://schemas.openxmlformats.org/drawingml/2006/main">
            <a:r>
              <a:t>Sources: Revise 360 experiences/ms-l07.json and worksheets/MS_L07_CapacityCalculator_Worksheet.docx.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 are in the same order as the worksheet final challenge and the experience star task. Pixel and sound sketches should be checked against the interactive pattern or wave.</a:t>
            </a:r>
          </a:p>
          <a:p xmlns:a="http://schemas.openxmlformats.org/drawingml/2006/main">
            <a:r>
              <a:t>Sources: Revise 360 experiences/ms-l07.json and worksheets/MS_L07_CapacityCalculator_Worksheet.docx.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exam-practice questions from the worksheet. Allow independent writing before displaying the answer slides.</a:t>
            </a:r>
          </a:p>
          <a:p xmlns:a="http://schemas.openxmlformats.org/drawingml/2006/main">
            <a:r>
              <a:t>Sources: Revise 360 experiences/ms-l07.json and worksheets/MS_L07_CapacityCalculator_Worksheet.docx.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exam-practice questions from the worksheet. Allow independent writing before displaying the answer slides.</a:t>
            </a:r>
          </a:p>
          <a:p xmlns:a="http://schemas.openxmlformats.org/drawingml/2006/main">
            <a:r>
              <a:t>Sources: Revise 360 experiences/ms-l07.json and worksheets/MS_L07_CapacityCalculator_Worksheet.docx.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correct or improve one answer.</a:t>
            </a:r>
          </a:p>
          <a:p xmlns:a="http://schemas.openxmlformats.org/drawingml/2006/main">
            <a:r>
              <a:t>Sources: Revise 360 experiences/ms-l07.json and worksheets/MS_L07_CapacityCalculator_Worksheet.docx.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correct or improve one answer.</a:t>
            </a:r>
          </a:p>
          <a:p xmlns:a="http://schemas.openxmlformats.org/drawingml/2006/main">
            <a:r>
              <a:t>Sources: Revise 360 experiences/ms-l07.json and worksheets/MS_L07_CapacityCalculator_Worksheet.docx.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exact confidence objectives from the worksheet. Students identify one area to revisit.</a:t>
            </a:r>
          </a:p>
          <a:p xmlns:a="http://schemas.openxmlformats.org/drawingml/2006/main">
            <a:r>
              <a:t>Sources: Revise 360 experiences/ms-l07.json and worksheets/MS_L07_CapacityCalculator_Worksheet.docx.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e000ecb97b45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d4e7eea7a44ed1" /><Relationship Type="http://schemas.openxmlformats.org/officeDocument/2006/relationships/slideLayout" Target="/ppt/slideLayouts/slideLayout1.xml" Id="Rd8bc8ea66ac347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bc8ea66ac347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023b3a7cb4773" /><Relationship Type="http://schemas.openxmlformats.org/officeDocument/2006/relationships/image" Target="/ppt/media/image.png" Id="R2f3eeacce4d14746" /><Relationship Type="http://schemas.openxmlformats.org/officeDocument/2006/relationships/image" Target="/ppt/media/image.jpeg" Id="R60a1b52a9c044e9c" /><Relationship Type="http://schemas.openxmlformats.org/officeDocument/2006/relationships/notesSlide" Target="/ppt/notesSlides/notesSlide1.xml" Id="R095e13726bae46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772593adc4736" /><Relationship Type="http://schemas.openxmlformats.org/officeDocument/2006/relationships/image" Target="/ppt/media/image2.png" Id="R51ae7c19f6354842" /><Relationship Type="http://schemas.openxmlformats.org/officeDocument/2006/relationships/notesSlide" Target="/ppt/notesSlides/notesSlide2.xml" Id="R3c0640d175c949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2f39ae9674a2b" /><Relationship Type="http://schemas.openxmlformats.org/officeDocument/2006/relationships/image" Target="/ppt/media/image3.png" Id="R9af8be2c67d74dc0" /><Relationship Type="http://schemas.openxmlformats.org/officeDocument/2006/relationships/notesSlide" Target="/ppt/notesSlides/notesSlide3.xml" Id="Ra3d295a3939044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0ac71ea1942ad" /><Relationship Type="http://schemas.openxmlformats.org/officeDocument/2006/relationships/image" Target="/ppt/media/image4.png" Id="Re37cb02e24814a99" /><Relationship Type="http://schemas.openxmlformats.org/officeDocument/2006/relationships/notesSlide" Target="/ppt/notesSlides/notesSlide4.xml" Id="Rff1a4c3e877947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09294f9f843fe" /><Relationship Type="http://schemas.openxmlformats.org/officeDocument/2006/relationships/image" Target="/ppt/media/image5.png" Id="R586fd73b5f864a94" /><Relationship Type="http://schemas.openxmlformats.org/officeDocument/2006/relationships/notesSlide" Target="/ppt/notesSlides/notesSlide5.xml" Id="R454f8aa702ca4b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866e044854f59" /><Relationship Type="http://schemas.openxmlformats.org/officeDocument/2006/relationships/image" Target="/ppt/media/image6.png" Id="Ra65e104fc0f04275" /><Relationship Type="http://schemas.openxmlformats.org/officeDocument/2006/relationships/notesSlide" Target="/ppt/notesSlides/notesSlide6.xml" Id="R6de596f35d4e42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e5005b5f34cd3" /><Relationship Type="http://schemas.openxmlformats.org/officeDocument/2006/relationships/image" Target="/ppt/media/image7.png" Id="R68ce229cabc549d0" /><Relationship Type="http://schemas.openxmlformats.org/officeDocument/2006/relationships/hyperlink" Target="https://mrp-cs.github.io/Revise360/experience.html?id=ms-l07" TargetMode="External" Id="Rc418b0868b05455e" /><Relationship Type="http://schemas.openxmlformats.org/officeDocument/2006/relationships/notesSlide" Target="/ppt/notesSlides/notesSlide7.xml" Id="R2f561004efe042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8cc7ad0804b63" /><Relationship Type="http://schemas.openxmlformats.org/officeDocument/2006/relationships/image" Target="/ppt/media/image8.png" Id="R9d24f15f787b4165" /><Relationship Type="http://schemas.openxmlformats.org/officeDocument/2006/relationships/notesSlide" Target="/ppt/notesSlides/notesSlide8.xml" Id="R0dd9f68f574d49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5d306e0ea4413" /><Relationship Type="http://schemas.openxmlformats.org/officeDocument/2006/relationships/image" Target="/ppt/media/image9.png" Id="R69130760977b44f5" /><Relationship Type="http://schemas.openxmlformats.org/officeDocument/2006/relationships/notesSlide" Target="/ppt/notesSlides/notesSlide9.xml" Id="R67527a3420024a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51c4ba37c4280" /><Relationship Type="http://schemas.openxmlformats.org/officeDocument/2006/relationships/image" Target="/ppt/media/image10.png" Id="R8f4154ca5b994d42" /><Relationship Type="http://schemas.openxmlformats.org/officeDocument/2006/relationships/notesSlide" Target="/ppt/notesSlides/notesSlide10.xml" Id="R26fb736019134e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d6ede721341ac" /><Relationship Type="http://schemas.openxmlformats.org/officeDocument/2006/relationships/image" Target="/ppt/media/image11.png" Id="Rbb98f5ad3ca2418c" /><Relationship Type="http://schemas.openxmlformats.org/officeDocument/2006/relationships/notesSlide" Target="/ppt/notesSlides/notesSlide11.xml" Id="R38e82ea38e3646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84cb4056148d5" /><Relationship Type="http://schemas.openxmlformats.org/officeDocument/2006/relationships/image" Target="/ppt/media/image12.png" Id="Raba69c104581466c" /><Relationship Type="http://schemas.openxmlformats.org/officeDocument/2006/relationships/notesSlide" Target="/ppt/notesSlides/notesSlide12.xml" Id="Rfe4d67eddd854f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5e777bd73411a" /><Relationship Type="http://schemas.openxmlformats.org/officeDocument/2006/relationships/image" Target="/ppt/media/image13.png" Id="R8afe3915af4549b5" /><Relationship Type="http://schemas.openxmlformats.org/officeDocument/2006/relationships/notesSlide" Target="/ppt/notesSlides/notesSlide13.xml" Id="R584d9ffa2fbb4ab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6ed426712490b" /><Relationship Type="http://schemas.openxmlformats.org/officeDocument/2006/relationships/image" Target="/ppt/media/image14.png" Id="R4997d4efa0214284" /><Relationship Type="http://schemas.openxmlformats.org/officeDocument/2006/relationships/notesSlide" Target="/ppt/notesSlides/notesSlide14.xml" Id="Re03ddcad217d46e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98cb2dff84d62" /><Relationship Type="http://schemas.openxmlformats.org/officeDocument/2006/relationships/image" Target="/ppt/media/image15.png" Id="Rf5245569784f432d" /><Relationship Type="http://schemas.openxmlformats.org/officeDocument/2006/relationships/notesSlide" Target="/ppt/notesSlides/notesSlide15.xml" Id="R3fda72843e544db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a3c4db91742f9" /><Relationship Type="http://schemas.openxmlformats.org/officeDocument/2006/relationships/image" Target="/ppt/media/image16.png" Id="R91b39c3fe8834e5d" /><Relationship Type="http://schemas.openxmlformats.org/officeDocument/2006/relationships/notesSlide" Target="/ppt/notesSlides/notesSlide16.xml" Id="Rb2845ba812144b3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91649a83b4ebd" /><Relationship Type="http://schemas.openxmlformats.org/officeDocument/2006/relationships/image" Target="/ppt/media/image17.png" Id="R14110a4bba484b9d" /><Relationship Type="http://schemas.openxmlformats.org/officeDocument/2006/relationships/notesSlide" Target="/ppt/notesSlides/notesSlide17.xml" Id="Rb3fb31bb8307482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baa827fe84b26" /><Relationship Type="http://schemas.openxmlformats.org/officeDocument/2006/relationships/image" Target="/ppt/media/image18.png" Id="R0d8b820e323a4cbc" /><Relationship Type="http://schemas.openxmlformats.org/officeDocument/2006/relationships/notesSlide" Target="/ppt/notesSlides/notesSlide18.xml" Id="R461e808373f448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D2567C9-7087-421B-86FE-0A3A4DAE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C81D45C1-174A-4C65-A063-DDE1391D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1.2   /   LESSON 07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907B59B-B622-4D71-83A1-0F9F28E6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CAPACITY CALCULATOR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eeacce4d1474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4032E3A-E390-4C24-96F5-2927DD24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18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F8DEEA64-1F41-454E-BF1C-487C700D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Data capacity and calculations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0988E0A3-B005-40D8-AF12-81331E83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KEY QUESTION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1B0056DE-B2BF-44FA-A6FD-A8D8DDFE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How do you calculate data capacity?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1b52a9c044e9c"/>
          <a:stretch xmlns:a="http://schemas.openxmlformats.org/drawingml/2006/main"/>
        </p:blipFill>
        <p:spPr>
          <a:xfrm xmlns:a="http://schemas.openxmlformats.org/drawingml/2006/main">
            <a:off x="6076950" y="1819275"/>
            <a:ext cx="5400675" cy="3600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0776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DA3AE16-BB2F-4062-AACC-B972BAD9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5728132-0C91-489D-A407-F5A75ECE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07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A4BFED37-9545-4C6B-B501-5E766C1C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e7c19f635484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D7EDC80-FF0C-4768-BE70-77566961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8658DBAD-E0CE-4E17-AE08-7EFBE9D9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1C610658-3A11-4E05-A936-842F2FEE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know what data capacity means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96360224-7E8E-4139-96B8-061803F5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604F69DC-88A3-4B81-8283-F1D64C7A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how to calculate data capacity requirements</a:t>
            </a:r>
          </a:p>
        </p:txBody>
      </p:sp>
    </p:spTree>
    <p:extLst>
      <p:ext uri="{BB962C8B-B14F-4D97-AF65-F5344CB8AC3E}">
        <p14:creationId xmlns:p14="http://schemas.microsoft.com/office/powerpoint/2010/main" val="19114845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D82A194C-5052-4787-A9A5-6D3F4020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CAF75AC6-2BFE-4F48-A264-98F26A1D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07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AC80271B-D9E7-409B-A2EB-D18A6C20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f8be2c67d74dc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515AB0A-16EC-4AC9-B0DE-F469B458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18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E7D0AD94-F076-4ADA-8B48-A1FE308E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phone advert says 128 GB of storage. Work out roughly how many 4 MB photos that is, and check with a partner.</a:t>
            </a:r>
          </a:p>
        </p:txBody>
      </p:sp>
    </p:spTree>
    <p:extLst>
      <p:ext uri="{BB962C8B-B14F-4D97-AF65-F5344CB8AC3E}">
        <p14:creationId xmlns:p14="http://schemas.microsoft.com/office/powerpoint/2010/main" val="4678204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180B15D2-C5C2-4D2F-9057-85886F9A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E7274B6-68E9-4619-9ACE-A72BB746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07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B774045E-2326-4C6B-850C-E453DE52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7cb02e24814a9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37373E2-2AA8-41F9-9475-0E554F70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A741B65C-152A-4863-B666-5CF5F00D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8D4038E5-6668-49E9-9CD7-889D8572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Using the worksheet’s decimal units: 128 GB = 128,000 MB. At 4 MB each, about 32,000 photos fit.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FA85FF0D-9F5A-42FE-9645-8B343E3F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650A51BC-BE45-4E71-A154-46CDAFD0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real number may be lower because of system files, metadata and varying photo sizes.</a:t>
            </a:r>
          </a:p>
        </p:txBody>
      </p:sp>
    </p:spTree>
    <p:extLst>
      <p:ext uri="{BB962C8B-B14F-4D97-AF65-F5344CB8AC3E}">
        <p14:creationId xmlns:p14="http://schemas.microsoft.com/office/powerpoint/2010/main" val="19835699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AC89B5F-FA1D-43AB-B661-0B6DDB45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41B6C349-336A-43C5-87D3-1D3EA09B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07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B62ED126-19E0-4A77-A2E7-98C7773D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6fd73b5f864a9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A15C5B4-5602-4E00-B0F6-58282145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18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7A2BACFD-47BF-4517-93BD-A1A2432F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F35BB2FD-16C1-4754-B0FA-FB7150FF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Data capacity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D42C9B58-CB8D-4EA9-845E-5DA69493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4DC95062-CEA2-4F61-801A-F384F9A4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File size</a:t>
            </a:r>
          </a:p>
        </p:txBody>
      </p:sp>
    </p:spTree>
    <p:extLst>
      <p:ext uri="{BB962C8B-B14F-4D97-AF65-F5344CB8AC3E}">
        <p14:creationId xmlns:p14="http://schemas.microsoft.com/office/powerpoint/2010/main" val="4701895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657F66F-79E9-42BD-AF25-AC64DDA7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639FCFF-FB17-4B98-8772-42B556F5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07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D73CD81-34C0-4E11-BEC1-E1B3FDEB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e104fc0f0427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A066E4D-4199-467C-9413-12D3C78A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18</a:t>
            </a:r>
          </a:p>
        </p:txBody>
      </p:sp>
      <p:sp>
        <p:nvSpPr>
          <p:cNvPr id="6" name="term-label-0">
            <a:extLst xmlns:a="http://schemas.openxmlformats.org/drawingml/2006/main">
              <a:ext uri="{FF2B5EF4-FFF2-40B4-BE49-F238E27FC236}">
                <a16:creationId xmlns:a16="http://schemas.microsoft.com/office/drawing/2014/main" id="{E7D1873C-94F4-4081-9065-8EE7D7B9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Data capacity</a:t>
            </a:r>
          </a:p>
        </p:txBody>
      </p:sp>
      <p:sp>
        <p:nvSpPr>
          <p:cNvPr id="7" name="term-definition-0">
            <a:extLst xmlns:a="http://schemas.openxmlformats.org/drawingml/2006/main">
              <a:ext uri="{FF2B5EF4-FFF2-40B4-BE49-F238E27FC236}">
                <a16:creationId xmlns:a16="http://schemas.microsoft.com/office/drawing/2014/main" id="{AA9F4B4A-EDD3-4C86-8CBC-D422D190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Data capacity: the maximum amount of data a storage device can hold.</a:t>
            </a:r>
          </a:p>
        </p:txBody>
      </p:sp>
      <p:sp>
        <p:nvSpPr>
          <p:cNvPr id="8" name="term-label-1">
            <a:extLst xmlns:a="http://schemas.openxmlformats.org/drawingml/2006/main">
              <a:ext uri="{FF2B5EF4-FFF2-40B4-BE49-F238E27FC236}">
                <a16:creationId xmlns:a16="http://schemas.microsoft.com/office/drawing/2014/main" id="{28958682-42D7-4D23-A1A0-6F0197B9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File size</a:t>
            </a:r>
          </a:p>
        </p:txBody>
      </p:sp>
      <p:sp>
        <p:nvSpPr>
          <p:cNvPr id="9" name="term-definition-1">
            <a:extLst xmlns:a="http://schemas.openxmlformats.org/drawingml/2006/main">
              <a:ext uri="{FF2B5EF4-FFF2-40B4-BE49-F238E27FC236}">
                <a16:creationId xmlns:a16="http://schemas.microsoft.com/office/drawing/2014/main" id="{F996A931-C29A-404F-AE0C-42BE9A42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File size: the amount of storage one file uses, usually measured in bytes.</a:t>
            </a:r>
          </a:p>
        </p:txBody>
      </p:sp>
    </p:spTree>
    <p:extLst>
      <p:ext uri="{BB962C8B-B14F-4D97-AF65-F5344CB8AC3E}">
        <p14:creationId xmlns:p14="http://schemas.microsoft.com/office/powerpoint/2010/main" val="9847374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ABEDBB3-9FAD-44C5-ACB9-C332C089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2EBEE12-C75C-417A-9D05-23D44981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1.2   /   LESSON 07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04B55995-C334-45D3-B3A5-5DC45F7F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ce229cabc549d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A6ECA3E-B8D2-4722-862F-719F580F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18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CA2118A1-281C-4200-839E-46706ED0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</a:t>
            </a: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c418b0868b05455e"/>
              </a:rPr>
              <a:t>OPEN EXPERIENCE ↗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7FAA8357-8F8F-4E6E-87DF-183B9154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Capacity calculator in Topic 1.2.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35E473DD-821B-4615-BEBA-5C77DA7A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631F53A7-E04E-4C71-AD37-9A063BA9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Read each panel. Write the key fact IN YOUR OWN WORDS and answer the worksheet challenge before tapping its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E1F00C7F-728E-4F34-BF21-E057C4FA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CC3458BA-0638-4792-AFCF-C534ACD5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Complete the ★ task before tapping the star. Copy your score (out of 15), then finish the worksheet task or review.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A2D81FB0-2D4B-4AF0-BD11-D37CB439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9C26BCF4-D641-4454-8219-CFC3E0EF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6784827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E8090B0-D4CB-471D-AAA7-EB3660A7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64F4BD2-7D70-44C6-A246-2CC72CC3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07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488CF96-9CAF-4718-82C6-383F64AA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Apply your learning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24f15f787b416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7A23C7C-4EB0-4037-A4FC-AAA588CF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18</a:t>
            </a:r>
          </a:p>
        </p:txBody>
      </p:sp>
      <p:sp>
        <p:nvSpPr>
          <p:cNvPr id="6" name="application-prompt">
            <a:extLst xmlns:a="http://schemas.openxmlformats.org/drawingml/2006/main">
              <a:ext uri="{FF2B5EF4-FFF2-40B4-BE49-F238E27FC236}">
                <a16:creationId xmlns:a16="http://schemas.microsoft.com/office/drawing/2014/main" id="{BA56140F-683F-48E0-9A8B-53746B47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5525"/>
            <a:ext cx="105727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Three capacity scenarios. Show your working for each, and give the answer in a sensible unit.</a:t>
            </a:r>
          </a:p>
        </p:txBody>
      </p:sp>
      <p:sp>
        <p:nvSpPr>
          <p:cNvPr id="7" name="application-note">
            <a:extLst xmlns:a="http://schemas.openxmlformats.org/drawingml/2006/main">
              <a:ext uri="{FF2B5EF4-FFF2-40B4-BE49-F238E27FC236}">
                <a16:creationId xmlns:a16="http://schemas.microsoft.com/office/drawing/2014/main" id="{20CD25FB-C697-44F1-8109-46FA7D7E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Use the task and table on your worksheet.</a:t>
            </a:r>
          </a:p>
        </p:txBody>
      </p:sp>
    </p:spTree>
    <p:extLst>
      <p:ext uri="{BB962C8B-B14F-4D97-AF65-F5344CB8AC3E}">
        <p14:creationId xmlns:p14="http://schemas.microsoft.com/office/powerpoint/2010/main" val="10435477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1364775-6ABA-4F1C-9468-19620F08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913554B-C0B4-43BA-B8BC-714E4696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07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455068E-3206-4967-BC3D-8B3CA6AB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30760977b44f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D6351BC-2366-4A66-AC5A-4D43B76E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18</a:t>
            </a:r>
          </a:p>
        </p:txBody>
      </p:sp>
      <p:sp>
        <p:nvSpPr>
          <p:cNvPr id="6" name="review-prompt">
            <a:extLst xmlns:a="http://schemas.openxmlformats.org/drawingml/2006/main">
              <a:ext uri="{FF2B5EF4-FFF2-40B4-BE49-F238E27FC236}">
                <a16:creationId xmlns:a16="http://schemas.microsoft.com/office/drawing/2014/main" id="{55292DBA-DAA8-4E5C-9F46-B0D50F87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5727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student gets 1,920,000 for a 600 × 400 image at 8-bit colour depth and calls the answer bytes. What is wrong?</a:t>
            </a:r>
          </a:p>
        </p:txBody>
      </p:sp>
    </p:spTree>
    <p:extLst>
      <p:ext uri="{BB962C8B-B14F-4D97-AF65-F5344CB8AC3E}">
        <p14:creationId xmlns:p14="http://schemas.microsoft.com/office/powerpoint/2010/main" val="10929084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A06CEC0-4B2C-49A9-ACAE-DC41A73A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142AAFA-7C5A-454A-AA06-B052E19F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07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96FE93C0-65C5-4F0A-AF19-FF3B3E95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Application: sample answers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154ca5b994d4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261F057-96EA-42A1-839A-76E419C3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227F131C-FA38-40B3-928B-867743D8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98BC94D5-5C66-4D67-8C73-AA82AB60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Image: 1,200 × 900 × 24 = 25,920,000 bits = 3,240,000 bytes = 3.24 MB.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0627A833-DD7B-4DC5-9B68-A0AB6DED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991C6E3D-DA78-4246-AB10-2D47786B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47975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Mono sound: 180 × 44,100 × 16 = 127,008,000 bits = 15,876,000 bytes = 15.876 MB.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E3311536-D810-4832-9864-48D898F2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D06C1C00-2A65-40BC-99B4-4876CF1C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Text: 5,000 × 8 = 40,000 bits = 5,000 bytes = 5 kB.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3687DC8A-4436-4D4F-A025-3150282A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482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9E73AC8A-1F3D-4A30-92AF-A03CD003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600 × 400 × 8 = 1,920,000 bits. Divide by 8 to get 240,000 bytes, then by 1,000 to get 240 kB.</a:t>
            </a:r>
          </a:p>
        </p:txBody>
      </p:sp>
    </p:spTree>
    <p:extLst>
      <p:ext uri="{BB962C8B-B14F-4D97-AF65-F5344CB8AC3E}">
        <p14:creationId xmlns:p14="http://schemas.microsoft.com/office/powerpoint/2010/main" val="7131813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98A6FE8-A534-4AE6-93B6-B8A8239E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3AD8265-FECB-4CF3-A2EC-66F3ED28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07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26E3C10-A425-4FF2-9993-5A00CC19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8f5ad3ca2418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EA5AA11-89A3-4D22-81A2-306928F6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18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477B22C0-C099-46AF-A2F6-67E31EBD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E1AB6066-4788-4AF6-AFFF-6F9D0A81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What is data capacity?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6CB7CC05-7949-4F19-A0D6-59DE9134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Put capacity and file size in the same unit, then divide capacity by the size per file.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DD475441-1B6D-42DC-BDD6-F78C1AA0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Image file size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8FF32BA7-30F3-4424-8642-AC434F2C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Image size = width × height × colour depth. 1,000 × 800 × 8 = 6,400,000 bits = 800,000 bytes.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687E03E8-FEE4-40BB-81BB-208747BA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Sound file size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DCE203A4-C7EC-46FF-9EA0-5211A69A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Mono sound size = sample rate × bit depth × duration. 44,100 × 16 × 30 = 21,168,000 bits.</a:t>
            </a:r>
          </a:p>
        </p:txBody>
      </p:sp>
    </p:spTree>
    <p:extLst>
      <p:ext uri="{BB962C8B-B14F-4D97-AF65-F5344CB8AC3E}">
        <p14:creationId xmlns:p14="http://schemas.microsoft.com/office/powerpoint/2010/main" val="1104102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A4B3BE8-64AF-4EC1-BE0E-5BECB123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A0D3D40C-CA55-40F5-8A7A-70C33B19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07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ECB5096-6989-4787-8A52-BBC961D4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a69c104581466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3D28A71-F8B5-4B65-852A-451F6755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18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8147B34A-92ED-4349-86F8-CC0ABA73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0F934A4C-3A4E-453D-91B7-C836E5E8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Text file size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C75C5455-6D5D-4B0A-875C-C9CCC5D9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Text size = characters × bits per character. 2,000 × 8 = 16,000 bits = 2,000 bytes.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E7F0F35D-8865-4FD0-8009-A5D9832E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Scenario practice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76538411-C780-4A44-B06C-64437849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300 × 3 MB = 900 MB, so the photos fit on a 1 GB (1,000 MB) stick, ignoring overhead.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6028C0B4-4042-4D6F-A1B8-E9E22AFC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Estimating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C52B66E6-4F32-405C-8D66-4C590333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formula gives an uncompressed estimate. JPEG compression often makes the actual file smaller; metadata adds some data.</a:t>
            </a:r>
          </a:p>
        </p:txBody>
      </p:sp>
    </p:spTree>
    <p:extLst>
      <p:ext uri="{BB962C8B-B14F-4D97-AF65-F5344CB8AC3E}">
        <p14:creationId xmlns:p14="http://schemas.microsoft.com/office/powerpoint/2010/main" val="5309878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F1CF7F76-6B0E-4694-9C8E-A32E6C4D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4D841F5E-7723-425F-95CB-2B74F875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07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B046FF7-B3E1-48FA-8C28-ACB5C5B4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e3915af4549b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5303061-FF8B-40D0-8CC0-6F26568B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7359A446-B36E-47AB-9B9B-229AF3DD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CE467C47-5EC0-4700-9B66-0BD20725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480,000. 800 × 600 × 8 = 3,840,000 bits, and ÷ 8 = 480,000 bytes.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61FD58A6-A5C1-4A14-928F-267760DD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6AD1B4CF-7F29-435E-AEFA-D4404E70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9925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19,200,000. 20,000 × 16 × 60 = 19,200,000 bits.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8873A3F8-8832-4F6D-AC22-0B710BE3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023DB863-99C7-4882-898F-7D13EDBE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57675"/>
            <a:ext cx="9925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8,000. 4,000 × 16 = 64,000 bits, and ÷ 8 = 8,000 bytes.</a:t>
            </a:r>
          </a:p>
        </p:txBody>
      </p:sp>
    </p:spTree>
    <p:extLst>
      <p:ext uri="{BB962C8B-B14F-4D97-AF65-F5344CB8AC3E}">
        <p14:creationId xmlns:p14="http://schemas.microsoft.com/office/powerpoint/2010/main" val="11864014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7C98A1C-1294-4C96-87BB-D57B5EEA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B4C86CC-8AF9-4E64-AFF5-AA45A9DB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07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A7A5832-342C-44C2-93DA-6B816E07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7d4efa021428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250AE03-70A9-4983-B711-B7701FF0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18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89F4FFC1-C3F3-409F-9E67-44F7307D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-0">
            <a:extLst xmlns:a="http://schemas.openxmlformats.org/drawingml/2006/main">
              <a:ext uri="{FF2B5EF4-FFF2-40B4-BE49-F238E27FC236}">
                <a16:creationId xmlns:a16="http://schemas.microsoft.com/office/drawing/2014/main" id="{010E7A40-F0FD-4665-92B7-B5F96B54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 State the formula for calculating the file size of a bitmap image.  [1]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E3A43593-082D-4854-8A93-58341EE2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 An image is 600 × 400 pixels with a colour depth of 8 bits. Calculate the file size in kilobytes. Show your working.  [3]</a:t>
            </a:r>
          </a:p>
        </p:txBody>
      </p:sp>
    </p:spTree>
    <p:extLst>
      <p:ext uri="{BB962C8B-B14F-4D97-AF65-F5344CB8AC3E}">
        <p14:creationId xmlns:p14="http://schemas.microsoft.com/office/powerpoint/2010/main" val="15301232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0B30BB7-4853-4E31-A553-E2C621C3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47BBB71C-0C5A-4D95-B026-2080DCCB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07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5D427FA-9112-4124-B09A-6D6291A7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 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45569784f432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695C25D-BC5E-48B0-901B-E537DF1E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18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59EDC633-F065-46CF-8B4C-3FB65288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">
            <a:extLst xmlns:a="http://schemas.openxmlformats.org/drawingml/2006/main">
              <a:ext uri="{FF2B5EF4-FFF2-40B4-BE49-F238E27FC236}">
                <a16:creationId xmlns:a16="http://schemas.microsoft.com/office/drawing/2014/main" id="{D871D98D-6FBD-486A-A4E6-0E1ECBFB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04775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 A sound is sampled at 16,000 Hz with a bit depth of 8 for 20 seconds. Calculate the file size in kilobytes.  [3]</a:t>
            </a:r>
          </a:p>
        </p:txBody>
      </p:sp>
    </p:spTree>
    <p:extLst>
      <p:ext uri="{BB962C8B-B14F-4D97-AF65-F5344CB8AC3E}">
        <p14:creationId xmlns:p14="http://schemas.microsoft.com/office/powerpoint/2010/main" val="20767116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C377D775-3904-42BD-93CA-81C5DE07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A7A847B7-D836-439E-B5CB-526CE37D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07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C91C8F4-BF51-433F-8C12-89ED2D69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b39c3fe8834e5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D28AF55-BE90-4517-986E-F1D3FFDC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630586E2-5FA4-48BC-972F-CE4F63FD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EDF85F6A-7080-4301-A83D-7E280838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Bitmap size in bits = width in pixels × height in pixels × colour depth in bits per pixel.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65F1DC4F-AD7B-4609-994D-D42E6607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600 × 400 × 8 = 1,920,000 bits; ÷ 8 = 240,000 bytes; ÷ 1,000 = 240 kB.</a:t>
            </a:r>
          </a:p>
        </p:txBody>
      </p:sp>
    </p:spTree>
    <p:extLst>
      <p:ext uri="{BB962C8B-B14F-4D97-AF65-F5344CB8AC3E}">
        <p14:creationId xmlns:p14="http://schemas.microsoft.com/office/powerpoint/2010/main" val="138881968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B995793-46D0-4C84-B53D-4F187A1C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AE301EB-BB72-41AE-B4A2-C68AADB9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07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5A29014-2841-4A46-B57A-2B5F4D1F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 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10a4bba484b9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B4EA6AE-F6BB-4D67-89E7-A3828AD8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46B9AF8F-9128-4652-8FCF-6FC6DF03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">
            <a:extLst xmlns:a="http://schemas.openxmlformats.org/drawingml/2006/main">
              <a:ext uri="{FF2B5EF4-FFF2-40B4-BE49-F238E27FC236}">
                <a16:creationId xmlns:a16="http://schemas.microsoft.com/office/drawing/2014/main" id="{F68FE158-2342-438C-A717-9E5B2EE7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0572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16,000 × 8 × 20 = 2,560,000 bits; ÷ 8 = 320,000 bytes; ÷ 1,000 = 320 kB (mono, uncompressed).</a:t>
            </a:r>
          </a:p>
        </p:txBody>
      </p:sp>
    </p:spTree>
    <p:extLst>
      <p:ext uri="{BB962C8B-B14F-4D97-AF65-F5344CB8AC3E}">
        <p14:creationId xmlns:p14="http://schemas.microsoft.com/office/powerpoint/2010/main" val="102903095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3EE3DB7-E449-4EAF-B078-5FDFC391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C324CB47-8EF0-4F3D-972F-877DBCC7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07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0B265AE2-B9D7-467F-B626-96A96631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b820e323a4cb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9EECDC5-DDE8-4569-A79F-A85D1441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18</a:t>
            </a:r>
          </a:p>
        </p:txBody>
      </p:sp>
      <p:sp>
        <p:nvSpPr>
          <p:cNvPr id="6" name="confidence-intro">
            <a:extLst xmlns:a="http://schemas.openxmlformats.org/drawingml/2006/main">
              <a:ext uri="{FF2B5EF4-FFF2-40B4-BE49-F238E27FC236}">
                <a16:creationId xmlns:a16="http://schemas.microsoft.com/office/drawing/2014/main" id="{DC2F7698-0765-4351-B17B-31FE8157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Select Not yet, Getting there or Confident for each objective on the worksheet.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78B51065-8C08-44C3-A13D-D2B70885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C51C96FF-DFC6-409A-A25F-E818874C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Image file size calculations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4989824E-A816-4397-B005-E95B4E06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9EC4CCEF-155B-4A8F-A248-2B094679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Sound file size calculations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9AAC6DB7-BE03-498C-9C97-3EA8195F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E46A96E3-9F80-42F7-A7DF-4505EAE8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720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Converting to sensible units</a:t>
            </a:r>
          </a:p>
        </p:txBody>
      </p:sp>
    </p:spTree>
    <p:extLst>
      <p:ext uri="{BB962C8B-B14F-4D97-AF65-F5344CB8AC3E}">
        <p14:creationId xmlns:p14="http://schemas.microsoft.com/office/powerpoint/2010/main" val="2914739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2026-09-25T13:18:06.4910000Z</dcterms:created>
  <dcterms:modified xsi:type="dcterms:W3CDTF">2026-09-25T13:18:06.4910000Z</dcterms:modified>
</coreProperties>
</file>