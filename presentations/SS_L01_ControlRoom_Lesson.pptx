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1: Control room.
Open the experience at revise360.co.uk and hand out SS_L01_ControlRoom_Worksheet.docx.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Share the objectives, then go straight into the starter. Devices stay away for the first five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Silent start. Take two or three answers before moving on: this is where misconceptions surface.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Insist on writing before tapping. That single rule is the difference between revision and a quiz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1: What is systems software?.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2: What the OS does.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3: Graphical user interface.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4: Command line interface.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5: Menu driven and voice.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6: Choosing an interface.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them commit to an answer on paper before they tap the star. Guessing first costs them the learning.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these as a settler, or as something for early finishers to read in the experience.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Timed and silent. Mark against the answer sheet, then ask students to record their weakest 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copy their score-screen breakdown onto the worksheet, then rate themselves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1828"/>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822960" y="1417320"/>
            <a:ext cx="10515600" cy="411480"/>
          </a:xfrm>
          <a:prstGeom prst="rect">
            <a:avLst/>
          </a:prstGeom>
          <a:noFill/>
          <a:ln/>
        </p:spPr>
        <p:txBody>
          <a:bodyPr wrap="square" lIns="0" tIns="0" rIns="0" bIns="0" rtlCol="0" anchor="ctr"/>
          <a:lstStyle/>
          <a:p>
            <a:pPr indent="0" marL="0">
              <a:buNone/>
            </a:pPr>
            <a:r>
              <a:rPr lang="en-US" sz="1500" dirty="0">
                <a:solidFill>
                  <a:srgbClr val="F4B942"/>
                </a:solidFill>
                <a:latin typeface="IBM Plex Mono" pitchFamily="34" charset="0"/>
                <a:ea typeface="IBM Plex Mono" pitchFamily="34" charset="-122"/>
                <a:cs typeface="IBM Plex Mono" pitchFamily="34" charset="-120"/>
              </a:rPr>
              <a:t>1.5 Systems software  |  Lesson 1</a:t>
            </a:r>
            <a:endParaRPr lang="en-US" sz="1500" dirty="0"/>
          </a:p>
        </p:txBody>
      </p:sp>
      <p:sp>
        <p:nvSpPr>
          <p:cNvPr id="4" name="Text 2"/>
          <p:cNvSpPr txBox="1"/>
          <p:nvPr/>
        </p:nvSpPr>
        <p:spPr>
          <a:xfrm>
            <a:off x="822960" y="1920240"/>
            <a:ext cx="10515600" cy="1280160"/>
          </a:xfrm>
          <a:prstGeom prst="rect">
            <a:avLst/>
          </a:prstGeom>
          <a:noFill/>
          <a:ln/>
        </p:spPr>
        <p:txBody>
          <a:bodyPr wrap="square" lIns="0" tIns="0" rIns="0" bIns="0" rtlCol="0" anchor="ctr"/>
          <a:lstStyle/>
          <a:p>
            <a:pPr indent="0" marL="0">
              <a:buNone/>
            </a:pPr>
            <a:r>
              <a:rPr lang="en-US" sz="6000" b="1" dirty="0">
                <a:solidFill>
                  <a:srgbClr val="FFFFFF"/>
                </a:solidFill>
                <a:latin typeface="IBM Plex Sans" pitchFamily="34" charset="0"/>
                <a:ea typeface="IBM Plex Sans" pitchFamily="34" charset="-122"/>
                <a:cs typeface="IBM Plex Sans" pitchFamily="34" charset="-120"/>
              </a:rPr>
              <a:t>Control room</a:t>
            </a:r>
            <a:endParaRPr lang="en-US" sz="6000" dirty="0"/>
          </a:p>
        </p:txBody>
      </p:sp>
      <p:sp>
        <p:nvSpPr>
          <p:cNvPr id="5" name="Text 3"/>
          <p:cNvSpPr txBox="1"/>
          <p:nvPr/>
        </p:nvSpPr>
        <p:spPr>
          <a:xfrm>
            <a:off x="822960" y="3291840"/>
            <a:ext cx="9509760" cy="1371600"/>
          </a:xfrm>
          <a:prstGeom prst="rect">
            <a:avLst/>
          </a:prstGeom>
          <a:noFill/>
          <a:ln/>
        </p:spPr>
        <p:txBody>
          <a:bodyPr wrap="square" lIns="0" tIns="0" rIns="0" bIns="0" rtlCol="0" anchor="ctr"/>
          <a:lstStyle/>
          <a:p>
            <a:pPr indent="0" marL="0">
              <a:lnSpc>
                <a:spcPct val="125000"/>
              </a:lnSpc>
              <a:buNone/>
            </a:pPr>
            <a:r>
              <a:rPr lang="en-US" sz="1800" dirty="0">
                <a:solidFill>
                  <a:srgbClr val="C7CDD9"/>
                </a:solidFill>
                <a:latin typeface="IBM Plex Sans" pitchFamily="34" charset="0"/>
                <a:ea typeface="IBM Plex Sans" pitchFamily="34" charset="-122"/>
                <a:cs typeface="IBM Plex Sans" pitchFamily="34" charset="-120"/>
              </a:rPr>
              <a:t>Nothing on a computer happens without the operating system. It hands out the processor, the memory and the files, and it decides how you talk to the machine in the first place. Every device you have ever used made that choice about you.</a:t>
            </a:r>
            <a:endParaRPr lang="en-US" sz="1800" dirty="0"/>
          </a:p>
        </p:txBody>
      </p:sp>
      <p:sp>
        <p:nvSpPr>
          <p:cNvPr id="6" name="Shape 4"/>
          <p:cNvSpPr/>
          <p:nvPr/>
        </p:nvSpPr>
        <p:spPr>
          <a:xfrm>
            <a:off x="822960" y="4846320"/>
            <a:ext cx="2926080" cy="0"/>
          </a:xfrm>
          <a:prstGeom prst="line">
            <a:avLst/>
          </a:prstGeom>
          <a:noFill/>
          <a:ln w="31750">
            <a:solidFill>
              <a:srgbClr val="2D63FF"/>
            </a:solidFill>
            <a:prstDash val="solid"/>
          </a:ln>
        </p:spPr>
      </p:sp>
      <p:sp>
        <p:nvSpPr>
          <p:cNvPr id="7" name="Text 5"/>
          <p:cNvSpPr txBox="1"/>
          <p:nvPr/>
        </p:nvSpPr>
        <p:spPr>
          <a:xfrm>
            <a:off x="822960" y="5029200"/>
            <a:ext cx="10515600" cy="365760"/>
          </a:xfrm>
          <a:prstGeom prst="rect">
            <a:avLst/>
          </a:prstGeom>
          <a:noFill/>
          <a:ln/>
        </p:spPr>
        <p:txBody>
          <a:bodyPr wrap="square" lIns="0" tIns="0" rIns="0" bIns="0" rtlCol="0" anchor="ctr"/>
          <a:lstStyle/>
          <a:p>
            <a:pPr indent="0" marL="0">
              <a:buNone/>
            </a:pPr>
            <a:r>
              <a:rPr lang="en-US" sz="1300" dirty="0">
                <a:solidFill>
                  <a:srgbClr val="667085"/>
                </a:solidFill>
                <a:latin typeface="IBM Plex Mono" pitchFamily="34" charset="0"/>
                <a:ea typeface="IBM Plex Mono" pitchFamily="34" charset="-122"/>
                <a:cs typeface="IBM Plex Mono" pitchFamily="34" charset="-120"/>
              </a:rPr>
              <a:t>OCR J277 Paper 1  |  Computer systems</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1.5 Systems software  |  Lesson 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By the end of this lesson</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What does an operating system do, and why does every computer need one?</a:t>
            </a:r>
            <a:endParaRPr lang="en-US" sz="1500" dirty="0"/>
          </a:p>
        </p:txBody>
      </p:sp>
      <p:sp>
        <p:nvSpPr>
          <p:cNvPr id="7" name="Shape 5"/>
          <p:cNvSpPr/>
          <p:nvPr/>
        </p:nvSpPr>
        <p:spPr>
          <a:xfrm>
            <a:off x="548640" y="1965960"/>
            <a:ext cx="566928" cy="566928"/>
          </a:xfrm>
          <a:prstGeom prst="ellipse">
            <a:avLst/>
          </a:prstGeom>
          <a:solidFill>
            <a:srgbClr val="2D63FF"/>
          </a:solidFill>
          <a:ln/>
        </p:spPr>
      </p:sp>
      <p:sp>
        <p:nvSpPr>
          <p:cNvPr id="8" name="Text 6"/>
          <p:cNvSpPr txBox="1"/>
          <p:nvPr/>
        </p:nvSpPr>
        <p:spPr>
          <a:xfrm>
            <a:off x="548640" y="196596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9" name="Text 7"/>
          <p:cNvSpPr txBox="1"/>
          <p:nvPr/>
        </p:nvSpPr>
        <p:spPr>
          <a:xfrm>
            <a:off x="1325880" y="1965960"/>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Know the purpose and functionality of operating systems</a:t>
            </a:r>
            <a:endParaRPr lang="en-US" sz="1900" dirty="0"/>
          </a:p>
        </p:txBody>
      </p:sp>
      <p:sp>
        <p:nvSpPr>
          <p:cNvPr id="10" name="Shape 8"/>
          <p:cNvSpPr/>
          <p:nvPr/>
        </p:nvSpPr>
        <p:spPr>
          <a:xfrm>
            <a:off x="548640" y="2898648"/>
            <a:ext cx="566928" cy="566928"/>
          </a:xfrm>
          <a:prstGeom prst="ellipse">
            <a:avLst/>
          </a:prstGeom>
          <a:solidFill>
            <a:srgbClr val="2D63FF"/>
          </a:solidFill>
          <a:ln/>
        </p:spPr>
      </p:sp>
      <p:sp>
        <p:nvSpPr>
          <p:cNvPr id="11" name="Text 9"/>
          <p:cNvSpPr txBox="1"/>
          <p:nvPr/>
        </p:nvSpPr>
        <p:spPr>
          <a:xfrm>
            <a:off x="548640" y="28986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12" name="Text 10"/>
          <p:cNvSpPr txBox="1"/>
          <p:nvPr/>
        </p:nvSpPr>
        <p:spPr>
          <a:xfrm>
            <a:off x="1325880" y="2898648"/>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Know the different types of user interface and the features of each</a:t>
            </a:r>
            <a:endParaRPr lang="en-US" sz="1900" dirty="0"/>
          </a:p>
        </p:txBody>
      </p:sp>
      <p:sp>
        <p:nvSpPr>
          <p:cNvPr id="13" name="Text 11"/>
          <p:cNvSpPr txBox="1"/>
          <p:nvPr/>
        </p:nvSpPr>
        <p:spPr>
          <a:xfrm>
            <a:off x="548640" y="4151376"/>
            <a:ext cx="2743200" cy="320040"/>
          </a:xfrm>
          <a:prstGeom prst="rect">
            <a:avLst/>
          </a:prstGeom>
          <a:noFill/>
          <a:ln/>
        </p:spPr>
        <p:txBody>
          <a:bodyPr wrap="square" lIns="0" tIns="0" rIns="0" bIns="0" rtlCol="0" anchor="ctr"/>
          <a:lstStyle/>
          <a:p>
            <a:pPr indent="0" marL="0">
              <a:buNone/>
            </a:pPr>
            <a:r>
              <a:rPr lang="en-US" sz="1200" dirty="0">
                <a:solidFill>
                  <a:srgbClr val="667085"/>
                </a:solidFill>
                <a:latin typeface="IBM Plex Mono" pitchFamily="34" charset="0"/>
                <a:ea typeface="IBM Plex Mono" pitchFamily="34" charset="-122"/>
                <a:cs typeface="IBM Plex Mono" pitchFamily="34" charset="-120"/>
              </a:rPr>
              <a:t>Key words</a:t>
            </a:r>
            <a:endParaRPr lang="en-US" sz="1200" dirty="0"/>
          </a:p>
        </p:txBody>
      </p:sp>
      <p:sp>
        <p:nvSpPr>
          <p:cNvPr id="14" name="Shape 12"/>
          <p:cNvSpPr/>
          <p:nvPr/>
        </p:nvSpPr>
        <p:spPr>
          <a:xfrm>
            <a:off x="548640" y="4535424"/>
            <a:ext cx="2798064" cy="402336"/>
          </a:xfrm>
          <a:prstGeom prst="roundRect">
            <a:avLst>
              <a:gd name="adj" fmla="val 50000"/>
            </a:avLst>
          </a:prstGeom>
          <a:solidFill>
            <a:srgbClr val="FFFFFF"/>
          </a:solidFill>
          <a:ln w="12700">
            <a:solidFill>
              <a:srgbClr val="2D63FF"/>
            </a:solidFill>
            <a:prstDash val="solid"/>
          </a:ln>
        </p:spPr>
      </p:sp>
      <p:sp>
        <p:nvSpPr>
          <p:cNvPr id="15" name="Text 13"/>
          <p:cNvSpPr txBox="1"/>
          <p:nvPr/>
        </p:nvSpPr>
        <p:spPr>
          <a:xfrm>
            <a:off x="548640" y="4535424"/>
            <a:ext cx="2798064"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Operating system</a:t>
            </a:r>
            <a:endParaRPr lang="en-US" sz="1200" dirty="0"/>
          </a:p>
        </p:txBody>
      </p:sp>
      <p:sp>
        <p:nvSpPr>
          <p:cNvPr id="16" name="Shape 14"/>
          <p:cNvSpPr/>
          <p:nvPr/>
        </p:nvSpPr>
        <p:spPr>
          <a:xfrm>
            <a:off x="3474720" y="4535424"/>
            <a:ext cx="2505456" cy="402336"/>
          </a:xfrm>
          <a:prstGeom prst="roundRect">
            <a:avLst>
              <a:gd name="adj" fmla="val 50000"/>
            </a:avLst>
          </a:prstGeom>
          <a:solidFill>
            <a:srgbClr val="FFFFFF"/>
          </a:solidFill>
          <a:ln w="12700">
            <a:solidFill>
              <a:srgbClr val="2D63FF"/>
            </a:solidFill>
            <a:prstDash val="solid"/>
          </a:ln>
        </p:spPr>
      </p:sp>
      <p:sp>
        <p:nvSpPr>
          <p:cNvPr id="17" name="Text 15"/>
          <p:cNvSpPr txBox="1"/>
          <p:nvPr/>
        </p:nvSpPr>
        <p:spPr>
          <a:xfrm>
            <a:off x="3474720" y="4535424"/>
            <a:ext cx="2505456"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User interface</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1.5 Systems software  |  Lesson 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57200"/>
            <a:ext cx="2103120" cy="457200"/>
          </a:xfrm>
          <a:prstGeom prst="roundRect">
            <a:avLst>
              <a:gd name="adj" fmla="val 20000"/>
            </a:avLst>
          </a:prstGeom>
          <a:solidFill>
            <a:srgbClr val="F4B942"/>
          </a:solidFill>
          <a:ln/>
        </p:spPr>
      </p:sp>
      <p:sp>
        <p:nvSpPr>
          <p:cNvPr id="6" name="Text 4"/>
          <p:cNvSpPr txBox="1"/>
          <p:nvPr/>
        </p:nvSpPr>
        <p:spPr>
          <a:xfrm>
            <a:off x="502920" y="457200"/>
            <a:ext cx="2103120" cy="457200"/>
          </a:xfrm>
          <a:prstGeom prst="rect">
            <a:avLst/>
          </a:prstGeom>
          <a:noFill/>
          <a:ln/>
        </p:spPr>
        <p:txBody>
          <a:bodyPr wrap="square" lIns="0" tIns="0" rIns="0" bIns="0" rtlCol="0" anchor="ctr"/>
          <a:lstStyle/>
          <a:p>
            <a:pPr algn="ctr" indent="0" marL="0">
              <a:buNone/>
            </a:pPr>
            <a:r>
              <a:rPr lang="en-US" sz="1300" b="1" dirty="0">
                <a:solidFill>
                  <a:srgbClr val="101828"/>
                </a:solidFill>
                <a:latin typeface="IBM Plex Mono" pitchFamily="34" charset="0"/>
                <a:ea typeface="IBM Plex Mono" pitchFamily="34" charset="-122"/>
                <a:cs typeface="IBM Plex Mono" pitchFamily="34" charset="-120"/>
              </a:rPr>
              <a:t>STARTER</a:t>
            </a:r>
            <a:endParaRPr lang="en-US" sz="1300" dirty="0"/>
          </a:p>
        </p:txBody>
      </p:sp>
      <p:sp>
        <p:nvSpPr>
          <p:cNvPr id="7" name="Text 5"/>
          <p:cNvSpPr txBox="1"/>
          <p:nvPr/>
        </p:nvSpPr>
        <p:spPr>
          <a:xfrm>
            <a:off x="2788920" y="457200"/>
            <a:ext cx="5486400" cy="457200"/>
          </a:xfrm>
          <a:prstGeom prst="rect">
            <a:avLst/>
          </a:prstGeom>
          <a:noFill/>
          <a:ln/>
        </p:spPr>
        <p:txBody>
          <a:bodyPr wrap="square" lIns="0" tIns="0" rIns="0" bIns="0" rtlCol="0" anchor="ctr"/>
          <a:lstStyle/>
          <a:p>
            <a:pPr indent="0" marL="0">
              <a:buNone/>
            </a:pPr>
            <a:r>
              <a:rPr lang="en-US" sz="1400" dirty="0">
                <a:solidFill>
                  <a:srgbClr val="667085"/>
                </a:solidFill>
                <a:latin typeface="IBM Plex Sans" pitchFamily="34" charset="0"/>
                <a:ea typeface="IBM Plex Sans" pitchFamily="34" charset="-122"/>
                <a:cs typeface="IBM Plex Sans" pitchFamily="34" charset="-120"/>
              </a:rPr>
              <a:t>Five minutes, on paper</a:t>
            </a:r>
            <a:endParaRPr lang="en-US" sz="1400" dirty="0"/>
          </a:p>
        </p:txBody>
      </p:sp>
      <p:sp>
        <p:nvSpPr>
          <p:cNvPr id="8" name="Shape 6"/>
          <p:cNvSpPr/>
          <p:nvPr/>
        </p:nvSpPr>
        <p:spPr>
          <a:xfrm>
            <a:off x="502920" y="1234440"/>
            <a:ext cx="11155680" cy="3200400"/>
          </a:xfrm>
          <a:prstGeom prst="roundRect">
            <a:avLst>
              <a:gd name="adj" fmla="val 3429"/>
            </a:avLst>
          </a:prstGeom>
          <a:solidFill>
            <a:srgbClr val="FFFFFF"/>
          </a:solidFill>
          <a:ln w="15875">
            <a:solidFill>
              <a:srgbClr val="2D63FF"/>
            </a:solidFill>
            <a:prstDash val="solid"/>
          </a:ln>
        </p:spPr>
      </p:sp>
      <p:sp>
        <p:nvSpPr>
          <p:cNvPr id="9" name="Text 7"/>
          <p:cNvSpPr txBox="1"/>
          <p:nvPr/>
        </p:nvSpPr>
        <p:spPr>
          <a:xfrm>
            <a:off x="1005840" y="1645920"/>
            <a:ext cx="10149840" cy="2377440"/>
          </a:xfrm>
          <a:prstGeom prst="rect">
            <a:avLst/>
          </a:prstGeom>
          <a:noFill/>
          <a:ln/>
        </p:spPr>
        <p:txBody>
          <a:bodyPr wrap="square" lIns="0" tIns="0" rIns="0" bIns="0" rtlCol="0" anchor="ctr"/>
          <a:lstStyle/>
          <a:p>
            <a:pPr indent="0" marL="0">
              <a:lnSpc>
                <a:spcPct val="130000"/>
              </a:lnSpc>
              <a:buNone/>
            </a:pPr>
            <a:r>
              <a:rPr lang="en-US" sz="2600" dirty="0">
                <a:solidFill>
                  <a:srgbClr val="101828"/>
                </a:solidFill>
                <a:latin typeface="IBM Plex Sans" pitchFamily="34" charset="0"/>
                <a:ea typeface="IBM Plex Sans" pitchFamily="34" charset="-122"/>
                <a:cs typeface="IBM Plex Sans" pitchFamily="34" charset="-120"/>
              </a:rPr>
              <a:t>How many operating systems can you name? For each one, say what kind of device it runs on.</a:t>
            </a:r>
            <a:endParaRPr lang="en-US" sz="2600" dirty="0"/>
          </a:p>
        </p:txBody>
      </p:sp>
      <p:sp>
        <p:nvSpPr>
          <p:cNvPr id="10" name="Text 8"/>
          <p:cNvSpPr txBox="1"/>
          <p:nvPr/>
        </p:nvSpPr>
        <p:spPr>
          <a:xfrm>
            <a:off x="502920" y="4709160"/>
            <a:ext cx="11155680" cy="45720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No devices yet. Write your answer on the worksheet before anyone talks.</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1.5 Systems software  |  Lesson 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Into the experience</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Open Control room on revise360.co.uk</a:t>
            </a:r>
            <a:endParaRPr lang="en-US" sz="1500" dirty="0"/>
          </a:p>
        </p:txBody>
      </p:sp>
      <p:sp>
        <p:nvSpPr>
          <p:cNvPr id="7" name="Shape 5"/>
          <p:cNvSpPr/>
          <p:nvPr/>
        </p:nvSpPr>
        <p:spPr>
          <a:xfrm>
            <a:off x="548640" y="1874520"/>
            <a:ext cx="566928" cy="566928"/>
          </a:xfrm>
          <a:prstGeom prst="ellipse">
            <a:avLst/>
          </a:prstGeom>
          <a:solidFill>
            <a:srgbClr val="08A6A6"/>
          </a:solidFill>
          <a:ln/>
        </p:spPr>
      </p:sp>
      <p:sp>
        <p:nvSpPr>
          <p:cNvPr id="8" name="Text 6"/>
          <p:cNvSpPr txBox="1"/>
          <p:nvPr/>
        </p:nvSpPr>
        <p:spPr>
          <a:xfrm>
            <a:off x="548640" y="187452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9" name="Text 7"/>
          <p:cNvSpPr txBox="1"/>
          <p:nvPr/>
        </p:nvSpPr>
        <p:spPr>
          <a:xfrm>
            <a:off x="1325880" y="1856232"/>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Look around</a:t>
            </a:r>
            <a:endParaRPr lang="en-US" sz="1700" dirty="0"/>
          </a:p>
        </p:txBody>
      </p:sp>
      <p:sp>
        <p:nvSpPr>
          <p:cNvPr id="10" name="Text 8"/>
          <p:cNvSpPr txBox="1"/>
          <p:nvPr/>
        </p:nvSpPr>
        <p:spPr>
          <a:xfrm>
            <a:off x="1325880" y="2148840"/>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Six numbered stations are arranged around you. Turn right for 1 and 2, around for 3 and 4, left for 5 and 6.</a:t>
            </a:r>
            <a:endParaRPr lang="en-US" sz="1400" dirty="0"/>
          </a:p>
        </p:txBody>
      </p:sp>
      <p:sp>
        <p:nvSpPr>
          <p:cNvPr id="11" name="Shape 9"/>
          <p:cNvSpPr/>
          <p:nvPr/>
        </p:nvSpPr>
        <p:spPr>
          <a:xfrm>
            <a:off x="548640" y="2898648"/>
            <a:ext cx="566928" cy="566928"/>
          </a:xfrm>
          <a:prstGeom prst="ellipse">
            <a:avLst/>
          </a:prstGeom>
          <a:solidFill>
            <a:srgbClr val="08A6A6"/>
          </a:solidFill>
          <a:ln/>
        </p:spPr>
      </p:sp>
      <p:sp>
        <p:nvSpPr>
          <p:cNvPr id="12" name="Text 10"/>
          <p:cNvSpPr txBox="1"/>
          <p:nvPr/>
        </p:nvSpPr>
        <p:spPr>
          <a:xfrm>
            <a:off x="548640" y="28986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13" name="Text 11"/>
          <p:cNvSpPr txBox="1"/>
          <p:nvPr/>
        </p:nvSpPr>
        <p:spPr>
          <a:xfrm>
            <a:off x="1325880" y="2880360"/>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Read, then write</a:t>
            </a:r>
            <a:endParaRPr lang="en-US" sz="1700" dirty="0"/>
          </a:p>
        </p:txBody>
      </p:sp>
      <p:sp>
        <p:nvSpPr>
          <p:cNvPr id="14" name="Text 12"/>
          <p:cNvSpPr txBox="1"/>
          <p:nvPr/>
        </p:nvSpPr>
        <p:spPr>
          <a:xfrm>
            <a:off x="1325880" y="3172968"/>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Read the wall, write the key fact and your answer to the challenge on the worksheet.</a:t>
            </a:r>
            <a:endParaRPr lang="en-US" sz="1400" dirty="0"/>
          </a:p>
        </p:txBody>
      </p:sp>
      <p:sp>
        <p:nvSpPr>
          <p:cNvPr id="15" name="Shape 13"/>
          <p:cNvSpPr/>
          <p:nvPr/>
        </p:nvSpPr>
        <p:spPr>
          <a:xfrm>
            <a:off x="548640" y="3922776"/>
            <a:ext cx="566928" cy="566928"/>
          </a:xfrm>
          <a:prstGeom prst="ellipse">
            <a:avLst/>
          </a:prstGeom>
          <a:solidFill>
            <a:srgbClr val="08A6A6"/>
          </a:solidFill>
          <a:ln/>
        </p:spPr>
      </p:sp>
      <p:sp>
        <p:nvSpPr>
          <p:cNvPr id="16" name="Text 14"/>
          <p:cNvSpPr txBox="1"/>
          <p:nvPr/>
        </p:nvSpPr>
        <p:spPr>
          <a:xfrm>
            <a:off x="548640" y="3922776"/>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17" name="Text 15"/>
          <p:cNvSpPr txBox="1"/>
          <p:nvPr/>
        </p:nvSpPr>
        <p:spPr>
          <a:xfrm>
            <a:off x="1325880" y="3904488"/>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Then tap the badge</a:t>
            </a:r>
            <a:endParaRPr lang="en-US" sz="1700" dirty="0"/>
          </a:p>
        </p:txBody>
      </p:sp>
      <p:sp>
        <p:nvSpPr>
          <p:cNvPr id="18" name="Text 16"/>
          <p:cNvSpPr txBox="1"/>
          <p:nvPr/>
        </p:nvSpPr>
        <p:spPr>
          <a:xfrm>
            <a:off x="1325880" y="4197096"/>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Only answer the questions once you have written. Your first answer is the one that counts.</a:t>
            </a:r>
            <a:endParaRPr lang="en-US" sz="1400" dirty="0"/>
          </a:p>
        </p:txBody>
      </p:sp>
      <p:sp>
        <p:nvSpPr>
          <p:cNvPr id="19" name="Shape 17"/>
          <p:cNvSpPr/>
          <p:nvPr/>
        </p:nvSpPr>
        <p:spPr>
          <a:xfrm>
            <a:off x="548640" y="4946904"/>
            <a:ext cx="566928" cy="566928"/>
          </a:xfrm>
          <a:prstGeom prst="ellipse">
            <a:avLst/>
          </a:prstGeom>
          <a:solidFill>
            <a:srgbClr val="F4B942"/>
          </a:solidFill>
          <a:ln/>
        </p:spPr>
      </p:sp>
      <p:sp>
        <p:nvSpPr>
          <p:cNvPr id="20" name="Text 18"/>
          <p:cNvSpPr txBox="1"/>
          <p:nvPr/>
        </p:nvSpPr>
        <p:spPr>
          <a:xfrm>
            <a:off x="548640" y="4946904"/>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4</a:t>
            </a:r>
            <a:endParaRPr lang="en-US" sz="2000" dirty="0"/>
          </a:p>
        </p:txBody>
      </p:sp>
      <p:sp>
        <p:nvSpPr>
          <p:cNvPr id="21" name="Text 19"/>
          <p:cNvSpPr txBox="1"/>
          <p:nvPr/>
        </p:nvSpPr>
        <p:spPr>
          <a:xfrm>
            <a:off x="1325880" y="4928616"/>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Look down at the end</a:t>
            </a:r>
            <a:endParaRPr lang="en-US" sz="1700" dirty="0"/>
          </a:p>
        </p:txBody>
      </p:sp>
      <p:sp>
        <p:nvSpPr>
          <p:cNvPr id="22" name="Text 20"/>
          <p:cNvSpPr txBox="1"/>
          <p:nvPr/>
        </p:nvSpPr>
        <p:spPr>
          <a:xfrm>
            <a:off x="1325880" y="5221224"/>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The starred final challenge is on the floor. Predict on paper first.</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1.5 Systems software  |  Lesson 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1</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What is systems software?</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Software is split into two kinds: systems software and application software.</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Systems software runs the computer itself: the operating system and utility programs.</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Application software is what the user runs to do a job: a browser, a game, a word processor.</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Write your own definition of systems software, with two examples.</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Systems software is...</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1.5 Systems software  |  Lesson 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2</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What the OS does</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It manages the processor, sharing it between programs.</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It manages memory, deciding what is held where.</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It manages files, users, and input and output devices.</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It provides a user interface so people can work with the machine.</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List the five jobs an operating system does, in your own words.</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An operating system manages...</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1.5 Systems software  |  Lesson 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3</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Graphical user interface</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GUI uses windows, icons, menus and a pointer.</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It is easy to learn, and needs no commands to be memorised.</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It uses more memory and processing power than a text interface.</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Give one advantage and one disadvantage of a GUI.</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A graphical user interface...</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1.5 Systems software  |  Lesson 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4</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4</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Command line interface</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CLI is text only: the user types commands.</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It uses very little memory and processing power.</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It is powerful and easy to automate with scripts, but commands must be learned.</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Give one situation where a CLI is a better choice than a GUI.</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A command line interface...</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1.5 Systems software  |  Lesson 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5</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5</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Menu driven and voice</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menu driven interface offers a set of choices, one screen at a time: a cash machine, a ticket machine, an old MP3 player.</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It is very easy to use, but slow, and you can only do what the menus allow.</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voice interface listens for spoken commands: useful hands free, and for users who can't use a screen, but it mishears and needs a quiet room.</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Choose an interface for a cash machine, a games console and a server, and justify each choice.</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A menu driven interface... A voice interface...</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1.5 Systems software  |  Lesson 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6</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6</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Choosing an interface</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Think about the user: their skill, their situation and what they need to do.</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Think about the hardware: a device with no screen can't use a GUI.</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Exam answers need the choice, the characteristic and the reason.</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Explain which interface you would choose for a self-service checkout, and why.</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To choose an interface, you...</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1.5 Systems software  |  Lesson 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38912"/>
            <a:ext cx="3108960" cy="502920"/>
          </a:xfrm>
          <a:prstGeom prst="roundRect">
            <a:avLst>
              <a:gd name="adj" fmla="val 18182"/>
            </a:avLst>
          </a:prstGeom>
          <a:solidFill>
            <a:srgbClr val="F4B942"/>
          </a:solidFill>
          <a:ln/>
        </p:spPr>
      </p:sp>
      <p:sp>
        <p:nvSpPr>
          <p:cNvPr id="6" name="Text 4"/>
          <p:cNvSpPr txBox="1"/>
          <p:nvPr/>
        </p:nvSpPr>
        <p:spPr>
          <a:xfrm>
            <a:off x="502920" y="438912"/>
            <a:ext cx="3108960" cy="502920"/>
          </a:xfrm>
          <a:prstGeom prst="rect">
            <a:avLst/>
          </a:prstGeom>
          <a:noFill/>
          <a:ln/>
        </p:spPr>
        <p:txBody>
          <a:bodyPr wrap="square" lIns="0" tIns="0" rIns="0" bIns="0" rtlCol="0" anchor="ctr"/>
          <a:lstStyle/>
          <a:p>
            <a:pPr algn="ctr" indent="0" marL="0">
              <a:buNone/>
            </a:pPr>
            <a:r>
              <a:rPr lang="en-US" sz="1300" b="1" dirty="0">
                <a:solidFill>
                  <a:srgbClr val="101828"/>
                </a:solidFill>
                <a:latin typeface="IBM Plex Mono" pitchFamily="34" charset="0"/>
                <a:ea typeface="IBM Plex Mono" pitchFamily="34" charset="-122"/>
                <a:cs typeface="IBM Plex Mono" pitchFamily="34" charset="-120"/>
              </a:rPr>
              <a:t>★  FINAL CHALLENGE</a:t>
            </a:r>
            <a:endParaRPr lang="en-US" sz="1300" dirty="0"/>
          </a:p>
        </p:txBody>
      </p:sp>
      <p:sp>
        <p:nvSpPr>
          <p:cNvPr id="7" name="Text 5"/>
          <p:cNvSpPr txBox="1"/>
          <p:nvPr/>
        </p:nvSpPr>
        <p:spPr>
          <a:xfrm>
            <a:off x="502920" y="1097280"/>
            <a:ext cx="11155680" cy="731520"/>
          </a:xfrm>
          <a:prstGeom prst="rect">
            <a:avLst/>
          </a:prstGeom>
          <a:noFill/>
          <a:ln/>
        </p:spPr>
        <p:txBody>
          <a:bodyPr wrap="square" lIns="0" tIns="0" rIns="0" bIns="0" rtlCol="0" anchor="ctr"/>
          <a:lstStyle/>
          <a:p>
            <a:pPr indent="0" marL="0">
              <a:buNone/>
            </a:pPr>
            <a:r>
              <a:rPr lang="en-US" sz="3400" b="1" dirty="0">
                <a:solidFill>
                  <a:srgbClr val="101828"/>
                </a:solidFill>
                <a:latin typeface="IBM Plex Sans" pitchFamily="34" charset="0"/>
                <a:ea typeface="IBM Plex Sans" pitchFamily="34" charset="-122"/>
                <a:cs typeface="IBM Plex Sans" pitchFamily="34" charset="-120"/>
              </a:rPr>
              <a:t>Pick the interface</a:t>
            </a:r>
            <a:endParaRPr lang="en-US" sz="3400" dirty="0"/>
          </a:p>
        </p:txBody>
      </p:sp>
      <p:sp>
        <p:nvSpPr>
          <p:cNvPr id="8" name="Shape 6"/>
          <p:cNvSpPr/>
          <p:nvPr/>
        </p:nvSpPr>
        <p:spPr>
          <a:xfrm>
            <a:off x="502920" y="2011680"/>
            <a:ext cx="11155680" cy="2194560"/>
          </a:xfrm>
          <a:prstGeom prst="roundRect">
            <a:avLst>
              <a:gd name="adj" fmla="val 5000"/>
            </a:avLst>
          </a:prstGeom>
          <a:solidFill>
            <a:srgbClr val="FFFFFF"/>
          </a:solidFill>
          <a:ln w="15875">
            <a:solidFill>
              <a:srgbClr val="2D63FF"/>
            </a:solidFill>
            <a:prstDash val="solid"/>
          </a:ln>
        </p:spPr>
      </p:sp>
      <p:sp>
        <p:nvSpPr>
          <p:cNvPr id="9" name="Text 7"/>
          <p:cNvSpPr txBox="1"/>
          <p:nvPr/>
        </p:nvSpPr>
        <p:spPr>
          <a:xfrm>
            <a:off x="1005840" y="2331720"/>
            <a:ext cx="10149840" cy="1554480"/>
          </a:xfrm>
          <a:prstGeom prst="rect">
            <a:avLst/>
          </a:prstGeom>
          <a:noFill/>
          <a:ln/>
        </p:spPr>
        <p:txBody>
          <a:bodyPr wrap="square" lIns="0" tIns="0" rIns="0" bIns="0" rtlCol="0" anchor="ctr"/>
          <a:lstStyle/>
          <a:p>
            <a:pPr indent="0" marL="0">
              <a:lnSpc>
                <a:spcPct val="130000"/>
              </a:lnSpc>
              <a:buNone/>
            </a:pPr>
            <a:r>
              <a:rPr lang="en-US" sz="2200" dirty="0">
                <a:solidFill>
                  <a:srgbClr val="101828"/>
                </a:solidFill>
                <a:latin typeface="IBM Plex Sans" pitchFamily="34" charset="0"/>
                <a:ea typeface="IBM Plex Sans" pitchFamily="34" charset="-122"/>
                <a:cs typeface="IBM Plex Sans" pitchFamily="34" charset="-120"/>
              </a:rPr>
              <a:t>Which interface suits each device best?</a:t>
            </a:r>
            <a:endParaRPr lang="en-US" sz="2200" dirty="0"/>
          </a:p>
        </p:txBody>
      </p:sp>
      <p:sp>
        <p:nvSpPr>
          <p:cNvPr id="10" name="Text 8"/>
          <p:cNvSpPr txBox="1"/>
          <p:nvPr/>
        </p:nvSpPr>
        <p:spPr>
          <a:xfrm>
            <a:off x="502920" y="4526280"/>
            <a:ext cx="11155680" cy="457200"/>
          </a:xfrm>
          <a:prstGeom prst="rect">
            <a:avLst/>
          </a:prstGeom>
          <a:noFill/>
          <a:ln/>
        </p:spPr>
        <p:txBody>
          <a:bodyPr wrap="square" lIns="0" tIns="0" rIns="0" bIns="0" rtlCol="0" anchor="ctr"/>
          <a:lstStyle/>
          <a:p>
            <a:pPr indent="0" marL="0">
              <a:buNone/>
            </a:pPr>
            <a:r>
              <a:rPr lang="en-US" sz="1600" dirty="0">
                <a:solidFill>
                  <a:srgbClr val="667085"/>
                </a:solidFill>
                <a:latin typeface="IBM Plex Sans" pitchFamily="34" charset="0"/>
                <a:ea typeface="IBM Plex Sans" pitchFamily="34" charset="-122"/>
                <a:cs typeface="IBM Plex Sans" pitchFamily="34" charset="-120"/>
              </a:rPr>
              <a:t>Predict on paper first, then look down and test it.</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1.5 Systems software  |  Lesson 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Worth knowing</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The information markers dotted around the room</a:t>
            </a:r>
            <a:endParaRPr lang="en-US" sz="1500" dirty="0"/>
          </a:p>
        </p:txBody>
      </p:sp>
      <p:sp>
        <p:nvSpPr>
          <p:cNvPr id="7" name="Shape 5"/>
          <p:cNvSpPr/>
          <p:nvPr/>
        </p:nvSpPr>
        <p:spPr>
          <a:xfrm>
            <a:off x="502920" y="1828800"/>
            <a:ext cx="5394960" cy="1737360"/>
          </a:xfrm>
          <a:prstGeom prst="roundRect">
            <a:avLst>
              <a:gd name="adj" fmla="val 6316"/>
            </a:avLst>
          </a:prstGeom>
          <a:solidFill>
            <a:srgbClr val="FFFFFF"/>
          </a:solidFill>
          <a:ln w="15875">
            <a:solidFill>
              <a:srgbClr val="2D63FF"/>
            </a:solidFill>
            <a:prstDash val="solid"/>
          </a:ln>
        </p:spPr>
      </p:sp>
      <p:sp>
        <p:nvSpPr>
          <p:cNvPr id="8" name="Text 6"/>
          <p:cNvSpPr txBox="1"/>
          <p:nvPr/>
        </p:nvSpPr>
        <p:spPr>
          <a:xfrm>
            <a:off x="822960" y="2011680"/>
            <a:ext cx="4754880" cy="36576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Where the name comes from</a:t>
            </a:r>
            <a:endParaRPr lang="en-US" sz="1600" dirty="0"/>
          </a:p>
        </p:txBody>
      </p:sp>
      <p:sp>
        <p:nvSpPr>
          <p:cNvPr id="9" name="Text 7"/>
          <p:cNvSpPr txBox="1"/>
          <p:nvPr/>
        </p:nvSpPr>
        <p:spPr>
          <a:xfrm>
            <a:off x="822960" y="239572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Early computers ran one job at a time, loaded by hand. The first 'operating systems' were programs that loaded the next job automatically, so the operator didn't have to.</a:t>
            </a:r>
            <a:endParaRPr lang="en-US" sz="1300" dirty="0"/>
          </a:p>
        </p:txBody>
      </p:sp>
      <p:sp>
        <p:nvSpPr>
          <p:cNvPr id="10" name="Shape 8"/>
          <p:cNvSpPr/>
          <p:nvPr/>
        </p:nvSpPr>
        <p:spPr>
          <a:xfrm>
            <a:off x="6217920" y="1828800"/>
            <a:ext cx="5394960" cy="1737360"/>
          </a:xfrm>
          <a:prstGeom prst="roundRect">
            <a:avLst>
              <a:gd name="adj" fmla="val 6316"/>
            </a:avLst>
          </a:prstGeom>
          <a:solidFill>
            <a:srgbClr val="FFFFFF"/>
          </a:solidFill>
          <a:ln w="15875">
            <a:solidFill>
              <a:srgbClr val="08A6A6"/>
            </a:solidFill>
            <a:prstDash val="solid"/>
          </a:ln>
        </p:spPr>
      </p:sp>
      <p:sp>
        <p:nvSpPr>
          <p:cNvPr id="11" name="Text 9"/>
          <p:cNvSpPr txBox="1"/>
          <p:nvPr/>
        </p:nvSpPr>
        <p:spPr>
          <a:xfrm>
            <a:off x="6537960" y="2011680"/>
            <a:ext cx="4754880" cy="365760"/>
          </a:xfrm>
          <a:prstGeom prst="rect">
            <a:avLst/>
          </a:prstGeom>
          <a:noFill/>
          <a:ln/>
        </p:spPr>
        <p:txBody>
          <a:bodyPr wrap="square" lIns="0" tIns="0" rIns="0" bIns="0" rtlCol="0" anchor="ctr"/>
          <a:lstStyle/>
          <a:p>
            <a:pPr indent="0" marL="0">
              <a:buNone/>
            </a:pPr>
            <a:r>
              <a:rPr lang="en-US" sz="1600" b="1" dirty="0">
                <a:solidFill>
                  <a:srgbClr val="08A6A6"/>
                </a:solidFill>
                <a:latin typeface="IBM Plex Sans" pitchFamily="34" charset="0"/>
                <a:ea typeface="IBM Plex Sans" pitchFamily="34" charset="-122"/>
                <a:cs typeface="IBM Plex Sans" pitchFamily="34" charset="-120"/>
              </a:rPr>
              <a:t>Bigger than you think</a:t>
            </a:r>
            <a:endParaRPr lang="en-US" sz="1600" dirty="0"/>
          </a:p>
        </p:txBody>
      </p:sp>
      <p:sp>
        <p:nvSpPr>
          <p:cNvPr id="12" name="Text 10"/>
          <p:cNvSpPr txBox="1"/>
          <p:nvPr/>
        </p:nvSpPr>
        <p:spPr>
          <a:xfrm>
            <a:off x="6537960" y="239572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A modern operating system is tens of millions of lines of code, and is being updated somewhere in the world every day.</a:t>
            </a:r>
            <a:endParaRPr lang="en-US" sz="1300" dirty="0"/>
          </a:p>
        </p:txBody>
      </p:sp>
      <p:sp>
        <p:nvSpPr>
          <p:cNvPr id="13" name="Shape 11"/>
          <p:cNvSpPr/>
          <p:nvPr/>
        </p:nvSpPr>
        <p:spPr>
          <a:xfrm>
            <a:off x="502920" y="3794760"/>
            <a:ext cx="5394960" cy="1737360"/>
          </a:xfrm>
          <a:prstGeom prst="roundRect">
            <a:avLst>
              <a:gd name="adj" fmla="val 6316"/>
            </a:avLst>
          </a:prstGeom>
          <a:solidFill>
            <a:srgbClr val="FFFFFF"/>
          </a:solidFill>
          <a:ln w="15875">
            <a:solidFill>
              <a:srgbClr val="2D63FF"/>
            </a:solidFill>
            <a:prstDash val="solid"/>
          </a:ln>
        </p:spPr>
      </p:sp>
      <p:sp>
        <p:nvSpPr>
          <p:cNvPr id="14" name="Text 12"/>
          <p:cNvSpPr txBox="1"/>
          <p:nvPr/>
        </p:nvSpPr>
        <p:spPr>
          <a:xfrm>
            <a:off x="822960" y="3977640"/>
            <a:ext cx="4754880" cy="36576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Xerox first</a:t>
            </a:r>
            <a:endParaRPr lang="en-US" sz="1600" dirty="0"/>
          </a:p>
        </p:txBody>
      </p:sp>
      <p:sp>
        <p:nvSpPr>
          <p:cNvPr id="15" name="Text 13"/>
          <p:cNvSpPr txBox="1"/>
          <p:nvPr/>
        </p:nvSpPr>
        <p:spPr>
          <a:xfrm>
            <a:off x="822960" y="436168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The windows, icons and pointer idea was developed at Xerox PARC in the 1970s, before either Apple or Microsoft shipped a graphical system.</a:t>
            </a:r>
            <a:endParaRPr lang="en-US" sz="1300" dirty="0"/>
          </a:p>
        </p:txBody>
      </p:sp>
      <p:sp>
        <p:nvSpPr>
          <p:cNvPr id="16" name="Shape 14"/>
          <p:cNvSpPr/>
          <p:nvPr/>
        </p:nvSpPr>
        <p:spPr>
          <a:xfrm>
            <a:off x="6217920" y="3794760"/>
            <a:ext cx="5394960" cy="1737360"/>
          </a:xfrm>
          <a:prstGeom prst="roundRect">
            <a:avLst>
              <a:gd name="adj" fmla="val 6316"/>
            </a:avLst>
          </a:prstGeom>
          <a:solidFill>
            <a:srgbClr val="FFFFFF"/>
          </a:solidFill>
          <a:ln w="15875">
            <a:solidFill>
              <a:srgbClr val="08A6A6"/>
            </a:solidFill>
            <a:prstDash val="solid"/>
          </a:ln>
        </p:spPr>
      </p:sp>
      <p:sp>
        <p:nvSpPr>
          <p:cNvPr id="17" name="Text 15"/>
          <p:cNvSpPr txBox="1"/>
          <p:nvPr/>
        </p:nvSpPr>
        <p:spPr>
          <a:xfrm>
            <a:off x="6537960" y="3977640"/>
            <a:ext cx="4754880" cy="365760"/>
          </a:xfrm>
          <a:prstGeom prst="rect">
            <a:avLst/>
          </a:prstGeom>
          <a:noFill/>
          <a:ln/>
        </p:spPr>
        <p:txBody>
          <a:bodyPr wrap="square" lIns="0" tIns="0" rIns="0" bIns="0" rtlCol="0" anchor="ctr"/>
          <a:lstStyle/>
          <a:p>
            <a:pPr indent="0" marL="0">
              <a:buNone/>
            </a:pPr>
            <a:r>
              <a:rPr lang="en-US" sz="1600" b="1" dirty="0">
                <a:solidFill>
                  <a:srgbClr val="08A6A6"/>
                </a:solidFill>
                <a:latin typeface="IBM Plex Sans" pitchFamily="34" charset="0"/>
                <a:ea typeface="IBM Plex Sans" pitchFamily="34" charset="-122"/>
                <a:cs typeface="IBM Plex Sans" pitchFamily="34" charset="-120"/>
              </a:rPr>
              <a:t>The command line never died</a:t>
            </a:r>
            <a:endParaRPr lang="en-US" sz="1600" dirty="0"/>
          </a:p>
        </p:txBody>
      </p:sp>
      <p:sp>
        <p:nvSpPr>
          <p:cNvPr id="18" name="Text 16"/>
          <p:cNvSpPr txBox="1"/>
          <p:nvPr/>
        </p:nvSpPr>
        <p:spPr>
          <a:xfrm>
            <a:off x="6537960" y="436168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Most servers, cloud platforms and developer tools are still driven from a command line, because a typed command can be repeated exactly and stored in a script.</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1.5 Systems software  |  Lesson 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Exam practice</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Devices away. Answer from memory on the worksheet.</a:t>
            </a:r>
            <a:endParaRPr lang="en-US" sz="1500" dirty="0"/>
          </a:p>
        </p:txBody>
      </p:sp>
      <p:sp>
        <p:nvSpPr>
          <p:cNvPr id="7" name="Shape 5"/>
          <p:cNvSpPr/>
          <p:nvPr/>
        </p:nvSpPr>
        <p:spPr>
          <a:xfrm>
            <a:off x="502920" y="1828800"/>
            <a:ext cx="11155680" cy="1097280"/>
          </a:xfrm>
          <a:prstGeom prst="roundRect">
            <a:avLst>
              <a:gd name="adj" fmla="val 10000"/>
            </a:avLst>
          </a:prstGeom>
          <a:solidFill>
            <a:srgbClr val="FFFFFF"/>
          </a:solidFill>
          <a:ln w="15875">
            <a:solidFill>
              <a:srgbClr val="D9DEE7"/>
            </a:solidFill>
            <a:prstDash val="solid"/>
          </a:ln>
        </p:spPr>
      </p:sp>
      <p:sp>
        <p:nvSpPr>
          <p:cNvPr id="8" name="Text 6"/>
          <p:cNvSpPr txBox="1"/>
          <p:nvPr/>
        </p:nvSpPr>
        <p:spPr>
          <a:xfrm>
            <a:off x="914400" y="1938528"/>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State what is meant by systems software, and give two examples.</a:t>
            </a:r>
            <a:endParaRPr lang="en-US" sz="1700" dirty="0"/>
          </a:p>
        </p:txBody>
      </p:sp>
      <p:sp>
        <p:nvSpPr>
          <p:cNvPr id="9" name="Shape 7"/>
          <p:cNvSpPr/>
          <p:nvPr/>
        </p:nvSpPr>
        <p:spPr>
          <a:xfrm>
            <a:off x="10515600" y="2130552"/>
            <a:ext cx="868680" cy="493776"/>
          </a:xfrm>
          <a:prstGeom prst="roundRect">
            <a:avLst>
              <a:gd name="adj" fmla="val 18519"/>
            </a:avLst>
          </a:prstGeom>
          <a:solidFill>
            <a:srgbClr val="EEF2FB"/>
          </a:solidFill>
          <a:ln/>
        </p:spPr>
      </p:sp>
      <p:sp>
        <p:nvSpPr>
          <p:cNvPr id="10" name="Text 8"/>
          <p:cNvSpPr txBox="1"/>
          <p:nvPr/>
        </p:nvSpPr>
        <p:spPr>
          <a:xfrm>
            <a:off x="10515600" y="2130552"/>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[3]</a:t>
            </a:r>
            <a:endParaRPr lang="en-US" sz="1500" dirty="0"/>
          </a:p>
        </p:txBody>
      </p:sp>
      <p:sp>
        <p:nvSpPr>
          <p:cNvPr id="11" name="Shape 9"/>
          <p:cNvSpPr/>
          <p:nvPr/>
        </p:nvSpPr>
        <p:spPr>
          <a:xfrm>
            <a:off x="502920" y="3127248"/>
            <a:ext cx="11155680" cy="1097280"/>
          </a:xfrm>
          <a:prstGeom prst="roundRect">
            <a:avLst>
              <a:gd name="adj" fmla="val 10000"/>
            </a:avLst>
          </a:prstGeom>
          <a:solidFill>
            <a:srgbClr val="FFFFFF"/>
          </a:solidFill>
          <a:ln w="15875">
            <a:solidFill>
              <a:srgbClr val="D9DEE7"/>
            </a:solidFill>
            <a:prstDash val="solid"/>
          </a:ln>
        </p:spPr>
      </p:sp>
      <p:sp>
        <p:nvSpPr>
          <p:cNvPr id="12" name="Text 10"/>
          <p:cNvSpPr txBox="1"/>
          <p:nvPr/>
        </p:nvSpPr>
        <p:spPr>
          <a:xfrm>
            <a:off x="914400" y="3236976"/>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Describe two jobs carried out by an operating system.</a:t>
            </a:r>
            <a:endParaRPr lang="en-US" sz="1700" dirty="0"/>
          </a:p>
        </p:txBody>
      </p:sp>
      <p:sp>
        <p:nvSpPr>
          <p:cNvPr id="13" name="Shape 11"/>
          <p:cNvSpPr/>
          <p:nvPr/>
        </p:nvSpPr>
        <p:spPr>
          <a:xfrm>
            <a:off x="10515600" y="3429000"/>
            <a:ext cx="868680" cy="493776"/>
          </a:xfrm>
          <a:prstGeom prst="roundRect">
            <a:avLst>
              <a:gd name="adj" fmla="val 18519"/>
            </a:avLst>
          </a:prstGeom>
          <a:solidFill>
            <a:srgbClr val="EEF2FB"/>
          </a:solidFill>
          <a:ln/>
        </p:spPr>
      </p:sp>
      <p:sp>
        <p:nvSpPr>
          <p:cNvPr id="14" name="Text 12"/>
          <p:cNvSpPr txBox="1"/>
          <p:nvPr/>
        </p:nvSpPr>
        <p:spPr>
          <a:xfrm>
            <a:off x="10515600" y="3429000"/>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[4]</a:t>
            </a:r>
            <a:endParaRPr lang="en-US" sz="1500" dirty="0"/>
          </a:p>
        </p:txBody>
      </p:sp>
      <p:sp>
        <p:nvSpPr>
          <p:cNvPr id="15" name="Shape 13"/>
          <p:cNvSpPr/>
          <p:nvPr/>
        </p:nvSpPr>
        <p:spPr>
          <a:xfrm>
            <a:off x="502920" y="4425696"/>
            <a:ext cx="11155680" cy="1097280"/>
          </a:xfrm>
          <a:prstGeom prst="roundRect">
            <a:avLst>
              <a:gd name="adj" fmla="val 10000"/>
            </a:avLst>
          </a:prstGeom>
          <a:solidFill>
            <a:srgbClr val="FFFFFF"/>
          </a:solidFill>
          <a:ln w="15875">
            <a:solidFill>
              <a:srgbClr val="D9DEE7"/>
            </a:solidFill>
            <a:prstDash val="solid"/>
          </a:ln>
        </p:spPr>
      </p:sp>
      <p:sp>
        <p:nvSpPr>
          <p:cNvPr id="16" name="Text 14"/>
          <p:cNvSpPr txBox="1"/>
          <p:nvPr/>
        </p:nvSpPr>
        <p:spPr>
          <a:xfrm>
            <a:off x="914400" y="4535424"/>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A museum is building an information point for visitors. Recommend a type of user interface and justify your choice.</a:t>
            </a:r>
            <a:endParaRPr lang="en-US" sz="1700" dirty="0"/>
          </a:p>
        </p:txBody>
      </p:sp>
      <p:sp>
        <p:nvSpPr>
          <p:cNvPr id="17" name="Shape 15"/>
          <p:cNvSpPr/>
          <p:nvPr/>
        </p:nvSpPr>
        <p:spPr>
          <a:xfrm>
            <a:off x="10515600" y="4727448"/>
            <a:ext cx="868680" cy="493776"/>
          </a:xfrm>
          <a:prstGeom prst="roundRect">
            <a:avLst>
              <a:gd name="adj" fmla="val 18519"/>
            </a:avLst>
          </a:prstGeom>
          <a:solidFill>
            <a:srgbClr val="EEF2FB"/>
          </a:solidFill>
          <a:ln/>
        </p:spPr>
      </p:sp>
      <p:sp>
        <p:nvSpPr>
          <p:cNvPr id="18" name="Text 16"/>
          <p:cNvSpPr txBox="1"/>
          <p:nvPr/>
        </p:nvSpPr>
        <p:spPr>
          <a:xfrm>
            <a:off x="10515600" y="4727448"/>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[4]</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1.5 Systems software  |  Lesson 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Before you go</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Rate yourself on each of these</a:t>
            </a:r>
            <a:endParaRPr lang="en-US" sz="1500" dirty="0"/>
          </a:p>
        </p:txBody>
      </p:sp>
      <p:sp>
        <p:nvSpPr>
          <p:cNvPr id="7" name="Shape 5"/>
          <p:cNvSpPr/>
          <p:nvPr/>
        </p:nvSpPr>
        <p:spPr>
          <a:xfrm>
            <a:off x="502920" y="1920240"/>
            <a:ext cx="7863840" cy="777240"/>
          </a:xfrm>
          <a:prstGeom prst="roundRect">
            <a:avLst>
              <a:gd name="adj" fmla="val 14118"/>
            </a:avLst>
          </a:prstGeom>
          <a:solidFill>
            <a:srgbClr val="FFFFFF"/>
          </a:solidFill>
          <a:ln w="15875">
            <a:solidFill>
              <a:srgbClr val="D9DEE7"/>
            </a:solidFill>
            <a:prstDash val="solid"/>
          </a:ln>
        </p:spPr>
      </p:sp>
      <p:sp>
        <p:nvSpPr>
          <p:cNvPr id="8" name="Text 6"/>
          <p:cNvSpPr txBox="1"/>
          <p:nvPr/>
        </p:nvSpPr>
        <p:spPr>
          <a:xfrm>
            <a:off x="914400" y="192024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Systems and application software</a:t>
            </a:r>
            <a:endParaRPr lang="en-US" sz="1800" dirty="0"/>
          </a:p>
        </p:txBody>
      </p:sp>
      <p:sp>
        <p:nvSpPr>
          <p:cNvPr id="9" name="Shape 7"/>
          <p:cNvSpPr/>
          <p:nvPr/>
        </p:nvSpPr>
        <p:spPr>
          <a:xfrm>
            <a:off x="8595360" y="2066544"/>
            <a:ext cx="987552" cy="484632"/>
          </a:xfrm>
          <a:prstGeom prst="roundRect">
            <a:avLst>
              <a:gd name="adj" fmla="val 18868"/>
            </a:avLst>
          </a:prstGeom>
          <a:solidFill>
            <a:srgbClr val="FFFFFF"/>
          </a:solidFill>
          <a:ln w="15875">
            <a:solidFill>
              <a:srgbClr val="08A6A6"/>
            </a:solidFill>
            <a:prstDash val="solid"/>
          </a:ln>
        </p:spPr>
      </p:sp>
      <p:sp>
        <p:nvSpPr>
          <p:cNvPr id="10" name="Text 8"/>
          <p:cNvSpPr txBox="1"/>
          <p:nvPr/>
        </p:nvSpPr>
        <p:spPr>
          <a:xfrm>
            <a:off x="8595360" y="206654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11" name="Shape 9"/>
          <p:cNvSpPr/>
          <p:nvPr/>
        </p:nvSpPr>
        <p:spPr>
          <a:xfrm>
            <a:off x="9674352" y="2066544"/>
            <a:ext cx="987552" cy="484632"/>
          </a:xfrm>
          <a:prstGeom prst="roundRect">
            <a:avLst>
              <a:gd name="adj" fmla="val 18868"/>
            </a:avLst>
          </a:prstGeom>
          <a:solidFill>
            <a:srgbClr val="FFFFFF"/>
          </a:solidFill>
          <a:ln w="15875">
            <a:solidFill>
              <a:srgbClr val="F4B942"/>
            </a:solidFill>
            <a:prstDash val="solid"/>
          </a:ln>
        </p:spPr>
      </p:sp>
      <p:sp>
        <p:nvSpPr>
          <p:cNvPr id="12" name="Text 10"/>
          <p:cNvSpPr txBox="1"/>
          <p:nvPr/>
        </p:nvSpPr>
        <p:spPr>
          <a:xfrm>
            <a:off x="9674352" y="206654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13" name="Shape 11"/>
          <p:cNvSpPr/>
          <p:nvPr/>
        </p:nvSpPr>
        <p:spPr>
          <a:xfrm>
            <a:off x="10753344" y="2066544"/>
            <a:ext cx="987552" cy="484632"/>
          </a:xfrm>
          <a:prstGeom prst="roundRect">
            <a:avLst>
              <a:gd name="adj" fmla="val 18868"/>
            </a:avLst>
          </a:prstGeom>
          <a:solidFill>
            <a:srgbClr val="FFFFFF"/>
          </a:solidFill>
          <a:ln w="15875">
            <a:solidFill>
              <a:srgbClr val="E2574C"/>
            </a:solidFill>
            <a:prstDash val="solid"/>
          </a:ln>
        </p:spPr>
      </p:sp>
      <p:sp>
        <p:nvSpPr>
          <p:cNvPr id="14" name="Text 12"/>
          <p:cNvSpPr txBox="1"/>
          <p:nvPr/>
        </p:nvSpPr>
        <p:spPr>
          <a:xfrm>
            <a:off x="10753344" y="206654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15" name="Shape 13"/>
          <p:cNvSpPr/>
          <p:nvPr/>
        </p:nvSpPr>
        <p:spPr>
          <a:xfrm>
            <a:off x="502920" y="2880360"/>
            <a:ext cx="7863840" cy="777240"/>
          </a:xfrm>
          <a:prstGeom prst="roundRect">
            <a:avLst>
              <a:gd name="adj" fmla="val 14118"/>
            </a:avLst>
          </a:prstGeom>
          <a:solidFill>
            <a:srgbClr val="FFFFFF"/>
          </a:solidFill>
          <a:ln w="15875">
            <a:solidFill>
              <a:srgbClr val="D9DEE7"/>
            </a:solidFill>
            <a:prstDash val="solid"/>
          </a:ln>
        </p:spPr>
      </p:sp>
      <p:sp>
        <p:nvSpPr>
          <p:cNvPr id="16" name="Text 14"/>
          <p:cNvSpPr txBox="1"/>
          <p:nvPr/>
        </p:nvSpPr>
        <p:spPr>
          <a:xfrm>
            <a:off x="914400" y="288036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What an operating system does</a:t>
            </a:r>
            <a:endParaRPr lang="en-US" sz="1800" dirty="0"/>
          </a:p>
        </p:txBody>
      </p:sp>
      <p:sp>
        <p:nvSpPr>
          <p:cNvPr id="17" name="Shape 15"/>
          <p:cNvSpPr/>
          <p:nvPr/>
        </p:nvSpPr>
        <p:spPr>
          <a:xfrm>
            <a:off x="8595360" y="3026664"/>
            <a:ext cx="987552" cy="484632"/>
          </a:xfrm>
          <a:prstGeom prst="roundRect">
            <a:avLst>
              <a:gd name="adj" fmla="val 18868"/>
            </a:avLst>
          </a:prstGeom>
          <a:solidFill>
            <a:srgbClr val="FFFFFF"/>
          </a:solidFill>
          <a:ln w="15875">
            <a:solidFill>
              <a:srgbClr val="08A6A6"/>
            </a:solidFill>
            <a:prstDash val="solid"/>
          </a:ln>
        </p:spPr>
      </p:sp>
      <p:sp>
        <p:nvSpPr>
          <p:cNvPr id="18" name="Text 16"/>
          <p:cNvSpPr txBox="1"/>
          <p:nvPr/>
        </p:nvSpPr>
        <p:spPr>
          <a:xfrm>
            <a:off x="8595360" y="302666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19" name="Shape 17"/>
          <p:cNvSpPr/>
          <p:nvPr/>
        </p:nvSpPr>
        <p:spPr>
          <a:xfrm>
            <a:off x="9674352" y="3026664"/>
            <a:ext cx="987552" cy="484632"/>
          </a:xfrm>
          <a:prstGeom prst="roundRect">
            <a:avLst>
              <a:gd name="adj" fmla="val 18868"/>
            </a:avLst>
          </a:prstGeom>
          <a:solidFill>
            <a:srgbClr val="FFFFFF"/>
          </a:solidFill>
          <a:ln w="15875">
            <a:solidFill>
              <a:srgbClr val="F4B942"/>
            </a:solidFill>
            <a:prstDash val="solid"/>
          </a:ln>
        </p:spPr>
      </p:sp>
      <p:sp>
        <p:nvSpPr>
          <p:cNvPr id="20" name="Text 18"/>
          <p:cNvSpPr txBox="1"/>
          <p:nvPr/>
        </p:nvSpPr>
        <p:spPr>
          <a:xfrm>
            <a:off x="9674352" y="302666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21" name="Shape 19"/>
          <p:cNvSpPr/>
          <p:nvPr/>
        </p:nvSpPr>
        <p:spPr>
          <a:xfrm>
            <a:off x="10753344" y="3026664"/>
            <a:ext cx="987552" cy="484632"/>
          </a:xfrm>
          <a:prstGeom prst="roundRect">
            <a:avLst>
              <a:gd name="adj" fmla="val 18868"/>
            </a:avLst>
          </a:prstGeom>
          <a:solidFill>
            <a:srgbClr val="FFFFFF"/>
          </a:solidFill>
          <a:ln w="15875">
            <a:solidFill>
              <a:srgbClr val="E2574C"/>
            </a:solidFill>
            <a:prstDash val="solid"/>
          </a:ln>
        </p:spPr>
      </p:sp>
      <p:sp>
        <p:nvSpPr>
          <p:cNvPr id="22" name="Text 20"/>
          <p:cNvSpPr txBox="1"/>
          <p:nvPr/>
        </p:nvSpPr>
        <p:spPr>
          <a:xfrm>
            <a:off x="10753344" y="302666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23" name="Shape 21"/>
          <p:cNvSpPr/>
          <p:nvPr/>
        </p:nvSpPr>
        <p:spPr>
          <a:xfrm>
            <a:off x="502920" y="3840480"/>
            <a:ext cx="7863840" cy="777240"/>
          </a:xfrm>
          <a:prstGeom prst="roundRect">
            <a:avLst>
              <a:gd name="adj" fmla="val 14118"/>
            </a:avLst>
          </a:prstGeom>
          <a:solidFill>
            <a:srgbClr val="FFFFFF"/>
          </a:solidFill>
          <a:ln w="15875">
            <a:solidFill>
              <a:srgbClr val="D9DEE7"/>
            </a:solidFill>
            <a:prstDash val="solid"/>
          </a:ln>
        </p:spPr>
      </p:sp>
      <p:sp>
        <p:nvSpPr>
          <p:cNvPr id="24" name="Text 22"/>
          <p:cNvSpPr txBox="1"/>
          <p:nvPr/>
        </p:nvSpPr>
        <p:spPr>
          <a:xfrm>
            <a:off x="914400" y="384048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The four types of user interface</a:t>
            </a:r>
            <a:endParaRPr lang="en-US" sz="1800" dirty="0"/>
          </a:p>
        </p:txBody>
      </p:sp>
      <p:sp>
        <p:nvSpPr>
          <p:cNvPr id="25" name="Shape 23"/>
          <p:cNvSpPr/>
          <p:nvPr/>
        </p:nvSpPr>
        <p:spPr>
          <a:xfrm>
            <a:off x="8595360" y="3986784"/>
            <a:ext cx="987552" cy="484632"/>
          </a:xfrm>
          <a:prstGeom prst="roundRect">
            <a:avLst>
              <a:gd name="adj" fmla="val 18868"/>
            </a:avLst>
          </a:prstGeom>
          <a:solidFill>
            <a:srgbClr val="FFFFFF"/>
          </a:solidFill>
          <a:ln w="15875">
            <a:solidFill>
              <a:srgbClr val="08A6A6"/>
            </a:solidFill>
            <a:prstDash val="solid"/>
          </a:ln>
        </p:spPr>
      </p:sp>
      <p:sp>
        <p:nvSpPr>
          <p:cNvPr id="26" name="Text 24"/>
          <p:cNvSpPr txBox="1"/>
          <p:nvPr/>
        </p:nvSpPr>
        <p:spPr>
          <a:xfrm>
            <a:off x="8595360" y="398678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27" name="Shape 25"/>
          <p:cNvSpPr/>
          <p:nvPr/>
        </p:nvSpPr>
        <p:spPr>
          <a:xfrm>
            <a:off x="9674352" y="3986784"/>
            <a:ext cx="987552" cy="484632"/>
          </a:xfrm>
          <a:prstGeom prst="roundRect">
            <a:avLst>
              <a:gd name="adj" fmla="val 18868"/>
            </a:avLst>
          </a:prstGeom>
          <a:solidFill>
            <a:srgbClr val="FFFFFF"/>
          </a:solidFill>
          <a:ln w="15875">
            <a:solidFill>
              <a:srgbClr val="F4B942"/>
            </a:solidFill>
            <a:prstDash val="solid"/>
          </a:ln>
        </p:spPr>
      </p:sp>
      <p:sp>
        <p:nvSpPr>
          <p:cNvPr id="28" name="Text 26"/>
          <p:cNvSpPr txBox="1"/>
          <p:nvPr/>
        </p:nvSpPr>
        <p:spPr>
          <a:xfrm>
            <a:off x="9674352" y="398678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29" name="Shape 27"/>
          <p:cNvSpPr/>
          <p:nvPr/>
        </p:nvSpPr>
        <p:spPr>
          <a:xfrm>
            <a:off x="10753344" y="3986784"/>
            <a:ext cx="987552" cy="484632"/>
          </a:xfrm>
          <a:prstGeom prst="roundRect">
            <a:avLst>
              <a:gd name="adj" fmla="val 18868"/>
            </a:avLst>
          </a:prstGeom>
          <a:solidFill>
            <a:srgbClr val="FFFFFF"/>
          </a:solidFill>
          <a:ln w="15875">
            <a:solidFill>
              <a:srgbClr val="E2574C"/>
            </a:solidFill>
            <a:prstDash val="solid"/>
          </a:ln>
        </p:spPr>
      </p:sp>
      <p:sp>
        <p:nvSpPr>
          <p:cNvPr id="30" name="Text 28"/>
          <p:cNvSpPr txBox="1"/>
          <p:nvPr/>
        </p:nvSpPr>
        <p:spPr>
          <a:xfrm>
            <a:off x="10753344" y="398678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31" name="Text 29"/>
          <p:cNvSpPr txBox="1"/>
          <p:nvPr/>
        </p:nvSpPr>
        <p:spPr>
          <a:xfrm>
            <a:off x="502920" y="5074920"/>
            <a:ext cx="11155680" cy="54864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Anything marked Focus here: reopen Control room and use review mode on the questions you got wrong.</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Revise 360 Ltd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1.5 Systems software  |  Lesson 1 — Control room</dc:title>
  <dc:subject>OCR J277 GCSE Computer Science</dc:subject>
  <dc:creator>Revise 360 Ltd</dc:creator>
  <cp:lastModifiedBy>Revise 360 Ltd</cp:lastModifiedBy>
  <cp:revision>1</cp:revision>
  <dcterms:created xsi:type="dcterms:W3CDTF">2026-10-01T02:34:51Z</dcterms:created>
  <dcterms:modified xsi:type="dcterms:W3CDTF">2026-10-01T02:34:51Z</dcterms:modified>
</cp:coreProperties>
</file>