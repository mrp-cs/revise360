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8c78bf74174686" /><Relationship Type="http://schemas.openxmlformats.org/officeDocument/2006/relationships/extended-properties" Target="/docProps/app.xml" Id="R98afbfc7aea542e7" /><Relationship Type="http://schemas.openxmlformats.org/officeDocument/2006/relationships/officeDocument" Target="/ppt/presentation.xml" Id="Rd1160a7bb5b549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e5e75dfd3e43e5"/>
  </p:sldMasterIdLst>
  <p:notesMasterIdLst>
    <p:notesMasterId xmlns:r="http://schemas.openxmlformats.org/officeDocument/2006/relationships" r:id="R390d9cbaec14477b"/>
  </p:notesMasterIdLst>
  <p:sldIdLst>
    <p:sldId xmlns:r="http://schemas.openxmlformats.org/officeDocument/2006/relationships" id="256" r:id="R5cf1d9b825d54540"/>
    <p:sldId xmlns:r="http://schemas.openxmlformats.org/officeDocument/2006/relationships" id="257" r:id="Rd75d0601fb054269"/>
    <p:sldId xmlns:r="http://schemas.openxmlformats.org/officeDocument/2006/relationships" id="258" r:id="Rb417f0b0120e4742"/>
    <p:sldId xmlns:r="http://schemas.openxmlformats.org/officeDocument/2006/relationships" id="259" r:id="R01cf765ba7634584"/>
    <p:sldId xmlns:r="http://schemas.openxmlformats.org/officeDocument/2006/relationships" id="260" r:id="Rc62bdccb55ed45c2"/>
    <p:sldId xmlns:r="http://schemas.openxmlformats.org/officeDocument/2006/relationships" id="261" r:id="R74bb8065425a4b61"/>
    <p:sldId xmlns:r="http://schemas.openxmlformats.org/officeDocument/2006/relationships" id="262" r:id="R8ae6b0500b4d4fa1"/>
    <p:sldId xmlns:r="http://schemas.openxmlformats.org/officeDocument/2006/relationships" id="263" r:id="Ra79a8f5cdd0e4aa5"/>
    <p:sldId xmlns:r="http://schemas.openxmlformats.org/officeDocument/2006/relationships" id="264" r:id="R531733f95af447ac"/>
    <p:sldId xmlns:r="http://schemas.openxmlformats.org/officeDocument/2006/relationships" id="265" r:id="R2b4c7e26e318477a"/>
    <p:sldId xmlns:r="http://schemas.openxmlformats.org/officeDocument/2006/relationships" id="266" r:id="R3d84121ade4e456c"/>
    <p:sldId xmlns:r="http://schemas.openxmlformats.org/officeDocument/2006/relationships" id="267" r:id="R6bbae1f199a74508"/>
    <p:sldId xmlns:r="http://schemas.openxmlformats.org/officeDocument/2006/relationships" id="268" r:id="R6eebc6966fcc4e61"/>
    <p:sldId xmlns:r="http://schemas.openxmlformats.org/officeDocument/2006/relationships" id="269" r:id="R8a3813f35cad47cd"/>
    <p:sldId xmlns:r="http://schemas.openxmlformats.org/officeDocument/2006/relationships" id="270" r:id="Rf9c80c3509f44310"/>
    <p:sldId xmlns:r="http://schemas.openxmlformats.org/officeDocument/2006/relationships" id="271" r:id="R08cb19177c8c47c6"/>
    <p:sldId xmlns:r="http://schemas.openxmlformats.org/officeDocument/2006/relationships" id="272" r:id="R8a9dd42788244624"/>
    <p:sldId xmlns:r="http://schemas.openxmlformats.org/officeDocument/2006/relationships" id="273" r:id="R6ba923477dcf4e9f"/>
    <p:sldId xmlns:r="http://schemas.openxmlformats.org/officeDocument/2006/relationships" id="274" r:id="R3a9cc9e3bd3847f2"/>
    <p:sldId xmlns:r="http://schemas.openxmlformats.org/officeDocument/2006/relationships" id="275" r:id="R9a96711b2f53418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681adb390a42e8" /><Relationship Type="http://schemas.openxmlformats.org/officeDocument/2006/relationships/slideMaster" Target="/ppt/slideMasters/slideMaster1.xml" Id="R6be5e75dfd3e43e5" /><Relationship Type="http://schemas.openxmlformats.org/officeDocument/2006/relationships/notesMaster" Target="/ppt/notesMasters/notesMaster1.xml" Id="R390d9cbaec14477b" /><Relationship Type="http://schemas.openxmlformats.org/officeDocument/2006/relationships/presProps" Target="/ppt/presProps.xml" Id="Rd1dcdb7875724f54" /><Relationship Type="http://schemas.openxmlformats.org/officeDocument/2006/relationships/tableStyles" Target="/ppt/tableStyles.xml" Id="R44b5b2f0f2e0419d" /><Relationship Type="http://schemas.openxmlformats.org/officeDocument/2006/relationships/slide" Target="/ppt/slides/slide1.xml" Id="R5cf1d9b825d54540" /><Relationship Type="http://schemas.openxmlformats.org/officeDocument/2006/relationships/slide" Target="/ppt/slides/slide2.xml" Id="Rd75d0601fb054269" /><Relationship Type="http://schemas.openxmlformats.org/officeDocument/2006/relationships/slide" Target="/ppt/slides/slide3.xml" Id="Rb417f0b0120e4742" /><Relationship Type="http://schemas.openxmlformats.org/officeDocument/2006/relationships/slide" Target="/ppt/slides/slide4.xml" Id="R01cf765ba7634584" /><Relationship Type="http://schemas.openxmlformats.org/officeDocument/2006/relationships/slide" Target="/ppt/slides/slide5.xml" Id="Rc62bdccb55ed45c2" /><Relationship Type="http://schemas.openxmlformats.org/officeDocument/2006/relationships/slide" Target="/ppt/slides/slide6.xml" Id="R74bb8065425a4b61" /><Relationship Type="http://schemas.openxmlformats.org/officeDocument/2006/relationships/slide" Target="/ppt/slides/slide7.xml" Id="R8ae6b0500b4d4fa1" /><Relationship Type="http://schemas.openxmlformats.org/officeDocument/2006/relationships/slide" Target="/ppt/slides/slide8.xml" Id="Ra79a8f5cdd0e4aa5" /><Relationship Type="http://schemas.openxmlformats.org/officeDocument/2006/relationships/slide" Target="/ppt/slides/slide9.xml" Id="R531733f95af447ac" /><Relationship Type="http://schemas.openxmlformats.org/officeDocument/2006/relationships/slide" Target="/ppt/slides/slide10.xml" Id="R2b4c7e26e318477a" /><Relationship Type="http://schemas.openxmlformats.org/officeDocument/2006/relationships/slide" Target="/ppt/slides/slide11.xml" Id="R3d84121ade4e456c" /><Relationship Type="http://schemas.openxmlformats.org/officeDocument/2006/relationships/slide" Target="/ppt/slides/slide12.xml" Id="R6bbae1f199a74508" /><Relationship Type="http://schemas.openxmlformats.org/officeDocument/2006/relationships/slide" Target="/ppt/slides/slide13.xml" Id="R6eebc6966fcc4e61" /><Relationship Type="http://schemas.openxmlformats.org/officeDocument/2006/relationships/slide" Target="/ppt/slides/slide14.xml" Id="R8a3813f35cad47cd" /><Relationship Type="http://schemas.openxmlformats.org/officeDocument/2006/relationships/slide" Target="/ppt/slides/slide15.xml" Id="Rf9c80c3509f44310" /><Relationship Type="http://schemas.openxmlformats.org/officeDocument/2006/relationships/slide" Target="/ppt/slides/slide16.xml" Id="R08cb19177c8c47c6" /><Relationship Type="http://schemas.openxmlformats.org/officeDocument/2006/relationships/slide" Target="/ppt/slides/slide17.xml" Id="R8a9dd42788244624" /><Relationship Type="http://schemas.openxmlformats.org/officeDocument/2006/relationships/slide" Target="/ppt/slides/slide18.xml" Id="R6ba923477dcf4e9f" /><Relationship Type="http://schemas.openxmlformats.org/officeDocument/2006/relationships/slide" Target="/ppt/slides/slide19.xml" Id="R3a9cc9e3bd3847f2" /><Relationship Type="http://schemas.openxmlformats.org/officeDocument/2006/relationships/slide" Target="/ppt/slides/slide20.xml" Id="R9a96711b2f5341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d4fc14202846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32dea2031a4853" /><Relationship Type="http://schemas.openxmlformats.org/officeDocument/2006/relationships/notesMaster" Target="/ppt/notesMasters/notesMaster1.xml" Id="R16e58cc0d76e45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9cbaca82b64b6b" /><Relationship Type="http://schemas.openxmlformats.org/officeDocument/2006/relationships/notesMaster" Target="/ppt/notesMasters/notesMaster1.xml" Id="R1725076e206746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841fd223317460b" /><Relationship Type="http://schemas.openxmlformats.org/officeDocument/2006/relationships/notesMaster" Target="/ppt/notesMasters/notesMaster1.xml" Id="Rc01c342433054d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a071c0eaf8045b2" /><Relationship Type="http://schemas.openxmlformats.org/officeDocument/2006/relationships/notesMaster" Target="/ppt/notesMasters/notesMaster1.xml" Id="R5eb895a67a5f45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32635fa176c431e" /><Relationship Type="http://schemas.openxmlformats.org/officeDocument/2006/relationships/notesMaster" Target="/ppt/notesMasters/notesMaster1.xml" Id="Rede0403128ec4d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8c90b1fa1043a9" /><Relationship Type="http://schemas.openxmlformats.org/officeDocument/2006/relationships/notesMaster" Target="/ppt/notesMasters/notesMaster1.xml" Id="Recd616f40595406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3d4a0f06cb3496f" /><Relationship Type="http://schemas.openxmlformats.org/officeDocument/2006/relationships/notesMaster" Target="/ppt/notesMasters/notesMaster1.xml" Id="Rf1998fadd29b4b7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e72f9f76a4c4f97" /><Relationship Type="http://schemas.openxmlformats.org/officeDocument/2006/relationships/notesMaster" Target="/ppt/notesMasters/notesMaster1.xml" Id="R59ee682f446f4c3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dcc9ab63b1c4886" /><Relationship Type="http://schemas.openxmlformats.org/officeDocument/2006/relationships/notesMaster" Target="/ppt/notesMasters/notesMaster1.xml" Id="R13f07babf136467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71af2e487124557" /><Relationship Type="http://schemas.openxmlformats.org/officeDocument/2006/relationships/notesMaster" Target="/ppt/notesMasters/notesMaster1.xml" Id="R8a53344959ee466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45ce2d4c0104d23" /><Relationship Type="http://schemas.openxmlformats.org/officeDocument/2006/relationships/notesMaster" Target="/ppt/notesMasters/notesMaster1.xml" Id="R34a3ad9e53c9477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0be009fc1e24345" /><Relationship Type="http://schemas.openxmlformats.org/officeDocument/2006/relationships/notesMaster" Target="/ppt/notesMasters/notesMaster1.xml" Id="R9b9283ee9492491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551d6ae6d1d4c90" /><Relationship Type="http://schemas.openxmlformats.org/officeDocument/2006/relationships/notesMaster" Target="/ppt/notesMasters/notesMaster1.xml" Id="Rffa7d0a5f3764b7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11febbe900746e0" /><Relationship Type="http://schemas.openxmlformats.org/officeDocument/2006/relationships/notesMaster" Target="/ppt/notesMasters/notesMaster1.xml" Id="Rf5f8873300a649c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2edf3731d3a4742" /><Relationship Type="http://schemas.openxmlformats.org/officeDocument/2006/relationships/notesMaster" Target="/ppt/notesMasters/notesMaster1.xml" Id="Rdcc92faae7a246f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be2a2b4a2794684" /><Relationship Type="http://schemas.openxmlformats.org/officeDocument/2006/relationships/notesMaster" Target="/ppt/notesMasters/notesMaster1.xml" Id="R5b5fdbccc3a84eb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da0ce83a6c84384" /><Relationship Type="http://schemas.openxmlformats.org/officeDocument/2006/relationships/notesMaster" Target="/ppt/notesMasters/notesMaster1.xml" Id="R3a2b03d940fa443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22eea42bd15487d" /><Relationship Type="http://schemas.openxmlformats.org/officeDocument/2006/relationships/notesMaster" Target="/ppt/notesMasters/notesMaster1.xml" Id="R02dbe1c4c1f340a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bb61e3092c34392" /><Relationship Type="http://schemas.openxmlformats.org/officeDocument/2006/relationships/notesMaster" Target="/ppt/notesMasters/notesMaster1.xml" Id="R2bd9273560c846a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8cbb760ee114dca" /><Relationship Type="http://schemas.openxmlformats.org/officeDocument/2006/relationships/notesMaster" Target="/ppt/notesMasters/notesMaster1.xml" Id="R96b98b683e9348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image shows the actual opening scene of the experience. Begin with the worksheet starter, or the brief opening question for lessons without one.</a:t>
            </a:r>
          </a:p>
          <a:p xmlns:a="http://schemas.openxmlformats.org/drawingml/2006/main">
            <a:r>
              <a:t>Sources: Revise 360 experiences/nw-l03.json and worksheets/NW_L03_NetworkShowdown_Worksheet.docx.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learning outcomes follow the lesson worksheet.</a:t>
            </a:r>
          </a:p>
          <a:p xmlns:a="http://schemas.openxmlformats.org/drawingml/2006/main">
            <a:r>
              <a:t>Sources: Revise 360 experiences/nw-l03.json and worksheets/NW_L03_NetworkShowdown_Worksheet.docx.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answer the worksheet starter before showing the sample answers.</a:t>
            </a:r>
          </a:p>
          <a:p xmlns:a="http://schemas.openxmlformats.org/drawingml/2006/main">
            <a:r>
              <a:t>Sources: Revise 360 experiences/nw-l03.json and worksheets/NW_L03_NetworkShowdown_Worksheet.docx.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Accept equivalent correct explanations. Reveal after the question so it can be marked as students go.</a:t>
            </a:r>
          </a:p>
          <a:p xmlns:a="http://schemas.openxmlformats.org/drawingml/2006/main">
            <a:r>
              <a:t>Sources: Revise 360 experiences/nw-l03.json and worksheets/NW_L03_NetworkShowdown_Worksheet.docx.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define the exact terms listed on their worksheet.</a:t>
            </a:r>
          </a:p>
          <a:p xmlns:a="http://schemas.openxmlformats.org/drawingml/2006/main">
            <a:r>
              <a:t>Sources: Revise 360 experiences/nw-l03.json and worksheets/NW_L03_NetworkShowdown_Worksheet.docx.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after the key terminology quiz. Accept accurate definitions in students’ own words.</a:t>
            </a:r>
          </a:p>
          <a:p xmlns:a="http://schemas.openxmlformats.org/drawingml/2006/main">
            <a:r>
              <a:t>Sources: Revise 360 experiences/nw-l03.json and worksheets/NW_L03_NetworkShowdown_Worksheet.docx.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Leave this combined worksheet and experience instruction slide on the board. The OPEN EXPERIENCE label is a clickable link. Students should complete the experience and reach the plenary near the end of the lesson. First on-screen answers count.</a:t>
            </a:r>
          </a:p>
          <a:p xmlns:a="http://schemas.openxmlformats.org/drawingml/2006/main">
            <a:r>
              <a:t>Sources: Revise 360 experiences/nw-l03.json and worksheets/NW_L03_NetworkShowdown_Worksheet.docx.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follows the post-experience task, key question or revision results on the worksheet.</a:t>
            </a:r>
          </a:p>
          <a:p xmlns:a="http://schemas.openxmlformats.org/drawingml/2006/main">
            <a:r>
              <a:t>Sources: Revise 360 experiences/nw-l03.json and worksheets/NW_L03_NetworkShowdown_Worksheet.docx.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question to extend or improve an explanation before the plenary.</a:t>
            </a:r>
          </a:p>
          <a:p xmlns:a="http://schemas.openxmlformats.org/drawingml/2006/main">
            <a:r>
              <a:t>Sources: Revise 360 experiences/nw-l03.json and worksheets/NW_L03_NetworkShowdown_Worksheet.docx.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indicative answers. Credit other accurate examples or justified choices.</a:t>
            </a:r>
          </a:p>
          <a:p xmlns:a="http://schemas.openxmlformats.org/drawingml/2006/main">
            <a:r>
              <a:t>Sources: Revise 360 experiences/nw-l03.json and worksheets/NW_L03_NetworkShowdown_Worksheet.docx.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after completion. These concise points address the worksheet station challenges and help students improve their own wording.</a:t>
            </a:r>
          </a:p>
          <a:p xmlns:a="http://schemas.openxmlformats.org/drawingml/2006/main">
            <a:r>
              <a:t>Sources: Revise 360 experiences/nw-l03.json and worksheets/NW_L03_NetworkShowdown_Worksheet.docx.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after completion. These concise points address the worksheet station challenges and help students improve their own wording.</a:t>
            </a:r>
          </a:p>
          <a:p xmlns:a="http://schemas.openxmlformats.org/drawingml/2006/main">
            <a:r>
              <a:t>Sources: Revise 360 experiences/nw-l03.json and worksheets/NW_L03_NetworkShowdown_Worksheet.docx.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matches, sort categories or ordered steps from the interactive experience task. Use them to check the corresponding worksheet work.</a:t>
            </a:r>
          </a:p>
          <a:p xmlns:a="http://schemas.openxmlformats.org/drawingml/2006/main">
            <a:r>
              <a:t>Sources: Revise 360 experiences/nw-l03.json and worksheets/NW_L03_NetworkShowdown_Worksheet.docx.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matches, sort categories or ordered steps from the interactive experience task. Use them to check the corresponding worksheet work.</a:t>
            </a:r>
          </a:p>
          <a:p xmlns:a="http://schemas.openxmlformats.org/drawingml/2006/main">
            <a:r>
              <a:t>Sources: Revise 360 experiences/nw-l03.json and worksheets/NW_L03_NetworkShowdown_Worksheet.docx.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matches, sort categories or ordered steps from the interactive experience task. Use them to check the corresponding worksheet work.</a:t>
            </a:r>
          </a:p>
          <a:p xmlns:a="http://schemas.openxmlformats.org/drawingml/2006/main">
            <a:r>
              <a:t>Sources: Revise 360 experiences/nw-l03.json and worksheets/NW_L03_NetworkShowdown_Worksheet.docx.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exit, exam-practice or test-ready questions from the worksheet. Allow independent writing before the answers.</a:t>
            </a:r>
          </a:p>
          <a:p xmlns:a="http://schemas.openxmlformats.org/drawingml/2006/main">
            <a:r>
              <a:t>Sources: Revise 360 experiences/nw-l03.json and worksheets/NW_L03_NetworkShowdown_Worksheet.docx.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exit, exam-practice or test-ready questions from the worksheet. Allow independent writing before the answers.</a:t>
            </a:r>
          </a:p>
          <a:p xmlns:a="http://schemas.openxmlformats.org/drawingml/2006/main">
            <a:r>
              <a:t>Sources: Revise 360 experiences/nw-l03.json and worksheets/NW_L03_NetworkShowdown_Worksheet.docx.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Classroom answer points, not an official OCR mark scheme. Ask students to improve one answer.</a:t>
            </a:r>
          </a:p>
          <a:p xmlns:a="http://schemas.openxmlformats.org/drawingml/2006/main">
            <a:r>
              <a:t>Sources: Revise 360 experiences/nw-l03.json and worksheets/NW_L03_NetworkShowdown_Worksheet.docx.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Classroom answer points, not an official OCR mark scheme. Ask students to improve one answer.</a:t>
            </a:r>
          </a:p>
          <a:p xmlns:a="http://schemas.openxmlformats.org/drawingml/2006/main">
            <a:r>
              <a:t>Sources: Revise 360 experiences/nw-l03.json and worksheets/NW_L03_NetworkShowdown_Worksheet.docx.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confidence objectives from the worksheet. Students identify one area to revisit.</a:t>
            </a:r>
          </a:p>
          <a:p xmlns:a="http://schemas.openxmlformats.org/drawingml/2006/main">
            <a:r>
              <a:t>Sources: Revise 360 experiences/nw-l03.json and worksheets/NW_L03_NetworkShowdown_Worksheet.docx.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22e08bd56140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4b4d4267cf4b40" /><Relationship Type="http://schemas.openxmlformats.org/officeDocument/2006/relationships/slideLayout" Target="/ppt/slideLayouts/slideLayout1.xml" Id="Rddf612044d154e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f612044d154e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69c26f6b664d02" /><Relationship Type="http://schemas.openxmlformats.org/officeDocument/2006/relationships/image" Target="/ppt/media/image.png" Id="R3938a076088341de" /><Relationship Type="http://schemas.openxmlformats.org/officeDocument/2006/relationships/image" Target="/ppt/media/image.jpeg" Id="Rb0f5c12914a1400e" /><Relationship Type="http://schemas.openxmlformats.org/officeDocument/2006/relationships/notesSlide" Target="/ppt/notesSlides/notesSlide1.xml" Id="R56b05eb07ccc45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70c3b0654b4103" /><Relationship Type="http://schemas.openxmlformats.org/officeDocument/2006/relationships/image" Target="/ppt/media/image2.png" Id="Rc322163e87b44b6d" /><Relationship Type="http://schemas.openxmlformats.org/officeDocument/2006/relationships/notesSlide" Target="/ppt/notesSlides/notesSlide2.xml" Id="R492ce7fa331a43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4a86547384430b" /><Relationship Type="http://schemas.openxmlformats.org/officeDocument/2006/relationships/image" Target="/ppt/media/image3.png" Id="R16869a8239474e75" /><Relationship Type="http://schemas.openxmlformats.org/officeDocument/2006/relationships/notesSlide" Target="/ppt/notesSlides/notesSlide3.xml" Id="Rd41b23286b1b4bb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b3387ab59d49e8" /><Relationship Type="http://schemas.openxmlformats.org/officeDocument/2006/relationships/image" Target="/ppt/media/image4.png" Id="R8ed661e4b19a4ec7" /><Relationship Type="http://schemas.openxmlformats.org/officeDocument/2006/relationships/notesSlide" Target="/ppt/notesSlides/notesSlide4.xml" Id="R7b527b3d45b9401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0ccd2ee7254fdc" /><Relationship Type="http://schemas.openxmlformats.org/officeDocument/2006/relationships/image" Target="/ppt/media/image5.png" Id="Rc81e4e5732ad4e2c" /><Relationship Type="http://schemas.openxmlformats.org/officeDocument/2006/relationships/notesSlide" Target="/ppt/notesSlides/notesSlide5.xml" Id="R3699a7d7279a430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eeb04421ac4a2c" /><Relationship Type="http://schemas.openxmlformats.org/officeDocument/2006/relationships/image" Target="/ppt/media/image6.png" Id="Rc8cfe8bc48174427" /><Relationship Type="http://schemas.openxmlformats.org/officeDocument/2006/relationships/notesSlide" Target="/ppt/notesSlides/notesSlide6.xml" Id="Rf88170b438a249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9d39c2b74e4236" /><Relationship Type="http://schemas.openxmlformats.org/officeDocument/2006/relationships/image" Target="/ppt/media/image7.png" Id="Rbc052a015bb34ec4" /><Relationship Type="http://schemas.openxmlformats.org/officeDocument/2006/relationships/hyperlink" Target="https://mrp-cs.github.io/Revise360/experience.html?id=nw-l03" TargetMode="External" Id="R74552de63fa144ab" /><Relationship Type="http://schemas.openxmlformats.org/officeDocument/2006/relationships/notesSlide" Target="/ppt/notesSlides/notesSlide7.xml" Id="Rc6c7bf5f1ff54f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930636928d40f4" /><Relationship Type="http://schemas.openxmlformats.org/officeDocument/2006/relationships/image" Target="/ppt/media/image8.png" Id="R51e9bec952dc4a6b" /><Relationship Type="http://schemas.openxmlformats.org/officeDocument/2006/relationships/notesSlide" Target="/ppt/notesSlides/notesSlide8.xml" Id="R32542a2cb88f43d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4f952e69924eb5" /><Relationship Type="http://schemas.openxmlformats.org/officeDocument/2006/relationships/image" Target="/ppt/media/image9.png" Id="Ra0576d1a20ce420b" /><Relationship Type="http://schemas.openxmlformats.org/officeDocument/2006/relationships/notesSlide" Target="/ppt/notesSlides/notesSlide9.xml" Id="R8d3f2a5436bc427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0541ef4ead4013" /><Relationship Type="http://schemas.openxmlformats.org/officeDocument/2006/relationships/image" Target="/ppt/media/image10.png" Id="R0b4e59abf87b4fba" /><Relationship Type="http://schemas.openxmlformats.org/officeDocument/2006/relationships/notesSlide" Target="/ppt/notesSlides/notesSlide10.xml" Id="Re9604eac0cd7426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3b71c4c2544e22" /><Relationship Type="http://schemas.openxmlformats.org/officeDocument/2006/relationships/image" Target="/ppt/media/image11.png" Id="R47a0d8237b7b4930" /><Relationship Type="http://schemas.openxmlformats.org/officeDocument/2006/relationships/notesSlide" Target="/ppt/notesSlides/notesSlide11.xml" Id="R384771be03de425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f84f72440e4023" /><Relationship Type="http://schemas.openxmlformats.org/officeDocument/2006/relationships/image" Target="/ppt/media/image12.png" Id="Rb0e5158a3d004dc4" /><Relationship Type="http://schemas.openxmlformats.org/officeDocument/2006/relationships/notesSlide" Target="/ppt/notesSlides/notesSlide12.xml" Id="Ra9ca7be04050499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6e60ef0bbc4e97" /><Relationship Type="http://schemas.openxmlformats.org/officeDocument/2006/relationships/image" Target="/ppt/media/image13.png" Id="R811d4e36709f4729" /><Relationship Type="http://schemas.openxmlformats.org/officeDocument/2006/relationships/notesSlide" Target="/ppt/notesSlides/notesSlide13.xml" Id="R469306db457147c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c95231153f475f" /><Relationship Type="http://schemas.openxmlformats.org/officeDocument/2006/relationships/image" Target="/ppt/media/image14.png" Id="R1b35ae77bbbf4528" /><Relationship Type="http://schemas.openxmlformats.org/officeDocument/2006/relationships/notesSlide" Target="/ppt/notesSlides/notesSlide14.xml" Id="R07025c97019e485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2b4b5d4d4a4ba2" /><Relationship Type="http://schemas.openxmlformats.org/officeDocument/2006/relationships/image" Target="/ppt/media/image15.png" Id="R8d97e0af22db4baf" /><Relationship Type="http://schemas.openxmlformats.org/officeDocument/2006/relationships/notesSlide" Target="/ppt/notesSlides/notesSlide15.xml" Id="R9d5bb578ae95418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ebdcc8550a40a1" /><Relationship Type="http://schemas.openxmlformats.org/officeDocument/2006/relationships/image" Target="/ppt/media/image16.png" Id="Rf2c8d26f670e4dd3" /><Relationship Type="http://schemas.openxmlformats.org/officeDocument/2006/relationships/notesSlide" Target="/ppt/notesSlides/notesSlide16.xml" Id="R3071ac384be14a6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f0ffab90c44ac9" /><Relationship Type="http://schemas.openxmlformats.org/officeDocument/2006/relationships/image" Target="/ppt/media/image17.png" Id="R59ae49e12ed94f9a" /><Relationship Type="http://schemas.openxmlformats.org/officeDocument/2006/relationships/notesSlide" Target="/ppt/notesSlides/notesSlide17.xml" Id="R62c68212bd77492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74668897734336" /><Relationship Type="http://schemas.openxmlformats.org/officeDocument/2006/relationships/image" Target="/ppt/media/image18.png" Id="Re9af50ed19d74f9e" /><Relationship Type="http://schemas.openxmlformats.org/officeDocument/2006/relationships/notesSlide" Target="/ppt/notesSlides/notesSlide18.xml" Id="R52a073ae48fd4c9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a20e51e2fe49a2" /><Relationship Type="http://schemas.openxmlformats.org/officeDocument/2006/relationships/image" Target="/ppt/media/image19.png" Id="R3bd329a6e02e4769" /><Relationship Type="http://schemas.openxmlformats.org/officeDocument/2006/relationships/notesSlide" Target="/ppt/notesSlides/notesSlide19.xml" Id="R52dc1242d7d1478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66669ce8604088" /><Relationship Type="http://schemas.openxmlformats.org/officeDocument/2006/relationships/image" Target="/ppt/media/image20.png" Id="Raaed48efc0d24ed9" /><Relationship Type="http://schemas.openxmlformats.org/officeDocument/2006/relationships/notesSlide" Target="/ppt/notesSlides/notesSlide20.xml" Id="Re1cde049ee3f4bb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5D2ABE40-B837-4A68-B06C-1BE3B2A5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5CDD4BE9-3CAA-411B-8C8F-479907461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1.3   /   LESSON 03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C80C97F-CD2A-4450-B6C0-44D3F609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NETWORK SHOWDOWN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38a076088341de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388A645-019A-49BB-BE7D-A2EAEDE22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 / 20</a:t>
            </a:r>
          </a:p>
        </p:txBody>
      </p:sp>
      <p:sp>
        <p:nvSpPr>
          <p:cNvPr id="6" name="subject">
            <a:extLst xmlns:a="http://schemas.openxmlformats.org/drawingml/2006/main">
              <a:ext uri="{FF2B5EF4-FFF2-40B4-BE49-F238E27FC236}">
                <a16:creationId xmlns:a16="http://schemas.microsoft.com/office/drawing/2014/main" id="{FA8653E3-B4C1-482B-8F13-9E3E3813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143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Client-server and peer-to-peer</a:t>
            </a:r>
          </a:p>
        </p:txBody>
      </p:sp>
      <p:sp>
        <p:nvSpPr>
          <p:cNvPr id="7" name="cover-key-label">
            <a:extLst xmlns:a="http://schemas.openxmlformats.org/drawingml/2006/main">
              <a:ext uri="{FF2B5EF4-FFF2-40B4-BE49-F238E27FC236}">
                <a16:creationId xmlns:a16="http://schemas.microsoft.com/office/drawing/2014/main" id="{6405E635-E2E3-41E7-84C8-5592DC3C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KEY QUESTION</a:t>
            </a:r>
          </a:p>
        </p:txBody>
      </p:sp>
      <p:sp>
        <p:nvSpPr>
          <p:cNvPr id="8" name="cover-key-question">
            <a:extLst xmlns:a="http://schemas.openxmlformats.org/drawingml/2006/main">
              <a:ext uri="{FF2B5EF4-FFF2-40B4-BE49-F238E27FC236}">
                <a16:creationId xmlns:a16="http://schemas.microsoft.com/office/drawing/2014/main" id="{AF81D5BC-D28A-454A-8DFE-207473A96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762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What are the differences between peer-to-peer and client-server networks?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f5c12914a1400e"/>
          <a:stretch xmlns:a="http://schemas.openxmlformats.org/drawingml/2006/main"/>
        </p:blipFill>
        <p:spPr>
          <a:xfrm xmlns:a="http://schemas.openxmlformats.org/drawingml/2006/main">
            <a:off x="6076950" y="1819275"/>
            <a:ext cx="5400675" cy="3600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731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7EA5D12-5B88-437C-999D-FC12D7EA9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5F71628C-8ED0-4964-90DB-32D3CAD4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03   /   WORKSHEET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AFE73C81-CE5B-4F4E-9736-A629D012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By the end of this lesson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22163e87b44b6d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3003CEA-163B-434A-9048-93A72C054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2 / 20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5608CF16-4600-47C0-881A-286B1381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D4619F57-52C6-4E1C-B46D-EA34E4DA1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43100"/>
            <a:ext cx="99250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know what a client-server model is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C0335BBD-02FE-4775-9B28-80B4AE3C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E0DC5A0D-DE0F-4BE9-BF40-21F81DB6D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24200"/>
            <a:ext cx="99250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know what a peer-to-peer model is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D6158F39-C542-4A2D-A4CA-8064AD3E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6FE5A345-A6AD-4B20-A2EA-BB00D1E9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05300"/>
            <a:ext cx="99250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understand the different roles computers have in each model</a:t>
            </a:r>
          </a:p>
        </p:txBody>
      </p:sp>
    </p:spTree>
    <p:extLst>
      <p:ext uri="{BB962C8B-B14F-4D97-AF65-F5344CB8AC3E}">
        <p14:creationId xmlns:p14="http://schemas.microsoft.com/office/powerpoint/2010/main" val="20886833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306722B-A814-48CE-B575-C9F5B078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5772313F-CB2D-467D-8F32-C4DB91DB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03   /   WORKSHEET STARTER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EAF36235-05C8-48CA-8882-8D86EFEC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before the experience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869a8239474e75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81AF7B0-2AD8-46C2-9CC9-2064C836F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3 / 20</a:t>
            </a:r>
          </a:p>
        </p:txBody>
      </p:sp>
      <p:sp>
        <p:nvSpPr>
          <p:cNvPr id="6" name="starter">
            <a:extLst xmlns:a="http://schemas.openxmlformats.org/drawingml/2006/main">
              <a:ext uri="{FF2B5EF4-FFF2-40B4-BE49-F238E27FC236}">
                <a16:creationId xmlns:a16="http://schemas.microsoft.com/office/drawing/2014/main" id="{F0B0F07D-2398-4FEF-B21A-F37C97EB1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572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class of 30 needs to share one big video file. Describe two ways it could be done, and say which would be quicker.</a:t>
            </a:r>
          </a:p>
        </p:txBody>
      </p:sp>
    </p:spTree>
    <p:extLst>
      <p:ext uri="{BB962C8B-B14F-4D97-AF65-F5344CB8AC3E}">
        <p14:creationId xmlns:p14="http://schemas.microsoft.com/office/powerpoint/2010/main" val="6118399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95AA80E8-3C4C-4EAD-B6D7-1CB05AD5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DAD5D433-3E56-4935-9A55-8B9F9A48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03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440CDFC4-1F65-445A-B5E0-85F703DE0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sample answers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d661e4b19a4ec7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484E4FF-F370-47AD-A3BA-CB54B1EC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4 / 20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BCE46C5B-F06C-4C25-B358-25B4CC94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0C99C940-AB9C-40B5-9666-C221D156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33600"/>
            <a:ext cx="99250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One method is to place the video on a central server and let everyone download it.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63FBCF3E-4363-466F-9601-129FD3630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388E5E1F-98B8-44DF-B5FD-83320939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33800"/>
            <a:ext cx="99250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Another is to copy it between classmates' computers. A server is simpler to manage; speed depends on the network and simultaneous downloads.</a:t>
            </a:r>
          </a:p>
        </p:txBody>
      </p:sp>
    </p:spTree>
    <p:extLst>
      <p:ext uri="{BB962C8B-B14F-4D97-AF65-F5344CB8AC3E}">
        <p14:creationId xmlns:p14="http://schemas.microsoft.com/office/powerpoint/2010/main" val="8180942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BFA29F92-7B52-418A-9AB0-4E675282D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FA72BF92-941D-4A60-8B24-F47E5D69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03   /   WORKSHEET KEY TERMS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F2DF75C4-4D57-4D15-9130-E1E7726F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Key terminology quiz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1e4e5732ad4e2c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81C5E2C-50A6-4D00-A203-290550031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5 / 20</a:t>
            </a:r>
          </a:p>
        </p:txBody>
      </p:sp>
      <p:sp>
        <p:nvSpPr>
          <p:cNvPr id="6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A98AAD50-3B60-48F2-9EA4-BB1E0A699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76475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term-0">
            <a:extLst xmlns:a="http://schemas.openxmlformats.org/drawingml/2006/main">
              <a:ext uri="{FF2B5EF4-FFF2-40B4-BE49-F238E27FC236}">
                <a16:creationId xmlns:a16="http://schemas.microsoft.com/office/drawing/2014/main" id="{228B10A4-F79F-476C-9057-3BAD9D64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76475"/>
            <a:ext cx="966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Client-server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FB11937F-E7B9-419F-8F1F-DAEED6E14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term-1">
            <a:extLst xmlns:a="http://schemas.openxmlformats.org/drawingml/2006/main">
              <a:ext uri="{FF2B5EF4-FFF2-40B4-BE49-F238E27FC236}">
                <a16:creationId xmlns:a16="http://schemas.microsoft.com/office/drawing/2014/main" id="{E958CE82-38EE-4DCF-8858-F1120250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86225"/>
            <a:ext cx="966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Peer-to-peer</a:t>
            </a:r>
          </a:p>
        </p:txBody>
      </p:sp>
    </p:spTree>
    <p:extLst>
      <p:ext uri="{BB962C8B-B14F-4D97-AF65-F5344CB8AC3E}">
        <p14:creationId xmlns:p14="http://schemas.microsoft.com/office/powerpoint/2010/main" val="6187285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925404F-9729-4AC1-97DE-3D0EDAAA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31A7AD9A-2B30-45C0-8B1A-191AED1E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03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295FF356-BDF8-407B-90CD-56433DD1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Key terminology: answers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cfe8bc48174427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BEBE561-2AC7-4B1E-8AC8-38F618E7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6 / 20</a:t>
            </a:r>
          </a:p>
        </p:txBody>
      </p:sp>
      <p:sp>
        <p:nvSpPr>
          <p:cNvPr id="6" name="term-label-0">
            <a:extLst xmlns:a="http://schemas.openxmlformats.org/drawingml/2006/main">
              <a:ext uri="{FF2B5EF4-FFF2-40B4-BE49-F238E27FC236}">
                <a16:creationId xmlns:a16="http://schemas.microsoft.com/office/drawing/2014/main" id="{B94B32AD-C49D-4E14-B4B8-DF0B1300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288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Client-server</a:t>
            </a:r>
          </a:p>
        </p:txBody>
      </p:sp>
      <p:sp>
        <p:nvSpPr>
          <p:cNvPr id="7" name="term-definition-0">
            <a:extLst xmlns:a="http://schemas.openxmlformats.org/drawingml/2006/main">
              <a:ext uri="{FF2B5EF4-FFF2-40B4-BE49-F238E27FC236}">
                <a16:creationId xmlns:a16="http://schemas.microsoft.com/office/drawing/2014/main" id="{4FCA1831-C287-4310-AE1B-03E934F60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Client-server: clients request services or resources from a central server that manages them.</a:t>
            </a:r>
          </a:p>
        </p:txBody>
      </p:sp>
      <p:sp>
        <p:nvSpPr>
          <p:cNvPr id="8" name="term-label-1">
            <a:extLst xmlns:a="http://schemas.openxmlformats.org/drawingml/2006/main">
              <a:ext uri="{FF2B5EF4-FFF2-40B4-BE49-F238E27FC236}">
                <a16:creationId xmlns:a16="http://schemas.microsoft.com/office/drawing/2014/main" id="{3706E520-54A4-4482-BA89-C60E413C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147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Peer-to-peer</a:t>
            </a:r>
          </a:p>
        </p:txBody>
      </p:sp>
      <p:sp>
        <p:nvSpPr>
          <p:cNvPr id="9" name="term-definition-1">
            <a:extLst xmlns:a="http://schemas.openxmlformats.org/drawingml/2006/main">
              <a:ext uri="{FF2B5EF4-FFF2-40B4-BE49-F238E27FC236}">
                <a16:creationId xmlns:a16="http://schemas.microsoft.com/office/drawing/2014/main" id="{18F9E53F-A165-4E32-8156-9F1ACC99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Peer-to-peer: computers share resources directly and each peer can both request and provide them.</a:t>
            </a:r>
          </a:p>
        </p:txBody>
      </p:sp>
    </p:spTree>
    <p:extLst>
      <p:ext uri="{BB962C8B-B14F-4D97-AF65-F5344CB8AC3E}">
        <p14:creationId xmlns:p14="http://schemas.microsoft.com/office/powerpoint/2010/main" val="7494370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FD30FBC-5BA4-433A-96D3-269F31C0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C6D8A701-270C-4318-A956-C0BE50BCA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1.3   /   LESSON 03   /   EXPERIENCE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960D9028-2E5D-495F-B0BE-5D15242D0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Worksheet + experience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052a015bb34ec4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37FE882-B8E6-4501-95D5-47534896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7 / 20</a:t>
            </a:r>
          </a:p>
        </p:txBody>
      </p:sp>
      <p:sp>
        <p:nvSpPr>
          <p:cNvPr id="6" name="open-label">
            <a:extLst xmlns:a="http://schemas.openxmlformats.org/drawingml/2006/main">
              <a:ext uri="{FF2B5EF4-FFF2-40B4-BE49-F238E27FC236}">
                <a16:creationId xmlns:a16="http://schemas.microsoft.com/office/drawing/2014/main" id="{2B285468-B6A4-46D9-9F58-2B4FD094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01   </a:t>
            </a: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74552de63fa144ab"/>
              </a:rPr>
              <a:t>OPEN EXPERIENCE ↗</a:t>
            </a:r>
          </a:p>
        </p:txBody>
      </p:sp>
      <p:sp>
        <p:nvSpPr>
          <p:cNvPr id="7" name="open-body">
            <a:extLst xmlns:a="http://schemas.openxmlformats.org/drawingml/2006/main">
              <a:ext uri="{FF2B5EF4-FFF2-40B4-BE49-F238E27FC236}">
                <a16:creationId xmlns:a16="http://schemas.microsoft.com/office/drawing/2014/main" id="{E2406225-5580-48AE-87E4-62871DDB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Open Network showdown in Topic 1.3. Keep the worksheet beside you.</a:t>
            </a:r>
          </a:p>
        </p:txBody>
      </p:sp>
      <p:sp>
        <p:nvSpPr>
          <p:cNvPr id="8" name="station-label">
            <a:extLst xmlns:a="http://schemas.openxmlformats.org/drawingml/2006/main">
              <a:ext uri="{FF2B5EF4-FFF2-40B4-BE49-F238E27FC236}">
                <a16:creationId xmlns:a16="http://schemas.microsoft.com/office/drawing/2014/main" id="{B35DA22D-FF6E-4DA6-8AB3-8214B09C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02   SIX STATIONS</a:t>
            </a:r>
          </a:p>
        </p:txBody>
      </p:sp>
      <p:sp>
        <p:nvSpPr>
          <p:cNvPr id="9" name="station-body">
            <a:extLst xmlns:a="http://schemas.openxmlformats.org/drawingml/2006/main">
              <a:ext uri="{FF2B5EF4-FFF2-40B4-BE49-F238E27FC236}">
                <a16:creationId xmlns:a16="http://schemas.microsoft.com/office/drawing/2014/main" id="{87F406C1-8C3A-410B-9A7E-39FE654E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10572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Read each panel. Write the key fact IN YOUR OWN WORDS and answer the worksheet challenge before tapping its badge.</a:t>
            </a:r>
          </a:p>
        </p:txBody>
      </p:sp>
      <p:sp>
        <p:nvSpPr>
          <p:cNvPr id="10" name="finish-label">
            <a:extLst xmlns:a="http://schemas.openxmlformats.org/drawingml/2006/main">
              <a:ext uri="{FF2B5EF4-FFF2-40B4-BE49-F238E27FC236}">
                <a16:creationId xmlns:a16="http://schemas.microsoft.com/office/drawing/2014/main" id="{EDDDAFFF-BD23-4DC6-9769-E8FE1DA3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03   FINAL CHALLENGE</a:t>
            </a:r>
          </a:p>
        </p:txBody>
      </p:sp>
      <p:sp>
        <p:nvSpPr>
          <p:cNvPr id="11" name="finish-body">
            <a:extLst xmlns:a="http://schemas.openxmlformats.org/drawingml/2006/main">
              <a:ext uri="{FF2B5EF4-FFF2-40B4-BE49-F238E27FC236}">
                <a16:creationId xmlns:a16="http://schemas.microsoft.com/office/drawing/2014/main" id="{B103B8D7-014A-4ABC-802F-66494A39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572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Complete the ★ task before tapping the star. Copy your score (out of 26), then complete the worksheet task or review.</a:t>
            </a:r>
          </a:p>
        </p:txBody>
      </p:sp>
      <p:sp>
        <p:nvSpPr>
          <p:cNvPr id="12" name="plenary-label">
            <a:extLst xmlns:a="http://schemas.openxmlformats.org/drawingml/2006/main">
              <a:ext uri="{FF2B5EF4-FFF2-40B4-BE49-F238E27FC236}">
                <a16:creationId xmlns:a16="http://schemas.microsoft.com/office/drawing/2014/main" id="{7DAE0617-296F-447C-8EBE-12357337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04   PLENARY</a:t>
            </a:r>
          </a:p>
        </p:txBody>
      </p:sp>
      <p:sp>
        <p:nvSpPr>
          <p:cNvPr id="13" name="plenary-body">
            <a:extLst xmlns:a="http://schemas.openxmlformats.org/drawingml/2006/main">
              <a:ext uri="{FF2B5EF4-FFF2-40B4-BE49-F238E27FC236}">
                <a16:creationId xmlns:a16="http://schemas.microsoft.com/office/drawing/2014/main" id="{8C541DC3-249E-4F62-A8F8-9B96C0EC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Finish the experience in this lesson. Near the end, close it for the plenary knowledge checks.</a:t>
            </a:r>
          </a:p>
        </p:txBody>
      </p:sp>
    </p:spTree>
    <p:extLst>
      <p:ext uri="{BB962C8B-B14F-4D97-AF65-F5344CB8AC3E}">
        <p14:creationId xmlns:p14="http://schemas.microsoft.com/office/powerpoint/2010/main" val="9768940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BF2D059C-598F-4F08-87B9-B692676A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B71E0417-7B31-447F-9347-899540352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03   /   EXTENSION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7494B5F5-32D1-4958-B7DC-B454677D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Apply your learning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e9bec952dc4a6b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5FE83E0-934D-40FD-A09F-19257644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8 / 20</a:t>
            </a:r>
          </a:p>
        </p:txBody>
      </p:sp>
      <p:sp>
        <p:nvSpPr>
          <p:cNvPr id="6" name="application-prompt">
            <a:extLst xmlns:a="http://schemas.openxmlformats.org/drawingml/2006/main">
              <a:ext uri="{FF2B5EF4-FFF2-40B4-BE49-F238E27FC236}">
                <a16:creationId xmlns:a16="http://schemas.microsoft.com/office/drawing/2014/main" id="{C88B778A-24D6-4A5A-8D13-10A8ABEFB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95525"/>
            <a:ext cx="105727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Answer the key question: how do client-server and peer-to-peer networks differ?</a:t>
            </a:r>
          </a:p>
        </p:txBody>
      </p:sp>
      <p:sp>
        <p:nvSpPr>
          <p:cNvPr id="7" name="application-note">
            <a:extLst xmlns:a="http://schemas.openxmlformats.org/drawingml/2006/main">
              <a:ext uri="{FF2B5EF4-FFF2-40B4-BE49-F238E27FC236}">
                <a16:creationId xmlns:a16="http://schemas.microsoft.com/office/drawing/2014/main" id="{03098424-5669-4BC8-A3CB-2CDEA467F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10572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Use the task and table on your worksheet.</a:t>
            </a:r>
          </a:p>
        </p:txBody>
      </p:sp>
    </p:spTree>
    <p:extLst>
      <p:ext uri="{BB962C8B-B14F-4D97-AF65-F5344CB8AC3E}">
        <p14:creationId xmlns:p14="http://schemas.microsoft.com/office/powerpoint/2010/main" val="2047401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C5FC32A2-1E70-48FA-9DF8-9166BF6DB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32AEA5DF-C58E-4FBA-A96C-85D762EE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03   /   EXTENSION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89A922B1-10C0-4D8A-ABDF-FE068E62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Check and improve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576d1a20ce420b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0CE7E8D-A9BF-4A9A-BEC6-8F091249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9 / 20</a:t>
            </a:r>
          </a:p>
        </p:txBody>
      </p:sp>
      <p:sp>
        <p:nvSpPr>
          <p:cNvPr id="6" name="review-prompt">
            <a:extLst xmlns:a="http://schemas.openxmlformats.org/drawingml/2006/main">
              <a:ext uri="{FF2B5EF4-FFF2-40B4-BE49-F238E27FC236}">
                <a16:creationId xmlns:a16="http://schemas.microsoft.com/office/drawing/2014/main" id="{A2687CF0-4632-495F-86AF-34C85FA6D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1057275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three-person office grows to 60 staff. What changes in the case for a central server?</a:t>
            </a:r>
          </a:p>
        </p:txBody>
      </p:sp>
    </p:spTree>
    <p:extLst>
      <p:ext uri="{BB962C8B-B14F-4D97-AF65-F5344CB8AC3E}">
        <p14:creationId xmlns:p14="http://schemas.microsoft.com/office/powerpoint/2010/main" val="145702700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CDD799B7-6DFA-4689-921B-15B532F8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34508386-E83B-4115-B495-9292AAA27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03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9AED471A-1F22-4004-A76C-127D9F85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Application: sample answers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4e59abf87b4fba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AD421AA-AE11-46F6-B3D8-A3D460AD9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10 / 20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61BCB3E7-2954-4D85-BC3B-5867F8DA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09AE3515-0F96-4DDB-9AE6-482303B89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47850"/>
            <a:ext cx="99250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Client-server uses a central machine to provide services and manage users, files and backups.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DF342CD9-8242-44BC-8B26-1C84C90B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479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33F4C611-7608-49C9-B6A2-D8078F7AE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47975"/>
            <a:ext cx="99250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Peer-to-peer devices share directly. Setup can cost less, but administration and backup are less consistent.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3BE8D5D0-A203-4EFA-B0EB-D3014586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481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4C0B3C0F-B710-4E49-B22C-9C5A22F5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48100"/>
            <a:ext cx="99250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school usually benefits from central control; a very small office may accept the trade-offs of peer-to-peer.</a:t>
            </a:r>
          </a:p>
        </p:txBody>
      </p:sp>
      <p:sp>
        <p:nvSpPr>
          <p:cNvPr id="12" name="number-4">
            <a:extLst xmlns:a="http://schemas.openxmlformats.org/drawingml/2006/main">
              <a:ext uri="{FF2B5EF4-FFF2-40B4-BE49-F238E27FC236}">
                <a16:creationId xmlns:a16="http://schemas.microsoft.com/office/drawing/2014/main" id="{BD6AC3D4-C2D2-4DB2-BD6D-B479015A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482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4.</a:t>
            </a:r>
          </a:p>
        </p:txBody>
      </p:sp>
      <p:sp>
        <p:nvSpPr>
          <p:cNvPr id="13" name="item-4">
            <a:extLst xmlns:a="http://schemas.openxmlformats.org/drawingml/2006/main">
              <a:ext uri="{FF2B5EF4-FFF2-40B4-BE49-F238E27FC236}">
                <a16:creationId xmlns:a16="http://schemas.microsoft.com/office/drawing/2014/main" id="{B1D8044C-E9F0-4CC5-B4A2-4C439609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48225"/>
            <a:ext cx="99250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Central accounts, permissions, backups and updates become more valuable as the number of users grows, despite extra cost and management.</a:t>
            </a:r>
          </a:p>
        </p:txBody>
      </p:sp>
    </p:spTree>
    <p:extLst>
      <p:ext uri="{BB962C8B-B14F-4D97-AF65-F5344CB8AC3E}">
        <p14:creationId xmlns:p14="http://schemas.microsoft.com/office/powerpoint/2010/main" val="205951801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FEA6657E-0C51-4FCA-B378-A84FDAE1E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52DFF0FC-A8DA-4B87-BBF4-D5DCA999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03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AF70D924-53B4-4B4B-B97D-44873C9A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1–3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a0d8237b7b4930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2230237-E812-4DA6-B164-F0EF1554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11 / 20</a:t>
            </a:r>
          </a:p>
        </p:txBody>
      </p:sp>
      <p:sp>
        <p:nvSpPr>
          <p:cNvPr id="6" name="station-intro">
            <a:extLst xmlns:a="http://schemas.openxmlformats.org/drawingml/2006/main">
              <a:ext uri="{FF2B5EF4-FFF2-40B4-BE49-F238E27FC236}">
                <a16:creationId xmlns:a16="http://schemas.microsoft.com/office/drawing/2014/main" id="{30B973C0-24FC-4A7C-8EBB-B3DCFEFF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0">
            <a:extLst xmlns:a="http://schemas.openxmlformats.org/drawingml/2006/main">
              <a:ext uri="{FF2B5EF4-FFF2-40B4-BE49-F238E27FC236}">
                <a16:creationId xmlns:a16="http://schemas.microsoft.com/office/drawing/2014/main" id="{B7FADBB5-AEEB-4CF0-8848-C7B7F842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  Client-server model</a:t>
            </a:r>
          </a:p>
        </p:txBody>
      </p:sp>
      <p:sp>
        <p:nvSpPr>
          <p:cNvPr id="8" name="station-answer-0">
            <a:extLst xmlns:a="http://schemas.openxmlformats.org/drawingml/2006/main">
              <a:ext uri="{FF2B5EF4-FFF2-40B4-BE49-F238E27FC236}">
                <a16:creationId xmlns:a16="http://schemas.microsoft.com/office/drawing/2014/main" id="{B6391923-E163-4DEA-B4B7-68C1B8D2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School servers may provide shared files, logins and printers. Clients request those services.</a:t>
            </a:r>
          </a:p>
        </p:txBody>
      </p:sp>
      <p:sp>
        <p:nvSpPr>
          <p:cNvPr id="9" name="station-name-1">
            <a:extLst xmlns:a="http://schemas.openxmlformats.org/drawingml/2006/main">
              <a:ext uri="{FF2B5EF4-FFF2-40B4-BE49-F238E27FC236}">
                <a16:creationId xmlns:a16="http://schemas.microsoft.com/office/drawing/2014/main" id="{AF0739D0-0B65-42A2-AB65-9123A342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  Peer-to-peer model</a:t>
            </a:r>
          </a:p>
        </p:txBody>
      </p:sp>
      <p:sp>
        <p:nvSpPr>
          <p:cNvPr id="10" name="station-answer-1">
            <a:extLst xmlns:a="http://schemas.openxmlformats.org/drawingml/2006/main">
              <a:ext uri="{FF2B5EF4-FFF2-40B4-BE49-F238E27FC236}">
                <a16:creationId xmlns:a16="http://schemas.microsoft.com/office/drawing/2014/main" id="{5C8494F8-FA2E-4B97-8CF4-BD094A000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Two home computers sharing a folder directly are peers. Each owner manages their own files and backups.</a:t>
            </a:r>
          </a:p>
        </p:txBody>
      </p:sp>
      <p:sp>
        <p:nvSpPr>
          <p:cNvPr id="11" name="station-name-2">
            <a:extLst xmlns:a="http://schemas.openxmlformats.org/drawingml/2006/main">
              <a:ext uri="{FF2B5EF4-FFF2-40B4-BE49-F238E27FC236}">
                <a16:creationId xmlns:a16="http://schemas.microsoft.com/office/drawing/2014/main" id="{CC8FF1DA-9B17-4542-80B6-F5F68EFC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  Client-server: pros and cons</a:t>
            </a:r>
          </a:p>
        </p:txBody>
      </p:sp>
      <p:sp>
        <p:nvSpPr>
          <p:cNvPr id="12" name="station-answer-2">
            <a:extLst xmlns:a="http://schemas.openxmlformats.org/drawingml/2006/main">
              <a:ext uri="{FF2B5EF4-FFF2-40B4-BE49-F238E27FC236}">
                <a16:creationId xmlns:a16="http://schemas.microsoft.com/office/drawing/2014/main" id="{B1654680-4E6B-496B-A8D7-A990CB7B1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school needs central user accounts, permissions and backups. A server provides these consistently.</a:t>
            </a:r>
          </a:p>
        </p:txBody>
      </p:sp>
    </p:spTree>
    <p:extLst>
      <p:ext uri="{BB962C8B-B14F-4D97-AF65-F5344CB8AC3E}">
        <p14:creationId xmlns:p14="http://schemas.microsoft.com/office/powerpoint/2010/main" val="85026079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FB53B50D-2BDE-4F20-95BC-7BB398BED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B250AC33-6F15-4244-9627-F742D467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03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7FC6FEB8-85C9-4A64-BAC7-A316E9A53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4–6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e5158a3d004dc4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F545045-3271-4524-9E51-494702B9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12 / 20</a:t>
            </a:r>
          </a:p>
        </p:txBody>
      </p:sp>
      <p:sp>
        <p:nvSpPr>
          <p:cNvPr id="6" name="station-intro">
            <a:extLst xmlns:a="http://schemas.openxmlformats.org/drawingml/2006/main">
              <a:ext uri="{FF2B5EF4-FFF2-40B4-BE49-F238E27FC236}">
                <a16:creationId xmlns:a16="http://schemas.microsoft.com/office/drawing/2014/main" id="{778A649F-9C45-4CD2-9024-D4681C19F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3">
            <a:extLst xmlns:a="http://schemas.openxmlformats.org/drawingml/2006/main">
              <a:ext uri="{FF2B5EF4-FFF2-40B4-BE49-F238E27FC236}">
                <a16:creationId xmlns:a16="http://schemas.microsoft.com/office/drawing/2014/main" id="{62C90989-E025-4830-A44C-BFDFF7439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  Peer-to-peer: pros and cons</a:t>
            </a:r>
          </a:p>
        </p:txBody>
      </p:sp>
      <p:sp>
        <p:nvSpPr>
          <p:cNvPr id="8" name="station-answer-3">
            <a:extLst xmlns:a="http://schemas.openxmlformats.org/drawingml/2006/main">
              <a:ext uri="{FF2B5EF4-FFF2-40B4-BE49-F238E27FC236}">
                <a16:creationId xmlns:a16="http://schemas.microsoft.com/office/drawing/2014/main" id="{600F3745-E017-47D4-B2DA-AE041DB55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For three computers, peer-to-peer may be cheap and simple, but each person must manage their own backup and security.</a:t>
            </a:r>
          </a:p>
        </p:txBody>
      </p:sp>
      <p:sp>
        <p:nvSpPr>
          <p:cNvPr id="9" name="station-name-4">
            <a:extLst xmlns:a="http://schemas.openxmlformats.org/drawingml/2006/main">
              <a:ext uri="{FF2B5EF4-FFF2-40B4-BE49-F238E27FC236}">
                <a16:creationId xmlns:a16="http://schemas.microsoft.com/office/drawing/2014/main" id="{E22526FE-D7A4-440E-9317-D2BAE9E8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5  Who's who?</a:t>
            </a:r>
          </a:p>
        </p:txBody>
      </p:sp>
      <p:sp>
        <p:nvSpPr>
          <p:cNvPr id="10" name="station-answer-4">
            <a:extLst xmlns:a="http://schemas.openxmlformats.org/drawingml/2006/main">
              <a:ext uri="{FF2B5EF4-FFF2-40B4-BE49-F238E27FC236}">
                <a16:creationId xmlns:a16="http://schemas.microsoft.com/office/drawing/2014/main" id="{D09AFDCC-C0F9-4ECF-98A0-01B17B0DF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server supplies a shared service; a client asks for it. A peer both supplies and requests resources from other peers.</a:t>
            </a:r>
          </a:p>
        </p:txBody>
      </p:sp>
      <p:sp>
        <p:nvSpPr>
          <p:cNvPr id="11" name="station-name-5">
            <a:extLst xmlns:a="http://schemas.openxmlformats.org/drawingml/2006/main">
              <a:ext uri="{FF2B5EF4-FFF2-40B4-BE49-F238E27FC236}">
                <a16:creationId xmlns:a16="http://schemas.microsoft.com/office/drawing/2014/main" id="{D19F9CA0-A2CD-4480-BCD2-788B229C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6  How torrents work</a:t>
            </a:r>
          </a:p>
        </p:txBody>
      </p:sp>
      <p:sp>
        <p:nvSpPr>
          <p:cNvPr id="12" name="station-answer-5">
            <a:extLst xmlns:a="http://schemas.openxmlformats.org/drawingml/2006/main">
              <a:ext uri="{FF2B5EF4-FFF2-40B4-BE49-F238E27FC236}">
                <a16:creationId xmlns:a16="http://schemas.microsoft.com/office/drawing/2014/main" id="{A10502A3-EA5A-4CBC-B712-C76BDEB66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Torrenting is peer-to-peer. Different peers can send different pieces of one large file at once, which may speed the download.</a:t>
            </a:r>
          </a:p>
        </p:txBody>
      </p:sp>
    </p:spTree>
    <p:extLst>
      <p:ext uri="{BB962C8B-B14F-4D97-AF65-F5344CB8AC3E}">
        <p14:creationId xmlns:p14="http://schemas.microsoft.com/office/powerpoint/2010/main" val="38527148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B004B0FE-D5EF-47CC-A98C-1AACC7E1D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F7A5288F-0B25-40CD-8A57-AB9E6BC0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03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DF5D229F-0D15-46A7-A178-6223D4DA8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Final challenge · answers 1–4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1d4e36709f4729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032E0ED-822C-4740-9F26-4DA1A59C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13 / 20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F2308E8B-CE1A-41E5-8801-94830BCF9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7C34C9C6-5A21-4A39-AA70-9A08B24D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19275"/>
            <a:ext cx="9925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Each user has to back up their own machine → Peer-to-peer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197F3D94-BC19-4645-A66F-30BB29998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AB05CF9A-F884-4381-ACFE-298363E5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81300"/>
            <a:ext cx="9925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Files end up scattered and hard to find → Peer-to-peer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A6FC7EE0-1FCB-41F3-B260-B11EFA90A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433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622469B7-33AC-4F57-97B8-31EE47942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43325"/>
            <a:ext cx="9925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No expensive central machine to buy → Peer-to-peer</a:t>
            </a:r>
          </a:p>
        </p:txBody>
      </p:sp>
      <p:sp>
        <p:nvSpPr>
          <p:cNvPr id="12" name="number-4">
            <a:extLst xmlns:a="http://schemas.openxmlformats.org/drawingml/2006/main">
              <a:ext uri="{FF2B5EF4-FFF2-40B4-BE49-F238E27FC236}">
                <a16:creationId xmlns:a16="http://schemas.microsoft.com/office/drawing/2014/main" id="{4128C047-C3C4-4683-A785-4973D766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4.</a:t>
            </a:r>
          </a:p>
        </p:txBody>
      </p:sp>
      <p:sp>
        <p:nvSpPr>
          <p:cNvPr id="13" name="item-4">
            <a:extLst xmlns:a="http://schemas.openxmlformats.org/drawingml/2006/main">
              <a:ext uri="{FF2B5EF4-FFF2-40B4-BE49-F238E27FC236}">
                <a16:creationId xmlns:a16="http://schemas.microsoft.com/office/drawing/2014/main" id="{8CCD95E4-A855-48D6-8E6E-294063AFB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05350"/>
            <a:ext cx="9925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One nightly backup covers everyone's shared work → Client-server</a:t>
            </a:r>
          </a:p>
        </p:txBody>
      </p:sp>
    </p:spTree>
    <p:extLst>
      <p:ext uri="{BB962C8B-B14F-4D97-AF65-F5344CB8AC3E}">
        <p14:creationId xmlns:p14="http://schemas.microsoft.com/office/powerpoint/2010/main" val="107276447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33E0794-D36F-4D56-9714-321F59835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2EB4BED6-E393-46BC-BD75-2C748EE47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03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6F07670A-B75A-483B-91EA-775E6F61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Final challenge · answers 5–8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35ae77bbbf4528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B1E9BD6-198A-4C28-B998-59AFB033F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14 / 20</a:t>
            </a:r>
          </a:p>
        </p:txBody>
      </p:sp>
      <p:sp>
        <p:nvSpPr>
          <p:cNvPr id="6" name="number-5">
            <a:extLst xmlns:a="http://schemas.openxmlformats.org/drawingml/2006/main">
              <a:ext uri="{FF2B5EF4-FFF2-40B4-BE49-F238E27FC236}">
                <a16:creationId xmlns:a16="http://schemas.microsoft.com/office/drawing/2014/main" id="{0664DC0F-BD6A-44D7-9335-257496E57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5.</a:t>
            </a:r>
          </a:p>
        </p:txBody>
      </p:sp>
      <p:sp>
        <p:nvSpPr>
          <p:cNvPr id="7" name="item-5">
            <a:extLst xmlns:a="http://schemas.openxmlformats.org/drawingml/2006/main">
              <a:ext uri="{FF2B5EF4-FFF2-40B4-BE49-F238E27FC236}">
                <a16:creationId xmlns:a16="http://schemas.microsoft.com/office/drawing/2014/main" id="{B9D4612F-F85E-4EC6-BAAD-2F3EDBBB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19275"/>
            <a:ext cx="9925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Carries on working if one computer is switched off → Peer-to-peer</a:t>
            </a:r>
          </a:p>
        </p:txBody>
      </p:sp>
      <p:sp>
        <p:nvSpPr>
          <p:cNvPr id="8" name="number-6">
            <a:extLst xmlns:a="http://schemas.openxmlformats.org/drawingml/2006/main">
              <a:ext uri="{FF2B5EF4-FFF2-40B4-BE49-F238E27FC236}">
                <a16:creationId xmlns:a16="http://schemas.microsoft.com/office/drawing/2014/main" id="{73AE55C0-C688-4012-B7F1-8A56D8AC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6.</a:t>
            </a:r>
          </a:p>
        </p:txBody>
      </p:sp>
      <p:sp>
        <p:nvSpPr>
          <p:cNvPr id="9" name="item-6">
            <a:extLst xmlns:a="http://schemas.openxmlformats.org/drawingml/2006/main">
              <a:ext uri="{FF2B5EF4-FFF2-40B4-BE49-F238E27FC236}">
                <a16:creationId xmlns:a16="http://schemas.microsoft.com/office/drawing/2014/main" id="{4F8AA8E3-D193-436F-9113-A210E81E5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81300"/>
            <a:ext cx="9925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Security settings are hard to apply consistently → Peer-to-peer</a:t>
            </a:r>
          </a:p>
        </p:txBody>
      </p:sp>
      <p:sp>
        <p:nvSpPr>
          <p:cNvPr id="10" name="number-7">
            <a:extLst xmlns:a="http://schemas.openxmlformats.org/drawingml/2006/main">
              <a:ext uri="{FF2B5EF4-FFF2-40B4-BE49-F238E27FC236}">
                <a16:creationId xmlns:a16="http://schemas.microsoft.com/office/drawing/2014/main" id="{F32A5918-EF81-45F4-BD28-3B07D28E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433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7.</a:t>
            </a:r>
          </a:p>
        </p:txBody>
      </p:sp>
      <p:sp>
        <p:nvSpPr>
          <p:cNvPr id="11" name="item-7">
            <a:extLst xmlns:a="http://schemas.openxmlformats.org/drawingml/2006/main">
              <a:ext uri="{FF2B5EF4-FFF2-40B4-BE49-F238E27FC236}">
                <a16:creationId xmlns:a16="http://schemas.microsoft.com/office/drawing/2014/main" id="{D3B61708-52C1-4E99-A36C-DD9186FC3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43325"/>
            <a:ext cx="9925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Permissions are set once, centrally → Client-server</a:t>
            </a:r>
          </a:p>
        </p:txBody>
      </p:sp>
      <p:sp>
        <p:nvSpPr>
          <p:cNvPr id="12" name="number-8">
            <a:extLst xmlns:a="http://schemas.openxmlformats.org/drawingml/2006/main">
              <a:ext uri="{FF2B5EF4-FFF2-40B4-BE49-F238E27FC236}">
                <a16:creationId xmlns:a16="http://schemas.microsoft.com/office/drawing/2014/main" id="{CFA620EE-348D-48FE-9702-D7F4F983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8.</a:t>
            </a:r>
          </a:p>
        </p:txBody>
      </p:sp>
      <p:sp>
        <p:nvSpPr>
          <p:cNvPr id="13" name="item-8">
            <a:extLst xmlns:a="http://schemas.openxmlformats.org/drawingml/2006/main">
              <a:ext uri="{FF2B5EF4-FFF2-40B4-BE49-F238E27FC236}">
                <a16:creationId xmlns:a16="http://schemas.microsoft.com/office/drawing/2014/main" id="{6EFABF88-E289-4EEC-BEFD-87C2C954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05350"/>
            <a:ext cx="9925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Needs trained staff to look after it → Client-server</a:t>
            </a:r>
          </a:p>
        </p:txBody>
      </p:sp>
    </p:spTree>
    <p:extLst>
      <p:ext uri="{BB962C8B-B14F-4D97-AF65-F5344CB8AC3E}">
        <p14:creationId xmlns:p14="http://schemas.microsoft.com/office/powerpoint/2010/main" val="88063365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6CF4CE32-F180-40AC-8F0D-CD6F9E3A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C0F630F6-A298-44A4-B519-21D0E767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03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35AA1E3-1A4E-41E2-AACD-369EEDE9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Final challenge · answers 9–12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97e0af22db4baf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E4D4CD3-61EB-4AEC-8E71-CBB1FA7B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15 / 20</a:t>
            </a:r>
          </a:p>
        </p:txBody>
      </p:sp>
      <p:sp>
        <p:nvSpPr>
          <p:cNvPr id="6" name="number-9">
            <a:extLst xmlns:a="http://schemas.openxmlformats.org/drawingml/2006/main">
              <a:ext uri="{FF2B5EF4-FFF2-40B4-BE49-F238E27FC236}">
                <a16:creationId xmlns:a16="http://schemas.microsoft.com/office/drawing/2014/main" id="{D3E75CD1-B261-4ACA-9F4A-3137C00E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9.</a:t>
            </a:r>
          </a:p>
        </p:txBody>
      </p:sp>
      <p:sp>
        <p:nvSpPr>
          <p:cNvPr id="7" name="item-9">
            <a:extLst xmlns:a="http://schemas.openxmlformats.org/drawingml/2006/main">
              <a:ext uri="{FF2B5EF4-FFF2-40B4-BE49-F238E27FC236}">
                <a16:creationId xmlns:a16="http://schemas.microsoft.com/office/drawing/2014/main" id="{A911AD36-4B02-4471-8384-EE3DD8CA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19275"/>
            <a:ext cx="9925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New software can be pushed to every machine at once → Client-server</a:t>
            </a:r>
          </a:p>
        </p:txBody>
      </p:sp>
      <p:sp>
        <p:nvSpPr>
          <p:cNvPr id="8" name="number-10">
            <a:extLst xmlns:a="http://schemas.openxmlformats.org/drawingml/2006/main">
              <a:ext uri="{FF2B5EF4-FFF2-40B4-BE49-F238E27FC236}">
                <a16:creationId xmlns:a16="http://schemas.microsoft.com/office/drawing/2014/main" id="{2376A3AE-88A0-4AF3-8E34-FCA2EECC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10.</a:t>
            </a:r>
          </a:p>
        </p:txBody>
      </p:sp>
      <p:sp>
        <p:nvSpPr>
          <p:cNvPr id="9" name="item-10">
            <a:extLst xmlns:a="http://schemas.openxmlformats.org/drawingml/2006/main">
              <a:ext uri="{FF2B5EF4-FFF2-40B4-BE49-F238E27FC236}">
                <a16:creationId xmlns:a16="http://schemas.microsoft.com/office/drawing/2014/main" id="{BF90A9B0-7719-4A3F-A349-2E8205EAC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81300"/>
            <a:ext cx="9925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Costs more to buy and to run → Client-server</a:t>
            </a:r>
          </a:p>
        </p:txBody>
      </p:sp>
      <p:sp>
        <p:nvSpPr>
          <p:cNvPr id="10" name="number-11">
            <a:extLst xmlns:a="http://schemas.openxmlformats.org/drawingml/2006/main">
              <a:ext uri="{FF2B5EF4-FFF2-40B4-BE49-F238E27FC236}">
                <a16:creationId xmlns:a16="http://schemas.microsoft.com/office/drawing/2014/main" id="{254BD1CC-9496-4F19-BA51-20BF37749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433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11.</a:t>
            </a:r>
          </a:p>
        </p:txBody>
      </p:sp>
      <p:sp>
        <p:nvSpPr>
          <p:cNvPr id="11" name="item-11">
            <a:extLst xmlns:a="http://schemas.openxmlformats.org/drawingml/2006/main">
              <a:ext uri="{FF2B5EF4-FFF2-40B4-BE49-F238E27FC236}">
                <a16:creationId xmlns:a16="http://schemas.microsoft.com/office/drawing/2014/main" id="{DA474E48-087A-44A2-9468-ABAD74D8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43325"/>
            <a:ext cx="9925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Anyone can set it up without training → Peer-to-peer</a:t>
            </a:r>
          </a:p>
        </p:txBody>
      </p:sp>
      <p:sp>
        <p:nvSpPr>
          <p:cNvPr id="12" name="number-12">
            <a:extLst xmlns:a="http://schemas.openxmlformats.org/drawingml/2006/main">
              <a:ext uri="{FF2B5EF4-FFF2-40B4-BE49-F238E27FC236}">
                <a16:creationId xmlns:a16="http://schemas.microsoft.com/office/drawing/2014/main" id="{163ECEF4-9F1C-4894-9C95-8FF0F569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12.</a:t>
            </a:r>
          </a:p>
        </p:txBody>
      </p:sp>
      <p:sp>
        <p:nvSpPr>
          <p:cNvPr id="13" name="item-12">
            <a:extLst xmlns:a="http://schemas.openxmlformats.org/drawingml/2006/main">
              <a:ext uri="{FF2B5EF4-FFF2-40B4-BE49-F238E27FC236}">
                <a16:creationId xmlns:a16="http://schemas.microsoft.com/office/drawing/2014/main" id="{921FE0FF-A120-4306-AF6E-1D8BCD5A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05350"/>
            <a:ext cx="9925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Everything stops if the central machine fails → Client-server</a:t>
            </a:r>
          </a:p>
        </p:txBody>
      </p:sp>
    </p:spTree>
    <p:extLst>
      <p:ext uri="{BB962C8B-B14F-4D97-AF65-F5344CB8AC3E}">
        <p14:creationId xmlns:p14="http://schemas.microsoft.com/office/powerpoint/2010/main" val="43963062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94970932-7A18-4563-A4E6-FE5AB93B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B5429586-637E-4311-B669-6A230A3B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03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41271897-36F2-4919-A4E1-DF586F611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questions 1–2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c8d26f670e4dd3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8D033D6-0B10-4E5B-B9AB-A9571DB0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16 / 20</a:t>
            </a:r>
          </a:p>
        </p:txBody>
      </p:sp>
      <p:sp>
        <p:nvSpPr>
          <p:cNvPr id="6" name="plenary-instruction">
            <a:extLst xmlns:a="http://schemas.openxmlformats.org/drawingml/2006/main">
              <a:ext uri="{FF2B5EF4-FFF2-40B4-BE49-F238E27FC236}">
                <a16:creationId xmlns:a16="http://schemas.microsoft.com/office/drawing/2014/main" id="{28D1D7A4-2207-4130-9ECB-B09FCAFE1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Close the experience. Answer from memory on the worksheet.</a:t>
            </a:r>
          </a:p>
        </p:txBody>
      </p:sp>
      <p:sp>
        <p:nvSpPr>
          <p:cNvPr id="7" name="question-0">
            <a:extLst xmlns:a="http://schemas.openxmlformats.org/drawingml/2006/main">
              <a:ext uri="{FF2B5EF4-FFF2-40B4-BE49-F238E27FC236}">
                <a16:creationId xmlns:a16="http://schemas.microsoft.com/office/drawing/2014/main" id="{4A4B0840-FC58-463B-A56D-C180BBF91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a)  Describe what a server does in a client-server network.  [2]</a:t>
            </a:r>
          </a:p>
        </p:txBody>
      </p:sp>
      <p:sp>
        <p:nvSpPr>
          <p:cNvPr id="8" name="question-1">
            <a:extLst xmlns:a="http://schemas.openxmlformats.org/drawingml/2006/main">
              <a:ext uri="{FF2B5EF4-FFF2-40B4-BE49-F238E27FC236}">
                <a16:creationId xmlns:a16="http://schemas.microsoft.com/office/drawing/2014/main" id="{39D8377F-5A9C-4DBA-B818-6B8E4897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b)  Give two reasons a small office might choose peer-to-peer.  [2]</a:t>
            </a:r>
          </a:p>
        </p:txBody>
      </p:sp>
    </p:spTree>
    <p:extLst>
      <p:ext uri="{BB962C8B-B14F-4D97-AF65-F5344CB8AC3E}">
        <p14:creationId xmlns:p14="http://schemas.microsoft.com/office/powerpoint/2010/main" val="41514148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D026432D-5EA8-4DFE-8305-2D39C2E1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9B0B91FA-4749-4F92-AB38-0A8A631A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03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8BA51D5B-E5F6-417C-BE86-0E0E01745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 3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ae49e12ed94f9a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1544DDD-A9D3-4749-A8E3-6BB228EE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17 / 20</a:t>
            </a:r>
          </a:p>
        </p:txBody>
      </p:sp>
      <p:sp>
        <p:nvSpPr>
          <p:cNvPr id="6" name="plenary-instruction">
            <a:extLst xmlns:a="http://schemas.openxmlformats.org/drawingml/2006/main">
              <a:ext uri="{FF2B5EF4-FFF2-40B4-BE49-F238E27FC236}">
                <a16:creationId xmlns:a16="http://schemas.microsoft.com/office/drawing/2014/main" id="{0D673BA8-8BE0-48E1-AB05-AE314C1D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Close the experience. Answer from memory on the worksheet.</a:t>
            </a:r>
          </a:p>
        </p:txBody>
      </p:sp>
      <p:sp>
        <p:nvSpPr>
          <p:cNvPr id="7" name="question">
            <a:extLst xmlns:a="http://schemas.openxmlformats.org/drawingml/2006/main">
              <a:ext uri="{FF2B5EF4-FFF2-40B4-BE49-F238E27FC236}">
                <a16:creationId xmlns:a16="http://schemas.microsoft.com/office/drawing/2014/main" id="{539BF476-CEB9-4DB0-92DC-9AF3680A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10477500" cy="2105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c)  A school is choosing between client-server and peer-to-peer. Recommend one and justify your choice using two characteristics.  [6]</a:t>
            </a:r>
          </a:p>
        </p:txBody>
      </p:sp>
    </p:spTree>
    <p:extLst>
      <p:ext uri="{BB962C8B-B14F-4D97-AF65-F5344CB8AC3E}">
        <p14:creationId xmlns:p14="http://schemas.microsoft.com/office/powerpoint/2010/main" val="10355815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9BE7D5C3-7AFD-4A7A-B9AA-2F45F4DA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A705C30C-36FF-42A9-877E-0BF8A625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03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4E9D9798-2014-48BF-B6CA-C6A6CA10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answers 1–2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af50ed19d74f9e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DAFA387-E059-48B8-9C8D-C0B6E6B6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18 / 20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B19F4CBF-06F5-4451-9D02-C0437B60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71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points. Credit accurate answers in students’ own words.</a:t>
            </a:r>
          </a:p>
        </p:txBody>
      </p:sp>
      <p:sp>
        <p:nvSpPr>
          <p:cNvPr id="7" name="answer-0">
            <a:extLst xmlns:a="http://schemas.openxmlformats.org/drawingml/2006/main">
              <a:ext uri="{FF2B5EF4-FFF2-40B4-BE49-F238E27FC236}">
                <a16:creationId xmlns:a16="http://schemas.microsoft.com/office/drawing/2014/main" id="{225AB548-1C21-414B-83DE-D7ECFC11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a) A server stores or manages resources and responds when client devices request a service.</a:t>
            </a:r>
          </a:p>
        </p:txBody>
      </p:sp>
      <p:sp>
        <p:nvSpPr>
          <p:cNvPr id="8" name="answer-1">
            <a:extLst xmlns:a="http://schemas.openxmlformats.org/drawingml/2006/main">
              <a:ext uri="{FF2B5EF4-FFF2-40B4-BE49-F238E27FC236}">
                <a16:creationId xmlns:a16="http://schemas.microsoft.com/office/drawing/2014/main" id="{5CDEBC84-9BFD-4423-9EA7-C2FFBEEE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b) Peer-to-peer can be cheaper because no dedicated server is needed, and it is simple to set up for a few users.</a:t>
            </a:r>
          </a:p>
        </p:txBody>
      </p:sp>
    </p:spTree>
    <p:extLst>
      <p:ext uri="{BB962C8B-B14F-4D97-AF65-F5344CB8AC3E}">
        <p14:creationId xmlns:p14="http://schemas.microsoft.com/office/powerpoint/2010/main" val="185701142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0746A7A-3A2F-4A1A-93A9-D95A66290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C2B231EE-6749-4BD2-B3FE-DB16347E8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03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9E4D87B0-DDFF-48DA-B8EF-CB6304AAC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 3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d329a6e02e4769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30EC71E-691A-47F2-957D-2A5B7355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19 / 20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93E7D319-A870-46EF-A973-D9124C045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71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points. Credit accurate answers in students’ own words.</a:t>
            </a:r>
          </a:p>
        </p:txBody>
      </p:sp>
      <p:sp>
        <p:nvSpPr>
          <p:cNvPr id="7" name="answer">
            <a:extLst xmlns:a="http://schemas.openxmlformats.org/drawingml/2006/main">
              <a:ext uri="{FF2B5EF4-FFF2-40B4-BE49-F238E27FC236}">
                <a16:creationId xmlns:a16="http://schemas.microsoft.com/office/drawing/2014/main" id="{0C86BFED-343C-41F2-9455-18478F2F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105727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c) Recommend client-server for the school. Central accounts and permissions make access easier to manage; central backups protect shared work. It costs more and needs support, but those controls matter at school scale.</a:t>
            </a:r>
          </a:p>
        </p:txBody>
      </p:sp>
    </p:spTree>
    <p:extLst>
      <p:ext uri="{BB962C8B-B14F-4D97-AF65-F5344CB8AC3E}">
        <p14:creationId xmlns:p14="http://schemas.microsoft.com/office/powerpoint/2010/main" val="138456024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B5AF5B7-E00C-4EE2-B25D-843D90143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D08AF826-204C-49AD-928A-B9D54F999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03   /   SELF-CHECK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045C64DF-30AB-4553-B83C-F396DEA4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How confident am I?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ed48efc0d24ed9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4971B18-EC32-4ABC-B2FA-ABF5F1CD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20 / 20</a:t>
            </a:r>
          </a:p>
        </p:txBody>
      </p:sp>
      <p:sp>
        <p:nvSpPr>
          <p:cNvPr id="6" name="confidence-intro">
            <a:extLst xmlns:a="http://schemas.openxmlformats.org/drawingml/2006/main">
              <a:ext uri="{FF2B5EF4-FFF2-40B4-BE49-F238E27FC236}">
                <a16:creationId xmlns:a16="http://schemas.microsoft.com/office/drawing/2014/main" id="{B83C1DF0-4518-4A1D-851E-93C9655B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Select Not yet, Getting there or Confident for each objective on the worksheet.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C3C1F379-54A5-479A-AE8B-AA13B7E57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1D081687-63D1-46A8-AD75-9A82F381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14600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What a client-server model is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68C60E8B-333C-40FF-918E-E18A7A4E4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DD2AC430-A6E2-496F-AFA1-6B7147A2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43300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What a peer-to-peer model is</a:t>
            </a: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EA09C32E-F60E-4021-8317-C35626E6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36770632-873F-4F91-BE7E-788BC3E0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72000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roles of servers, clients and peers</a:t>
            </a:r>
          </a:p>
        </p:txBody>
      </p:sp>
    </p:spTree>
    <p:extLst>
      <p:ext uri="{BB962C8B-B14F-4D97-AF65-F5344CB8AC3E}">
        <p14:creationId xmlns:p14="http://schemas.microsoft.com/office/powerpoint/2010/main" val="5321948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2026-09-25T14:15:24.6840000Z</dcterms:created>
  <dcterms:modified xsi:type="dcterms:W3CDTF">2026-09-25T14:15:24.6840000Z</dcterms:modified>
</coreProperties>
</file>